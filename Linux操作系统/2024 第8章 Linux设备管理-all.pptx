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Lst>
  <p:notesMasterIdLst>
    <p:notesMasterId r:id="rId55"/>
  </p:notesMasterIdLst>
  <p:handoutMasterIdLst>
    <p:handoutMasterId r:id="rId5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4" r:id="rId28"/>
    <p:sldId id="282" r:id="rId29"/>
    <p:sldId id="283"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6858000" type="screen4x3"/>
  <p:notesSz cx="6858000" cy="9947275"/>
  <p:defaultTextStyle>
    <a:defPPr>
      <a:defRPr lang="en-US"/>
    </a:defPPr>
    <a:lvl1pPr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sz="1400"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sz="1400"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sz="1400"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sz="1400"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sz="1400"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3">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00"/>
    <a:srgbClr val="0C1464"/>
    <a:srgbClr val="03061F"/>
    <a:srgbClr val="004182"/>
    <a:srgbClr val="2B5681"/>
    <a:srgbClr val="006666"/>
    <a:srgbClr val="2E5C8A"/>
    <a:srgbClr val="D71B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81669" autoAdjust="0"/>
  </p:normalViewPr>
  <p:slideViewPr>
    <p:cSldViewPr>
      <p:cViewPr varScale="1">
        <p:scale>
          <a:sx n="69" d="100"/>
          <a:sy n="69" d="100"/>
        </p:scale>
        <p:origin x="2004" y="60"/>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75" d="100"/>
        <a:sy n="75" d="100"/>
      </p:scale>
      <p:origin x="0" y="0"/>
    </p:cViewPr>
  </p:notesTextViewPr>
  <p:sorterViewPr>
    <p:cViewPr>
      <p:scale>
        <a:sx n="66" d="100"/>
        <a:sy n="66" d="100"/>
      </p:scale>
      <p:origin x="0" y="612"/>
    </p:cViewPr>
  </p:sorterViewPr>
  <p:notesViewPr>
    <p:cSldViewPr>
      <p:cViewPr varScale="1">
        <p:scale>
          <a:sx n="56" d="100"/>
          <a:sy n="56" d="100"/>
        </p:scale>
        <p:origin x="-1854" y="-96"/>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_rels/viewProps.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slide" Target="slides/slide3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2971800" cy="498475"/>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lvl1pPr eaLnBrk="1" hangingPunct="1">
              <a:defRPr sz="1200">
                <a:latin typeface="Arial" pitchFamily="34" charset="0"/>
                <a:ea typeface="Gulim" pitchFamily="34" charset="-127"/>
              </a:defRPr>
            </a:lvl1pPr>
          </a:lstStyle>
          <a:p>
            <a:pPr>
              <a:defRPr/>
            </a:pPr>
            <a:endParaRPr lang="en-US" altLang="ko-KR"/>
          </a:p>
        </p:txBody>
      </p:sp>
      <p:sp>
        <p:nvSpPr>
          <p:cNvPr id="77827" name="Rectangle 3"/>
          <p:cNvSpPr>
            <a:spLocks noGrp="1" noChangeArrowheads="1"/>
          </p:cNvSpPr>
          <p:nvPr>
            <p:ph type="dt" sz="quarter" idx="1"/>
          </p:nvPr>
        </p:nvSpPr>
        <p:spPr bwMode="auto">
          <a:xfrm>
            <a:off x="3884613" y="0"/>
            <a:ext cx="2971800" cy="498475"/>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lvl1pPr algn="r" eaLnBrk="1" hangingPunct="1">
              <a:defRPr sz="1200">
                <a:latin typeface="Arial" pitchFamily="34" charset="0"/>
                <a:ea typeface="Gulim" pitchFamily="34" charset="-127"/>
              </a:defRPr>
            </a:lvl1pPr>
          </a:lstStyle>
          <a:p>
            <a:pPr>
              <a:defRPr/>
            </a:pPr>
            <a:endParaRPr lang="en-US" altLang="ko-KR"/>
          </a:p>
        </p:txBody>
      </p:sp>
      <p:sp>
        <p:nvSpPr>
          <p:cNvPr id="77828" name="Rectangle 4"/>
          <p:cNvSpPr>
            <a:spLocks noGrp="1" noChangeArrowheads="1"/>
          </p:cNvSpPr>
          <p:nvPr>
            <p:ph type="ftr" sz="quarter" idx="2"/>
          </p:nvPr>
        </p:nvSpPr>
        <p:spPr bwMode="auto">
          <a:xfrm>
            <a:off x="0" y="9447213"/>
            <a:ext cx="2971800" cy="498475"/>
          </a:xfrm>
          <a:prstGeom prst="rect">
            <a:avLst/>
          </a:prstGeom>
          <a:noFill/>
          <a:ln w="9525">
            <a:noFill/>
            <a:miter lim="800000"/>
            <a:headEnd/>
            <a:tailEnd/>
          </a:ln>
          <a:effectLst/>
        </p:spPr>
        <p:txBody>
          <a:bodyPr vert="horz" wrap="square" lIns="91870" tIns="45935" rIns="91870" bIns="45935" numCol="1" anchor="b" anchorCtr="0" compatLnSpc="1">
            <a:prstTxWarp prst="textNoShape">
              <a:avLst/>
            </a:prstTxWarp>
          </a:bodyPr>
          <a:lstStyle>
            <a:lvl1pPr eaLnBrk="1" hangingPunct="1">
              <a:defRPr sz="1200">
                <a:latin typeface="Arial" pitchFamily="34" charset="0"/>
                <a:ea typeface="Gulim" pitchFamily="34" charset="-127"/>
              </a:defRPr>
            </a:lvl1pPr>
          </a:lstStyle>
          <a:p>
            <a:pPr>
              <a:defRPr/>
            </a:pPr>
            <a:endParaRPr lang="en-US" altLang="ko-KR"/>
          </a:p>
        </p:txBody>
      </p:sp>
      <p:sp>
        <p:nvSpPr>
          <p:cNvPr id="77829" name="Rectangle 5"/>
          <p:cNvSpPr>
            <a:spLocks noGrp="1" noChangeArrowheads="1"/>
          </p:cNvSpPr>
          <p:nvPr>
            <p:ph type="sldNum" sz="quarter" idx="3"/>
          </p:nvPr>
        </p:nvSpPr>
        <p:spPr bwMode="auto">
          <a:xfrm>
            <a:off x="3884613" y="9447213"/>
            <a:ext cx="2971800" cy="498475"/>
          </a:xfrm>
          <a:prstGeom prst="rect">
            <a:avLst/>
          </a:prstGeom>
          <a:noFill/>
          <a:ln w="9525">
            <a:noFill/>
            <a:miter lim="800000"/>
            <a:headEnd/>
            <a:tailEnd/>
          </a:ln>
          <a:effectLst/>
        </p:spPr>
        <p:txBody>
          <a:bodyPr vert="horz" wrap="square" lIns="91870" tIns="45935" rIns="91870" bIns="45935" numCol="1" anchor="b" anchorCtr="0" compatLnSpc="1">
            <a:prstTxWarp prst="textNoShape">
              <a:avLst/>
            </a:prstTxWarp>
          </a:bodyPr>
          <a:lstStyle>
            <a:lvl1pPr algn="r" eaLnBrk="1" hangingPunct="1">
              <a:defRPr sz="1200">
                <a:latin typeface="Arial" panose="020B0604020202020204" pitchFamily="34" charset="0"/>
                <a:ea typeface="Gulim" panose="020B0600000101010101" pitchFamily="34" charset="-127"/>
              </a:defRPr>
            </a:lvl1pPr>
          </a:lstStyle>
          <a:p>
            <a:pPr>
              <a:defRPr/>
            </a:pPr>
            <a:fld id="{3BEFA0AB-19A1-4F0F-99AE-B3643945D374}"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xfrm>
            <a:off x="0" y="0"/>
            <a:ext cx="2971800" cy="498475"/>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zh-CN" altLang="en-US"/>
          </a:p>
        </p:txBody>
      </p:sp>
      <p:sp>
        <p:nvSpPr>
          <p:cNvPr id="91139" name="Rectangle 3"/>
          <p:cNvSpPr>
            <a:spLocks noGrp="1" noChangeArrowheads="1"/>
          </p:cNvSpPr>
          <p:nvPr>
            <p:ph type="dt" idx="1"/>
          </p:nvPr>
        </p:nvSpPr>
        <p:spPr bwMode="auto">
          <a:xfrm>
            <a:off x="3884613" y="0"/>
            <a:ext cx="2971800" cy="498475"/>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1" name="Rectangle 5"/>
          <p:cNvSpPr>
            <a:spLocks noGrp="1" noChangeArrowheads="1"/>
          </p:cNvSpPr>
          <p:nvPr>
            <p:ph type="body" sz="quarter" idx="3"/>
          </p:nvPr>
        </p:nvSpPr>
        <p:spPr bwMode="auto">
          <a:xfrm>
            <a:off x="685800" y="4725988"/>
            <a:ext cx="5486400" cy="4475162"/>
          </a:xfrm>
          <a:prstGeom prst="rect">
            <a:avLst/>
          </a:prstGeom>
          <a:noFill/>
          <a:ln w="9525">
            <a:noFill/>
            <a:miter lim="800000"/>
            <a:headEnd/>
            <a:tailEnd/>
          </a:ln>
          <a:effectLst/>
        </p:spPr>
        <p:txBody>
          <a:bodyPr vert="horz" wrap="square" lIns="91870" tIns="45935" rIns="91870" bIns="45935"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91142" name="Rectangle 6"/>
          <p:cNvSpPr>
            <a:spLocks noGrp="1" noChangeArrowheads="1"/>
          </p:cNvSpPr>
          <p:nvPr>
            <p:ph type="ftr" sz="quarter" idx="4"/>
          </p:nvPr>
        </p:nvSpPr>
        <p:spPr bwMode="auto">
          <a:xfrm>
            <a:off x="0" y="9447213"/>
            <a:ext cx="2971800" cy="498475"/>
          </a:xfrm>
          <a:prstGeom prst="rect">
            <a:avLst/>
          </a:prstGeom>
          <a:noFill/>
          <a:ln w="9525">
            <a:noFill/>
            <a:miter lim="800000"/>
            <a:headEnd/>
            <a:tailEnd/>
          </a:ln>
          <a:effectLst/>
        </p:spPr>
        <p:txBody>
          <a:bodyPr vert="horz" wrap="square" lIns="91870" tIns="45935" rIns="91870" bIns="45935"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91143" name="Rectangle 7"/>
          <p:cNvSpPr>
            <a:spLocks noGrp="1" noChangeArrowheads="1"/>
          </p:cNvSpPr>
          <p:nvPr>
            <p:ph type="sldNum" sz="quarter" idx="5"/>
          </p:nvPr>
        </p:nvSpPr>
        <p:spPr bwMode="auto">
          <a:xfrm>
            <a:off x="3884613" y="9447213"/>
            <a:ext cx="2971800" cy="498475"/>
          </a:xfrm>
          <a:prstGeom prst="rect">
            <a:avLst/>
          </a:prstGeom>
          <a:noFill/>
          <a:ln w="9525">
            <a:noFill/>
            <a:miter lim="800000"/>
            <a:headEnd/>
            <a:tailEnd/>
          </a:ln>
          <a:effectLst/>
        </p:spPr>
        <p:txBody>
          <a:bodyPr vert="horz" wrap="square" lIns="91870" tIns="45935" rIns="91870" bIns="45935" numCol="1" anchor="b"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fld id="{FC1A1575-26A4-49E4-BE49-32EC6784110D}"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1pPr>
    <a:lvl2pPr marL="4572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2pPr>
    <a:lvl3pPr marL="9144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3pPr>
    <a:lvl4pPr marL="13716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4pPr>
    <a:lvl5pPr marL="1828800" algn="l" rtl="0" eaLnBrk="0" fontAlgn="base" latinLnBrk="1" hangingPunct="0">
      <a:spcBef>
        <a:spcPct val="30000"/>
      </a:spcBef>
      <a:spcAft>
        <a:spcPct val="0"/>
      </a:spcAft>
      <a:defRPr kumimoji="1" sz="1200" kern="1200">
        <a:solidFill>
          <a:schemeClr val="tx1"/>
        </a:solidFill>
        <a:latin typeface="Gulim" pitchFamily="34" charset="-127"/>
        <a:ea typeface="Gulim"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15988" y="744538"/>
            <a:ext cx="4956175" cy="3717925"/>
          </a:xfrm>
          <a:ln/>
        </p:spPr>
      </p:sp>
      <p:sp>
        <p:nvSpPr>
          <p:cNvPr id="6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6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DEAC29DF-53FE-436B-8445-9FC11644C261}" type="slidenum">
              <a:rPr kumimoji="0" lang="zh-CN" altLang="en-US" sz="1300">
                <a:solidFill>
                  <a:schemeClr val="tx1"/>
                </a:solidFill>
                <a:latin typeface="Times New Roman" panose="02020603050405020304" pitchFamily="18" charset="0"/>
              </a:rPr>
              <a:pPr>
                <a:lnSpc>
                  <a:spcPct val="100000"/>
                </a:lnSpc>
              </a:pPr>
              <a:t>1</a:t>
            </a:fld>
            <a:endParaRPr kumimoji="0" lang="en-US" altLang="zh-CN" sz="13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953037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38781D0F-0729-4413-9A6C-8FD55B4BBDB2}" type="slidenum">
              <a:rPr kumimoji="0" lang="zh-CN" altLang="en-US" sz="1300">
                <a:solidFill>
                  <a:schemeClr val="tx1"/>
                </a:solidFill>
                <a:latin typeface="Times New Roman" panose="02020603050405020304" pitchFamily="18" charset="0"/>
              </a:rPr>
              <a:pPr>
                <a:lnSpc>
                  <a:spcPct val="100000"/>
                </a:lnSpc>
              </a:pPr>
              <a:t>4</a:t>
            </a:fld>
            <a:endParaRPr kumimoji="0" lang="en-US" altLang="zh-CN" sz="1300">
              <a:solidFill>
                <a:schemeClr val="tx1"/>
              </a:solidFill>
              <a:latin typeface="Times New Roman" panose="02020603050405020304" pitchFamily="18" charset="0"/>
            </a:endParaRPr>
          </a:p>
        </p:txBody>
      </p:sp>
      <p:sp>
        <p:nvSpPr>
          <p:cNvPr id="10243" name="Rectangle 2"/>
          <p:cNvSpPr>
            <a:spLocks noGrp="1" noRot="1" noChangeAspect="1" noChangeArrowheads="1" noTextEdit="1"/>
          </p:cNvSpPr>
          <p:nvPr>
            <p:ph type="sldImg"/>
          </p:nvPr>
        </p:nvSpPr>
        <p:spPr>
          <a:xfrm>
            <a:off x="915988" y="744538"/>
            <a:ext cx="4956175" cy="3717925"/>
          </a:xfrm>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721963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xfrm>
            <a:off x="915988" y="744538"/>
            <a:ext cx="4956175" cy="3717925"/>
          </a:xfrm>
          <a:ln/>
        </p:spPr>
      </p:sp>
      <p:sp>
        <p:nvSpPr>
          <p:cNvPr id="14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zh-CN" altLang="en-US" b="1" smtClean="0"/>
              <a:t>（</a:t>
            </a:r>
            <a:r>
              <a:rPr lang="en-US" altLang="zh-CN" b="1" smtClean="0"/>
              <a:t>3</a:t>
            </a:r>
            <a:r>
              <a:rPr lang="zh-CN" altLang="en-US" b="1" smtClean="0"/>
              <a:t>）建立设备文件</a:t>
            </a:r>
          </a:p>
          <a:p>
            <a:pPr>
              <a:lnSpc>
                <a:spcPct val="90000"/>
              </a:lnSpc>
            </a:pPr>
            <a:r>
              <a:rPr lang="zh-CN" altLang="en-US" b="1" smtClean="0"/>
              <a:t>格式</a:t>
            </a:r>
            <a:r>
              <a:rPr lang="zh-CN" altLang="en-US" smtClean="0"/>
              <a:t>：</a:t>
            </a:r>
            <a:r>
              <a:rPr lang="en-US" altLang="zh-CN" smtClean="0"/>
              <a:t>mknod  </a:t>
            </a:r>
            <a:r>
              <a:rPr lang="zh-CN" altLang="en-US" smtClean="0"/>
              <a:t>文件名  类型   主设备号   从设备号</a:t>
            </a:r>
            <a:endParaRPr lang="zh-CN" altLang="en-US" b="1" smtClean="0"/>
          </a:p>
          <a:p>
            <a:pPr>
              <a:lnSpc>
                <a:spcPct val="90000"/>
              </a:lnSpc>
            </a:pPr>
            <a:r>
              <a:rPr lang="zh-CN" altLang="en-US" b="1" smtClean="0"/>
              <a:t>类型：</a:t>
            </a:r>
            <a:r>
              <a:rPr lang="en-US" altLang="zh-CN" smtClean="0"/>
              <a:t>c</a:t>
            </a:r>
            <a:r>
              <a:rPr lang="zh-CN" altLang="en-US" smtClean="0"/>
              <a:t>字符设备</a:t>
            </a:r>
          </a:p>
          <a:p>
            <a:pPr>
              <a:lnSpc>
                <a:spcPct val="90000"/>
              </a:lnSpc>
            </a:pPr>
            <a:r>
              <a:rPr lang="zh-CN" altLang="en-US" smtClean="0"/>
              <a:t>    </a:t>
            </a:r>
            <a:r>
              <a:rPr lang="en-US" altLang="zh-CN" smtClean="0"/>
              <a:t>b</a:t>
            </a:r>
            <a:r>
              <a:rPr lang="zh-CN" altLang="en-US" smtClean="0"/>
              <a:t>块设备</a:t>
            </a:r>
          </a:p>
          <a:p>
            <a:pPr>
              <a:lnSpc>
                <a:spcPct val="90000"/>
              </a:lnSpc>
            </a:pPr>
            <a:r>
              <a:rPr lang="zh-CN" altLang="en-US" smtClean="0"/>
              <a:t>    </a:t>
            </a:r>
            <a:r>
              <a:rPr lang="en-US" altLang="zh-CN" smtClean="0"/>
              <a:t>p</a:t>
            </a:r>
            <a:r>
              <a:rPr lang="zh-CN" altLang="en-US" smtClean="0"/>
              <a:t>管道设备</a:t>
            </a:r>
          </a:p>
          <a:p>
            <a:pPr>
              <a:lnSpc>
                <a:spcPct val="90000"/>
              </a:lnSpc>
            </a:pPr>
            <a:r>
              <a:rPr lang="zh-CN" altLang="en-US" smtClean="0"/>
              <a:t>    </a:t>
            </a:r>
            <a:r>
              <a:rPr lang="en-US" altLang="zh-CN" smtClean="0"/>
              <a:t>s </a:t>
            </a:r>
            <a:r>
              <a:rPr lang="zh-CN" altLang="en-US" smtClean="0"/>
              <a:t>网络设备</a:t>
            </a:r>
            <a:endParaRPr lang="zh-CN" altLang="en-US" b="1" smtClean="0"/>
          </a:p>
          <a:p>
            <a:pPr>
              <a:lnSpc>
                <a:spcPct val="90000"/>
              </a:lnSpc>
            </a:pPr>
            <a:r>
              <a:rPr lang="zh-CN" altLang="en-US" b="1" smtClean="0"/>
              <a:t>实例：</a:t>
            </a:r>
            <a:r>
              <a:rPr lang="en-US" altLang="zh-CN" smtClean="0"/>
              <a:t># mknod   /dev/fdo   b   1   2</a:t>
            </a:r>
            <a:endParaRPr lang="zh-CN" altLang="en-US" smtClean="0"/>
          </a:p>
          <a:p>
            <a:endParaRPr lang="zh-CN" altLang="en-US" smtClean="0"/>
          </a:p>
        </p:txBody>
      </p:sp>
      <p:sp>
        <p:nvSpPr>
          <p:cNvPr id="143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76CFBD2B-907E-49DF-B2C7-DDCE61AA940B}" type="slidenum">
              <a:rPr kumimoji="0" lang="zh-CN" altLang="en-US" sz="1300">
                <a:solidFill>
                  <a:schemeClr val="tx1"/>
                </a:solidFill>
                <a:latin typeface="Times New Roman" panose="02020603050405020304" pitchFamily="18" charset="0"/>
              </a:rPr>
              <a:pPr>
                <a:lnSpc>
                  <a:spcPct val="100000"/>
                </a:lnSpc>
              </a:pPr>
              <a:t>7</a:t>
            </a:fld>
            <a:endParaRPr kumimoji="0" lang="en-US" altLang="zh-CN" sz="13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630780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50F0263A-384F-4563-A456-35D0E2C77F1B}" type="slidenum">
              <a:rPr kumimoji="0" lang="zh-CN" altLang="en-US" sz="1300">
                <a:solidFill>
                  <a:schemeClr val="tx1"/>
                </a:solidFill>
                <a:latin typeface="Times New Roman" panose="02020603050405020304" pitchFamily="18" charset="0"/>
              </a:rPr>
              <a:pPr>
                <a:lnSpc>
                  <a:spcPct val="100000"/>
                </a:lnSpc>
              </a:pPr>
              <a:t>10</a:t>
            </a:fld>
            <a:endParaRPr kumimoji="0" lang="en-US" altLang="zh-CN" sz="1300">
              <a:solidFill>
                <a:schemeClr val="tx1"/>
              </a:solidFill>
              <a:latin typeface="Times New Roman" panose="02020603050405020304" pitchFamily="18" charset="0"/>
            </a:endParaRPr>
          </a:p>
        </p:txBody>
      </p:sp>
      <p:sp>
        <p:nvSpPr>
          <p:cNvPr id="18435" name="Rectangle 2"/>
          <p:cNvSpPr>
            <a:spLocks noGrp="1" noRot="1" noChangeAspect="1" noChangeArrowheads="1" noTextEdit="1"/>
          </p:cNvSpPr>
          <p:nvPr>
            <p:ph type="sldImg"/>
          </p:nvPr>
        </p:nvSpPr>
        <p:spPr>
          <a:xfrm>
            <a:off x="915988" y="744538"/>
            <a:ext cx="4956175" cy="3717925"/>
          </a:xfrm>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r>
              <a:rPr lang="zh-CN" altLang="en-US" sz="1600" smtClean="0"/>
              <a:t>在对字符设备发出读</a:t>
            </a:r>
            <a:r>
              <a:rPr lang="en-US" altLang="zh-CN" sz="1600" smtClean="0"/>
              <a:t>/</a:t>
            </a:r>
            <a:r>
              <a:rPr lang="zh-CN" altLang="en-US" sz="1600" smtClean="0"/>
              <a:t>写请求时，实际的硬件</a:t>
            </a:r>
            <a:r>
              <a:rPr lang="en-US" altLang="zh-CN" sz="1600" smtClean="0"/>
              <a:t>I/O</a:t>
            </a:r>
            <a:r>
              <a:rPr lang="zh-CN" altLang="en-US" sz="1600" smtClean="0"/>
              <a:t>一般紧接着发生；</a:t>
            </a:r>
          </a:p>
          <a:p>
            <a:pPr lvl="1"/>
            <a:r>
              <a:rPr lang="zh-CN" altLang="en-US" sz="1600" smtClean="0"/>
              <a:t>块设备则利用一块系统内存作缓冲区。</a:t>
            </a:r>
            <a:endParaRPr lang="en-US" altLang="zh-CN" sz="1600" smtClean="0"/>
          </a:p>
          <a:p>
            <a:endParaRPr lang="zh-CN" altLang="en-US" smtClean="0"/>
          </a:p>
        </p:txBody>
      </p:sp>
    </p:spTree>
    <p:extLst>
      <p:ext uri="{BB962C8B-B14F-4D97-AF65-F5344CB8AC3E}">
        <p14:creationId xmlns:p14="http://schemas.microsoft.com/office/powerpoint/2010/main" val="1526617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3846513" y="9421813"/>
            <a:ext cx="294163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515" tIns="48257" rIns="96515" bIns="48257" anchor="b"/>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gn="r">
              <a:lnSpc>
                <a:spcPct val="100000"/>
              </a:lnSpc>
            </a:pPr>
            <a:fld id="{89BE67A7-0527-4E87-8372-70131397EDD6}" type="slidenum">
              <a:rPr kumimoji="0" lang="zh-CN" altLang="en-US" sz="1300">
                <a:solidFill>
                  <a:schemeClr val="tx1"/>
                </a:solidFill>
                <a:latin typeface="Times New Roman" panose="02020603050405020304" pitchFamily="18" charset="0"/>
              </a:rPr>
              <a:pPr algn="r">
                <a:lnSpc>
                  <a:spcPct val="100000"/>
                </a:lnSpc>
              </a:pPr>
              <a:t>11</a:t>
            </a:fld>
            <a:endParaRPr kumimoji="0" lang="en-US" altLang="zh-CN" sz="1300">
              <a:solidFill>
                <a:schemeClr val="tx1"/>
              </a:solidFill>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xfrm>
            <a:off x="915988" y="744538"/>
            <a:ext cx="4956175" cy="3717925"/>
          </a:xfrm>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r>
              <a:rPr lang="zh-CN" altLang="en-US" sz="1600" smtClean="0"/>
              <a:t>在对字符设备发出读</a:t>
            </a:r>
            <a:r>
              <a:rPr lang="en-US" altLang="zh-CN" sz="1600" smtClean="0"/>
              <a:t>/</a:t>
            </a:r>
            <a:r>
              <a:rPr lang="zh-CN" altLang="en-US" sz="1600" smtClean="0"/>
              <a:t>写请求时，实际的硬件</a:t>
            </a:r>
            <a:r>
              <a:rPr lang="en-US" altLang="zh-CN" sz="1600" smtClean="0"/>
              <a:t>I/O</a:t>
            </a:r>
            <a:r>
              <a:rPr lang="zh-CN" altLang="en-US" sz="1600" smtClean="0"/>
              <a:t>一般紧接着发生；</a:t>
            </a:r>
          </a:p>
          <a:p>
            <a:pPr lvl="1"/>
            <a:r>
              <a:rPr lang="zh-CN" altLang="en-US" sz="1600" smtClean="0"/>
              <a:t>块设备则利用一块系统内存作缓冲区。</a:t>
            </a:r>
            <a:endParaRPr lang="en-US" altLang="zh-CN" sz="1600" smtClean="0"/>
          </a:p>
          <a:p>
            <a:endParaRPr lang="zh-CN" altLang="en-US" smtClean="0"/>
          </a:p>
        </p:txBody>
      </p:sp>
    </p:spTree>
    <p:extLst>
      <p:ext uri="{BB962C8B-B14F-4D97-AF65-F5344CB8AC3E}">
        <p14:creationId xmlns:p14="http://schemas.microsoft.com/office/powerpoint/2010/main" val="3070349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3E345520-2B9E-4ED7-800C-682361F6C26C}" type="slidenum">
              <a:rPr kumimoji="0" lang="zh-CN" altLang="en-US" sz="1300">
                <a:solidFill>
                  <a:schemeClr val="tx1"/>
                </a:solidFill>
                <a:latin typeface="Times New Roman" panose="02020603050405020304" pitchFamily="18" charset="0"/>
              </a:rPr>
              <a:pPr>
                <a:lnSpc>
                  <a:spcPct val="100000"/>
                </a:lnSpc>
              </a:pPr>
              <a:t>17</a:t>
            </a:fld>
            <a:endParaRPr kumimoji="0" lang="en-US" altLang="zh-CN" sz="1300">
              <a:solidFill>
                <a:schemeClr val="tx1"/>
              </a:solidFill>
              <a:latin typeface="Times New Roman" panose="02020603050405020304" pitchFamily="18" charset="0"/>
            </a:endParaRPr>
          </a:p>
        </p:txBody>
      </p:sp>
      <p:sp>
        <p:nvSpPr>
          <p:cNvPr id="27651" name="Rectangle 2"/>
          <p:cNvSpPr>
            <a:spLocks noGrp="1" noRot="1" noChangeAspect="1" noChangeArrowheads="1" noTextEdit="1"/>
          </p:cNvSpPr>
          <p:nvPr>
            <p:ph type="sldImg"/>
          </p:nvPr>
        </p:nvSpPr>
        <p:spPr>
          <a:xfrm>
            <a:off x="915988" y="744538"/>
            <a:ext cx="4956175" cy="3717925"/>
          </a:xfrm>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smtClean="0"/>
          </a:p>
        </p:txBody>
      </p:sp>
    </p:spTree>
    <p:extLst>
      <p:ext uri="{BB962C8B-B14F-4D97-AF65-F5344CB8AC3E}">
        <p14:creationId xmlns:p14="http://schemas.microsoft.com/office/powerpoint/2010/main" val="291544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83F2283F-B6AB-4BE0-B0F6-A3F99D030BA8}" type="slidenum">
              <a:rPr kumimoji="0" lang="zh-CN" altLang="en-US" sz="1300">
                <a:solidFill>
                  <a:schemeClr val="tx1"/>
                </a:solidFill>
                <a:latin typeface="Times New Roman" panose="02020603050405020304" pitchFamily="18" charset="0"/>
              </a:rPr>
              <a:pPr>
                <a:lnSpc>
                  <a:spcPct val="100000"/>
                </a:lnSpc>
              </a:pPr>
              <a:t>21</a:t>
            </a:fld>
            <a:endParaRPr kumimoji="0" lang="en-US" altLang="zh-CN" sz="1300">
              <a:solidFill>
                <a:schemeClr val="tx1"/>
              </a:solidFill>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xfrm>
            <a:off x="915988" y="744538"/>
            <a:ext cx="4956175" cy="3717925"/>
          </a:xfrm>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zh-CN" altLang="en-US" smtClean="0">
                <a:latin typeface="宋体" panose="02010600030101010101" pitchFamily="2" charset="-122"/>
              </a:rPr>
              <a:t>设备特殊文件的 </a:t>
            </a:r>
            <a:r>
              <a:rPr lang="en-US" altLang="zh-CN" smtClean="0">
                <a:latin typeface="宋体" panose="02010600030101010101" pitchFamily="2" charset="-122"/>
              </a:rPr>
              <a:t>VFS </a:t>
            </a:r>
            <a:r>
              <a:rPr lang="zh-CN" altLang="en-US" smtClean="0">
                <a:latin typeface="宋体" panose="02010600030101010101" pitchFamily="2" charset="-122"/>
              </a:rPr>
              <a:t>索引节点中包含设备号信息。如果通过系统调用访问设备，则内核可通过该 </a:t>
            </a:r>
            <a:r>
              <a:rPr lang="en-US" altLang="zh-CN" smtClean="0">
                <a:latin typeface="宋体" panose="02010600030101010101" pitchFamily="2" charset="-122"/>
              </a:rPr>
              <a:t>VFS </a:t>
            </a:r>
            <a:r>
              <a:rPr lang="zh-CN" altLang="en-US" smtClean="0">
                <a:latin typeface="宋体" panose="02010600030101010101" pitchFamily="2" charset="-122"/>
              </a:rPr>
              <a:t>索引节点中的设备号信息调用适当的设备驱动程序。</a:t>
            </a:r>
            <a:endParaRPr lang="en-US" altLang="zh-CN" smtClean="0">
              <a:latin typeface="宋体" panose="02010600030101010101" pitchFamily="2" charset="-122"/>
            </a:endParaRPr>
          </a:p>
          <a:p>
            <a:endParaRPr lang="zh-CN" altLang="en-US" smtClean="0"/>
          </a:p>
        </p:txBody>
      </p:sp>
    </p:spTree>
    <p:extLst>
      <p:ext uri="{BB962C8B-B14F-4D97-AF65-F5344CB8AC3E}">
        <p14:creationId xmlns:p14="http://schemas.microsoft.com/office/powerpoint/2010/main" val="1525075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468B40D1-EB9D-420F-AD02-EDEBA5CB4636}" type="slidenum">
              <a:rPr kumimoji="0" lang="zh-CN" altLang="en-US" sz="1300">
                <a:solidFill>
                  <a:schemeClr val="tx1"/>
                </a:solidFill>
                <a:latin typeface="Times New Roman" panose="02020603050405020304" pitchFamily="18" charset="0"/>
              </a:rPr>
              <a:pPr>
                <a:lnSpc>
                  <a:spcPct val="100000"/>
                </a:lnSpc>
              </a:pPr>
              <a:t>22</a:t>
            </a:fld>
            <a:endParaRPr kumimoji="0" lang="en-US" altLang="zh-CN" sz="1300">
              <a:solidFill>
                <a:schemeClr val="tx1"/>
              </a:solidFill>
              <a:latin typeface="Times New Roman" panose="02020603050405020304" pitchFamily="18" charset="0"/>
            </a:endParaRPr>
          </a:p>
        </p:txBody>
      </p:sp>
      <p:sp>
        <p:nvSpPr>
          <p:cNvPr id="34819" name="Rectangle 2"/>
          <p:cNvSpPr>
            <a:spLocks noGrp="1" noRot="1" noChangeAspect="1" noChangeArrowheads="1" noTextEdit="1"/>
          </p:cNvSpPr>
          <p:nvPr>
            <p:ph type="sldImg"/>
          </p:nvPr>
        </p:nvSpPr>
        <p:spPr>
          <a:xfrm>
            <a:off x="915988" y="744538"/>
            <a:ext cx="4956175" cy="3717925"/>
          </a:xfrm>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对于不支持的操作，可以用</a:t>
            </a:r>
            <a:r>
              <a:rPr lang="en-US" altLang="zh-CN" smtClean="0"/>
              <a:t>NULL</a:t>
            </a:r>
            <a:r>
              <a:rPr lang="zh-CN" altLang="en-US" smtClean="0"/>
              <a:t>指针代替。</a:t>
            </a:r>
          </a:p>
          <a:p>
            <a:r>
              <a:rPr lang="zh-CN" altLang="en-US" smtClean="0"/>
              <a:t>在</a:t>
            </a:r>
            <a:r>
              <a:rPr lang="en-US" altLang="zh-CN" smtClean="0"/>
              <a:t>documentation/devices.txt</a:t>
            </a:r>
            <a:r>
              <a:rPr lang="zh-CN" altLang="en-US" smtClean="0"/>
              <a:t>中定义了主设备号和次设备号的分配与指定</a:t>
            </a:r>
          </a:p>
          <a:p>
            <a:r>
              <a:rPr lang="zh-CN" altLang="en-US" smtClean="0"/>
              <a:t>转换表定义了逻辑</a:t>
            </a:r>
            <a:r>
              <a:rPr lang="en-US" altLang="zh-CN" smtClean="0"/>
              <a:t>I/O</a:t>
            </a:r>
            <a:r>
              <a:rPr lang="zh-CN" altLang="en-US" smtClean="0"/>
              <a:t>和设备驱动程序之间的抽象接口。</a:t>
            </a:r>
          </a:p>
        </p:txBody>
      </p:sp>
    </p:spTree>
    <p:extLst>
      <p:ext uri="{BB962C8B-B14F-4D97-AF65-F5344CB8AC3E}">
        <p14:creationId xmlns:p14="http://schemas.microsoft.com/office/powerpoint/2010/main" val="3978765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3A49AF5F-A06F-4698-AE80-97BE6C987730}" type="slidenum">
              <a:rPr kumimoji="0" lang="zh-CN" altLang="en-US" sz="1300">
                <a:solidFill>
                  <a:schemeClr val="tx1"/>
                </a:solidFill>
                <a:latin typeface="Times New Roman" panose="02020603050405020304" pitchFamily="18" charset="0"/>
              </a:rPr>
              <a:pPr>
                <a:lnSpc>
                  <a:spcPct val="100000"/>
                </a:lnSpc>
              </a:pPr>
              <a:t>23</a:t>
            </a:fld>
            <a:endParaRPr kumimoji="0" lang="en-US" altLang="zh-CN" sz="1300">
              <a:solidFill>
                <a:schemeClr val="tx1"/>
              </a:solidFill>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xfrm>
            <a:off x="915988" y="744538"/>
            <a:ext cx="4956175" cy="3717925"/>
          </a:xfrm>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对于不支持的操作，可以用</a:t>
            </a:r>
            <a:r>
              <a:rPr lang="en-US" altLang="zh-CN" smtClean="0"/>
              <a:t>NULL</a:t>
            </a:r>
            <a:r>
              <a:rPr lang="zh-CN" altLang="en-US" smtClean="0"/>
              <a:t>指针代替。</a:t>
            </a:r>
          </a:p>
          <a:p>
            <a:r>
              <a:rPr lang="zh-CN" altLang="en-US" smtClean="0"/>
              <a:t>共255个元素</a:t>
            </a:r>
            <a:endParaRPr lang="en-US" altLang="zh-CN" smtClean="0"/>
          </a:p>
          <a:p>
            <a:r>
              <a:rPr lang="zh-CN" altLang="en-US" sz="1400" smtClean="0">
                <a:latin typeface="宋体" panose="02010600030101010101" pitchFamily="2" charset="-122"/>
              </a:rPr>
              <a:t>每个字符特殊文件使用的</a:t>
            </a:r>
            <a:r>
              <a:rPr lang="en-US" altLang="zh-CN" sz="1400" smtClean="0">
                <a:latin typeface="宋体" panose="02010600030101010101" pitchFamily="2" charset="-122"/>
              </a:rPr>
              <a:t>VFS inode</a:t>
            </a:r>
            <a:r>
              <a:rPr lang="zh-CN" altLang="en-US" sz="1400" smtClean="0">
                <a:latin typeface="宋体" panose="02010600030101010101" pitchFamily="2" charset="-122"/>
              </a:rPr>
              <a:t>和所有设备特殊文件一样，包含着设备的主从标志符。这个</a:t>
            </a:r>
            <a:r>
              <a:rPr lang="en-US" altLang="zh-CN" sz="1400" smtClean="0">
                <a:latin typeface="宋体" panose="02010600030101010101" pitchFamily="2" charset="-122"/>
              </a:rPr>
              <a:t>VFS inode</a:t>
            </a:r>
            <a:r>
              <a:rPr lang="zh-CN" altLang="en-US" sz="1400" smtClean="0">
                <a:latin typeface="宋体" panose="02010600030101010101" pitchFamily="2" charset="-122"/>
              </a:rPr>
              <a:t>由底层的文件系统来建立（如</a:t>
            </a:r>
            <a:r>
              <a:rPr lang="en-US" altLang="zh-CN" sz="1400" smtClean="0">
                <a:latin typeface="宋体" panose="02010600030101010101" pitchFamily="2" charset="-122"/>
              </a:rPr>
              <a:t>EXT2），</a:t>
            </a:r>
            <a:r>
              <a:rPr lang="zh-CN" altLang="en-US" sz="1400" smtClean="0">
                <a:latin typeface="宋体" panose="02010600030101010101" pitchFamily="2" charset="-122"/>
              </a:rPr>
              <a:t>其信息来源于设备相关文件名称所在文件系统。 </a:t>
            </a:r>
          </a:p>
          <a:p>
            <a:endParaRPr lang="zh-CN" altLang="en-US" smtClean="0"/>
          </a:p>
        </p:txBody>
      </p:sp>
    </p:spTree>
    <p:extLst>
      <p:ext uri="{BB962C8B-B14F-4D97-AF65-F5344CB8AC3E}">
        <p14:creationId xmlns:p14="http://schemas.microsoft.com/office/powerpoint/2010/main" val="501661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lnSpc>
                <a:spcPct val="90000"/>
              </a:lnSpc>
              <a:defRPr kumimoji="1" sz="2400">
                <a:solidFill>
                  <a:srgbClr val="000000"/>
                </a:solidFill>
                <a:latin typeface="宋体" panose="02010600030101010101" pitchFamily="2" charset="-122"/>
                <a:ea typeface="宋体" panose="02010600030101010101" pitchFamily="2" charset="-122"/>
              </a:defRPr>
            </a:lvl1pPr>
            <a:lvl2pPr marL="742950" indent="-285750" defTabSz="965200">
              <a:lnSpc>
                <a:spcPct val="90000"/>
              </a:lnSpc>
              <a:defRPr kumimoji="1" sz="2400">
                <a:solidFill>
                  <a:srgbClr val="000000"/>
                </a:solidFill>
                <a:latin typeface="宋体" panose="02010600030101010101" pitchFamily="2" charset="-122"/>
                <a:ea typeface="宋体" panose="02010600030101010101" pitchFamily="2" charset="-122"/>
              </a:defRPr>
            </a:lvl2pPr>
            <a:lvl3pPr marL="11430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3pPr>
            <a:lvl4pPr marL="16002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4pPr>
            <a:lvl5pPr marL="2057400" indent="-228600" defTabSz="965200">
              <a:lnSpc>
                <a:spcPct val="90000"/>
              </a:lnSpc>
              <a:defRPr kumimoji="1" sz="2400">
                <a:solidFill>
                  <a:srgbClr val="000000"/>
                </a:solidFill>
                <a:latin typeface="宋体" panose="02010600030101010101" pitchFamily="2" charset="-122"/>
                <a:ea typeface="宋体" panose="02010600030101010101" pitchFamily="2" charset="-122"/>
              </a:defRPr>
            </a:lvl5pPr>
            <a:lvl6pPr marL="25146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6pPr>
            <a:lvl7pPr marL="29718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7pPr>
            <a:lvl8pPr marL="34290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8pPr>
            <a:lvl9pPr marL="3886200" indent="-228600" defTabSz="965200" eaLnBrk="0" fontAlgn="base" hangingPunct="0">
              <a:lnSpc>
                <a:spcPct val="90000"/>
              </a:lnSpc>
              <a:spcBef>
                <a:spcPct val="0"/>
              </a:spcBef>
              <a:spcAft>
                <a:spcPct val="0"/>
              </a:spcAft>
              <a:defRPr kumimoji="1" sz="2400">
                <a:solidFill>
                  <a:srgbClr val="000000"/>
                </a:solidFill>
                <a:latin typeface="宋体" panose="02010600030101010101" pitchFamily="2" charset="-122"/>
                <a:ea typeface="宋体" panose="02010600030101010101" pitchFamily="2" charset="-122"/>
              </a:defRPr>
            </a:lvl9pPr>
          </a:lstStyle>
          <a:p>
            <a:pPr>
              <a:lnSpc>
                <a:spcPct val="100000"/>
              </a:lnSpc>
            </a:pPr>
            <a:fld id="{5CB8A39E-6006-4603-AD53-DBE4D6B22FBD}" type="slidenum">
              <a:rPr kumimoji="0" lang="zh-CN" altLang="en-US" sz="1300">
                <a:solidFill>
                  <a:schemeClr val="tx1"/>
                </a:solidFill>
                <a:latin typeface="Times New Roman" panose="02020603050405020304" pitchFamily="18" charset="0"/>
              </a:rPr>
              <a:pPr>
                <a:lnSpc>
                  <a:spcPct val="100000"/>
                </a:lnSpc>
              </a:pPr>
              <a:t>24</a:t>
            </a:fld>
            <a:endParaRPr kumimoji="0" lang="en-US" altLang="zh-CN" sz="1300">
              <a:solidFill>
                <a:schemeClr val="tx1"/>
              </a:solidFill>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xfrm>
            <a:off x="915988" y="744538"/>
            <a:ext cx="4956175" cy="3717925"/>
          </a:xfrm>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对于不支持的操作，可以用</a:t>
            </a:r>
            <a:r>
              <a:rPr lang="en-US" altLang="zh-CN" smtClean="0"/>
              <a:t>NULL</a:t>
            </a:r>
            <a:r>
              <a:rPr lang="zh-CN" altLang="en-US" smtClean="0"/>
              <a:t>指针代替。</a:t>
            </a:r>
          </a:p>
          <a:p>
            <a:r>
              <a:rPr lang="zh-CN" altLang="en-US" smtClean="0"/>
              <a:t>共255个元素</a:t>
            </a:r>
            <a:endParaRPr lang="en-US" altLang="zh-CN" smtClean="0"/>
          </a:p>
          <a:p>
            <a:r>
              <a:rPr lang="zh-CN" altLang="en-US" sz="1400" smtClean="0">
                <a:latin typeface="宋体" panose="02010600030101010101" pitchFamily="2" charset="-122"/>
              </a:rPr>
              <a:t>每个字符特殊文件使用的</a:t>
            </a:r>
            <a:r>
              <a:rPr lang="en-US" altLang="zh-CN" sz="1400" smtClean="0">
                <a:latin typeface="宋体" panose="02010600030101010101" pitchFamily="2" charset="-122"/>
              </a:rPr>
              <a:t>VFS inode</a:t>
            </a:r>
            <a:r>
              <a:rPr lang="zh-CN" altLang="en-US" sz="1400" smtClean="0">
                <a:latin typeface="宋体" panose="02010600030101010101" pitchFamily="2" charset="-122"/>
              </a:rPr>
              <a:t>和所有设备特殊文件一样，包含着设备的主从标志符。这个</a:t>
            </a:r>
            <a:r>
              <a:rPr lang="en-US" altLang="zh-CN" sz="1400" smtClean="0">
                <a:latin typeface="宋体" panose="02010600030101010101" pitchFamily="2" charset="-122"/>
              </a:rPr>
              <a:t>VFS inode</a:t>
            </a:r>
            <a:r>
              <a:rPr lang="zh-CN" altLang="en-US" sz="1400" smtClean="0">
                <a:latin typeface="宋体" panose="02010600030101010101" pitchFamily="2" charset="-122"/>
              </a:rPr>
              <a:t>由底层的文件系统来建立（如</a:t>
            </a:r>
            <a:r>
              <a:rPr lang="en-US" altLang="zh-CN" sz="1400" smtClean="0">
                <a:latin typeface="宋体" panose="02010600030101010101" pitchFamily="2" charset="-122"/>
              </a:rPr>
              <a:t>EXT2），</a:t>
            </a:r>
            <a:r>
              <a:rPr lang="zh-CN" altLang="en-US" sz="1400" smtClean="0">
                <a:latin typeface="宋体" panose="02010600030101010101" pitchFamily="2" charset="-122"/>
              </a:rPr>
              <a:t>其信息来源于设备相关文件名称所在文件系统。 </a:t>
            </a:r>
          </a:p>
          <a:p>
            <a:endParaRPr lang="zh-CN" altLang="en-US" smtClean="0"/>
          </a:p>
        </p:txBody>
      </p:sp>
    </p:spTree>
    <p:extLst>
      <p:ext uri="{BB962C8B-B14F-4D97-AF65-F5344CB8AC3E}">
        <p14:creationId xmlns:p14="http://schemas.microsoft.com/office/powerpoint/2010/main" val="397750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F5970A44-84FE-402B-88D2-F8095C92CB88}" type="slidenum">
              <a:rPr lang="zh-CN" altLang="en-US" sz="1300" smtClean="0">
                <a:ea typeface="宋体" panose="02010600030101010101" pitchFamily="2" charset="-122"/>
              </a:rPr>
              <a:pPr/>
              <a:t>32</a:t>
            </a:fld>
            <a:endParaRPr lang="en-US" altLang="zh-CN" sz="1300" smtClean="0">
              <a:ea typeface="宋体" panose="02010600030101010101" pitchFamily="2" charset="-122"/>
            </a:endParaRPr>
          </a:p>
        </p:txBody>
      </p:sp>
      <p:sp>
        <p:nvSpPr>
          <p:cNvPr id="8195" name="Rectangle 1026"/>
          <p:cNvSpPr>
            <a:spLocks noGrp="1" noRot="1" noChangeAspect="1" noChangeArrowheads="1" noTextEdit="1"/>
          </p:cNvSpPr>
          <p:nvPr>
            <p:ph type="sldImg"/>
          </p:nvPr>
        </p:nvSpPr>
        <p:spPr>
          <a:xfrm>
            <a:off x="915988" y="744538"/>
            <a:ext cx="4956175" cy="3717925"/>
          </a:xfrm>
          <a:ln/>
        </p:spPr>
      </p:sp>
      <p:sp>
        <p:nvSpPr>
          <p:cNvPr id="819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latin typeface="宋体" panose="02010600030101010101" pitchFamily="2" charset="-122"/>
              </a:rPr>
              <a:t>因为内核要为块设备文件提供缓冲区，实际的读写操作由缓冲区协调处理</a:t>
            </a:r>
            <a:r>
              <a:rPr lang="en-US" altLang="zh-CN" smtClean="0">
                <a:latin typeface="宋体" panose="02010600030101010101" pitchFamily="2" charset="-122"/>
              </a:rPr>
              <a:t>，</a:t>
            </a:r>
            <a:r>
              <a:rPr lang="zh-CN" altLang="en-US" smtClean="0">
                <a:latin typeface="宋体" panose="02010600030101010101" pitchFamily="2" charset="-122"/>
              </a:rPr>
              <a:t>因此，需要驱动程序为缓冲区提供接口。</a:t>
            </a:r>
          </a:p>
          <a:p>
            <a:endParaRPr lang="zh-CN" altLang="en-US" smtClean="0"/>
          </a:p>
        </p:txBody>
      </p:sp>
    </p:spTree>
    <p:extLst>
      <p:ext uri="{BB962C8B-B14F-4D97-AF65-F5344CB8AC3E}">
        <p14:creationId xmlns:p14="http://schemas.microsoft.com/office/powerpoint/2010/main" val="4114996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905A2F29-4F19-42D3-BF1A-313AA0677DAC}" type="slidenum">
              <a:rPr lang="zh-CN" altLang="en-US" sz="1300" smtClean="0">
                <a:ea typeface="宋体" panose="02010600030101010101" pitchFamily="2" charset="-122"/>
              </a:rPr>
              <a:pPr/>
              <a:t>33</a:t>
            </a:fld>
            <a:endParaRPr lang="en-US" altLang="zh-CN" sz="1300" smtClean="0">
              <a:ea typeface="宋体" panose="02010600030101010101" pitchFamily="2" charset="-122"/>
            </a:endParaRPr>
          </a:p>
        </p:txBody>
      </p:sp>
      <p:sp>
        <p:nvSpPr>
          <p:cNvPr id="10243" name="Rectangle 2"/>
          <p:cNvSpPr>
            <a:spLocks noGrp="1" noRot="1" noChangeAspect="1" noChangeArrowheads="1" noTextEdit="1"/>
          </p:cNvSpPr>
          <p:nvPr>
            <p:ph type="sldImg"/>
          </p:nvPr>
        </p:nvSpPr>
        <p:spPr>
          <a:xfrm>
            <a:off x="915988" y="744538"/>
            <a:ext cx="4956175" cy="3717925"/>
          </a:xfrm>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上述操作组成了驱动程序的下半部。驱动程序的上半部不能通过设备转换表得到。</a:t>
            </a:r>
          </a:p>
          <a:p>
            <a:r>
              <a:rPr lang="zh-CN" altLang="en-US" smtClean="0"/>
              <a:t>设备驱动程序控制硬件的接口由2部分组成，一部分是设备的控制和状态寄存器，另一部分是处理机操作外设的指令和中断向量。中断服务例程是设备驱动程序的上半部。当设备发出中断请求时，内核识别发出中断的设备，然后转去执行中断服务里程，并唤醒等待该中断的下半部所描述的上述操作例程</a:t>
            </a:r>
          </a:p>
          <a:p>
            <a:r>
              <a:rPr lang="zh-CN" altLang="en-US" smtClean="0"/>
              <a:t>为什么在</a:t>
            </a:r>
            <a:r>
              <a:rPr lang="en-US" altLang="zh-CN" sz="2800" smtClean="0"/>
              <a:t>block_device_operations</a:t>
            </a:r>
            <a:r>
              <a:rPr lang="zh-CN" altLang="en-US" sz="2800" smtClean="0"/>
              <a:t>接口中没有</a:t>
            </a:r>
            <a:r>
              <a:rPr lang="en-US" altLang="zh-CN" sz="2800" smtClean="0"/>
              <a:t>read</a:t>
            </a:r>
            <a:r>
              <a:rPr lang="zh-CN" altLang="en-US" sz="2800" smtClean="0"/>
              <a:t>和 </a:t>
            </a:r>
            <a:r>
              <a:rPr lang="en-US" altLang="zh-CN" sz="2800" smtClean="0"/>
              <a:t>write</a:t>
            </a:r>
            <a:r>
              <a:rPr lang="zh-CN" altLang="en-US" sz="2800" smtClean="0"/>
              <a:t>操作？因为所有涉及到块设备的</a:t>
            </a:r>
            <a:r>
              <a:rPr lang="en-US" altLang="zh-CN" sz="2800" smtClean="0"/>
              <a:t>I/O</a:t>
            </a:r>
            <a:r>
              <a:rPr lang="zh-CN" altLang="en-US" sz="2800" smtClean="0"/>
              <a:t>操作通常由系统缓存处理，用户不会对这些设备执行直接的</a:t>
            </a:r>
            <a:r>
              <a:rPr lang="en-US" altLang="zh-CN" sz="2800" smtClean="0"/>
              <a:t>I/O</a:t>
            </a:r>
            <a:r>
              <a:rPr lang="zh-CN" altLang="en-US" sz="2800" smtClean="0"/>
              <a:t>访问。内核为块设备提供了一种</a:t>
            </a:r>
            <a:r>
              <a:rPr lang="en-US" altLang="zh-CN" sz="2800" smtClean="0"/>
              <a:t>generic_file_read(),generic_file_write,</a:t>
            </a:r>
            <a:r>
              <a:rPr lang="zh-CN" altLang="en-US" sz="2800" smtClean="0"/>
              <a:t>驱动程序不会理睬这些函数</a:t>
            </a:r>
            <a:endParaRPr lang="zh-CN" altLang="en-US" sz="2800" smtClean="0">
              <a:solidFill>
                <a:srgbClr val="000000"/>
              </a:solidFill>
            </a:endParaRPr>
          </a:p>
          <a:p>
            <a:r>
              <a:rPr lang="zh-CN" altLang="en-US" smtClean="0"/>
              <a:t>在编写一个设备驱动程序时，没有必要给出所有上面的函数实现，如打印机，不允许读，设置为</a:t>
            </a:r>
            <a:r>
              <a:rPr lang="en-US" altLang="zh-CN" smtClean="0"/>
              <a:t>NULL</a:t>
            </a:r>
          </a:p>
          <a:p>
            <a:endParaRPr lang="zh-CN" altLang="en-US" smtClean="0"/>
          </a:p>
          <a:p>
            <a:endParaRPr lang="zh-CN" altLang="en-US" smtClean="0"/>
          </a:p>
        </p:txBody>
      </p:sp>
    </p:spTree>
    <p:extLst>
      <p:ext uri="{BB962C8B-B14F-4D97-AF65-F5344CB8AC3E}">
        <p14:creationId xmlns:p14="http://schemas.microsoft.com/office/powerpoint/2010/main" val="3690781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A1B3C944-8808-4618-8DCA-F0B0281D3DD5}" type="slidenum">
              <a:rPr lang="zh-CN" altLang="en-US" sz="1300" smtClean="0">
                <a:ea typeface="宋体" panose="02010600030101010101" pitchFamily="2" charset="-122"/>
              </a:rPr>
              <a:pPr/>
              <a:t>34</a:t>
            </a:fld>
            <a:endParaRPr lang="en-US" altLang="zh-CN" sz="1300" smtClean="0">
              <a:ea typeface="宋体" panose="02010600030101010101" pitchFamily="2" charset="-122"/>
            </a:endParaRPr>
          </a:p>
        </p:txBody>
      </p:sp>
      <p:sp>
        <p:nvSpPr>
          <p:cNvPr id="12291" name="Rectangle 2"/>
          <p:cNvSpPr>
            <a:spLocks noGrp="1" noRot="1" noChangeAspect="1" noChangeArrowheads="1" noTextEdit="1"/>
          </p:cNvSpPr>
          <p:nvPr>
            <p:ph type="sldImg"/>
          </p:nvPr>
        </p:nvSpPr>
        <p:spPr>
          <a:xfrm>
            <a:off x="915988" y="744538"/>
            <a:ext cx="4956175" cy="3717925"/>
          </a:xfrm>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与字符设备不同，块设备有多种类型，所以块设备注册以类型为单位进行</a:t>
            </a:r>
          </a:p>
          <a:p>
            <a:r>
              <a:rPr lang="en-US" altLang="zh-CN" smtClean="0"/>
              <a:t>Block_device_operations</a:t>
            </a:r>
            <a:r>
              <a:rPr lang="zh-CN" altLang="en-US" smtClean="0"/>
              <a:t>是连接抽象的块设备操作与具体块设备操作之间的枢纽</a:t>
            </a:r>
          </a:p>
          <a:p>
            <a:r>
              <a:rPr lang="en-US" altLang="zh-CN" sz="1600" smtClean="0">
                <a:solidFill>
                  <a:srgbClr val="FF0000"/>
                </a:solidFill>
              </a:rPr>
              <a:t>register_blkdev</a:t>
            </a:r>
            <a:r>
              <a:rPr lang="en-US" altLang="zh-CN" sz="1600" smtClean="0"/>
              <a:t>(unsigned int major,const char *name,</a:t>
            </a:r>
          </a:p>
          <a:p>
            <a:r>
              <a:rPr lang="en-US" altLang="zh-CN" sz="1600" smtClean="0"/>
              <a:t>                          struct block_device_operations *bdops)</a:t>
            </a:r>
          </a:p>
          <a:p>
            <a:r>
              <a:rPr lang="zh-CN" altLang="en-US" smtClean="0"/>
              <a:t>添加该函数的主要实现</a:t>
            </a:r>
          </a:p>
          <a:p>
            <a:endParaRPr lang="en-US" altLang="zh-CN" smtClean="0"/>
          </a:p>
          <a:p>
            <a:endParaRPr lang="zh-CN" altLang="en-US" smtClean="0"/>
          </a:p>
        </p:txBody>
      </p:sp>
    </p:spTree>
    <p:extLst>
      <p:ext uri="{BB962C8B-B14F-4D97-AF65-F5344CB8AC3E}">
        <p14:creationId xmlns:p14="http://schemas.microsoft.com/office/powerpoint/2010/main" val="483042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D9487FFF-341C-43E9-A6B3-32DE95855E75}" type="slidenum">
              <a:rPr lang="zh-CN" altLang="en-US" sz="1300" smtClean="0">
                <a:ea typeface="宋体" panose="02010600030101010101" pitchFamily="2" charset="-122"/>
              </a:rPr>
              <a:pPr/>
              <a:t>36</a:t>
            </a:fld>
            <a:endParaRPr lang="en-US" altLang="zh-CN" sz="1300" smtClean="0">
              <a:ea typeface="宋体" panose="02010600030101010101" pitchFamily="2" charset="-122"/>
            </a:endParaRPr>
          </a:p>
        </p:txBody>
      </p:sp>
      <p:sp>
        <p:nvSpPr>
          <p:cNvPr id="15363" name="Rectangle 2"/>
          <p:cNvSpPr>
            <a:spLocks noGrp="1" noRot="1" noChangeAspect="1" noChangeArrowheads="1" noTextEdit="1"/>
          </p:cNvSpPr>
          <p:nvPr>
            <p:ph type="sldImg"/>
          </p:nvPr>
        </p:nvSpPr>
        <p:spPr>
          <a:xfrm>
            <a:off x="915988" y="744538"/>
            <a:ext cx="4956175" cy="3717925"/>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latin typeface="宋体" panose="02010600030101010101" pitchFamily="2" charset="-122"/>
              </a:rPr>
              <a:t>blk_dev_struct</a:t>
            </a:r>
            <a:r>
              <a:rPr lang="zh-CN" altLang="en-US" smtClean="0">
                <a:latin typeface="宋体" panose="02010600030101010101" pitchFamily="2" charset="-122"/>
              </a:rPr>
              <a:t>结构包含请求过程的地址以及指向请求</a:t>
            </a:r>
            <a:r>
              <a:rPr lang="en-US" altLang="zh-CN" smtClean="0">
                <a:latin typeface="宋体" panose="02010600030101010101" pitchFamily="2" charset="-122"/>
              </a:rPr>
              <a:t>request</a:t>
            </a:r>
            <a:r>
              <a:rPr lang="zh-CN" altLang="en-US" smtClean="0">
                <a:latin typeface="宋体" panose="02010600030101010101" pitchFamily="2" charset="-122"/>
              </a:rPr>
              <a:t>数据结构链表的指针，每个代表一个从</a:t>
            </a:r>
            <a:r>
              <a:rPr lang="en-US" altLang="zh-CN" smtClean="0">
                <a:latin typeface="宋体" panose="02010600030101010101" pitchFamily="2" charset="-122"/>
              </a:rPr>
              <a:t>buffer cache</a:t>
            </a:r>
            <a:r>
              <a:rPr lang="zh-CN" altLang="en-US" smtClean="0">
                <a:latin typeface="宋体" panose="02010600030101010101" pitchFamily="2" charset="-122"/>
              </a:rPr>
              <a:t>中来让设备进行数据读写的请求</a:t>
            </a:r>
            <a:r>
              <a:rPr lang="zh-CN" altLang="en-US" sz="900" smtClean="0"/>
              <a:t>。</a:t>
            </a:r>
            <a:r>
              <a:rPr lang="zh-CN" altLang="en-US" sz="1000" smtClean="0"/>
              <a:t> </a:t>
            </a:r>
          </a:p>
          <a:p>
            <a:endParaRPr lang="zh-CN" altLang="en-US" smtClean="0"/>
          </a:p>
          <a:p>
            <a:endParaRPr lang="zh-CN" altLang="en-US" smtClean="0"/>
          </a:p>
        </p:txBody>
      </p:sp>
    </p:spTree>
    <p:extLst>
      <p:ext uri="{BB962C8B-B14F-4D97-AF65-F5344CB8AC3E}">
        <p14:creationId xmlns:p14="http://schemas.microsoft.com/office/powerpoint/2010/main" val="2487606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8E33C83D-1A51-4EB5-B230-23895E95E1E2}" type="slidenum">
              <a:rPr lang="zh-CN" altLang="en-US" sz="1300" smtClean="0">
                <a:ea typeface="宋体" panose="02010600030101010101" pitchFamily="2" charset="-122"/>
              </a:rPr>
              <a:pPr/>
              <a:t>37</a:t>
            </a:fld>
            <a:endParaRPr lang="en-US" altLang="zh-CN" sz="1300" smtClean="0">
              <a:ea typeface="宋体" panose="02010600030101010101" pitchFamily="2" charset="-122"/>
            </a:endParaRPr>
          </a:p>
        </p:txBody>
      </p:sp>
      <p:sp>
        <p:nvSpPr>
          <p:cNvPr id="17411" name="Rectangle 2"/>
          <p:cNvSpPr>
            <a:spLocks noGrp="1" noRot="1" noChangeAspect="1" noChangeArrowheads="1" noTextEdit="1"/>
          </p:cNvSpPr>
          <p:nvPr>
            <p:ph type="sldImg"/>
          </p:nvPr>
        </p:nvSpPr>
        <p:spPr>
          <a:xfrm>
            <a:off x="915988" y="744538"/>
            <a:ext cx="4956175" cy="3717925"/>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latin typeface="宋体" panose="02010600030101010101" pitchFamily="2" charset="-122"/>
              </a:rPr>
              <a:t>blk_dev_struct</a:t>
            </a:r>
            <a:r>
              <a:rPr lang="zh-CN" altLang="en-US" smtClean="0">
                <a:latin typeface="宋体" panose="02010600030101010101" pitchFamily="2" charset="-122"/>
              </a:rPr>
              <a:t>结构包含请求过程的地址以及指向请求</a:t>
            </a:r>
            <a:r>
              <a:rPr lang="en-US" altLang="zh-CN" smtClean="0">
                <a:latin typeface="宋体" panose="02010600030101010101" pitchFamily="2" charset="-122"/>
              </a:rPr>
              <a:t>request</a:t>
            </a:r>
            <a:r>
              <a:rPr lang="zh-CN" altLang="en-US" smtClean="0">
                <a:latin typeface="宋体" panose="02010600030101010101" pitchFamily="2" charset="-122"/>
              </a:rPr>
              <a:t>数据结构链表的指针，每个代表一个从</a:t>
            </a:r>
            <a:r>
              <a:rPr lang="en-US" altLang="zh-CN" smtClean="0">
                <a:latin typeface="宋体" panose="02010600030101010101" pitchFamily="2" charset="-122"/>
              </a:rPr>
              <a:t>buffer cache</a:t>
            </a:r>
            <a:r>
              <a:rPr lang="zh-CN" altLang="en-US" smtClean="0">
                <a:latin typeface="宋体" panose="02010600030101010101" pitchFamily="2" charset="-122"/>
              </a:rPr>
              <a:t>中来让设备进行数据读写的请求</a:t>
            </a:r>
            <a:r>
              <a:rPr lang="zh-CN" altLang="en-US" sz="900" smtClean="0"/>
              <a:t>。</a:t>
            </a:r>
            <a:r>
              <a:rPr lang="zh-CN" altLang="en-US" sz="1000" smtClean="0"/>
              <a:t> </a:t>
            </a:r>
          </a:p>
          <a:p>
            <a:endParaRPr lang="zh-CN" altLang="en-US" smtClean="0"/>
          </a:p>
          <a:p>
            <a:endParaRPr lang="zh-CN" altLang="en-US" smtClean="0"/>
          </a:p>
        </p:txBody>
      </p:sp>
    </p:spTree>
    <p:extLst>
      <p:ext uri="{BB962C8B-B14F-4D97-AF65-F5344CB8AC3E}">
        <p14:creationId xmlns:p14="http://schemas.microsoft.com/office/powerpoint/2010/main" val="1804653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40D63574-3956-48CA-8B7D-4653C04A624D}" type="slidenum">
              <a:rPr lang="zh-CN" altLang="en-US" sz="1300" smtClean="0">
                <a:ea typeface="宋体" panose="02010600030101010101" pitchFamily="2" charset="-122"/>
              </a:rPr>
              <a:pPr/>
              <a:t>39</a:t>
            </a:fld>
            <a:endParaRPr lang="en-US" altLang="zh-CN" sz="1300" smtClean="0">
              <a:ea typeface="宋体" panose="02010600030101010101" pitchFamily="2" charset="-122"/>
            </a:endParaRPr>
          </a:p>
        </p:txBody>
      </p:sp>
      <p:sp>
        <p:nvSpPr>
          <p:cNvPr id="20483" name="Rectangle 2"/>
          <p:cNvSpPr>
            <a:spLocks noGrp="1" noRot="1" noChangeAspect="1" noChangeArrowheads="1" noTextEdit="1"/>
          </p:cNvSpPr>
          <p:nvPr>
            <p:ph type="sldImg"/>
          </p:nvPr>
        </p:nvSpPr>
        <p:spPr>
          <a:xfrm>
            <a:off x="915988" y="744538"/>
            <a:ext cx="4956175" cy="3717925"/>
          </a:xfrm>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每个请求有指向一个或多个</a:t>
            </a:r>
            <a:r>
              <a:rPr lang="en-US" altLang="zh-CN" smtClean="0"/>
              <a:t>buffer_head</a:t>
            </a:r>
            <a:r>
              <a:rPr lang="zh-CN" altLang="en-US" smtClean="0"/>
              <a:t>结构的指针，每个请求读写一块数据。</a:t>
            </a:r>
          </a:p>
        </p:txBody>
      </p:sp>
    </p:spTree>
    <p:extLst>
      <p:ext uri="{BB962C8B-B14F-4D97-AF65-F5344CB8AC3E}">
        <p14:creationId xmlns:p14="http://schemas.microsoft.com/office/powerpoint/2010/main" val="3515881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6C55E991-FF31-47BA-83C0-2BC6337BB444}" type="slidenum">
              <a:rPr lang="zh-CN" altLang="en-US" sz="1300" smtClean="0">
                <a:ea typeface="宋体" panose="02010600030101010101" pitchFamily="2" charset="-122"/>
              </a:rPr>
              <a:pPr/>
              <a:t>40</a:t>
            </a:fld>
            <a:endParaRPr lang="en-US" altLang="zh-CN" sz="1300" smtClean="0">
              <a:ea typeface="宋体" panose="02010600030101010101" pitchFamily="2" charset="-122"/>
            </a:endParaRPr>
          </a:p>
        </p:txBody>
      </p:sp>
      <p:sp>
        <p:nvSpPr>
          <p:cNvPr id="22531" name="Rectangle 2"/>
          <p:cNvSpPr>
            <a:spLocks noGrp="1" noRot="1" noChangeAspect="1" noChangeArrowheads="1" noTextEdit="1"/>
          </p:cNvSpPr>
          <p:nvPr>
            <p:ph type="sldImg"/>
          </p:nvPr>
        </p:nvSpPr>
        <p:spPr>
          <a:xfrm>
            <a:off x="915988" y="744538"/>
            <a:ext cx="4956175" cy="3717925"/>
          </a:xfrm>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20000"/>
              </a:spcBef>
              <a:buClr>
                <a:schemeClr val="hlink"/>
              </a:buClr>
              <a:buSzPct val="60000"/>
              <a:buFont typeface="Wingdings" panose="05000000000000000000" pitchFamily="2" charset="2"/>
              <a:buChar char="n"/>
            </a:pPr>
            <a:r>
              <a:rPr lang="en-US" altLang="zh-CN" sz="2800" smtClean="0">
                <a:solidFill>
                  <a:schemeClr val="tx2"/>
                </a:solidFill>
                <a:latin typeface="Verdana" panose="020B0604030504040204" pitchFamily="34" charset="0"/>
              </a:rPr>
              <a:t>Linux</a:t>
            </a:r>
            <a:r>
              <a:rPr lang="zh-CN" altLang="en-US" sz="2800" smtClean="0">
                <a:solidFill>
                  <a:schemeClr val="tx2"/>
                </a:solidFill>
                <a:latin typeface="宋体" panose="02010600030101010101" pitchFamily="2" charset="-122"/>
              </a:rPr>
              <a:t>使用</a:t>
            </a:r>
            <a:r>
              <a:rPr lang="en-US" altLang="zh-CN" sz="2800" smtClean="0">
                <a:solidFill>
                  <a:schemeClr val="tx2"/>
                </a:solidFill>
                <a:latin typeface="Verdana" panose="020B0604030504040204" pitchFamily="34" charset="0"/>
              </a:rPr>
              <a:t>insmod</a:t>
            </a:r>
            <a:r>
              <a:rPr lang="zh-CN" altLang="en-US" sz="2800" smtClean="0">
                <a:solidFill>
                  <a:schemeClr val="tx2"/>
                </a:solidFill>
                <a:latin typeface="宋体" panose="02010600030101010101" pitchFamily="2" charset="-122"/>
              </a:rPr>
              <a:t>来显式加载内核模块，使用</a:t>
            </a:r>
            <a:r>
              <a:rPr lang="en-US" altLang="zh-CN" sz="2800" smtClean="0">
                <a:solidFill>
                  <a:schemeClr val="tx2"/>
                </a:solidFill>
                <a:latin typeface="Verdana" panose="020B0604030504040204" pitchFamily="34" charset="0"/>
              </a:rPr>
              <a:t>rmmod</a:t>
            </a:r>
            <a:r>
              <a:rPr lang="zh-CN" altLang="en-US" sz="2800" smtClean="0">
                <a:solidFill>
                  <a:schemeClr val="tx2"/>
                </a:solidFill>
                <a:latin typeface="宋体" panose="02010600030101010101" pitchFamily="2" charset="-122"/>
              </a:rPr>
              <a:t>来卸载模块。同时内核自身也可以请求内核后台进程</a:t>
            </a:r>
            <a:r>
              <a:rPr lang="en-US" altLang="zh-CN" sz="2800" smtClean="0">
                <a:solidFill>
                  <a:schemeClr val="tx2"/>
                </a:solidFill>
                <a:latin typeface="Verdana" panose="020B0604030504040204" pitchFamily="34" charset="0"/>
              </a:rPr>
              <a:t>kerneld</a:t>
            </a:r>
            <a:r>
              <a:rPr lang="zh-CN" altLang="en-US" sz="2800" smtClean="0">
                <a:solidFill>
                  <a:schemeClr val="tx2"/>
                </a:solidFill>
                <a:latin typeface="宋体" panose="02010600030101010101" pitchFamily="2" charset="-122"/>
              </a:rPr>
              <a:t>来加载与卸载模块。</a:t>
            </a:r>
            <a:r>
              <a:rPr lang="en-US" altLang="zh-CN" sz="2800" smtClean="0">
                <a:solidFill>
                  <a:schemeClr val="tx2"/>
                </a:solidFill>
                <a:latin typeface="Verdana" panose="020B0604030504040204" pitchFamily="34" charset="0"/>
              </a:rPr>
              <a:t>Linux</a:t>
            </a:r>
            <a:r>
              <a:rPr lang="zh-CN" altLang="en-US" sz="2800" smtClean="0">
                <a:solidFill>
                  <a:schemeClr val="tx2"/>
                </a:solidFill>
                <a:latin typeface="宋体" panose="02010600030101010101" pitchFamily="2" charset="-122"/>
              </a:rPr>
              <a:t>模块大多数是设备驱动程序以及伪设备驱动程序模块</a:t>
            </a:r>
            <a:r>
              <a:rPr lang="zh-CN" altLang="en-US" sz="2800" smtClean="0">
                <a:solidFill>
                  <a:schemeClr val="tx2"/>
                </a:solidFill>
                <a:latin typeface="Verdana" panose="020B0604030504040204" pitchFamily="34" charset="0"/>
              </a:rPr>
              <a:t>, </a:t>
            </a:r>
            <a:r>
              <a:rPr lang="zh-CN" altLang="en-US" sz="2800" smtClean="0">
                <a:solidFill>
                  <a:schemeClr val="tx2"/>
                </a:solidFill>
                <a:latin typeface="宋体" panose="02010600030101010101" pitchFamily="2" charset="-122"/>
              </a:rPr>
              <a:t>如网络设备和文件系统等。</a:t>
            </a:r>
            <a:r>
              <a:rPr lang="zh-CN" altLang="en-US" sz="2800" smtClean="0">
                <a:solidFill>
                  <a:schemeClr val="tx2"/>
                </a:solidFill>
                <a:latin typeface="Verdana" panose="020B0604030504040204" pitchFamily="34" charset="0"/>
              </a:rPr>
              <a:t> </a:t>
            </a:r>
          </a:p>
          <a:p>
            <a:endParaRPr lang="zh-CN" altLang="en-US" smtClean="0"/>
          </a:p>
        </p:txBody>
      </p:sp>
    </p:spTree>
    <p:extLst>
      <p:ext uri="{BB962C8B-B14F-4D97-AF65-F5344CB8AC3E}">
        <p14:creationId xmlns:p14="http://schemas.microsoft.com/office/powerpoint/2010/main" val="1219128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CE97A611-B0FF-467F-8091-FA6609F79F35}" type="slidenum">
              <a:rPr lang="zh-CN" altLang="en-US" sz="1300" smtClean="0">
                <a:ea typeface="宋体" panose="02010600030101010101" pitchFamily="2" charset="-122"/>
              </a:rPr>
              <a:pPr/>
              <a:t>41</a:t>
            </a:fld>
            <a:endParaRPr lang="en-US" altLang="zh-CN" sz="1300" smtClean="0">
              <a:ea typeface="宋体" panose="02010600030101010101" pitchFamily="2" charset="-122"/>
            </a:endParaRPr>
          </a:p>
        </p:txBody>
      </p:sp>
      <p:sp>
        <p:nvSpPr>
          <p:cNvPr id="24579" name="Rectangle 2"/>
          <p:cNvSpPr>
            <a:spLocks noGrp="1" noRot="1" noChangeAspect="1" noChangeArrowheads="1" noTextEdit="1"/>
          </p:cNvSpPr>
          <p:nvPr>
            <p:ph type="sldImg"/>
          </p:nvPr>
        </p:nvSpPr>
        <p:spPr>
          <a:xfrm>
            <a:off x="917575" y="744538"/>
            <a:ext cx="4957763" cy="3717925"/>
          </a:xfrm>
          <a:ln/>
        </p:spPr>
      </p:sp>
      <p:sp>
        <p:nvSpPr>
          <p:cNvPr id="24580" name="Rectangle 3"/>
          <p:cNvSpPr>
            <a:spLocks noGrp="1" noChangeArrowheads="1"/>
          </p:cNvSpPr>
          <p:nvPr>
            <p:ph type="body" idx="1"/>
          </p:nvPr>
        </p:nvSpPr>
        <p:spPr>
          <a:xfrm>
            <a:off x="677863" y="4711700"/>
            <a:ext cx="543242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要了解“模块机制”（</a:t>
            </a:r>
            <a:r>
              <a:rPr lang="en-US" altLang="zh-CN" smtClean="0"/>
              <a:t>module</a:t>
            </a:r>
            <a:r>
              <a:rPr lang="zh-CN" altLang="en-US" smtClean="0"/>
              <a:t>）的原理，首先要了解</a:t>
            </a:r>
            <a:r>
              <a:rPr lang="en-US" altLang="zh-CN" smtClean="0"/>
              <a:t>Linux</a:t>
            </a:r>
            <a:r>
              <a:rPr lang="zh-CN" altLang="en-US" smtClean="0"/>
              <a:t>的内核体系结构。</a:t>
            </a:r>
            <a:r>
              <a:rPr lang="en-US" altLang="zh-CN" smtClean="0"/>
              <a:t>Linux</a:t>
            </a:r>
            <a:r>
              <a:rPr lang="zh-CN" altLang="en-US" smtClean="0"/>
              <a:t>操作系</a:t>
            </a:r>
            <a:br>
              <a:rPr lang="zh-CN" altLang="en-US" smtClean="0"/>
            </a:br>
            <a:r>
              <a:rPr lang="zh-CN" altLang="en-US" smtClean="0"/>
              <a:t>统的内核是单一体系结构（</a:t>
            </a:r>
            <a:r>
              <a:rPr lang="en-US" altLang="zh-CN" smtClean="0"/>
              <a:t>monolithic kernel</a:t>
            </a:r>
            <a:r>
              <a:rPr lang="zh-CN" altLang="en-US" smtClean="0"/>
              <a:t>）的，即整个内核是一个单独的非常大的程</a:t>
            </a:r>
            <a:br>
              <a:rPr lang="zh-CN" altLang="en-US" smtClean="0"/>
            </a:br>
            <a:r>
              <a:rPr lang="zh-CN" altLang="en-US" smtClean="0"/>
              <a:t>序。单一体系结构的把实现操作系统功能的所有的模块都集成在了一起，这样系统的速度</a:t>
            </a:r>
            <a:br>
              <a:rPr lang="zh-CN" altLang="en-US" smtClean="0"/>
            </a:br>
            <a:r>
              <a:rPr lang="zh-CN" altLang="en-US" smtClean="0"/>
              <a:t>、性能都很好，但是可扩展性和维护性就相对比较差。</a:t>
            </a:r>
            <a:br>
              <a:rPr lang="zh-CN" altLang="en-US" smtClean="0"/>
            </a:br>
            <a:r>
              <a:rPr lang="zh-CN" altLang="en-US" smtClean="0"/>
              <a:t>在使用操作系统的过程中，要添加一些新的功能是再正常不过的了。如果没有模块机制就</a:t>
            </a:r>
            <a:br>
              <a:rPr lang="zh-CN" altLang="en-US" smtClean="0"/>
            </a:br>
            <a:r>
              <a:rPr lang="zh-CN" altLang="en-US" smtClean="0"/>
              <a:t>每次都需要重新编译内核。要知道，重编内核是一见费时费力费感情的事情。且不论成功</a:t>
            </a:r>
            <a:br>
              <a:rPr lang="zh-CN" altLang="en-US" smtClean="0"/>
            </a:br>
            <a:r>
              <a:rPr lang="zh-CN" altLang="en-US" smtClean="0"/>
              <a:t>编译出内核需要花的一到两小时的时间，而且重新编译内核往往会出现这个那个的错误，</a:t>
            </a:r>
            <a:br>
              <a:rPr lang="zh-CN" altLang="en-US" smtClean="0"/>
            </a:br>
            <a:r>
              <a:rPr lang="zh-CN" altLang="en-US" smtClean="0"/>
              <a:t>很是郁闷，有些错误也不是一时半会能搞定的。</a:t>
            </a:r>
            <a:br>
              <a:rPr lang="zh-CN" altLang="en-US" smtClean="0"/>
            </a:br>
            <a:r>
              <a:rPr lang="zh-CN" altLang="en-US" smtClean="0"/>
              <a:t>那么</a:t>
            </a:r>
            <a:r>
              <a:rPr lang="en-US" altLang="zh-CN" smtClean="0"/>
              <a:t>Linux</a:t>
            </a:r>
            <a:r>
              <a:rPr lang="zh-CN" altLang="en-US" smtClean="0"/>
              <a:t>操作系统的可扩充性岂不是太差了？！为解决这个问题，</a:t>
            </a:r>
            <a:r>
              <a:rPr lang="en-US" altLang="zh-CN" smtClean="0"/>
              <a:t>Linux</a:t>
            </a:r>
            <a:r>
              <a:rPr lang="zh-CN" altLang="en-US" smtClean="0"/>
              <a:t>操作系统使用了</a:t>
            </a:r>
            <a:br>
              <a:rPr lang="zh-CN" altLang="en-US" smtClean="0"/>
            </a:br>
            <a:r>
              <a:rPr lang="zh-CN" altLang="en-US" smtClean="0"/>
              <a:t>一种全新的机制</a:t>
            </a:r>
            <a:r>
              <a:rPr lang="en-US" altLang="zh-CN" smtClean="0"/>
              <a:t>――</a:t>
            </a:r>
            <a:r>
              <a:rPr lang="zh-CN" altLang="en-US" smtClean="0"/>
              <a:t>模块。用户可以根据需要，再无需重新编译内核的情况下，让带有新</a:t>
            </a:r>
            <a:br>
              <a:rPr lang="zh-CN" altLang="en-US" smtClean="0"/>
            </a:br>
            <a:r>
              <a:rPr lang="zh-CN" altLang="en-US" smtClean="0"/>
              <a:t>增功能的模块能够动态地载入内核或从内核中移出。这样，操作系统地可扩充性就大大增</a:t>
            </a:r>
            <a:br>
              <a:rPr lang="zh-CN" altLang="en-US" smtClean="0"/>
            </a:br>
            <a:r>
              <a:rPr lang="zh-CN" altLang="en-US" smtClean="0"/>
              <a:t>加，操作系统的升级和改进就不存在问题了。</a:t>
            </a:r>
            <a:br>
              <a:rPr lang="zh-CN" altLang="en-US" smtClean="0"/>
            </a:br>
            <a:endParaRPr lang="zh-CN" altLang="en-US" smtClean="0"/>
          </a:p>
        </p:txBody>
      </p:sp>
    </p:spTree>
    <p:extLst>
      <p:ext uri="{BB962C8B-B14F-4D97-AF65-F5344CB8AC3E}">
        <p14:creationId xmlns:p14="http://schemas.microsoft.com/office/powerpoint/2010/main" val="40930122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411BA60D-5625-4FDF-B822-5B5BA38034AE}" type="slidenum">
              <a:rPr lang="zh-CN" altLang="en-US" sz="1300" smtClean="0">
                <a:ea typeface="宋体" panose="02010600030101010101" pitchFamily="2" charset="-122"/>
              </a:rPr>
              <a:pPr/>
              <a:t>42</a:t>
            </a:fld>
            <a:endParaRPr lang="en-US" altLang="zh-CN" sz="1300" smtClean="0">
              <a:ea typeface="宋体" panose="02010600030101010101" pitchFamily="2" charset="-122"/>
            </a:endParaRPr>
          </a:p>
        </p:txBody>
      </p:sp>
      <p:sp>
        <p:nvSpPr>
          <p:cNvPr id="26627" name="Rectangle 2"/>
          <p:cNvSpPr>
            <a:spLocks noGrp="1" noRot="1" noChangeAspect="1" noChangeArrowheads="1" noTextEdit="1"/>
          </p:cNvSpPr>
          <p:nvPr>
            <p:ph type="sldImg"/>
          </p:nvPr>
        </p:nvSpPr>
        <p:spPr>
          <a:xfrm>
            <a:off x="917575" y="744538"/>
            <a:ext cx="4957763" cy="3717925"/>
          </a:xfrm>
          <a:ln/>
        </p:spPr>
      </p:sp>
      <p:sp>
        <p:nvSpPr>
          <p:cNvPr id="26628" name="Rectangle 3"/>
          <p:cNvSpPr>
            <a:spLocks noGrp="1" noChangeArrowheads="1"/>
          </p:cNvSpPr>
          <p:nvPr>
            <p:ph type="body" idx="1"/>
          </p:nvPr>
        </p:nvSpPr>
        <p:spPr>
          <a:xfrm>
            <a:off x="677863" y="4711700"/>
            <a:ext cx="543242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使内存更加紧凑和灵活。</a:t>
            </a:r>
            <a:br>
              <a:rPr lang="zh-CN" altLang="en-US" smtClean="0"/>
            </a:br>
            <a:r>
              <a:rPr lang="zh-CN" altLang="en-US" smtClean="0"/>
              <a:t> 修改内存时，不必全部重新编译内核，可节省时间。系统中如果需要使用新模块</a:t>
            </a:r>
            <a:br>
              <a:rPr lang="zh-CN" altLang="en-US" smtClean="0"/>
            </a:br>
            <a:r>
              <a:rPr lang="zh-CN" altLang="en-US" smtClean="0"/>
              <a:t>，只要编译相应的模块然后使用特定的程序将模块插入即可。</a:t>
            </a:r>
            <a:br>
              <a:rPr lang="zh-CN" altLang="en-US" smtClean="0"/>
            </a:br>
            <a:r>
              <a:rPr lang="zh-CN" altLang="en-US" smtClean="0"/>
              <a:t> 模块可以不依赖于某个固定的硬件平台，即使它依赖于某些特殊的硬件特点。</a:t>
            </a:r>
            <a:br>
              <a:rPr lang="zh-CN" altLang="en-US" smtClean="0"/>
            </a:br>
            <a:r>
              <a:rPr lang="zh-CN" altLang="en-US" smtClean="0"/>
              <a:t/>
            </a:r>
            <a:br>
              <a:rPr lang="zh-CN" altLang="en-US" smtClean="0"/>
            </a:br>
            <a:r>
              <a:rPr lang="zh-CN" altLang="en-US" smtClean="0"/>
              <a:t> 模块的目标代码一旦被链接到内核，它的作用和静态链接的内核目标代码完全等</a:t>
            </a:r>
            <a:br>
              <a:rPr lang="zh-CN" altLang="en-US" smtClean="0"/>
            </a:br>
            <a:r>
              <a:rPr lang="zh-CN" altLang="en-US" smtClean="0"/>
              <a:t>价。所以当调用模块的函数时，无需显示的消息传递。</a:t>
            </a:r>
            <a:br>
              <a:rPr lang="zh-CN" altLang="en-US" smtClean="0"/>
            </a:br>
            <a:endParaRPr lang="zh-CN" altLang="en-US" smtClean="0"/>
          </a:p>
        </p:txBody>
      </p:sp>
    </p:spTree>
    <p:extLst>
      <p:ext uri="{BB962C8B-B14F-4D97-AF65-F5344CB8AC3E}">
        <p14:creationId xmlns:p14="http://schemas.microsoft.com/office/powerpoint/2010/main" val="37928780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ea typeface="新宋体" panose="02010609030101010101" pitchFamily="49" charset="-122"/>
              </a:defRPr>
            </a:lvl1pPr>
            <a:lvl2pPr marL="742950" indent="-285750" defTabSz="965200">
              <a:defRPr sz="2400">
                <a:solidFill>
                  <a:schemeClr val="tx1"/>
                </a:solidFill>
                <a:latin typeface="Times New Roman" panose="02020603050405020304" pitchFamily="18" charset="0"/>
                <a:ea typeface="新宋体" panose="02010609030101010101" pitchFamily="49" charset="-122"/>
              </a:defRPr>
            </a:lvl2pPr>
            <a:lvl3pPr marL="1143000" indent="-228600" defTabSz="965200">
              <a:defRPr sz="2400">
                <a:solidFill>
                  <a:schemeClr val="tx1"/>
                </a:solidFill>
                <a:latin typeface="Times New Roman" panose="02020603050405020304" pitchFamily="18" charset="0"/>
                <a:ea typeface="新宋体" panose="02010609030101010101" pitchFamily="49" charset="-122"/>
              </a:defRPr>
            </a:lvl3pPr>
            <a:lvl4pPr marL="1600200" indent="-228600" defTabSz="965200">
              <a:defRPr sz="2400">
                <a:solidFill>
                  <a:schemeClr val="tx1"/>
                </a:solidFill>
                <a:latin typeface="Times New Roman" panose="02020603050405020304" pitchFamily="18" charset="0"/>
                <a:ea typeface="新宋体" panose="02010609030101010101" pitchFamily="49" charset="-122"/>
              </a:defRPr>
            </a:lvl4pPr>
            <a:lvl5pPr marL="2057400" indent="-228600" defTabSz="965200">
              <a:defRPr sz="2400">
                <a:solidFill>
                  <a:schemeClr val="tx1"/>
                </a:solidFill>
                <a:latin typeface="Times New Roman" panose="02020603050405020304" pitchFamily="18" charset="0"/>
                <a:ea typeface="新宋体" panose="02010609030101010101" pitchFamily="49" charset="-122"/>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B08A3F8D-86EA-4ECE-8277-AA62F11E776B}" type="slidenum">
              <a:rPr lang="zh-CN" altLang="en-US" sz="1300" smtClean="0">
                <a:ea typeface="宋体" panose="02010600030101010101" pitchFamily="2" charset="-122"/>
              </a:rPr>
              <a:pPr/>
              <a:t>43</a:t>
            </a:fld>
            <a:endParaRPr lang="en-US" altLang="zh-CN" sz="1300" smtClean="0">
              <a:ea typeface="宋体" panose="02010600030101010101" pitchFamily="2" charset="-122"/>
            </a:endParaRPr>
          </a:p>
        </p:txBody>
      </p:sp>
      <p:sp>
        <p:nvSpPr>
          <p:cNvPr id="28675" name="Rectangle 2"/>
          <p:cNvSpPr>
            <a:spLocks noGrp="1" noRot="1" noChangeAspect="1" noChangeArrowheads="1" noTextEdit="1"/>
          </p:cNvSpPr>
          <p:nvPr>
            <p:ph type="sldImg"/>
          </p:nvPr>
        </p:nvSpPr>
        <p:spPr>
          <a:xfrm>
            <a:off x="917575" y="744538"/>
            <a:ext cx="4957763" cy="3717925"/>
          </a:xfrm>
          <a:ln/>
        </p:spPr>
      </p:sp>
      <p:sp>
        <p:nvSpPr>
          <p:cNvPr id="28676" name="Rectangle 3"/>
          <p:cNvSpPr>
            <a:spLocks noGrp="1" noChangeArrowheads="1"/>
          </p:cNvSpPr>
          <p:nvPr>
            <p:ph type="body" idx="1"/>
          </p:nvPr>
        </p:nvSpPr>
        <p:spPr>
          <a:xfrm>
            <a:off x="677863" y="4711700"/>
            <a:ext cx="543242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使内存更加紧凑和灵活。</a:t>
            </a:r>
            <a:br>
              <a:rPr lang="zh-CN" altLang="en-US" smtClean="0"/>
            </a:br>
            <a:r>
              <a:rPr lang="zh-CN" altLang="en-US" smtClean="0"/>
              <a:t> 修改内存时，不必全部重新编译内核，可节省时间。系统中如果需要使用新模块</a:t>
            </a:r>
            <a:br>
              <a:rPr lang="zh-CN" altLang="en-US" smtClean="0"/>
            </a:br>
            <a:r>
              <a:rPr lang="zh-CN" altLang="en-US" smtClean="0"/>
              <a:t>，只要编译相应的模块然后使用特定的程序将模块插入即可。</a:t>
            </a:r>
            <a:br>
              <a:rPr lang="zh-CN" altLang="en-US" smtClean="0"/>
            </a:br>
            <a:r>
              <a:rPr lang="zh-CN" altLang="en-US" smtClean="0"/>
              <a:t> 模块可以不依赖于某个固定的硬件平台，即使它依赖于某些特殊的硬件特点。</a:t>
            </a:r>
            <a:br>
              <a:rPr lang="zh-CN" altLang="en-US" smtClean="0"/>
            </a:br>
            <a:r>
              <a:rPr lang="zh-CN" altLang="en-US" smtClean="0"/>
              <a:t/>
            </a:r>
            <a:br>
              <a:rPr lang="zh-CN" altLang="en-US" smtClean="0"/>
            </a:br>
            <a:r>
              <a:rPr lang="zh-CN" altLang="en-US" smtClean="0"/>
              <a:t> 模块的目标代码一旦被链接到内核，它的作用和静态链接的内核目标代码完全等</a:t>
            </a:r>
            <a:br>
              <a:rPr lang="zh-CN" altLang="en-US" smtClean="0"/>
            </a:br>
            <a:r>
              <a:rPr lang="zh-CN" altLang="en-US" smtClean="0"/>
              <a:t>价。所以当调用模块的函数时，无需显示的消息传递。</a:t>
            </a:r>
            <a:br>
              <a:rPr lang="zh-CN" altLang="en-US" smtClean="0"/>
            </a:br>
            <a:endParaRPr lang="zh-CN" altLang="en-US" smtClean="0"/>
          </a:p>
        </p:txBody>
      </p:sp>
    </p:spTree>
    <p:extLst>
      <p:ext uri="{BB962C8B-B14F-4D97-AF65-F5344CB8AC3E}">
        <p14:creationId xmlns:p14="http://schemas.microsoft.com/office/powerpoint/2010/main" val="330392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gray">
      <p:bgPr>
        <a:solidFill>
          <a:schemeClr val="bg1"/>
        </a:solidFill>
        <a:effectLst/>
      </p:bgPr>
    </p:bg>
    <p:spTree>
      <p:nvGrpSpPr>
        <p:cNvPr id="1" name=""/>
        <p:cNvGrpSpPr/>
        <p:nvPr/>
      </p:nvGrpSpPr>
      <p:grpSpPr>
        <a:xfrm>
          <a:off x="0" y="0"/>
          <a:ext cx="0" cy="0"/>
          <a:chOff x="0" y="0"/>
          <a:chExt cx="0" cy="0"/>
        </a:xfrm>
      </p:grpSpPr>
      <p:sp>
        <p:nvSpPr>
          <p:cNvPr id="4" name="Rectangle 42"/>
          <p:cNvSpPr>
            <a:spLocks noChangeArrowheads="1"/>
          </p:cNvSpPr>
          <p:nvPr/>
        </p:nvSpPr>
        <p:spPr bwMode="ltGray">
          <a:xfrm>
            <a:off x="0" y="0"/>
            <a:ext cx="9144000" cy="48323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defRPr/>
            </a:pPr>
            <a:endParaRPr lang="zh-CN" altLang="en-US" smtClean="0"/>
          </a:p>
        </p:txBody>
      </p:sp>
      <p:sp>
        <p:nvSpPr>
          <p:cNvPr id="5" name="AutoShape 37"/>
          <p:cNvSpPr>
            <a:spLocks noChangeArrowheads="1"/>
          </p:cNvSpPr>
          <p:nvPr/>
        </p:nvSpPr>
        <p:spPr bwMode="ltGray">
          <a:xfrm flipH="1">
            <a:off x="2411413" y="4581525"/>
            <a:ext cx="863600" cy="503238"/>
          </a:xfrm>
          <a:prstGeom prst="homePlate">
            <a:avLst>
              <a:gd name="adj" fmla="val 42902"/>
            </a:avLst>
          </a:prstGeom>
          <a:gradFill rotWithShape="1">
            <a:gsLst>
              <a:gs pos="0">
                <a:schemeClr val="tx1">
                  <a:gamma/>
                  <a:shade val="46275"/>
                  <a:invGamma/>
                </a:schemeClr>
              </a:gs>
              <a:gs pos="100000">
                <a:schemeClr val="tx1"/>
              </a:gs>
            </a:gsLst>
            <a:lin ang="0" scaled="1"/>
          </a:gradFill>
          <a:ln w="9525">
            <a:noFill/>
            <a:miter lim="800000"/>
            <a:headEnd/>
            <a:tailEnd/>
          </a:ln>
          <a:effectLst/>
        </p:spPr>
        <p:txBody>
          <a:bodyPr wrap="none" anchor="ctr"/>
          <a:lstStyle/>
          <a:p>
            <a:pPr>
              <a:defRPr/>
            </a:pPr>
            <a:endParaRPr lang="zh-CN" altLang="en-US"/>
          </a:p>
        </p:txBody>
      </p:sp>
      <p:sp>
        <p:nvSpPr>
          <p:cNvPr id="6" name="AutoShape 38"/>
          <p:cNvSpPr>
            <a:spLocks noChangeArrowheads="1"/>
          </p:cNvSpPr>
          <p:nvPr/>
        </p:nvSpPr>
        <p:spPr bwMode="ltGray">
          <a:xfrm flipH="1">
            <a:off x="2700338" y="4581525"/>
            <a:ext cx="719137" cy="503238"/>
          </a:xfrm>
          <a:prstGeom prst="homePlate">
            <a:avLst>
              <a:gd name="adj" fmla="val 35725"/>
            </a:avLst>
          </a:prstGeom>
          <a:gradFill rotWithShape="1">
            <a:gsLst>
              <a:gs pos="0">
                <a:schemeClr val="hlink">
                  <a:gamma/>
                  <a:shade val="46275"/>
                  <a:invGamma/>
                </a:schemeClr>
              </a:gs>
              <a:gs pos="100000">
                <a:schemeClr val="hlink"/>
              </a:gs>
            </a:gsLst>
            <a:lin ang="0" scaled="1"/>
          </a:gradFill>
          <a:ln w="9525">
            <a:noFill/>
            <a:miter lim="800000"/>
            <a:headEnd/>
            <a:tailEnd/>
          </a:ln>
          <a:effectLst/>
        </p:spPr>
        <p:txBody>
          <a:bodyPr wrap="none" anchor="ctr"/>
          <a:lstStyle/>
          <a:p>
            <a:pPr>
              <a:defRPr/>
            </a:pPr>
            <a:endParaRPr lang="zh-CN" altLang="en-US"/>
          </a:p>
        </p:txBody>
      </p:sp>
      <p:grpSp>
        <p:nvGrpSpPr>
          <p:cNvPr id="7" name="Group 44"/>
          <p:cNvGrpSpPr>
            <a:grpSpLocks/>
          </p:cNvGrpSpPr>
          <p:nvPr/>
        </p:nvGrpSpPr>
        <p:grpSpPr bwMode="auto">
          <a:xfrm>
            <a:off x="2987675" y="4581525"/>
            <a:ext cx="6156325" cy="503238"/>
            <a:chOff x="1882" y="2886"/>
            <a:chExt cx="3878" cy="317"/>
          </a:xfrm>
        </p:grpSpPr>
        <p:sp>
          <p:nvSpPr>
            <p:cNvPr id="8" name="Rectangle 40"/>
            <p:cNvSpPr>
              <a:spLocks noChangeArrowheads="1"/>
            </p:cNvSpPr>
            <p:nvPr/>
          </p:nvSpPr>
          <p:spPr bwMode="gray">
            <a:xfrm flipH="1">
              <a:off x="2147" y="2887"/>
              <a:ext cx="3613"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defRPr/>
              </a:pPr>
              <a:endParaRPr lang="zh-CN" altLang="en-US" smtClean="0"/>
            </a:p>
          </p:txBody>
        </p:sp>
        <p:sp>
          <p:nvSpPr>
            <p:cNvPr id="9" name="AutoShape 41"/>
            <p:cNvSpPr>
              <a:spLocks noChangeArrowheads="1"/>
            </p:cNvSpPr>
            <p:nvPr/>
          </p:nvSpPr>
          <p:spPr bwMode="gray">
            <a:xfrm flipH="1">
              <a:off x="1882" y="2886"/>
              <a:ext cx="411" cy="316"/>
            </a:xfrm>
            <a:prstGeom prst="homePlate">
              <a:avLst>
                <a:gd name="adj" fmla="val 32516"/>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defRPr/>
              </a:pPr>
              <a:endParaRPr lang="zh-CN" altLang="en-US" smtClean="0"/>
            </a:p>
          </p:txBody>
        </p:sp>
      </p:grpSp>
      <p:sp>
        <p:nvSpPr>
          <p:cNvPr id="13333" name="Rectangle 21"/>
          <p:cNvSpPr>
            <a:spLocks noGrp="1" noChangeArrowheads="1"/>
          </p:cNvSpPr>
          <p:nvPr>
            <p:ph type="ctrTitle" sz="quarter"/>
          </p:nvPr>
        </p:nvSpPr>
        <p:spPr>
          <a:xfrm>
            <a:off x="2843213" y="2349500"/>
            <a:ext cx="6300787" cy="1944688"/>
          </a:xfrm>
          <a:effectLst>
            <a:outerShdw dist="35921" dir="2700000" algn="ctr" rotWithShape="0">
              <a:schemeClr val="tx1"/>
            </a:outerShdw>
          </a:effectLst>
        </p:spPr>
        <p:txBody>
          <a:bodyPr/>
          <a:lstStyle>
            <a:lvl1pPr algn="l">
              <a:defRPr sz="5400">
                <a:solidFill>
                  <a:schemeClr val="bg1"/>
                </a:solidFill>
              </a:defRPr>
            </a:lvl1pPr>
          </a:lstStyle>
          <a:p>
            <a:r>
              <a:rPr lang="en-US" altLang="ko-KR"/>
              <a:t>Click to edit Master title style</a:t>
            </a:r>
          </a:p>
        </p:txBody>
      </p:sp>
      <p:sp>
        <p:nvSpPr>
          <p:cNvPr id="13334" name="Rectangle 22"/>
          <p:cNvSpPr>
            <a:spLocks noGrp="1" noChangeArrowheads="1"/>
          </p:cNvSpPr>
          <p:nvPr>
            <p:ph type="subTitle" sz="quarter" idx="1"/>
          </p:nvPr>
        </p:nvSpPr>
        <p:spPr bwMode="white">
          <a:xfrm>
            <a:off x="3348038" y="4581525"/>
            <a:ext cx="5795962" cy="376238"/>
          </a:xfrm>
        </p:spPr>
        <p:txBody>
          <a:bodyPr/>
          <a:lstStyle>
            <a:lvl1pPr marL="0" indent="0">
              <a:buFont typeface="Wingdings" pitchFamily="2" charset="2"/>
              <a:buNone/>
              <a:defRPr sz="2400">
                <a:solidFill>
                  <a:schemeClr val="tx1"/>
                </a:solidFill>
              </a:defRPr>
            </a:lvl1pPr>
          </a:lstStyle>
          <a:p>
            <a:r>
              <a:rPr lang="en-US" altLang="ko-KR"/>
              <a:t>Click to edit Master subtitle style</a:t>
            </a:r>
          </a:p>
        </p:txBody>
      </p:sp>
      <p:sp>
        <p:nvSpPr>
          <p:cNvPr id="10" name="Rectangle 23"/>
          <p:cNvSpPr>
            <a:spLocks noGrp="1" noChangeArrowheads="1"/>
          </p:cNvSpPr>
          <p:nvPr>
            <p:ph type="dt" sz="quarter" idx="10"/>
          </p:nvPr>
        </p:nvSpPr>
        <p:spPr bwMode="black">
          <a:xfrm>
            <a:off x="457200" y="6553200"/>
            <a:ext cx="2133600" cy="1524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1" hangingPunct="1">
              <a:defRPr>
                <a:effectLst>
                  <a:outerShdw blurRad="38100" dist="38100" dir="2700000" algn="tl">
                    <a:srgbClr val="C0C0C0"/>
                  </a:outerShdw>
                </a:effectLst>
                <a:ea typeface="Gulim" pitchFamily="34" charset="-127"/>
              </a:defRPr>
            </a:lvl1pPr>
          </a:lstStyle>
          <a:p>
            <a:pPr>
              <a:defRPr/>
            </a:pPr>
            <a:endParaRPr lang="en-US" altLang="ko-KR"/>
          </a:p>
        </p:txBody>
      </p:sp>
      <p:sp>
        <p:nvSpPr>
          <p:cNvPr id="11" name="Rectangle 24"/>
          <p:cNvSpPr>
            <a:spLocks noGrp="1" noChangeArrowheads="1"/>
          </p:cNvSpPr>
          <p:nvPr>
            <p:ph type="ftr" sz="quarter" idx="11"/>
          </p:nvPr>
        </p:nvSpPr>
        <p:spPr bwMode="black">
          <a:xfrm>
            <a:off x="3124200" y="6553200"/>
            <a:ext cx="2895600" cy="1524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eaLnBrk="1" hangingPunct="1">
              <a:defRPr>
                <a:effectLst>
                  <a:outerShdw blurRad="38100" dist="38100" dir="2700000" algn="tl">
                    <a:srgbClr val="C0C0C0"/>
                  </a:outerShdw>
                </a:effectLst>
                <a:ea typeface="Gulim" pitchFamily="34" charset="-127"/>
              </a:defRPr>
            </a:lvl1pPr>
          </a:lstStyle>
          <a:p>
            <a:pPr>
              <a:defRPr/>
            </a:pPr>
            <a:endParaRPr lang="en-US" altLang="ko-KR"/>
          </a:p>
        </p:txBody>
      </p:sp>
      <p:sp>
        <p:nvSpPr>
          <p:cNvPr id="12" name="Rectangle 25"/>
          <p:cNvSpPr>
            <a:spLocks noGrp="1" noChangeArrowheads="1"/>
          </p:cNvSpPr>
          <p:nvPr>
            <p:ph type="sldNum" sz="quarter" idx="12"/>
          </p:nvPr>
        </p:nvSpPr>
        <p:spPr bwMode="black">
          <a:xfrm>
            <a:off x="6553200" y="6553200"/>
            <a:ext cx="2133600" cy="152400"/>
          </a:xfrm>
        </p:spPr>
        <p:txBody>
          <a:bodyPr/>
          <a:lstStyle>
            <a:lvl1pPr algn="r">
              <a:defRPr sz="1400">
                <a:latin typeface="Times New Roman" panose="02020603050405020304" pitchFamily="18" charset="0"/>
              </a:defRPr>
            </a:lvl1pPr>
          </a:lstStyle>
          <a:p>
            <a:pPr>
              <a:defRPr/>
            </a:pPr>
            <a:fld id="{F88A4A4C-9BC0-4F3B-9412-39D5C63858E3}" type="slidenum">
              <a:rPr lang="ko-KR" altLang="en-US"/>
              <a:pPr>
                <a:defRPr/>
              </a:pPr>
              <a:t>‹#›</a:t>
            </a:fld>
            <a:endParaRPr lang="en-US" altLang="ko-KR"/>
          </a:p>
        </p:txBody>
      </p:sp>
    </p:spTree>
    <p:extLst>
      <p:ext uri="{BB962C8B-B14F-4D97-AF65-F5344CB8AC3E}">
        <p14:creationId xmlns:p14="http://schemas.microsoft.com/office/powerpoint/2010/main" val="438144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
          <p:cNvSpPr>
            <a:spLocks noGrp="1" noChangeArrowheads="1"/>
          </p:cNvSpPr>
          <p:nvPr>
            <p:ph type="sldNum" sz="quarter" idx="10"/>
          </p:nvPr>
        </p:nvSpPr>
        <p:spPr>
          <a:ln/>
        </p:spPr>
        <p:txBody>
          <a:bodyPr/>
          <a:lstStyle>
            <a:lvl1pPr>
              <a:defRPr/>
            </a:lvl1pPr>
          </a:lstStyle>
          <a:p>
            <a:pPr>
              <a:defRPr/>
            </a:pPr>
            <a:fld id="{E56D5851-1328-4FF7-8A34-D09436C5C805}" type="slidenum">
              <a:rPr lang="ko-KR" altLang="en-US"/>
              <a:pPr>
                <a:defRPr/>
              </a:pPr>
              <a:t>‹#›</a:t>
            </a:fld>
            <a:endParaRPr lang="en-US" altLang="ko-KR"/>
          </a:p>
        </p:txBody>
      </p:sp>
    </p:spTree>
    <p:extLst>
      <p:ext uri="{BB962C8B-B14F-4D97-AF65-F5344CB8AC3E}">
        <p14:creationId xmlns:p14="http://schemas.microsoft.com/office/powerpoint/2010/main" val="2469070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5"/>
          <p:cNvSpPr>
            <a:spLocks noGrp="1" noChangeArrowheads="1"/>
          </p:cNvSpPr>
          <p:nvPr>
            <p:ph type="sldNum" sz="quarter" idx="10"/>
          </p:nvPr>
        </p:nvSpPr>
        <p:spPr>
          <a:ln/>
        </p:spPr>
        <p:txBody>
          <a:bodyPr/>
          <a:lstStyle>
            <a:lvl1pPr>
              <a:defRPr/>
            </a:lvl1pPr>
          </a:lstStyle>
          <a:p>
            <a:pPr>
              <a:defRPr/>
            </a:pPr>
            <a:fld id="{17916C3C-7E73-49B6-B2F9-6DABC10DAB55}" type="slidenum">
              <a:rPr lang="ko-KR" altLang="en-US"/>
              <a:pPr>
                <a:defRPr/>
              </a:pPr>
              <a:t>‹#›</a:t>
            </a:fld>
            <a:endParaRPr lang="en-US" altLang="ko-KR"/>
          </a:p>
        </p:txBody>
      </p:sp>
    </p:spTree>
    <p:extLst>
      <p:ext uri="{BB962C8B-B14F-4D97-AF65-F5344CB8AC3E}">
        <p14:creationId xmlns:p14="http://schemas.microsoft.com/office/powerpoint/2010/main" val="2974755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95288" y="1052513"/>
            <a:ext cx="4068762" cy="5272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6450" y="1052513"/>
            <a:ext cx="4070350" cy="5272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5"/>
          <p:cNvSpPr>
            <a:spLocks noGrp="1" noChangeArrowheads="1"/>
          </p:cNvSpPr>
          <p:nvPr>
            <p:ph type="sldNum" sz="quarter" idx="10"/>
          </p:nvPr>
        </p:nvSpPr>
        <p:spPr>
          <a:ln/>
        </p:spPr>
        <p:txBody>
          <a:bodyPr/>
          <a:lstStyle>
            <a:lvl1pPr>
              <a:defRPr/>
            </a:lvl1pPr>
          </a:lstStyle>
          <a:p>
            <a:pPr>
              <a:defRPr/>
            </a:pPr>
            <a:fld id="{2A03E164-4064-4394-A885-A7910A74DC38}" type="slidenum">
              <a:rPr lang="ko-KR" altLang="en-US"/>
              <a:pPr>
                <a:defRPr/>
              </a:pPr>
              <a:t>‹#›</a:t>
            </a:fld>
            <a:endParaRPr lang="en-US" altLang="ko-KR"/>
          </a:p>
        </p:txBody>
      </p:sp>
    </p:spTree>
    <p:extLst>
      <p:ext uri="{BB962C8B-B14F-4D97-AF65-F5344CB8AC3E}">
        <p14:creationId xmlns:p14="http://schemas.microsoft.com/office/powerpoint/2010/main" val="4114432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5"/>
          <p:cNvSpPr>
            <a:spLocks noGrp="1" noChangeArrowheads="1"/>
          </p:cNvSpPr>
          <p:nvPr>
            <p:ph type="sldNum" sz="quarter" idx="10"/>
          </p:nvPr>
        </p:nvSpPr>
        <p:spPr>
          <a:ln/>
        </p:spPr>
        <p:txBody>
          <a:bodyPr/>
          <a:lstStyle>
            <a:lvl1pPr>
              <a:defRPr/>
            </a:lvl1pPr>
          </a:lstStyle>
          <a:p>
            <a:pPr>
              <a:defRPr/>
            </a:pPr>
            <a:fld id="{22BB4610-4C07-4F41-8DE0-F3FCA6B13B33}" type="slidenum">
              <a:rPr lang="ko-KR" altLang="en-US"/>
              <a:pPr>
                <a:defRPr/>
              </a:pPr>
              <a:t>‹#›</a:t>
            </a:fld>
            <a:endParaRPr lang="en-US" altLang="ko-KR"/>
          </a:p>
        </p:txBody>
      </p:sp>
    </p:spTree>
    <p:extLst>
      <p:ext uri="{BB962C8B-B14F-4D97-AF65-F5344CB8AC3E}">
        <p14:creationId xmlns:p14="http://schemas.microsoft.com/office/powerpoint/2010/main" val="372823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5"/>
          <p:cNvSpPr>
            <a:spLocks noGrp="1" noChangeArrowheads="1"/>
          </p:cNvSpPr>
          <p:nvPr>
            <p:ph type="sldNum" sz="quarter" idx="10"/>
          </p:nvPr>
        </p:nvSpPr>
        <p:spPr>
          <a:ln/>
        </p:spPr>
        <p:txBody>
          <a:bodyPr/>
          <a:lstStyle>
            <a:lvl1pPr>
              <a:defRPr/>
            </a:lvl1pPr>
          </a:lstStyle>
          <a:p>
            <a:pPr>
              <a:defRPr/>
            </a:pPr>
            <a:fld id="{45F95014-E3E7-4DA4-8F31-D1332E204A50}" type="slidenum">
              <a:rPr lang="ko-KR" altLang="en-US"/>
              <a:pPr>
                <a:defRPr/>
              </a:pPr>
              <a:t>‹#›</a:t>
            </a:fld>
            <a:endParaRPr lang="en-US" altLang="ko-KR"/>
          </a:p>
        </p:txBody>
      </p:sp>
    </p:spTree>
    <p:extLst>
      <p:ext uri="{BB962C8B-B14F-4D97-AF65-F5344CB8AC3E}">
        <p14:creationId xmlns:p14="http://schemas.microsoft.com/office/powerpoint/2010/main" val="1008128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
          <p:cNvSpPr>
            <a:spLocks noGrp="1" noChangeArrowheads="1"/>
          </p:cNvSpPr>
          <p:nvPr>
            <p:ph type="sldNum" sz="quarter" idx="10"/>
          </p:nvPr>
        </p:nvSpPr>
        <p:spPr>
          <a:ln/>
        </p:spPr>
        <p:txBody>
          <a:bodyPr/>
          <a:lstStyle>
            <a:lvl1pPr>
              <a:defRPr/>
            </a:lvl1pPr>
          </a:lstStyle>
          <a:p>
            <a:pPr>
              <a:defRPr/>
            </a:pPr>
            <a:fld id="{5BED9C56-A1AE-4E49-A262-CC4CACE6C403}" type="slidenum">
              <a:rPr lang="ko-KR" altLang="en-US"/>
              <a:pPr>
                <a:defRPr/>
              </a:pPr>
              <a:t>‹#›</a:t>
            </a:fld>
            <a:endParaRPr lang="en-US" altLang="ko-KR"/>
          </a:p>
        </p:txBody>
      </p:sp>
    </p:spTree>
    <p:extLst>
      <p:ext uri="{BB962C8B-B14F-4D97-AF65-F5344CB8AC3E}">
        <p14:creationId xmlns:p14="http://schemas.microsoft.com/office/powerpoint/2010/main" val="121384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5"/>
          <p:cNvSpPr>
            <a:spLocks noGrp="1" noChangeArrowheads="1"/>
          </p:cNvSpPr>
          <p:nvPr>
            <p:ph type="sldNum" sz="quarter" idx="10"/>
          </p:nvPr>
        </p:nvSpPr>
        <p:spPr>
          <a:ln/>
        </p:spPr>
        <p:txBody>
          <a:bodyPr/>
          <a:lstStyle>
            <a:lvl1pPr>
              <a:defRPr/>
            </a:lvl1pPr>
          </a:lstStyle>
          <a:p>
            <a:pPr>
              <a:defRPr/>
            </a:pPr>
            <a:fld id="{DE3B8183-2797-4E6E-B4B1-1E9FD2E56A85}" type="slidenum">
              <a:rPr lang="ko-KR" altLang="en-US"/>
              <a:pPr>
                <a:defRPr/>
              </a:pPr>
              <a:t>‹#›</a:t>
            </a:fld>
            <a:endParaRPr lang="en-US" altLang="ko-KR"/>
          </a:p>
        </p:txBody>
      </p:sp>
    </p:spTree>
    <p:extLst>
      <p:ext uri="{BB962C8B-B14F-4D97-AF65-F5344CB8AC3E}">
        <p14:creationId xmlns:p14="http://schemas.microsoft.com/office/powerpoint/2010/main" val="2709925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5"/>
          <p:cNvSpPr>
            <a:spLocks noGrp="1" noChangeArrowheads="1"/>
          </p:cNvSpPr>
          <p:nvPr>
            <p:ph type="sldNum" sz="quarter" idx="10"/>
          </p:nvPr>
        </p:nvSpPr>
        <p:spPr>
          <a:ln/>
        </p:spPr>
        <p:txBody>
          <a:bodyPr/>
          <a:lstStyle>
            <a:lvl1pPr>
              <a:defRPr/>
            </a:lvl1pPr>
          </a:lstStyle>
          <a:p>
            <a:pPr>
              <a:defRPr/>
            </a:pPr>
            <a:fld id="{517500C1-2C1B-41E5-972A-14F22C4CDD35}" type="slidenum">
              <a:rPr lang="ko-KR" altLang="en-US"/>
              <a:pPr>
                <a:defRPr/>
              </a:pPr>
              <a:t>‹#›</a:t>
            </a:fld>
            <a:endParaRPr lang="en-US" altLang="ko-KR"/>
          </a:p>
        </p:txBody>
      </p:sp>
    </p:spTree>
    <p:extLst>
      <p:ext uri="{BB962C8B-B14F-4D97-AF65-F5344CB8AC3E}">
        <p14:creationId xmlns:p14="http://schemas.microsoft.com/office/powerpoint/2010/main" val="3465887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
          <p:cNvSpPr>
            <a:spLocks noGrp="1" noChangeArrowheads="1"/>
          </p:cNvSpPr>
          <p:nvPr>
            <p:ph type="sldNum" sz="quarter" idx="10"/>
          </p:nvPr>
        </p:nvSpPr>
        <p:spPr>
          <a:ln/>
        </p:spPr>
        <p:txBody>
          <a:bodyPr/>
          <a:lstStyle>
            <a:lvl1pPr>
              <a:defRPr/>
            </a:lvl1pPr>
          </a:lstStyle>
          <a:p>
            <a:pPr>
              <a:defRPr/>
            </a:pPr>
            <a:fld id="{50CB9086-696C-481E-8B92-71FF972B3B91}" type="slidenum">
              <a:rPr lang="ko-KR" altLang="en-US"/>
              <a:pPr>
                <a:defRPr/>
              </a:pPr>
              <a:t>‹#›</a:t>
            </a:fld>
            <a:endParaRPr lang="en-US" altLang="ko-KR"/>
          </a:p>
        </p:txBody>
      </p:sp>
    </p:spTree>
    <p:extLst>
      <p:ext uri="{BB962C8B-B14F-4D97-AF65-F5344CB8AC3E}">
        <p14:creationId xmlns:p14="http://schemas.microsoft.com/office/powerpoint/2010/main" val="1338827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5113" y="115888"/>
            <a:ext cx="2071687" cy="62087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95288" y="115888"/>
            <a:ext cx="6067425" cy="62087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
          <p:cNvSpPr>
            <a:spLocks noGrp="1" noChangeArrowheads="1"/>
          </p:cNvSpPr>
          <p:nvPr>
            <p:ph type="sldNum" sz="quarter" idx="10"/>
          </p:nvPr>
        </p:nvSpPr>
        <p:spPr>
          <a:ln/>
        </p:spPr>
        <p:txBody>
          <a:bodyPr/>
          <a:lstStyle>
            <a:lvl1pPr>
              <a:defRPr/>
            </a:lvl1pPr>
          </a:lstStyle>
          <a:p>
            <a:pPr>
              <a:defRPr/>
            </a:pPr>
            <a:fld id="{634DF905-20E9-4F12-ACED-BCB28972F102}" type="slidenum">
              <a:rPr lang="ko-KR" altLang="en-US"/>
              <a:pPr>
                <a:defRPr/>
              </a:pPr>
              <a:t>‹#›</a:t>
            </a:fld>
            <a:endParaRPr lang="en-US" altLang="ko-KR"/>
          </a:p>
        </p:txBody>
      </p:sp>
    </p:spTree>
    <p:extLst>
      <p:ext uri="{BB962C8B-B14F-4D97-AF65-F5344CB8AC3E}">
        <p14:creationId xmlns:p14="http://schemas.microsoft.com/office/powerpoint/2010/main" val="528629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11188" y="115888"/>
            <a:ext cx="7632700" cy="6096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95288" y="1052513"/>
            <a:ext cx="4068762" cy="52720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616450" y="1052513"/>
            <a:ext cx="4070350" cy="52720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5"/>
          <p:cNvSpPr>
            <a:spLocks noGrp="1" noChangeArrowheads="1"/>
          </p:cNvSpPr>
          <p:nvPr>
            <p:ph type="sldNum" sz="quarter" idx="10"/>
          </p:nvPr>
        </p:nvSpPr>
        <p:spPr>
          <a:ln/>
        </p:spPr>
        <p:txBody>
          <a:bodyPr/>
          <a:lstStyle>
            <a:lvl1pPr>
              <a:defRPr/>
            </a:lvl1pPr>
          </a:lstStyle>
          <a:p>
            <a:pPr>
              <a:defRPr/>
            </a:pPr>
            <a:fld id="{6195F73D-C799-4F0E-9E36-8E1CFB4E1042}" type="slidenum">
              <a:rPr lang="ko-KR" altLang="en-US"/>
              <a:pPr>
                <a:defRPr/>
              </a:pPr>
              <a:t>‹#›</a:t>
            </a:fld>
            <a:endParaRPr lang="en-US" altLang="ko-KR"/>
          </a:p>
        </p:txBody>
      </p:sp>
    </p:spTree>
    <p:extLst>
      <p:ext uri="{BB962C8B-B14F-4D97-AF65-F5344CB8AC3E}">
        <p14:creationId xmlns:p14="http://schemas.microsoft.com/office/powerpoint/2010/main" val="618956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12324" name="Rectangle 36"/>
          <p:cNvSpPr>
            <a:spLocks noChangeArrowheads="1"/>
          </p:cNvSpPr>
          <p:nvPr/>
        </p:nvSpPr>
        <p:spPr bwMode="ltGray">
          <a:xfrm>
            <a:off x="8859838" y="0"/>
            <a:ext cx="284162" cy="6858000"/>
          </a:xfrm>
          <a:prstGeom prst="rect">
            <a:avLst/>
          </a:prstGeom>
          <a:gradFill rotWithShape="1">
            <a:gsLst>
              <a:gs pos="0">
                <a:schemeClr val="accent1"/>
              </a:gs>
              <a:gs pos="100000">
                <a:schemeClr val="accent1">
                  <a:gamma/>
                  <a:tint val="0"/>
                  <a:invGamma/>
                </a:schemeClr>
              </a:gs>
            </a:gsLst>
            <a:lin ang="5400000" scaled="1"/>
          </a:gradFill>
          <a:ln w="9525">
            <a:noFill/>
            <a:miter lim="800000"/>
            <a:headEnd/>
            <a:tailEnd/>
          </a:ln>
          <a:effectLst/>
        </p:spPr>
        <p:txBody>
          <a:bodyPr wrap="none" anchor="ctr"/>
          <a:lstStyle/>
          <a:p>
            <a:pPr>
              <a:defRPr/>
            </a:pPr>
            <a:endParaRPr lang="zh-CN" altLang="en-US"/>
          </a:p>
        </p:txBody>
      </p:sp>
      <p:sp>
        <p:nvSpPr>
          <p:cNvPr id="1027" name="Rectangle 22"/>
          <p:cNvSpPr>
            <a:spLocks noGrp="1" noChangeArrowheads="1"/>
          </p:cNvSpPr>
          <p:nvPr>
            <p:ph type="body" idx="1"/>
          </p:nvPr>
        </p:nvSpPr>
        <p:spPr bwMode="auto">
          <a:xfrm>
            <a:off x="395288" y="1052513"/>
            <a:ext cx="8291512" cy="527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p>
        </p:txBody>
      </p:sp>
      <p:sp>
        <p:nvSpPr>
          <p:cNvPr id="12313" name="Rectangle 25"/>
          <p:cNvSpPr>
            <a:spLocks noGrp="1" noChangeArrowheads="1"/>
          </p:cNvSpPr>
          <p:nvPr>
            <p:ph type="sldNum" sz="quarter" idx="4"/>
          </p:nvPr>
        </p:nvSpPr>
        <p:spPr bwMode="auto">
          <a:xfrm>
            <a:off x="3276600" y="64770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effectLst>
                  <a:outerShdw blurRad="38100" dist="38100" dir="2700000" algn="tl">
                    <a:srgbClr val="C0C0C0"/>
                  </a:outerShdw>
                </a:effectLst>
                <a:latin typeface="Verdana" panose="020B0604030504040204" pitchFamily="34" charset="0"/>
                <a:ea typeface="Gulim" panose="020B0600000101010101" pitchFamily="34" charset="-127"/>
              </a:defRPr>
            </a:lvl1pPr>
          </a:lstStyle>
          <a:p>
            <a:pPr>
              <a:defRPr/>
            </a:pPr>
            <a:fld id="{8AA47DDB-A5DB-4DDE-B1C4-BAE36A6F193D}" type="slidenum">
              <a:rPr lang="ko-KR" altLang="en-US"/>
              <a:pPr>
                <a:defRPr/>
              </a:pPr>
              <a:t>‹#›</a:t>
            </a:fld>
            <a:endParaRPr lang="en-US" altLang="ko-KR"/>
          </a:p>
        </p:txBody>
      </p:sp>
      <p:sp>
        <p:nvSpPr>
          <p:cNvPr id="12326" name="AutoShape 38"/>
          <p:cNvSpPr>
            <a:spLocks noChangeArrowheads="1"/>
          </p:cNvSpPr>
          <p:nvPr/>
        </p:nvSpPr>
        <p:spPr bwMode="ltGray">
          <a:xfrm>
            <a:off x="8461375" y="-6350"/>
            <a:ext cx="539750" cy="835025"/>
          </a:xfrm>
          <a:prstGeom prst="homePlate">
            <a:avLst>
              <a:gd name="adj" fmla="val 25000"/>
            </a:avLst>
          </a:prstGeom>
          <a:gradFill rotWithShape="1">
            <a:gsLst>
              <a:gs pos="0">
                <a:schemeClr val="tx1">
                  <a:gamma/>
                  <a:shade val="46275"/>
                  <a:invGamma/>
                </a:schemeClr>
              </a:gs>
              <a:gs pos="100000">
                <a:schemeClr val="tx1"/>
              </a:gs>
            </a:gsLst>
            <a:lin ang="0" scaled="1"/>
          </a:gradFill>
          <a:ln w="9525">
            <a:noFill/>
            <a:miter lim="800000"/>
            <a:headEnd/>
            <a:tailEnd/>
          </a:ln>
          <a:effectLst/>
        </p:spPr>
        <p:txBody>
          <a:bodyPr wrap="none" anchor="ctr"/>
          <a:lstStyle/>
          <a:p>
            <a:pPr>
              <a:defRPr/>
            </a:pPr>
            <a:endParaRPr lang="zh-CN" altLang="en-US"/>
          </a:p>
        </p:txBody>
      </p:sp>
      <p:sp>
        <p:nvSpPr>
          <p:cNvPr id="12328" name="AutoShape 40"/>
          <p:cNvSpPr>
            <a:spLocks noChangeArrowheads="1"/>
          </p:cNvSpPr>
          <p:nvPr/>
        </p:nvSpPr>
        <p:spPr bwMode="ltGray">
          <a:xfrm>
            <a:off x="8101013" y="1588"/>
            <a:ext cx="574675" cy="835025"/>
          </a:xfrm>
          <a:prstGeom prst="homePlate">
            <a:avLst>
              <a:gd name="adj" fmla="val 25000"/>
            </a:avLst>
          </a:prstGeom>
          <a:gradFill rotWithShape="1">
            <a:gsLst>
              <a:gs pos="0">
                <a:schemeClr val="hlink">
                  <a:gamma/>
                  <a:shade val="46275"/>
                  <a:invGamma/>
                </a:schemeClr>
              </a:gs>
              <a:gs pos="100000">
                <a:schemeClr val="hlink"/>
              </a:gs>
            </a:gsLst>
            <a:lin ang="0" scaled="1"/>
          </a:gradFill>
          <a:ln w="9525">
            <a:noFill/>
            <a:miter lim="800000"/>
            <a:headEnd/>
            <a:tailEnd/>
          </a:ln>
          <a:effectLst/>
        </p:spPr>
        <p:txBody>
          <a:bodyPr wrap="none" anchor="ctr"/>
          <a:lstStyle/>
          <a:p>
            <a:pPr algn="ctr">
              <a:defRPr/>
            </a:pPr>
            <a:endParaRPr lang="ko-KR" altLang="en-US" sz="1800">
              <a:ea typeface="Gulim" pitchFamily="34" charset="-127"/>
            </a:endParaRPr>
          </a:p>
        </p:txBody>
      </p:sp>
      <p:sp>
        <p:nvSpPr>
          <p:cNvPr id="12323" name="Rectangle 35"/>
          <p:cNvSpPr>
            <a:spLocks noChangeArrowheads="1"/>
          </p:cNvSpPr>
          <p:nvPr/>
        </p:nvSpPr>
        <p:spPr bwMode="ltGray">
          <a:xfrm>
            <a:off x="107950" y="0"/>
            <a:ext cx="7951788" cy="847725"/>
          </a:xfrm>
          <a:prstGeom prst="rect">
            <a:avLst/>
          </a:prstGeom>
          <a:gradFill rotWithShape="1">
            <a:gsLst>
              <a:gs pos="0">
                <a:schemeClr val="accent2">
                  <a:gamma/>
                  <a:tint val="0"/>
                  <a:invGamma/>
                </a:schemeClr>
              </a:gs>
              <a:gs pos="100000">
                <a:schemeClr val="accent2"/>
              </a:gs>
            </a:gsLst>
            <a:lin ang="0" scaled="1"/>
          </a:gradFill>
          <a:ln w="9525">
            <a:noFill/>
            <a:miter lim="800000"/>
            <a:headEnd/>
            <a:tailEnd/>
          </a:ln>
          <a:effectLst/>
        </p:spPr>
        <p:txBody>
          <a:bodyPr wrap="none" anchor="ctr"/>
          <a:lstStyle/>
          <a:p>
            <a:pPr>
              <a:defRPr/>
            </a:pPr>
            <a:endParaRPr lang="zh-CN" altLang="en-US"/>
          </a:p>
        </p:txBody>
      </p:sp>
      <p:sp>
        <p:nvSpPr>
          <p:cNvPr id="1032" name="AutoShape 41"/>
          <p:cNvSpPr>
            <a:spLocks noChangeArrowheads="1"/>
          </p:cNvSpPr>
          <p:nvPr/>
        </p:nvSpPr>
        <p:spPr bwMode="ltGray">
          <a:xfrm>
            <a:off x="7888288" y="0"/>
            <a:ext cx="427037" cy="835025"/>
          </a:xfrm>
          <a:prstGeom prst="homePlate">
            <a:avLst>
              <a:gd name="adj" fmla="val 25000"/>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tx1"/>
                </a:solidFill>
                <a:latin typeface="Times New Roman" panose="02020603050405020304" pitchFamily="18" charset="0"/>
                <a:ea typeface="楷体_GB2312" pitchFamily="49" charset="-122"/>
              </a:defRPr>
            </a:lvl1pPr>
            <a:lvl2pPr marL="742950" indent="-285750">
              <a:defRPr sz="1400">
                <a:solidFill>
                  <a:schemeClr val="tx1"/>
                </a:solidFill>
                <a:latin typeface="Times New Roman" panose="02020603050405020304" pitchFamily="18" charset="0"/>
                <a:ea typeface="楷体_GB2312" pitchFamily="49" charset="-122"/>
              </a:defRPr>
            </a:lvl2pPr>
            <a:lvl3pPr marL="1143000" indent="-228600">
              <a:defRPr sz="1400">
                <a:solidFill>
                  <a:schemeClr val="tx1"/>
                </a:solidFill>
                <a:latin typeface="Times New Roman" panose="02020603050405020304" pitchFamily="18" charset="0"/>
                <a:ea typeface="楷体_GB2312" pitchFamily="49" charset="-122"/>
              </a:defRPr>
            </a:lvl3pPr>
            <a:lvl4pPr marL="1600200" indent="-228600">
              <a:defRPr sz="1400">
                <a:solidFill>
                  <a:schemeClr val="tx1"/>
                </a:solidFill>
                <a:latin typeface="Times New Roman" panose="02020603050405020304" pitchFamily="18" charset="0"/>
                <a:ea typeface="楷体_GB2312" pitchFamily="49" charset="-122"/>
              </a:defRPr>
            </a:lvl4pPr>
            <a:lvl5pPr marL="2057400" indent="-228600">
              <a:defRPr sz="1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楷体_GB2312" pitchFamily="49" charset="-122"/>
              </a:defRPr>
            </a:lvl9pPr>
          </a:lstStyle>
          <a:p>
            <a:pPr>
              <a:defRPr/>
            </a:pPr>
            <a:endParaRPr lang="zh-CN" altLang="en-US" smtClean="0"/>
          </a:p>
        </p:txBody>
      </p:sp>
      <p:sp>
        <p:nvSpPr>
          <p:cNvPr id="1033" name="Rectangle 21"/>
          <p:cNvSpPr>
            <a:spLocks noGrp="1" noChangeArrowheads="1"/>
          </p:cNvSpPr>
          <p:nvPr>
            <p:ph type="title"/>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ko-KR" smtClean="0"/>
              <a:t>Click to edit Master title style</a:t>
            </a:r>
          </a:p>
        </p:txBody>
      </p:sp>
    </p:spTree>
  </p:cSld>
  <p:clrMap bg1="lt1" tx1="dk1" bg2="lt2" tx2="dk2" accent1="accent1" accent2="accent2" accent3="accent3" accent4="accent4" accent5="accent5" accent6="accent6" hlink="hlink" folHlink="folHlink"/>
  <p:sldLayoutIdLst>
    <p:sldLayoutId id="2147483915"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Lst>
  <p:timing>
    <p:tnLst>
      <p:par>
        <p:cTn id="1" dur="indefinite" restart="never" nodeType="tmRoot"/>
      </p:par>
    </p:tnLst>
  </p:timing>
  <p:txStyles>
    <p:title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Clr>
          <a:schemeClr val="accent2"/>
        </a:buClr>
        <a:buFont typeface="Wingdings" panose="05000000000000000000" pitchFamily="2" charset="2"/>
        <a:buChar char="u"/>
        <a:defRPr sz="2800" b="1">
          <a:solidFill>
            <a:srgbClr val="2B568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anose="05000000000000000000" pitchFamily="2" charset="2"/>
        <a:buChar char="n"/>
        <a:defRPr sz="2600" b="1">
          <a:solidFill>
            <a:srgbClr val="008080"/>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rgbClr val="339966"/>
          </a:solidFill>
          <a:latin typeface="+mn-lt"/>
          <a:ea typeface="+mn-ea"/>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media" Target="../media/media1.mp4"/><Relationship Id="rId2" Type="http://schemas.openxmlformats.org/officeDocument/2006/relationships/tags" Target="../tags/tag1.xml"/><Relationship Id="rId1" Type="http://schemas.openxmlformats.org/officeDocument/2006/relationships/video" Target="NULL" TargetMode="Externa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lesson%20&#22312;%20172.21.14.176%20&#19978;/BJUT-Linux-2009/blkdev.h.doc#request_queue"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42938" y="44624"/>
            <a:ext cx="7859712" cy="823913"/>
          </a:xfrm>
        </p:spPr>
        <p:txBody>
          <a:bodyPr/>
          <a:lstStyle/>
          <a:p>
            <a:r>
              <a:rPr lang="zh-CN" altLang="en-US" sz="3600" dirty="0" smtClean="0">
                <a:ea typeface="宋体" panose="02010600030101010101" pitchFamily="2" charset="-122"/>
              </a:rPr>
              <a:t>第</a:t>
            </a:r>
            <a:r>
              <a:rPr lang="en-US" altLang="zh-CN" sz="3600" dirty="0" smtClean="0">
                <a:ea typeface="宋体" panose="02010600030101010101" pitchFamily="2" charset="-122"/>
              </a:rPr>
              <a:t>8</a:t>
            </a:r>
            <a:r>
              <a:rPr lang="zh-CN" altLang="en-US" sz="3600" dirty="0" smtClean="0">
                <a:ea typeface="宋体" panose="02010600030101010101" pitchFamily="2" charset="-122"/>
              </a:rPr>
              <a:t>章 </a:t>
            </a:r>
            <a:r>
              <a:rPr lang="en-US" altLang="zh-CN" sz="3600" dirty="0" smtClean="0">
                <a:latin typeface="Times New Roman" panose="02020603050405020304" pitchFamily="18" charset="0"/>
                <a:ea typeface="宋体" panose="02010600030101010101" pitchFamily="2" charset="-122"/>
                <a:cs typeface="Times New Roman" panose="02020603050405020304" pitchFamily="18" charset="0"/>
              </a:rPr>
              <a:t>Linux</a:t>
            </a:r>
            <a:r>
              <a:rPr lang="zh-CN" altLang="en-US" sz="3600" dirty="0" smtClean="0">
                <a:ea typeface="宋体" panose="02010600030101010101" pitchFamily="2" charset="-122"/>
              </a:rPr>
              <a:t>设备管理与模块机制</a:t>
            </a:r>
          </a:p>
        </p:txBody>
      </p:sp>
      <p:sp>
        <p:nvSpPr>
          <p:cNvPr id="5123" name="Rectangle 3"/>
          <p:cNvSpPr>
            <a:spLocks noGrp="1" noChangeArrowheads="1"/>
          </p:cNvSpPr>
          <p:nvPr>
            <p:ph type="body" idx="1"/>
          </p:nvPr>
        </p:nvSpPr>
        <p:spPr>
          <a:xfrm>
            <a:off x="666067" y="1772816"/>
            <a:ext cx="8202613" cy="3556000"/>
          </a:xfrm>
        </p:spPr>
        <p:txBody>
          <a:bodyPr/>
          <a:lstStyle/>
          <a:p>
            <a:pPr>
              <a:lnSpc>
                <a:spcPct val="110000"/>
              </a:lnSpc>
              <a:buFont typeface="Arial" panose="020B0604020202020204" pitchFamily="34" charset="0"/>
              <a:buChar char="•"/>
            </a:pPr>
            <a:r>
              <a:rPr lang="en-US" altLang="zh-CN" sz="2800" dirty="0" smtClean="0">
                <a:latin typeface="宋体" panose="02010600030101010101" pitchFamily="2" charset="-122"/>
                <a:ea typeface="宋体" panose="02010600030101010101" pitchFamily="2" charset="-122"/>
              </a:rPr>
              <a:t>Linux</a:t>
            </a:r>
            <a:r>
              <a:rPr lang="zh-CN" altLang="en-US" sz="2800" dirty="0" smtClean="0">
                <a:latin typeface="宋体" panose="02010600030101010101" pitchFamily="2" charset="-122"/>
                <a:ea typeface="宋体" panose="02010600030101010101" pitchFamily="2" charset="-122"/>
              </a:rPr>
              <a:t>设备管理概述</a:t>
            </a:r>
            <a:endParaRPr lang="en-US" altLang="zh-CN" sz="2800" dirty="0" smtClean="0">
              <a:latin typeface="宋体" panose="02010600030101010101" pitchFamily="2" charset="-122"/>
              <a:ea typeface="宋体" panose="02010600030101010101" pitchFamily="2" charset="-122"/>
            </a:endParaRPr>
          </a:p>
          <a:p>
            <a:pPr>
              <a:lnSpc>
                <a:spcPct val="110000"/>
              </a:lnSpc>
              <a:buFont typeface="Arial" panose="020B0604020202020204" pitchFamily="34" charset="0"/>
              <a:buChar char="•"/>
            </a:pPr>
            <a:r>
              <a:rPr lang="en-US" altLang="zh-CN" sz="2800" dirty="0" smtClean="0">
                <a:latin typeface="宋体" panose="02010600030101010101" pitchFamily="2" charset="-122"/>
                <a:ea typeface="宋体" panose="02010600030101010101" pitchFamily="2" charset="-122"/>
              </a:rPr>
              <a:t>Linux</a:t>
            </a:r>
            <a:r>
              <a:rPr lang="zh-CN" altLang="en-US" sz="2800" dirty="0" smtClean="0">
                <a:latin typeface="宋体" panose="02010600030101010101" pitchFamily="2" charset="-122"/>
                <a:ea typeface="宋体" panose="02010600030101010101" pitchFamily="2" charset="-122"/>
              </a:rPr>
              <a:t>设备分类及数据结构</a:t>
            </a:r>
            <a:endParaRPr lang="en-US" altLang="zh-CN" sz="2800" dirty="0" smtClean="0">
              <a:latin typeface="宋体" panose="02010600030101010101" pitchFamily="2" charset="-122"/>
              <a:ea typeface="宋体" panose="02010600030101010101" pitchFamily="2" charset="-122"/>
            </a:endParaRPr>
          </a:p>
          <a:p>
            <a:pPr>
              <a:lnSpc>
                <a:spcPct val="110000"/>
              </a:lnSpc>
              <a:buFont typeface="Arial" panose="020B0604020202020204" pitchFamily="34" charset="0"/>
              <a:buChar char="•"/>
            </a:pPr>
            <a:r>
              <a:rPr lang="en-US" altLang="zh-CN" sz="2800" dirty="0" smtClean="0">
                <a:latin typeface="宋体" panose="02010600030101010101" pitchFamily="2" charset="-122"/>
                <a:ea typeface="宋体" panose="02010600030101010101" pitchFamily="2" charset="-122"/>
              </a:rPr>
              <a:t>Linux</a:t>
            </a:r>
            <a:r>
              <a:rPr lang="zh-CN" altLang="en-US" sz="2800" dirty="0" smtClean="0">
                <a:latin typeface="宋体" panose="02010600030101010101" pitchFamily="2" charset="-122"/>
                <a:ea typeface="宋体" panose="02010600030101010101" pitchFamily="2" charset="-122"/>
              </a:rPr>
              <a:t>设备转换表</a:t>
            </a:r>
            <a:endParaRPr lang="en-US" altLang="zh-CN" sz="2800" dirty="0" smtClean="0">
              <a:latin typeface="宋体" panose="02010600030101010101" pitchFamily="2" charset="-122"/>
              <a:ea typeface="宋体" panose="02010600030101010101" pitchFamily="2" charset="-122"/>
            </a:endParaRPr>
          </a:p>
          <a:p>
            <a:pPr>
              <a:lnSpc>
                <a:spcPct val="110000"/>
              </a:lnSpc>
              <a:buFont typeface="Arial" panose="020B0604020202020204" pitchFamily="34" charset="0"/>
              <a:buChar char="•"/>
            </a:pPr>
            <a:r>
              <a:rPr lang="en-US" altLang="zh-CN" sz="2800" dirty="0" smtClean="0">
                <a:latin typeface="宋体" panose="02010600030101010101" pitchFamily="2" charset="-122"/>
                <a:ea typeface="宋体" panose="02010600030101010101" pitchFamily="2" charset="-122"/>
              </a:rPr>
              <a:t>Linux</a:t>
            </a:r>
            <a:r>
              <a:rPr lang="zh-CN" altLang="en-US" sz="2800" dirty="0" smtClean="0">
                <a:latin typeface="宋体" panose="02010600030101010101" pitchFamily="2" charset="-122"/>
                <a:ea typeface="宋体" panose="02010600030101010101" pitchFamily="2" charset="-122"/>
              </a:rPr>
              <a:t>设备注册与注销</a:t>
            </a:r>
            <a:endParaRPr lang="en-US" altLang="zh-CN" sz="2800" dirty="0" smtClean="0">
              <a:latin typeface="宋体" panose="02010600030101010101" pitchFamily="2" charset="-122"/>
              <a:ea typeface="宋体" panose="02010600030101010101" pitchFamily="2" charset="-122"/>
            </a:endParaRPr>
          </a:p>
          <a:p>
            <a:pPr>
              <a:lnSpc>
                <a:spcPct val="110000"/>
              </a:lnSpc>
              <a:buFont typeface="Arial" panose="020B0604020202020204" pitchFamily="34" charset="0"/>
              <a:buChar char="•"/>
            </a:pPr>
            <a:r>
              <a:rPr lang="en-US" altLang="zh-CN" sz="2800" dirty="0" smtClean="0">
                <a:latin typeface="宋体" panose="02010600030101010101" pitchFamily="2" charset="-122"/>
                <a:ea typeface="宋体" panose="02010600030101010101" pitchFamily="2" charset="-122"/>
              </a:rPr>
              <a:t>Linux</a:t>
            </a:r>
            <a:r>
              <a:rPr lang="zh-CN" altLang="en-US" sz="2800" dirty="0" smtClean="0">
                <a:latin typeface="宋体" panose="02010600030101010101" pitchFamily="2" charset="-122"/>
                <a:ea typeface="宋体" panose="02010600030101010101" pitchFamily="2" charset="-122"/>
              </a:rPr>
              <a:t>设备操作</a:t>
            </a:r>
          </a:p>
          <a:p>
            <a:pPr>
              <a:lnSpc>
                <a:spcPct val="110000"/>
              </a:lnSpc>
              <a:buFont typeface="Arial" panose="020B0604020202020204" pitchFamily="34" charset="0"/>
              <a:buChar char="•"/>
            </a:pPr>
            <a:r>
              <a:rPr lang="en-US" altLang="zh-CN" sz="2800" dirty="0" smtClean="0">
                <a:latin typeface="宋体" panose="02010600030101010101" pitchFamily="2" charset="-122"/>
                <a:ea typeface="宋体" panose="02010600030101010101" pitchFamily="2" charset="-122"/>
              </a:rPr>
              <a:t>Linux</a:t>
            </a:r>
            <a:r>
              <a:rPr lang="zh-CN" altLang="en-US" sz="2800" dirty="0" smtClean="0">
                <a:latin typeface="宋体" panose="02010600030101010101" pitchFamily="2" charset="-122"/>
                <a:ea typeface="宋体" panose="02010600030101010101" pitchFamily="2" charset="-122"/>
              </a:rPr>
              <a:t>模块机制</a:t>
            </a:r>
          </a:p>
        </p:txBody>
      </p:sp>
      <p:pic>
        <p:nvPicPr>
          <p:cNvPr id="2" name="tmp2C9">
            <a:hlinkClick r:id="" action="ppaction://media"/>
          </p:cNvPr>
          <p:cNvPicPr>
            <a:picLocks noChangeAspect="1"/>
          </p:cNvPicPr>
          <p:nvPr>
            <a:videoFile r:link="rId1"/>
            <p:custDataLst>
              <p:tags r:id="rId2"/>
            </p:custDataLst>
            <p:extLst>
              <p:ext uri="{DAA4B4D4-6D71-4841-9C94-3DE7FCFB9230}">
                <p14:media xmlns:p14="http://schemas.microsoft.com/office/powerpoint/2010/main" r:embed="rId3">
                  <p14:trim end="4952.8276"/>
                </p14:media>
              </p:ext>
              <p:ext uri="{42D2F446-02D8-4167-A562-619A0277C38B}">
                <p15:isNarration xmlns:p15="http://schemas.microsoft.com/office/powerpoint/2012/main" val="1"/>
              </p:ext>
            </p:extLst>
          </p:nvPr>
        </p:nvPicPr>
        <p:blipFill>
          <a:blip r:embed="rId6"/>
          <a:stretch>
            <a:fillRect/>
          </a:stretch>
        </p:blipFill>
        <p:spPr>
          <a:xfrm>
            <a:off x="8813800" y="101600"/>
            <a:ext cx="228600" cy="228600"/>
          </a:xfrm>
          <a:prstGeom prst="rect">
            <a:avLst/>
          </a:prstGeom>
        </p:spPr>
      </p:pic>
    </p:spTree>
    <p:extLst>
      <p:ext uri="{BB962C8B-B14F-4D97-AF65-F5344CB8AC3E}">
        <p14:creationId xmlns:p14="http://schemas.microsoft.com/office/powerpoint/2010/main" val="3373103494"/>
      </p:ext>
    </p:extLst>
  </p:cSld>
  <p:clrMapOvr>
    <a:masterClrMapping/>
  </p:clrMapOvr>
  <p:transition advTm="800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1"/>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97768"/>
            <a:ext cx="8229600" cy="1143000"/>
          </a:xfrm>
        </p:spPr>
        <p:txBody>
          <a:bodyPr/>
          <a:lstStyle/>
          <a:p>
            <a:r>
              <a:rPr lang="en-US" altLang="zh-CN" sz="3600" dirty="0" smtClean="0">
                <a:latin typeface="Times New Roman" panose="02020603050405020304" pitchFamily="18" charset="0"/>
                <a:ea typeface="宋体" panose="02010600030101010101" pitchFamily="2" charset="-122"/>
                <a:cs typeface="Times New Roman" panose="02020603050405020304" pitchFamily="18" charset="0"/>
              </a:rPr>
              <a:t>8.1  Linux</a:t>
            </a:r>
            <a:r>
              <a:rPr lang="zh-CN" altLang="en-US" sz="3600" dirty="0" smtClean="0">
                <a:latin typeface="Times New Roman" panose="02020603050405020304" pitchFamily="18" charset="0"/>
                <a:ea typeface="宋体" panose="02010600030101010101" pitchFamily="2" charset="-122"/>
                <a:cs typeface="Times New Roman" panose="02020603050405020304" pitchFamily="18" charset="0"/>
              </a:rPr>
              <a:t>设备管理概述</a:t>
            </a:r>
            <a:r>
              <a:rPr lang="zh-CN" altLang="en-US" sz="3600" dirty="0" smtClean="0">
                <a:ea typeface="宋体" panose="02010600030101010101" pitchFamily="2" charset="-122"/>
              </a:rPr>
              <a:t/>
            </a:r>
            <a:br>
              <a:rPr lang="zh-CN" altLang="en-US" sz="3600" dirty="0" smtClean="0">
                <a:ea typeface="宋体" panose="02010600030101010101" pitchFamily="2" charset="-122"/>
              </a:rPr>
            </a:br>
            <a:endParaRPr lang="zh-CN" altLang="en-US" sz="3600" dirty="0" smtClean="0">
              <a:ea typeface="宋体" panose="02010600030101010101" pitchFamily="2" charset="-122"/>
            </a:endParaRPr>
          </a:p>
        </p:txBody>
      </p:sp>
      <p:sp>
        <p:nvSpPr>
          <p:cNvPr id="7171" name="Rectangle 3"/>
          <p:cNvSpPr>
            <a:spLocks noGrp="1" noChangeArrowheads="1"/>
          </p:cNvSpPr>
          <p:nvPr>
            <p:ph type="body" idx="1"/>
          </p:nvPr>
        </p:nvSpPr>
        <p:spPr>
          <a:xfrm>
            <a:off x="309563" y="1457325"/>
            <a:ext cx="8510587" cy="5100638"/>
          </a:xfrm>
        </p:spPr>
        <p:txBody>
          <a:bodyPr/>
          <a:lstStyle/>
          <a:p>
            <a:pPr algn="just">
              <a:lnSpc>
                <a:spcPct val="90000"/>
              </a:lnSpc>
              <a:buFont typeface="Arial" panose="020B0604020202020204" pitchFamily="34" charset="0"/>
              <a:buChar char="•"/>
            </a:pPr>
            <a:r>
              <a:rPr lang="en-US" altLang="zh-CN" sz="2800" dirty="0" smtClean="0">
                <a:latin typeface="宋体" panose="02010600030101010101" pitchFamily="2" charset="-122"/>
                <a:ea typeface="宋体" panose="02010600030101010101" pitchFamily="2" charset="-122"/>
              </a:rPr>
              <a:t>Linux</a:t>
            </a:r>
            <a:r>
              <a:rPr lang="zh-CN" altLang="en-US" sz="2800" dirty="0" smtClean="0">
                <a:latin typeface="宋体" panose="02010600030101010101" pitchFamily="2" charset="-122"/>
                <a:ea typeface="宋体" panose="02010600030101010101" pitchFamily="2" charset="-122"/>
              </a:rPr>
              <a:t>利用一种通用的方法来对所有的输入／输出设备进行控制，从而完成数据的输入和输出操作，即设计了一个统一而简单的输入／输出系统调用接口。</a:t>
            </a:r>
          </a:p>
          <a:p>
            <a:pPr algn="just">
              <a:lnSpc>
                <a:spcPct val="90000"/>
              </a:lnSpc>
              <a:buFont typeface="Arial" panose="020B0604020202020204" pitchFamily="34" charset="0"/>
              <a:buChar char="•"/>
            </a:pPr>
            <a:r>
              <a:rPr lang="zh-CN" altLang="en-US" sz="2800" dirty="0" smtClean="0">
                <a:latin typeface="宋体" panose="02010600030101010101" pitchFamily="2" charset="-122"/>
                <a:ea typeface="宋体" panose="02010600030101010101" pitchFamily="2" charset="-122"/>
              </a:rPr>
              <a:t>  输入／输出子系统分为上下两部分：</a:t>
            </a:r>
          </a:p>
          <a:p>
            <a:pPr lvl="1" algn="just">
              <a:lnSpc>
                <a:spcPct val="90000"/>
              </a:lnSpc>
            </a:pPr>
            <a:r>
              <a:rPr lang="zh-CN" altLang="en-US" dirty="0" smtClean="0">
                <a:latin typeface="宋体" panose="02010600030101010101" pitchFamily="2" charset="-122"/>
                <a:ea typeface="宋体" panose="02010600030101010101" pitchFamily="2" charset="-122"/>
              </a:rPr>
              <a:t>一部分是下层的与设备有关的部分，常称为设备驱动程序，它直接与相应设备打交道，并且向上层提供一组访问接口；</a:t>
            </a:r>
            <a:endParaRPr lang="en-US" altLang="zh-CN" dirty="0" smtClean="0">
              <a:latin typeface="宋体" panose="02010600030101010101" pitchFamily="2" charset="-122"/>
              <a:ea typeface="宋体" panose="02010600030101010101" pitchFamily="2" charset="-122"/>
            </a:endParaRPr>
          </a:p>
          <a:p>
            <a:pPr lvl="1" algn="just">
              <a:lnSpc>
                <a:spcPct val="90000"/>
              </a:lnSpc>
            </a:pPr>
            <a:r>
              <a:rPr lang="en-US" altLang="zh-CN" dirty="0" smtClean="0">
                <a:latin typeface="宋体" panose="02010600030101010101" pitchFamily="2" charset="-122"/>
                <a:ea typeface="宋体" panose="02010600030101010101" pitchFamily="2" charset="-122"/>
              </a:rPr>
              <a:t> </a:t>
            </a:r>
            <a:r>
              <a:rPr lang="zh-CN" altLang="en-US" dirty="0" smtClean="0">
                <a:latin typeface="宋体" panose="02010600030101010101" pitchFamily="2" charset="-122"/>
                <a:ea typeface="宋体" panose="02010600030101010101" pitchFamily="2" charset="-122"/>
              </a:rPr>
              <a:t>另一部分是上层的与设备无关的</a:t>
            </a:r>
            <a:r>
              <a:rPr lang="en-US" altLang="zh-CN" dirty="0" smtClean="0">
                <a:latin typeface="宋体" panose="02010600030101010101" pitchFamily="2" charset="-122"/>
                <a:ea typeface="宋体" panose="02010600030101010101" pitchFamily="2" charset="-122"/>
              </a:rPr>
              <a:t>I/O</a:t>
            </a:r>
            <a:r>
              <a:rPr lang="zh-CN" altLang="en-US" dirty="0" smtClean="0">
                <a:latin typeface="宋体" panose="02010600030101010101" pitchFamily="2" charset="-122"/>
                <a:ea typeface="宋体" panose="02010600030101010101" pitchFamily="2" charset="-122"/>
              </a:rPr>
              <a:t>软件，它根据上层用户的输入／输出请求，向下通过特定的设备驱动程序接口和设备进行通信。</a:t>
            </a:r>
          </a:p>
        </p:txBody>
      </p:sp>
    </p:spTree>
    <p:extLst>
      <p:ext uri="{BB962C8B-B14F-4D97-AF65-F5344CB8AC3E}">
        <p14:creationId xmlns:p14="http://schemas.microsoft.com/office/powerpoint/2010/main" val="2820373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19150" y="44624"/>
            <a:ext cx="7772400" cy="844550"/>
          </a:xfrm>
        </p:spPr>
        <p:txBody>
          <a:bodyPr/>
          <a:lstStyle/>
          <a:p>
            <a:r>
              <a:rPr lang="en-US" altLang="zh-CN" sz="3600" dirty="0" smtClean="0">
                <a:latin typeface="Times New Roman" panose="02020603050405020304" pitchFamily="18" charset="0"/>
                <a:ea typeface="宋体" panose="02010600030101010101" pitchFamily="2" charset="-122"/>
                <a:cs typeface="Times New Roman" panose="02020603050405020304" pitchFamily="18" charset="0"/>
              </a:rPr>
              <a:t>8.1  Linux</a:t>
            </a:r>
            <a:r>
              <a:rPr lang="zh-CN" altLang="en-US" sz="3600" dirty="0" smtClean="0">
                <a:latin typeface="Times New Roman" panose="02020603050405020304" pitchFamily="18" charset="0"/>
                <a:ea typeface="宋体" panose="02010600030101010101" pitchFamily="2" charset="-122"/>
                <a:cs typeface="Times New Roman" panose="02020603050405020304" pitchFamily="18" charset="0"/>
              </a:rPr>
              <a:t>设备管理概述</a:t>
            </a:r>
            <a:endParaRPr lang="zh-CN" altLang="en-US"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Rectangle 3"/>
          <p:cNvSpPr>
            <a:spLocks noGrp="1" noChangeArrowheads="1"/>
          </p:cNvSpPr>
          <p:nvPr>
            <p:ph type="body" idx="1"/>
          </p:nvPr>
        </p:nvSpPr>
        <p:spPr>
          <a:xfrm>
            <a:off x="685800" y="1181100"/>
            <a:ext cx="7878763" cy="4975225"/>
          </a:xfrm>
        </p:spPr>
        <p:txBody>
          <a:bodyPr/>
          <a:lstStyle/>
          <a:p>
            <a:pPr algn="just">
              <a:buFont typeface="Arial" panose="020B0604020202020204" pitchFamily="34" charset="0"/>
              <a:buChar char="•"/>
            </a:pPr>
            <a:r>
              <a:rPr lang="zh-CN" altLang="en-US" sz="2800" dirty="0" smtClean="0">
                <a:latin typeface="宋体" panose="02010600030101010101" pitchFamily="2" charset="-122"/>
                <a:ea typeface="宋体" panose="02010600030101010101" pitchFamily="2" charset="-122"/>
              </a:rPr>
              <a:t>在 </a:t>
            </a:r>
            <a:r>
              <a:rPr lang="en-US" altLang="zh-CN" sz="2800" dirty="0" smtClean="0">
                <a:latin typeface="宋体" panose="02010600030101010101" pitchFamily="2" charset="-122"/>
                <a:ea typeface="宋体" panose="02010600030101010101" pitchFamily="2" charset="-122"/>
              </a:rPr>
              <a:t>Linux </a:t>
            </a:r>
            <a:r>
              <a:rPr lang="zh-CN" altLang="en-US" sz="2800" dirty="0" smtClean="0">
                <a:latin typeface="宋体" panose="02010600030101010101" pitchFamily="2" charset="-122"/>
                <a:ea typeface="宋体" panose="02010600030101010101" pitchFamily="2" charset="-122"/>
              </a:rPr>
              <a:t>系统中，</a:t>
            </a:r>
            <a:r>
              <a:rPr lang="zh-CN" altLang="en-US" sz="2800" dirty="0" smtClean="0">
                <a:ea typeface="宋体" panose="02010600030101010101" pitchFamily="2" charset="-122"/>
              </a:rPr>
              <a:t>用户</a:t>
            </a:r>
            <a:r>
              <a:rPr lang="zh-CN" altLang="en-US" sz="2800" dirty="0" smtClean="0">
                <a:solidFill>
                  <a:srgbClr val="0066FF"/>
                </a:solidFill>
                <a:ea typeface="宋体" panose="02010600030101010101" pitchFamily="2" charset="-122"/>
              </a:rPr>
              <a:t>通过文件系统与设备接口</a:t>
            </a:r>
            <a:r>
              <a:rPr lang="zh-CN" altLang="en-US" sz="2800" dirty="0" smtClean="0">
                <a:ea typeface="宋体" panose="02010600030101010101" pitchFamily="2" charset="-122"/>
              </a:rPr>
              <a:t>。</a:t>
            </a:r>
            <a:r>
              <a:rPr lang="zh-CN" altLang="en-US" sz="2800" dirty="0" smtClean="0">
                <a:latin typeface="宋体" panose="02010600030101010101" pitchFamily="2" charset="-122"/>
                <a:ea typeface="宋体" panose="02010600030101010101" pitchFamily="2" charset="-122"/>
              </a:rPr>
              <a:t>利用标准的系统调用可在设备上进行打开、关闭、读取或写入操作。</a:t>
            </a:r>
          </a:p>
          <a:p>
            <a:pPr algn="just">
              <a:buFont typeface="Arial" panose="020B0604020202020204" pitchFamily="34" charset="0"/>
              <a:buChar char="•"/>
            </a:pPr>
            <a:r>
              <a:rPr lang="zh-CN" altLang="en-US" sz="2800" dirty="0" smtClean="0">
                <a:latin typeface="宋体" panose="02010600030101010101" pitchFamily="2" charset="-122"/>
                <a:ea typeface="宋体" panose="02010600030101010101" pitchFamily="2" charset="-122"/>
              </a:rPr>
              <a:t>当用户进程发出</a:t>
            </a:r>
            <a:r>
              <a:rPr lang="en-US" altLang="zh-CN" sz="2800" dirty="0" smtClean="0">
                <a:latin typeface="宋体" panose="02010600030101010101" pitchFamily="2" charset="-122"/>
                <a:ea typeface="宋体" panose="02010600030101010101" pitchFamily="2" charset="-122"/>
              </a:rPr>
              <a:t>I/O</a:t>
            </a:r>
            <a:r>
              <a:rPr lang="zh-CN" altLang="en-US" sz="2800" dirty="0" smtClean="0">
                <a:latin typeface="宋体" panose="02010600030101010101" pitchFamily="2" charset="-122"/>
                <a:ea typeface="宋体" panose="02010600030101010101" pitchFamily="2" charset="-122"/>
              </a:rPr>
              <a:t>请求时，系统将请求处理的权限放在文件系统，文件系统通过驱动程序提供的接口将任务下放到驱动程序。驱动程序根据需要，对设备控制器进行操作，设备控制器再去控制设备本身进行</a:t>
            </a:r>
            <a:r>
              <a:rPr lang="en-US" altLang="zh-CN" sz="2800" dirty="0" smtClean="0">
                <a:latin typeface="宋体" panose="02010600030101010101" pitchFamily="2" charset="-122"/>
                <a:ea typeface="宋体" panose="02010600030101010101" pitchFamily="2" charset="-122"/>
              </a:rPr>
              <a:t>I/O</a:t>
            </a:r>
            <a:r>
              <a:rPr lang="zh-CN" altLang="en-US" sz="2800" dirty="0" smtClean="0">
                <a:latin typeface="宋体" panose="02010600030101010101" pitchFamily="2" charset="-122"/>
                <a:ea typeface="宋体" panose="02010600030101010101" pitchFamily="2" charset="-122"/>
              </a:rPr>
              <a:t>操作。</a:t>
            </a:r>
          </a:p>
          <a:p>
            <a:pPr algn="just">
              <a:buFont typeface="Arial" panose="020B0604020202020204" pitchFamily="34" charset="0"/>
              <a:buChar char="•"/>
            </a:pPr>
            <a:r>
              <a:rPr lang="zh-CN" altLang="en-US" sz="2800" dirty="0" smtClean="0">
                <a:latin typeface="宋体" panose="02010600030101010101" pitchFamily="2" charset="-122"/>
                <a:ea typeface="宋体" panose="02010600030101010101" pitchFamily="2" charset="-122"/>
              </a:rPr>
              <a:t>驱动程序向文件系统提供的接口屏蔽了设备的物理特性。</a:t>
            </a:r>
          </a:p>
          <a:p>
            <a:pPr algn="just">
              <a:buFont typeface="Monotype Sorts" pitchFamily="2" charset="2"/>
              <a:buNone/>
            </a:pPr>
            <a:endParaRPr lang="zh-CN" altLang="en-US" sz="2800" dirty="0" smtClean="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510437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1127125" y="1179513"/>
            <a:ext cx="2128838" cy="531812"/>
          </a:xfrm>
          <a:prstGeom prst="rect">
            <a:avLst/>
          </a:prstGeom>
          <a:gradFill rotWithShape="0">
            <a:gsLst>
              <a:gs pos="0">
                <a:srgbClr val="99CCFF"/>
              </a:gs>
              <a:gs pos="100000">
                <a:schemeClr val="bg2"/>
              </a:gs>
            </a:gsLst>
            <a:lin ang="5400000" scaled="1"/>
          </a:gradFill>
          <a:ln w="9525">
            <a:solidFill>
              <a:schemeClr val="tx1"/>
            </a:solidFill>
            <a:miter lim="800000"/>
            <a:headEnd/>
            <a:tailEnd/>
          </a:ln>
        </p:spPr>
        <p:txBody>
          <a:bodyPr wrap="none" anchor="ct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gn="ctr">
              <a:lnSpc>
                <a:spcPct val="100000"/>
              </a:lnSpc>
              <a:spcBef>
                <a:spcPct val="0"/>
              </a:spcBef>
              <a:buClrTx/>
              <a:buSzTx/>
              <a:buFontTx/>
              <a:buNone/>
            </a:pPr>
            <a:r>
              <a:rPr kumimoji="0" lang="zh-CN" altLang="en-US" sz="1800">
                <a:solidFill>
                  <a:schemeClr val="tx1"/>
                </a:solidFill>
              </a:rPr>
              <a:t>用户进程</a:t>
            </a:r>
          </a:p>
        </p:txBody>
      </p:sp>
      <p:sp>
        <p:nvSpPr>
          <p:cNvPr id="9219" name="Rectangle 3"/>
          <p:cNvSpPr>
            <a:spLocks noChangeArrowheads="1"/>
          </p:cNvSpPr>
          <p:nvPr/>
        </p:nvSpPr>
        <p:spPr bwMode="auto">
          <a:xfrm>
            <a:off x="1427163" y="5240338"/>
            <a:ext cx="2128837" cy="531812"/>
          </a:xfrm>
          <a:prstGeom prst="rect">
            <a:avLst/>
          </a:prstGeom>
          <a:gradFill rotWithShape="0">
            <a:gsLst>
              <a:gs pos="0">
                <a:srgbClr val="99CCFF"/>
              </a:gs>
              <a:gs pos="100000">
                <a:schemeClr val="bg2"/>
              </a:gs>
            </a:gsLst>
            <a:lin ang="5400000" scaled="1"/>
          </a:gradFill>
          <a:ln w="9525">
            <a:solidFill>
              <a:schemeClr val="tx1"/>
            </a:solidFill>
            <a:miter lim="800000"/>
            <a:headEnd/>
            <a:tailEnd/>
          </a:ln>
        </p:spPr>
        <p:txBody>
          <a:bodyPr wrap="none" anchor="ct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gn="ctr">
              <a:lnSpc>
                <a:spcPct val="100000"/>
              </a:lnSpc>
              <a:spcBef>
                <a:spcPct val="0"/>
              </a:spcBef>
              <a:buClrTx/>
              <a:buSzTx/>
              <a:buFontTx/>
              <a:buNone/>
            </a:pPr>
            <a:r>
              <a:rPr kumimoji="0" lang="zh-CN" altLang="en-US" sz="1800">
                <a:solidFill>
                  <a:schemeClr val="tx1"/>
                </a:solidFill>
              </a:rPr>
              <a:t>硬件设备本身</a:t>
            </a:r>
          </a:p>
        </p:txBody>
      </p:sp>
      <p:sp>
        <p:nvSpPr>
          <p:cNvPr id="9220" name="Rectangle 4"/>
          <p:cNvSpPr>
            <a:spLocks noChangeArrowheads="1"/>
          </p:cNvSpPr>
          <p:nvPr/>
        </p:nvSpPr>
        <p:spPr bwMode="auto">
          <a:xfrm>
            <a:off x="1446213" y="4259263"/>
            <a:ext cx="2128837" cy="531812"/>
          </a:xfrm>
          <a:prstGeom prst="rect">
            <a:avLst/>
          </a:prstGeom>
          <a:gradFill rotWithShape="0">
            <a:gsLst>
              <a:gs pos="0">
                <a:srgbClr val="99CCFF"/>
              </a:gs>
              <a:gs pos="100000">
                <a:schemeClr val="bg2"/>
              </a:gs>
            </a:gsLst>
            <a:lin ang="5400000" scaled="1"/>
          </a:gradFill>
          <a:ln w="9525">
            <a:solidFill>
              <a:schemeClr val="tx1"/>
            </a:solidFill>
            <a:miter lim="800000"/>
            <a:headEnd/>
            <a:tailEnd/>
          </a:ln>
        </p:spPr>
        <p:txBody>
          <a:bodyPr wrap="none" anchor="ct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gn="ctr">
              <a:lnSpc>
                <a:spcPct val="100000"/>
              </a:lnSpc>
              <a:spcBef>
                <a:spcPct val="0"/>
              </a:spcBef>
              <a:buClrTx/>
              <a:buSzTx/>
              <a:buFontTx/>
              <a:buNone/>
            </a:pPr>
            <a:r>
              <a:rPr kumimoji="0" lang="zh-CN" altLang="en-US" sz="1800">
                <a:solidFill>
                  <a:schemeClr val="tx1"/>
                </a:solidFill>
              </a:rPr>
              <a:t>设备控制器</a:t>
            </a:r>
          </a:p>
        </p:txBody>
      </p:sp>
      <p:sp>
        <p:nvSpPr>
          <p:cNvPr id="9221" name="Rectangle 5"/>
          <p:cNvSpPr>
            <a:spLocks noChangeArrowheads="1"/>
          </p:cNvSpPr>
          <p:nvPr/>
        </p:nvSpPr>
        <p:spPr bwMode="auto">
          <a:xfrm>
            <a:off x="1339850" y="3248025"/>
            <a:ext cx="2128838" cy="531813"/>
          </a:xfrm>
          <a:prstGeom prst="rect">
            <a:avLst/>
          </a:prstGeom>
          <a:gradFill rotWithShape="0">
            <a:gsLst>
              <a:gs pos="0">
                <a:srgbClr val="99CCFF"/>
              </a:gs>
              <a:gs pos="100000">
                <a:schemeClr val="bg2"/>
              </a:gs>
            </a:gsLst>
            <a:lin ang="5400000" scaled="1"/>
          </a:gradFill>
          <a:ln w="9525">
            <a:solidFill>
              <a:schemeClr val="tx1"/>
            </a:solidFill>
            <a:miter lim="800000"/>
            <a:headEnd/>
            <a:tailEnd/>
          </a:ln>
        </p:spPr>
        <p:txBody>
          <a:bodyPr wrap="none" anchor="ct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gn="ctr">
              <a:lnSpc>
                <a:spcPct val="100000"/>
              </a:lnSpc>
              <a:spcBef>
                <a:spcPct val="0"/>
              </a:spcBef>
              <a:buClrTx/>
              <a:buSzTx/>
              <a:buFontTx/>
              <a:buNone/>
            </a:pPr>
            <a:r>
              <a:rPr kumimoji="0" lang="zh-CN" altLang="en-US" sz="1800">
                <a:solidFill>
                  <a:schemeClr val="tx1"/>
                </a:solidFill>
              </a:rPr>
              <a:t>设备驱动程序</a:t>
            </a:r>
          </a:p>
        </p:txBody>
      </p:sp>
      <p:sp>
        <p:nvSpPr>
          <p:cNvPr id="9222" name="Rectangle 6"/>
          <p:cNvSpPr>
            <a:spLocks noChangeArrowheads="1"/>
          </p:cNvSpPr>
          <p:nvPr/>
        </p:nvSpPr>
        <p:spPr bwMode="auto">
          <a:xfrm>
            <a:off x="1216025" y="2170113"/>
            <a:ext cx="2128838" cy="531812"/>
          </a:xfrm>
          <a:prstGeom prst="rect">
            <a:avLst/>
          </a:prstGeom>
          <a:gradFill rotWithShape="0">
            <a:gsLst>
              <a:gs pos="0">
                <a:srgbClr val="99CCFF"/>
              </a:gs>
              <a:gs pos="100000">
                <a:schemeClr val="bg2"/>
              </a:gs>
            </a:gsLst>
            <a:lin ang="5400000" scaled="1"/>
          </a:gradFill>
          <a:ln w="9525">
            <a:solidFill>
              <a:schemeClr val="tx1"/>
            </a:solidFill>
            <a:miter lim="800000"/>
            <a:headEnd/>
            <a:tailEnd/>
          </a:ln>
        </p:spPr>
        <p:txBody>
          <a:bodyPr wrap="none" anchor="ct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gn="ctr">
              <a:lnSpc>
                <a:spcPct val="100000"/>
              </a:lnSpc>
              <a:spcBef>
                <a:spcPct val="0"/>
              </a:spcBef>
              <a:buClrTx/>
              <a:buSzTx/>
              <a:buFontTx/>
              <a:buNone/>
            </a:pPr>
            <a:r>
              <a:rPr kumimoji="0" lang="zh-CN" altLang="en-US" sz="1800">
                <a:solidFill>
                  <a:schemeClr val="tx1"/>
                </a:solidFill>
              </a:rPr>
              <a:t>文件系统中的</a:t>
            </a:r>
          </a:p>
          <a:p>
            <a:pPr algn="ctr">
              <a:lnSpc>
                <a:spcPct val="100000"/>
              </a:lnSpc>
              <a:spcBef>
                <a:spcPct val="0"/>
              </a:spcBef>
              <a:buClrTx/>
              <a:buSzTx/>
              <a:buFontTx/>
              <a:buNone/>
            </a:pPr>
            <a:r>
              <a:rPr kumimoji="0" lang="zh-CN" altLang="en-US" sz="1800">
                <a:solidFill>
                  <a:schemeClr val="tx1"/>
                </a:solidFill>
              </a:rPr>
              <a:t>设备文件</a:t>
            </a:r>
          </a:p>
        </p:txBody>
      </p:sp>
      <p:sp>
        <p:nvSpPr>
          <p:cNvPr id="9223" name="Line 7"/>
          <p:cNvSpPr>
            <a:spLocks noChangeShapeType="1"/>
          </p:cNvSpPr>
          <p:nvPr/>
        </p:nvSpPr>
        <p:spPr bwMode="auto">
          <a:xfrm>
            <a:off x="744538" y="3962400"/>
            <a:ext cx="397192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4" name="Line 8"/>
          <p:cNvSpPr>
            <a:spLocks noChangeShapeType="1"/>
          </p:cNvSpPr>
          <p:nvPr/>
        </p:nvSpPr>
        <p:spPr bwMode="auto">
          <a:xfrm>
            <a:off x="2178050" y="1697038"/>
            <a:ext cx="0" cy="396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5" name="Line 9"/>
          <p:cNvSpPr>
            <a:spLocks noChangeShapeType="1"/>
          </p:cNvSpPr>
          <p:nvPr/>
        </p:nvSpPr>
        <p:spPr bwMode="auto">
          <a:xfrm>
            <a:off x="2193925" y="2763838"/>
            <a:ext cx="0" cy="396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6" name="Line 10"/>
          <p:cNvSpPr>
            <a:spLocks noChangeShapeType="1"/>
          </p:cNvSpPr>
          <p:nvPr/>
        </p:nvSpPr>
        <p:spPr bwMode="auto">
          <a:xfrm>
            <a:off x="2330450" y="4800600"/>
            <a:ext cx="0" cy="396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7" name="Line 11"/>
          <p:cNvSpPr>
            <a:spLocks noChangeShapeType="1"/>
          </p:cNvSpPr>
          <p:nvPr/>
        </p:nvSpPr>
        <p:spPr bwMode="auto">
          <a:xfrm>
            <a:off x="2235200" y="3814763"/>
            <a:ext cx="0" cy="396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8" name="Text Box 12"/>
          <p:cNvSpPr txBox="1">
            <a:spLocks noChangeArrowheads="1"/>
          </p:cNvSpPr>
          <p:nvPr/>
        </p:nvSpPr>
        <p:spPr bwMode="auto">
          <a:xfrm>
            <a:off x="990600" y="6256338"/>
            <a:ext cx="3506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gn="ctr">
              <a:lnSpc>
                <a:spcPct val="100000"/>
              </a:lnSpc>
              <a:spcBef>
                <a:spcPct val="50000"/>
              </a:spcBef>
              <a:buClrTx/>
              <a:buSzTx/>
              <a:buFontTx/>
              <a:buNone/>
            </a:pPr>
            <a:r>
              <a:rPr kumimoji="0" lang="zh-CN" altLang="en-US" sz="1800">
                <a:solidFill>
                  <a:schemeClr val="tx1"/>
                </a:solidFill>
              </a:rPr>
              <a:t>进程请求设备服务的流程</a:t>
            </a:r>
          </a:p>
        </p:txBody>
      </p:sp>
      <p:sp>
        <p:nvSpPr>
          <p:cNvPr id="9229" name="Rectangle 14"/>
          <p:cNvSpPr>
            <a:spLocks noChangeArrowheads="1"/>
          </p:cNvSpPr>
          <p:nvPr/>
        </p:nvSpPr>
        <p:spPr bwMode="auto">
          <a:xfrm>
            <a:off x="320675" y="2981325"/>
            <a:ext cx="4095750" cy="20050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nSpc>
                <a:spcPct val="90000"/>
              </a:lnSpc>
              <a:spcBef>
                <a:spcPct val="0"/>
              </a:spcBef>
              <a:buClrTx/>
              <a:buSzTx/>
              <a:buFontTx/>
              <a:buNone/>
            </a:pPr>
            <a:endParaRPr lang="zh-CN" altLang="en-US" sz="2400">
              <a:latin typeface="宋体" panose="02010600030101010101" pitchFamily="2" charset="-122"/>
            </a:endParaRPr>
          </a:p>
        </p:txBody>
      </p:sp>
      <p:sp>
        <p:nvSpPr>
          <p:cNvPr id="223247" name="Rectangle 15"/>
          <p:cNvSpPr>
            <a:spLocks noChangeArrowheads="1"/>
          </p:cNvSpPr>
          <p:nvPr/>
        </p:nvSpPr>
        <p:spPr bwMode="auto">
          <a:xfrm>
            <a:off x="5018088" y="1166813"/>
            <a:ext cx="3859212"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nSpc>
                <a:spcPct val="100000"/>
              </a:lnSpc>
              <a:buFont typeface="Arial" panose="020B0604020202020204" pitchFamily="34" charset="0"/>
              <a:buChar char="•"/>
            </a:pPr>
            <a:r>
              <a:rPr lang="zh-CN" altLang="en-US" sz="2800">
                <a:latin typeface="宋体" panose="02010600030101010101" pitchFamily="2" charset="-122"/>
              </a:rPr>
              <a:t>在内核中设备文件和普通文件的</a:t>
            </a:r>
            <a:r>
              <a:rPr lang="zh-CN" altLang="en-US" sz="2800">
                <a:solidFill>
                  <a:srgbClr val="0066FF"/>
                </a:solidFill>
                <a:latin typeface="宋体" panose="02010600030101010101" pitchFamily="2" charset="-122"/>
              </a:rPr>
              <a:t>索引节点有区别</a:t>
            </a:r>
            <a:r>
              <a:rPr lang="zh-CN" altLang="en-US" sz="2800">
                <a:latin typeface="宋体" panose="02010600030101010101" pitchFamily="2" charset="-122"/>
              </a:rPr>
              <a:t>，可以确认出是硬件设备还是普通文件，确定要</a:t>
            </a:r>
            <a:r>
              <a:rPr lang="zh-CN" altLang="en-US" sz="2800">
                <a:solidFill>
                  <a:srgbClr val="0066FF"/>
                </a:solidFill>
                <a:latin typeface="宋体" panose="02010600030101010101" pitchFamily="2" charset="-122"/>
              </a:rPr>
              <a:t>访问相应的设备</a:t>
            </a:r>
            <a:r>
              <a:rPr lang="zh-CN" altLang="en-US" sz="2800">
                <a:solidFill>
                  <a:srgbClr val="FF0000"/>
                </a:solidFill>
                <a:latin typeface="宋体" panose="02010600030101010101" pitchFamily="2" charset="-122"/>
              </a:rPr>
              <a:t>驱动程序</a:t>
            </a:r>
            <a:r>
              <a:rPr lang="zh-CN" altLang="en-US" sz="2800">
                <a:latin typeface="宋体" panose="02010600030101010101" pitchFamily="2" charset="-122"/>
              </a:rPr>
              <a:t>还是</a:t>
            </a:r>
            <a:r>
              <a:rPr lang="zh-CN" altLang="en-US" sz="2800">
                <a:solidFill>
                  <a:srgbClr val="FF0000"/>
                </a:solidFill>
                <a:latin typeface="宋体" panose="02010600030101010101" pitchFamily="2" charset="-122"/>
              </a:rPr>
              <a:t>文件</a:t>
            </a:r>
            <a:r>
              <a:rPr lang="zh-CN" altLang="en-US" sz="2800">
                <a:latin typeface="宋体" panose="02010600030101010101" pitchFamily="2" charset="-122"/>
              </a:rPr>
              <a:t>。</a:t>
            </a:r>
            <a:endParaRPr lang="en-US" altLang="zh-CN" sz="2800">
              <a:latin typeface="宋体" panose="02010600030101010101" pitchFamily="2" charset="-122"/>
            </a:endParaRPr>
          </a:p>
          <a:p>
            <a:pPr>
              <a:lnSpc>
                <a:spcPct val="100000"/>
              </a:lnSpc>
              <a:buFont typeface="Arial" panose="020B0604020202020204" pitchFamily="34" charset="0"/>
              <a:buChar char="•"/>
            </a:pPr>
            <a:r>
              <a:rPr lang="zh-CN" altLang="en-US" sz="2800">
                <a:latin typeface="宋体" panose="02010600030101010101" pitchFamily="2" charset="-122"/>
              </a:rPr>
              <a:t>设备文件在磁盘上只有一个索引节点，没有任何用于存放数据的块组。</a:t>
            </a:r>
          </a:p>
          <a:p>
            <a:pPr>
              <a:lnSpc>
                <a:spcPct val="100000"/>
              </a:lnSpc>
              <a:buFont typeface="Monotype Sorts" pitchFamily="2" charset="2"/>
              <a:buNone/>
            </a:pPr>
            <a:endParaRPr lang="zh-CN" altLang="en-US" sz="3200">
              <a:latin typeface="宋体" panose="02010600030101010101" pitchFamily="2" charset="-122"/>
            </a:endParaRPr>
          </a:p>
        </p:txBody>
      </p:sp>
      <p:sp>
        <p:nvSpPr>
          <p:cNvPr id="16" name="Rectangle 2"/>
          <p:cNvSpPr txBox="1">
            <a:spLocks noChangeArrowheads="1"/>
          </p:cNvSpPr>
          <p:nvPr/>
        </p:nvSpPr>
        <p:spPr>
          <a:xfrm>
            <a:off x="819150" y="44624"/>
            <a:ext cx="7772400" cy="844550"/>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r>
              <a:rPr lang="en-US" altLang="zh-CN" sz="3600" kern="0" dirty="0" smtClean="0">
                <a:latin typeface="Times New Roman" panose="02020603050405020304" pitchFamily="18" charset="0"/>
                <a:ea typeface="宋体" panose="02010600030101010101" pitchFamily="2" charset="-122"/>
                <a:cs typeface="Times New Roman" panose="02020603050405020304" pitchFamily="18" charset="0"/>
              </a:rPr>
              <a:t>8.1  Linux</a:t>
            </a:r>
            <a:r>
              <a:rPr lang="zh-CN" altLang="en-US" sz="3600" kern="0" dirty="0" smtClean="0">
                <a:latin typeface="Times New Roman" panose="02020603050405020304" pitchFamily="18" charset="0"/>
                <a:ea typeface="宋体" panose="02010600030101010101" pitchFamily="2" charset="-122"/>
                <a:cs typeface="Times New Roman" panose="02020603050405020304" pitchFamily="18" charset="0"/>
              </a:rPr>
              <a:t>设备管理概述</a:t>
            </a:r>
            <a:endParaRPr lang="zh-CN" altLang="en-US" kern="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663293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3247"/>
                                        </p:tgtEl>
                                        <p:attrNameLst>
                                          <p:attrName>style.visibility</p:attrName>
                                        </p:attrNameLst>
                                      </p:cBhvr>
                                      <p:to>
                                        <p:strVal val="visible"/>
                                      </p:to>
                                    </p:set>
                                    <p:animEffect transition="in" filter="blinds(horizontal)">
                                      <p:cBhvr>
                                        <p:cTn id="7" dur="500"/>
                                        <p:tgtEl>
                                          <p:spTgt spid="223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251520" y="1484784"/>
            <a:ext cx="8572500" cy="5100638"/>
          </a:xfrm>
        </p:spPr>
        <p:txBody>
          <a:bodyPr/>
          <a:lstStyle/>
          <a:p>
            <a:pPr marL="609600" indent="-609600">
              <a:lnSpc>
                <a:spcPct val="90000"/>
              </a:lnSpc>
              <a:spcBef>
                <a:spcPct val="0"/>
              </a:spcBef>
              <a:buFont typeface="Monotype Sorts" pitchFamily="2" charset="2"/>
              <a:buNone/>
              <a:defRPr/>
            </a:pPr>
            <a:r>
              <a:rPr lang="zh-CN" altLang="en-US" sz="3600" b="1" dirty="0" smtClean="0">
                <a:solidFill>
                  <a:srgbClr val="FF0000"/>
                </a:solidFill>
                <a:latin typeface="+mj-lt"/>
                <a:ea typeface="宋体" pitchFamily="2" charset="-122"/>
                <a:cs typeface="+mj-cs"/>
              </a:rPr>
              <a:t>设备文件</a:t>
            </a:r>
          </a:p>
          <a:p>
            <a:pPr>
              <a:lnSpc>
                <a:spcPct val="90000"/>
              </a:lnSpc>
              <a:buFont typeface="Arial" panose="020B0604020202020204" pitchFamily="34" charset="0"/>
              <a:buChar char="•"/>
              <a:defRPr/>
            </a:pPr>
            <a:r>
              <a:rPr lang="zh-CN" altLang="en-US" sz="2800" kern="1200" dirty="0" smtClean="0">
                <a:latin typeface="宋体" pitchFamily="2" charset="-122"/>
                <a:ea typeface="宋体" pitchFamily="2" charset="-122"/>
              </a:rPr>
              <a:t>设备类型</a:t>
            </a:r>
          </a:p>
          <a:p>
            <a:pPr marL="0" indent="0">
              <a:lnSpc>
                <a:spcPct val="90000"/>
              </a:lnSpc>
              <a:buNone/>
              <a:defRPr/>
            </a:pPr>
            <a:r>
              <a:rPr lang="zh-CN" altLang="en-US" kern="1200" dirty="0">
                <a:latin typeface="宋体" pitchFamily="2" charset="-122"/>
                <a:ea typeface="宋体" pitchFamily="2" charset="-122"/>
              </a:rPr>
              <a:t> </a:t>
            </a:r>
            <a:r>
              <a:rPr lang="zh-CN" altLang="en-US" kern="1200" dirty="0" smtClean="0">
                <a:latin typeface="宋体" pitchFamily="2" charset="-122"/>
                <a:ea typeface="宋体" pitchFamily="2" charset="-122"/>
              </a:rPr>
              <a:t> </a:t>
            </a:r>
            <a:r>
              <a:rPr lang="en-US" altLang="zh-CN" sz="2800" kern="1200" dirty="0" smtClean="0">
                <a:latin typeface="宋体" pitchFamily="2" charset="-122"/>
                <a:ea typeface="宋体" pitchFamily="2" charset="-122"/>
              </a:rPr>
              <a:t>[root@ </a:t>
            </a:r>
            <a:r>
              <a:rPr lang="en-US" altLang="zh-CN" sz="2800" kern="1200" dirty="0" err="1" smtClean="0">
                <a:latin typeface="宋体" pitchFamily="2" charset="-122"/>
                <a:ea typeface="宋体" pitchFamily="2" charset="-122"/>
              </a:rPr>
              <a:t>edu</a:t>
            </a:r>
            <a:r>
              <a:rPr lang="en-US" altLang="zh-CN" sz="2800" kern="1200" dirty="0" smtClean="0">
                <a:latin typeface="宋体" pitchFamily="2" charset="-122"/>
                <a:ea typeface="宋体" pitchFamily="2" charset="-122"/>
              </a:rPr>
              <a:t>]# more /proc/devices</a:t>
            </a:r>
          </a:p>
          <a:p>
            <a:pPr>
              <a:lnSpc>
                <a:spcPct val="90000"/>
              </a:lnSpc>
              <a:buFont typeface="Arial" panose="020B0604020202020204" pitchFamily="34" charset="0"/>
              <a:buChar char="•"/>
              <a:defRPr/>
            </a:pPr>
            <a:r>
              <a:rPr lang="zh-CN" altLang="en-US" sz="2800" kern="1200" dirty="0" smtClean="0">
                <a:latin typeface="宋体" pitchFamily="2" charset="-122"/>
                <a:ea typeface="宋体" pitchFamily="2" charset="-122"/>
              </a:rPr>
              <a:t>主设备号与次设备号</a:t>
            </a:r>
            <a:endParaRPr lang="en-US" altLang="zh-CN" kern="1200" dirty="0">
              <a:latin typeface="宋体" pitchFamily="2" charset="-122"/>
              <a:ea typeface="宋体" pitchFamily="2" charset="-122"/>
            </a:endParaRPr>
          </a:p>
          <a:p>
            <a:pPr marL="0" indent="0">
              <a:lnSpc>
                <a:spcPct val="90000"/>
              </a:lnSpc>
              <a:buNone/>
              <a:defRPr/>
            </a:pPr>
            <a:r>
              <a:rPr lang="zh-CN" altLang="en-US" sz="2800" kern="1200" dirty="0" smtClean="0">
                <a:latin typeface="宋体" pitchFamily="2" charset="-122"/>
                <a:ea typeface="宋体" pitchFamily="2" charset="-122"/>
              </a:rPr>
              <a:t>  </a:t>
            </a:r>
            <a:r>
              <a:rPr lang="en-US" altLang="zh-CN" sz="2800" kern="1200" dirty="0" smtClean="0">
                <a:latin typeface="宋体" pitchFamily="2" charset="-122"/>
                <a:ea typeface="宋体" pitchFamily="2" charset="-122"/>
              </a:rPr>
              <a:t>[root@ </a:t>
            </a:r>
            <a:r>
              <a:rPr lang="en-US" altLang="zh-CN" sz="2800" kern="1200" dirty="0" err="1" smtClean="0">
                <a:latin typeface="宋体" pitchFamily="2" charset="-122"/>
                <a:ea typeface="宋体" pitchFamily="2" charset="-122"/>
              </a:rPr>
              <a:t>edu</a:t>
            </a:r>
            <a:r>
              <a:rPr lang="en-US" altLang="zh-CN" sz="2800" kern="1200" dirty="0" smtClean="0">
                <a:latin typeface="宋体" pitchFamily="2" charset="-122"/>
                <a:ea typeface="宋体" pitchFamily="2" charset="-122"/>
              </a:rPr>
              <a:t>/proc]#</a:t>
            </a:r>
            <a:r>
              <a:rPr lang="en-US" altLang="zh-CN" sz="2800" kern="1200" dirty="0" err="1" smtClean="0">
                <a:latin typeface="宋体" pitchFamily="2" charset="-122"/>
                <a:ea typeface="宋体" pitchFamily="2" charset="-122"/>
              </a:rPr>
              <a:t>ls</a:t>
            </a:r>
            <a:r>
              <a:rPr lang="en-US" altLang="zh-CN" sz="2800" kern="1200" dirty="0" smtClean="0">
                <a:latin typeface="宋体" pitchFamily="2" charset="-122"/>
                <a:ea typeface="宋体" pitchFamily="2" charset="-122"/>
              </a:rPr>
              <a:t> -1 /dev/had*</a:t>
            </a:r>
          </a:p>
          <a:p>
            <a:pPr>
              <a:lnSpc>
                <a:spcPct val="90000"/>
              </a:lnSpc>
              <a:buFont typeface="Arial" panose="020B0604020202020204" pitchFamily="34" charset="0"/>
              <a:buChar char="•"/>
              <a:defRPr/>
            </a:pPr>
            <a:r>
              <a:rPr lang="zh-CN" altLang="en-US" sz="2800" kern="1200" dirty="0" smtClean="0">
                <a:latin typeface="宋体" pitchFamily="2" charset="-122"/>
                <a:ea typeface="宋体" pitchFamily="2" charset="-122"/>
              </a:rPr>
              <a:t>设备文件</a:t>
            </a:r>
          </a:p>
          <a:p>
            <a:pPr marL="1009650" lvl="1" indent="-609600">
              <a:lnSpc>
                <a:spcPct val="90000"/>
              </a:lnSpc>
              <a:defRPr/>
            </a:pPr>
            <a:r>
              <a:rPr lang="zh-CN" altLang="en-US" kern="1200" dirty="0" smtClean="0">
                <a:latin typeface="宋体" pitchFamily="2" charset="-122"/>
                <a:ea typeface="宋体" pitchFamily="2" charset="-122"/>
              </a:rPr>
              <a:t>在与设备驱动程序通信时，内核常常使用设备类型、主设备号和次设备号来标识一个具体的设备。 </a:t>
            </a:r>
          </a:p>
          <a:p>
            <a:pPr marL="1009650" lvl="1" indent="-609600">
              <a:lnSpc>
                <a:spcPct val="90000"/>
              </a:lnSpc>
              <a:defRPr/>
            </a:pPr>
            <a:r>
              <a:rPr lang="en-US" altLang="zh-CN" kern="1200" dirty="0" smtClean="0">
                <a:latin typeface="宋体" pitchFamily="2" charset="-122"/>
                <a:ea typeface="宋体" pitchFamily="2" charset="-122"/>
              </a:rPr>
              <a:t>Linux</a:t>
            </a:r>
            <a:r>
              <a:rPr lang="zh-CN" altLang="en-US" kern="1200" dirty="0" smtClean="0">
                <a:latin typeface="宋体" pitchFamily="2" charset="-122"/>
                <a:ea typeface="宋体" pitchFamily="2" charset="-122"/>
              </a:rPr>
              <a:t>将设备文件放在目录</a:t>
            </a:r>
            <a:r>
              <a:rPr lang="en-US" altLang="zh-CN" kern="1200" dirty="0" smtClean="0">
                <a:latin typeface="宋体" pitchFamily="2" charset="-122"/>
                <a:ea typeface="宋体" pitchFamily="2" charset="-122"/>
              </a:rPr>
              <a:t>/dev</a:t>
            </a:r>
            <a:r>
              <a:rPr lang="zh-CN" altLang="en-US" kern="1200" dirty="0" smtClean="0">
                <a:latin typeface="宋体" pitchFamily="2" charset="-122"/>
                <a:ea typeface="宋体" pitchFamily="2" charset="-122"/>
              </a:rPr>
              <a:t>或其子目录下 </a:t>
            </a:r>
          </a:p>
        </p:txBody>
      </p:sp>
      <p:sp>
        <p:nvSpPr>
          <p:cNvPr id="11267" name="Rectangle 2"/>
          <p:cNvSpPr>
            <a:spLocks noGrp="1" noChangeArrowheads="1"/>
          </p:cNvSpPr>
          <p:nvPr>
            <p:ph type="title"/>
          </p:nvPr>
        </p:nvSpPr>
        <p:spPr>
          <a:xfrm>
            <a:off x="742950" y="25121"/>
            <a:ext cx="7772400" cy="844550"/>
          </a:xfrm>
        </p:spPr>
        <p:txBody>
          <a:bodyPr/>
          <a:lstStyle/>
          <a:p>
            <a:r>
              <a:rPr lang="en-US" altLang="zh-CN" sz="3600" dirty="0" smtClean="0">
                <a:latin typeface="Times New Roman" panose="02020603050405020304" pitchFamily="18" charset="0"/>
                <a:ea typeface="宋体" panose="02010600030101010101" pitchFamily="2" charset="-122"/>
                <a:cs typeface="Times New Roman" panose="02020603050405020304" pitchFamily="18" charset="0"/>
              </a:rPr>
              <a:t>8.1  Linux</a:t>
            </a:r>
            <a:r>
              <a:rPr lang="zh-CN" altLang="en-US" sz="3600" dirty="0" smtClean="0">
                <a:latin typeface="Times New Roman" panose="02020603050405020304" pitchFamily="18" charset="0"/>
                <a:ea typeface="宋体" panose="02010600030101010101" pitchFamily="2" charset="-122"/>
                <a:cs typeface="Times New Roman" panose="02020603050405020304" pitchFamily="18" charset="0"/>
              </a:rPr>
              <a:t>设备管理概述</a:t>
            </a:r>
            <a:endParaRPr lang="zh-CN" altLang="en-US"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3683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4"/>
          <p:cNvSpPr>
            <a:spLocks noGrp="1"/>
          </p:cNvSpPr>
          <p:nvPr>
            <p:ph type="sldNum" sz="quarter" idx="4294967295"/>
          </p:nvPr>
        </p:nvSpPr>
        <p:spPr bwMode="auto">
          <a:xfrm>
            <a:off x="65532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nSpc>
                <a:spcPct val="90000"/>
              </a:lnSpc>
              <a:spcBef>
                <a:spcPct val="0"/>
              </a:spcBef>
              <a:buClrTx/>
              <a:buSzTx/>
              <a:buFontTx/>
              <a:buNone/>
            </a:pPr>
            <a:fld id="{FD90329A-B97E-4F62-A75B-E6B6DFA68E3E}" type="slidenum">
              <a:rPr lang="zh-CN" altLang="en-US" sz="2400">
                <a:latin typeface="宋体" panose="02010600030101010101" pitchFamily="2" charset="-122"/>
              </a:rPr>
              <a:pPr>
                <a:lnSpc>
                  <a:spcPct val="90000"/>
                </a:lnSpc>
                <a:spcBef>
                  <a:spcPct val="0"/>
                </a:spcBef>
                <a:buClrTx/>
                <a:buSzTx/>
                <a:buFontTx/>
                <a:buNone/>
              </a:pPr>
              <a:t>6</a:t>
            </a:fld>
            <a:endParaRPr lang="en-US" altLang="zh-CN" sz="2400">
              <a:latin typeface="宋体" panose="02010600030101010101" pitchFamily="2" charset="-122"/>
            </a:endParaRPr>
          </a:p>
        </p:txBody>
      </p:sp>
      <p:sp>
        <p:nvSpPr>
          <p:cNvPr id="10244" name="Rectangle 3"/>
          <p:cNvSpPr>
            <a:spLocks noGrp="1" noChangeArrowheads="1"/>
          </p:cNvSpPr>
          <p:nvPr>
            <p:ph type="body" idx="1"/>
          </p:nvPr>
        </p:nvSpPr>
        <p:spPr>
          <a:xfrm>
            <a:off x="457200" y="1412776"/>
            <a:ext cx="8229600" cy="4695825"/>
          </a:xfrm>
        </p:spPr>
        <p:txBody>
          <a:bodyPr/>
          <a:lstStyle/>
          <a:p>
            <a:pPr marL="0" indent="0">
              <a:lnSpc>
                <a:spcPct val="90000"/>
              </a:lnSpc>
              <a:buFont typeface="Monotype Sorts" pitchFamily="2" charset="2"/>
              <a:buNone/>
              <a:defRPr/>
            </a:pPr>
            <a:r>
              <a:rPr lang="zh-CN" altLang="en-US" sz="2800" b="1" dirty="0">
                <a:solidFill>
                  <a:srgbClr val="FF0000"/>
                </a:solidFill>
                <a:ea typeface="宋体" pitchFamily="2" charset="-122"/>
              </a:rPr>
              <a:t>设备文件</a:t>
            </a:r>
          </a:p>
          <a:p>
            <a:pPr>
              <a:lnSpc>
                <a:spcPct val="90000"/>
              </a:lnSpc>
              <a:defRPr/>
            </a:pPr>
            <a:r>
              <a:rPr lang="en-US" altLang="zh-CN" sz="2800" dirty="0" smtClean="0">
                <a:ea typeface="宋体" panose="02010600030101010101" pitchFamily="2" charset="-122"/>
              </a:rPr>
              <a:t>Linux</a:t>
            </a:r>
            <a:r>
              <a:rPr lang="zh-CN" altLang="en-US" sz="2800" dirty="0" smtClean="0">
                <a:ea typeface="宋体" panose="02010600030101010101" pitchFamily="2" charset="-122"/>
              </a:rPr>
              <a:t>使用设备文件来统一对设备的访问接口，将设备文件放在</a:t>
            </a:r>
            <a:r>
              <a:rPr lang="en-US" altLang="zh-CN" sz="2800" dirty="0" smtClean="0">
                <a:ea typeface="宋体" panose="02010600030101010101" pitchFamily="2" charset="-122"/>
              </a:rPr>
              <a:t>/dev/</a:t>
            </a:r>
            <a:r>
              <a:rPr lang="zh-CN" altLang="en-US" sz="2800" dirty="0" smtClean="0">
                <a:ea typeface="宋体" panose="02010600030101010101" pitchFamily="2" charset="-122"/>
              </a:rPr>
              <a:t>目录下</a:t>
            </a:r>
          </a:p>
          <a:p>
            <a:pPr>
              <a:lnSpc>
                <a:spcPct val="90000"/>
              </a:lnSpc>
              <a:defRPr/>
            </a:pPr>
            <a:r>
              <a:rPr lang="zh-CN" altLang="en-US" sz="2800" dirty="0" smtClean="0">
                <a:ea typeface="宋体" panose="02010600030101010101" pitchFamily="2" charset="-122"/>
              </a:rPr>
              <a:t>设备的命名一般为设备文件名</a:t>
            </a:r>
            <a:r>
              <a:rPr lang="en-US" altLang="zh-CN" sz="2800" dirty="0" smtClean="0">
                <a:ea typeface="宋体" panose="02010600030101010101" pitchFamily="2" charset="-122"/>
              </a:rPr>
              <a:t>+</a:t>
            </a:r>
            <a:r>
              <a:rPr lang="zh-CN" altLang="en-US" sz="2800" dirty="0" smtClean="0">
                <a:ea typeface="宋体" panose="02010600030101010101" pitchFamily="2" charset="-122"/>
              </a:rPr>
              <a:t>数字或者字母表示的子类，例如</a:t>
            </a:r>
            <a:r>
              <a:rPr lang="en-US" altLang="zh-CN" sz="2800" dirty="0" smtClean="0">
                <a:ea typeface="宋体" panose="02010600030101010101" pitchFamily="2" charset="-122"/>
              </a:rPr>
              <a:t>/dev/hda1, /dev/hda2</a:t>
            </a:r>
            <a:r>
              <a:rPr lang="zh-CN" altLang="en-US" sz="2800" dirty="0" smtClean="0">
                <a:ea typeface="宋体" panose="02010600030101010101" pitchFamily="2" charset="-122"/>
              </a:rPr>
              <a:t>等</a:t>
            </a:r>
            <a:r>
              <a:rPr lang="en-US" altLang="zh-CN" sz="2800" dirty="0" smtClean="0">
                <a:ea typeface="宋体" panose="02010600030101010101" pitchFamily="2" charset="-122"/>
              </a:rPr>
              <a:t>, </a:t>
            </a:r>
            <a:r>
              <a:rPr lang="zh-CN" altLang="en-US" sz="2800" dirty="0" smtClean="0">
                <a:ea typeface="宋体" panose="02010600030101010101" pitchFamily="2" charset="-122"/>
              </a:rPr>
              <a:t>/</a:t>
            </a:r>
            <a:r>
              <a:rPr lang="en-US" altLang="zh-CN" sz="2800" dirty="0" smtClean="0">
                <a:ea typeface="宋体" panose="02010600030101010101" pitchFamily="2" charset="-122"/>
              </a:rPr>
              <a:t>dev/</a:t>
            </a:r>
            <a:r>
              <a:rPr lang="en-US" altLang="zh-CN" sz="2800" dirty="0" err="1" smtClean="0">
                <a:ea typeface="宋体" panose="02010600030101010101" pitchFamily="2" charset="-122"/>
              </a:rPr>
              <a:t>hda</a:t>
            </a:r>
            <a:r>
              <a:rPr lang="en-US" altLang="zh-CN" sz="2800" dirty="0" smtClean="0">
                <a:ea typeface="宋体" panose="02010600030101010101" pitchFamily="2" charset="-122"/>
              </a:rPr>
              <a:t> </a:t>
            </a:r>
            <a:r>
              <a:rPr lang="zh-CN" altLang="en-US" sz="2800" dirty="0" smtClean="0">
                <a:ea typeface="宋体" panose="02010600030101010101" pitchFamily="2" charset="-122"/>
              </a:rPr>
              <a:t>代表系统中的第一个</a:t>
            </a:r>
            <a:r>
              <a:rPr lang="en-US" altLang="zh-CN" sz="2800" dirty="0" smtClean="0">
                <a:ea typeface="宋体" panose="02010600030101010101" pitchFamily="2" charset="-122"/>
              </a:rPr>
              <a:t>IDE </a:t>
            </a:r>
            <a:r>
              <a:rPr lang="zh-CN" altLang="en-US" sz="2800" dirty="0" smtClean="0">
                <a:ea typeface="宋体" panose="02010600030101010101" pitchFamily="2" charset="-122"/>
              </a:rPr>
              <a:t>硬盘， /</a:t>
            </a:r>
            <a:r>
              <a:rPr lang="en-US" altLang="zh-CN" sz="2800" dirty="0" smtClean="0">
                <a:ea typeface="宋体" panose="02010600030101010101" pitchFamily="2" charset="-122"/>
              </a:rPr>
              <a:t>dev/</a:t>
            </a:r>
            <a:r>
              <a:rPr lang="en-US" altLang="zh-CN" sz="2800" dirty="0" err="1" smtClean="0">
                <a:ea typeface="宋体" panose="02010600030101010101" pitchFamily="2" charset="-122"/>
              </a:rPr>
              <a:t>hdb</a:t>
            </a:r>
            <a:r>
              <a:rPr lang="en-US" altLang="zh-CN" sz="2800" dirty="0" smtClean="0">
                <a:ea typeface="宋体" panose="02010600030101010101" pitchFamily="2" charset="-122"/>
              </a:rPr>
              <a:t> </a:t>
            </a:r>
            <a:r>
              <a:rPr lang="zh-CN" altLang="en-US" sz="2800" dirty="0" smtClean="0">
                <a:ea typeface="宋体" panose="02010600030101010101" pitchFamily="2" charset="-122"/>
              </a:rPr>
              <a:t>代表系统中的第二个 </a:t>
            </a:r>
            <a:r>
              <a:rPr lang="en-US" altLang="zh-CN" sz="2800" dirty="0" smtClean="0">
                <a:ea typeface="宋体" panose="02010600030101010101" pitchFamily="2" charset="-122"/>
              </a:rPr>
              <a:t>IDE </a:t>
            </a:r>
            <a:r>
              <a:rPr lang="zh-CN" altLang="en-US" sz="2800" dirty="0" smtClean="0">
                <a:ea typeface="宋体" panose="02010600030101010101" pitchFamily="2" charset="-122"/>
              </a:rPr>
              <a:t>硬盘； </a:t>
            </a:r>
            <a:r>
              <a:rPr lang="en-US" altLang="zh-CN" sz="2800" dirty="0" smtClean="0">
                <a:ea typeface="宋体" panose="02010600030101010101" pitchFamily="2" charset="-122"/>
              </a:rPr>
              <a:t>hda1</a:t>
            </a:r>
            <a:r>
              <a:rPr lang="zh-CN" altLang="en-US" sz="2800" dirty="0" smtClean="0">
                <a:ea typeface="宋体" panose="02010600030101010101" pitchFamily="2" charset="-122"/>
              </a:rPr>
              <a:t>代表第1个分区， </a:t>
            </a:r>
            <a:r>
              <a:rPr lang="en-US" altLang="zh-CN" sz="2800" dirty="0" smtClean="0">
                <a:ea typeface="宋体" panose="02010600030101010101" pitchFamily="2" charset="-122"/>
              </a:rPr>
              <a:t>hda2</a:t>
            </a:r>
            <a:r>
              <a:rPr lang="zh-CN" altLang="en-US" sz="2800" dirty="0" smtClean="0">
                <a:ea typeface="宋体" panose="02010600030101010101" pitchFamily="2" charset="-122"/>
              </a:rPr>
              <a:t>代表第2个分区 </a:t>
            </a:r>
          </a:p>
          <a:p>
            <a:pPr>
              <a:defRPr/>
            </a:pPr>
            <a:r>
              <a:rPr lang="zh-CN" altLang="en-US" sz="2800" dirty="0" smtClean="0">
                <a:latin typeface="宋体" panose="02010600030101010101" pitchFamily="2" charset="-122"/>
                <a:ea typeface="宋体" panose="02010600030101010101" pitchFamily="2" charset="-122"/>
              </a:rPr>
              <a:t>用于用户访问设备进行输入和输出操作</a:t>
            </a:r>
            <a:r>
              <a:rPr lang="zh-CN" altLang="en-US" sz="2800" dirty="0" smtClean="0">
                <a:ea typeface="宋体" panose="02010600030101010101" pitchFamily="2" charset="-122"/>
              </a:rPr>
              <a:t>。应用程序可以打开、关闭和读写这些设备文件，完成对设备的操作，就像操作普通的数据文件一样。</a:t>
            </a:r>
            <a:endParaRPr lang="en-US" altLang="zh-CN" sz="2800" dirty="0" smtClean="0">
              <a:ea typeface="宋体" panose="02010600030101010101" pitchFamily="2" charset="-122"/>
            </a:endParaRPr>
          </a:p>
          <a:p>
            <a:pPr lvl="1">
              <a:defRPr/>
            </a:pPr>
            <a:endParaRPr lang="zh-CN" altLang="en-US" sz="3600" dirty="0" smtClean="0">
              <a:latin typeface="宋体" panose="02010600030101010101" pitchFamily="2" charset="-122"/>
              <a:ea typeface="宋体" panose="02010600030101010101" pitchFamily="2" charset="-122"/>
            </a:endParaRPr>
          </a:p>
        </p:txBody>
      </p:sp>
      <p:sp>
        <p:nvSpPr>
          <p:cNvPr id="6" name="Rectangle 2"/>
          <p:cNvSpPr>
            <a:spLocks noGrp="1" noChangeArrowheads="1"/>
          </p:cNvSpPr>
          <p:nvPr>
            <p:ph type="title"/>
          </p:nvPr>
        </p:nvSpPr>
        <p:spPr>
          <a:xfrm>
            <a:off x="819150" y="44624"/>
            <a:ext cx="7772400" cy="844550"/>
          </a:xfrm>
        </p:spPr>
        <p:txBody>
          <a:bodyPr/>
          <a:lstStyle/>
          <a:p>
            <a:r>
              <a:rPr lang="en-US" altLang="zh-CN" sz="3600" dirty="0" smtClean="0">
                <a:latin typeface="Times New Roman" panose="02020603050405020304" pitchFamily="18" charset="0"/>
                <a:ea typeface="宋体" panose="02010600030101010101" pitchFamily="2" charset="-122"/>
                <a:cs typeface="Times New Roman" panose="02020603050405020304" pitchFamily="18" charset="0"/>
              </a:rPr>
              <a:t>8.1  Linux</a:t>
            </a:r>
            <a:r>
              <a:rPr lang="zh-CN" altLang="en-US" sz="3600" dirty="0" smtClean="0">
                <a:latin typeface="Times New Roman" panose="02020603050405020304" pitchFamily="18" charset="0"/>
                <a:ea typeface="宋体" panose="02010600030101010101" pitchFamily="2" charset="-122"/>
                <a:cs typeface="Times New Roman" panose="02020603050405020304" pitchFamily="18" charset="0"/>
              </a:rPr>
              <a:t>设备管理概述</a:t>
            </a:r>
            <a:endParaRPr lang="zh-CN" altLang="en-US"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326060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4"/>
          <p:cNvSpPr>
            <a:spLocks noGrp="1"/>
          </p:cNvSpPr>
          <p:nvPr>
            <p:ph type="sldNum" sz="quarter" idx="4294967295"/>
          </p:nvPr>
        </p:nvSpPr>
        <p:spPr bwMode="auto">
          <a:xfrm>
            <a:off x="65532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nSpc>
                <a:spcPct val="90000"/>
              </a:lnSpc>
              <a:spcBef>
                <a:spcPct val="0"/>
              </a:spcBef>
              <a:buClrTx/>
              <a:buSzTx/>
              <a:buFontTx/>
              <a:buNone/>
            </a:pPr>
            <a:fld id="{659C5D65-CC9F-497D-AC43-E36C651B8F90}" type="slidenum">
              <a:rPr lang="zh-CN" altLang="en-US" sz="2400">
                <a:latin typeface="宋体" panose="02010600030101010101" pitchFamily="2" charset="-122"/>
              </a:rPr>
              <a:pPr>
                <a:lnSpc>
                  <a:spcPct val="90000"/>
                </a:lnSpc>
                <a:spcBef>
                  <a:spcPct val="0"/>
                </a:spcBef>
                <a:buClrTx/>
                <a:buSzTx/>
                <a:buFontTx/>
                <a:buNone/>
              </a:pPr>
              <a:t>7</a:t>
            </a:fld>
            <a:endParaRPr lang="en-US" altLang="zh-CN" sz="2400">
              <a:latin typeface="宋体" panose="02010600030101010101" pitchFamily="2" charset="-122"/>
            </a:endParaRPr>
          </a:p>
        </p:txBody>
      </p:sp>
      <p:sp>
        <p:nvSpPr>
          <p:cNvPr id="13315" name="Rectangle 3"/>
          <p:cNvSpPr>
            <a:spLocks noGrp="1" noChangeArrowheads="1"/>
          </p:cNvSpPr>
          <p:nvPr>
            <p:ph type="body" idx="1"/>
          </p:nvPr>
        </p:nvSpPr>
        <p:spPr>
          <a:xfrm>
            <a:off x="347663" y="1000125"/>
            <a:ext cx="8475662" cy="5100638"/>
          </a:xfrm>
        </p:spPr>
        <p:txBody>
          <a:bodyPr/>
          <a:lstStyle/>
          <a:p>
            <a:r>
              <a:rPr lang="zh-CN" altLang="en-US" sz="2300" b="1" smtClean="0">
                <a:ea typeface="宋体" panose="02010600030101010101" pitchFamily="2" charset="-122"/>
              </a:rPr>
              <a:t>常见的设备文件</a:t>
            </a:r>
            <a:endParaRPr lang="zh-CN" altLang="en-US" sz="2300" smtClean="0">
              <a:ea typeface="宋体" panose="02010600030101010101" pitchFamily="2" charset="-122"/>
            </a:endParaRPr>
          </a:p>
          <a:p>
            <a:pPr lvl="1"/>
            <a:r>
              <a:rPr lang="en-US" altLang="zh-CN" sz="2300" smtClean="0">
                <a:ea typeface="宋体" panose="02010600030101010101" pitchFamily="2" charset="-122"/>
              </a:rPr>
              <a:t>/dev/hd*   IDE</a:t>
            </a:r>
            <a:r>
              <a:rPr lang="zh-CN" altLang="en-US" sz="2300" smtClean="0">
                <a:ea typeface="宋体" panose="02010600030101010101" pitchFamily="2" charset="-122"/>
              </a:rPr>
              <a:t>接口的硬盘</a:t>
            </a:r>
            <a:r>
              <a:rPr lang="en-US" altLang="zh-CN" sz="2300" smtClean="0">
                <a:ea typeface="宋体" panose="02010600030101010101" pitchFamily="2" charset="-122"/>
              </a:rPr>
              <a:t>(IDE</a:t>
            </a:r>
            <a:r>
              <a:rPr lang="zh-CN" altLang="en-US" sz="2300" smtClean="0">
                <a:ea typeface="宋体" panose="02010600030101010101" pitchFamily="2" charset="-122"/>
              </a:rPr>
              <a:t>接口的设备</a:t>
            </a:r>
            <a:r>
              <a:rPr lang="en-US" altLang="zh-CN" sz="2300" smtClean="0">
                <a:ea typeface="宋体" panose="02010600030101010101" pitchFamily="2" charset="-122"/>
              </a:rPr>
              <a:t>)</a:t>
            </a:r>
          </a:p>
          <a:p>
            <a:pPr lvl="1"/>
            <a:r>
              <a:rPr lang="en-US" altLang="zh-CN" sz="2300" smtClean="0">
                <a:ea typeface="宋体" panose="02010600030101010101" pitchFamily="2" charset="-122"/>
              </a:rPr>
              <a:t>/dev/sd*   SCSI/USB</a:t>
            </a:r>
            <a:r>
              <a:rPr lang="zh-CN" altLang="en-US" sz="2300" smtClean="0">
                <a:ea typeface="宋体" panose="02010600030101010101" pitchFamily="2" charset="-122"/>
              </a:rPr>
              <a:t>设备</a:t>
            </a:r>
          </a:p>
          <a:p>
            <a:pPr lvl="1"/>
            <a:r>
              <a:rPr lang="en-US" altLang="zh-CN" sz="2300" smtClean="0">
                <a:ea typeface="宋体" panose="02010600030101010101" pitchFamily="2" charset="-122"/>
              </a:rPr>
              <a:t>/dev/cua*  </a:t>
            </a:r>
            <a:r>
              <a:rPr lang="zh-CN" altLang="en-US" sz="2300" smtClean="0">
                <a:ea typeface="宋体" panose="02010600030101010101" pitchFamily="2" charset="-122"/>
              </a:rPr>
              <a:t>串口设备</a:t>
            </a:r>
          </a:p>
          <a:p>
            <a:pPr lvl="1"/>
            <a:r>
              <a:rPr lang="en-US" altLang="zh-CN" sz="2300" smtClean="0">
                <a:ea typeface="宋体" panose="02010600030101010101" pitchFamily="2" charset="-122"/>
              </a:rPr>
              <a:t>/dev/lp*   </a:t>
            </a:r>
            <a:r>
              <a:rPr lang="zh-CN" altLang="en-US" sz="2300" smtClean="0">
                <a:ea typeface="宋体" panose="02010600030101010101" pitchFamily="2" charset="-122"/>
              </a:rPr>
              <a:t>并口设备</a:t>
            </a:r>
          </a:p>
          <a:p>
            <a:pPr lvl="1"/>
            <a:r>
              <a:rPr lang="en-US" altLang="zh-CN" sz="2300" smtClean="0">
                <a:ea typeface="宋体" panose="02010600030101010101" pitchFamily="2" charset="-122"/>
              </a:rPr>
              <a:t>/dev/tty*  </a:t>
            </a:r>
            <a:r>
              <a:rPr lang="zh-CN" altLang="en-US" sz="2300" smtClean="0">
                <a:ea typeface="宋体" panose="02010600030101010101" pitchFamily="2" charset="-122"/>
              </a:rPr>
              <a:t>终端设备</a:t>
            </a:r>
          </a:p>
          <a:p>
            <a:pPr lvl="1">
              <a:lnSpc>
                <a:spcPct val="90000"/>
              </a:lnSpc>
            </a:pPr>
            <a:r>
              <a:rPr lang="en-US" altLang="zh-CN" sz="2300" smtClean="0">
                <a:ea typeface="宋体" panose="02010600030101010101" pitchFamily="2" charset="-122"/>
              </a:rPr>
              <a:t>/dev/consol </a:t>
            </a:r>
            <a:r>
              <a:rPr lang="zh-CN" altLang="en-US" sz="2300" smtClean="0">
                <a:ea typeface="宋体" panose="02010600030101010101" pitchFamily="2" charset="-122"/>
              </a:rPr>
              <a:t>控制台设备</a:t>
            </a:r>
          </a:p>
          <a:p>
            <a:pPr lvl="1">
              <a:lnSpc>
                <a:spcPct val="90000"/>
              </a:lnSpc>
            </a:pPr>
            <a:r>
              <a:rPr lang="en-US" altLang="zh-CN" sz="2300" smtClean="0">
                <a:ea typeface="宋体" panose="02010600030101010101" pitchFamily="2" charset="-122"/>
              </a:rPr>
              <a:t>/dev/eth*  </a:t>
            </a:r>
            <a:r>
              <a:rPr lang="zh-CN" altLang="en-US" sz="2300" smtClean="0">
                <a:ea typeface="宋体" panose="02010600030101010101" pitchFamily="2" charset="-122"/>
              </a:rPr>
              <a:t>以太网设备</a:t>
            </a:r>
          </a:p>
          <a:p>
            <a:pPr lvl="1">
              <a:lnSpc>
                <a:spcPct val="90000"/>
              </a:lnSpc>
            </a:pPr>
            <a:r>
              <a:rPr lang="en-US" altLang="zh-CN" sz="2300" smtClean="0">
                <a:ea typeface="宋体" panose="02010600030101010101" pitchFamily="2" charset="-122"/>
              </a:rPr>
              <a:t>/dev/cdrom  IDE</a:t>
            </a:r>
            <a:r>
              <a:rPr lang="zh-CN" altLang="en-US" sz="2300" smtClean="0">
                <a:ea typeface="宋体" panose="02010600030101010101" pitchFamily="2" charset="-122"/>
              </a:rPr>
              <a:t>光驱</a:t>
            </a:r>
          </a:p>
          <a:p>
            <a:pPr lvl="1">
              <a:lnSpc>
                <a:spcPct val="90000"/>
              </a:lnSpc>
            </a:pPr>
            <a:r>
              <a:rPr lang="en-US" altLang="zh-CN" sz="2300" smtClean="0">
                <a:ea typeface="宋体" panose="02010600030101010101" pitchFamily="2" charset="-122"/>
              </a:rPr>
              <a:t>/dev/fd*   </a:t>
            </a:r>
            <a:r>
              <a:rPr lang="zh-CN" altLang="en-US" sz="2300" smtClean="0">
                <a:ea typeface="宋体" panose="02010600030101010101" pitchFamily="2" charset="-122"/>
              </a:rPr>
              <a:t>软驱</a:t>
            </a:r>
          </a:p>
          <a:p>
            <a:pPr lvl="1">
              <a:lnSpc>
                <a:spcPct val="90000"/>
              </a:lnSpc>
            </a:pPr>
            <a:r>
              <a:rPr lang="en-US" altLang="zh-CN" sz="2300" smtClean="0">
                <a:ea typeface="宋体" panose="02010600030101010101" pitchFamily="2" charset="-122"/>
              </a:rPr>
              <a:t>/dev/audio </a:t>
            </a:r>
            <a:r>
              <a:rPr lang="zh-CN" altLang="en-US" sz="2300" smtClean="0">
                <a:ea typeface="宋体" panose="02010600030101010101" pitchFamily="2" charset="-122"/>
              </a:rPr>
              <a:t>音频设备</a:t>
            </a:r>
          </a:p>
          <a:p>
            <a:pPr lvl="1">
              <a:lnSpc>
                <a:spcPct val="90000"/>
              </a:lnSpc>
            </a:pPr>
            <a:r>
              <a:rPr lang="en-US" altLang="zh-CN" sz="2300" smtClean="0">
                <a:ea typeface="宋体" panose="02010600030101010101" pitchFamily="2" charset="-122"/>
              </a:rPr>
              <a:t>/dev/scd   SCSI</a:t>
            </a:r>
            <a:r>
              <a:rPr lang="zh-CN" altLang="en-US" sz="2300" smtClean="0">
                <a:ea typeface="宋体" panose="02010600030101010101" pitchFamily="2" charset="-122"/>
              </a:rPr>
              <a:t>的光驱</a:t>
            </a:r>
          </a:p>
          <a:p>
            <a:pPr lvl="1">
              <a:lnSpc>
                <a:spcPct val="90000"/>
              </a:lnSpc>
            </a:pPr>
            <a:r>
              <a:rPr lang="en-US" altLang="zh-CN" sz="2300" smtClean="0">
                <a:ea typeface="宋体" panose="02010600030101010101" pitchFamily="2" charset="-122"/>
              </a:rPr>
              <a:t>/dev/ppp   PPP</a:t>
            </a:r>
            <a:r>
              <a:rPr lang="zh-CN" altLang="en-US" sz="2300" smtClean="0">
                <a:ea typeface="宋体" panose="02010600030101010101" pitchFamily="2" charset="-122"/>
              </a:rPr>
              <a:t>设备</a:t>
            </a:r>
          </a:p>
          <a:p>
            <a:pPr lvl="1">
              <a:lnSpc>
                <a:spcPct val="90000"/>
              </a:lnSpc>
            </a:pPr>
            <a:r>
              <a:rPr lang="en-US" altLang="zh-CN" sz="2300" smtClean="0">
                <a:ea typeface="宋体" panose="02010600030101010101" pitchFamily="2" charset="-122"/>
              </a:rPr>
              <a:t>/dev/isdn*  ISDN</a:t>
            </a:r>
            <a:r>
              <a:rPr lang="zh-CN" altLang="en-US" sz="2300" smtClean="0">
                <a:ea typeface="宋体" panose="02010600030101010101" pitchFamily="2" charset="-122"/>
              </a:rPr>
              <a:t>设备</a:t>
            </a:r>
          </a:p>
          <a:p>
            <a:pPr lvl="1">
              <a:lnSpc>
                <a:spcPct val="90000"/>
              </a:lnSpc>
            </a:pPr>
            <a:endParaRPr lang="zh-CN" altLang="en-US" sz="2300" smtClean="0">
              <a:ea typeface="宋体" panose="02010600030101010101" pitchFamily="2" charset="-122"/>
            </a:endParaRPr>
          </a:p>
        </p:txBody>
      </p:sp>
      <p:sp>
        <p:nvSpPr>
          <p:cNvPr id="6" name="Rectangle 2"/>
          <p:cNvSpPr>
            <a:spLocks noGrp="1" noChangeArrowheads="1"/>
          </p:cNvSpPr>
          <p:nvPr>
            <p:ph type="title"/>
          </p:nvPr>
        </p:nvSpPr>
        <p:spPr>
          <a:xfrm>
            <a:off x="819150" y="44624"/>
            <a:ext cx="7772400" cy="844550"/>
          </a:xfrm>
        </p:spPr>
        <p:txBody>
          <a:bodyPr/>
          <a:lstStyle/>
          <a:p>
            <a:r>
              <a:rPr lang="en-US" altLang="zh-CN" sz="3600" dirty="0" smtClean="0">
                <a:latin typeface="Times New Roman" panose="02020603050405020304" pitchFamily="18" charset="0"/>
                <a:ea typeface="宋体" panose="02010600030101010101" pitchFamily="2" charset="-122"/>
                <a:cs typeface="Times New Roman" panose="02020603050405020304" pitchFamily="18" charset="0"/>
              </a:rPr>
              <a:t>8.1  Linux</a:t>
            </a:r>
            <a:r>
              <a:rPr lang="zh-CN" altLang="en-US" sz="3600" dirty="0" smtClean="0">
                <a:latin typeface="Times New Roman" panose="02020603050405020304" pitchFamily="18" charset="0"/>
                <a:ea typeface="宋体" panose="02010600030101010101" pitchFamily="2" charset="-122"/>
                <a:cs typeface="Times New Roman" panose="02020603050405020304" pitchFamily="18" charset="0"/>
              </a:rPr>
              <a:t>设备管理概述</a:t>
            </a:r>
            <a:endParaRPr lang="zh-CN" altLang="en-US"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468530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body" idx="1"/>
          </p:nvPr>
        </p:nvSpPr>
        <p:spPr>
          <a:xfrm>
            <a:off x="457200" y="1000125"/>
            <a:ext cx="8229600" cy="5438775"/>
          </a:xfrm>
          <a:noFill/>
        </p:spPr>
        <p:txBody>
          <a:bodyPr/>
          <a:lstStyle/>
          <a:p>
            <a:r>
              <a:rPr lang="zh-CN" altLang="en-US" sz="2800" smtClean="0">
                <a:ea typeface="宋体" panose="02010600030101010101" pitchFamily="2" charset="-122"/>
              </a:rPr>
              <a:t>设备文件通常包含在</a:t>
            </a:r>
            <a:r>
              <a:rPr lang="en-US" altLang="zh-CN" sz="2800" smtClean="0">
                <a:ea typeface="宋体" panose="02010600030101010101" pitchFamily="2" charset="-122"/>
              </a:rPr>
              <a:t>/dev</a:t>
            </a:r>
            <a:r>
              <a:rPr lang="zh-CN" altLang="en-US" sz="2800" smtClean="0">
                <a:ea typeface="宋体" panose="02010600030101010101" pitchFamily="2" charset="-122"/>
              </a:rPr>
              <a:t>目录中</a:t>
            </a:r>
          </a:p>
          <a:p>
            <a:r>
              <a:rPr lang="zh-CN" altLang="en-US" sz="2800" smtClean="0">
                <a:ea typeface="宋体" panose="02010600030101010101" pitchFamily="2" charset="-122"/>
              </a:rPr>
              <a:t>一些设备文件的例子</a:t>
            </a:r>
          </a:p>
        </p:txBody>
      </p:sp>
      <p:pic>
        <p:nvPicPr>
          <p:cNvPr id="1536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147888"/>
            <a:ext cx="8893175" cy="45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904626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4"/>
          <p:cNvSpPr>
            <a:spLocks noGrp="1"/>
          </p:cNvSpPr>
          <p:nvPr>
            <p:ph type="sldNum" sz="quarter" idx="4294967295"/>
          </p:nvPr>
        </p:nvSpPr>
        <p:spPr bwMode="auto">
          <a:xfrm>
            <a:off x="65532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nSpc>
                <a:spcPct val="90000"/>
              </a:lnSpc>
              <a:spcBef>
                <a:spcPct val="0"/>
              </a:spcBef>
              <a:buClrTx/>
              <a:buSzTx/>
              <a:buFontTx/>
              <a:buNone/>
            </a:pPr>
            <a:fld id="{E4A5A3ED-DBDF-48D4-8E1F-A6D4B1C961F8}" type="slidenum">
              <a:rPr lang="zh-CN" altLang="en-US" sz="2400">
                <a:latin typeface="宋体" panose="02010600030101010101" pitchFamily="2" charset="-122"/>
              </a:rPr>
              <a:pPr>
                <a:lnSpc>
                  <a:spcPct val="90000"/>
                </a:lnSpc>
                <a:spcBef>
                  <a:spcPct val="0"/>
                </a:spcBef>
                <a:buClrTx/>
                <a:buSzTx/>
                <a:buFontTx/>
                <a:buNone/>
              </a:pPr>
              <a:t>9</a:t>
            </a:fld>
            <a:endParaRPr lang="en-US" altLang="zh-CN" sz="2400">
              <a:latin typeface="宋体" panose="02010600030101010101" pitchFamily="2" charset="-122"/>
            </a:endParaRPr>
          </a:p>
        </p:txBody>
      </p:sp>
      <p:sp>
        <p:nvSpPr>
          <p:cNvPr id="16388" name="Rectangle 3"/>
          <p:cNvSpPr>
            <a:spLocks noGrp="1" noChangeArrowheads="1"/>
          </p:cNvSpPr>
          <p:nvPr>
            <p:ph type="body" idx="1"/>
          </p:nvPr>
        </p:nvSpPr>
        <p:spPr>
          <a:xfrm>
            <a:off x="438150" y="1581150"/>
            <a:ext cx="8229600" cy="4624388"/>
          </a:xfrm>
        </p:spPr>
        <p:txBody>
          <a:bodyPr/>
          <a:lstStyle/>
          <a:p>
            <a:r>
              <a:rPr lang="zh-CN" altLang="en-US" sz="2800" smtClean="0">
                <a:ea typeface="宋体" panose="02010600030101010101" pitchFamily="2" charset="-122"/>
              </a:rPr>
              <a:t>为了管理设备，系统为设备编了号，每个设备号又分</a:t>
            </a:r>
            <a:r>
              <a:rPr lang="zh-CN" altLang="en-US" sz="2800" smtClean="0">
                <a:solidFill>
                  <a:srgbClr val="FF0000"/>
                </a:solidFill>
                <a:ea typeface="宋体" panose="02010600030101010101" pitchFamily="2" charset="-122"/>
              </a:rPr>
              <a:t>为主设备号和次设备号</a:t>
            </a:r>
            <a:r>
              <a:rPr lang="zh-CN" altLang="en-US" sz="2800" smtClean="0">
                <a:ea typeface="宋体" panose="02010600030101010101" pitchFamily="2" charset="-122"/>
              </a:rPr>
              <a:t>。</a:t>
            </a:r>
          </a:p>
          <a:p>
            <a:pPr lvl="1"/>
            <a:r>
              <a:rPr lang="zh-CN" altLang="en-US" smtClean="0">
                <a:ea typeface="宋体" panose="02010600030101010101" pitchFamily="2" charset="-122"/>
              </a:rPr>
              <a:t>主设备号用来区分不同种类的设备</a:t>
            </a:r>
          </a:p>
          <a:p>
            <a:pPr lvl="1"/>
            <a:r>
              <a:rPr lang="zh-CN" altLang="en-US" smtClean="0">
                <a:ea typeface="宋体" panose="02010600030101010101" pitchFamily="2" charset="-122"/>
              </a:rPr>
              <a:t>次设备号用来区分同一类型的多个设备</a:t>
            </a:r>
          </a:p>
          <a:p>
            <a:pPr lvl="1"/>
            <a:r>
              <a:rPr lang="zh-CN" altLang="en-US" smtClean="0">
                <a:ea typeface="宋体" panose="02010600030101010101" pitchFamily="2" charset="-122"/>
              </a:rPr>
              <a:t>主设备号相同的设备使用相同的驱动程序，次设备号用于区分具体设备的实例</a:t>
            </a:r>
          </a:p>
          <a:p>
            <a:pPr lvl="1"/>
            <a:r>
              <a:rPr lang="zh-CN" altLang="en-US" smtClean="0">
                <a:ea typeface="宋体" panose="02010600030101010101" pitchFamily="2" charset="-122"/>
              </a:rPr>
              <a:t>对于常用设备，</a:t>
            </a:r>
            <a:r>
              <a:rPr lang="en-US" altLang="zh-CN" smtClean="0">
                <a:ea typeface="宋体" panose="02010600030101010101" pitchFamily="2" charset="-122"/>
              </a:rPr>
              <a:t>Linux</a:t>
            </a:r>
            <a:r>
              <a:rPr lang="zh-CN" altLang="en-US" smtClean="0">
                <a:ea typeface="宋体" panose="02010600030101010101" pitchFamily="2" charset="-122"/>
              </a:rPr>
              <a:t>有约定俗成的编号，如硬盘的主设备号是</a:t>
            </a:r>
            <a:r>
              <a:rPr lang="en-US" altLang="zh-CN" smtClean="0">
                <a:ea typeface="宋体" panose="02010600030101010101" pitchFamily="2" charset="-122"/>
              </a:rPr>
              <a:t>3</a:t>
            </a:r>
            <a:r>
              <a:rPr lang="zh-CN" altLang="en-US" smtClean="0">
                <a:ea typeface="宋体" panose="02010600030101010101" pitchFamily="2" charset="-122"/>
              </a:rPr>
              <a:t>。</a:t>
            </a:r>
            <a:endParaRPr lang="en-US" altLang="zh-CN" smtClean="0">
              <a:ea typeface="宋体" panose="02010600030101010101" pitchFamily="2" charset="-122"/>
            </a:endParaRPr>
          </a:p>
          <a:p>
            <a:pPr lvl="1">
              <a:lnSpc>
                <a:spcPct val="90000"/>
              </a:lnSpc>
            </a:pPr>
            <a:r>
              <a:rPr lang="zh-CN" altLang="en-US" smtClean="0">
                <a:ea typeface="宋体" panose="02010600030101010101" pitchFamily="2" charset="-122"/>
              </a:rPr>
              <a:t>动态获取主设备号</a:t>
            </a:r>
          </a:p>
        </p:txBody>
      </p:sp>
      <p:sp>
        <p:nvSpPr>
          <p:cNvPr id="6"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452240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174625" y="952500"/>
            <a:ext cx="8858250" cy="5181600"/>
          </a:xfrm>
        </p:spPr>
        <p:txBody>
          <a:bodyPr/>
          <a:lstStyle/>
          <a:p>
            <a:r>
              <a:rPr lang="zh-CN" altLang="en-US" sz="2400" b="1" smtClean="0">
                <a:solidFill>
                  <a:srgbClr val="990000"/>
                </a:solidFill>
                <a:ea typeface="宋体" panose="02010600030101010101" pitchFamily="2" charset="-122"/>
              </a:rPr>
              <a:t>字符设备</a:t>
            </a:r>
            <a:r>
              <a:rPr lang="en-US" altLang="zh-CN" sz="2400" b="1" smtClean="0">
                <a:solidFill>
                  <a:srgbClr val="990000"/>
                </a:solidFill>
                <a:ea typeface="宋体" panose="02010600030101010101" pitchFamily="2" charset="-122"/>
              </a:rPr>
              <a:t>(c)</a:t>
            </a:r>
          </a:p>
          <a:p>
            <a:pPr lvl="1"/>
            <a:r>
              <a:rPr lang="zh-CN" altLang="en-US" sz="2400" smtClean="0">
                <a:ea typeface="宋体" panose="02010600030101010101" pitchFamily="2" charset="-122"/>
              </a:rPr>
              <a:t>所有能够象字节流一样访问的设备都通过字符设备来实现，通常在</a:t>
            </a:r>
            <a:r>
              <a:rPr lang="en-US" altLang="zh-CN" sz="2400" smtClean="0">
                <a:ea typeface="宋体" panose="02010600030101010101" pitchFamily="2" charset="-122"/>
              </a:rPr>
              <a:t>/dev/</a:t>
            </a:r>
            <a:r>
              <a:rPr lang="zh-CN" altLang="en-US" sz="2400" smtClean="0">
                <a:ea typeface="宋体" panose="02010600030101010101" pitchFamily="2" charset="-122"/>
              </a:rPr>
              <a:t>目录下面</a:t>
            </a:r>
          </a:p>
          <a:p>
            <a:pPr lvl="1"/>
            <a:r>
              <a:rPr lang="zh-CN" altLang="en-US" sz="2400" smtClean="0">
                <a:solidFill>
                  <a:srgbClr val="0066FF"/>
                </a:solidFill>
                <a:latin typeface="Times New Roman" panose="02020603050405020304" pitchFamily="18" charset="0"/>
                <a:ea typeface="宋体" panose="02010600030101010101" pitchFamily="2" charset="-122"/>
              </a:rPr>
              <a:t>无需缓冲直接读写设备</a:t>
            </a:r>
            <a:r>
              <a:rPr lang="zh-CN" altLang="en-US" sz="2400" smtClean="0">
                <a:latin typeface="Times New Roman" panose="02020603050405020304" pitchFamily="18" charset="0"/>
                <a:ea typeface="宋体" panose="02010600030101010101" pitchFamily="2" charset="-122"/>
              </a:rPr>
              <a:t>，通常只允许按顺序访问。如打印机、键盘，终端等</a:t>
            </a:r>
            <a:r>
              <a:rPr lang="zh-CN" altLang="en-US" sz="2400" smtClean="0">
                <a:ea typeface="宋体" panose="02010600030101010101" pitchFamily="2" charset="-122"/>
              </a:rPr>
              <a:t>。 </a:t>
            </a:r>
          </a:p>
          <a:p>
            <a:pPr lvl="1"/>
            <a:r>
              <a:rPr lang="zh-CN" altLang="en-US" sz="2400" smtClean="0">
                <a:ea typeface="宋体" panose="02010600030101010101" pitchFamily="2" charset="-122"/>
              </a:rPr>
              <a:t>一般要包含</a:t>
            </a:r>
            <a:r>
              <a:rPr lang="en-US" altLang="zh-CN" sz="2400" smtClean="0">
                <a:ea typeface="宋体" panose="02010600030101010101" pitchFamily="2" charset="-122"/>
              </a:rPr>
              <a:t>open</a:t>
            </a:r>
            <a:r>
              <a:rPr lang="zh-CN" altLang="en-US" sz="2400" smtClean="0">
                <a:ea typeface="宋体" panose="02010600030101010101" pitchFamily="2" charset="-122"/>
              </a:rPr>
              <a:t>， </a:t>
            </a:r>
            <a:r>
              <a:rPr lang="en-US" altLang="zh-CN" sz="2400" smtClean="0">
                <a:ea typeface="宋体" panose="02010600030101010101" pitchFamily="2" charset="-122"/>
              </a:rPr>
              <a:t>read</a:t>
            </a:r>
            <a:r>
              <a:rPr lang="zh-CN" altLang="en-US" sz="2400" smtClean="0">
                <a:ea typeface="宋体" panose="02010600030101010101" pitchFamily="2" charset="-122"/>
              </a:rPr>
              <a:t>， </a:t>
            </a:r>
            <a:r>
              <a:rPr lang="en-US" altLang="zh-CN" sz="2400" smtClean="0">
                <a:ea typeface="宋体" panose="02010600030101010101" pitchFamily="2" charset="-122"/>
              </a:rPr>
              <a:t>write</a:t>
            </a:r>
            <a:r>
              <a:rPr lang="zh-CN" altLang="en-US" sz="2400" smtClean="0">
                <a:ea typeface="宋体" panose="02010600030101010101" pitchFamily="2" charset="-122"/>
              </a:rPr>
              <a:t>， </a:t>
            </a:r>
            <a:r>
              <a:rPr lang="en-US" altLang="zh-CN" sz="2400" smtClean="0">
                <a:ea typeface="宋体" panose="02010600030101010101" pitchFamily="2" charset="-122"/>
              </a:rPr>
              <a:t>close</a:t>
            </a:r>
            <a:r>
              <a:rPr lang="zh-CN" altLang="en-US" sz="2400" smtClean="0">
                <a:ea typeface="宋体" panose="02010600030101010101" pitchFamily="2" charset="-122"/>
              </a:rPr>
              <a:t>等系统调用的实现</a:t>
            </a:r>
          </a:p>
          <a:p>
            <a:r>
              <a:rPr lang="zh-CN" altLang="en-US" sz="2400" b="1" smtClean="0">
                <a:solidFill>
                  <a:srgbClr val="990000"/>
                </a:solidFill>
                <a:ea typeface="宋体" panose="02010600030101010101" pitchFamily="2" charset="-122"/>
              </a:rPr>
              <a:t>块设备</a:t>
            </a:r>
            <a:r>
              <a:rPr lang="en-US" altLang="zh-CN" sz="2400" b="1" smtClean="0">
                <a:solidFill>
                  <a:srgbClr val="990000"/>
                </a:solidFill>
                <a:ea typeface="宋体" panose="02010600030101010101" pitchFamily="2" charset="-122"/>
              </a:rPr>
              <a:t>(b)</a:t>
            </a:r>
          </a:p>
          <a:p>
            <a:pPr lvl="1"/>
            <a:r>
              <a:rPr lang="zh-CN" altLang="en-US" sz="2400" smtClean="0">
                <a:ea typeface="宋体" panose="02010600030101010101" pitchFamily="2" charset="-122"/>
              </a:rPr>
              <a:t>通常是指诸如磁盘、内存、</a:t>
            </a:r>
            <a:r>
              <a:rPr lang="en-US" altLang="zh-CN" sz="2400" smtClean="0">
                <a:ea typeface="宋体" panose="02010600030101010101" pitchFamily="2" charset="-122"/>
              </a:rPr>
              <a:t>Flash</a:t>
            </a:r>
            <a:r>
              <a:rPr lang="zh-CN" altLang="en-US" sz="2400" smtClean="0">
                <a:ea typeface="宋体" panose="02010600030101010101" pitchFamily="2" charset="-122"/>
              </a:rPr>
              <a:t>等可以容纳文件系统的存储设备。</a:t>
            </a:r>
          </a:p>
          <a:p>
            <a:pPr lvl="1"/>
            <a:r>
              <a:rPr lang="zh-CN" altLang="en-US" sz="2400" smtClean="0">
                <a:latin typeface="宋体" panose="02010600030101010101" pitchFamily="2" charset="-122"/>
                <a:ea typeface="宋体" panose="02010600030101010101" pitchFamily="2" charset="-122"/>
              </a:rPr>
              <a:t>将数据按可寻址的块为单位进行处理，可以随机访问，</a:t>
            </a:r>
            <a:r>
              <a:rPr lang="zh-CN" altLang="en-US" sz="2400" smtClean="0">
                <a:solidFill>
                  <a:srgbClr val="0066FF"/>
                </a:solidFill>
                <a:latin typeface="宋体" panose="02010600030101010101" pitchFamily="2" charset="-122"/>
                <a:ea typeface="宋体" panose="02010600030101010101" pitchFamily="2" charset="-122"/>
              </a:rPr>
              <a:t>利用缓冲技术</a:t>
            </a:r>
            <a:endParaRPr lang="zh-CN" altLang="en-US" sz="2400" smtClean="0">
              <a:solidFill>
                <a:srgbClr val="0066FF"/>
              </a:solidFill>
              <a:ea typeface="宋体" panose="02010600030101010101" pitchFamily="2" charset="-122"/>
            </a:endParaRPr>
          </a:p>
          <a:p>
            <a:pPr lvl="1"/>
            <a:r>
              <a:rPr lang="zh-CN" altLang="en-US" sz="2400" smtClean="0">
                <a:ea typeface="宋体" panose="02010600030101010101" pitchFamily="2" charset="-122"/>
              </a:rPr>
              <a:t>块设备也是通过文件系统来访问</a:t>
            </a:r>
          </a:p>
        </p:txBody>
      </p:sp>
      <p:sp>
        <p:nvSpPr>
          <p:cNvPr id="5"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165389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3"/>
          <p:cNvSpPr>
            <a:spLocks noGrp="1" noChangeArrowheads="1"/>
          </p:cNvSpPr>
          <p:nvPr>
            <p:ph type="body" idx="4294967295"/>
          </p:nvPr>
        </p:nvSpPr>
        <p:spPr>
          <a:xfrm>
            <a:off x="285750" y="1247775"/>
            <a:ext cx="8591550" cy="4738688"/>
          </a:xfrm>
        </p:spPr>
        <p:txBody>
          <a:bodyPr/>
          <a:lstStyle/>
          <a:p>
            <a:r>
              <a:rPr lang="zh-CN" altLang="en-US" sz="2400" b="1" smtClean="0">
                <a:solidFill>
                  <a:srgbClr val="990000"/>
                </a:solidFill>
                <a:ea typeface="宋体" panose="02010600030101010101" pitchFamily="2" charset="-122"/>
              </a:rPr>
              <a:t>网络接口设备</a:t>
            </a:r>
          </a:p>
          <a:p>
            <a:pPr lvl="1"/>
            <a:r>
              <a:rPr lang="zh-CN" altLang="en-US" sz="2400" smtClean="0">
                <a:ea typeface="宋体" panose="02010600030101010101" pitchFamily="2" charset="-122"/>
              </a:rPr>
              <a:t>通常它指的是硬件设备，但有时也可能是一个软件设备</a:t>
            </a:r>
            <a:r>
              <a:rPr lang="en-US" altLang="zh-CN" sz="2400" smtClean="0">
                <a:ea typeface="宋体" panose="02010600030101010101" pitchFamily="2" charset="-122"/>
              </a:rPr>
              <a:t>(</a:t>
            </a:r>
            <a:r>
              <a:rPr lang="zh-CN" altLang="en-US" sz="2400" smtClean="0">
                <a:ea typeface="宋体" panose="02010600030101010101" pitchFamily="2" charset="-122"/>
              </a:rPr>
              <a:t>如回环接口</a:t>
            </a:r>
            <a:r>
              <a:rPr lang="en-US" altLang="zh-CN" sz="2400" smtClean="0">
                <a:ea typeface="宋体" panose="02010600030101010101" pitchFamily="2" charset="-122"/>
              </a:rPr>
              <a:t>loopback)</a:t>
            </a:r>
            <a:r>
              <a:rPr lang="zh-CN" altLang="en-US" sz="2400" smtClean="0">
                <a:ea typeface="宋体" panose="02010600030101010101" pitchFamily="2" charset="-122"/>
              </a:rPr>
              <a:t>，它们由内核中网络子系统驱动，负责发送和接收数据包。</a:t>
            </a:r>
          </a:p>
          <a:p>
            <a:pPr lvl="1"/>
            <a:r>
              <a:rPr lang="zh-CN" altLang="en-US" sz="2400" smtClean="0">
                <a:ea typeface="宋体" panose="02010600030101010101" pitchFamily="2" charset="-122"/>
              </a:rPr>
              <a:t>它们的数据传送往往不是面向流的，因此很难将它们映射到一个文件系统的节点上。</a:t>
            </a:r>
          </a:p>
          <a:p>
            <a:r>
              <a:rPr lang="zh-CN" altLang="en-US" sz="2400" smtClean="0">
                <a:latin typeface="Times New Roman" panose="02020603050405020304" pitchFamily="18" charset="0"/>
                <a:ea typeface="宋体" panose="02010600030101010101" pitchFamily="2" charset="-122"/>
              </a:rPr>
              <a:t>查看系统中的设备：</a:t>
            </a:r>
            <a:r>
              <a:rPr lang="en-US" altLang="zh-CN" sz="2400" smtClean="0">
                <a:latin typeface="Times New Roman" panose="02020603050405020304" pitchFamily="18" charset="0"/>
                <a:ea typeface="宋体" panose="02010600030101010101" pitchFamily="2" charset="-122"/>
              </a:rPr>
              <a:t>/proc/devices</a:t>
            </a:r>
            <a:r>
              <a:rPr lang="zh-CN" altLang="en-US" sz="2400" smtClean="0">
                <a:latin typeface="Times New Roman" panose="02020603050405020304" pitchFamily="18" charset="0"/>
                <a:ea typeface="宋体" panose="02010600030101010101" pitchFamily="2" charset="-122"/>
              </a:rPr>
              <a:t>。</a:t>
            </a:r>
          </a:p>
          <a:p>
            <a:r>
              <a:rPr lang="zh-CN" altLang="en-US" sz="2400" smtClean="0">
                <a:latin typeface="Times New Roman" panose="02020603050405020304" pitchFamily="18" charset="0"/>
                <a:ea typeface="宋体" panose="02010600030101010101" pitchFamily="2" charset="-122"/>
              </a:rPr>
              <a:t>查看设备及其类型“</a:t>
            </a:r>
            <a:r>
              <a:rPr lang="en-US" altLang="zh-CN" sz="2400" smtClean="0">
                <a:latin typeface="Times New Roman" panose="02020603050405020304" pitchFamily="18" charset="0"/>
                <a:ea typeface="宋体" panose="02010600030101010101" pitchFamily="2" charset="-122"/>
              </a:rPr>
              <a:t>ls -l /dev”</a:t>
            </a:r>
            <a:endParaRPr lang="zh-CN" altLang="en-US" sz="2400" smtClean="0">
              <a:ea typeface="宋体" panose="02010600030101010101" pitchFamily="2" charset="-122"/>
            </a:endParaRPr>
          </a:p>
        </p:txBody>
      </p:sp>
      <p:sp>
        <p:nvSpPr>
          <p:cNvPr id="4" name="Rectangle 2"/>
          <p:cNvSpPr txBox="1">
            <a:spLocks noChangeArrowheads="1"/>
          </p:cNvSpPr>
          <p:nvPr/>
        </p:nvSpPr>
        <p:spPr>
          <a:xfrm>
            <a:off x="685800" y="15235"/>
            <a:ext cx="7772400" cy="844550"/>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r>
              <a:rPr lang="en-US" altLang="zh-CN" kern="0"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kern="0"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kern="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884840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7"/>
          <p:cNvSpPr>
            <a:spLocks noGrp="1" noChangeArrowheads="1"/>
          </p:cNvSpPr>
          <p:nvPr>
            <p:ph type="body" idx="1"/>
          </p:nvPr>
        </p:nvSpPr>
        <p:spPr>
          <a:xfrm>
            <a:off x="520700" y="1208088"/>
            <a:ext cx="8202613" cy="5100637"/>
          </a:xfrm>
        </p:spPr>
        <p:txBody>
          <a:bodyPr/>
          <a:lstStyle/>
          <a:p>
            <a:r>
              <a:rPr lang="zh-CN" altLang="en-US" sz="2800" smtClean="0">
                <a:ea typeface="宋体" panose="02010600030101010101" pitchFamily="2" charset="-122"/>
              </a:rPr>
              <a:t>每个设备都对应文件系统中的一个</a:t>
            </a:r>
            <a:r>
              <a:rPr lang="en-US" altLang="zh-CN" sz="2800" smtClean="0">
                <a:ea typeface="宋体" panose="02010600030101010101" pitchFamily="2" charset="-122"/>
              </a:rPr>
              <a:t>VFS inode</a:t>
            </a:r>
            <a:r>
              <a:rPr lang="zh-CN" altLang="en-US" sz="2800" smtClean="0">
                <a:ea typeface="宋体" panose="02010600030101010101" pitchFamily="2" charset="-122"/>
              </a:rPr>
              <a:t>， 都有一个设备文件名。 </a:t>
            </a:r>
          </a:p>
          <a:p>
            <a:r>
              <a:rPr lang="zh-CN" altLang="en-US" sz="2800" smtClean="0">
                <a:ea typeface="宋体" panose="02010600030101010101" pitchFamily="2" charset="-122"/>
              </a:rPr>
              <a:t>在设备文件对应的</a:t>
            </a:r>
            <a:r>
              <a:rPr lang="en-US" altLang="zh-CN" sz="2800" smtClean="0">
                <a:ea typeface="宋体" panose="02010600030101010101" pitchFamily="2" charset="-122"/>
              </a:rPr>
              <a:t>VFS inode</a:t>
            </a:r>
            <a:r>
              <a:rPr lang="zh-CN" altLang="en-US" sz="2800" smtClean="0">
                <a:ea typeface="宋体" panose="02010600030101010101" pitchFamily="2" charset="-122"/>
              </a:rPr>
              <a:t>中，</a:t>
            </a:r>
            <a:r>
              <a:rPr lang="en-US" altLang="zh-CN" sz="2800" smtClean="0">
                <a:ea typeface="宋体" panose="02010600030101010101" pitchFamily="2" charset="-122"/>
              </a:rPr>
              <a:t>i_mode</a:t>
            </a:r>
            <a:r>
              <a:rPr lang="zh-CN" altLang="en-US" sz="2800" smtClean="0">
                <a:ea typeface="宋体" panose="02010600030101010101" pitchFamily="2" charset="-122"/>
              </a:rPr>
              <a:t>域的值标明了它的类型：</a:t>
            </a:r>
          </a:p>
          <a:p>
            <a:pPr lvl="1"/>
            <a:r>
              <a:rPr lang="en-US" altLang="zh-CN" sz="2400" smtClean="0">
                <a:solidFill>
                  <a:srgbClr val="FF0000"/>
                </a:solidFill>
                <a:ea typeface="宋体" panose="02010600030101010101" pitchFamily="2" charset="-122"/>
              </a:rPr>
              <a:t>S_IFBLK</a:t>
            </a:r>
            <a:r>
              <a:rPr lang="zh-CN" altLang="en-US" sz="2400" smtClean="0">
                <a:solidFill>
                  <a:srgbClr val="FF0000"/>
                </a:solidFill>
                <a:ea typeface="宋体" panose="02010600030101010101" pitchFamily="2" charset="-122"/>
              </a:rPr>
              <a:t>：</a:t>
            </a:r>
            <a:r>
              <a:rPr lang="zh-CN" altLang="en-US" sz="2400" smtClean="0">
                <a:ea typeface="宋体" panose="02010600030101010101" pitchFamily="2" charset="-122"/>
              </a:rPr>
              <a:t>表示它是一个块设备； </a:t>
            </a:r>
          </a:p>
          <a:p>
            <a:pPr lvl="1"/>
            <a:r>
              <a:rPr lang="en-US" altLang="zh-CN" sz="2400" smtClean="0">
                <a:solidFill>
                  <a:srgbClr val="FF0000"/>
                </a:solidFill>
                <a:ea typeface="宋体" panose="02010600030101010101" pitchFamily="2" charset="-122"/>
              </a:rPr>
              <a:t>S_IFCHR</a:t>
            </a:r>
            <a:r>
              <a:rPr lang="zh-CN" altLang="en-US" sz="2400" smtClean="0">
                <a:solidFill>
                  <a:srgbClr val="FF0000"/>
                </a:solidFill>
                <a:ea typeface="宋体" panose="02010600030101010101" pitchFamily="2" charset="-122"/>
              </a:rPr>
              <a:t>：</a:t>
            </a:r>
            <a:r>
              <a:rPr lang="zh-CN" altLang="en-US" sz="2400" smtClean="0">
                <a:ea typeface="宋体" panose="02010600030101010101" pitchFamily="2" charset="-122"/>
              </a:rPr>
              <a:t>表示它是一个字符设备；</a:t>
            </a:r>
          </a:p>
          <a:p>
            <a:r>
              <a:rPr lang="zh-CN" altLang="en-US" sz="2800" smtClean="0">
                <a:ea typeface="宋体" panose="02010600030101010101" pitchFamily="2" charset="-122"/>
              </a:rPr>
              <a:t>同时，设备文件对应的</a:t>
            </a:r>
            <a:r>
              <a:rPr lang="en-US" altLang="zh-CN" sz="2800" smtClean="0">
                <a:ea typeface="宋体" panose="02010600030101010101" pitchFamily="2" charset="-122"/>
              </a:rPr>
              <a:t>VFS inode</a:t>
            </a:r>
            <a:r>
              <a:rPr lang="zh-CN" altLang="en-US" sz="2800" smtClean="0">
                <a:ea typeface="宋体" panose="02010600030101010101" pitchFamily="2" charset="-122"/>
              </a:rPr>
              <a:t>中没有块列表，但却有一个名为</a:t>
            </a:r>
            <a:r>
              <a:rPr lang="en-US" altLang="zh-CN" sz="2800" smtClean="0">
                <a:ea typeface="宋体" panose="02010600030101010101" pitchFamily="2" charset="-122"/>
              </a:rPr>
              <a:t>i_rdev</a:t>
            </a:r>
            <a:r>
              <a:rPr lang="zh-CN" altLang="en-US" sz="2800" smtClean="0">
                <a:ea typeface="宋体" panose="02010600030101010101" pitchFamily="2" charset="-122"/>
              </a:rPr>
              <a:t>的域，其中存储着它所标识设备的主、次设备号。内核可以根据该域将设备文件名转化为设备的主、次设备号。</a:t>
            </a:r>
          </a:p>
          <a:p>
            <a:endParaRPr lang="en-US" altLang="zh-CN" sz="2800" smtClean="0">
              <a:ea typeface="宋体" panose="02010600030101010101" pitchFamily="2" charset="-122"/>
            </a:endParaRPr>
          </a:p>
        </p:txBody>
      </p:sp>
      <p:sp>
        <p:nvSpPr>
          <p:cNvPr id="5"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2634083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520700" y="1531938"/>
            <a:ext cx="8202613" cy="5100637"/>
          </a:xfrm>
        </p:spPr>
        <p:txBody>
          <a:bodyPr/>
          <a:lstStyle/>
          <a:p>
            <a:pPr algn="just"/>
            <a:r>
              <a:rPr lang="zh-CN" altLang="en-US" sz="2800" smtClean="0">
                <a:ea typeface="宋体" panose="02010600030101010101" pitchFamily="2" charset="-122"/>
              </a:rPr>
              <a:t>应用程序通常可以通过系统调用</a:t>
            </a:r>
            <a:r>
              <a:rPr lang="en-US" altLang="zh-CN" sz="2800" smtClean="0">
                <a:ea typeface="宋体" panose="02010600030101010101" pitchFamily="2" charset="-122"/>
              </a:rPr>
              <a:t>open()</a:t>
            </a:r>
            <a:r>
              <a:rPr lang="zh-CN" altLang="en-US" sz="2800" smtClean="0">
                <a:ea typeface="宋体" panose="02010600030101010101" pitchFamily="2" charset="-122"/>
              </a:rPr>
              <a:t>打开设备文件， 建立起与目标设备的连接。 </a:t>
            </a:r>
          </a:p>
          <a:p>
            <a:r>
              <a:rPr lang="zh-CN" altLang="en-US" sz="2800" smtClean="0">
                <a:ea typeface="宋体" panose="02010600030101010101" pitchFamily="2" charset="-122"/>
              </a:rPr>
              <a:t>对设备的使用类似于对文件的存取。 </a:t>
            </a:r>
          </a:p>
          <a:p>
            <a:pPr algn="just"/>
            <a:r>
              <a:rPr lang="zh-CN" altLang="en-US" sz="2800" smtClean="0">
                <a:ea typeface="宋体" panose="02010600030101010101" pitchFamily="2" charset="-122"/>
              </a:rPr>
              <a:t>设备驱动程序都是系统内核的一部分， 它们必须为系统内核或者它们的子系统提供一个标准的接口。 设备驱动程序也使用一些标准的内核服务， 如内存分配等</a:t>
            </a:r>
          </a:p>
        </p:txBody>
      </p:sp>
      <p:sp>
        <p:nvSpPr>
          <p:cNvPr id="5"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2177933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a:xfrm>
            <a:off x="485775" y="1128713"/>
            <a:ext cx="8202613" cy="5100637"/>
          </a:xfrm>
        </p:spPr>
        <p:txBody>
          <a:bodyPr/>
          <a:lstStyle/>
          <a:p>
            <a:pPr>
              <a:lnSpc>
                <a:spcPct val="90000"/>
              </a:lnSpc>
            </a:pPr>
            <a:r>
              <a:rPr lang="zh-CN" altLang="en-US" sz="2800" smtClean="0">
                <a:ea typeface="宋体" panose="02010600030101010101" pitchFamily="2" charset="-122"/>
              </a:rPr>
              <a:t>注意：字符设备与块设备具有独立的编号，</a:t>
            </a:r>
          </a:p>
          <a:p>
            <a:pPr lvl="1">
              <a:lnSpc>
                <a:spcPct val="90000"/>
              </a:lnSpc>
            </a:pPr>
            <a:r>
              <a:rPr lang="zh-CN" altLang="en-US" smtClean="0">
                <a:ea typeface="宋体" panose="02010600030101010101" pitchFamily="2" charset="-122"/>
              </a:rPr>
              <a:t>例如，块设备</a:t>
            </a:r>
            <a:r>
              <a:rPr lang="en-US" altLang="zh-CN" smtClean="0">
                <a:ea typeface="宋体" panose="02010600030101010101" pitchFamily="2" charset="-122"/>
              </a:rPr>
              <a:t>(3,0)</a:t>
            </a:r>
            <a:r>
              <a:rPr lang="zh-CN" altLang="en-US" smtClean="0">
                <a:ea typeface="宋体" panose="02010600030101010101" pitchFamily="2" charset="-122"/>
              </a:rPr>
              <a:t>不同于字符设备</a:t>
            </a:r>
            <a:r>
              <a:rPr lang="en-US" altLang="zh-CN" smtClean="0">
                <a:ea typeface="宋体" panose="02010600030101010101" pitchFamily="2" charset="-122"/>
              </a:rPr>
              <a:t>(3,0)</a:t>
            </a:r>
          </a:p>
          <a:p>
            <a:pPr>
              <a:lnSpc>
                <a:spcPct val="90000"/>
              </a:lnSpc>
            </a:pPr>
            <a:r>
              <a:rPr lang="zh-CN" altLang="en-US" sz="2800" smtClean="0">
                <a:ea typeface="宋体" panose="02010600030101010101" pitchFamily="2" charset="-122"/>
              </a:rPr>
              <a:t>设备文件通常可以表示</a:t>
            </a:r>
          </a:p>
          <a:p>
            <a:pPr lvl="1">
              <a:lnSpc>
                <a:spcPct val="90000"/>
              </a:lnSpc>
            </a:pPr>
            <a:r>
              <a:rPr lang="zh-CN" altLang="en-US" smtClean="0">
                <a:ea typeface="宋体" panose="02010600030101010101" pitchFamily="2" charset="-122"/>
              </a:rPr>
              <a:t>一个硬件设备，例如磁盘</a:t>
            </a:r>
            <a:r>
              <a:rPr lang="en-US" altLang="zh-CN" smtClean="0">
                <a:ea typeface="宋体" panose="02010600030101010101" pitchFamily="2" charset="-122"/>
              </a:rPr>
              <a:t>/dev/hda</a:t>
            </a:r>
          </a:p>
          <a:p>
            <a:pPr lvl="1">
              <a:lnSpc>
                <a:spcPct val="90000"/>
              </a:lnSpc>
            </a:pPr>
            <a:r>
              <a:rPr lang="zh-CN" altLang="en-US" smtClean="0">
                <a:ea typeface="宋体" panose="02010600030101010101" pitchFamily="2" charset="-122"/>
              </a:rPr>
              <a:t>或硬件设备的某一物理或逻辑分区，例如磁盘分区</a:t>
            </a:r>
            <a:r>
              <a:rPr lang="en-US" altLang="zh-CN" smtClean="0">
                <a:ea typeface="宋体" panose="02010600030101010101" pitchFamily="2" charset="-122"/>
              </a:rPr>
              <a:t>/dev/hda2</a:t>
            </a:r>
          </a:p>
          <a:p>
            <a:pPr lvl="1">
              <a:lnSpc>
                <a:spcPct val="90000"/>
              </a:lnSpc>
            </a:pPr>
            <a:r>
              <a:rPr lang="zh-CN" altLang="en-US" smtClean="0">
                <a:ea typeface="宋体" panose="02010600030101010101" pitchFamily="2" charset="-122"/>
              </a:rPr>
              <a:t>或一个虚拟的逻辑设备（不会与任何硬件设备相关联），例如</a:t>
            </a:r>
            <a:r>
              <a:rPr lang="en-US" altLang="zh-CN" smtClean="0">
                <a:ea typeface="宋体" panose="02010600030101010101" pitchFamily="2" charset="-122"/>
              </a:rPr>
              <a:t>/dev/null</a:t>
            </a:r>
            <a:r>
              <a:rPr lang="zh-CN" altLang="en-US" smtClean="0">
                <a:ea typeface="宋体" panose="02010600030101010101" pitchFamily="2" charset="-122"/>
              </a:rPr>
              <a:t>代表一个“黑洞”</a:t>
            </a:r>
          </a:p>
          <a:p>
            <a:pPr>
              <a:lnSpc>
                <a:spcPct val="90000"/>
              </a:lnSpc>
            </a:pPr>
            <a:r>
              <a:rPr lang="zh-CN" altLang="en-US" sz="2800" smtClean="0">
                <a:ea typeface="宋体" panose="02010600030101010101" pitchFamily="2" charset="-122"/>
              </a:rPr>
              <a:t>对内核而言，一个设备文件的名字是无关紧要的，关键在于设备文件的类型及其主次设备号</a:t>
            </a:r>
          </a:p>
        </p:txBody>
      </p:sp>
      <p:sp>
        <p:nvSpPr>
          <p:cNvPr id="5"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540223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1"/>
          </p:nvPr>
        </p:nvSpPr>
        <p:spPr/>
        <p:txBody>
          <a:bodyPr/>
          <a:lstStyle/>
          <a:p>
            <a:r>
              <a:rPr lang="zh-CN" altLang="en-US" sz="2800" smtClean="0">
                <a:ea typeface="宋体" panose="02010600030101010101" pitchFamily="2" charset="-122"/>
              </a:rPr>
              <a:t>如果一个系统含有两个具有相同主设备号和次设备号的设备文件，而且都是字符设备。当有两个进程想要同时打开这个字符设备时，会发生什么情况？关闭这个设备时又会发生什么情况？</a:t>
            </a:r>
          </a:p>
          <a:p>
            <a:r>
              <a:rPr lang="zh-CN" altLang="en-US" sz="2800" smtClean="0">
                <a:ea typeface="宋体" panose="02010600030101010101" pitchFamily="2" charset="-122"/>
              </a:rPr>
              <a:t>当有两个进程想要同时打开这个字符设备时，它将在各自的文件表中增加一次引用计数值。 关闭这个设备时可能会发生导致对这个设备是一个无法辨认的状态。从而使这个设备变成一个无用的设备。</a:t>
            </a:r>
          </a:p>
        </p:txBody>
      </p:sp>
      <p:sp>
        <p:nvSpPr>
          <p:cNvPr id="5"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731999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a:xfrm>
            <a:off x="404813" y="1101725"/>
            <a:ext cx="8202612" cy="5457825"/>
          </a:xfrm>
        </p:spPr>
        <p:txBody>
          <a:bodyPr/>
          <a:lstStyle/>
          <a:p>
            <a:pPr>
              <a:lnSpc>
                <a:spcPct val="90000"/>
              </a:lnSpc>
            </a:pPr>
            <a:r>
              <a:rPr lang="zh-CN" altLang="en-US" sz="2800" smtClean="0">
                <a:ea typeface="宋体" panose="02010600030101010101" pitchFamily="2" charset="-122"/>
              </a:rPr>
              <a:t>使用主、次设备号标识设备存在局限性</a:t>
            </a:r>
          </a:p>
          <a:p>
            <a:pPr lvl="1">
              <a:lnSpc>
                <a:spcPct val="90000"/>
              </a:lnSpc>
            </a:pPr>
            <a:r>
              <a:rPr lang="zh-CN" altLang="en-US" smtClean="0">
                <a:ea typeface="宋体" panose="02010600030101010101" pitchFamily="2" charset="-122"/>
              </a:rPr>
              <a:t>在</a:t>
            </a:r>
            <a:r>
              <a:rPr lang="en-US" altLang="zh-CN" smtClean="0">
                <a:ea typeface="宋体" panose="02010600030101010101" pitchFamily="2" charset="-122"/>
              </a:rPr>
              <a:t>/dev</a:t>
            </a:r>
            <a:r>
              <a:rPr lang="zh-CN" altLang="en-US" smtClean="0">
                <a:ea typeface="宋体" panose="02010600030101010101" pitchFamily="2" charset="-122"/>
              </a:rPr>
              <a:t>中的大多数设备是不存在的</a:t>
            </a:r>
          </a:p>
          <a:p>
            <a:pPr lvl="1">
              <a:lnSpc>
                <a:spcPct val="90000"/>
              </a:lnSpc>
            </a:pPr>
            <a:r>
              <a:rPr lang="en-US" altLang="zh-CN" smtClean="0">
                <a:ea typeface="宋体" panose="02010600030101010101" pitchFamily="2" charset="-122"/>
              </a:rPr>
              <a:t>8</a:t>
            </a:r>
            <a:r>
              <a:rPr lang="zh-CN" altLang="en-US" smtClean="0">
                <a:ea typeface="宋体" panose="02010600030101010101" pitchFamily="2" charset="-122"/>
              </a:rPr>
              <a:t>位长的主次设备号不够用</a:t>
            </a:r>
          </a:p>
          <a:p>
            <a:pPr lvl="1">
              <a:lnSpc>
                <a:spcPct val="90000"/>
              </a:lnSpc>
            </a:pPr>
            <a:r>
              <a:rPr lang="zh-CN" altLang="en-US" smtClean="0">
                <a:ea typeface="宋体" panose="02010600030101010101" pitchFamily="2" charset="-122"/>
              </a:rPr>
              <a:t>不容易记忆</a:t>
            </a:r>
            <a:endParaRPr lang="en-US" altLang="zh-CN" smtClean="0">
              <a:ea typeface="宋体" panose="02010600030101010101" pitchFamily="2" charset="-122"/>
            </a:endParaRPr>
          </a:p>
          <a:p>
            <a:pPr>
              <a:lnSpc>
                <a:spcPct val="90000"/>
              </a:lnSpc>
            </a:pPr>
            <a:r>
              <a:rPr lang="zh-CN" altLang="en-US" sz="2800" smtClean="0">
                <a:ea typeface="宋体" panose="02010600030101010101" pitchFamily="2" charset="-122"/>
              </a:rPr>
              <a:t>上述原因以及其他的一些因素综合起来，促使了</a:t>
            </a:r>
            <a:r>
              <a:rPr lang="en-US" altLang="zh-CN" sz="2800" smtClean="0">
                <a:ea typeface="宋体" panose="02010600030101010101" pitchFamily="2" charset="-122"/>
              </a:rPr>
              <a:t>devfs</a:t>
            </a:r>
            <a:r>
              <a:rPr lang="zh-CN" altLang="en-US" sz="2800" smtClean="0">
                <a:ea typeface="宋体" panose="02010600030101010101" pitchFamily="2" charset="-122"/>
              </a:rPr>
              <a:t>设备文件的产生</a:t>
            </a:r>
          </a:p>
          <a:p>
            <a:pPr>
              <a:lnSpc>
                <a:spcPct val="90000"/>
              </a:lnSpc>
            </a:pPr>
            <a:r>
              <a:rPr lang="en-US" altLang="zh-CN" sz="2800" smtClean="0">
                <a:ea typeface="宋体" panose="02010600030101010101" pitchFamily="2" charset="-122"/>
              </a:rPr>
              <a:t>Linux 2.4</a:t>
            </a:r>
            <a:r>
              <a:rPr lang="zh-CN" altLang="en-US" sz="2800" smtClean="0">
                <a:ea typeface="宋体" panose="02010600030101010101" pitchFamily="2" charset="-122"/>
              </a:rPr>
              <a:t>以后引入了设备文件系统（</a:t>
            </a:r>
            <a:r>
              <a:rPr lang="en-US" altLang="zh-CN" sz="2800" smtClean="0">
                <a:ea typeface="宋体" panose="02010600030101010101" pitchFamily="2" charset="-122"/>
              </a:rPr>
              <a:t>devfs</a:t>
            </a:r>
            <a:r>
              <a:rPr lang="zh-CN" altLang="en-US" sz="2800" smtClean="0">
                <a:ea typeface="宋体" panose="02010600030101010101" pitchFamily="2" charset="-122"/>
              </a:rPr>
              <a:t>）的概念，所有的设备文件作为一个可以挂装的文件系统，这样就可以被文件系统统一管理，从而设备文件就可以挂装到任何需要的地方。</a:t>
            </a:r>
          </a:p>
          <a:p>
            <a:pPr>
              <a:lnSpc>
                <a:spcPct val="90000"/>
              </a:lnSpc>
            </a:pPr>
            <a:r>
              <a:rPr lang="zh-CN" altLang="en-US" sz="2800" smtClean="0">
                <a:ea typeface="宋体" panose="02010600030101010101" pitchFamily="2" charset="-122"/>
              </a:rPr>
              <a:t>一般将主设备建立一个目录，再将具体的子设备文件建立在此目录下。例如，</a:t>
            </a:r>
            <a:r>
              <a:rPr lang="en-US" altLang="zh-CN" sz="2800" smtClean="0">
                <a:ea typeface="宋体" panose="02010600030101010101" pitchFamily="2" charset="-122"/>
              </a:rPr>
              <a:t>/dev/mtdblock0</a:t>
            </a:r>
          </a:p>
        </p:txBody>
      </p:sp>
      <p:sp>
        <p:nvSpPr>
          <p:cNvPr id="5"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473910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366713" y="1546225"/>
            <a:ext cx="8202612" cy="4741863"/>
          </a:xfrm>
        </p:spPr>
        <p:txBody>
          <a:bodyPr/>
          <a:lstStyle/>
          <a:p>
            <a:pPr>
              <a:lnSpc>
                <a:spcPct val="90000"/>
              </a:lnSpc>
            </a:pPr>
            <a:r>
              <a:rPr lang="zh-CN" altLang="en-US" sz="2800" dirty="0" smtClean="0">
                <a:ea typeface="宋体" panose="02010600030101010101" pitchFamily="2" charset="-122"/>
              </a:rPr>
              <a:t>有了</a:t>
            </a:r>
            <a:r>
              <a:rPr lang="en-US" altLang="zh-CN" sz="2800" dirty="0" err="1" smtClean="0">
                <a:ea typeface="宋体" panose="02010600030101010101" pitchFamily="2" charset="-122"/>
              </a:rPr>
              <a:t>Devfs</a:t>
            </a:r>
            <a:r>
              <a:rPr lang="zh-CN" altLang="en-US" sz="2800" dirty="0" smtClean="0">
                <a:ea typeface="宋体" panose="02010600030101010101" pitchFamily="2" charset="-122"/>
              </a:rPr>
              <a:t>设备文件之后，文件系统允许设备驱动程序通过名字而不是主次设备号注册设备，例如</a:t>
            </a:r>
          </a:p>
          <a:p>
            <a:pPr lvl="1">
              <a:lnSpc>
                <a:spcPct val="90000"/>
              </a:lnSpc>
            </a:pPr>
            <a:r>
              <a:rPr lang="zh-CN" altLang="en-US" dirty="0" smtClean="0">
                <a:ea typeface="宋体" panose="02010600030101010101" pitchFamily="2" charset="-122"/>
              </a:rPr>
              <a:t>所有的磁盘可以放在</a:t>
            </a:r>
            <a:r>
              <a:rPr lang="en-US" altLang="zh-CN" dirty="0" smtClean="0">
                <a:ea typeface="宋体" panose="02010600030101010101" pitchFamily="2" charset="-122"/>
              </a:rPr>
              <a:t>/dev/disks</a:t>
            </a:r>
            <a:r>
              <a:rPr lang="zh-CN" altLang="en-US" dirty="0" smtClean="0">
                <a:ea typeface="宋体" panose="02010600030101010101" pitchFamily="2" charset="-122"/>
              </a:rPr>
              <a:t>目录下</a:t>
            </a:r>
          </a:p>
          <a:p>
            <a:pPr lvl="1">
              <a:lnSpc>
                <a:spcPct val="90000"/>
              </a:lnSpc>
            </a:pPr>
            <a:r>
              <a:rPr lang="en-US" altLang="zh-CN" dirty="0" smtClean="0">
                <a:ea typeface="宋体" panose="02010600030101010101" pitchFamily="2" charset="-122"/>
              </a:rPr>
              <a:t>/dev/</a:t>
            </a:r>
            <a:r>
              <a:rPr lang="en-US" altLang="zh-CN" dirty="0" err="1" smtClean="0">
                <a:ea typeface="宋体" panose="02010600030101010101" pitchFamily="2" charset="-122"/>
              </a:rPr>
              <a:t>hda</a:t>
            </a:r>
            <a:r>
              <a:rPr lang="en-US" altLang="zh-CN" dirty="0" smtClean="0">
                <a:ea typeface="宋体" panose="02010600030101010101" pitchFamily="2" charset="-122"/>
                <a:sym typeface="Wingdings" panose="05000000000000000000" pitchFamily="2" charset="2"/>
              </a:rPr>
              <a:t>/dev/disks/disc0</a:t>
            </a:r>
          </a:p>
          <a:p>
            <a:pPr lvl="1">
              <a:lnSpc>
                <a:spcPct val="90000"/>
              </a:lnSpc>
            </a:pPr>
            <a:r>
              <a:rPr lang="en-US" altLang="zh-CN" dirty="0" smtClean="0">
                <a:ea typeface="宋体" panose="02010600030101010101" pitchFamily="2" charset="-122"/>
              </a:rPr>
              <a:t>/dev/</a:t>
            </a:r>
            <a:r>
              <a:rPr lang="en-US" altLang="zh-CN" dirty="0" err="1" smtClean="0">
                <a:ea typeface="宋体" panose="02010600030101010101" pitchFamily="2" charset="-122"/>
              </a:rPr>
              <a:t>hdb</a:t>
            </a:r>
            <a:r>
              <a:rPr lang="en-US" altLang="zh-CN" dirty="0" smtClean="0">
                <a:ea typeface="宋体" panose="02010600030101010101" pitchFamily="2" charset="-122"/>
                <a:sym typeface="Wingdings" panose="05000000000000000000" pitchFamily="2" charset="2"/>
              </a:rPr>
              <a:t>/dev/disks/disc1</a:t>
            </a:r>
          </a:p>
          <a:p>
            <a:pPr>
              <a:lnSpc>
                <a:spcPct val="90000"/>
              </a:lnSpc>
            </a:pPr>
            <a:r>
              <a:rPr lang="zh-CN" altLang="en-US" sz="2800" dirty="0" smtClean="0">
                <a:ea typeface="宋体" panose="02010600030101010101" pitchFamily="2" charset="-122"/>
              </a:rPr>
              <a:t>使用</a:t>
            </a:r>
            <a:r>
              <a:rPr lang="en-US" altLang="zh-CN" sz="2800" dirty="0" err="1" smtClean="0">
                <a:ea typeface="宋体" panose="02010600030101010101" pitchFamily="2" charset="-122"/>
              </a:rPr>
              <a:t>devfs</a:t>
            </a:r>
            <a:r>
              <a:rPr lang="zh-CN" altLang="en-US" sz="2800" dirty="0" smtClean="0">
                <a:ea typeface="宋体" panose="02010600030101010101" pitchFamily="2" charset="-122"/>
              </a:rPr>
              <a:t>文件系统的</a:t>
            </a:r>
            <a:r>
              <a:rPr lang="en-US" altLang="zh-CN" sz="2800" dirty="0" smtClean="0">
                <a:ea typeface="宋体" panose="02010600030101010101" pitchFamily="2" charset="-122"/>
              </a:rPr>
              <a:t>I/O</a:t>
            </a:r>
            <a:r>
              <a:rPr lang="zh-CN" altLang="en-US" sz="2800" dirty="0" smtClean="0">
                <a:ea typeface="宋体" panose="02010600030101010101" pitchFamily="2" charset="-122"/>
              </a:rPr>
              <a:t>驱动程序通过调用</a:t>
            </a:r>
            <a:r>
              <a:rPr lang="en-US" altLang="zh-CN" sz="2800" dirty="0" err="1" smtClean="0">
                <a:ea typeface="宋体" panose="02010600030101010101" pitchFamily="2" charset="-122"/>
              </a:rPr>
              <a:t>devfs_register</a:t>
            </a:r>
            <a:r>
              <a:rPr lang="en-US" altLang="zh-CN" sz="2800" dirty="0" smtClean="0">
                <a:ea typeface="宋体" panose="02010600030101010101" pitchFamily="2" charset="-122"/>
              </a:rPr>
              <a:t>()</a:t>
            </a:r>
            <a:r>
              <a:rPr lang="zh-CN" altLang="en-US" sz="2800" dirty="0" smtClean="0">
                <a:ea typeface="宋体" panose="02010600030101010101" pitchFamily="2" charset="-122"/>
              </a:rPr>
              <a:t>注册设备</a:t>
            </a:r>
          </a:p>
          <a:p>
            <a:pPr>
              <a:lnSpc>
                <a:spcPct val="90000"/>
              </a:lnSpc>
            </a:pPr>
            <a:r>
              <a:rPr lang="zh-CN" altLang="en-US" sz="2800" dirty="0" smtClean="0">
                <a:ea typeface="宋体" panose="02010600030101010101" pitchFamily="2" charset="-122"/>
              </a:rPr>
              <a:t>一个注册了的设备文件，自动出现在</a:t>
            </a:r>
            <a:r>
              <a:rPr lang="en-US" altLang="zh-CN" sz="2800" dirty="0" err="1" smtClean="0">
                <a:ea typeface="宋体" panose="02010600030101010101" pitchFamily="2" charset="-122"/>
              </a:rPr>
              <a:t>devfs</a:t>
            </a:r>
            <a:r>
              <a:rPr lang="zh-CN" altLang="en-US" sz="2800" dirty="0" smtClean="0">
                <a:ea typeface="宋体" panose="02010600030101010101" pitchFamily="2" charset="-122"/>
              </a:rPr>
              <a:t>的虚拟目录下</a:t>
            </a:r>
            <a:endParaRPr lang="en-US" altLang="zh-CN" sz="2800" dirty="0" smtClean="0">
              <a:ea typeface="宋体" panose="02010600030101010101" pitchFamily="2" charset="-122"/>
            </a:endParaRPr>
          </a:p>
        </p:txBody>
      </p:sp>
      <p:sp>
        <p:nvSpPr>
          <p:cNvPr id="5" name="Rectangle 2"/>
          <p:cNvSpPr>
            <a:spLocks noGrp="1" noChangeArrowheads="1"/>
          </p:cNvSpPr>
          <p:nvPr>
            <p:ph type="title"/>
          </p:nvPr>
        </p:nvSpPr>
        <p:spPr>
          <a:xfrm>
            <a:off x="685800" y="15235"/>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827600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14400" y="1173163"/>
            <a:ext cx="6524625" cy="844550"/>
          </a:xfrm>
        </p:spPr>
        <p:txBody>
          <a:bodyPr/>
          <a:lstStyle/>
          <a:p>
            <a:r>
              <a:rPr lang="zh-CN" altLang="en-US" smtClean="0">
                <a:solidFill>
                  <a:srgbClr val="000000"/>
                </a:solidFill>
                <a:ea typeface="宋体" panose="02010600030101010101" pitchFamily="2" charset="-122"/>
              </a:rPr>
              <a:t>设备文件的</a:t>
            </a:r>
            <a:r>
              <a:rPr lang="en-US" altLang="zh-CN" smtClean="0">
                <a:solidFill>
                  <a:srgbClr val="000000"/>
                </a:solidFill>
                <a:ea typeface="宋体" panose="02010600030101010101" pitchFamily="2" charset="-122"/>
              </a:rPr>
              <a:t>VFS</a:t>
            </a:r>
            <a:r>
              <a:rPr lang="zh-CN" altLang="en-US" smtClean="0">
                <a:solidFill>
                  <a:srgbClr val="000000"/>
                </a:solidFill>
                <a:ea typeface="宋体" panose="02010600030101010101" pitchFamily="2" charset="-122"/>
              </a:rPr>
              <a:t>处理</a:t>
            </a:r>
          </a:p>
        </p:txBody>
      </p:sp>
      <p:sp>
        <p:nvSpPr>
          <p:cNvPr id="28675" name="Rectangle 3"/>
          <p:cNvSpPr>
            <a:spLocks noGrp="1" noChangeArrowheads="1"/>
          </p:cNvSpPr>
          <p:nvPr>
            <p:ph type="body" idx="1"/>
          </p:nvPr>
        </p:nvSpPr>
        <p:spPr>
          <a:xfrm>
            <a:off x="304800" y="1884363"/>
            <a:ext cx="8202613" cy="5100637"/>
          </a:xfrm>
        </p:spPr>
        <p:txBody>
          <a:bodyPr/>
          <a:lstStyle/>
          <a:p>
            <a:r>
              <a:rPr lang="zh-CN" altLang="en-US" sz="2800" dirty="0" smtClean="0">
                <a:ea typeface="宋体" panose="02010600030101010101" pitchFamily="2" charset="-122"/>
              </a:rPr>
              <a:t>进程访问普通文件时，通过文件系统访问磁盘分区中的数据块</a:t>
            </a:r>
          </a:p>
          <a:p>
            <a:r>
              <a:rPr lang="zh-CN" altLang="en-US" sz="2800" dirty="0" smtClean="0">
                <a:ea typeface="宋体" panose="02010600030101010101" pitchFamily="2" charset="-122"/>
              </a:rPr>
              <a:t>当进程访问设备文件时，却可以驱动硬件设备</a:t>
            </a:r>
          </a:p>
          <a:p>
            <a:r>
              <a:rPr kumimoji="0" lang="zh-CN" altLang="en-US" sz="2800" dirty="0" smtClean="0">
                <a:ea typeface="宋体" panose="02010600030101010101" pitchFamily="2" charset="-122"/>
              </a:rPr>
              <a:t>途径：</a:t>
            </a:r>
            <a:r>
              <a:rPr kumimoji="0" lang="en-US" altLang="zh-CN" sz="2800" dirty="0" smtClean="0">
                <a:ea typeface="宋体" panose="02010600030101010101" pitchFamily="2" charset="-122"/>
              </a:rPr>
              <a:t>V</a:t>
            </a:r>
            <a:r>
              <a:rPr lang="en-US" altLang="zh-CN" sz="2800" dirty="0" smtClean="0">
                <a:ea typeface="宋体" panose="02010600030101010101" pitchFamily="2" charset="-122"/>
              </a:rPr>
              <a:t>FS</a:t>
            </a:r>
            <a:r>
              <a:rPr lang="zh-CN" altLang="en-US" sz="2800" dirty="0" smtClean="0">
                <a:ea typeface="宋体" panose="02010600030101010101" pitchFamily="2" charset="-122"/>
              </a:rPr>
              <a:t>在设备文件打开时使用与设备相关的函数调用替换其缺省的文件操作</a:t>
            </a:r>
          </a:p>
          <a:p>
            <a:pPr lvl="1"/>
            <a:r>
              <a:rPr lang="zh-CN" altLang="en-US" dirty="0" smtClean="0">
                <a:ea typeface="宋体" panose="02010600030101010101" pitchFamily="2" charset="-122"/>
              </a:rPr>
              <a:t>这些设备相关函数调用对硬件设备进行操作</a:t>
            </a:r>
            <a:endParaRPr lang="en-US" altLang="zh-CN" dirty="0" smtClean="0">
              <a:ea typeface="宋体" panose="02010600030101010101" pitchFamily="2" charset="-122"/>
            </a:endParaRPr>
          </a:p>
          <a:p>
            <a:r>
              <a:rPr lang="zh-CN" altLang="en-US" sz="2800" b="1" dirty="0" smtClean="0">
                <a:ea typeface="宋体" panose="02010600030101010101" pitchFamily="2" charset="-122"/>
              </a:rPr>
              <a:t>驱动程序使用的</a:t>
            </a:r>
            <a:r>
              <a:rPr lang="en-US" altLang="zh-CN" sz="2800" b="1" dirty="0" smtClean="0">
                <a:ea typeface="宋体" panose="02010600030101010101" pitchFamily="2" charset="-122"/>
              </a:rPr>
              <a:t>2</a:t>
            </a:r>
            <a:r>
              <a:rPr lang="zh-CN" altLang="en-US" sz="2800" b="1" dirty="0" smtClean="0">
                <a:ea typeface="宋体" panose="02010600030101010101" pitchFamily="2" charset="-122"/>
              </a:rPr>
              <a:t>个重要结构</a:t>
            </a:r>
          </a:p>
          <a:p>
            <a:pPr lvl="1"/>
            <a:r>
              <a:rPr lang="en-US" altLang="zh-CN" sz="2400" dirty="0" err="1" smtClean="0">
                <a:ea typeface="宋体" panose="02010600030101010101" pitchFamily="2" charset="-122"/>
              </a:rPr>
              <a:t>struct</a:t>
            </a:r>
            <a:r>
              <a:rPr lang="en-US" altLang="zh-CN" sz="2400" dirty="0" smtClean="0">
                <a:ea typeface="宋体" panose="02010600030101010101" pitchFamily="2" charset="-122"/>
              </a:rPr>
              <a:t> file</a:t>
            </a:r>
          </a:p>
          <a:p>
            <a:pPr lvl="1"/>
            <a:r>
              <a:rPr lang="en-US" altLang="zh-CN" sz="2400" dirty="0" err="1" smtClean="0">
                <a:ea typeface="宋体" panose="02010600030101010101" pitchFamily="2" charset="-122"/>
              </a:rPr>
              <a:t>struct</a:t>
            </a:r>
            <a:r>
              <a:rPr lang="en-US" altLang="zh-CN" sz="2400" dirty="0" smtClean="0">
                <a:ea typeface="宋体" panose="02010600030101010101" pitchFamily="2" charset="-122"/>
              </a:rPr>
              <a:t> </a:t>
            </a:r>
            <a:r>
              <a:rPr lang="en-US" altLang="zh-CN" sz="2400" dirty="0" err="1" smtClean="0">
                <a:ea typeface="宋体" panose="02010600030101010101" pitchFamily="2" charset="-122"/>
              </a:rPr>
              <a:t>file_operations</a:t>
            </a:r>
            <a:endParaRPr lang="en-US" altLang="zh-CN" sz="2400" dirty="0" smtClean="0">
              <a:ea typeface="宋体" panose="02010600030101010101" pitchFamily="2" charset="-122"/>
            </a:endParaRPr>
          </a:p>
          <a:p>
            <a:pPr lvl="1">
              <a:buFont typeface="Monotype Sorts" pitchFamily="2" charset="2"/>
              <a:buNone/>
            </a:pPr>
            <a:endParaRPr lang="zh-CN" altLang="en-US" sz="2400" dirty="0" smtClean="0">
              <a:ea typeface="宋体" panose="02010600030101010101" pitchFamily="2" charset="-122"/>
            </a:endParaRPr>
          </a:p>
          <a:p>
            <a:pPr lvl="1"/>
            <a:endParaRPr lang="en-US" altLang="zh-CN" dirty="0" smtClean="0">
              <a:ea typeface="宋体" panose="02010600030101010101" pitchFamily="2" charset="-122"/>
            </a:endParaRPr>
          </a:p>
        </p:txBody>
      </p:sp>
      <p:sp>
        <p:nvSpPr>
          <p:cNvPr id="5" name="Rectangle 2"/>
          <p:cNvSpPr txBox="1">
            <a:spLocks noChangeArrowheads="1"/>
          </p:cNvSpPr>
          <p:nvPr/>
        </p:nvSpPr>
        <p:spPr bwMode="black">
          <a:xfrm>
            <a:off x="685800" y="15235"/>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r>
              <a:rPr lang="en-US" altLang="zh-CN" kern="0"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kern="0"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kern="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543767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67782" y="0"/>
            <a:ext cx="7772400" cy="844550"/>
          </a:xfrm>
        </p:spPr>
        <p:txBody>
          <a:bodyPr/>
          <a:lstStyle/>
          <a:p>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设备文件： </a:t>
            </a:r>
            <a:r>
              <a:rPr lang="en-US" altLang="zh-CN" sz="3600" b="0" dirty="0" err="1" smtClean="0">
                <a:latin typeface="Times New Roman" panose="02020603050405020304" pitchFamily="18" charset="0"/>
                <a:ea typeface="宋体" panose="02010600030101010101" pitchFamily="2" charset="-122"/>
                <a:cs typeface="Times New Roman" panose="02020603050405020304" pitchFamily="18" charset="0"/>
              </a:rPr>
              <a:t>struct</a:t>
            </a:r>
            <a:r>
              <a:rPr lang="en-US" altLang="zh-CN" sz="3600" b="0" dirty="0" smtClean="0">
                <a:latin typeface="Times New Roman" panose="02020603050405020304" pitchFamily="18" charset="0"/>
                <a:ea typeface="宋体" panose="02010600030101010101" pitchFamily="2" charset="-122"/>
                <a:cs typeface="Times New Roman" panose="02020603050405020304" pitchFamily="18" charset="0"/>
              </a:rPr>
              <a:t> file</a:t>
            </a:r>
            <a:r>
              <a:rPr lang="zh-CN" altLang="en-US" sz="3600" b="0" dirty="0" smtClean="0">
                <a:latin typeface="Times New Roman" panose="02020603050405020304" pitchFamily="18" charset="0"/>
                <a:ea typeface="宋体" panose="02010600030101010101" pitchFamily="2" charset="-122"/>
                <a:cs typeface="Times New Roman" panose="02020603050405020304" pitchFamily="18" charset="0"/>
              </a:rPr>
              <a:t>数据结构</a:t>
            </a:r>
            <a:endParaRPr lang="en-US" altLang="zh-CN" sz="3600" b="0"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699" name="Rectangle 3"/>
          <p:cNvSpPr>
            <a:spLocks noGrp="1" noChangeArrowheads="1"/>
          </p:cNvSpPr>
          <p:nvPr>
            <p:ph type="body" idx="1"/>
          </p:nvPr>
        </p:nvSpPr>
        <p:spPr>
          <a:xfrm>
            <a:off x="179512" y="844550"/>
            <a:ext cx="9407482" cy="5100638"/>
          </a:xfrm>
        </p:spPr>
        <p:txBody>
          <a:bodyPr/>
          <a:lstStyle/>
          <a:p>
            <a:pPr>
              <a:lnSpc>
                <a:spcPct val="80000"/>
              </a:lnSpc>
              <a:buFont typeface="Monotype Sorts" pitchFamily="2" charset="2"/>
              <a:buNone/>
            </a:pPr>
            <a:r>
              <a:rPr lang="en-US" altLang="zh-CN"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struct</a:t>
            </a:r>
            <a:r>
              <a:rPr lang="en-US" altLang="zh-CN"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file</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struct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dentry</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f_dentry</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文件对应的目录项结构</a:t>
            </a: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struct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file_operations</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f_op</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文件操作的结构指针</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a:p>
            <a:pPr>
              <a:lnSpc>
                <a:spcPct val="80000"/>
              </a:lnSpc>
              <a:buFont typeface="Monotype Sorts" pitchFamily="2" charset="2"/>
              <a:buNone/>
            </a:pP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unsigned  short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f_flags</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文件标志阻塞</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非阻塞操作时检查</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undigned</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short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f_count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mode_t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f_mode</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标识文件的读写权限</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Loff_t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f_pos</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当前读写位置</a:t>
            </a:r>
          </a:p>
          <a:p>
            <a:pPr>
              <a:lnSpc>
                <a:spcPct val="80000"/>
              </a:lnSpc>
              <a:buFont typeface="Monotype Sorts" pitchFamily="2" charset="2"/>
              <a:buNone/>
            </a:pP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unsigned long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f_reada,f_ramax,f_reddb,f_rawin</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struct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file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f_next,f_prev</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struct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fown_struct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f_owner</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int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f_error</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p>
          <a:p>
            <a:pPr>
              <a:lnSpc>
                <a:spcPct val="80000"/>
              </a:lnSpc>
              <a:buFont typeface="Monotype Sorts" pitchFamily="2" charset="2"/>
              <a:buNone/>
            </a:pP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unsigned long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f_version</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p>
          <a:p>
            <a:pPr>
              <a:lnSpc>
                <a:spcPct val="80000"/>
              </a:lnSpc>
              <a:buFont typeface="Monotype Sorts" pitchFamily="2" charset="2"/>
              <a:buNone/>
            </a:pP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void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private_data</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指向已经分配的数据</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a:p>
            <a:pPr>
              <a:lnSpc>
                <a:spcPct val="80000"/>
              </a:lnSpc>
              <a:buFont typeface="Monotype Sorts" pitchFamily="2" charset="2"/>
              <a:buNone/>
            </a:pP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struct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inode</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f_inode</a:t>
            </a:r>
            <a:r>
              <a:rPr lang="en-US" altLang="zh-CN"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smtClean="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a:p>
            <a:pPr>
              <a:lnSpc>
                <a:spcPct val="80000"/>
              </a:lnSpc>
              <a:buFont typeface="Monotype Sorts" pitchFamily="2" charset="2"/>
              <a:buNone/>
            </a:pP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25808296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019300" y="1189038"/>
            <a:ext cx="7772400" cy="844550"/>
          </a:xfrm>
        </p:spPr>
        <p:txBody>
          <a:bodyPr/>
          <a:lstStyle/>
          <a:p>
            <a:r>
              <a:rPr lang="zh-CN" altLang="en-US" smtClean="0">
                <a:solidFill>
                  <a:srgbClr val="000000"/>
                </a:solidFill>
                <a:ea typeface="宋体" panose="02010600030101010101" pitchFamily="2" charset="-122"/>
              </a:rPr>
              <a:t>设备文件：</a:t>
            </a:r>
            <a:r>
              <a:rPr lang="en-US" altLang="zh-CN" smtClean="0">
                <a:solidFill>
                  <a:srgbClr val="000000"/>
                </a:solidFill>
                <a:ea typeface="宋体" panose="02010600030101010101" pitchFamily="2" charset="-122"/>
              </a:rPr>
              <a:t>i</a:t>
            </a:r>
            <a:r>
              <a:rPr lang="zh-CN" altLang="en-US" smtClean="0">
                <a:solidFill>
                  <a:srgbClr val="000000"/>
                </a:solidFill>
                <a:ea typeface="宋体" panose="02010600030101010101" pitchFamily="2" charset="-122"/>
              </a:rPr>
              <a:t>节点</a:t>
            </a:r>
          </a:p>
        </p:txBody>
      </p:sp>
      <p:sp>
        <p:nvSpPr>
          <p:cNvPr id="30723" name="Rectangle 3"/>
          <p:cNvSpPr>
            <a:spLocks noGrp="1" noChangeArrowheads="1"/>
          </p:cNvSpPr>
          <p:nvPr>
            <p:ph type="body" idx="1"/>
          </p:nvPr>
        </p:nvSpPr>
        <p:spPr>
          <a:xfrm>
            <a:off x="366713" y="1501775"/>
            <a:ext cx="8202612" cy="5100638"/>
          </a:xfrm>
        </p:spPr>
        <p:txBody>
          <a:bodyPr/>
          <a:lstStyle/>
          <a:p>
            <a:endParaRPr lang="zh-CN" altLang="en-US" smtClean="0">
              <a:ea typeface="宋体" panose="02010600030101010101" pitchFamily="2" charset="-122"/>
            </a:endParaRPr>
          </a:p>
          <a:p>
            <a:pPr>
              <a:lnSpc>
                <a:spcPct val="150000"/>
              </a:lnSpc>
            </a:pPr>
            <a:r>
              <a:rPr lang="zh-CN" altLang="en-US" sz="2400" smtClean="0">
                <a:latin typeface="宋体" panose="02010600030101010101" pitchFamily="2" charset="-122"/>
                <a:ea typeface="宋体" panose="02010600030101010101" pitchFamily="2" charset="-122"/>
              </a:rPr>
              <a:t>每一个设备文件使用唯一的</a:t>
            </a:r>
            <a:r>
              <a:rPr lang="en-US" altLang="zh-CN" sz="2400" smtClean="0">
                <a:latin typeface="宋体" panose="02010600030101010101" pitchFamily="2" charset="-122"/>
                <a:ea typeface="宋体" panose="02010600030101010101" pitchFamily="2" charset="-122"/>
              </a:rPr>
              <a:t>i</a:t>
            </a:r>
            <a:r>
              <a:rPr lang="zh-CN" altLang="en-US" sz="2400" smtClean="0">
                <a:latin typeface="宋体" panose="02010600030101010101" pitchFamily="2" charset="-122"/>
                <a:ea typeface="宋体" panose="02010600030101010101" pitchFamily="2" charset="-122"/>
              </a:rPr>
              <a:t>节点来标识；</a:t>
            </a:r>
            <a:endParaRPr lang="en-US" altLang="zh-CN" sz="2400" smtClean="0">
              <a:latin typeface="宋体" panose="02010600030101010101" pitchFamily="2" charset="-122"/>
              <a:ea typeface="宋体" panose="02010600030101010101" pitchFamily="2" charset="-122"/>
            </a:endParaRPr>
          </a:p>
          <a:p>
            <a:pPr>
              <a:lnSpc>
                <a:spcPct val="150000"/>
              </a:lnSpc>
            </a:pPr>
            <a:r>
              <a:rPr lang="zh-CN" altLang="en-US" sz="2400" smtClean="0">
                <a:ea typeface="宋体" panose="02010600030101010101" pitchFamily="2" charset="-122"/>
              </a:rPr>
              <a:t>在</a:t>
            </a:r>
            <a:r>
              <a:rPr lang="en-US" altLang="zh-CN" sz="2400" smtClean="0">
                <a:ea typeface="宋体" panose="02010600030101010101" pitchFamily="2" charset="-122"/>
              </a:rPr>
              <a:t>i</a:t>
            </a:r>
            <a:r>
              <a:rPr lang="zh-CN" altLang="en-US" sz="2400" smtClean="0">
                <a:ea typeface="宋体" panose="02010600030101010101" pitchFamily="2" charset="-122"/>
              </a:rPr>
              <a:t>节点中包含设备的主设备号和次设备号，并且和一组文件操作函数的指针相联系。</a:t>
            </a:r>
            <a:endParaRPr lang="zh-CN" altLang="en-US" sz="2400" smtClean="0">
              <a:latin typeface="宋体" panose="02010600030101010101" pitchFamily="2" charset="-122"/>
              <a:ea typeface="宋体" panose="02010600030101010101" pitchFamily="2" charset="-122"/>
            </a:endParaRPr>
          </a:p>
          <a:p>
            <a:pPr>
              <a:lnSpc>
                <a:spcPct val="150000"/>
              </a:lnSpc>
            </a:pPr>
            <a:r>
              <a:rPr lang="zh-CN" altLang="en-US" sz="2400" smtClean="0">
                <a:latin typeface="宋体" panose="02010600030101010101" pitchFamily="2" charset="-122"/>
                <a:ea typeface="宋体" panose="02010600030101010101" pitchFamily="2" charset="-122"/>
              </a:rPr>
              <a:t> 设备文件</a:t>
            </a:r>
            <a:r>
              <a:rPr lang="en-US" altLang="zh-CN" sz="2400" smtClean="0">
                <a:latin typeface="宋体" panose="02010600030101010101" pitchFamily="2" charset="-122"/>
                <a:ea typeface="宋体" panose="02010600030101010101" pitchFamily="2" charset="-122"/>
              </a:rPr>
              <a:t>i</a:t>
            </a:r>
            <a:r>
              <a:rPr lang="zh-CN" altLang="en-US" sz="2400" smtClean="0">
                <a:latin typeface="宋体" panose="02010600030101010101" pitchFamily="2" charset="-122"/>
                <a:ea typeface="宋体" panose="02010600030101010101" pitchFamily="2" charset="-122"/>
              </a:rPr>
              <a:t>节点不指向文件系统中的任何实际的物理块，不占用数据空间，通过这个</a:t>
            </a:r>
            <a:r>
              <a:rPr lang="en-US" altLang="zh-CN" sz="2400" smtClean="0">
                <a:latin typeface="宋体" panose="02010600030101010101" pitchFamily="2" charset="-122"/>
                <a:ea typeface="宋体" panose="02010600030101010101" pitchFamily="2" charset="-122"/>
              </a:rPr>
              <a:t>i</a:t>
            </a:r>
            <a:r>
              <a:rPr lang="zh-CN" altLang="en-US" sz="2400" smtClean="0">
                <a:latin typeface="宋体" panose="02010600030101010101" pitchFamily="2" charset="-122"/>
                <a:ea typeface="宋体" panose="02010600030101010101" pitchFamily="2" charset="-122"/>
              </a:rPr>
              <a:t>节点可以访问相应的设备驱动程序，对设备文件的操作就是直接对设备本身进行相应的操作。</a:t>
            </a:r>
          </a:p>
          <a:p>
            <a:endParaRPr lang="zh-CN" altLang="en-US" sz="2400" smtClean="0">
              <a:latin typeface="宋体" panose="02010600030101010101" pitchFamily="2" charset="-122"/>
              <a:ea typeface="宋体" panose="02010600030101010101" pitchFamily="2" charset="-122"/>
            </a:endParaRPr>
          </a:p>
        </p:txBody>
      </p:sp>
      <p:sp>
        <p:nvSpPr>
          <p:cNvPr id="5" name="Rectangle 2"/>
          <p:cNvSpPr txBox="1">
            <a:spLocks noChangeArrowheads="1"/>
          </p:cNvSpPr>
          <p:nvPr/>
        </p:nvSpPr>
        <p:spPr bwMode="black">
          <a:xfrm>
            <a:off x="685800" y="15235"/>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itchFamily="2" charset="-122"/>
                <a:ea typeface="黑体" pitchFamily="2" charset="-122"/>
              </a:defRPr>
            </a:lvl2pPr>
            <a:lvl3pPr algn="ctr" rtl="0" eaLnBrk="0" fontAlgn="base" hangingPunct="0">
              <a:spcBef>
                <a:spcPct val="0"/>
              </a:spcBef>
              <a:spcAft>
                <a:spcPct val="0"/>
              </a:spcAft>
              <a:defRPr sz="3200" b="1">
                <a:solidFill>
                  <a:schemeClr val="tx1"/>
                </a:solidFill>
                <a:latin typeface="黑体" pitchFamily="2" charset="-122"/>
                <a:ea typeface="黑体" pitchFamily="2" charset="-122"/>
              </a:defRPr>
            </a:lvl3pPr>
            <a:lvl4pPr algn="ctr" rtl="0" eaLnBrk="0" fontAlgn="base" hangingPunct="0">
              <a:spcBef>
                <a:spcPct val="0"/>
              </a:spcBef>
              <a:spcAft>
                <a:spcPct val="0"/>
              </a:spcAft>
              <a:defRPr sz="3200" b="1">
                <a:solidFill>
                  <a:schemeClr val="tx1"/>
                </a:solidFill>
                <a:latin typeface="黑体" pitchFamily="2" charset="-122"/>
                <a:ea typeface="黑体" pitchFamily="2" charset="-122"/>
              </a:defRPr>
            </a:lvl4pPr>
            <a:lvl5pPr algn="ctr" rtl="0" eaLnBrk="0" fontAlgn="base" hangingPunct="0">
              <a:spcBef>
                <a:spcPct val="0"/>
              </a:spcBef>
              <a:spcAft>
                <a:spcPct val="0"/>
              </a:spcAft>
              <a:defRPr sz="3200" b="1">
                <a:solidFill>
                  <a:schemeClr val="tx1"/>
                </a:solidFill>
                <a:latin typeface="黑体" pitchFamily="2" charset="-122"/>
                <a:ea typeface="黑体" pitchFamily="2" charset="-122"/>
              </a:defRPr>
            </a:lvl5pPr>
            <a:lvl6pPr marL="457200" algn="ctr" rtl="0" fontAlgn="base">
              <a:spcBef>
                <a:spcPct val="0"/>
              </a:spcBef>
              <a:spcAft>
                <a:spcPct val="0"/>
              </a:spcAft>
              <a:defRPr sz="3200" b="1">
                <a:solidFill>
                  <a:schemeClr val="tx1"/>
                </a:solidFill>
                <a:latin typeface="黑体" pitchFamily="2" charset="-122"/>
                <a:ea typeface="黑体" pitchFamily="2" charset="-122"/>
              </a:defRPr>
            </a:lvl6pPr>
            <a:lvl7pPr marL="914400" algn="ctr" rtl="0" fontAlgn="base">
              <a:spcBef>
                <a:spcPct val="0"/>
              </a:spcBef>
              <a:spcAft>
                <a:spcPct val="0"/>
              </a:spcAft>
              <a:defRPr sz="3200" b="1">
                <a:solidFill>
                  <a:schemeClr val="tx1"/>
                </a:solidFill>
                <a:latin typeface="黑体" pitchFamily="2" charset="-122"/>
                <a:ea typeface="黑体" pitchFamily="2" charset="-122"/>
              </a:defRPr>
            </a:lvl7pPr>
            <a:lvl8pPr marL="1371600" algn="ctr" rtl="0" fontAlgn="base">
              <a:spcBef>
                <a:spcPct val="0"/>
              </a:spcBef>
              <a:spcAft>
                <a:spcPct val="0"/>
              </a:spcAft>
              <a:defRPr sz="3200" b="1">
                <a:solidFill>
                  <a:schemeClr val="tx1"/>
                </a:solidFill>
                <a:latin typeface="黑体" pitchFamily="2" charset="-122"/>
                <a:ea typeface="黑体" pitchFamily="2" charset="-122"/>
              </a:defRPr>
            </a:lvl8pPr>
            <a:lvl9pPr marL="1828800" algn="ctr" rtl="0" fontAlgn="base">
              <a:spcBef>
                <a:spcPct val="0"/>
              </a:spcBef>
              <a:spcAft>
                <a:spcPct val="0"/>
              </a:spcAft>
              <a:defRPr sz="3200" b="1">
                <a:solidFill>
                  <a:schemeClr val="tx1"/>
                </a:solidFill>
                <a:latin typeface="黑体" pitchFamily="2" charset="-122"/>
                <a:ea typeface="黑体" pitchFamily="2" charset="-122"/>
              </a:defRPr>
            </a:lvl9pPr>
          </a:lstStyle>
          <a:p>
            <a:r>
              <a:rPr lang="en-US" altLang="zh-CN" kern="0" dirty="0" smtClean="0">
                <a:latin typeface="Times New Roman" panose="02020603050405020304" pitchFamily="18" charset="0"/>
                <a:ea typeface="宋体" panose="02010600030101010101" pitchFamily="2" charset="-122"/>
                <a:cs typeface="Times New Roman" panose="02020603050405020304" pitchFamily="18" charset="0"/>
              </a:rPr>
              <a:t>8.2 Linux</a:t>
            </a:r>
            <a:r>
              <a:rPr lang="zh-CN" altLang="en-US" kern="0" dirty="0" smtClean="0">
                <a:latin typeface="Times New Roman" panose="02020603050405020304" pitchFamily="18" charset="0"/>
                <a:ea typeface="宋体" panose="02010600030101010101" pitchFamily="2" charset="-122"/>
                <a:cs typeface="Times New Roman" panose="02020603050405020304" pitchFamily="18" charset="0"/>
              </a:rPr>
              <a:t>设备分类及数据结构</a:t>
            </a:r>
            <a:endParaRPr lang="zh-CN" altLang="en-US" sz="2800" kern="0"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531628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54844" y="-33033"/>
            <a:ext cx="7772400" cy="844550"/>
          </a:xfrm>
        </p:spPr>
        <p:txBody>
          <a:bodyPr/>
          <a:lstStyle/>
          <a:p>
            <a:r>
              <a:rPr lang="zh-CN" altLang="en-US" dirty="0" smtClean="0">
                <a:ea typeface="宋体" panose="02010600030101010101" pitchFamily="2" charset="-122"/>
              </a:rPr>
              <a:t>设备文件：操作</a:t>
            </a:r>
          </a:p>
        </p:txBody>
      </p:sp>
      <p:sp>
        <p:nvSpPr>
          <p:cNvPr id="31747" name="Rectangle 3"/>
          <p:cNvSpPr>
            <a:spLocks noGrp="1" noChangeArrowheads="1"/>
          </p:cNvSpPr>
          <p:nvPr>
            <p:ph type="body" idx="1"/>
          </p:nvPr>
        </p:nvSpPr>
        <p:spPr/>
        <p:txBody>
          <a:bodyPr/>
          <a:lstStyle/>
          <a:p>
            <a:r>
              <a:rPr lang="zh-CN" altLang="en-US" sz="2800" smtClean="0">
                <a:ea typeface="宋体" panose="02010600030101010101" pitchFamily="2" charset="-122"/>
              </a:rPr>
              <a:t>文件描述符</a:t>
            </a:r>
            <a:r>
              <a:rPr lang="en-US" altLang="zh-CN" sz="2800" smtClean="0">
                <a:ea typeface="宋体" panose="02010600030101010101" pitchFamily="2" charset="-122"/>
              </a:rPr>
              <a:t>fd</a:t>
            </a:r>
            <a:r>
              <a:rPr lang="zh-CN" altLang="en-US" sz="2800" smtClean="0">
                <a:ea typeface="宋体" panose="02010600030101010101" pitchFamily="2" charset="-122"/>
              </a:rPr>
              <a:t>是系统调用与设备驱动程序的接口。在操作时，内核通过</a:t>
            </a:r>
            <a:r>
              <a:rPr lang="en-US" altLang="zh-CN" sz="2800" smtClean="0">
                <a:ea typeface="宋体" panose="02010600030101010101" pitchFamily="2" charset="-122"/>
              </a:rPr>
              <a:t>fd</a:t>
            </a:r>
            <a:r>
              <a:rPr lang="zh-CN" altLang="en-US" sz="2800" smtClean="0">
                <a:ea typeface="宋体" panose="02010600030101010101" pitchFamily="2" charset="-122"/>
              </a:rPr>
              <a:t>找到代表该文件的</a:t>
            </a:r>
            <a:r>
              <a:rPr lang="en-US" altLang="zh-CN" sz="2800" smtClean="0">
                <a:ea typeface="宋体" panose="02010600030101010101" pitchFamily="2" charset="-122"/>
              </a:rPr>
              <a:t>struct file</a:t>
            </a:r>
            <a:r>
              <a:rPr lang="zh-CN" altLang="en-US" sz="2800" smtClean="0">
                <a:ea typeface="宋体" panose="02010600030101010101" pitchFamily="2" charset="-122"/>
              </a:rPr>
              <a:t>结构，得到打开文件的</a:t>
            </a:r>
            <a:r>
              <a:rPr lang="en-US" altLang="zh-CN" sz="2800" smtClean="0">
                <a:ea typeface="宋体" panose="02010600030101010101" pitchFamily="2" charset="-122"/>
              </a:rPr>
              <a:t>i</a:t>
            </a:r>
            <a:r>
              <a:rPr lang="zh-CN" altLang="en-US" sz="2800" smtClean="0">
                <a:ea typeface="宋体" panose="02010600030101010101" pitchFamily="2" charset="-122"/>
              </a:rPr>
              <a:t>节点。</a:t>
            </a:r>
          </a:p>
          <a:p>
            <a:r>
              <a:rPr lang="zh-CN" altLang="en-US" sz="2800" smtClean="0">
                <a:ea typeface="宋体" panose="02010600030101010101" pitchFamily="2" charset="-122"/>
              </a:rPr>
              <a:t>在</a:t>
            </a:r>
            <a:r>
              <a:rPr lang="en-US" altLang="zh-CN" sz="2800" smtClean="0">
                <a:ea typeface="宋体" panose="02010600030101010101" pitchFamily="2" charset="-122"/>
              </a:rPr>
              <a:t>i</a:t>
            </a:r>
            <a:r>
              <a:rPr lang="zh-CN" altLang="en-US" sz="2800" smtClean="0">
                <a:ea typeface="宋体" panose="02010600030101010101" pitchFamily="2" charset="-122"/>
              </a:rPr>
              <a:t>节点中检查文件类型，如果是设备（块或字符)文件，则从索引节点中提取主设备号和次设备号，再通过主设备号定位块或者字符设备转换表中相应的设备驱动程序。</a:t>
            </a:r>
          </a:p>
          <a:p>
            <a:r>
              <a:rPr lang="zh-CN" altLang="en-US" sz="2800" smtClean="0">
                <a:ea typeface="宋体" panose="02010600030101010101" pitchFamily="2" charset="-122"/>
              </a:rPr>
              <a:t>根据用户发出的系统调用的功能，进一步确定应该调用哪一个操作函数，并确定传递的参数。启动该函数。</a:t>
            </a:r>
          </a:p>
        </p:txBody>
      </p:sp>
    </p:spTree>
    <p:extLst>
      <p:ext uri="{BB962C8B-B14F-4D97-AF65-F5344CB8AC3E}">
        <p14:creationId xmlns:p14="http://schemas.microsoft.com/office/powerpoint/2010/main" val="25774392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77875" y="27856"/>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8.3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设备转换表</a:t>
            </a:r>
          </a:p>
        </p:txBody>
      </p:sp>
      <p:sp>
        <p:nvSpPr>
          <p:cNvPr id="33795" name="Rectangle 3"/>
          <p:cNvSpPr>
            <a:spLocks noGrp="1" noChangeArrowheads="1"/>
          </p:cNvSpPr>
          <p:nvPr>
            <p:ph type="body" idx="1"/>
          </p:nvPr>
        </p:nvSpPr>
        <p:spPr>
          <a:xfrm>
            <a:off x="347663" y="1133475"/>
            <a:ext cx="8202612" cy="5100638"/>
          </a:xfrm>
        </p:spPr>
        <p:txBody>
          <a:bodyPr/>
          <a:lstStyle/>
          <a:p>
            <a:r>
              <a:rPr lang="zh-CN" altLang="en-US" sz="2400" dirty="0" smtClean="0">
                <a:latin typeface="宋体" panose="02010600030101010101" pitchFamily="2" charset="-122"/>
                <a:ea typeface="宋体" panose="02010600030101010101" pitchFamily="2" charset="-122"/>
                <a:cs typeface="Times New Roman" panose="02020603050405020304" pitchFamily="18" charset="0"/>
              </a:rPr>
              <a:t>设备转换表是一个数据结构，由它定义了每个设备必须支持的操作入口点，由</a:t>
            </a:r>
            <a:r>
              <a:rPr lang="en-US" altLang="zh-CN" sz="2400" dirty="0" err="1" smtClean="0">
                <a:latin typeface="宋体" panose="02010600030101010101" pitchFamily="2" charset="-122"/>
                <a:ea typeface="宋体" panose="02010600030101010101" pitchFamily="2" charset="-122"/>
                <a:cs typeface="Times New Roman" panose="02020603050405020304" pitchFamily="18" charset="0"/>
              </a:rPr>
              <a:t>fops,bdops</a:t>
            </a:r>
            <a:r>
              <a:rPr lang="zh-CN" altLang="en-US" sz="2400" dirty="0" smtClean="0">
                <a:latin typeface="宋体" panose="02010600030101010101" pitchFamily="2" charset="-122"/>
                <a:ea typeface="宋体" panose="02010600030101010101" pitchFamily="2" charset="-122"/>
                <a:cs typeface="Times New Roman" panose="02020603050405020304" pitchFamily="18" charset="0"/>
              </a:rPr>
              <a:t>描述。每个驱动程序提供了这些功能的特定实现</a:t>
            </a:r>
            <a:r>
              <a:rPr lang="en-US" altLang="zh-CN" sz="2400" dirty="0" smtClean="0">
                <a:ea typeface="宋体" panose="02010600030101010101" pitchFamily="2" charset="-122"/>
                <a:cs typeface="Times New Roman" panose="02020603050405020304" pitchFamily="18" charset="0"/>
              </a:rPr>
              <a:t>，</a:t>
            </a:r>
            <a:r>
              <a:rPr lang="zh-CN" altLang="en-US" sz="2400" dirty="0" smtClean="0">
                <a:ea typeface="宋体" panose="02010600030101010101" pitchFamily="2" charset="-122"/>
                <a:cs typeface="Times New Roman" panose="02020603050405020304" pitchFamily="18" charset="0"/>
              </a:rPr>
              <a:t>都在其对应数组中占据一个项。</a:t>
            </a:r>
          </a:p>
          <a:p>
            <a:pPr lvl="1"/>
            <a:r>
              <a:rPr lang="zh-CN" altLang="en-US" sz="2400" dirty="0">
                <a:latin typeface="宋体" panose="02010600030101010101" pitchFamily="2" charset="-122"/>
                <a:ea typeface="宋体" panose="02010600030101010101" pitchFamily="2" charset="-122"/>
                <a:cs typeface="Times New Roman" panose="02020603050405020304" pitchFamily="18" charset="0"/>
              </a:rPr>
              <a:t>块设备转换表（</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blk_dev</a:t>
            </a:r>
            <a:r>
              <a:rPr lang="en-US" altLang="zh-CN" sz="2400" dirty="0">
                <a:latin typeface="宋体" panose="02010600030101010101" pitchFamily="2" charset="-122"/>
                <a:ea typeface="宋体" panose="02010600030101010101" pitchFamily="2" charset="-122"/>
                <a:cs typeface="Times New Roman" panose="02020603050405020304" pitchFamily="18" charset="0"/>
              </a:rPr>
              <a:t>）</a:t>
            </a:r>
          </a:p>
          <a:p>
            <a:pPr lvl="1"/>
            <a:r>
              <a:rPr lang="zh-CN" altLang="en-US" sz="2400" dirty="0">
                <a:latin typeface="宋体" panose="02010600030101010101" pitchFamily="2" charset="-122"/>
                <a:ea typeface="宋体" panose="02010600030101010101" pitchFamily="2" charset="-122"/>
                <a:cs typeface="Times New Roman" panose="02020603050405020304" pitchFamily="18" charset="0"/>
              </a:rPr>
              <a:t>字符设备转换表(</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chrdevs</a:t>
            </a:r>
            <a:r>
              <a:rPr lang="en-US" altLang="zh-CN" sz="2400" dirty="0">
                <a:latin typeface="宋体" panose="02010600030101010101" pitchFamily="2" charset="-122"/>
                <a:ea typeface="宋体" panose="02010600030101010101" pitchFamily="2" charset="-122"/>
                <a:cs typeface="Times New Roman" panose="02020603050405020304" pitchFamily="18" charset="0"/>
              </a:rPr>
              <a:t>)</a:t>
            </a:r>
          </a:p>
          <a:p>
            <a:r>
              <a:rPr kumimoji="0"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根据设备的类型和</a:t>
            </a:r>
            <a:r>
              <a:rPr kumimoji="0" lang="zh-CN" altLang="en-US" sz="24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主</a:t>
            </a:r>
            <a:r>
              <a:rPr kumimoji="0"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设备号可以在设备表中找到相应的驱动函数。</a:t>
            </a:r>
            <a:endParaRPr lang="zh-CN" altLang="en-US" sz="2400" dirty="0" smtClean="0">
              <a:latin typeface="宋体" panose="02010600030101010101" pitchFamily="2" charset="-122"/>
              <a:ea typeface="宋体" panose="02010600030101010101" pitchFamily="2" charset="-122"/>
              <a:cs typeface="Times New Roman" panose="02020603050405020304" pitchFamily="18" charset="0"/>
            </a:endParaRPr>
          </a:p>
          <a:p>
            <a:pPr lvl="1"/>
            <a:r>
              <a:rPr lang="zh-CN" altLang="en-US" sz="2400" dirty="0" smtClean="0">
                <a:latin typeface="宋体" panose="02010600030101010101" pitchFamily="2" charset="-122"/>
                <a:ea typeface="宋体" panose="02010600030101010101" pitchFamily="2" charset="-122"/>
                <a:cs typeface="Times New Roman" panose="02020603050405020304" pitchFamily="18" charset="0"/>
              </a:rPr>
              <a:t>一旦内核想在某台设备上完成某个动作，它必须首先在转换表中定位该设备的驱动程序，再调用相应的驱动程序函数。</a:t>
            </a:r>
            <a:r>
              <a:rPr lang="zh-CN" altLang="en-US" sz="2400" dirty="0" smtClean="0">
                <a:ea typeface="宋体" panose="02010600030101010101" pitchFamily="2" charset="-122"/>
                <a:cs typeface="Times New Roman" panose="02020603050405020304" pitchFamily="18" charset="0"/>
              </a:rPr>
              <a:t> </a:t>
            </a:r>
          </a:p>
          <a:p>
            <a:r>
              <a:rPr kumimoji="0" lang="zh-CN" altLang="en-US" sz="2400" dirty="0" smtClean="0">
                <a:ea typeface="宋体" panose="02010600030101010101" pitchFamily="2" charset="-122"/>
                <a:cs typeface="Times New Roman" panose="02020603050405020304" pitchFamily="18" charset="0"/>
              </a:rPr>
              <a:t>设备文件的的主设备号必须与设备驱动程序在登记时申请的主设备号一致，否则用户进程将无法访问到驱动程序。</a:t>
            </a:r>
            <a:endParaRPr lang="zh-CN" altLang="en-US" sz="2400" dirty="0" smtClean="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945806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319088" y="1152525"/>
            <a:ext cx="8202612" cy="4648200"/>
          </a:xfrm>
        </p:spPr>
        <p:txBody>
          <a:bodyPr/>
          <a:lstStyle/>
          <a:p>
            <a:pPr>
              <a:buFont typeface="Monotype Sorts" pitchFamily="2" charset="2"/>
              <a:buNone/>
              <a:defRPr/>
            </a:pPr>
            <a:r>
              <a:rPr lang="zh-CN" altLang="en-US" sz="2400" dirty="0" smtClean="0">
                <a:solidFill>
                  <a:srgbClr val="FF0000"/>
                </a:solidFill>
                <a:ea typeface="宋体" panose="02010600030101010101" pitchFamily="2" charset="-122"/>
              </a:rPr>
              <a:t>用于注册字符设备的数据结构</a:t>
            </a:r>
            <a:endParaRPr lang="en-US" altLang="zh-CN" sz="2400" dirty="0" smtClean="0">
              <a:ea typeface="宋体" panose="02010600030101010101" pitchFamily="2" charset="-122"/>
            </a:endParaRPr>
          </a:p>
          <a:p>
            <a:pPr>
              <a:buFont typeface="Monotype Sorts" pitchFamily="2" charset="2"/>
              <a:buNone/>
              <a:defRPr/>
            </a:pPr>
            <a:r>
              <a:rPr lang="en-US" altLang="zh-CN" sz="2400" dirty="0" err="1" smtClean="0">
                <a:ea typeface="宋体" panose="02010600030101010101" pitchFamily="2" charset="-122"/>
              </a:rPr>
              <a:t>struct</a:t>
            </a:r>
            <a:r>
              <a:rPr lang="en-US" altLang="zh-CN" sz="2400" dirty="0" smtClean="0">
                <a:ea typeface="宋体" panose="02010600030101010101" pitchFamily="2" charset="-122"/>
              </a:rPr>
              <a:t> </a:t>
            </a:r>
            <a:r>
              <a:rPr lang="en-US" altLang="zh-CN" sz="2400" dirty="0" err="1" smtClean="0">
                <a:solidFill>
                  <a:srgbClr val="FF0000"/>
                </a:solidFill>
                <a:ea typeface="宋体" panose="02010600030101010101" pitchFamily="2" charset="-122"/>
              </a:rPr>
              <a:t>device_struct</a:t>
            </a:r>
            <a:r>
              <a:rPr lang="en-US" altLang="zh-CN" sz="2400" dirty="0" smtClean="0">
                <a:ea typeface="宋体" panose="02010600030101010101" pitchFamily="2" charset="-122"/>
              </a:rPr>
              <a:t>{</a:t>
            </a:r>
          </a:p>
          <a:p>
            <a:pPr algn="just">
              <a:buFont typeface="Monotype Sorts" pitchFamily="2" charset="2"/>
              <a:buNone/>
              <a:defRPr/>
            </a:pPr>
            <a:r>
              <a:rPr lang="en-US" altLang="zh-CN" sz="2400" dirty="0" err="1" smtClean="0">
                <a:ea typeface="宋体" panose="02010600030101010101" pitchFamily="2" charset="-122"/>
              </a:rPr>
              <a:t>const</a:t>
            </a:r>
            <a:r>
              <a:rPr lang="en-US" altLang="zh-CN" sz="2400" dirty="0" smtClean="0">
                <a:ea typeface="宋体" panose="02010600030101010101" pitchFamily="2" charset="-122"/>
              </a:rPr>
              <a:t> char * name;</a:t>
            </a:r>
          </a:p>
          <a:p>
            <a:pPr algn="just">
              <a:buFont typeface="Monotype Sorts" pitchFamily="2" charset="2"/>
              <a:buNone/>
              <a:defRPr/>
            </a:pPr>
            <a:r>
              <a:rPr lang="en-US" altLang="zh-CN" sz="2400" dirty="0" err="1" smtClean="0">
                <a:ea typeface="宋体" panose="02010600030101010101" pitchFamily="2" charset="-122"/>
              </a:rPr>
              <a:t>struct</a:t>
            </a:r>
            <a:r>
              <a:rPr lang="en-US" altLang="zh-CN" sz="2400" dirty="0" smtClean="0">
                <a:ea typeface="宋体" panose="02010600030101010101" pitchFamily="2" charset="-122"/>
              </a:rPr>
              <a:t> </a:t>
            </a:r>
            <a:r>
              <a:rPr lang="en-US" altLang="zh-CN" sz="2400" dirty="0" err="1" smtClean="0">
                <a:ea typeface="宋体" panose="02010600030101010101" pitchFamily="2" charset="-122"/>
              </a:rPr>
              <a:t>file_operations</a:t>
            </a:r>
            <a:r>
              <a:rPr lang="en-US" altLang="zh-CN" sz="2400" dirty="0" smtClean="0">
                <a:ea typeface="宋体" panose="02010600030101010101" pitchFamily="2" charset="-122"/>
              </a:rPr>
              <a:t> *fops;</a:t>
            </a:r>
          </a:p>
          <a:p>
            <a:pPr algn="just">
              <a:buFont typeface="Monotype Sorts" pitchFamily="2" charset="2"/>
              <a:buNone/>
              <a:defRPr/>
            </a:pPr>
            <a:r>
              <a:rPr lang="en-US" altLang="zh-CN" sz="2400" dirty="0" smtClean="0">
                <a:ea typeface="宋体" panose="02010600030101010101" pitchFamily="2" charset="-122"/>
              </a:rPr>
              <a:t>}</a:t>
            </a:r>
          </a:p>
          <a:p>
            <a:pPr algn="just">
              <a:buFont typeface="Monotype Sorts" pitchFamily="2" charset="2"/>
              <a:buNone/>
              <a:defRPr/>
            </a:pPr>
            <a:r>
              <a:rPr lang="en-US" altLang="zh-CN" sz="2400" dirty="0" smtClean="0">
                <a:ea typeface="宋体" panose="02010600030101010101" pitchFamily="2" charset="-122"/>
              </a:rPr>
              <a:t>static </a:t>
            </a:r>
            <a:r>
              <a:rPr lang="en-US" altLang="zh-CN" sz="2400" dirty="0" err="1" smtClean="0">
                <a:ea typeface="宋体" panose="02010600030101010101" pitchFamily="2" charset="-122"/>
              </a:rPr>
              <a:t>struct</a:t>
            </a:r>
            <a:r>
              <a:rPr lang="en-US" altLang="zh-CN" sz="2400" dirty="0" smtClean="0">
                <a:ea typeface="宋体" panose="02010600030101010101" pitchFamily="2" charset="-122"/>
              </a:rPr>
              <a:t> </a:t>
            </a:r>
            <a:r>
              <a:rPr lang="en-US" altLang="zh-CN" sz="2400" dirty="0" err="1" smtClean="0">
                <a:ea typeface="宋体" panose="02010600030101010101" pitchFamily="2" charset="-122"/>
              </a:rPr>
              <a:t>device_struct</a:t>
            </a:r>
            <a:r>
              <a:rPr lang="en-US" altLang="zh-CN" sz="2400" dirty="0" smtClean="0">
                <a:ea typeface="宋体" panose="02010600030101010101" pitchFamily="2" charset="-122"/>
              </a:rPr>
              <a:t> </a:t>
            </a:r>
            <a:r>
              <a:rPr lang="en-US" altLang="zh-CN" sz="2400" dirty="0" err="1" smtClean="0">
                <a:solidFill>
                  <a:srgbClr val="FF0000"/>
                </a:solidFill>
                <a:ea typeface="宋体" panose="02010600030101010101" pitchFamily="2" charset="-122"/>
              </a:rPr>
              <a:t>chrdevs</a:t>
            </a:r>
            <a:r>
              <a:rPr lang="en-US" altLang="zh-CN" sz="2400" dirty="0" smtClean="0">
                <a:ea typeface="宋体" panose="02010600030101010101" pitchFamily="2" charset="-122"/>
              </a:rPr>
              <a:t>[MAX_CHRDEV];</a:t>
            </a:r>
          </a:p>
          <a:p>
            <a:pPr marL="0" indent="0" algn="just">
              <a:buFont typeface="Monotype Sorts" pitchFamily="2" charset="2"/>
              <a:buNone/>
              <a:defRPr/>
            </a:pPr>
            <a:r>
              <a:rPr lang="en-US" altLang="zh-CN" sz="2400" dirty="0" err="1" smtClean="0">
                <a:ea typeface="宋体" panose="02010600030101010101" pitchFamily="2" charset="-122"/>
              </a:rPr>
              <a:t>device_struct</a:t>
            </a:r>
            <a:r>
              <a:rPr lang="zh-CN" altLang="en-US" sz="2400" dirty="0" smtClean="0">
                <a:ea typeface="宋体" panose="02010600030101010101" pitchFamily="2" charset="-122"/>
              </a:rPr>
              <a:t>结构由两项构成：</a:t>
            </a:r>
          </a:p>
          <a:p>
            <a:pPr lvl="1" algn="just">
              <a:defRPr/>
            </a:pPr>
            <a:r>
              <a:rPr lang="en-US" altLang="zh-CN" sz="2400" dirty="0" smtClean="0">
                <a:ea typeface="宋体" panose="02010600030101010101" pitchFamily="2" charset="-122"/>
              </a:rPr>
              <a:t>name: </a:t>
            </a:r>
            <a:r>
              <a:rPr lang="zh-CN" altLang="en-US" sz="2400" dirty="0" smtClean="0">
                <a:ea typeface="宋体" panose="02010600030101010101" pitchFamily="2" charset="-122"/>
              </a:rPr>
              <a:t>指向已登记的</a:t>
            </a:r>
            <a:r>
              <a:rPr lang="zh-CN" altLang="en-US" sz="2400" dirty="0" smtClean="0">
                <a:solidFill>
                  <a:srgbClr val="FF0000"/>
                </a:solidFill>
                <a:ea typeface="宋体" panose="02010600030101010101" pitchFamily="2" charset="-122"/>
              </a:rPr>
              <a:t>设备名称</a:t>
            </a:r>
            <a:r>
              <a:rPr lang="zh-CN" altLang="en-US" sz="2400" dirty="0" smtClean="0">
                <a:ea typeface="宋体" panose="02010600030101010101" pitchFamily="2" charset="-122"/>
              </a:rPr>
              <a:t>的指针</a:t>
            </a:r>
          </a:p>
          <a:p>
            <a:pPr lvl="1" algn="just">
              <a:defRPr/>
            </a:pPr>
            <a:r>
              <a:rPr lang="en-US" altLang="zh-CN" sz="2400" dirty="0" smtClean="0">
                <a:ea typeface="宋体" panose="02010600030101010101" pitchFamily="2" charset="-122"/>
              </a:rPr>
              <a:t>fops:    </a:t>
            </a:r>
            <a:r>
              <a:rPr lang="zh-CN" altLang="en-US" sz="2400" dirty="0" smtClean="0">
                <a:ea typeface="宋体" panose="02010600030101010101" pitchFamily="2" charset="-122"/>
              </a:rPr>
              <a:t>指向设备驱动程序的入口函数：</a:t>
            </a:r>
            <a:r>
              <a:rPr lang="zh-CN" altLang="en-US" sz="2400" dirty="0" smtClean="0">
                <a:solidFill>
                  <a:srgbClr val="FF0000"/>
                </a:solidFill>
                <a:latin typeface="宋体" panose="02010600030101010101" pitchFamily="2" charset="-122"/>
                <a:ea typeface="宋体" panose="02010600030101010101" pitchFamily="2" charset="-122"/>
              </a:rPr>
              <a:t>完成指定的设备操作</a:t>
            </a:r>
            <a:r>
              <a:rPr lang="zh-CN" altLang="en-US" sz="2400" dirty="0" smtClean="0">
                <a:solidFill>
                  <a:schemeClr val="tx1"/>
                </a:solidFill>
                <a:latin typeface="宋体" panose="02010600030101010101" pitchFamily="2" charset="-122"/>
                <a:ea typeface="宋体" panose="02010600030101010101" pitchFamily="2" charset="-122"/>
              </a:rPr>
              <a:t>。</a:t>
            </a:r>
            <a:r>
              <a:rPr lang="zh-CN" altLang="en-US" sz="2400" dirty="0" smtClean="0">
                <a:ea typeface="宋体" panose="02010600030101010101" pitchFamily="2" charset="-122"/>
              </a:rPr>
              <a:t> </a:t>
            </a:r>
          </a:p>
        </p:txBody>
      </p:sp>
      <p:sp>
        <p:nvSpPr>
          <p:cNvPr id="35843" name="Rectangle 2"/>
          <p:cNvSpPr>
            <a:spLocks noGrp="1" noChangeArrowheads="1"/>
          </p:cNvSpPr>
          <p:nvPr>
            <p:ph type="title"/>
          </p:nvPr>
        </p:nvSpPr>
        <p:spPr>
          <a:xfrm>
            <a:off x="534194" y="0"/>
            <a:ext cx="7772400" cy="844550"/>
          </a:xfrm>
        </p:spPr>
        <p:txBody>
          <a:bodyPr/>
          <a:lstStyle/>
          <a:p>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8.3  Linux</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设备转换表</a:t>
            </a:r>
          </a:p>
        </p:txBody>
      </p:sp>
    </p:spTree>
    <p:extLst>
      <p:ext uri="{BB962C8B-B14F-4D97-AF65-F5344CB8AC3E}">
        <p14:creationId xmlns:p14="http://schemas.microsoft.com/office/powerpoint/2010/main" val="23159651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1"/>
          </p:nvPr>
        </p:nvSpPr>
        <p:spPr>
          <a:xfrm>
            <a:off x="366713" y="1744663"/>
            <a:ext cx="8202612" cy="4622800"/>
          </a:xfrm>
        </p:spPr>
        <p:txBody>
          <a:bodyPr/>
          <a:lstStyle/>
          <a:p>
            <a:pPr algn="just">
              <a:lnSpc>
                <a:spcPct val="150000"/>
              </a:lnSpc>
            </a:pPr>
            <a:r>
              <a:rPr lang="zh-CN" altLang="en-US" sz="2400" smtClean="0">
                <a:latin typeface="宋体" panose="02010600030101010101" pitchFamily="2" charset="-122"/>
                <a:ea typeface="宋体" panose="02010600030101010101" pitchFamily="2" charset="-122"/>
              </a:rPr>
              <a:t>字符设备初始化时，它的设备驱动将被添加到</a:t>
            </a:r>
            <a:r>
              <a:rPr lang="en-US" altLang="zh-CN" sz="2400" smtClean="0">
                <a:solidFill>
                  <a:srgbClr val="FF0000"/>
                </a:solidFill>
                <a:ea typeface="宋体" panose="02010600030101010101" pitchFamily="2" charset="-122"/>
              </a:rPr>
              <a:t>chrdevs</a:t>
            </a:r>
            <a:r>
              <a:rPr lang="zh-CN" altLang="en-US" sz="2400" smtClean="0">
                <a:solidFill>
                  <a:srgbClr val="FF0000"/>
                </a:solidFill>
                <a:ea typeface="宋体" panose="02010600030101010101" pitchFamily="2" charset="-122"/>
              </a:rPr>
              <a:t>中，</a:t>
            </a:r>
            <a:r>
              <a:rPr lang="zh-CN" altLang="en-US" sz="2400" smtClean="0">
                <a:latin typeface="宋体" panose="02010600030101010101" pitchFamily="2" charset="-122"/>
                <a:ea typeface="宋体" panose="02010600030101010101" pitchFamily="2" charset="-122"/>
              </a:rPr>
              <a:t>从而将其注册到</a:t>
            </a:r>
            <a:r>
              <a:rPr lang="en-US" altLang="zh-CN" sz="2400" smtClean="0">
                <a:latin typeface="宋体" panose="02010600030101010101" pitchFamily="2" charset="-122"/>
                <a:ea typeface="宋体" panose="02010600030101010101" pitchFamily="2" charset="-122"/>
              </a:rPr>
              <a:t>Linux</a:t>
            </a:r>
            <a:r>
              <a:rPr lang="zh-CN" altLang="en-US" sz="2400" smtClean="0">
                <a:latin typeface="宋体" panose="02010600030101010101" pitchFamily="2" charset="-122"/>
                <a:ea typeface="宋体" panose="02010600030101010101" pitchFamily="2" charset="-122"/>
              </a:rPr>
              <a:t>内核中。设备的主设备标识符是固定的。</a:t>
            </a:r>
          </a:p>
          <a:p>
            <a:pPr algn="just">
              <a:lnSpc>
                <a:spcPct val="150000"/>
              </a:lnSpc>
            </a:pPr>
            <a:r>
              <a:rPr lang="zh-CN" altLang="en-US" sz="2400" smtClean="0">
                <a:ea typeface="宋体" panose="02010600030101010101" pitchFamily="2" charset="-122"/>
              </a:rPr>
              <a:t>使用主设备号用来对</a:t>
            </a:r>
            <a:r>
              <a:rPr lang="en-US" altLang="zh-CN" sz="2400" smtClean="0">
                <a:ea typeface="宋体" panose="02010600030101010101" pitchFamily="2" charset="-122"/>
              </a:rPr>
              <a:t>chrdevs</a:t>
            </a:r>
            <a:r>
              <a:rPr lang="zh-CN" altLang="en-US" sz="2400" smtClean="0">
                <a:ea typeface="宋体" panose="02010600030101010101" pitchFamily="2" charset="-122"/>
              </a:rPr>
              <a:t>数组进行索引。</a:t>
            </a:r>
          </a:p>
          <a:p>
            <a:pPr>
              <a:lnSpc>
                <a:spcPct val="150000"/>
              </a:lnSpc>
            </a:pPr>
            <a:r>
              <a:rPr lang="zh-CN" altLang="en-US" sz="2400" smtClean="0">
                <a:ea typeface="宋体" panose="02010600030101010101" pitchFamily="2" charset="-122"/>
              </a:rPr>
              <a:t>当访问某台设备时，它首先必须在字符转换表中找到该设备的驱动程序，然后控制权转交给设备驱动程序，由设备驱动程序再调用相应的驱动程序函数执行。</a:t>
            </a:r>
          </a:p>
          <a:p>
            <a:endParaRPr lang="en-US" altLang="zh-CN" sz="2400" smtClean="0">
              <a:ea typeface="宋体" panose="02010600030101010101" pitchFamily="2" charset="-122"/>
            </a:endParaRPr>
          </a:p>
        </p:txBody>
      </p:sp>
      <p:sp>
        <p:nvSpPr>
          <p:cNvPr id="37891" name="Rectangle 2"/>
          <p:cNvSpPr>
            <a:spLocks noGrp="1" noChangeArrowheads="1"/>
          </p:cNvSpPr>
          <p:nvPr>
            <p:ph type="title"/>
          </p:nvPr>
        </p:nvSpPr>
        <p:spPr>
          <a:xfrm>
            <a:off x="581819" y="0"/>
            <a:ext cx="7772400" cy="844550"/>
          </a:xfrm>
        </p:spPr>
        <p:txBody>
          <a:bodyPr/>
          <a:lstStyle/>
          <a:p>
            <a:r>
              <a:rPr lang="en-US" altLang="zh-CN" dirty="0" smtClean="0">
                <a:ea typeface="宋体" panose="02010600030101010101" pitchFamily="2" charset="-122"/>
              </a:rPr>
              <a:t>8.3  Linux</a:t>
            </a:r>
            <a:r>
              <a:rPr lang="zh-CN" altLang="en-US" dirty="0" smtClean="0">
                <a:ea typeface="宋体" panose="02010600030101010101" pitchFamily="2" charset="-122"/>
              </a:rPr>
              <a:t>设备转换表</a:t>
            </a:r>
          </a:p>
        </p:txBody>
      </p:sp>
    </p:spTree>
    <p:extLst>
      <p:ext uri="{BB962C8B-B14F-4D97-AF65-F5344CB8AC3E}">
        <p14:creationId xmlns:p14="http://schemas.microsoft.com/office/powerpoint/2010/main" val="7524507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3"/>
          <p:cNvGraphicFramePr>
            <a:graphicFrameLocks noChangeAspect="1"/>
          </p:cNvGraphicFramePr>
          <p:nvPr/>
        </p:nvGraphicFramePr>
        <p:xfrm>
          <a:off x="1066800" y="1698625"/>
          <a:ext cx="7031038" cy="4465638"/>
        </p:xfrm>
        <a:graphic>
          <a:graphicData uri="http://schemas.openxmlformats.org/presentationml/2006/ole">
            <mc:AlternateContent xmlns:mc="http://schemas.openxmlformats.org/markup-compatibility/2006">
              <mc:Choice xmlns:v="urn:schemas-microsoft-com:vml" Requires="v">
                <p:oleObj spid="_x0000_s1031" name="VISIO" r:id="rId3" imgW="2583424" imgH="1739160" progId="Visio.Drawing.4">
                  <p:embed/>
                </p:oleObj>
              </mc:Choice>
              <mc:Fallback>
                <p:oleObj name="VISIO" r:id="rId3" imgW="2583424" imgH="1739160" progId="Visio.Drawing.4">
                  <p:embed/>
                  <p:pic>
                    <p:nvPicPr>
                      <p:cNvPr id="3993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698625"/>
                        <a:ext cx="7031038" cy="446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39" name="Rectangle 2"/>
          <p:cNvSpPr>
            <a:spLocks noGrp="1" noChangeArrowheads="1"/>
          </p:cNvSpPr>
          <p:nvPr>
            <p:ph type="title"/>
          </p:nvPr>
        </p:nvSpPr>
        <p:spPr>
          <a:xfrm>
            <a:off x="696119" y="0"/>
            <a:ext cx="7772400" cy="844550"/>
          </a:xfrm>
        </p:spPr>
        <p:txBody>
          <a:bodyPr/>
          <a:lstStyle/>
          <a:p>
            <a:r>
              <a:rPr lang="en-US" altLang="zh-CN" dirty="0" smtClean="0">
                <a:ea typeface="宋体" panose="02010600030101010101" pitchFamily="2" charset="-122"/>
              </a:rPr>
              <a:t>8.3  Linux</a:t>
            </a:r>
            <a:r>
              <a:rPr lang="zh-CN" altLang="en-US" dirty="0" smtClean="0">
                <a:ea typeface="宋体" panose="02010600030101010101" pitchFamily="2" charset="-122"/>
              </a:rPr>
              <a:t>设备转换表</a:t>
            </a:r>
          </a:p>
        </p:txBody>
      </p:sp>
    </p:spTree>
    <p:extLst>
      <p:ext uri="{BB962C8B-B14F-4D97-AF65-F5344CB8AC3E}">
        <p14:creationId xmlns:p14="http://schemas.microsoft.com/office/powerpoint/2010/main" val="316272794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503363" y="177800"/>
            <a:ext cx="5302250" cy="547688"/>
          </a:xfrm>
        </p:spPr>
        <p:txBody>
          <a:bodyPr/>
          <a:lstStyle/>
          <a:p>
            <a:r>
              <a:rPr lang="zh-CN" altLang="en-US" smtClean="0">
                <a:latin typeface="宋体" panose="02010600030101010101" pitchFamily="2" charset="-122"/>
                <a:ea typeface="宋体" panose="02010600030101010101" pitchFamily="2" charset="-122"/>
              </a:rPr>
              <a:t>字符设备转换表</a:t>
            </a:r>
            <a:endParaRPr lang="en-US" altLang="zh-CN" smtClean="0">
              <a:ea typeface="宋体" panose="02010600030101010101" pitchFamily="2" charset="-122"/>
            </a:endParaRPr>
          </a:p>
        </p:txBody>
      </p:sp>
      <p:sp>
        <p:nvSpPr>
          <p:cNvPr id="30723" name="Rectangle 3"/>
          <p:cNvSpPr>
            <a:spLocks noGrp="1" noChangeArrowheads="1"/>
          </p:cNvSpPr>
          <p:nvPr>
            <p:ph type="body" idx="1"/>
          </p:nvPr>
        </p:nvSpPr>
        <p:spPr>
          <a:xfrm>
            <a:off x="179512" y="935038"/>
            <a:ext cx="9145016" cy="5492750"/>
          </a:xfrm>
        </p:spPr>
        <p:txBody>
          <a:bodyPr/>
          <a:lstStyle/>
          <a:p>
            <a:pPr>
              <a:lnSpc>
                <a:spcPct val="90000"/>
              </a:lnSpc>
              <a:defRPr/>
            </a:pPr>
            <a:r>
              <a:rPr lang="en-US" altLang="zh-CN" sz="2400" b="0" dirty="0" smtClean="0">
                <a:solidFill>
                  <a:srgbClr val="FF0000"/>
                </a:solidFill>
                <a:latin typeface="Times New Roman" panose="02020603050405020304" pitchFamily="18" charset="0"/>
                <a:ea typeface="宋体" panose="02010600030101010101" pitchFamily="2" charset="-122"/>
              </a:rPr>
              <a:t>include/</a:t>
            </a:r>
            <a:r>
              <a:rPr lang="en-US" altLang="zh-CN" sz="2400" b="0" dirty="0" err="1" smtClean="0">
                <a:solidFill>
                  <a:srgbClr val="FF0000"/>
                </a:solidFill>
                <a:latin typeface="Times New Roman" panose="02020603050405020304" pitchFamily="18" charset="0"/>
                <a:ea typeface="宋体" panose="02010600030101010101" pitchFamily="2" charset="-122"/>
              </a:rPr>
              <a:t>linux</a:t>
            </a:r>
            <a:r>
              <a:rPr lang="en-US" altLang="zh-CN" sz="2400" b="0" dirty="0" smtClean="0">
                <a:solidFill>
                  <a:srgbClr val="FF0000"/>
                </a:solidFill>
                <a:latin typeface="Times New Roman" panose="02020603050405020304" pitchFamily="18" charset="0"/>
                <a:ea typeface="宋体" panose="02010600030101010101" pitchFamily="2" charset="-122"/>
              </a:rPr>
              <a:t>/</a:t>
            </a:r>
            <a:r>
              <a:rPr lang="en-US" altLang="zh-CN" sz="2400" b="0" dirty="0" err="1" smtClean="0">
                <a:solidFill>
                  <a:srgbClr val="FF0000"/>
                </a:solidFill>
                <a:latin typeface="Times New Roman" panose="02020603050405020304" pitchFamily="18" charset="0"/>
                <a:ea typeface="宋体" panose="02010600030101010101" pitchFamily="2" charset="-122"/>
              </a:rPr>
              <a:t>fs.h</a:t>
            </a:r>
            <a:endParaRPr lang="en-US" altLang="zh-CN" sz="2400" b="0" dirty="0" smtClean="0">
              <a:solidFill>
                <a:srgbClr val="FF0000"/>
              </a:solidFill>
              <a:ea typeface="宋体" panose="02010600030101010101" pitchFamily="2" charset="-122"/>
            </a:endParaRPr>
          </a:p>
          <a:p>
            <a:pPr algn="just">
              <a:lnSpc>
                <a:spcPct val="90000"/>
              </a:lnSpc>
              <a:buFont typeface="Monotype Sorts" pitchFamily="2" charset="2"/>
              <a:buNone/>
              <a:defRPr/>
            </a:pPr>
            <a:r>
              <a:rPr lang="en-US" altLang="zh-CN" b="0" dirty="0" err="1" smtClean="0">
                <a:latin typeface="Times New Roman" panose="02020603050405020304" pitchFamily="18" charset="0"/>
                <a:ea typeface="宋体" panose="02010600030101010101" pitchFamily="2" charset="-122"/>
              </a:rPr>
              <a:t>struct</a:t>
            </a:r>
            <a:r>
              <a:rPr lang="en-US" altLang="zh-CN" b="0" dirty="0" smtClean="0">
                <a:latin typeface="Times New Roman" panose="02020603050405020304" pitchFamily="18" charset="0"/>
                <a:ea typeface="宋体" panose="02010600030101010101" pitchFamily="2" charset="-122"/>
              </a:rPr>
              <a:t> file {</a:t>
            </a:r>
          </a:p>
          <a:p>
            <a:pPr algn="just">
              <a:lnSpc>
                <a:spcPct val="90000"/>
              </a:lnSpc>
              <a:buFont typeface="Monotype Sorts" pitchFamily="2" charset="2"/>
              <a:buNone/>
              <a:defRPr/>
            </a:pPr>
            <a:r>
              <a:rPr lang="en-US" altLang="zh-CN" b="0" dirty="0" smtClean="0">
                <a:latin typeface="Times New Roman" panose="02020603050405020304" pitchFamily="18" charset="0"/>
                <a:ea typeface="宋体" panose="02010600030101010101" pitchFamily="2" charset="-122"/>
              </a:rPr>
              <a:t>	……</a:t>
            </a:r>
          </a:p>
          <a:p>
            <a:pPr algn="just">
              <a:lnSpc>
                <a:spcPct val="90000"/>
              </a:lnSpc>
              <a:buFont typeface="Monotype Sorts" pitchFamily="2" charset="2"/>
              <a:buNone/>
              <a:defRPr/>
            </a:pPr>
            <a:r>
              <a:rPr lang="en-US" altLang="zh-CN" b="0" dirty="0" smtClean="0">
                <a:latin typeface="Times New Roman" panose="02020603050405020304" pitchFamily="18" charset="0"/>
                <a:ea typeface="宋体" panose="02010600030101010101" pitchFamily="2" charset="-122"/>
              </a:rPr>
              <a:t>	</a:t>
            </a:r>
            <a:r>
              <a:rPr lang="en-US" altLang="zh-CN" b="0" dirty="0" err="1" smtClean="0">
                <a:latin typeface="Times New Roman" panose="02020603050405020304" pitchFamily="18" charset="0"/>
                <a:ea typeface="宋体" panose="02010600030101010101" pitchFamily="2" charset="-122"/>
              </a:rPr>
              <a:t>struct</a:t>
            </a:r>
            <a:r>
              <a:rPr lang="en-US" altLang="zh-CN" b="0" dirty="0" smtClean="0">
                <a:latin typeface="Times New Roman" panose="02020603050405020304" pitchFamily="18" charset="0"/>
                <a:ea typeface="宋体" panose="02010600030101010101" pitchFamily="2" charset="-122"/>
              </a:rPr>
              <a:t> </a:t>
            </a:r>
            <a:r>
              <a:rPr lang="en-US" altLang="zh-CN" b="0" dirty="0" err="1" smtClean="0">
                <a:latin typeface="Times New Roman" panose="02020603050405020304" pitchFamily="18" charset="0"/>
                <a:ea typeface="宋体" panose="02010600030101010101" pitchFamily="2" charset="-122"/>
              </a:rPr>
              <a:t>file_operations</a:t>
            </a:r>
            <a:r>
              <a:rPr lang="en-US" altLang="zh-CN" b="0" dirty="0" smtClean="0">
                <a:latin typeface="Times New Roman" panose="02020603050405020304" pitchFamily="18" charset="0"/>
                <a:ea typeface="宋体" panose="02010600030101010101" pitchFamily="2" charset="-122"/>
              </a:rPr>
              <a:t> *</a:t>
            </a:r>
            <a:r>
              <a:rPr lang="en-US" altLang="zh-CN" b="0" dirty="0" err="1" smtClean="0">
                <a:latin typeface="Times New Roman" panose="02020603050405020304" pitchFamily="18" charset="0"/>
                <a:ea typeface="宋体" panose="02010600030101010101" pitchFamily="2" charset="-122"/>
              </a:rPr>
              <a:t>f_op</a:t>
            </a:r>
            <a:r>
              <a:rPr lang="en-US" altLang="zh-CN" b="0" dirty="0" smtClean="0">
                <a:latin typeface="Times New Roman" panose="02020603050405020304" pitchFamily="18" charset="0"/>
                <a:ea typeface="宋体" panose="02010600030101010101" pitchFamily="2" charset="-122"/>
              </a:rPr>
              <a:t>;</a:t>
            </a:r>
          </a:p>
          <a:p>
            <a:pPr algn="just">
              <a:lnSpc>
                <a:spcPct val="90000"/>
              </a:lnSpc>
              <a:buFont typeface="Monotype Sorts" pitchFamily="2" charset="2"/>
              <a:buNone/>
              <a:defRPr/>
            </a:pPr>
            <a:r>
              <a:rPr lang="en-US" altLang="zh-CN" b="0" dirty="0" smtClean="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3508746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503363" y="177800"/>
            <a:ext cx="5302250" cy="547688"/>
          </a:xfrm>
        </p:spPr>
        <p:txBody>
          <a:bodyPr/>
          <a:lstStyle/>
          <a:p>
            <a:r>
              <a:rPr lang="zh-CN" altLang="en-US" smtClean="0">
                <a:latin typeface="宋体" panose="02010600030101010101" pitchFamily="2" charset="-122"/>
                <a:ea typeface="宋体" panose="02010600030101010101" pitchFamily="2" charset="-122"/>
              </a:rPr>
              <a:t>字符设备转换表</a:t>
            </a:r>
            <a:endParaRPr lang="en-US" altLang="zh-CN" smtClean="0">
              <a:ea typeface="宋体" panose="02010600030101010101" pitchFamily="2" charset="-122"/>
            </a:endParaRPr>
          </a:p>
        </p:txBody>
      </p:sp>
      <p:sp>
        <p:nvSpPr>
          <p:cNvPr id="30723" name="Rectangle 3"/>
          <p:cNvSpPr>
            <a:spLocks noGrp="1" noChangeArrowheads="1"/>
          </p:cNvSpPr>
          <p:nvPr>
            <p:ph type="body" idx="1"/>
          </p:nvPr>
        </p:nvSpPr>
        <p:spPr>
          <a:xfrm>
            <a:off x="179512" y="935038"/>
            <a:ext cx="9145016" cy="5492750"/>
          </a:xfrm>
        </p:spPr>
        <p:txBody>
          <a:bodyPr/>
          <a:lstStyle/>
          <a:p>
            <a:pPr algn="just">
              <a:lnSpc>
                <a:spcPct val="90000"/>
              </a:lnSpc>
              <a:buFont typeface="Monotype Sorts" pitchFamily="2" charset="2"/>
              <a:buNone/>
              <a:defRPr/>
            </a:pP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a:t>
            </a:r>
            <a:r>
              <a:rPr lang="en-US" altLang="zh-CN" b="0" dirty="0" err="1">
                <a:solidFill>
                  <a:srgbClr val="FF0000"/>
                </a:solidFill>
                <a:latin typeface="Times New Roman" panose="02020603050405020304" pitchFamily="18" charset="0"/>
                <a:ea typeface="宋体" panose="02010600030101010101" pitchFamily="2" charset="-122"/>
              </a:rPr>
              <a:t>file_operations</a:t>
            </a:r>
            <a:r>
              <a:rPr lang="en-US" altLang="zh-CN" b="0" dirty="0">
                <a:latin typeface="Times New Roman" panose="02020603050405020304" pitchFamily="18" charset="0"/>
                <a:ea typeface="宋体" panose="02010600030101010101" pitchFamily="2" charset="-122"/>
              </a:rPr>
              <a:t> {</a:t>
            </a:r>
          </a:p>
          <a:p>
            <a:pPr algn="just">
              <a:lnSpc>
                <a:spcPct val="90000"/>
              </a:lnSpc>
              <a:buFont typeface="Monotype Sorts" pitchFamily="2" charset="2"/>
              <a:buNone/>
              <a:defRPr/>
            </a:pP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module *owner;</a:t>
            </a:r>
          </a:p>
          <a:p>
            <a:pPr>
              <a:lnSpc>
                <a:spcPct val="90000"/>
              </a:lnSpc>
              <a:buFont typeface="Monotype Sorts" pitchFamily="2" charset="2"/>
              <a:buNone/>
              <a:defRPr/>
            </a:pPr>
            <a:r>
              <a:rPr lang="en-US" altLang="zh-CN" sz="1050" b="0" dirty="0">
                <a:solidFill>
                  <a:schemeClr val="tx2"/>
                </a:solidFill>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loff_t</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llseek</a:t>
            </a:r>
            <a:r>
              <a:rPr lang="en-US" altLang="zh-CN" b="0" dirty="0">
                <a:latin typeface="Times New Roman" panose="02020603050405020304" pitchFamily="18" charset="0"/>
                <a:ea typeface="宋体" panose="02010600030101010101" pitchFamily="2" charset="-122"/>
              </a:rPr>
              <a:t>)(</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file *,</a:t>
            </a:r>
            <a:r>
              <a:rPr lang="en-US" altLang="zh-CN" b="0" dirty="0" err="1">
                <a:latin typeface="Times New Roman" panose="02020603050405020304" pitchFamily="18" charset="0"/>
                <a:ea typeface="宋体" panose="02010600030101010101" pitchFamily="2" charset="-122"/>
              </a:rPr>
              <a:t>loff_t,int</a:t>
            </a:r>
            <a:r>
              <a:rPr lang="en-US" altLang="zh-CN" b="0" dirty="0">
                <a:latin typeface="Times New Roman" panose="02020603050405020304" pitchFamily="18" charset="0"/>
                <a:ea typeface="宋体" panose="02010600030101010101" pitchFamily="2" charset="-122"/>
              </a:rPr>
              <a:t>);</a:t>
            </a:r>
          </a:p>
          <a:p>
            <a:pPr>
              <a:lnSpc>
                <a:spcPct val="90000"/>
              </a:lnSpc>
              <a:buFont typeface="Monotype Sorts" pitchFamily="2" charset="2"/>
              <a:buNone/>
              <a:defRPr/>
            </a:pP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ssize_t</a:t>
            </a:r>
            <a:r>
              <a:rPr lang="en-US" altLang="zh-CN" b="0" dirty="0">
                <a:latin typeface="Times New Roman" panose="02020603050405020304" pitchFamily="18" charset="0"/>
                <a:ea typeface="宋体" panose="02010600030101010101" pitchFamily="2" charset="-122"/>
              </a:rPr>
              <a:t>  (*read)(</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file *,char *,</a:t>
            </a:r>
            <a:r>
              <a:rPr lang="en-US" altLang="zh-CN" b="0" dirty="0" err="1">
                <a:latin typeface="Times New Roman" panose="02020603050405020304" pitchFamily="18" charset="0"/>
                <a:ea typeface="宋体" panose="02010600030101010101" pitchFamily="2" charset="-122"/>
              </a:rPr>
              <a:t>size_t,loff_t</a:t>
            </a:r>
            <a:r>
              <a:rPr lang="en-US" altLang="zh-CN" b="0" dirty="0">
                <a:latin typeface="Times New Roman" panose="02020603050405020304" pitchFamily="18" charset="0"/>
                <a:ea typeface="宋体" panose="02010600030101010101" pitchFamily="2" charset="-122"/>
              </a:rPr>
              <a:t> *);</a:t>
            </a:r>
          </a:p>
          <a:p>
            <a:pPr>
              <a:lnSpc>
                <a:spcPct val="90000"/>
              </a:lnSpc>
              <a:buFont typeface="Monotype Sorts" pitchFamily="2" charset="2"/>
              <a:buNone/>
              <a:defRPr/>
            </a:pP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ssize_t</a:t>
            </a:r>
            <a:r>
              <a:rPr lang="en-US" altLang="zh-CN" b="0" dirty="0">
                <a:latin typeface="Times New Roman" panose="02020603050405020304" pitchFamily="18" charset="0"/>
                <a:ea typeface="宋体" panose="02010600030101010101" pitchFamily="2" charset="-122"/>
              </a:rPr>
              <a:t>  (*write)(</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file *,</a:t>
            </a:r>
            <a:r>
              <a:rPr lang="en-US" altLang="zh-CN" b="0" dirty="0" err="1">
                <a:latin typeface="Times New Roman" panose="02020603050405020304" pitchFamily="18" charset="0"/>
                <a:ea typeface="宋体" panose="02010600030101010101" pitchFamily="2" charset="-122"/>
              </a:rPr>
              <a:t>const</a:t>
            </a:r>
            <a:r>
              <a:rPr lang="en-US" altLang="zh-CN" b="0" dirty="0">
                <a:latin typeface="Times New Roman" panose="02020603050405020304" pitchFamily="18" charset="0"/>
                <a:ea typeface="宋体" panose="02010600030101010101" pitchFamily="2" charset="-122"/>
              </a:rPr>
              <a:t> char *,</a:t>
            </a:r>
            <a:r>
              <a:rPr lang="en-US" altLang="zh-CN" b="0" dirty="0" err="1">
                <a:latin typeface="Times New Roman" panose="02020603050405020304" pitchFamily="18" charset="0"/>
                <a:ea typeface="宋体" panose="02010600030101010101" pitchFamily="2" charset="-122"/>
              </a:rPr>
              <a:t>size_t,loff_t</a:t>
            </a:r>
            <a:r>
              <a:rPr lang="en-US" altLang="zh-CN" b="0" dirty="0">
                <a:latin typeface="Times New Roman" panose="02020603050405020304" pitchFamily="18" charset="0"/>
                <a:ea typeface="宋体" panose="02010600030101010101" pitchFamily="2" charset="-122"/>
              </a:rPr>
              <a:t> *);</a:t>
            </a:r>
          </a:p>
          <a:p>
            <a:pPr>
              <a:lnSpc>
                <a:spcPct val="90000"/>
              </a:lnSpc>
              <a:buFont typeface="Monotype Sorts" pitchFamily="2" charset="2"/>
              <a:buNone/>
              <a:defRPr/>
            </a:pP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int</a:t>
            </a:r>
            <a:r>
              <a:rPr lang="en-US" altLang="zh-CN" b="0" dirty="0">
                <a:latin typeface="Times New Roman" panose="02020603050405020304" pitchFamily="18" charset="0"/>
                <a:ea typeface="宋体" panose="02010600030101010101" pitchFamily="2" charset="-122"/>
              </a:rPr>
              <a:t>(*</a:t>
            </a:r>
            <a:r>
              <a:rPr lang="en-US" altLang="zh-CN" b="0" dirty="0" err="1">
                <a:latin typeface="Times New Roman" panose="02020603050405020304" pitchFamily="18" charset="0"/>
                <a:ea typeface="宋体" panose="02010600030101010101" pitchFamily="2" charset="-122"/>
              </a:rPr>
              <a:t>ioctl</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inode</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file *,unsigned </a:t>
            </a:r>
            <a:r>
              <a:rPr lang="en-US" altLang="zh-CN" b="0" dirty="0" err="1">
                <a:latin typeface="Times New Roman" panose="02020603050405020304" pitchFamily="18" charset="0"/>
                <a:ea typeface="宋体" panose="02010600030101010101" pitchFamily="2" charset="-122"/>
              </a:rPr>
              <a:t>int,unsigned</a:t>
            </a:r>
            <a:r>
              <a:rPr lang="en-US" altLang="zh-CN" b="0" dirty="0">
                <a:latin typeface="Times New Roman" panose="02020603050405020304" pitchFamily="18" charset="0"/>
                <a:ea typeface="宋体" panose="02010600030101010101" pitchFamily="2" charset="-122"/>
              </a:rPr>
              <a:t> long);</a:t>
            </a:r>
          </a:p>
          <a:p>
            <a:pPr>
              <a:lnSpc>
                <a:spcPct val="90000"/>
              </a:lnSpc>
              <a:buFont typeface="Monotype Sorts" pitchFamily="2" charset="2"/>
              <a:buNone/>
              <a:defRPr/>
            </a:pP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int</a:t>
            </a:r>
            <a:r>
              <a:rPr lang="en-US" altLang="zh-CN" b="0" dirty="0">
                <a:latin typeface="Times New Roman" panose="02020603050405020304" pitchFamily="18" charset="0"/>
                <a:ea typeface="宋体" panose="02010600030101010101" pitchFamily="2" charset="-122"/>
              </a:rPr>
              <a:t>(*</a:t>
            </a:r>
            <a:r>
              <a:rPr lang="en-US" altLang="zh-CN" b="0" dirty="0" err="1">
                <a:latin typeface="Times New Roman" panose="02020603050405020304" pitchFamily="18" charset="0"/>
                <a:ea typeface="宋体" panose="02010600030101010101" pitchFamily="2" charset="-122"/>
              </a:rPr>
              <a:t>mmap</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file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vm_area_struct</a:t>
            </a:r>
            <a:r>
              <a:rPr lang="en-US" altLang="zh-CN" b="0" dirty="0">
                <a:latin typeface="Times New Roman" panose="02020603050405020304" pitchFamily="18" charset="0"/>
                <a:ea typeface="宋体" panose="02010600030101010101" pitchFamily="2" charset="-122"/>
              </a:rPr>
              <a:t> *);</a:t>
            </a:r>
          </a:p>
          <a:p>
            <a:pPr>
              <a:lnSpc>
                <a:spcPct val="90000"/>
              </a:lnSpc>
              <a:buFont typeface="Monotype Sorts" pitchFamily="2" charset="2"/>
              <a:buNone/>
              <a:defRPr/>
            </a:pP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int</a:t>
            </a:r>
            <a:r>
              <a:rPr lang="en-US" altLang="zh-CN" b="0" dirty="0">
                <a:latin typeface="Times New Roman" panose="02020603050405020304" pitchFamily="18" charset="0"/>
                <a:ea typeface="宋体" panose="02010600030101010101" pitchFamily="2" charset="-122"/>
              </a:rPr>
              <a:t>(*open)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inode</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file *);</a:t>
            </a:r>
          </a:p>
          <a:p>
            <a:pPr>
              <a:lnSpc>
                <a:spcPct val="90000"/>
              </a:lnSpc>
              <a:buFont typeface="Monotype Sorts" pitchFamily="2" charset="2"/>
              <a:buNone/>
              <a:defRPr/>
            </a:pPr>
            <a:r>
              <a:rPr lang="en-US" altLang="zh-CN" b="0" dirty="0">
                <a:solidFill>
                  <a:schemeClr val="tx2"/>
                </a:solidFill>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int</a:t>
            </a:r>
            <a:r>
              <a:rPr lang="en-US" altLang="zh-CN" b="0" dirty="0">
                <a:latin typeface="Times New Roman" panose="02020603050405020304" pitchFamily="18" charset="0"/>
                <a:ea typeface="宋体" panose="02010600030101010101" pitchFamily="2" charset="-122"/>
              </a:rPr>
              <a:t>(*release)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inode</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file *);</a:t>
            </a:r>
          </a:p>
          <a:p>
            <a:pPr>
              <a:lnSpc>
                <a:spcPct val="90000"/>
              </a:lnSpc>
              <a:buFont typeface="Monotype Sorts" pitchFamily="2" charset="2"/>
              <a:buNone/>
              <a:defRPr/>
            </a:pPr>
            <a:r>
              <a:rPr lang="en-US" altLang="zh-CN" b="0" dirty="0">
                <a:solidFill>
                  <a:schemeClr val="tx2"/>
                </a:solidFill>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int</a:t>
            </a:r>
            <a:r>
              <a:rPr lang="en-US" altLang="zh-CN" b="0" dirty="0">
                <a:latin typeface="Times New Roman" panose="02020603050405020304" pitchFamily="18" charset="0"/>
                <a:ea typeface="宋体" panose="02010600030101010101" pitchFamily="2" charset="-122"/>
              </a:rPr>
              <a:t>(*</a:t>
            </a:r>
            <a:r>
              <a:rPr lang="en-US" altLang="zh-CN" b="0" dirty="0" err="1">
                <a:latin typeface="Times New Roman" panose="02020603050405020304" pitchFamily="18" charset="0"/>
                <a:ea typeface="宋体" panose="02010600030101010101" pitchFamily="2" charset="-122"/>
              </a:rPr>
              <a:t>fsync</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file *,</a:t>
            </a:r>
            <a:r>
              <a:rPr lang="en-US" altLang="zh-CN" b="0" dirty="0" err="1">
                <a:latin typeface="Times New Roman" panose="02020603050405020304" pitchFamily="18" charset="0"/>
                <a:ea typeface="宋体" panose="02010600030101010101" pitchFamily="2" charset="-122"/>
              </a:rPr>
              <a:t>struct</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dentry</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int</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datasync</a:t>
            </a:r>
            <a:r>
              <a:rPr lang="en-US" altLang="zh-CN" b="0" dirty="0">
                <a:latin typeface="Times New Roman" panose="02020603050405020304" pitchFamily="18" charset="0"/>
                <a:ea typeface="宋体" panose="02010600030101010101" pitchFamily="2" charset="-122"/>
              </a:rPr>
              <a:t>);</a:t>
            </a:r>
          </a:p>
          <a:p>
            <a:pPr>
              <a:lnSpc>
                <a:spcPct val="90000"/>
              </a:lnSpc>
              <a:buFont typeface="Monotype Sorts" pitchFamily="2" charset="2"/>
              <a:buNone/>
              <a:defRPr/>
            </a:pP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int</a:t>
            </a:r>
            <a:r>
              <a:rPr lang="en-US" altLang="zh-CN" b="0" dirty="0">
                <a:latin typeface="Times New Roman" panose="02020603050405020304" pitchFamily="18" charset="0"/>
                <a:ea typeface="宋体" panose="02010600030101010101" pitchFamily="2" charset="-122"/>
              </a:rPr>
              <a:t>(*</a:t>
            </a:r>
            <a:r>
              <a:rPr lang="en-US" altLang="zh-CN" b="0" dirty="0" err="1">
                <a:latin typeface="Times New Roman" panose="02020603050405020304" pitchFamily="18" charset="0"/>
                <a:ea typeface="宋体" panose="02010600030101010101" pitchFamily="2" charset="-122"/>
              </a:rPr>
              <a:t>fasync</a:t>
            </a:r>
            <a:r>
              <a:rPr lang="en-US" altLang="zh-CN" b="0" dirty="0">
                <a:latin typeface="Times New Roman" panose="02020603050405020304" pitchFamily="18" charset="0"/>
                <a:ea typeface="宋体" panose="02010600030101010101" pitchFamily="2" charset="-122"/>
              </a:rPr>
              <a:t>)  (</a:t>
            </a:r>
            <a:r>
              <a:rPr lang="en-US" altLang="zh-CN" b="0" dirty="0" err="1">
                <a:latin typeface="Times New Roman" panose="02020603050405020304" pitchFamily="18" charset="0"/>
                <a:ea typeface="宋体" panose="02010600030101010101" pitchFamily="2" charset="-122"/>
              </a:rPr>
              <a:t>int,struct</a:t>
            </a:r>
            <a:r>
              <a:rPr lang="en-US" altLang="zh-CN" b="0" dirty="0">
                <a:latin typeface="Times New Roman" panose="02020603050405020304" pitchFamily="18" charset="0"/>
                <a:ea typeface="宋体" panose="02010600030101010101" pitchFamily="2" charset="-122"/>
              </a:rPr>
              <a:t> file *,</a:t>
            </a:r>
            <a:r>
              <a:rPr lang="en-US" altLang="zh-CN" b="0" dirty="0" err="1">
                <a:latin typeface="Times New Roman" panose="02020603050405020304" pitchFamily="18" charset="0"/>
                <a:ea typeface="宋体" panose="02010600030101010101" pitchFamily="2" charset="-122"/>
              </a:rPr>
              <a:t>int</a:t>
            </a:r>
            <a:r>
              <a:rPr lang="en-US" altLang="zh-CN" b="0" dirty="0">
                <a:latin typeface="Times New Roman" panose="02020603050405020304" pitchFamily="18" charset="0"/>
                <a:ea typeface="宋体" panose="02010600030101010101" pitchFamily="2" charset="-122"/>
              </a:rPr>
              <a:t>);    ……</a:t>
            </a:r>
          </a:p>
          <a:p>
            <a:pPr>
              <a:lnSpc>
                <a:spcPct val="90000"/>
              </a:lnSpc>
              <a:buFont typeface="Monotype Sorts" pitchFamily="2" charset="2"/>
              <a:buNone/>
              <a:defRPr/>
            </a:pPr>
            <a:r>
              <a:rPr lang="en-US" altLang="zh-CN" b="0" dirty="0">
                <a:latin typeface="Times New Roman" panose="02020603050405020304" pitchFamily="18" charset="0"/>
                <a:ea typeface="宋体" panose="02010600030101010101" pitchFamily="2" charset="-122"/>
              </a:rPr>
              <a:t>};</a:t>
            </a:r>
          </a:p>
          <a:p>
            <a:pPr algn="just">
              <a:lnSpc>
                <a:spcPct val="90000"/>
              </a:lnSpc>
              <a:buFont typeface="Monotype Sorts" pitchFamily="2" charset="2"/>
              <a:buNone/>
              <a:defRPr/>
            </a:pPr>
            <a:endParaRPr lang="en-US" altLang="zh-CN" b="0" dirty="0">
              <a:latin typeface="Times New Roman" panose="02020603050405020304" pitchFamily="18" charset="0"/>
              <a:ea typeface="宋体" panose="02010600030101010101" pitchFamily="2" charset="-122"/>
            </a:endParaRPr>
          </a:p>
          <a:p>
            <a:pPr marL="0" indent="0">
              <a:lnSpc>
                <a:spcPct val="90000"/>
              </a:lnSpc>
              <a:buNone/>
              <a:defRPr/>
            </a:pPr>
            <a:endParaRPr lang="en-US" altLang="zh-CN" b="0" dirty="0" smtClean="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136586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95536" y="476672"/>
            <a:ext cx="8123238"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a:spAutoFit/>
          </a:bodyP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(1) </a:t>
            </a:r>
            <a:r>
              <a:rPr kumimoji="0" lang="en-US" altLang="zh-CN" sz="2400" dirty="0" err="1">
                <a:latin typeface="Times New Roman" panose="02020603050405020304" pitchFamily="18" charset="0"/>
              </a:rPr>
              <a:t>llseek</a:t>
            </a:r>
            <a:r>
              <a:rPr kumimoji="0" lang="en-US" altLang="zh-CN" sz="2400" dirty="0">
                <a:latin typeface="Times New Roman" panose="02020603050405020304" pitchFamily="18" charset="0"/>
              </a:rPr>
              <a:t>(file, offset, whence)：</a:t>
            </a:r>
            <a:r>
              <a:rPr kumimoji="0" lang="zh-CN" altLang="en-US" sz="2400" dirty="0">
                <a:latin typeface="Times New Roman" panose="02020603050405020304" pitchFamily="18" charset="0"/>
              </a:rPr>
              <a:t>修改文件的读写指针。</a:t>
            </a:r>
          </a:p>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(2) </a:t>
            </a:r>
            <a:r>
              <a:rPr kumimoji="0" lang="en-US" altLang="zh-CN" sz="2400" dirty="0">
                <a:latin typeface="Times New Roman" panose="02020603050405020304" pitchFamily="18" charset="0"/>
              </a:rPr>
              <a:t>read(file, </a:t>
            </a:r>
            <a:r>
              <a:rPr kumimoji="0" lang="en-US" altLang="zh-CN" sz="2400" dirty="0" err="1">
                <a:latin typeface="Times New Roman" panose="02020603050405020304" pitchFamily="18" charset="0"/>
              </a:rPr>
              <a:t>buf</a:t>
            </a:r>
            <a:r>
              <a:rPr kumimoji="0" lang="en-US" altLang="zh-CN" sz="2400" dirty="0">
                <a:latin typeface="Times New Roman" panose="02020603050405020304" pitchFamily="18" charset="0"/>
              </a:rPr>
              <a:t>, count, offset)：</a:t>
            </a:r>
            <a:r>
              <a:rPr kumimoji="0" lang="zh-CN" altLang="en-US" sz="2400" dirty="0">
                <a:latin typeface="Times New Roman" panose="02020603050405020304" pitchFamily="18" charset="0"/>
              </a:rPr>
              <a:t>从设备文件的</a:t>
            </a:r>
            <a:r>
              <a:rPr kumimoji="0" lang="en-US" altLang="zh-CN" sz="2400" dirty="0">
                <a:latin typeface="Times New Roman" panose="02020603050405020304" pitchFamily="18" charset="0"/>
              </a:rPr>
              <a:t>offset </a:t>
            </a:r>
            <a:r>
              <a:rPr kumimoji="0" lang="zh-CN" altLang="en-US" sz="2400" dirty="0">
                <a:latin typeface="Times New Roman" panose="02020603050405020304" pitchFamily="18" charset="0"/>
              </a:rPr>
              <a:t>处开始读出</a:t>
            </a:r>
            <a:r>
              <a:rPr kumimoji="0" lang="en-US" altLang="zh-CN" sz="2400" dirty="0">
                <a:latin typeface="Times New Roman" panose="02020603050405020304" pitchFamily="18" charset="0"/>
              </a:rPr>
              <a:t>count</a:t>
            </a:r>
            <a:r>
              <a:rPr kumimoji="0" lang="zh-CN" altLang="en-US" sz="2400" dirty="0">
                <a:latin typeface="Times New Roman" panose="02020603050405020304" pitchFamily="18" charset="0"/>
              </a:rPr>
              <a:t>个字节，然后增加</a:t>
            </a:r>
            <a:r>
              <a:rPr kumimoji="0" lang="en-US" altLang="zh-CN" sz="2400" dirty="0">
                <a:latin typeface="Times New Roman" panose="02020603050405020304" pitchFamily="18" charset="0"/>
              </a:rPr>
              <a:t>offset</a:t>
            </a:r>
            <a:r>
              <a:rPr kumimoji="0" lang="zh-CN" altLang="en-US" sz="2400" dirty="0">
                <a:latin typeface="Times New Roman" panose="02020603050405020304" pitchFamily="18" charset="0"/>
              </a:rPr>
              <a:t>的值。</a:t>
            </a:r>
          </a:p>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(3) </a:t>
            </a:r>
            <a:r>
              <a:rPr kumimoji="0" lang="en-US" altLang="zh-CN" sz="2400" dirty="0">
                <a:latin typeface="Times New Roman" panose="02020603050405020304" pitchFamily="18" charset="0"/>
              </a:rPr>
              <a:t>write(file, </a:t>
            </a:r>
            <a:r>
              <a:rPr kumimoji="0" lang="en-US" altLang="zh-CN" sz="2400" dirty="0" err="1">
                <a:latin typeface="Times New Roman" panose="02020603050405020304" pitchFamily="18" charset="0"/>
              </a:rPr>
              <a:t>buf</a:t>
            </a:r>
            <a:r>
              <a:rPr kumimoji="0" lang="en-US" altLang="zh-CN" sz="2400" dirty="0">
                <a:latin typeface="Times New Roman" panose="02020603050405020304" pitchFamily="18" charset="0"/>
              </a:rPr>
              <a:t>, count, offset)：</a:t>
            </a:r>
            <a:r>
              <a:rPr kumimoji="0" lang="zh-CN" altLang="en-US" sz="2400" dirty="0">
                <a:latin typeface="Times New Roman" panose="02020603050405020304" pitchFamily="18" charset="0"/>
              </a:rPr>
              <a:t>从设备文件的</a:t>
            </a:r>
            <a:r>
              <a:rPr kumimoji="0" lang="en-US" altLang="zh-CN" sz="2400" dirty="0">
                <a:latin typeface="Times New Roman" panose="02020603050405020304" pitchFamily="18" charset="0"/>
              </a:rPr>
              <a:t>offset</a:t>
            </a:r>
            <a:r>
              <a:rPr kumimoji="0" lang="zh-CN" altLang="en-US" sz="2400" dirty="0">
                <a:latin typeface="Times New Roman" panose="02020603050405020304" pitchFamily="18" charset="0"/>
              </a:rPr>
              <a:t>处写入</a:t>
            </a:r>
            <a:r>
              <a:rPr kumimoji="0" lang="en-US" altLang="zh-CN" sz="2400" dirty="0">
                <a:latin typeface="Times New Roman" panose="02020603050405020304" pitchFamily="18" charset="0"/>
              </a:rPr>
              <a:t>count</a:t>
            </a:r>
            <a:r>
              <a:rPr kumimoji="0" lang="zh-CN" altLang="en-US" sz="2400" dirty="0">
                <a:latin typeface="Times New Roman" panose="02020603050405020304" pitchFamily="18" charset="0"/>
              </a:rPr>
              <a:t>个字节，然后增加*</a:t>
            </a:r>
            <a:r>
              <a:rPr kumimoji="0" lang="en-US" altLang="zh-CN" sz="2400" dirty="0">
                <a:latin typeface="Times New Roman" panose="02020603050405020304" pitchFamily="18" charset="0"/>
              </a:rPr>
              <a:t>offset</a:t>
            </a:r>
            <a:r>
              <a:rPr kumimoji="0" lang="zh-CN" altLang="en-US" sz="2400" dirty="0">
                <a:latin typeface="Times New Roman" panose="02020603050405020304" pitchFamily="18" charset="0"/>
              </a:rPr>
              <a:t>的值。</a:t>
            </a:r>
          </a:p>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(4) </a:t>
            </a:r>
            <a:r>
              <a:rPr kumimoji="0" lang="en-US" altLang="zh-CN" sz="2400" dirty="0" err="1">
                <a:latin typeface="Times New Roman" panose="02020603050405020304" pitchFamily="18" charset="0"/>
              </a:rPr>
              <a:t>ioctl</a:t>
            </a:r>
            <a:r>
              <a:rPr kumimoji="0" lang="en-US" altLang="zh-CN" sz="2400" dirty="0">
                <a:latin typeface="Times New Roman" panose="02020603050405020304" pitchFamily="18" charset="0"/>
              </a:rPr>
              <a:t>(</a:t>
            </a:r>
            <a:r>
              <a:rPr kumimoji="0" lang="en-US" altLang="zh-CN" sz="2400" dirty="0" err="1">
                <a:latin typeface="Times New Roman" panose="02020603050405020304" pitchFamily="18" charset="0"/>
              </a:rPr>
              <a:t>inode</a:t>
            </a:r>
            <a:r>
              <a:rPr kumimoji="0" lang="en-US" altLang="zh-CN" sz="2400" dirty="0">
                <a:latin typeface="Times New Roman" panose="02020603050405020304" pitchFamily="18" charset="0"/>
              </a:rPr>
              <a:t>, file, </a:t>
            </a:r>
            <a:r>
              <a:rPr kumimoji="0" lang="en-US" altLang="zh-CN" sz="2400" dirty="0" err="1">
                <a:latin typeface="Times New Roman" panose="02020603050405020304" pitchFamily="18" charset="0"/>
              </a:rPr>
              <a:t>cmd</a:t>
            </a:r>
            <a:r>
              <a:rPr kumimoji="0" lang="en-US" altLang="zh-CN" sz="2400" dirty="0">
                <a:latin typeface="Times New Roman" panose="02020603050405020304" pitchFamily="18" charset="0"/>
              </a:rPr>
              <a:t>, </a:t>
            </a:r>
            <a:r>
              <a:rPr kumimoji="0" lang="en-US" altLang="zh-CN" sz="2400" dirty="0" err="1">
                <a:latin typeface="Times New Roman" panose="02020603050405020304" pitchFamily="18" charset="0"/>
              </a:rPr>
              <a:t>arg</a:t>
            </a:r>
            <a:r>
              <a:rPr kumimoji="0" lang="en-US" altLang="zh-CN" sz="2400" dirty="0">
                <a:latin typeface="Times New Roman" panose="02020603050405020304" pitchFamily="18" charset="0"/>
              </a:rPr>
              <a:t>)：</a:t>
            </a:r>
            <a:r>
              <a:rPr kumimoji="0" lang="zh-CN" altLang="en-US" sz="2400" dirty="0">
                <a:latin typeface="Times New Roman" panose="02020603050405020304" pitchFamily="18" charset="0"/>
              </a:rPr>
              <a:t>向一个硬件设备发命令，对设备进行控制。</a:t>
            </a:r>
          </a:p>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(5) </a:t>
            </a:r>
            <a:r>
              <a:rPr kumimoji="0" lang="en-US" altLang="zh-CN" sz="2400" dirty="0" err="1">
                <a:latin typeface="Times New Roman" panose="02020603050405020304" pitchFamily="18" charset="0"/>
              </a:rPr>
              <a:t>mmap</a:t>
            </a:r>
            <a:r>
              <a:rPr kumimoji="0" lang="en-US" altLang="zh-CN" sz="2400" dirty="0">
                <a:latin typeface="Times New Roman" panose="02020603050405020304" pitchFamily="18" charset="0"/>
              </a:rPr>
              <a:t>(file, </a:t>
            </a:r>
            <a:r>
              <a:rPr kumimoji="0" lang="en-US" altLang="zh-CN" sz="2400" dirty="0" err="1">
                <a:latin typeface="Times New Roman" panose="02020603050405020304" pitchFamily="18" charset="0"/>
              </a:rPr>
              <a:t>vma</a:t>
            </a:r>
            <a:r>
              <a:rPr kumimoji="0" lang="en-US" altLang="zh-CN" sz="2400" dirty="0">
                <a:latin typeface="Times New Roman" panose="02020603050405020304" pitchFamily="18" charset="0"/>
              </a:rPr>
              <a:t>)：</a:t>
            </a:r>
            <a:r>
              <a:rPr kumimoji="0" lang="zh-CN" altLang="en-US" sz="2400" dirty="0">
                <a:latin typeface="Times New Roman" panose="02020603050405020304" pitchFamily="18" charset="0"/>
              </a:rPr>
              <a:t>将设备空间映射到进程地址空间。</a:t>
            </a:r>
          </a:p>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(6) </a:t>
            </a:r>
            <a:r>
              <a:rPr kumimoji="0" lang="en-US" altLang="zh-CN" sz="2400" dirty="0">
                <a:latin typeface="Times New Roman" panose="02020603050405020304" pitchFamily="18" charset="0"/>
              </a:rPr>
              <a:t>open(</a:t>
            </a:r>
            <a:r>
              <a:rPr kumimoji="0" lang="en-US" altLang="zh-CN" sz="2400" dirty="0" err="1">
                <a:latin typeface="Times New Roman" panose="02020603050405020304" pitchFamily="18" charset="0"/>
              </a:rPr>
              <a:t>inode</a:t>
            </a:r>
            <a:r>
              <a:rPr kumimoji="0" lang="en-US" altLang="zh-CN" sz="2400" dirty="0">
                <a:latin typeface="Times New Roman" panose="02020603050405020304" pitchFamily="18" charset="0"/>
              </a:rPr>
              <a:t>, file)：</a:t>
            </a:r>
            <a:r>
              <a:rPr kumimoji="0" lang="zh-CN" altLang="en-US" sz="2400" dirty="0">
                <a:latin typeface="Times New Roman" panose="02020603050405020304" pitchFamily="18" charset="0"/>
              </a:rPr>
              <a:t>打开并初始化设备。</a:t>
            </a:r>
          </a:p>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(7) </a:t>
            </a:r>
            <a:r>
              <a:rPr kumimoji="0" lang="en-US" altLang="zh-CN" sz="2400" dirty="0">
                <a:latin typeface="Times New Roman" panose="02020603050405020304" pitchFamily="18" charset="0"/>
              </a:rPr>
              <a:t>release(</a:t>
            </a:r>
            <a:r>
              <a:rPr kumimoji="0" lang="en-US" altLang="zh-CN" sz="2400" dirty="0" err="1">
                <a:latin typeface="Times New Roman" panose="02020603050405020304" pitchFamily="18" charset="0"/>
              </a:rPr>
              <a:t>inode</a:t>
            </a:r>
            <a:r>
              <a:rPr kumimoji="0" lang="en-US" altLang="zh-CN" sz="2400" dirty="0">
                <a:latin typeface="Times New Roman" panose="02020603050405020304" pitchFamily="18" charset="0"/>
              </a:rPr>
              <a:t>, file)：</a:t>
            </a:r>
            <a:r>
              <a:rPr kumimoji="0" lang="zh-CN" altLang="en-US" sz="2400" dirty="0">
                <a:latin typeface="Times New Roman" panose="02020603050405020304" pitchFamily="18" charset="0"/>
              </a:rPr>
              <a:t>关闭设备并释放资源。</a:t>
            </a:r>
          </a:p>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(8) </a:t>
            </a:r>
            <a:r>
              <a:rPr kumimoji="0" lang="en-US" altLang="zh-CN" sz="2400" dirty="0" err="1">
                <a:latin typeface="Times New Roman" panose="02020603050405020304" pitchFamily="18" charset="0"/>
              </a:rPr>
              <a:t>fsync</a:t>
            </a:r>
            <a:r>
              <a:rPr kumimoji="0" lang="en-US" altLang="zh-CN" sz="2400" dirty="0">
                <a:latin typeface="Times New Roman" panose="02020603050405020304" pitchFamily="18" charset="0"/>
              </a:rPr>
              <a:t>(file, </a:t>
            </a:r>
            <a:r>
              <a:rPr kumimoji="0" lang="en-US" altLang="zh-CN" sz="2400" dirty="0" err="1">
                <a:latin typeface="Times New Roman" panose="02020603050405020304" pitchFamily="18" charset="0"/>
              </a:rPr>
              <a:t>dentry</a:t>
            </a:r>
            <a:r>
              <a:rPr kumimoji="0" lang="en-US" altLang="zh-CN" sz="2400" dirty="0">
                <a:latin typeface="Times New Roman" panose="02020603050405020304" pitchFamily="18" charset="0"/>
              </a:rPr>
              <a:t>)：</a:t>
            </a:r>
            <a:r>
              <a:rPr kumimoji="0" lang="zh-CN" altLang="en-US" sz="2400" dirty="0">
                <a:latin typeface="Times New Roman" panose="02020603050405020304" pitchFamily="18" charset="0"/>
              </a:rPr>
              <a:t>实现内存与设备之间的同步通信。</a:t>
            </a:r>
          </a:p>
          <a:p>
            <a:pPr eaLnBrk="1" hangingPunct="1">
              <a:lnSpc>
                <a:spcPct val="100000"/>
              </a:lnSpc>
              <a:spcBef>
                <a:spcPct val="50000"/>
              </a:spcBef>
              <a:buClr>
                <a:schemeClr val="hlink"/>
              </a:buClr>
              <a:buSzPct val="75000"/>
              <a:buFont typeface="Wingdings" panose="05000000000000000000" pitchFamily="2" charset="2"/>
              <a:buNone/>
            </a:pPr>
            <a:r>
              <a:rPr kumimoji="0" lang="zh-CN" altLang="en-US" sz="2400" dirty="0">
                <a:latin typeface="Times New Roman" panose="02020603050405020304" pitchFamily="18" charset="0"/>
              </a:rPr>
              <a:t>(9) </a:t>
            </a:r>
            <a:r>
              <a:rPr kumimoji="0" lang="en-US" altLang="zh-CN" sz="2400" dirty="0" err="1">
                <a:latin typeface="Times New Roman" panose="02020603050405020304" pitchFamily="18" charset="0"/>
              </a:rPr>
              <a:t>fasync</a:t>
            </a:r>
            <a:r>
              <a:rPr kumimoji="0" lang="en-US" altLang="zh-CN" sz="2400" dirty="0">
                <a:latin typeface="Times New Roman" panose="02020603050405020304" pitchFamily="18" charset="0"/>
              </a:rPr>
              <a:t>(file, on)：</a:t>
            </a:r>
            <a:r>
              <a:rPr kumimoji="0" lang="zh-CN" altLang="en-US" sz="2400" dirty="0">
                <a:latin typeface="Times New Roman" panose="02020603050405020304" pitchFamily="18" charset="0"/>
              </a:rPr>
              <a:t>实现内存与设备之间的异步通信。</a:t>
            </a:r>
          </a:p>
        </p:txBody>
      </p:sp>
    </p:spTree>
    <p:extLst>
      <p:ext uri="{BB962C8B-B14F-4D97-AF65-F5344CB8AC3E}">
        <p14:creationId xmlns:p14="http://schemas.microsoft.com/office/powerpoint/2010/main" val="11554472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sz="half" idx="1"/>
          </p:nvPr>
        </p:nvSpPr>
        <p:spPr>
          <a:xfrm>
            <a:off x="179511" y="1374775"/>
            <a:ext cx="8276457" cy="5819775"/>
          </a:xfrm>
        </p:spPr>
        <p:txBody>
          <a:bodyPr/>
          <a:lstStyle/>
          <a:p>
            <a:r>
              <a:rPr lang="zh-CN" altLang="en-US" sz="3200" dirty="0" smtClean="0">
                <a:latin typeface="宋体" panose="02010600030101010101" pitchFamily="2" charset="-122"/>
                <a:ea typeface="宋体" panose="02010600030101010101" pitchFamily="2" charset="-122"/>
              </a:rPr>
              <a:t>字符设备的操作：打开文件操作</a:t>
            </a:r>
          </a:p>
          <a:p>
            <a:pPr lvl="1"/>
            <a:r>
              <a:rPr lang="zh-CN" altLang="en-US" sz="2800" dirty="0" smtClean="0">
                <a:latin typeface="宋体" panose="02010600030101010101" pitchFamily="2" charset="-122"/>
                <a:ea typeface="宋体" panose="02010600030101010101" pitchFamily="2" charset="-122"/>
              </a:rPr>
              <a:t>当打开字符设备文件时，使用设备的主设备号来</a:t>
            </a:r>
            <a:r>
              <a:rPr lang="zh-CN" altLang="en-US" sz="2800" dirty="0" smtClean="0">
                <a:solidFill>
                  <a:schemeClr val="tx1"/>
                </a:solidFill>
                <a:latin typeface="宋体" panose="02010600030101010101" pitchFamily="2" charset="-122"/>
                <a:ea typeface="宋体" panose="02010600030101010101" pitchFamily="2" charset="-122"/>
              </a:rPr>
              <a:t>索引</a:t>
            </a:r>
            <a:r>
              <a:rPr lang="en-US" altLang="zh-CN" sz="2800" dirty="0" err="1" smtClean="0">
                <a:solidFill>
                  <a:schemeClr val="tx1"/>
                </a:solidFill>
                <a:latin typeface="宋体" panose="02010600030101010101" pitchFamily="2" charset="-122"/>
                <a:ea typeface="宋体" panose="02010600030101010101" pitchFamily="2" charset="-122"/>
              </a:rPr>
              <a:t>chrdevs</a:t>
            </a:r>
            <a:r>
              <a:rPr lang="zh-CN" altLang="en-US" sz="2800" dirty="0" smtClean="0">
                <a:solidFill>
                  <a:schemeClr val="tx1"/>
                </a:solidFill>
                <a:latin typeface="宋体" panose="02010600030101010101" pitchFamily="2" charset="-122"/>
                <a:ea typeface="宋体" panose="02010600030101010101" pitchFamily="2" charset="-122"/>
              </a:rPr>
              <a:t>数组</a:t>
            </a:r>
            <a:r>
              <a:rPr lang="zh-CN" altLang="en-US" sz="2800" dirty="0" smtClean="0">
                <a:latin typeface="宋体" panose="02010600030101010101" pitchFamily="2" charset="-122"/>
                <a:ea typeface="宋体" panose="02010600030101010101" pitchFamily="2" charset="-122"/>
              </a:rPr>
              <a:t>，得到文件操作函数指针。</a:t>
            </a:r>
          </a:p>
          <a:p>
            <a:pPr lvl="1"/>
            <a:r>
              <a:rPr lang="zh-CN" altLang="en-US" sz="2800" dirty="0" smtClean="0">
                <a:latin typeface="宋体" panose="02010600030101010101" pitchFamily="2" charset="-122"/>
                <a:ea typeface="宋体" panose="02010600030101010101" pitchFamily="2" charset="-122"/>
              </a:rPr>
              <a:t>建立起描述此字符设备文件的</a:t>
            </a:r>
            <a:r>
              <a:rPr lang="en-US" altLang="zh-CN" sz="2800" dirty="0" smtClean="0">
                <a:latin typeface="宋体" panose="02010600030101010101" pitchFamily="2" charset="-122"/>
                <a:ea typeface="宋体" panose="02010600030101010101" pitchFamily="2" charset="-122"/>
              </a:rPr>
              <a:t>file</a:t>
            </a:r>
            <a:r>
              <a:rPr lang="zh-CN" altLang="en-US" sz="2800" dirty="0" smtClean="0">
                <a:latin typeface="宋体" panose="02010600030101010101" pitchFamily="2" charset="-122"/>
                <a:ea typeface="宋体" panose="02010600030101010101" pitchFamily="2" charset="-122"/>
              </a:rPr>
              <a:t>结构,使其文件操作指针指向此设备驱动中的文件操作指针集合。</a:t>
            </a:r>
          </a:p>
          <a:p>
            <a:pPr lvl="1"/>
            <a:r>
              <a:rPr lang="zh-CN" altLang="en-US" sz="2800" dirty="0" smtClean="0">
                <a:latin typeface="宋体" panose="02010600030101010101" pitchFamily="2" charset="-122"/>
                <a:ea typeface="宋体" panose="02010600030101010101" pitchFamily="2" charset="-122"/>
              </a:rPr>
              <a:t>这样，所有应用对它进行的文件操作都被映射到此字符设备的文件操作集合上。 </a:t>
            </a:r>
          </a:p>
          <a:p>
            <a:pPr>
              <a:lnSpc>
                <a:spcPct val="80000"/>
              </a:lnSpc>
              <a:buFont typeface="Monotype Sorts" pitchFamily="2" charset="2"/>
              <a:buNone/>
            </a:pPr>
            <a:endParaRPr lang="zh-CN" altLang="en-US" sz="3200" dirty="0" smtClean="0">
              <a:latin typeface="宋体" panose="02010600030101010101" pitchFamily="2" charset="-122"/>
              <a:ea typeface="宋体" panose="02010600030101010101" pitchFamily="2" charset="-122"/>
            </a:endParaRPr>
          </a:p>
        </p:txBody>
      </p:sp>
      <p:sp>
        <p:nvSpPr>
          <p:cNvPr id="43011" name="Rectangle 3"/>
          <p:cNvSpPr>
            <a:spLocks noGrp="1" noChangeArrowheads="1"/>
          </p:cNvSpPr>
          <p:nvPr>
            <p:ph type="title"/>
          </p:nvPr>
        </p:nvSpPr>
        <p:spPr>
          <a:xfrm>
            <a:off x="683568" y="30591"/>
            <a:ext cx="7772400" cy="844550"/>
          </a:xfrm>
          <a:noFill/>
        </p:spPr>
        <p:txBody>
          <a:bodyPr/>
          <a:lstStyle/>
          <a:p>
            <a:r>
              <a:rPr lang="zh-CN" altLang="en-US" dirty="0" smtClean="0">
                <a:ea typeface="宋体" panose="02010600030101010101" pitchFamily="2" charset="-122"/>
              </a:rPr>
              <a:t>字符设备的操作</a:t>
            </a:r>
            <a:endParaRPr lang="en-US" altLang="zh-CN" dirty="0" smtClean="0">
              <a:ea typeface="宋体" panose="02010600030101010101" pitchFamily="2" charset="-122"/>
            </a:endParaRPr>
          </a:p>
        </p:txBody>
      </p:sp>
    </p:spTree>
    <p:extLst>
      <p:ext uri="{BB962C8B-B14F-4D97-AF65-F5344CB8AC3E}">
        <p14:creationId xmlns:p14="http://schemas.microsoft.com/office/powerpoint/2010/main" val="10502017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496888" y="1300163"/>
            <a:ext cx="8202612"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a:lnSpc>
                <a:spcPct val="105000"/>
              </a:lnSpc>
              <a:buFont typeface="Monotype Sorts" pitchFamily="2" charset="2"/>
              <a:buNone/>
              <a:defRPr/>
            </a:pPr>
            <a:r>
              <a:rPr lang="zh-CN" altLang="en-US" sz="2800" dirty="0">
                <a:solidFill>
                  <a:srgbClr val="FF0000"/>
                </a:solidFill>
                <a:latin typeface="Times New Roman" panose="02020603050405020304" pitchFamily="18" charset="0"/>
              </a:rPr>
              <a:t>字符设备的注册与注销函数：</a:t>
            </a:r>
          </a:p>
          <a:p>
            <a:pPr>
              <a:lnSpc>
                <a:spcPct val="105000"/>
              </a:lnSpc>
              <a:buFont typeface="Monotype Sorts" pitchFamily="2" charset="2"/>
              <a:buNone/>
              <a:defRPr/>
            </a:pPr>
            <a:r>
              <a:rPr lang="en-US" altLang="zh-CN" sz="2800" dirty="0" err="1">
                <a:latin typeface="Times New Roman" panose="02020603050405020304" pitchFamily="18" charset="0"/>
              </a:rPr>
              <a:t>int</a:t>
            </a:r>
            <a:r>
              <a:rPr lang="en-US" altLang="zh-CN" sz="2800" dirty="0">
                <a:latin typeface="Times New Roman" panose="02020603050405020304" pitchFamily="18" charset="0"/>
              </a:rPr>
              <a:t> </a:t>
            </a:r>
            <a:r>
              <a:rPr lang="en-US" altLang="zh-CN" sz="2800" dirty="0" err="1">
                <a:solidFill>
                  <a:schemeClr val="accent6">
                    <a:lumMod val="75000"/>
                  </a:schemeClr>
                </a:solidFill>
                <a:latin typeface="Times New Roman" panose="02020603050405020304" pitchFamily="18" charset="0"/>
              </a:rPr>
              <a:t>register_chrdev</a:t>
            </a:r>
            <a:r>
              <a:rPr lang="en-US" altLang="zh-CN" sz="2800" dirty="0">
                <a:latin typeface="Times New Roman" panose="02020603050405020304" pitchFamily="18" charset="0"/>
              </a:rPr>
              <a:t>(unsigned </a:t>
            </a:r>
            <a:r>
              <a:rPr lang="en-US" altLang="zh-CN" sz="2800" dirty="0" err="1">
                <a:latin typeface="Times New Roman" panose="02020603050405020304" pitchFamily="18" charset="0"/>
              </a:rPr>
              <a:t>int</a:t>
            </a:r>
            <a:r>
              <a:rPr lang="en-US" altLang="zh-CN" sz="2800" dirty="0">
                <a:latin typeface="Times New Roman" panose="02020603050405020304" pitchFamily="18" charset="0"/>
              </a:rPr>
              <a:t> major, </a:t>
            </a:r>
            <a:r>
              <a:rPr lang="en-US" altLang="zh-CN" sz="2800" dirty="0" err="1">
                <a:latin typeface="Times New Roman" panose="02020603050405020304" pitchFamily="18" charset="0"/>
              </a:rPr>
              <a:t>const</a:t>
            </a:r>
            <a:r>
              <a:rPr lang="en-US" altLang="zh-CN" sz="2800" dirty="0">
                <a:latin typeface="Times New Roman" panose="02020603050405020304" pitchFamily="18" charset="0"/>
              </a:rPr>
              <a:t> char * name, </a:t>
            </a:r>
            <a:r>
              <a:rPr lang="en-US" altLang="zh-CN" sz="2800" dirty="0" err="1">
                <a:latin typeface="Times New Roman" panose="02020603050405020304" pitchFamily="18" charset="0"/>
              </a:rPr>
              <a:t>struct</a:t>
            </a:r>
            <a:r>
              <a:rPr lang="en-US" altLang="zh-CN" sz="2800" dirty="0">
                <a:latin typeface="Times New Roman" panose="02020603050405020304" pitchFamily="18" charset="0"/>
              </a:rPr>
              <a:t> </a:t>
            </a:r>
            <a:r>
              <a:rPr lang="en-US" altLang="zh-CN" sz="2800" dirty="0" err="1">
                <a:latin typeface="Times New Roman" panose="02020603050405020304" pitchFamily="18" charset="0"/>
              </a:rPr>
              <a:t>file_operations</a:t>
            </a:r>
            <a:r>
              <a:rPr lang="en-US" altLang="zh-CN" sz="2800" dirty="0">
                <a:latin typeface="Times New Roman" panose="02020603050405020304" pitchFamily="18" charset="0"/>
              </a:rPr>
              <a:t> *fops) </a:t>
            </a:r>
            <a:r>
              <a:rPr lang="zh-CN" altLang="en-US" sz="2800" dirty="0">
                <a:latin typeface="Times New Roman" panose="02020603050405020304" pitchFamily="18" charset="0"/>
              </a:rPr>
              <a:t>：</a:t>
            </a:r>
            <a:r>
              <a:rPr lang="en-US" altLang="zh-CN" sz="2800" dirty="0" err="1">
                <a:latin typeface="Times New Roman" panose="02020603050405020304" pitchFamily="18" charset="0"/>
              </a:rPr>
              <a:t>chrdevs</a:t>
            </a:r>
            <a:r>
              <a:rPr lang="zh-CN" altLang="en-US" sz="2800" dirty="0">
                <a:latin typeface="Times New Roman" panose="02020603050405020304" pitchFamily="18" charset="0"/>
              </a:rPr>
              <a:t>表最初为空，注册函数向表中插入一个新项</a:t>
            </a:r>
            <a:endParaRPr lang="en-US" altLang="zh-CN" sz="2800" dirty="0">
              <a:latin typeface="Times New Roman" panose="02020603050405020304" pitchFamily="18" charset="0"/>
            </a:endParaRPr>
          </a:p>
          <a:p>
            <a:pPr>
              <a:lnSpc>
                <a:spcPct val="105000"/>
              </a:lnSpc>
              <a:buFont typeface="Monotype Sorts" pitchFamily="2" charset="2"/>
              <a:buNone/>
              <a:defRPr/>
            </a:pPr>
            <a:r>
              <a:rPr lang="en-US" altLang="zh-CN" sz="2800" dirty="0" err="1">
                <a:latin typeface="Times New Roman" panose="02020603050405020304" pitchFamily="18" charset="0"/>
              </a:rPr>
              <a:t>int</a:t>
            </a:r>
            <a:r>
              <a:rPr lang="en-US" altLang="zh-CN" sz="2800" dirty="0">
                <a:latin typeface="Times New Roman" panose="02020603050405020304" pitchFamily="18" charset="0"/>
              </a:rPr>
              <a:t> </a:t>
            </a:r>
            <a:r>
              <a:rPr lang="en-US" altLang="zh-CN" sz="2800" dirty="0" err="1">
                <a:solidFill>
                  <a:schemeClr val="accent6">
                    <a:lumMod val="75000"/>
                  </a:schemeClr>
                </a:solidFill>
                <a:latin typeface="Times New Roman" panose="02020603050405020304" pitchFamily="18" charset="0"/>
              </a:rPr>
              <a:t>unregister_chrdev</a:t>
            </a:r>
            <a:r>
              <a:rPr lang="en-US" altLang="zh-CN" sz="2800" dirty="0">
                <a:latin typeface="Times New Roman" panose="02020603050405020304" pitchFamily="18" charset="0"/>
              </a:rPr>
              <a:t>(unsigned </a:t>
            </a:r>
            <a:r>
              <a:rPr lang="en-US" altLang="zh-CN" sz="2800" dirty="0" err="1">
                <a:latin typeface="Times New Roman" panose="02020603050405020304" pitchFamily="18" charset="0"/>
              </a:rPr>
              <a:t>int</a:t>
            </a:r>
            <a:r>
              <a:rPr lang="en-US" altLang="zh-CN" sz="2800" dirty="0">
                <a:latin typeface="Times New Roman" panose="02020603050405020304" pitchFamily="18" charset="0"/>
              </a:rPr>
              <a:t> major, </a:t>
            </a:r>
            <a:r>
              <a:rPr lang="en-US" altLang="zh-CN" sz="2800" dirty="0" err="1">
                <a:latin typeface="Times New Roman" panose="02020603050405020304" pitchFamily="18" charset="0"/>
              </a:rPr>
              <a:t>const</a:t>
            </a:r>
            <a:r>
              <a:rPr lang="en-US" altLang="zh-CN" sz="2800" dirty="0">
                <a:latin typeface="Times New Roman" panose="02020603050405020304" pitchFamily="18" charset="0"/>
              </a:rPr>
              <a:t> char * name);</a:t>
            </a:r>
          </a:p>
          <a:p>
            <a:pPr>
              <a:lnSpc>
                <a:spcPct val="105000"/>
              </a:lnSpc>
              <a:buFont typeface="Monotype Sorts" pitchFamily="2" charset="2"/>
              <a:buNone/>
              <a:defRPr/>
            </a:pPr>
            <a:r>
              <a:rPr lang="zh-CN" altLang="en-US" sz="2800" dirty="0">
                <a:latin typeface="Times New Roman" panose="02020603050405020304" pitchFamily="18" charset="0"/>
              </a:rPr>
              <a:t>注：</a:t>
            </a:r>
            <a:r>
              <a:rPr lang="en-US" altLang="zh-CN" sz="2800" dirty="0">
                <a:latin typeface="Times New Roman" panose="02020603050405020304" pitchFamily="18" charset="0"/>
              </a:rPr>
              <a:t>major</a:t>
            </a:r>
            <a:r>
              <a:rPr lang="zh-CN" altLang="en-US" sz="2800" dirty="0">
                <a:latin typeface="Times New Roman" panose="02020603050405020304" pitchFamily="18" charset="0"/>
              </a:rPr>
              <a:t>即设备的主设备号，注册后就是访问数组</a:t>
            </a:r>
            <a:r>
              <a:rPr lang="en-US" altLang="zh-CN" sz="2800" dirty="0" err="1">
                <a:latin typeface="Times New Roman" panose="02020603050405020304" pitchFamily="18" charset="0"/>
              </a:rPr>
              <a:t>chrdevs</a:t>
            </a:r>
            <a:r>
              <a:rPr lang="zh-CN" altLang="en-US" sz="2800" dirty="0">
                <a:latin typeface="Times New Roman" panose="02020603050405020304" pitchFamily="18" charset="0"/>
              </a:rPr>
              <a:t>的索引（下标）。</a:t>
            </a:r>
          </a:p>
          <a:p>
            <a:pPr>
              <a:lnSpc>
                <a:spcPct val="105000"/>
              </a:lnSpc>
              <a:buFont typeface="Monotype Sorts" pitchFamily="2" charset="2"/>
              <a:buNone/>
              <a:defRPr/>
            </a:pPr>
            <a:r>
              <a:rPr lang="zh-CN" altLang="en-US" sz="2800" dirty="0">
                <a:latin typeface="Times New Roman" panose="02020603050405020304" pitchFamily="18" charset="0"/>
              </a:rPr>
              <a:t>例：</a:t>
            </a:r>
            <a:r>
              <a:rPr lang="en-US" altLang="zh-CN" sz="2800" dirty="0" err="1">
                <a:latin typeface="Times New Roman" panose="02020603050405020304" pitchFamily="18" charset="0"/>
              </a:rPr>
              <a:t>register_chrdev</a:t>
            </a:r>
            <a:r>
              <a:rPr lang="en-US" altLang="zh-CN" sz="2800" dirty="0">
                <a:latin typeface="Times New Roman" panose="02020603050405020304" pitchFamily="18" charset="0"/>
              </a:rPr>
              <a:t>(6,”lp”,&amp;lp_fops):</a:t>
            </a:r>
            <a:r>
              <a:rPr lang="zh-CN" altLang="en-US" sz="2800" dirty="0">
                <a:latin typeface="Times New Roman" panose="02020603050405020304" pitchFamily="18" charset="0"/>
              </a:rPr>
              <a:t>将并口打印机的相应驱动程序插入到</a:t>
            </a:r>
            <a:r>
              <a:rPr lang="en-US" altLang="zh-CN" sz="2800" dirty="0" err="1">
                <a:latin typeface="Times New Roman" panose="02020603050405020304" pitchFamily="18" charset="0"/>
              </a:rPr>
              <a:t>chrdevs</a:t>
            </a:r>
            <a:r>
              <a:rPr lang="zh-CN" altLang="en-US" sz="2800" dirty="0">
                <a:latin typeface="Times New Roman" panose="02020603050405020304" pitchFamily="18" charset="0"/>
              </a:rPr>
              <a:t>表中</a:t>
            </a:r>
          </a:p>
          <a:p>
            <a:pPr>
              <a:lnSpc>
                <a:spcPct val="105000"/>
              </a:lnSpc>
              <a:buFont typeface="Monotype Sorts" pitchFamily="2" charset="2"/>
              <a:buNone/>
              <a:defRPr/>
            </a:pPr>
            <a:endParaRPr lang="en-US" altLang="zh-CN" sz="2800" dirty="0">
              <a:latin typeface="Times New Roman" panose="02020603050405020304" pitchFamily="18" charset="0"/>
            </a:endParaRPr>
          </a:p>
        </p:txBody>
      </p:sp>
      <p:sp>
        <p:nvSpPr>
          <p:cNvPr id="5123" name="Rectangle 3"/>
          <p:cNvSpPr>
            <a:spLocks noChangeArrowheads="1"/>
          </p:cNvSpPr>
          <p:nvPr/>
        </p:nvSpPr>
        <p:spPr bwMode="auto">
          <a:xfrm>
            <a:off x="712788"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8.4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设备的注册与注销</a:t>
            </a:r>
          </a:p>
        </p:txBody>
      </p:sp>
    </p:spTree>
    <p:extLst>
      <p:ext uri="{BB962C8B-B14F-4D97-AF65-F5344CB8AC3E}">
        <p14:creationId xmlns:p14="http://schemas.microsoft.com/office/powerpoint/2010/main" val="19512258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2225675" y="1763713"/>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a:solidFill>
                  <a:srgbClr val="C00000"/>
                </a:solidFill>
                <a:latin typeface="宋体" panose="02010600030101010101" pitchFamily="2" charset="-122"/>
              </a:rPr>
              <a:t>块设备</a:t>
            </a:r>
            <a:r>
              <a:rPr kumimoji="1" lang="zh-CN" altLang="en-US">
                <a:solidFill>
                  <a:srgbClr val="C00000"/>
                </a:solidFill>
                <a:latin typeface="Helvetica" panose="020B0604020202020204" pitchFamily="34" charset="0"/>
              </a:rPr>
              <a:t>转换表 </a:t>
            </a:r>
          </a:p>
        </p:txBody>
      </p:sp>
      <p:sp>
        <p:nvSpPr>
          <p:cNvPr id="45059" name="Rectangle 3"/>
          <p:cNvSpPr>
            <a:spLocks noChangeArrowheads="1"/>
          </p:cNvSpPr>
          <p:nvPr/>
        </p:nvSpPr>
        <p:spPr bwMode="auto">
          <a:xfrm>
            <a:off x="366713" y="2836863"/>
            <a:ext cx="8202612" cy="2308225"/>
          </a:xfrm>
          <a:prstGeom prst="rect">
            <a:avLst/>
          </a:prstGeom>
          <a:solidFill>
            <a:schemeClr val="accent2">
              <a:lumMod val="20000"/>
              <a:lumOff val="80000"/>
            </a:schemeClr>
          </a:solidFill>
          <a:ln>
            <a:noFill/>
          </a:ln>
          <a:extLst/>
        </p:spPr>
        <p:txBody>
          <a:bodyPr/>
          <a:lstStyle>
            <a:lvl1pPr marL="342900" indent="-342900">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marL="0" indent="0">
              <a:lnSpc>
                <a:spcPct val="100000"/>
              </a:lnSpc>
              <a:buFont typeface="Monotype Sorts" pitchFamily="2" charset="2"/>
              <a:buNone/>
              <a:defRPr/>
            </a:pPr>
            <a:r>
              <a:rPr lang="en-US" altLang="zh-CN" sz="2400" dirty="0">
                <a:solidFill>
                  <a:srgbClr val="FF0000"/>
                </a:solidFill>
                <a:latin typeface="Times New Roman" panose="02020603050405020304" pitchFamily="18" charset="0"/>
              </a:rPr>
              <a:t>fs/</a:t>
            </a:r>
            <a:r>
              <a:rPr lang="en-US" altLang="zh-CN" sz="2400" dirty="0" err="1">
                <a:solidFill>
                  <a:srgbClr val="FF0000"/>
                </a:solidFill>
                <a:latin typeface="Times New Roman" panose="02020603050405020304" pitchFamily="18" charset="0"/>
              </a:rPr>
              <a:t>block_dev.c</a:t>
            </a:r>
            <a:endParaRPr lang="en-US" altLang="zh-CN" sz="2400" dirty="0">
              <a:solidFill>
                <a:srgbClr val="FF0000"/>
              </a:solidFill>
              <a:latin typeface="Times New Roman" panose="02020603050405020304" pitchFamily="18" charset="0"/>
            </a:endParaRPr>
          </a:p>
          <a:p>
            <a:pPr>
              <a:lnSpc>
                <a:spcPct val="100000"/>
              </a:lnSpc>
              <a:buFont typeface="Monotype Sorts" pitchFamily="2" charset="2"/>
              <a:buNone/>
              <a:defRPr/>
            </a:pPr>
            <a:r>
              <a:rPr lang="en-US" altLang="zh-CN" sz="2400" dirty="0">
                <a:latin typeface="Times New Roman" panose="02020603050405020304" pitchFamily="18" charset="0"/>
              </a:rPr>
              <a:t>static </a:t>
            </a:r>
            <a:r>
              <a:rPr lang="en-US" altLang="zh-CN" sz="2400" dirty="0" err="1">
                <a:latin typeface="Times New Roman" panose="02020603050405020304" pitchFamily="18" charset="0"/>
              </a:rPr>
              <a:t>struct</a:t>
            </a:r>
            <a:r>
              <a:rPr lang="en-US" altLang="zh-CN" sz="2400" dirty="0">
                <a:latin typeface="Times New Roman" panose="02020603050405020304" pitchFamily="18" charset="0"/>
              </a:rPr>
              <a:t> {</a:t>
            </a:r>
          </a:p>
          <a:p>
            <a:pPr algn="just">
              <a:lnSpc>
                <a:spcPct val="100000"/>
              </a:lnSpc>
              <a:buFont typeface="Monotype Sorts" pitchFamily="2" charset="2"/>
              <a:buNone/>
              <a:defRPr/>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const</a:t>
            </a:r>
            <a:r>
              <a:rPr lang="en-US" altLang="zh-CN" sz="2400" dirty="0">
                <a:latin typeface="Times New Roman" panose="02020603050405020304" pitchFamily="18" charset="0"/>
              </a:rPr>
              <a:t> char *name;</a:t>
            </a:r>
          </a:p>
          <a:p>
            <a:pPr algn="just">
              <a:lnSpc>
                <a:spcPct val="100000"/>
              </a:lnSpc>
              <a:buFont typeface="Monotype Sorts" pitchFamily="2" charset="2"/>
              <a:buNone/>
              <a:defRPr/>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struct</a:t>
            </a:r>
            <a:r>
              <a:rPr lang="en-US" altLang="zh-CN" sz="2400" dirty="0">
                <a:latin typeface="Times New Roman" panose="02020603050405020304" pitchFamily="18" charset="0"/>
              </a:rPr>
              <a:t> </a:t>
            </a:r>
            <a:r>
              <a:rPr lang="en-US" altLang="zh-CN" sz="2400" dirty="0" err="1">
                <a:latin typeface="Times New Roman" panose="02020603050405020304" pitchFamily="18" charset="0"/>
              </a:rPr>
              <a:t>block_device_operations</a:t>
            </a:r>
            <a:r>
              <a:rPr lang="en-US" altLang="zh-CN" sz="2400" dirty="0">
                <a:latin typeface="Times New Roman" panose="02020603050405020304" pitchFamily="18" charset="0"/>
              </a:rPr>
              <a:t> *</a:t>
            </a:r>
            <a:r>
              <a:rPr lang="en-US" altLang="zh-CN" sz="2400" dirty="0" err="1">
                <a:latin typeface="Times New Roman" panose="02020603050405020304" pitchFamily="18" charset="0"/>
              </a:rPr>
              <a:t>bdops</a:t>
            </a:r>
            <a:r>
              <a:rPr lang="en-US" altLang="zh-CN" sz="2400" dirty="0">
                <a:latin typeface="Times New Roman" panose="02020603050405020304" pitchFamily="18" charset="0"/>
              </a:rPr>
              <a:t>;</a:t>
            </a:r>
          </a:p>
          <a:p>
            <a:pPr>
              <a:lnSpc>
                <a:spcPct val="100000"/>
              </a:lnSpc>
              <a:buFont typeface="Monotype Sorts" pitchFamily="2" charset="2"/>
              <a:buNone/>
              <a:defRPr/>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blk_devs</a:t>
            </a:r>
            <a:r>
              <a:rPr lang="en-US" altLang="zh-CN" sz="2400" dirty="0">
                <a:latin typeface="Times New Roman" panose="02020603050405020304" pitchFamily="18" charset="0"/>
              </a:rPr>
              <a:t>[MAX_BLKDEV]; </a:t>
            </a:r>
          </a:p>
        </p:txBody>
      </p:sp>
      <p:sp>
        <p:nvSpPr>
          <p:cNvPr id="6148" name="Rectangle 3"/>
          <p:cNvSpPr>
            <a:spLocks noChangeArrowheads="1"/>
          </p:cNvSpPr>
          <p:nvPr/>
        </p:nvSpPr>
        <p:spPr bwMode="auto">
          <a:xfrm>
            <a:off x="712788"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8.4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设备的注册与注销</a:t>
            </a:r>
          </a:p>
        </p:txBody>
      </p:sp>
    </p:spTree>
    <p:extLst>
      <p:ext uri="{BB962C8B-B14F-4D97-AF65-F5344CB8AC3E}">
        <p14:creationId xmlns:p14="http://schemas.microsoft.com/office/powerpoint/2010/main" val="755719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533400" y="1684338"/>
            <a:ext cx="7772400" cy="4411662"/>
          </a:xfrm>
        </p:spPr>
        <p:txBody>
          <a:bodyPr/>
          <a:lstStyle/>
          <a:p>
            <a:r>
              <a:rPr lang="en-US" altLang="zh-CN" smtClean="0">
                <a:ea typeface="宋体" panose="02010600030101010101" pitchFamily="2" charset="-122"/>
              </a:rPr>
              <a:t>blk_devs</a:t>
            </a:r>
            <a:r>
              <a:rPr lang="zh-CN" altLang="en-US" smtClean="0">
                <a:ea typeface="宋体" panose="02010600030101010101" pitchFamily="2" charset="-122"/>
              </a:rPr>
              <a:t>结构数组描述了一系列在系统中登记的块设备</a:t>
            </a:r>
            <a:r>
              <a:rPr lang="en-US" altLang="zh-CN" smtClean="0">
                <a:ea typeface="宋体" panose="02010600030101010101" pitchFamily="2" charset="-122"/>
              </a:rPr>
              <a:t>。</a:t>
            </a:r>
          </a:p>
          <a:p>
            <a:r>
              <a:rPr lang="zh-CN" altLang="en-US" smtClean="0">
                <a:ea typeface="宋体" panose="02010600030101010101" pitchFamily="2" charset="-122"/>
              </a:rPr>
              <a:t>内容包括指向已登记的设备名的指针和指向</a:t>
            </a:r>
            <a:r>
              <a:rPr lang="en-US" altLang="zh-CN" smtClean="0">
                <a:ea typeface="宋体" panose="02010600030101010101" pitchFamily="2" charset="-122"/>
              </a:rPr>
              <a:t>block_device_operations</a:t>
            </a:r>
            <a:r>
              <a:rPr lang="zh-CN" altLang="en-US" smtClean="0">
                <a:ea typeface="宋体" panose="02010600030101010101" pitchFamily="2" charset="-122"/>
              </a:rPr>
              <a:t>结构的指针。</a:t>
            </a:r>
          </a:p>
          <a:p>
            <a:r>
              <a:rPr lang="zh-CN" altLang="en-US" smtClean="0">
                <a:ea typeface="宋体" panose="02010600030101010101" pitchFamily="2" charset="-122"/>
              </a:rPr>
              <a:t>在</a:t>
            </a:r>
            <a:r>
              <a:rPr lang="en-US" altLang="zh-CN" smtClean="0">
                <a:ea typeface="宋体" panose="02010600030101010101" pitchFamily="2" charset="-122"/>
              </a:rPr>
              <a:t>block_device_operations</a:t>
            </a:r>
            <a:r>
              <a:rPr lang="zh-CN" altLang="en-US" smtClean="0">
                <a:ea typeface="宋体" panose="02010600030101010101" pitchFamily="2" charset="-122"/>
              </a:rPr>
              <a:t>结构中包含指向有关操作的函数指针。它们</a:t>
            </a:r>
            <a:r>
              <a:rPr lang="zh-CN" altLang="en-US" smtClean="0">
                <a:latin typeface="宋体" panose="02010600030101010101" pitchFamily="2" charset="-122"/>
                <a:ea typeface="宋体" panose="02010600030101010101" pitchFamily="2" charset="-122"/>
              </a:rPr>
              <a:t>由设备驱动程序定义，并分别完成指定的设备操作</a:t>
            </a:r>
          </a:p>
          <a:p>
            <a:r>
              <a:rPr lang="zh-CN" altLang="en-US" smtClean="0">
                <a:ea typeface="宋体" panose="02010600030101010101" pitchFamily="2" charset="-122"/>
              </a:rPr>
              <a:t>数组</a:t>
            </a:r>
            <a:r>
              <a:rPr lang="en-US" altLang="zh-CN" smtClean="0">
                <a:ea typeface="宋体" panose="02010600030101010101" pitchFamily="2" charset="-122"/>
              </a:rPr>
              <a:t>blk_devs</a:t>
            </a:r>
            <a:r>
              <a:rPr lang="zh-CN" altLang="en-US" smtClean="0">
                <a:ea typeface="宋体" panose="02010600030101010101" pitchFamily="2" charset="-122"/>
              </a:rPr>
              <a:t>也使用</a:t>
            </a:r>
            <a:r>
              <a:rPr lang="zh-CN" altLang="en-US" smtClean="0">
                <a:solidFill>
                  <a:schemeClr val="tx1"/>
                </a:solidFill>
                <a:ea typeface="宋体" panose="02010600030101010101" pitchFamily="2" charset="-122"/>
              </a:rPr>
              <a:t>主设备号作为索引</a:t>
            </a:r>
            <a:r>
              <a:rPr lang="zh-CN" altLang="en-US" smtClean="0">
                <a:ea typeface="宋体" panose="02010600030101010101" pitchFamily="2" charset="-122"/>
              </a:rPr>
              <a:t>。</a:t>
            </a:r>
          </a:p>
        </p:txBody>
      </p:sp>
      <p:sp>
        <p:nvSpPr>
          <p:cNvPr id="7171" name="Rectangle 3"/>
          <p:cNvSpPr>
            <a:spLocks noGrp="1" noChangeArrowheads="1"/>
          </p:cNvSpPr>
          <p:nvPr>
            <p:ph type="title"/>
          </p:nvPr>
        </p:nvSpPr>
        <p:spPr>
          <a:xfrm>
            <a:off x="-2111375" y="963613"/>
            <a:ext cx="7772400" cy="844550"/>
          </a:xfrm>
        </p:spPr>
        <p:txBody>
          <a:bodyPr/>
          <a:lstStyle/>
          <a:p>
            <a:r>
              <a:rPr lang="zh-CN" altLang="en-US" sz="2800" smtClean="0">
                <a:solidFill>
                  <a:srgbClr val="C00000"/>
                </a:solidFill>
                <a:ea typeface="宋体" panose="02010600030101010101" pitchFamily="2" charset="-122"/>
              </a:rPr>
              <a:t>块设备转换表 </a:t>
            </a:r>
            <a:endParaRPr lang="en-US" altLang="zh-CN" sz="2800" smtClean="0">
              <a:solidFill>
                <a:srgbClr val="C00000"/>
              </a:solidFill>
              <a:ea typeface="宋体" panose="02010600030101010101" pitchFamily="2" charset="-122"/>
            </a:endParaRPr>
          </a:p>
        </p:txBody>
      </p:sp>
      <p:sp>
        <p:nvSpPr>
          <p:cNvPr id="7172" name="Rectangle 3"/>
          <p:cNvSpPr>
            <a:spLocks noChangeArrowheads="1"/>
          </p:cNvSpPr>
          <p:nvPr/>
        </p:nvSpPr>
        <p:spPr bwMode="auto">
          <a:xfrm>
            <a:off x="712788"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8.4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设备的注册与注销</a:t>
            </a:r>
          </a:p>
        </p:txBody>
      </p:sp>
    </p:spTree>
    <p:extLst>
      <p:ext uri="{BB962C8B-B14F-4D97-AF65-F5344CB8AC3E}">
        <p14:creationId xmlns:p14="http://schemas.microsoft.com/office/powerpoint/2010/main" val="2332599439"/>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ChangeArrowheads="1"/>
          </p:cNvSpPr>
          <p:nvPr/>
        </p:nvSpPr>
        <p:spPr bwMode="auto">
          <a:xfrm>
            <a:off x="366713" y="1717675"/>
            <a:ext cx="8202612" cy="464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buClr>
                <a:schemeClr val="folHlink"/>
              </a:buClr>
              <a:buSzPct val="90000"/>
              <a:buFont typeface="Monotype Sorts"/>
              <a:buNone/>
            </a:pPr>
            <a:r>
              <a:rPr kumimoji="1" lang="en-US" altLang="zh-CN" b="0">
                <a:solidFill>
                  <a:srgbClr val="006666"/>
                </a:solidFill>
                <a:latin typeface="Times New Roman" panose="02020603050405020304" pitchFamily="18" charset="0"/>
              </a:rPr>
              <a:t>struct block_device_operations {</a:t>
            </a:r>
          </a:p>
          <a:p>
            <a:pPr>
              <a:buClr>
                <a:schemeClr val="folHlink"/>
              </a:buClr>
              <a:buSzPct val="90000"/>
              <a:buFont typeface="Monotype Sorts"/>
              <a:buNone/>
            </a:pPr>
            <a:r>
              <a:rPr kumimoji="1" lang="en-US" altLang="zh-CN" b="0">
                <a:solidFill>
                  <a:srgbClr val="000000"/>
                </a:solidFill>
                <a:latin typeface="Times New Roman" panose="02020603050405020304" pitchFamily="18" charset="0"/>
              </a:rPr>
              <a:t>		int </a:t>
            </a:r>
            <a:r>
              <a:rPr kumimoji="1" lang="en-US" altLang="zh-CN" b="0">
                <a:solidFill>
                  <a:srgbClr val="FF0000"/>
                </a:solidFill>
                <a:latin typeface="Times New Roman" panose="02020603050405020304" pitchFamily="18" charset="0"/>
              </a:rPr>
              <a:t>(*open</a:t>
            </a:r>
            <a:r>
              <a:rPr kumimoji="1" lang="en-US" altLang="zh-CN" b="0">
                <a:solidFill>
                  <a:srgbClr val="000000"/>
                </a:solidFill>
                <a:latin typeface="Times New Roman" panose="02020603050405020304" pitchFamily="18" charset="0"/>
              </a:rPr>
              <a:t>) (struct inode *, struct file *);</a:t>
            </a:r>
          </a:p>
          <a:p>
            <a:pPr>
              <a:buClr>
                <a:schemeClr val="folHlink"/>
              </a:buClr>
              <a:buSzPct val="90000"/>
              <a:buFont typeface="Monotype Sorts"/>
              <a:buNone/>
            </a:pPr>
            <a:r>
              <a:rPr kumimoji="1" lang="en-US" altLang="zh-CN" b="0">
                <a:solidFill>
                  <a:srgbClr val="000000"/>
                </a:solidFill>
                <a:latin typeface="Times New Roman" panose="02020603050405020304" pitchFamily="18" charset="0"/>
              </a:rPr>
              <a:t>		int </a:t>
            </a:r>
            <a:r>
              <a:rPr kumimoji="1" lang="en-US" altLang="zh-CN" b="0">
                <a:solidFill>
                  <a:srgbClr val="FF0000"/>
                </a:solidFill>
                <a:latin typeface="Times New Roman" panose="02020603050405020304" pitchFamily="18" charset="0"/>
              </a:rPr>
              <a:t>(*release</a:t>
            </a:r>
            <a:r>
              <a:rPr kumimoji="1" lang="en-US" altLang="zh-CN" b="0">
                <a:solidFill>
                  <a:srgbClr val="000000"/>
                </a:solidFill>
                <a:latin typeface="Times New Roman" panose="02020603050405020304" pitchFamily="18" charset="0"/>
              </a:rPr>
              <a:t>) (struct inode *, struct file *);</a:t>
            </a:r>
          </a:p>
          <a:p>
            <a:pPr>
              <a:buClr>
                <a:schemeClr val="folHlink"/>
              </a:buClr>
              <a:buSzPct val="90000"/>
              <a:buFont typeface="Monotype Sorts"/>
              <a:buNone/>
            </a:pPr>
            <a:r>
              <a:rPr kumimoji="1" lang="en-US" altLang="zh-CN" b="0">
                <a:solidFill>
                  <a:srgbClr val="000000"/>
                </a:solidFill>
                <a:latin typeface="Times New Roman" panose="02020603050405020304" pitchFamily="18" charset="0"/>
              </a:rPr>
              <a:t>		int </a:t>
            </a:r>
            <a:r>
              <a:rPr kumimoji="1" lang="en-US" altLang="zh-CN" b="0">
                <a:solidFill>
                  <a:srgbClr val="FF0000"/>
                </a:solidFill>
                <a:latin typeface="Times New Roman" panose="02020603050405020304" pitchFamily="18" charset="0"/>
              </a:rPr>
              <a:t>(*ioctl</a:t>
            </a:r>
            <a:r>
              <a:rPr kumimoji="1" lang="en-US" altLang="zh-CN" b="0">
                <a:solidFill>
                  <a:srgbClr val="000000"/>
                </a:solidFill>
                <a:latin typeface="Times New Roman" panose="02020603050405020304" pitchFamily="18" charset="0"/>
              </a:rPr>
              <a:t>) (struct inode *, struct file *, unsigned, unsigned long);</a:t>
            </a:r>
          </a:p>
          <a:p>
            <a:pPr>
              <a:buClr>
                <a:schemeClr val="folHlink"/>
              </a:buClr>
              <a:buSzPct val="90000"/>
              <a:buFont typeface="Monotype Sorts"/>
              <a:buNone/>
            </a:pPr>
            <a:r>
              <a:rPr kumimoji="1" lang="en-US" altLang="zh-CN" b="0">
                <a:solidFill>
                  <a:srgbClr val="000000"/>
                </a:solidFill>
                <a:latin typeface="Times New Roman" panose="02020603050405020304" pitchFamily="18" charset="0"/>
              </a:rPr>
              <a:t>		int </a:t>
            </a:r>
            <a:r>
              <a:rPr kumimoji="1" lang="en-US" altLang="zh-CN" b="0">
                <a:solidFill>
                  <a:srgbClr val="FF0000"/>
                </a:solidFill>
                <a:latin typeface="Times New Roman" panose="02020603050405020304" pitchFamily="18" charset="0"/>
              </a:rPr>
              <a:t>(*check_media_change</a:t>
            </a:r>
            <a:r>
              <a:rPr kumimoji="1" lang="en-US" altLang="zh-CN" b="0">
                <a:solidFill>
                  <a:srgbClr val="000000"/>
                </a:solidFill>
                <a:latin typeface="Times New Roman" panose="02020603050405020304" pitchFamily="18" charset="0"/>
              </a:rPr>
              <a:t>) (kdev_t);//</a:t>
            </a:r>
            <a:r>
              <a:rPr kumimoji="1" lang="zh-CN" altLang="en-US" b="0">
                <a:solidFill>
                  <a:srgbClr val="000000"/>
                </a:solidFill>
                <a:latin typeface="Times New Roman" panose="02020603050405020304" pitchFamily="18" charset="0"/>
              </a:rPr>
              <a:t>检查介质是否已经变化</a:t>
            </a:r>
          </a:p>
          <a:p>
            <a:pPr>
              <a:buClr>
                <a:schemeClr val="folHlink"/>
              </a:buClr>
              <a:buSzPct val="90000"/>
              <a:buFont typeface="Monotype Sorts"/>
              <a:buNone/>
            </a:pPr>
            <a:r>
              <a:rPr kumimoji="1" lang="en-US" altLang="zh-CN" b="0">
                <a:solidFill>
                  <a:srgbClr val="000000"/>
                </a:solidFill>
                <a:latin typeface="Times New Roman" panose="02020603050405020304" pitchFamily="18" charset="0"/>
              </a:rPr>
              <a:t>		int </a:t>
            </a:r>
            <a:r>
              <a:rPr kumimoji="1" lang="en-US" altLang="zh-CN" b="0">
                <a:solidFill>
                  <a:srgbClr val="FF0000"/>
                </a:solidFill>
                <a:latin typeface="Times New Roman" panose="02020603050405020304" pitchFamily="18" charset="0"/>
              </a:rPr>
              <a:t>(*revalidate</a:t>
            </a:r>
            <a:r>
              <a:rPr kumimoji="1" lang="en-US" altLang="zh-CN" b="0">
                <a:solidFill>
                  <a:srgbClr val="000000"/>
                </a:solidFill>
                <a:latin typeface="Times New Roman" panose="02020603050405020304" pitchFamily="18" charset="0"/>
              </a:rPr>
              <a:t>) (kdev_t);//</a:t>
            </a:r>
            <a:r>
              <a:rPr kumimoji="1" lang="zh-CN" altLang="en-US" b="0">
                <a:solidFill>
                  <a:srgbClr val="000000"/>
                </a:solidFill>
                <a:latin typeface="Times New Roman" panose="02020603050405020304" pitchFamily="18" charset="0"/>
              </a:rPr>
              <a:t>检查块设备是否持有有效数据</a:t>
            </a:r>
          </a:p>
          <a:p>
            <a:pPr>
              <a:buClr>
                <a:schemeClr val="folHlink"/>
              </a:buClr>
              <a:buSzPct val="90000"/>
              <a:buFont typeface="Monotype Sorts"/>
              <a:buNone/>
            </a:pPr>
            <a:r>
              <a:rPr kumimoji="1" lang="en-US" altLang="zh-CN" b="0">
                <a:solidFill>
                  <a:srgbClr val="000000"/>
                </a:solidFill>
                <a:latin typeface="Times New Roman" panose="02020603050405020304" pitchFamily="18" charset="0"/>
              </a:rPr>
              <a:t>	};</a:t>
            </a:r>
          </a:p>
          <a:p>
            <a:pPr>
              <a:buClr>
                <a:schemeClr val="folHlink"/>
              </a:buClr>
              <a:buSzPct val="90000"/>
              <a:buFont typeface="Monotype Sorts"/>
              <a:buChar char="n"/>
            </a:pPr>
            <a:endParaRPr kumimoji="1" lang="zh-CN" altLang="en-US" b="0">
              <a:solidFill>
                <a:srgbClr val="000000"/>
              </a:solidFill>
              <a:latin typeface="Times New Roman" panose="02020603050405020304" pitchFamily="18" charset="0"/>
            </a:endParaRPr>
          </a:p>
        </p:txBody>
      </p:sp>
      <p:sp>
        <p:nvSpPr>
          <p:cNvPr id="4" name="Rectangle 3"/>
          <p:cNvSpPr txBox="1">
            <a:spLocks noChangeArrowheads="1"/>
          </p:cNvSpPr>
          <p:nvPr/>
        </p:nvSpPr>
        <p:spPr>
          <a:xfrm>
            <a:off x="-2111375" y="1074738"/>
            <a:ext cx="7772400" cy="844550"/>
          </a:xfrm>
          <a:prstGeom prst="rect">
            <a:avLst/>
          </a:prstGeom>
          <a:noFill/>
        </p:spPr>
        <p:txBody>
          <a:bodyPr/>
          <a:lstStyle>
            <a:lvl1pPr algn="ctr" rtl="0" eaLnBrk="0" fontAlgn="base" hangingPunct="0">
              <a:spcBef>
                <a:spcPct val="0"/>
              </a:spcBef>
              <a:spcAft>
                <a:spcPct val="0"/>
              </a:spcAft>
              <a:defRPr kumimoji="1" sz="3200" b="1">
                <a:solidFill>
                  <a:schemeClr val="tx2"/>
                </a:solidFill>
                <a:latin typeface="+mj-lt"/>
                <a:ea typeface="+mj-ea"/>
                <a:cs typeface="+mj-cs"/>
              </a:defRPr>
            </a:lvl1pPr>
            <a:lvl2pPr algn="ctr" rtl="0" eaLnBrk="0" fontAlgn="base" hangingPunct="0">
              <a:spcBef>
                <a:spcPct val="0"/>
              </a:spcBef>
              <a:spcAft>
                <a:spcPct val="0"/>
              </a:spcAft>
              <a:defRPr kumimoji="1" sz="3200" b="1">
                <a:solidFill>
                  <a:schemeClr val="tx2"/>
                </a:solidFill>
                <a:latin typeface="Helvetica" pitchFamily="34" charset="0"/>
              </a:defRPr>
            </a:lvl2pPr>
            <a:lvl3pPr algn="ctr" rtl="0" eaLnBrk="0" fontAlgn="base" hangingPunct="0">
              <a:spcBef>
                <a:spcPct val="0"/>
              </a:spcBef>
              <a:spcAft>
                <a:spcPct val="0"/>
              </a:spcAft>
              <a:defRPr kumimoji="1" sz="3200" b="1">
                <a:solidFill>
                  <a:schemeClr val="tx2"/>
                </a:solidFill>
                <a:latin typeface="Helvetica" pitchFamily="34" charset="0"/>
              </a:defRPr>
            </a:lvl3pPr>
            <a:lvl4pPr algn="ctr" rtl="0" eaLnBrk="0" fontAlgn="base" hangingPunct="0">
              <a:spcBef>
                <a:spcPct val="0"/>
              </a:spcBef>
              <a:spcAft>
                <a:spcPct val="0"/>
              </a:spcAft>
              <a:defRPr kumimoji="1" sz="3200" b="1">
                <a:solidFill>
                  <a:schemeClr val="tx2"/>
                </a:solidFill>
                <a:latin typeface="Helvetica" pitchFamily="34" charset="0"/>
              </a:defRPr>
            </a:lvl4pPr>
            <a:lvl5pPr algn="ctr" rtl="0" eaLnBrk="0" fontAlgn="base" hangingPunct="0">
              <a:spcBef>
                <a:spcPct val="0"/>
              </a:spcBef>
              <a:spcAft>
                <a:spcPct val="0"/>
              </a:spcAft>
              <a:defRPr kumimoji="1" sz="3200" b="1">
                <a:solidFill>
                  <a:schemeClr val="tx2"/>
                </a:solidFill>
                <a:latin typeface="Helvetica" pitchFamily="34" charset="0"/>
              </a:defRPr>
            </a:lvl5pPr>
            <a:lvl6pPr marL="457200" algn="ctr" rtl="0" eaLnBrk="0" fontAlgn="base" hangingPunct="0">
              <a:spcBef>
                <a:spcPct val="0"/>
              </a:spcBef>
              <a:spcAft>
                <a:spcPct val="0"/>
              </a:spcAft>
              <a:defRPr kumimoji="1" sz="3200" b="1">
                <a:solidFill>
                  <a:schemeClr val="tx2"/>
                </a:solidFill>
                <a:latin typeface="Helvetica" pitchFamily="34" charset="0"/>
              </a:defRPr>
            </a:lvl6pPr>
            <a:lvl7pPr marL="914400" algn="ctr" rtl="0" eaLnBrk="0" fontAlgn="base" hangingPunct="0">
              <a:spcBef>
                <a:spcPct val="0"/>
              </a:spcBef>
              <a:spcAft>
                <a:spcPct val="0"/>
              </a:spcAft>
              <a:defRPr kumimoji="1" sz="3200" b="1">
                <a:solidFill>
                  <a:schemeClr val="tx2"/>
                </a:solidFill>
                <a:latin typeface="Helvetica" pitchFamily="34" charset="0"/>
              </a:defRPr>
            </a:lvl7pPr>
            <a:lvl8pPr marL="1371600" algn="ctr" rtl="0" eaLnBrk="0" fontAlgn="base" hangingPunct="0">
              <a:spcBef>
                <a:spcPct val="0"/>
              </a:spcBef>
              <a:spcAft>
                <a:spcPct val="0"/>
              </a:spcAft>
              <a:defRPr kumimoji="1" sz="3200" b="1">
                <a:solidFill>
                  <a:schemeClr val="tx2"/>
                </a:solidFill>
                <a:latin typeface="Helvetica" pitchFamily="34" charset="0"/>
              </a:defRPr>
            </a:lvl8pPr>
            <a:lvl9pPr marL="1828800" algn="ctr" rtl="0" eaLnBrk="0" fontAlgn="base" hangingPunct="0">
              <a:spcBef>
                <a:spcPct val="0"/>
              </a:spcBef>
              <a:spcAft>
                <a:spcPct val="0"/>
              </a:spcAft>
              <a:defRPr kumimoji="1" sz="3200" b="1">
                <a:solidFill>
                  <a:schemeClr val="tx2"/>
                </a:solidFill>
                <a:latin typeface="Helvetica" pitchFamily="34" charset="0"/>
              </a:defRPr>
            </a:lvl9pPr>
          </a:lstStyle>
          <a:p>
            <a:pPr>
              <a:defRPr/>
            </a:pPr>
            <a:r>
              <a:rPr lang="zh-CN" altLang="en-US" kern="0" dirty="0" smtClean="0">
                <a:solidFill>
                  <a:srgbClr val="C00000"/>
                </a:solidFill>
                <a:ea typeface="宋体" panose="02010600030101010101" pitchFamily="2" charset="-122"/>
              </a:rPr>
              <a:t>块设备转换表 </a:t>
            </a:r>
            <a:endParaRPr lang="en-US" altLang="zh-CN" kern="0" dirty="0" smtClean="0">
              <a:solidFill>
                <a:srgbClr val="C00000"/>
              </a:solidFill>
              <a:ea typeface="宋体" panose="02010600030101010101" pitchFamily="2" charset="-122"/>
            </a:endParaRPr>
          </a:p>
        </p:txBody>
      </p:sp>
      <p:sp>
        <p:nvSpPr>
          <p:cNvPr id="9220" name="Rectangle 3"/>
          <p:cNvSpPr>
            <a:spLocks noChangeArrowheads="1"/>
          </p:cNvSpPr>
          <p:nvPr/>
        </p:nvSpPr>
        <p:spPr bwMode="auto">
          <a:xfrm>
            <a:off x="712788"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8.4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设备的注册与注销</a:t>
            </a:r>
          </a:p>
        </p:txBody>
      </p:sp>
    </p:spTree>
    <p:extLst>
      <p:ext uri="{BB962C8B-B14F-4D97-AF65-F5344CB8AC3E}">
        <p14:creationId xmlns:p14="http://schemas.microsoft.com/office/powerpoint/2010/main" val="32796273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663700" y="1184275"/>
            <a:ext cx="7772400" cy="844550"/>
          </a:xfrm>
        </p:spPr>
        <p:txBody>
          <a:bodyPr/>
          <a:lstStyle/>
          <a:p>
            <a:r>
              <a:rPr lang="zh-CN" altLang="en-US" smtClean="0">
                <a:solidFill>
                  <a:srgbClr val="002060"/>
                </a:solidFill>
                <a:latin typeface="宋体" panose="02010600030101010101" pitchFamily="2" charset="-122"/>
                <a:ea typeface="宋体" panose="02010600030101010101" pitchFamily="2" charset="-122"/>
              </a:rPr>
              <a:t>块设备</a:t>
            </a:r>
            <a:r>
              <a:rPr lang="zh-CN" altLang="en-US" smtClean="0">
                <a:solidFill>
                  <a:srgbClr val="002060"/>
                </a:solidFill>
                <a:ea typeface="宋体" panose="02010600030101010101" pitchFamily="2" charset="-122"/>
              </a:rPr>
              <a:t>的注册与管理</a:t>
            </a:r>
          </a:p>
        </p:txBody>
      </p:sp>
      <p:sp>
        <p:nvSpPr>
          <p:cNvPr id="11267" name="Rectangle 3"/>
          <p:cNvSpPr>
            <a:spLocks noGrp="1" noChangeArrowheads="1"/>
          </p:cNvSpPr>
          <p:nvPr>
            <p:ph type="body" idx="1"/>
          </p:nvPr>
        </p:nvSpPr>
        <p:spPr>
          <a:xfrm>
            <a:off x="366713" y="2028825"/>
            <a:ext cx="8777287" cy="5100638"/>
          </a:xfrm>
        </p:spPr>
        <p:txBody>
          <a:bodyPr/>
          <a:lstStyle/>
          <a:p>
            <a:pPr>
              <a:buFont typeface="Monotype Sorts"/>
              <a:buNone/>
            </a:pPr>
            <a:r>
              <a:rPr lang="zh-CN" altLang="en-US" sz="3200" smtClean="0">
                <a:solidFill>
                  <a:srgbClr val="FF0000"/>
                </a:solidFill>
                <a:ea typeface="宋体" panose="02010600030101010101" pitchFamily="2" charset="-122"/>
              </a:rPr>
              <a:t>注册与注销函数</a:t>
            </a:r>
          </a:p>
          <a:p>
            <a:pPr>
              <a:buFont typeface="Monotype Sorts"/>
              <a:buNone/>
            </a:pPr>
            <a:endParaRPr lang="zh-CN" altLang="en-US" sz="3200" smtClean="0">
              <a:solidFill>
                <a:srgbClr val="FF0000"/>
              </a:solidFill>
              <a:ea typeface="宋体" panose="02010600030101010101" pitchFamily="2" charset="-122"/>
            </a:endParaRPr>
          </a:p>
          <a:p>
            <a:pPr>
              <a:buFont typeface="Monotype Sorts"/>
              <a:buNone/>
            </a:pPr>
            <a:r>
              <a:rPr lang="en-US" altLang="zh-CN" sz="3200" smtClean="0">
                <a:solidFill>
                  <a:srgbClr val="FF0000"/>
                </a:solidFill>
                <a:latin typeface="Times New Roman" panose="02020603050405020304" pitchFamily="18" charset="0"/>
                <a:ea typeface="宋体" panose="02010600030101010101" pitchFamily="2" charset="-122"/>
              </a:rPr>
              <a:t>register_blkdev</a:t>
            </a:r>
            <a:r>
              <a:rPr lang="en-US" altLang="zh-CN" sz="3200" smtClean="0">
                <a:latin typeface="Times New Roman" panose="02020603050405020304" pitchFamily="18" charset="0"/>
                <a:ea typeface="宋体" panose="02010600030101010101" pitchFamily="2" charset="-122"/>
              </a:rPr>
              <a:t>(unsigned int major,const char *name, struct </a:t>
            </a:r>
            <a:r>
              <a:rPr lang="en-US" altLang="zh-CN" sz="3200" smtClean="0">
                <a:solidFill>
                  <a:schemeClr val="tx1"/>
                </a:solidFill>
                <a:latin typeface="Times New Roman" panose="02020603050405020304" pitchFamily="18" charset="0"/>
                <a:ea typeface="宋体" panose="02010600030101010101" pitchFamily="2" charset="-122"/>
              </a:rPr>
              <a:t>block_device_operations</a:t>
            </a:r>
            <a:r>
              <a:rPr lang="en-US" altLang="zh-CN" sz="3200" smtClean="0">
                <a:latin typeface="Times New Roman" panose="02020603050405020304" pitchFamily="18" charset="0"/>
                <a:ea typeface="宋体" panose="02010600030101010101" pitchFamily="2" charset="-122"/>
              </a:rPr>
              <a:t> *bdops)</a:t>
            </a:r>
          </a:p>
          <a:p>
            <a:pPr>
              <a:buFont typeface="Monotype Sorts"/>
              <a:buNone/>
            </a:pPr>
            <a:r>
              <a:rPr lang="en-US" altLang="zh-CN" sz="3200" smtClean="0">
                <a:latin typeface="Times New Roman" panose="02020603050405020304" pitchFamily="18" charset="0"/>
                <a:ea typeface="宋体" panose="02010600030101010101" pitchFamily="2" charset="-122"/>
              </a:rPr>
              <a:t>int </a:t>
            </a:r>
            <a:r>
              <a:rPr lang="en-US" altLang="zh-CN" sz="3200" smtClean="0">
                <a:solidFill>
                  <a:srgbClr val="FF0000"/>
                </a:solidFill>
                <a:latin typeface="Times New Roman" panose="02020603050405020304" pitchFamily="18" charset="0"/>
                <a:ea typeface="宋体" panose="02010600030101010101" pitchFamily="2" charset="-122"/>
              </a:rPr>
              <a:t>unregister_blkdev</a:t>
            </a:r>
            <a:r>
              <a:rPr lang="en-US" altLang="zh-CN" sz="3200" smtClean="0">
                <a:latin typeface="Times New Roman" panose="02020603050405020304" pitchFamily="18" charset="0"/>
                <a:ea typeface="宋体" panose="02010600030101010101" pitchFamily="2" charset="-122"/>
              </a:rPr>
              <a:t>(unsigned int major,</a:t>
            </a:r>
          </a:p>
          <a:p>
            <a:pPr>
              <a:buFont typeface="Monotype Sorts"/>
              <a:buNone/>
            </a:pPr>
            <a:r>
              <a:rPr lang="en-US" altLang="zh-CN" sz="3200" smtClean="0">
                <a:latin typeface="Times New Roman" panose="02020603050405020304" pitchFamily="18" charset="0"/>
                <a:ea typeface="宋体" panose="02010600030101010101" pitchFamily="2" charset="-122"/>
              </a:rPr>
              <a:t>                                       const char * name)</a:t>
            </a:r>
            <a:endParaRPr lang="zh-CN" altLang="en-US" sz="3200" smtClean="0">
              <a:latin typeface="Times New Roman" panose="02020603050405020304" pitchFamily="18" charset="0"/>
              <a:ea typeface="宋体" panose="02010600030101010101" pitchFamily="2" charset="-122"/>
            </a:endParaRPr>
          </a:p>
        </p:txBody>
      </p:sp>
      <p:sp>
        <p:nvSpPr>
          <p:cNvPr id="11268" name="Rectangle 3"/>
          <p:cNvSpPr>
            <a:spLocks noChangeArrowheads="1"/>
          </p:cNvSpPr>
          <p:nvPr/>
        </p:nvSpPr>
        <p:spPr bwMode="auto">
          <a:xfrm>
            <a:off x="712788"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8.4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设备的注册与注销</a:t>
            </a:r>
          </a:p>
        </p:txBody>
      </p:sp>
    </p:spTree>
    <p:extLst>
      <p:ext uri="{BB962C8B-B14F-4D97-AF65-F5344CB8AC3E}">
        <p14:creationId xmlns:p14="http://schemas.microsoft.com/office/powerpoint/2010/main" val="4926296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276475" y="1074738"/>
            <a:ext cx="7772400" cy="844550"/>
          </a:xfrm>
        </p:spPr>
        <p:txBody>
          <a:bodyPr/>
          <a:lstStyle/>
          <a:p>
            <a:r>
              <a:rPr lang="zh-CN" altLang="en-US" smtClean="0">
                <a:solidFill>
                  <a:srgbClr val="002060"/>
                </a:solidFill>
                <a:ea typeface="宋体" panose="02010600030101010101" pitchFamily="2" charset="-122"/>
              </a:rPr>
              <a:t>块设备请求</a:t>
            </a:r>
          </a:p>
        </p:txBody>
      </p:sp>
      <p:sp>
        <p:nvSpPr>
          <p:cNvPr id="13315" name="Rectangle 3"/>
          <p:cNvSpPr>
            <a:spLocks noGrp="1" noChangeArrowheads="1"/>
          </p:cNvSpPr>
          <p:nvPr>
            <p:ph type="body" idx="1"/>
          </p:nvPr>
        </p:nvSpPr>
        <p:spPr>
          <a:xfrm>
            <a:off x="447675" y="1762125"/>
            <a:ext cx="8202613" cy="5095875"/>
          </a:xfrm>
        </p:spPr>
        <p:txBody>
          <a:bodyPr/>
          <a:lstStyle/>
          <a:p>
            <a:pPr>
              <a:buFont typeface="Arial" panose="020B0604020202020204" pitchFamily="34" charset="0"/>
              <a:buChar char="•"/>
            </a:pPr>
            <a:r>
              <a:rPr lang="zh-CN" altLang="en-US" sz="2400" smtClean="0">
                <a:ea typeface="宋体" panose="02010600030101010101" pitchFamily="2" charset="-122"/>
              </a:rPr>
              <a:t>虽然块设备驱动程序可以一次传送一个单独的数据块，但是内核并不会为磁盘上的每个被访问的数据块都单独执行一次</a:t>
            </a:r>
            <a:r>
              <a:rPr lang="en-US" altLang="zh-CN" sz="2400" smtClean="0">
                <a:ea typeface="宋体" panose="02010600030101010101" pitchFamily="2" charset="-122"/>
              </a:rPr>
              <a:t>I/O</a:t>
            </a:r>
            <a:r>
              <a:rPr lang="zh-CN" altLang="en-US" sz="2400" smtClean="0">
                <a:ea typeface="宋体" panose="02010600030101010101" pitchFamily="2" charset="-122"/>
              </a:rPr>
              <a:t>操作，而是试图将几个块合并在一起，并作为一个整体来处理，这样就减少了磁头平均移动时间。</a:t>
            </a:r>
          </a:p>
          <a:p>
            <a:pPr>
              <a:buFont typeface="Arial" panose="020B0604020202020204" pitchFamily="34" charset="0"/>
              <a:buChar char="•"/>
            </a:pPr>
            <a:r>
              <a:rPr lang="zh-CN" altLang="en-US" sz="2400" smtClean="0">
                <a:solidFill>
                  <a:srgbClr val="FF0000"/>
                </a:solidFill>
                <a:ea typeface="宋体" panose="02010600030101010101" pitchFamily="2" charset="-122"/>
              </a:rPr>
              <a:t>延迟：</a:t>
            </a:r>
            <a:r>
              <a:rPr lang="zh-CN" altLang="en-US" sz="2400" smtClean="0">
                <a:ea typeface="宋体" panose="02010600030101010101" pitchFamily="2" charset="-122"/>
              </a:rPr>
              <a:t>块设备发出</a:t>
            </a:r>
            <a:r>
              <a:rPr lang="en-US" altLang="zh-CN" sz="2400" smtClean="0">
                <a:ea typeface="宋体" panose="02010600030101010101" pitchFamily="2" charset="-122"/>
              </a:rPr>
              <a:t>I/O</a:t>
            </a:r>
            <a:r>
              <a:rPr lang="zh-CN" altLang="en-US" sz="2400" smtClean="0">
                <a:ea typeface="宋体" panose="02010600030101010101" pitchFamily="2" charset="-122"/>
              </a:rPr>
              <a:t>请求时，将请求放在相应的请求队列中，稍后执行。</a:t>
            </a:r>
          </a:p>
          <a:p>
            <a:pPr>
              <a:buFont typeface="Arial" panose="020B0604020202020204" pitchFamily="34" charset="0"/>
              <a:buChar char="•"/>
            </a:pPr>
            <a:r>
              <a:rPr lang="zh-CN" altLang="en-US" sz="2400" smtClean="0">
                <a:ea typeface="宋体" panose="02010600030101010101" pitchFamily="2" charset="-122"/>
              </a:rPr>
              <a:t>每个块设备都有一个请求队列，一提高磁盘性能的方式对请求进行排序。</a:t>
            </a:r>
          </a:p>
          <a:p>
            <a:pPr>
              <a:buFont typeface="Arial" panose="020B0604020202020204" pitchFamily="34" charset="0"/>
              <a:buChar char="•"/>
            </a:pPr>
            <a:r>
              <a:rPr lang="zh-CN" altLang="en-US" sz="2400" smtClean="0">
                <a:ea typeface="宋体" panose="02010600030101010101" pitchFamily="2" charset="-122"/>
              </a:rPr>
              <a:t>块设备请求由</a:t>
            </a:r>
            <a:r>
              <a:rPr lang="en-US" altLang="zh-CN" sz="2400" smtClean="0">
                <a:ea typeface="宋体" panose="02010600030101010101" pitchFamily="2" charset="-122"/>
              </a:rPr>
              <a:t>request</a:t>
            </a:r>
            <a:r>
              <a:rPr lang="zh-CN" altLang="en-US" sz="2400" smtClean="0">
                <a:ea typeface="宋体" panose="02010600030101010101" pitchFamily="2" charset="-122"/>
              </a:rPr>
              <a:t>结构描述，位于</a:t>
            </a:r>
            <a:r>
              <a:rPr lang="en-US" altLang="zh-CN" sz="2400" smtClean="0">
                <a:ea typeface="宋体" panose="02010600030101010101" pitchFamily="2" charset="-122"/>
              </a:rPr>
              <a:t>include/linux/blkdev.h</a:t>
            </a:r>
            <a:r>
              <a:rPr lang="zh-CN" altLang="en-US" sz="2400" smtClean="0">
                <a:ea typeface="宋体" panose="02010600030101010101" pitchFamily="2" charset="-122"/>
              </a:rPr>
              <a:t>中。</a:t>
            </a:r>
            <a:endParaRPr lang="en-US" altLang="zh-CN" sz="2400" smtClean="0">
              <a:ea typeface="宋体" panose="02010600030101010101" pitchFamily="2" charset="-122"/>
            </a:endParaRPr>
          </a:p>
          <a:p>
            <a:pPr>
              <a:buFont typeface="Arial" panose="020B0604020202020204" pitchFamily="34" charset="0"/>
              <a:buChar char="•"/>
            </a:pPr>
            <a:r>
              <a:rPr lang="zh-CN" altLang="en-US" sz="2400" smtClean="0">
                <a:ea typeface="宋体" panose="02010600030101010101" pitchFamily="2" charset="-122"/>
              </a:rPr>
              <a:t>请求队列：是一个请求描述符的链表。</a:t>
            </a:r>
          </a:p>
          <a:p>
            <a:endParaRPr lang="zh-CN" altLang="en-US" sz="2400" smtClean="0">
              <a:ea typeface="宋体" panose="02010600030101010101" pitchFamily="2" charset="-122"/>
            </a:endParaRPr>
          </a:p>
        </p:txBody>
      </p:sp>
      <p:sp>
        <p:nvSpPr>
          <p:cNvPr id="13316" name="Rectangle 3"/>
          <p:cNvSpPr>
            <a:spLocks noChangeArrowheads="1"/>
          </p:cNvSpPr>
          <p:nvPr/>
        </p:nvSpPr>
        <p:spPr bwMode="auto">
          <a:xfrm>
            <a:off x="661988"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8.5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设备请求</a:t>
            </a:r>
          </a:p>
        </p:txBody>
      </p:sp>
    </p:spTree>
    <p:extLst>
      <p:ext uri="{BB962C8B-B14F-4D97-AF65-F5344CB8AC3E}">
        <p14:creationId xmlns:p14="http://schemas.microsoft.com/office/powerpoint/2010/main" val="1312751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496888" y="1677988"/>
            <a:ext cx="8474075" cy="5060950"/>
          </a:xfrm>
        </p:spPr>
        <p:txBody>
          <a:bodyPr/>
          <a:lstStyle/>
          <a:p>
            <a:pPr>
              <a:lnSpc>
                <a:spcPct val="130000"/>
              </a:lnSpc>
            </a:pPr>
            <a:r>
              <a:rPr lang="zh-CN" altLang="en-US" sz="2400" smtClean="0">
                <a:ea typeface="宋体" panose="02010600030101010101" pitchFamily="2" charset="-122"/>
              </a:rPr>
              <a:t>当有进程发出一个读写块设备的请求时，内核会首先调用</a:t>
            </a:r>
            <a:r>
              <a:rPr lang="en-US" altLang="zh-CN" sz="2400" smtClean="0">
                <a:ea typeface="宋体" panose="02010600030101010101" pitchFamily="2" charset="-122"/>
              </a:rPr>
              <a:t>block_read()</a:t>
            </a:r>
            <a:r>
              <a:rPr lang="zh-CN" altLang="en-US" sz="2400" smtClean="0">
                <a:ea typeface="宋体" panose="02010600030101010101" pitchFamily="2" charset="-122"/>
              </a:rPr>
              <a:t>和</a:t>
            </a:r>
            <a:r>
              <a:rPr lang="en-US" altLang="zh-CN" sz="2400" smtClean="0">
                <a:ea typeface="宋体" panose="02010600030101010101" pitchFamily="2" charset="-122"/>
              </a:rPr>
              <a:t>block_write()</a:t>
            </a:r>
            <a:r>
              <a:rPr lang="zh-CN" altLang="en-US" sz="2400" smtClean="0">
                <a:ea typeface="宋体" panose="02010600030101010101" pitchFamily="2" charset="-122"/>
              </a:rPr>
              <a:t>对数据缓冲区进行读写。</a:t>
            </a:r>
          </a:p>
          <a:p>
            <a:pPr>
              <a:lnSpc>
                <a:spcPct val="130000"/>
              </a:lnSpc>
            </a:pPr>
            <a:r>
              <a:rPr lang="zh-CN" altLang="en-US" sz="2400" smtClean="0">
                <a:ea typeface="宋体" panose="02010600030101010101" pitchFamily="2" charset="-122"/>
              </a:rPr>
              <a:t>当数据缓冲区不能满足用户进程的一个读写请求或者一个文件需要交换到物理磁盘上时，必须调用块设备的驱动程序来进行实际的数据传输。</a:t>
            </a:r>
          </a:p>
          <a:p>
            <a:pPr>
              <a:lnSpc>
                <a:spcPct val="130000"/>
              </a:lnSpc>
            </a:pPr>
            <a:r>
              <a:rPr lang="zh-CN" altLang="en-US" sz="2400" smtClean="0">
                <a:ea typeface="宋体" panose="02010600030101010101" pitchFamily="2" charset="-122"/>
              </a:rPr>
              <a:t>为此，在</a:t>
            </a:r>
            <a:r>
              <a:rPr lang="en-US" altLang="zh-CN" sz="2400" smtClean="0">
                <a:ea typeface="宋体" panose="02010600030101010101" pitchFamily="2" charset="-122"/>
              </a:rPr>
              <a:t>Linux</a:t>
            </a:r>
            <a:r>
              <a:rPr lang="zh-CN" altLang="en-US" sz="2400" smtClean="0">
                <a:ea typeface="宋体" panose="02010600030101010101" pitchFamily="2" charset="-122"/>
              </a:rPr>
              <a:t>中，为完成真正的数据传输请求，又为每一个块设备设计了一个接口</a:t>
            </a:r>
            <a:r>
              <a:rPr lang="en-US" altLang="zh-CN" sz="2400" smtClean="0">
                <a:ea typeface="宋体" panose="02010600030101010101" pitchFamily="2" charset="-122"/>
              </a:rPr>
              <a:t>blk_dev_struct</a:t>
            </a:r>
          </a:p>
          <a:p>
            <a:r>
              <a:rPr lang="en-US" altLang="zh-CN" sz="2400" smtClean="0">
                <a:ea typeface="宋体" panose="02010600030101010101" pitchFamily="2" charset="-122"/>
              </a:rPr>
              <a:t>blk_dev_struct</a:t>
            </a:r>
            <a:r>
              <a:rPr lang="zh-CN" altLang="en-US" sz="2400" smtClean="0">
                <a:ea typeface="宋体" panose="02010600030101010101" pitchFamily="2" charset="-122"/>
              </a:rPr>
              <a:t>结构包含请求过程的地址以及指向请求</a:t>
            </a:r>
            <a:r>
              <a:rPr lang="en-US" altLang="zh-CN" sz="2400" smtClean="0">
                <a:ea typeface="宋体" panose="02010600030101010101" pitchFamily="2" charset="-122"/>
              </a:rPr>
              <a:t>request</a:t>
            </a:r>
            <a:r>
              <a:rPr lang="zh-CN" altLang="en-US" sz="2400" smtClean="0">
                <a:ea typeface="宋体" panose="02010600030101010101" pitchFamily="2" charset="-122"/>
              </a:rPr>
              <a:t>数据结构链表的指针，每个代表一个从</a:t>
            </a:r>
            <a:r>
              <a:rPr lang="en-US" altLang="zh-CN" sz="2400" smtClean="0">
                <a:ea typeface="宋体" panose="02010600030101010101" pitchFamily="2" charset="-122"/>
              </a:rPr>
              <a:t>buffer cache</a:t>
            </a:r>
            <a:r>
              <a:rPr lang="zh-CN" altLang="en-US" sz="2400" smtClean="0">
                <a:ea typeface="宋体" panose="02010600030101010101" pitchFamily="2" charset="-122"/>
              </a:rPr>
              <a:t>中来让设备进行数据读写的请求。 </a:t>
            </a:r>
            <a:endParaRPr lang="en-US" altLang="zh-CN" sz="2400" smtClean="0">
              <a:ea typeface="宋体" panose="02010600030101010101" pitchFamily="2" charset="-122"/>
            </a:endParaRPr>
          </a:p>
        </p:txBody>
      </p:sp>
      <p:sp>
        <p:nvSpPr>
          <p:cNvPr id="14339" name="Rectangle 3"/>
          <p:cNvSpPr>
            <a:spLocks noGrp="1" noChangeArrowheads="1"/>
          </p:cNvSpPr>
          <p:nvPr>
            <p:ph type="title"/>
          </p:nvPr>
        </p:nvSpPr>
        <p:spPr>
          <a:xfrm>
            <a:off x="-2398713" y="914400"/>
            <a:ext cx="7772401" cy="844550"/>
          </a:xfrm>
        </p:spPr>
        <p:txBody>
          <a:bodyPr/>
          <a:lstStyle/>
          <a:p>
            <a:r>
              <a:rPr lang="zh-CN" altLang="en-US" smtClean="0">
                <a:solidFill>
                  <a:srgbClr val="002060"/>
                </a:solidFill>
                <a:ea typeface="宋体" panose="02010600030101010101" pitchFamily="2" charset="-122"/>
              </a:rPr>
              <a:t>块设备的操作</a:t>
            </a:r>
            <a:endParaRPr lang="en-US" altLang="zh-CN" smtClean="0">
              <a:solidFill>
                <a:srgbClr val="002060"/>
              </a:solidFill>
              <a:ea typeface="宋体" panose="02010600030101010101" pitchFamily="2" charset="-122"/>
            </a:endParaRPr>
          </a:p>
        </p:txBody>
      </p:sp>
      <p:sp>
        <p:nvSpPr>
          <p:cNvPr id="14340" name="Rectangle 3"/>
          <p:cNvSpPr>
            <a:spLocks noChangeArrowheads="1"/>
          </p:cNvSpPr>
          <p:nvPr/>
        </p:nvSpPr>
        <p:spPr bwMode="auto">
          <a:xfrm>
            <a:off x="496888" y="6985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8.5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设备请求</a:t>
            </a:r>
          </a:p>
        </p:txBody>
      </p:sp>
    </p:spTree>
    <p:extLst>
      <p:ext uri="{BB962C8B-B14F-4D97-AF65-F5344CB8AC3E}">
        <p14:creationId xmlns:p14="http://schemas.microsoft.com/office/powerpoint/2010/main" val="2351837171"/>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body" idx="1"/>
          </p:nvPr>
        </p:nvSpPr>
        <p:spPr>
          <a:xfrm>
            <a:off x="395288" y="927100"/>
            <a:ext cx="8448675" cy="5930900"/>
          </a:xfrm>
        </p:spPr>
        <p:txBody>
          <a:bodyPr/>
          <a:lstStyle/>
          <a:p>
            <a:pPr>
              <a:lnSpc>
                <a:spcPct val="90000"/>
              </a:lnSpc>
              <a:buFont typeface="Arial" panose="020B0604020202020204" pitchFamily="34" charset="0"/>
              <a:buChar char="•"/>
              <a:defRPr/>
            </a:pPr>
            <a:r>
              <a:rPr lang="zh-CN" altLang="en-US" sz="2400" dirty="0" smtClean="0">
                <a:latin typeface="宋体" panose="02010600030101010101" pitchFamily="2" charset="-122"/>
                <a:ea typeface="宋体" panose="02010600030101010101" pitchFamily="2" charset="-122"/>
              </a:rPr>
              <a:t>每个块设备都有一个</a:t>
            </a:r>
            <a:r>
              <a:rPr lang="en-US" altLang="zh-CN" sz="2400" dirty="0" err="1" smtClean="0">
                <a:latin typeface="宋体" panose="02010600030101010101" pitchFamily="2" charset="-122"/>
                <a:ea typeface="宋体" panose="02010600030101010101" pitchFamily="2" charset="-122"/>
              </a:rPr>
              <a:t>blk_dev_struct</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结构（块设备驱动程序描述符），所有的</a:t>
            </a:r>
            <a:r>
              <a:rPr lang="en-US" altLang="zh-CN" sz="2400" dirty="0" err="1" smtClean="0">
                <a:latin typeface="宋体" panose="02010600030101010101" pitchFamily="2" charset="-122"/>
                <a:ea typeface="宋体" panose="02010600030101010101" pitchFamily="2" charset="-122"/>
              </a:rPr>
              <a:t>blk_dev_struct</a:t>
            </a:r>
            <a:r>
              <a:rPr lang="zh-CN" altLang="en-US" sz="2400" dirty="0" smtClean="0">
                <a:latin typeface="宋体" panose="02010600030101010101" pitchFamily="2" charset="-122"/>
                <a:ea typeface="宋体" panose="02010600030101010101" pitchFamily="2" charset="-122"/>
              </a:rPr>
              <a:t>结构由向量</a:t>
            </a:r>
            <a:r>
              <a:rPr lang="en-US" altLang="zh-CN" sz="2400" dirty="0" err="1" smtClean="0">
                <a:latin typeface="宋体" panose="02010600030101010101" pitchFamily="2" charset="-122"/>
                <a:ea typeface="宋体" panose="02010600030101010101" pitchFamily="2" charset="-122"/>
              </a:rPr>
              <a:t>blk_dev</a:t>
            </a:r>
            <a:r>
              <a:rPr lang="zh-CN" altLang="en-US" sz="2400" dirty="0" smtClean="0">
                <a:latin typeface="宋体" panose="02010600030101010101" pitchFamily="2" charset="-122"/>
                <a:ea typeface="宋体" panose="02010600030101010101" pitchFamily="2" charset="-122"/>
              </a:rPr>
              <a:t>集中管理,可以使用主设备号进行索引</a:t>
            </a:r>
            <a:r>
              <a:rPr lang="en-US" altLang="zh-CN" sz="2400" dirty="0" smtClean="0">
                <a:latin typeface="宋体" panose="02010600030101010101" pitchFamily="2" charset="-122"/>
                <a:ea typeface="宋体" panose="02010600030101010101" pitchFamily="2" charset="-122"/>
              </a:rPr>
              <a:t>。</a:t>
            </a:r>
          </a:p>
          <a:p>
            <a:pPr>
              <a:lnSpc>
                <a:spcPct val="90000"/>
              </a:lnSpc>
              <a:buFont typeface="Monotype Sorts" pitchFamily="2" charset="2"/>
              <a:buNone/>
              <a:defRPr/>
            </a:pPr>
            <a:r>
              <a:rPr lang="en-US" altLang="zh-CN" sz="2400" dirty="0" smtClean="0">
                <a:latin typeface="宋体" panose="02010600030101010101" pitchFamily="2" charset="-122"/>
                <a:ea typeface="宋体" panose="02010600030101010101" pitchFamily="2" charset="-122"/>
              </a:rPr>
              <a:t> </a:t>
            </a:r>
            <a:r>
              <a:rPr lang="en-US" altLang="zh-CN" sz="2400" dirty="0" err="1" smtClean="0">
                <a:solidFill>
                  <a:srgbClr val="C00000"/>
                </a:solidFill>
                <a:latin typeface="宋体" panose="02010600030101010101" pitchFamily="2" charset="-122"/>
                <a:ea typeface="宋体" panose="02010600030101010101" pitchFamily="2" charset="-122"/>
              </a:rPr>
              <a:t>struct</a:t>
            </a:r>
            <a:r>
              <a:rPr lang="en-US" altLang="zh-CN" sz="2400" dirty="0" smtClean="0">
                <a:solidFill>
                  <a:srgbClr val="C00000"/>
                </a:solidFill>
                <a:latin typeface="宋体" panose="02010600030101010101" pitchFamily="2" charset="-122"/>
                <a:ea typeface="宋体" panose="02010600030101010101" pitchFamily="2" charset="-122"/>
              </a:rPr>
              <a:t> </a:t>
            </a:r>
            <a:r>
              <a:rPr lang="en-US" altLang="zh-CN" sz="2400" dirty="0" err="1" smtClean="0">
                <a:solidFill>
                  <a:srgbClr val="C00000"/>
                </a:solidFill>
                <a:latin typeface="宋体" panose="02010600030101010101" pitchFamily="2" charset="-122"/>
                <a:ea typeface="宋体" panose="02010600030101010101" pitchFamily="2" charset="-122"/>
              </a:rPr>
              <a:t>blk_dev_struct</a:t>
            </a:r>
            <a:r>
              <a:rPr lang="en-US" altLang="zh-CN" sz="2400" dirty="0" smtClean="0">
                <a:solidFill>
                  <a:srgbClr val="C00000"/>
                </a:solidFill>
                <a:latin typeface="宋体" panose="02010600030101010101" pitchFamily="2" charset="-122"/>
                <a:ea typeface="宋体" panose="02010600030101010101" pitchFamily="2" charset="-122"/>
              </a:rPr>
              <a:t> </a:t>
            </a:r>
            <a:r>
              <a:rPr lang="en-US" altLang="zh-CN" sz="2400" dirty="0" smtClean="0">
                <a:solidFill>
                  <a:schemeClr val="accent6">
                    <a:lumMod val="75000"/>
                  </a:schemeClr>
                </a:solidFill>
                <a:latin typeface="宋体" panose="02010600030101010101" pitchFamily="2" charset="-122"/>
                <a:ea typeface="宋体" panose="02010600030101010101" pitchFamily="2" charset="-122"/>
              </a:rPr>
              <a:t>{</a:t>
            </a:r>
          </a:p>
          <a:p>
            <a:pPr algn="just">
              <a:lnSpc>
                <a:spcPct val="90000"/>
              </a:lnSpc>
              <a:buFont typeface="Monotype Sorts" pitchFamily="2" charset="2"/>
              <a:buNone/>
              <a:defRPr/>
            </a:pPr>
            <a:r>
              <a:rPr lang="en-US" altLang="zh-CN" sz="2400" dirty="0" smtClean="0">
                <a:solidFill>
                  <a:schemeClr val="accent6">
                    <a:lumMod val="75000"/>
                  </a:schemeClr>
                </a:solidFill>
                <a:latin typeface="宋体" panose="02010600030101010101" pitchFamily="2" charset="-122"/>
                <a:ea typeface="宋体" panose="02010600030101010101" pitchFamily="2" charset="-122"/>
              </a:rPr>
              <a:t>  </a:t>
            </a:r>
            <a:r>
              <a:rPr lang="en-US" altLang="zh-CN" sz="2400" dirty="0" err="1" smtClean="0">
                <a:solidFill>
                  <a:schemeClr val="accent6">
                    <a:lumMod val="75000"/>
                  </a:schemeClr>
                </a:solidFill>
                <a:latin typeface="宋体" panose="02010600030101010101" pitchFamily="2" charset="-122"/>
                <a:ea typeface="宋体" panose="02010600030101010101" pitchFamily="2" charset="-122"/>
              </a:rPr>
              <a:t>request_queue_t</a:t>
            </a:r>
            <a:r>
              <a:rPr lang="en-US" altLang="zh-CN" sz="2400" dirty="0" smtClean="0">
                <a:solidFill>
                  <a:schemeClr val="accent6">
                    <a:lumMod val="75000"/>
                  </a:schemeClr>
                </a:solidFill>
                <a:latin typeface="宋体" panose="02010600030101010101" pitchFamily="2" charset="-122"/>
                <a:ea typeface="宋体" panose="02010600030101010101" pitchFamily="2" charset="-122"/>
              </a:rPr>
              <a:t>         </a:t>
            </a:r>
            <a:r>
              <a:rPr lang="en-US" altLang="zh-CN" sz="2400" dirty="0" err="1" smtClean="0">
                <a:solidFill>
                  <a:schemeClr val="accent6">
                    <a:lumMod val="75000"/>
                  </a:schemeClr>
                </a:solidFill>
                <a:latin typeface="宋体" panose="02010600030101010101" pitchFamily="2" charset="-122"/>
                <a:ea typeface="宋体" panose="02010600030101010101" pitchFamily="2" charset="-122"/>
              </a:rPr>
              <a:t>request_queue</a:t>
            </a:r>
            <a:r>
              <a:rPr lang="en-US" altLang="zh-CN" sz="2400" dirty="0" smtClean="0">
                <a:solidFill>
                  <a:schemeClr val="accent6">
                    <a:lumMod val="75000"/>
                  </a:schemeClr>
                </a:solidFill>
                <a:latin typeface="宋体" panose="02010600030101010101" pitchFamily="2" charset="-122"/>
                <a:ea typeface="宋体" panose="02010600030101010101" pitchFamily="2" charset="-122"/>
              </a:rPr>
              <a:t>;</a:t>
            </a:r>
          </a:p>
          <a:p>
            <a:pPr>
              <a:lnSpc>
                <a:spcPct val="90000"/>
              </a:lnSpc>
              <a:buFont typeface="Monotype Sorts" pitchFamily="2" charset="2"/>
              <a:buNone/>
              <a:defRPr/>
            </a:pPr>
            <a:r>
              <a:rPr lang="en-US" altLang="zh-CN" sz="2400" dirty="0" smtClean="0">
                <a:solidFill>
                  <a:schemeClr val="accent6">
                    <a:lumMod val="75000"/>
                  </a:schemeClr>
                </a:solidFill>
                <a:latin typeface="宋体" panose="02010600030101010101" pitchFamily="2" charset="-122"/>
                <a:ea typeface="宋体" panose="02010600030101010101" pitchFamily="2" charset="-122"/>
              </a:rPr>
              <a:t>  </a:t>
            </a:r>
            <a:r>
              <a:rPr lang="en-US" altLang="zh-CN" sz="2400" dirty="0" err="1" smtClean="0">
                <a:solidFill>
                  <a:schemeClr val="accent6">
                    <a:lumMod val="75000"/>
                  </a:schemeClr>
                </a:solidFill>
                <a:latin typeface="宋体" panose="02010600030101010101" pitchFamily="2" charset="-122"/>
                <a:ea typeface="宋体" panose="02010600030101010101" pitchFamily="2" charset="-122"/>
              </a:rPr>
              <a:t>queue_proc</a:t>
            </a:r>
            <a:r>
              <a:rPr lang="en-US" altLang="zh-CN" sz="2400" dirty="0" smtClean="0">
                <a:solidFill>
                  <a:schemeClr val="accent6">
                    <a:lumMod val="75000"/>
                  </a:schemeClr>
                </a:solidFill>
                <a:latin typeface="宋体" panose="02010600030101010101" pitchFamily="2" charset="-122"/>
                <a:ea typeface="宋体" panose="02010600030101010101" pitchFamily="2" charset="-122"/>
              </a:rPr>
              <a:t>              *queue;</a:t>
            </a:r>
          </a:p>
          <a:p>
            <a:pPr>
              <a:lnSpc>
                <a:spcPct val="90000"/>
              </a:lnSpc>
              <a:buFont typeface="Monotype Sorts" pitchFamily="2" charset="2"/>
              <a:buNone/>
              <a:defRPr/>
            </a:pPr>
            <a:r>
              <a:rPr lang="en-US" altLang="zh-CN" sz="2400" dirty="0" smtClean="0">
                <a:solidFill>
                  <a:schemeClr val="accent6">
                    <a:lumMod val="75000"/>
                  </a:schemeClr>
                </a:solidFill>
                <a:latin typeface="宋体" panose="02010600030101010101" pitchFamily="2" charset="-122"/>
                <a:ea typeface="宋体" panose="02010600030101010101" pitchFamily="2" charset="-122"/>
              </a:rPr>
              <a:t>  void                    *data;</a:t>
            </a:r>
          </a:p>
          <a:p>
            <a:pPr algn="just">
              <a:lnSpc>
                <a:spcPct val="90000"/>
              </a:lnSpc>
              <a:buFont typeface="Monotype Sorts" pitchFamily="2" charset="2"/>
              <a:buNone/>
              <a:defRPr/>
            </a:pPr>
            <a:r>
              <a:rPr lang="en-US" altLang="zh-CN" sz="2400" dirty="0" smtClean="0">
                <a:solidFill>
                  <a:schemeClr val="accent6">
                    <a:lumMod val="75000"/>
                  </a:schemeClr>
                </a:solidFill>
                <a:latin typeface="宋体" panose="02010600030101010101" pitchFamily="2" charset="-122"/>
                <a:ea typeface="宋体" panose="02010600030101010101" pitchFamily="2" charset="-122"/>
              </a:rPr>
              <a:t>};</a:t>
            </a:r>
          </a:p>
          <a:p>
            <a:pPr>
              <a:lnSpc>
                <a:spcPct val="90000"/>
              </a:lnSpc>
              <a:buFont typeface="Monotype Sorts" pitchFamily="2" charset="2"/>
              <a:buNone/>
              <a:defRPr/>
            </a:pP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struct</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 </a:t>
            </a: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blk_dev_struct</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  </a:t>
            </a: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blk_dev</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[MAX_BLKDEV];</a:t>
            </a:r>
            <a:r>
              <a:rPr lang="en-US" altLang="zh-CN" sz="2400" dirty="0" smtClean="0">
                <a:solidFill>
                  <a:schemeClr val="accent6">
                    <a:lumMod val="75000"/>
                  </a:schemeClr>
                </a:solidFill>
                <a:ea typeface="宋体" panose="02010600030101010101" pitchFamily="2" charset="-122"/>
              </a:rPr>
              <a:t> </a:t>
            </a:r>
          </a:p>
          <a:p>
            <a:pPr>
              <a:lnSpc>
                <a:spcPct val="90000"/>
              </a:lnSpc>
              <a:buFont typeface="Monotype Sorts" pitchFamily="2" charset="2"/>
              <a:buNone/>
              <a:defRPr/>
            </a:pP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blk_dev</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a:t>
            </a:r>
            <a:r>
              <a:rPr lang="zh-CN" altLang="en-US" sz="2400" dirty="0" smtClean="0">
                <a:solidFill>
                  <a:schemeClr val="accent6">
                    <a:lumMod val="75000"/>
                  </a:schemeClr>
                </a:solidFill>
                <a:latin typeface="Times New Roman" panose="02020603050405020304" pitchFamily="18" charset="0"/>
                <a:ea typeface="宋体" panose="02010600030101010101" pitchFamily="2" charset="-122"/>
              </a:rPr>
              <a:t>记录各个设备的请求队列</a:t>
            </a:r>
          </a:p>
          <a:p>
            <a:pPr algn="just">
              <a:lnSpc>
                <a:spcPct val="90000"/>
              </a:lnSpc>
              <a:buFont typeface="Monotype Sorts" pitchFamily="2" charset="2"/>
              <a:buNone/>
              <a:defRPr/>
            </a:pPr>
            <a:r>
              <a:rPr lang="en-US" altLang="zh-CN" sz="2400" dirty="0" err="1" smtClean="0">
                <a:solidFill>
                  <a:schemeClr val="accent6">
                    <a:lumMod val="75000"/>
                  </a:schemeClr>
                </a:solidFill>
                <a:latin typeface="宋体" panose="02010600030101010101" pitchFamily="2" charset="-122"/>
                <a:ea typeface="宋体" panose="02010600030101010101" pitchFamily="2" charset="-122"/>
              </a:rPr>
              <a:t>request_queue</a:t>
            </a:r>
            <a:r>
              <a:rPr lang="en-US" altLang="zh-CN" sz="2400" dirty="0" smtClean="0">
                <a:solidFill>
                  <a:schemeClr val="accent6">
                    <a:lumMod val="75000"/>
                  </a:schemeClr>
                </a:solidFill>
                <a:latin typeface="宋体" panose="02010600030101010101" pitchFamily="2" charset="-122"/>
                <a:ea typeface="宋体" panose="02010600030101010101" pitchFamily="2" charset="-122"/>
              </a:rPr>
              <a:t>:</a:t>
            </a:r>
            <a:r>
              <a:rPr lang="zh-CN" altLang="en-US" sz="2400" dirty="0" smtClean="0">
                <a:solidFill>
                  <a:schemeClr val="accent6">
                    <a:lumMod val="75000"/>
                  </a:schemeClr>
                </a:solidFill>
                <a:latin typeface="宋体" panose="02010600030101010101" pitchFamily="2" charset="-122"/>
                <a:ea typeface="宋体" panose="02010600030101010101" pitchFamily="2" charset="-122"/>
              </a:rPr>
              <a:t>请求队列</a:t>
            </a:r>
          </a:p>
          <a:p>
            <a:pPr algn="just">
              <a:lnSpc>
                <a:spcPct val="90000"/>
              </a:lnSpc>
              <a:buFont typeface="Monotype Sorts" pitchFamily="2" charset="2"/>
              <a:buNone/>
              <a:defRPr/>
            </a:pPr>
            <a:r>
              <a:rPr lang="en-US" altLang="zh-CN" sz="2400" dirty="0" smtClean="0">
                <a:solidFill>
                  <a:schemeClr val="accent6">
                    <a:lumMod val="75000"/>
                  </a:schemeClr>
                </a:solidFill>
                <a:latin typeface="宋体" panose="02010600030101010101" pitchFamily="2" charset="-122"/>
                <a:ea typeface="宋体" panose="02010600030101010101" pitchFamily="2" charset="-122"/>
              </a:rPr>
              <a:t>*queue</a:t>
            </a:r>
            <a:r>
              <a:rPr lang="zh-CN" altLang="en-US" sz="2400" dirty="0" smtClean="0">
                <a:solidFill>
                  <a:schemeClr val="accent6">
                    <a:lumMod val="75000"/>
                  </a:schemeClr>
                </a:solidFill>
                <a:latin typeface="宋体" panose="02010600030101010101" pitchFamily="2" charset="-122"/>
                <a:ea typeface="宋体" panose="02010600030101010101" pitchFamily="2" charset="-122"/>
              </a:rPr>
              <a:t>：函数指针，当这个指针非</a:t>
            </a:r>
            <a:r>
              <a:rPr lang="en-US" altLang="zh-CN" sz="2400" dirty="0" smtClean="0">
                <a:solidFill>
                  <a:schemeClr val="accent6">
                    <a:lumMod val="75000"/>
                  </a:schemeClr>
                </a:solidFill>
                <a:latin typeface="宋体" panose="02010600030101010101" pitchFamily="2" charset="-122"/>
                <a:ea typeface="宋体" panose="02010600030101010101" pitchFamily="2" charset="-122"/>
              </a:rPr>
              <a:t>0</a:t>
            </a:r>
            <a:r>
              <a:rPr lang="zh-CN" altLang="en-US" sz="2400" dirty="0" smtClean="0">
                <a:solidFill>
                  <a:schemeClr val="accent6">
                    <a:lumMod val="75000"/>
                  </a:schemeClr>
                </a:solidFill>
                <a:latin typeface="宋体" panose="02010600030101010101" pitchFamily="2" charset="-122"/>
                <a:ea typeface="宋体" panose="02010600030101010101" pitchFamily="2" charset="-122"/>
              </a:rPr>
              <a:t>时，就调用这个函数来找到具体设备的请求队列。</a:t>
            </a:r>
          </a:p>
          <a:p>
            <a:pPr>
              <a:lnSpc>
                <a:spcPct val="90000"/>
              </a:lnSpc>
              <a:buFont typeface="Monotype Sorts" pitchFamily="2" charset="2"/>
              <a:buNone/>
              <a:defRPr/>
            </a:pPr>
            <a:r>
              <a:rPr lang="en-US" altLang="zh-CN" sz="2400" dirty="0" smtClean="0">
                <a:solidFill>
                  <a:schemeClr val="accent6">
                    <a:lumMod val="75000"/>
                  </a:schemeClr>
                </a:solidFill>
                <a:latin typeface="宋体" panose="02010600030101010101" pitchFamily="2" charset="-122"/>
                <a:ea typeface="宋体" panose="02010600030101010101" pitchFamily="2" charset="-122"/>
              </a:rPr>
              <a:t>*data</a:t>
            </a:r>
            <a:r>
              <a:rPr lang="zh-CN" altLang="en-US" sz="2400" dirty="0" smtClean="0">
                <a:solidFill>
                  <a:schemeClr val="accent6">
                    <a:lumMod val="75000"/>
                  </a:schemeClr>
                </a:solidFill>
                <a:latin typeface="宋体" panose="02010600030101010101" pitchFamily="2" charset="-122"/>
                <a:ea typeface="宋体" panose="02010600030101010101" pitchFamily="2" charset="-122"/>
              </a:rPr>
              <a:t>：辅助</a:t>
            </a:r>
            <a:r>
              <a:rPr lang="en-US" altLang="zh-CN" sz="2400" dirty="0" smtClean="0">
                <a:solidFill>
                  <a:schemeClr val="accent6">
                    <a:lumMod val="75000"/>
                  </a:schemeClr>
                </a:solidFill>
                <a:latin typeface="宋体" panose="02010600030101010101" pitchFamily="2" charset="-122"/>
                <a:ea typeface="宋体" panose="02010600030101010101" pitchFamily="2" charset="-122"/>
              </a:rPr>
              <a:t>queue</a:t>
            </a:r>
            <a:r>
              <a:rPr lang="zh-CN" altLang="en-US" sz="2400" dirty="0" smtClean="0">
                <a:solidFill>
                  <a:schemeClr val="accent6">
                    <a:lumMod val="75000"/>
                  </a:schemeClr>
                </a:solidFill>
                <a:latin typeface="宋体" panose="02010600030101010101" pitchFamily="2" charset="-122"/>
                <a:ea typeface="宋体" panose="02010600030101010101" pitchFamily="2" charset="-122"/>
              </a:rPr>
              <a:t>函数找到特定设备的请求队列</a:t>
            </a:r>
          </a:p>
        </p:txBody>
      </p:sp>
      <p:sp>
        <p:nvSpPr>
          <p:cNvPr id="16387" name="Rectangle 3"/>
          <p:cNvSpPr>
            <a:spLocks noChangeArrowheads="1"/>
          </p:cNvSpPr>
          <p:nvPr/>
        </p:nvSpPr>
        <p:spPr bwMode="auto">
          <a:xfrm>
            <a:off x="546100" y="8255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3200">
                <a:solidFill>
                  <a:schemeClr val="tx2"/>
                </a:solidFill>
                <a:latin typeface="Times New Roman" panose="02020603050405020304" pitchFamily="18" charset="0"/>
                <a:cs typeface="Times New Roman" panose="02020603050405020304" pitchFamily="18" charset="0"/>
              </a:rPr>
              <a:t>8.5 Linux</a:t>
            </a:r>
            <a:r>
              <a:rPr kumimoji="1" lang="zh-CN" altLang="en-US" sz="3200">
                <a:solidFill>
                  <a:schemeClr val="tx2"/>
                </a:solidFill>
                <a:latin typeface="Times New Roman" panose="02020603050405020304" pitchFamily="18" charset="0"/>
                <a:cs typeface="Times New Roman" panose="02020603050405020304" pitchFamily="18" charset="0"/>
              </a:rPr>
              <a:t>设备请求</a:t>
            </a:r>
          </a:p>
        </p:txBody>
      </p:sp>
    </p:spTree>
    <p:extLst>
      <p:ext uri="{BB962C8B-B14F-4D97-AF65-F5344CB8AC3E}">
        <p14:creationId xmlns:p14="http://schemas.microsoft.com/office/powerpoint/2010/main" val="759908546"/>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body" idx="1"/>
          </p:nvPr>
        </p:nvSpPr>
        <p:spPr>
          <a:xfrm>
            <a:off x="366713" y="809625"/>
            <a:ext cx="8016875" cy="5672138"/>
          </a:xfrm>
        </p:spPr>
        <p:txBody>
          <a:bodyPr/>
          <a:lstStyle/>
          <a:p>
            <a:pPr>
              <a:lnSpc>
                <a:spcPct val="125000"/>
              </a:lnSpc>
              <a:buFont typeface="Arial" panose="020B0604020202020204" pitchFamily="34" charset="0"/>
              <a:buChar char="•"/>
              <a:defRPr/>
            </a:pPr>
            <a:r>
              <a:rPr lang="zh-CN" altLang="en-US" sz="2400" dirty="0" smtClean="0">
                <a:latin typeface="Times New Roman" panose="02020603050405020304" pitchFamily="18" charset="0"/>
                <a:ea typeface="宋体" panose="02010600030101010101" pitchFamily="2" charset="-122"/>
              </a:rPr>
              <a:t>在</a:t>
            </a:r>
            <a:r>
              <a:rPr lang="en-US" altLang="zh-CN" sz="2400" dirty="0" err="1" smtClean="0">
                <a:latin typeface="Times New Roman" panose="02020603050405020304" pitchFamily="18" charset="0"/>
                <a:ea typeface="宋体" panose="02010600030101010101" pitchFamily="2" charset="-122"/>
              </a:rPr>
              <a:t>blk_dev_struct</a:t>
            </a:r>
            <a:r>
              <a:rPr lang="zh-CN" altLang="en-US" sz="2400" dirty="0" smtClean="0">
                <a:latin typeface="Times New Roman" panose="02020603050405020304" pitchFamily="18" charset="0"/>
                <a:ea typeface="宋体" panose="02010600030101010101" pitchFamily="2" charset="-122"/>
              </a:rPr>
              <a:t>中有三个域，驱动程序主要是设置第一个域</a:t>
            </a:r>
            <a:r>
              <a:rPr lang="en-US" altLang="zh-CN" sz="2400" dirty="0" err="1" smtClean="0">
                <a:latin typeface="Times New Roman" panose="02020603050405020304" pitchFamily="18" charset="0"/>
                <a:ea typeface="宋体" panose="02010600030101010101" pitchFamily="2" charset="-122"/>
              </a:rPr>
              <a:t>request_queue</a:t>
            </a:r>
            <a:r>
              <a:rPr lang="zh-CN" altLang="en-US" sz="2400" dirty="0" smtClean="0">
                <a:latin typeface="Times New Roman" panose="02020603050405020304" pitchFamily="18" charset="0"/>
                <a:ea typeface="宋体" panose="02010600030101010101" pitchFamily="2" charset="-122"/>
              </a:rPr>
              <a:t>中的</a:t>
            </a:r>
            <a:r>
              <a:rPr lang="en-US" altLang="zh-CN" sz="2400" dirty="0" err="1" smtClean="0">
                <a:latin typeface="Times New Roman" panose="02020603050405020304" pitchFamily="18" charset="0"/>
                <a:ea typeface="宋体" panose="02010600030101010101" pitchFamily="2" charset="-122"/>
              </a:rPr>
              <a:t>request_fn</a:t>
            </a:r>
            <a:r>
              <a:rPr lang="zh-CN" altLang="en-US" sz="2400" dirty="0" smtClean="0">
                <a:latin typeface="Times New Roman" panose="02020603050405020304" pitchFamily="18" charset="0"/>
                <a:ea typeface="宋体" panose="02010600030101010101" pitchFamily="2" charset="-122"/>
              </a:rPr>
              <a:t>参数，该参数是指向相应块设备的</a:t>
            </a:r>
            <a:r>
              <a:rPr lang="en-US" altLang="zh-CN" sz="2400" dirty="0" smtClean="0">
                <a:latin typeface="Times New Roman" panose="02020603050405020304" pitchFamily="18" charset="0"/>
                <a:ea typeface="宋体" panose="02010600030101010101" pitchFamily="2" charset="-122"/>
              </a:rPr>
              <a:t>I/O</a:t>
            </a:r>
            <a:r>
              <a:rPr lang="zh-CN" altLang="en-US" sz="2400" dirty="0" smtClean="0">
                <a:latin typeface="Times New Roman" panose="02020603050405020304" pitchFamily="18" charset="0"/>
                <a:ea typeface="宋体" panose="02010600030101010101" pitchFamily="2" charset="-122"/>
              </a:rPr>
              <a:t>操作请求函数的指针。</a:t>
            </a:r>
          </a:p>
          <a:p>
            <a:pPr>
              <a:lnSpc>
                <a:spcPct val="125000"/>
              </a:lnSpc>
              <a:buFont typeface="Arial" panose="020B0604020202020204" pitchFamily="34" charset="0"/>
              <a:buChar char="•"/>
              <a:defRPr/>
            </a:pPr>
            <a:r>
              <a:rPr lang="zh-CN" altLang="en-US" sz="2400" dirty="0" smtClean="0">
                <a:latin typeface="Times New Roman" panose="02020603050405020304" pitchFamily="18" charset="0"/>
                <a:ea typeface="宋体" panose="02010600030101010101" pitchFamily="2" charset="-122"/>
              </a:rPr>
              <a:t>当</a:t>
            </a:r>
            <a:r>
              <a:rPr lang="en-US" altLang="zh-CN" sz="2400" dirty="0" err="1" smtClean="0">
                <a:latin typeface="Times New Roman" panose="02020603050405020304" pitchFamily="18" charset="0"/>
                <a:ea typeface="宋体" panose="02010600030101010101" pitchFamily="2" charset="-122"/>
              </a:rPr>
              <a:t>block_read</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和</a:t>
            </a:r>
            <a:r>
              <a:rPr lang="en-US" altLang="zh-CN" sz="2400" dirty="0" err="1" smtClean="0">
                <a:latin typeface="Times New Roman" panose="02020603050405020304" pitchFamily="18" charset="0"/>
                <a:ea typeface="宋体" panose="02010600030101010101" pitchFamily="2" charset="-122"/>
              </a:rPr>
              <a:t>block_write</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不能满足</a:t>
            </a:r>
            <a:r>
              <a:rPr lang="en-US" altLang="zh-CN" sz="2400" dirty="0" smtClean="0">
                <a:latin typeface="Times New Roman" panose="02020603050405020304" pitchFamily="18" charset="0"/>
                <a:ea typeface="宋体" panose="02010600030101010101" pitchFamily="2" charset="-122"/>
              </a:rPr>
              <a:t>I/O</a:t>
            </a:r>
            <a:r>
              <a:rPr lang="zh-CN" altLang="en-US" sz="2400" dirty="0" smtClean="0">
                <a:latin typeface="Times New Roman" panose="02020603050405020304" pitchFamily="18" charset="0"/>
                <a:ea typeface="宋体" panose="02010600030101010101" pitchFamily="2" charset="-122"/>
              </a:rPr>
              <a:t>操作请求时，内核便调用该设备驱动程序的请求函数</a:t>
            </a:r>
            <a:r>
              <a:rPr lang="en-US" altLang="zh-CN" sz="2400" dirty="0" smtClean="0">
                <a:latin typeface="Times New Roman" panose="02020603050405020304" pitchFamily="18" charset="0"/>
                <a:ea typeface="宋体" panose="02010600030101010101" pitchFamily="2" charset="-122"/>
              </a:rPr>
              <a:t>request。</a:t>
            </a:r>
            <a:r>
              <a:rPr lang="zh-CN" altLang="en-US" sz="2400" dirty="0" smtClean="0">
                <a:latin typeface="Times New Roman" panose="02020603050405020304" pitchFamily="18" charset="0"/>
                <a:ea typeface="宋体" panose="02010600030101010101" pitchFamily="2" charset="-122"/>
              </a:rPr>
              <a:t>它可以通过</a:t>
            </a:r>
            <a:r>
              <a:rPr lang="en-US" altLang="zh-CN" sz="2400" dirty="0" err="1" smtClean="0">
                <a:latin typeface="Times New Roman" panose="02020603050405020304" pitchFamily="18" charset="0"/>
                <a:ea typeface="宋体" panose="02010600030101010101" pitchFamily="2" charset="-122"/>
              </a:rPr>
              <a:t>blk_dev</a:t>
            </a:r>
            <a:r>
              <a:rPr lang="en-US" altLang="zh-CN" sz="2400" dirty="0" smtClean="0">
                <a:latin typeface="Times New Roman" panose="02020603050405020304" pitchFamily="18" charset="0"/>
                <a:ea typeface="宋体" panose="02010600030101010101" pitchFamily="2" charset="-122"/>
              </a:rPr>
              <a:t>[MAJOR(dev)].</a:t>
            </a:r>
            <a:r>
              <a:rPr lang="en-US" altLang="zh-CN" sz="2400" dirty="0" err="1" smtClean="0">
                <a:latin typeface="Times New Roman" panose="02020603050405020304" pitchFamily="18" charset="0"/>
                <a:ea typeface="宋体" panose="02010600030101010101" pitchFamily="2" charset="-122"/>
              </a:rPr>
              <a:t>request_queue.request_fn</a:t>
            </a:r>
            <a:r>
              <a:rPr lang="zh-CN" altLang="en-US" sz="2400" dirty="0" smtClean="0">
                <a:latin typeface="Times New Roman" panose="02020603050405020304" pitchFamily="18" charset="0"/>
                <a:ea typeface="宋体" panose="02010600030101010101" pitchFamily="2" charset="-122"/>
              </a:rPr>
              <a:t>获得。每个具体设备的请求函数都不同，它们在内核在初始化时被赋值。</a:t>
            </a:r>
            <a:endParaRPr lang="en-US" altLang="zh-CN" sz="3200" dirty="0" smtClean="0">
              <a:latin typeface="Times New Roman" panose="02020603050405020304" pitchFamily="18" charset="0"/>
              <a:ea typeface="宋体" panose="02010600030101010101" pitchFamily="2" charset="-122"/>
            </a:endParaRPr>
          </a:p>
          <a:p>
            <a:pPr marL="400050" lvl="1" indent="0">
              <a:lnSpc>
                <a:spcPct val="80000"/>
              </a:lnSpc>
              <a:buFont typeface="Wingdings" panose="05000000000000000000" pitchFamily="2" charset="2"/>
              <a:buNone/>
              <a:defRPr/>
            </a:pP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struct</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  </a:t>
            </a: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hlinkClick r:id="rId2" action="ppaction://hlinkfile"/>
              </a:rPr>
              <a:t>request_queue</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hlinkClick r:id="rId2" action="ppaction://hlinkfile"/>
              </a:rPr>
              <a:t> </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 //include/</a:t>
            </a: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linux</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a:t>
            </a: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blkdev.h</a:t>
            </a:r>
            <a:endParaRPr lang="en-US" altLang="zh-CN" sz="2400" dirty="0" smtClean="0">
              <a:solidFill>
                <a:schemeClr val="accent6">
                  <a:lumMod val="75000"/>
                </a:schemeClr>
              </a:solidFill>
              <a:latin typeface="Times New Roman" panose="02020603050405020304" pitchFamily="18" charset="0"/>
              <a:ea typeface="宋体" panose="02010600030101010101" pitchFamily="2" charset="-122"/>
            </a:endParaRPr>
          </a:p>
          <a:p>
            <a:pPr marL="400050" lvl="1" indent="0">
              <a:lnSpc>
                <a:spcPct val="80000"/>
              </a:lnSpc>
              <a:buFont typeface="Wingdings" panose="05000000000000000000" pitchFamily="2" charset="2"/>
              <a:buNone/>
              <a:defRPr/>
            </a:pP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a:t>
            </a:r>
          </a:p>
          <a:p>
            <a:pPr marL="400050" lvl="1" indent="0">
              <a:lnSpc>
                <a:spcPct val="80000"/>
              </a:lnSpc>
              <a:buFont typeface="Wingdings" panose="05000000000000000000" pitchFamily="2" charset="2"/>
              <a:buNone/>
              <a:defRPr/>
            </a:pP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request_fn_proc</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     *</a:t>
            </a:r>
            <a:r>
              <a:rPr lang="en-US" altLang="zh-CN" sz="2400" dirty="0" err="1" smtClean="0">
                <a:solidFill>
                  <a:schemeClr val="accent6">
                    <a:lumMod val="75000"/>
                  </a:schemeClr>
                </a:solidFill>
                <a:latin typeface="Times New Roman" panose="02020603050405020304" pitchFamily="18" charset="0"/>
                <a:ea typeface="宋体" panose="02010600030101010101" pitchFamily="2" charset="-122"/>
              </a:rPr>
              <a:t>request_fn</a:t>
            </a: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a:t>
            </a:r>
          </a:p>
          <a:p>
            <a:pPr marL="400050" lvl="1" indent="0">
              <a:lnSpc>
                <a:spcPct val="80000"/>
              </a:lnSpc>
              <a:buFont typeface="Wingdings" panose="05000000000000000000" pitchFamily="2" charset="2"/>
              <a:buNone/>
              <a:defRPr/>
            </a:pP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a:t>
            </a:r>
          </a:p>
          <a:p>
            <a:pPr marL="400050" lvl="1" indent="0">
              <a:lnSpc>
                <a:spcPct val="80000"/>
              </a:lnSpc>
              <a:buFont typeface="Wingdings" panose="05000000000000000000" pitchFamily="2" charset="2"/>
              <a:buNone/>
              <a:defRPr/>
            </a:pPr>
            <a:r>
              <a:rPr lang="en-US" altLang="zh-CN" sz="2400" dirty="0" smtClean="0">
                <a:solidFill>
                  <a:schemeClr val="accent6">
                    <a:lumMod val="75000"/>
                  </a:schemeClr>
                </a:solidFill>
                <a:latin typeface="Times New Roman" panose="02020603050405020304" pitchFamily="18" charset="0"/>
                <a:ea typeface="宋体" panose="02010600030101010101" pitchFamily="2" charset="-122"/>
              </a:rPr>
              <a:t>}</a:t>
            </a:r>
          </a:p>
        </p:txBody>
      </p:sp>
      <p:sp>
        <p:nvSpPr>
          <p:cNvPr id="18435" name="Rectangle 3"/>
          <p:cNvSpPr>
            <a:spLocks noChangeArrowheads="1"/>
          </p:cNvSpPr>
          <p:nvPr/>
        </p:nvSpPr>
        <p:spPr bwMode="auto">
          <a:xfrm>
            <a:off x="611188"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3200">
                <a:solidFill>
                  <a:schemeClr val="tx2"/>
                </a:solidFill>
                <a:latin typeface="Times New Roman" panose="02020603050405020304" pitchFamily="18" charset="0"/>
                <a:cs typeface="Times New Roman" panose="02020603050405020304" pitchFamily="18" charset="0"/>
              </a:rPr>
              <a:t>8.5 Linux</a:t>
            </a:r>
            <a:r>
              <a:rPr kumimoji="1" lang="zh-CN" altLang="en-US" sz="3200">
                <a:solidFill>
                  <a:schemeClr val="tx2"/>
                </a:solidFill>
                <a:latin typeface="Times New Roman" panose="02020603050405020304" pitchFamily="18" charset="0"/>
                <a:cs typeface="Times New Roman" panose="02020603050405020304" pitchFamily="18" charset="0"/>
              </a:rPr>
              <a:t>设备请求</a:t>
            </a:r>
          </a:p>
        </p:txBody>
      </p:sp>
    </p:spTree>
    <p:extLst>
      <p:ext uri="{BB962C8B-B14F-4D97-AF65-F5344CB8AC3E}">
        <p14:creationId xmlns:p14="http://schemas.microsoft.com/office/powerpoint/2010/main" val="31069007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2057400" y="5334000"/>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eaLnBrk="1" hangingPunct="1">
              <a:lnSpc>
                <a:spcPct val="100000"/>
              </a:lnSpc>
              <a:spcBef>
                <a:spcPct val="50000"/>
              </a:spcBef>
              <a:buClrTx/>
              <a:buSzTx/>
              <a:buFontTx/>
              <a:buNone/>
              <a:defRPr/>
            </a:pPr>
            <a:r>
              <a:rPr lang="zh-CN" altLang="en-US" sz="2400" dirty="0">
                <a:solidFill>
                  <a:schemeClr val="tx1"/>
                </a:solidFill>
                <a:latin typeface="Times New Roman" panose="02020603050405020304" pitchFamily="18" charset="0"/>
              </a:rPr>
              <a:t>  </a:t>
            </a:r>
            <a:r>
              <a:rPr lang="zh-CN" altLang="en-US" sz="2400" dirty="0">
                <a:solidFill>
                  <a:schemeClr val="accent6">
                    <a:lumMod val="75000"/>
                  </a:schemeClr>
                </a:solidFill>
                <a:latin typeface="Times New Roman" panose="02020603050405020304" pitchFamily="18" charset="0"/>
              </a:rPr>
              <a:t>块设备驱动程序数据结构示意图 </a:t>
            </a:r>
          </a:p>
        </p:txBody>
      </p:sp>
      <p:graphicFrame>
        <p:nvGraphicFramePr>
          <p:cNvPr id="19459" name="Object 3"/>
          <p:cNvGraphicFramePr>
            <a:graphicFrameLocks noChangeAspect="1"/>
          </p:cNvGraphicFramePr>
          <p:nvPr/>
        </p:nvGraphicFramePr>
        <p:xfrm>
          <a:off x="228600" y="1524000"/>
          <a:ext cx="8610600" cy="3111500"/>
        </p:xfrm>
        <a:graphic>
          <a:graphicData uri="http://schemas.openxmlformats.org/presentationml/2006/ole">
            <mc:AlternateContent xmlns:mc="http://schemas.openxmlformats.org/markup-compatibility/2006">
              <mc:Choice xmlns:v="urn:schemas-microsoft-com:vml" Requires="v">
                <p:oleObj spid="_x0000_s2050" name="VISIO" r:id="rId4" imgW="4564874" imgH="1649146" progId="Visio.Drawing.4">
                  <p:embed/>
                </p:oleObj>
              </mc:Choice>
              <mc:Fallback>
                <p:oleObj name="VISIO" r:id="rId4" imgW="4564874" imgH="1649146" progId="Visio.Drawing.4">
                  <p:embed/>
                  <p:pic>
                    <p:nvPicPr>
                      <p:cNvPr id="1945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1524000"/>
                        <a:ext cx="8610600"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0" name="Rectangle 3"/>
          <p:cNvSpPr>
            <a:spLocks noChangeArrowheads="1"/>
          </p:cNvSpPr>
          <p:nvPr/>
        </p:nvSpPr>
        <p:spPr bwMode="auto">
          <a:xfrm>
            <a:off x="647700"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3200">
                <a:solidFill>
                  <a:schemeClr val="tx2"/>
                </a:solidFill>
                <a:latin typeface="Times New Roman" panose="02020603050405020304" pitchFamily="18" charset="0"/>
                <a:cs typeface="Times New Roman" panose="02020603050405020304" pitchFamily="18" charset="0"/>
              </a:rPr>
              <a:t>8.5 Linux</a:t>
            </a:r>
            <a:r>
              <a:rPr kumimoji="1" lang="zh-CN" altLang="en-US" sz="3200">
                <a:solidFill>
                  <a:schemeClr val="tx2"/>
                </a:solidFill>
                <a:latin typeface="Times New Roman" panose="02020603050405020304" pitchFamily="18" charset="0"/>
                <a:cs typeface="Times New Roman" panose="02020603050405020304" pitchFamily="18" charset="0"/>
              </a:rPr>
              <a:t>设备请求</a:t>
            </a:r>
          </a:p>
        </p:txBody>
      </p:sp>
    </p:spTree>
    <p:extLst>
      <p:ext uri="{BB962C8B-B14F-4D97-AF65-F5344CB8AC3E}">
        <p14:creationId xmlns:p14="http://schemas.microsoft.com/office/powerpoint/2010/main" val="3157625913"/>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468313"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867" name="Rectangle 3"/>
          <p:cNvSpPr>
            <a:spLocks noChangeArrowheads="1"/>
          </p:cNvSpPr>
          <p:nvPr/>
        </p:nvSpPr>
        <p:spPr bwMode="auto">
          <a:xfrm>
            <a:off x="596900" y="1065213"/>
            <a:ext cx="7935913" cy="510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ct val="20000"/>
              </a:spcBef>
              <a:buClr>
                <a:schemeClr val="folHlink"/>
              </a:buClr>
              <a:buSzPct val="90000"/>
              <a:buFont typeface="Monotype Sorts" pitchFamily="2" charset="2"/>
              <a:buChar char="n"/>
              <a:defRPr kumimoji="1" sz="2000">
                <a:solidFill>
                  <a:srgbClr val="000000"/>
                </a:solidFill>
                <a:latin typeface="Helvetica" panose="020B0604020202020204" pitchFamily="34" charset="0"/>
              </a:defRPr>
            </a:lvl1pPr>
            <a:lvl2pPr marL="742950" indent="-285750">
              <a:lnSpc>
                <a:spcPct val="120000"/>
              </a:lnSpc>
              <a:spcBef>
                <a:spcPct val="20000"/>
              </a:spcBef>
              <a:buClr>
                <a:schemeClr val="accent2"/>
              </a:buClr>
              <a:buSzPct val="90000"/>
              <a:buFont typeface="Monotype Sorts" pitchFamily="2" charset="2"/>
              <a:buChar char="F"/>
              <a:defRPr kumimoji="1" sz="2800">
                <a:solidFill>
                  <a:srgbClr val="000000"/>
                </a:solidFill>
                <a:latin typeface="Helvetica" panose="020B0604020202020204" pitchFamily="34" charset="0"/>
              </a:defRPr>
            </a:lvl2pPr>
            <a:lvl3pPr marL="1143000" indent="-228600">
              <a:lnSpc>
                <a:spcPct val="120000"/>
              </a:lnSpc>
              <a:spcBef>
                <a:spcPct val="20000"/>
              </a:spcBef>
              <a:buClr>
                <a:srgbClr val="33CC33"/>
              </a:buClr>
              <a:buSzPct val="90000"/>
              <a:buFont typeface="Monotype Sorts" pitchFamily="2" charset="2"/>
              <a:buChar char="4"/>
              <a:defRPr kumimoji="1" sz="2400">
                <a:solidFill>
                  <a:srgbClr val="000000"/>
                </a:solidFill>
                <a:latin typeface="Helvetica" panose="020B0604020202020204" pitchFamily="34" charset="0"/>
              </a:defRPr>
            </a:lvl3pPr>
            <a:lvl4pPr marL="1600200" indent="-228600">
              <a:lnSpc>
                <a:spcPct val="120000"/>
              </a:lnSpc>
              <a:spcBef>
                <a:spcPct val="20000"/>
              </a:spcBef>
              <a:buClr>
                <a:schemeClr val="hlink"/>
              </a:buClr>
              <a:buChar char="–"/>
              <a:defRPr kumimoji="1" sz="2000">
                <a:solidFill>
                  <a:srgbClr val="000000"/>
                </a:solidFill>
                <a:latin typeface="Helvetica" panose="020B0604020202020204" pitchFamily="34" charset="0"/>
              </a:defRPr>
            </a:lvl4pPr>
            <a:lvl5pPr marL="2057400" indent="-228600">
              <a:lnSpc>
                <a:spcPct val="120000"/>
              </a:lnSpc>
              <a:spcBef>
                <a:spcPct val="20000"/>
              </a:spcBef>
              <a:buChar char="»"/>
              <a:defRPr kumimoji="1" sz="2000">
                <a:solidFill>
                  <a:srgbClr val="000000"/>
                </a:solidFill>
                <a:latin typeface="Helvetica" panose="020B0604020202020204" pitchFamily="34" charset="0"/>
              </a:defRPr>
            </a:lvl5pPr>
            <a:lvl6pPr marL="25146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6pPr>
            <a:lvl7pPr marL="29718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7pPr>
            <a:lvl8pPr marL="34290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8pPr>
            <a:lvl9pPr marL="3886200" indent="-228600" eaLnBrk="0" fontAlgn="base" hangingPunct="0">
              <a:lnSpc>
                <a:spcPct val="120000"/>
              </a:lnSpc>
              <a:spcBef>
                <a:spcPct val="20000"/>
              </a:spcBef>
              <a:spcAft>
                <a:spcPct val="0"/>
              </a:spcAft>
              <a:buChar char="»"/>
              <a:defRPr kumimoji="1" sz="2000">
                <a:solidFill>
                  <a:srgbClr val="000000"/>
                </a:solidFill>
                <a:latin typeface="Helvetica" panose="020B0604020202020204" pitchFamily="34" charset="0"/>
              </a:defRPr>
            </a:lvl9pPr>
          </a:lstStyle>
          <a:p>
            <a:pPr eaLnBrk="1" hangingPunct="1">
              <a:lnSpc>
                <a:spcPct val="110000"/>
              </a:lnSpc>
              <a:buClr>
                <a:schemeClr val="hlink"/>
              </a:buClr>
              <a:buSzPct val="60000"/>
              <a:buFont typeface="Wingdings" panose="05000000000000000000" pitchFamily="2" charset="2"/>
              <a:buChar char="n"/>
              <a:defRPr/>
            </a:pPr>
            <a:r>
              <a:rPr lang="en-US" altLang="zh-CN" sz="2800" b="1" dirty="0" smtClean="0">
                <a:solidFill>
                  <a:schemeClr val="accent6">
                    <a:lumMod val="75000"/>
                  </a:schemeClr>
                </a:solidFill>
                <a:latin typeface="Times New Roman" panose="02020603050405020304" pitchFamily="18" charset="0"/>
                <a:cs typeface="Times New Roman" panose="02020603050405020304" pitchFamily="18" charset="0"/>
              </a:rPr>
              <a:t>Linux</a:t>
            </a:r>
            <a:r>
              <a:rPr lang="zh-CN" altLang="en-US" sz="2800" b="1" dirty="0">
                <a:solidFill>
                  <a:schemeClr val="accent6">
                    <a:lumMod val="75000"/>
                  </a:schemeClr>
                </a:solidFill>
                <a:latin typeface="Times New Roman" panose="02020603050405020304" pitchFamily="18" charset="0"/>
                <a:cs typeface="Times New Roman" panose="02020603050405020304" pitchFamily="18" charset="0"/>
              </a:rPr>
              <a:t>系统使用可动态加载和卸载的内核模块(</a:t>
            </a:r>
            <a:r>
              <a:rPr lang="en-US" altLang="zh-CN" sz="2800" b="1" dirty="0">
                <a:solidFill>
                  <a:schemeClr val="accent6">
                    <a:lumMod val="75000"/>
                  </a:schemeClr>
                </a:solidFill>
                <a:latin typeface="Times New Roman" panose="02020603050405020304" pitchFamily="18" charset="0"/>
                <a:cs typeface="Times New Roman" panose="02020603050405020304" pitchFamily="18" charset="0"/>
              </a:rPr>
              <a:t>Loadable Kernel </a:t>
            </a:r>
            <a:r>
              <a:rPr lang="en-US" altLang="zh-CN" sz="2800" b="1" dirty="0" err="1">
                <a:solidFill>
                  <a:schemeClr val="accent6">
                    <a:lumMod val="75000"/>
                  </a:schemeClr>
                </a:solidFill>
                <a:latin typeface="Times New Roman" panose="02020603050405020304" pitchFamily="18" charset="0"/>
                <a:cs typeface="Times New Roman" panose="02020603050405020304" pitchFamily="18" charset="0"/>
              </a:rPr>
              <a:t>Modules，LKMs</a:t>
            </a:r>
            <a:r>
              <a:rPr lang="en-US" altLang="zh-CN" sz="2800" b="1" dirty="0">
                <a:solidFill>
                  <a:schemeClr val="accent6">
                    <a:lumMod val="75000"/>
                  </a:schemeClr>
                </a:solidFill>
                <a:latin typeface="Times New Roman" panose="02020603050405020304" pitchFamily="18" charset="0"/>
                <a:cs typeface="Times New Roman" panose="02020603050405020304" pitchFamily="18" charset="0"/>
              </a:rPr>
              <a:t>)，</a:t>
            </a:r>
            <a:r>
              <a:rPr lang="zh-CN" altLang="en-US" sz="2800" b="1" dirty="0">
                <a:solidFill>
                  <a:schemeClr val="accent6">
                    <a:lumMod val="75000"/>
                  </a:schemeClr>
                </a:solidFill>
                <a:latin typeface="Times New Roman" panose="02020603050405020304" pitchFamily="18" charset="0"/>
                <a:cs typeface="Times New Roman" panose="02020603050405020304" pitchFamily="18" charset="0"/>
              </a:rPr>
              <a:t>可方便地在内核中添加新的组件或卸载不再需要的内核组件,提高了</a:t>
            </a:r>
            <a:r>
              <a:rPr lang="en-US" altLang="zh-CN" sz="2800" b="1" dirty="0" err="1">
                <a:solidFill>
                  <a:schemeClr val="accent6">
                    <a:lumMod val="75000"/>
                  </a:schemeClr>
                </a:solidFill>
                <a:latin typeface="Times New Roman" panose="02020603050405020304" pitchFamily="18" charset="0"/>
                <a:cs typeface="Times New Roman" panose="02020603050405020304" pitchFamily="18" charset="0"/>
              </a:rPr>
              <a:t>linux</a:t>
            </a:r>
            <a:r>
              <a:rPr lang="zh-CN" altLang="en-US" sz="2800" b="1" dirty="0">
                <a:solidFill>
                  <a:schemeClr val="accent6">
                    <a:lumMod val="75000"/>
                  </a:schemeClr>
                </a:solidFill>
                <a:latin typeface="Times New Roman" panose="02020603050405020304" pitchFamily="18" charset="0"/>
                <a:cs typeface="Times New Roman" panose="02020603050405020304" pitchFamily="18" charset="0"/>
              </a:rPr>
              <a:t>内核的可扩展性，可以让内核保持很小的尺寸并非常灵活。</a:t>
            </a:r>
          </a:p>
          <a:p>
            <a:pPr eaLnBrk="1" hangingPunct="1">
              <a:lnSpc>
                <a:spcPct val="110000"/>
              </a:lnSpc>
              <a:buClr>
                <a:schemeClr val="hlink"/>
              </a:buClr>
              <a:buSzPct val="60000"/>
              <a:buFont typeface="Wingdings" panose="05000000000000000000" pitchFamily="2" charset="2"/>
              <a:buChar char="n"/>
              <a:defRPr/>
            </a:pPr>
            <a:r>
              <a:rPr lang="zh-CN" altLang="en-US" sz="2800" b="1" dirty="0">
                <a:solidFill>
                  <a:schemeClr val="accent6">
                    <a:lumMod val="75000"/>
                  </a:schemeClr>
                </a:solidFill>
                <a:latin typeface="Times New Roman" panose="02020603050405020304" pitchFamily="18" charset="0"/>
                <a:cs typeface="Times New Roman" panose="02020603050405020304" pitchFamily="18" charset="0"/>
              </a:rPr>
              <a:t>模块机制可以无需重构内核并频繁重新启动来尝试运行新内核代码。用户可以根据自己系统的需要构筑自己的私有内核。</a:t>
            </a:r>
          </a:p>
        </p:txBody>
      </p:sp>
    </p:spTree>
    <p:extLst>
      <p:ext uri="{BB962C8B-B14F-4D97-AF65-F5344CB8AC3E}">
        <p14:creationId xmlns:p14="http://schemas.microsoft.com/office/powerpoint/2010/main" val="28658658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48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48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a:xfrm>
            <a:off x="687388" y="1252538"/>
            <a:ext cx="7769225" cy="5008562"/>
          </a:xfrm>
        </p:spPr>
        <p:txBody>
          <a:bodyPr/>
          <a:lstStyle/>
          <a:p>
            <a:pPr>
              <a:buFontTx/>
              <a:buChar char="•"/>
            </a:pPr>
            <a:r>
              <a:rPr lang="zh-CN" altLang="en-US" smtClean="0">
                <a:latin typeface="Times New Roman" panose="02020603050405020304" pitchFamily="18" charset="0"/>
                <a:ea typeface="宋体" panose="02010600030101010101" pitchFamily="2" charset="-122"/>
                <a:cs typeface="Times New Roman" panose="02020603050405020304" pitchFamily="18" charset="0"/>
              </a:rPr>
              <a:t>模块的全称是</a:t>
            </a:r>
            <a:r>
              <a:rPr lang="zh-CN" altLang="en-US"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“动态可加载内核模块”</a:t>
            </a:r>
            <a:r>
              <a:rPr lang="zh-CN" altLang="en-US"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mtClean="0">
                <a:latin typeface="Times New Roman" panose="02020603050405020304" pitchFamily="18" charset="0"/>
                <a:ea typeface="宋体" panose="02010600030101010101" pitchFamily="2" charset="-122"/>
                <a:cs typeface="Times New Roman" panose="02020603050405020304" pitchFamily="18" charset="0"/>
              </a:rPr>
              <a:t>Loadable Kernel Module</a:t>
            </a:r>
            <a:r>
              <a:rPr lang="zh-CN" altLang="en-US"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mtClean="0">
                <a:latin typeface="Times New Roman" panose="02020603050405020304" pitchFamily="18" charset="0"/>
                <a:ea typeface="宋体" panose="02010600030101010101" pitchFamily="2" charset="-122"/>
                <a:cs typeface="Times New Roman" panose="02020603050405020304" pitchFamily="18" charset="0"/>
              </a:rPr>
              <a:t>LKM</a:t>
            </a:r>
            <a:r>
              <a:rPr lang="zh-CN" altLang="en-US" smtClean="0">
                <a:latin typeface="Times New Roman" panose="02020603050405020304" pitchFamily="18" charset="0"/>
                <a:ea typeface="宋体" panose="02010600030101010101" pitchFamily="2" charset="-122"/>
                <a:cs typeface="Times New Roman" panose="02020603050405020304" pitchFamily="18" charset="0"/>
              </a:rPr>
              <a:t>）</a:t>
            </a:r>
          </a:p>
          <a:p>
            <a:pPr>
              <a:buFontTx/>
              <a:buChar char="•"/>
            </a:pPr>
            <a:r>
              <a:rPr lang="zh-CN" altLang="en-US"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模块在内核空间运行</a:t>
            </a:r>
          </a:p>
          <a:p>
            <a:pPr>
              <a:buFontTx/>
              <a:buChar char="•"/>
            </a:pPr>
            <a:r>
              <a:rPr lang="zh-CN" altLang="en-US" smtClean="0">
                <a:latin typeface="Times New Roman" panose="02020603050405020304" pitchFamily="18" charset="0"/>
                <a:ea typeface="宋体" panose="02010600030101010101" pitchFamily="2" charset="-122"/>
                <a:cs typeface="Times New Roman" panose="02020603050405020304" pitchFamily="18" charset="0"/>
              </a:rPr>
              <a:t>模块实际上是一种目标对象文件</a:t>
            </a:r>
          </a:p>
          <a:p>
            <a:pPr>
              <a:buFontTx/>
              <a:buChar char="•"/>
            </a:pPr>
            <a:r>
              <a:rPr lang="zh-CN" altLang="en-US"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没有链接，不能独立运行</a:t>
            </a:r>
            <a:r>
              <a:rPr lang="zh-CN" altLang="en-US" smtClean="0">
                <a:latin typeface="Times New Roman" panose="02020603050405020304" pitchFamily="18" charset="0"/>
                <a:ea typeface="宋体" panose="02010600030101010101" pitchFamily="2" charset="-122"/>
                <a:cs typeface="Times New Roman" panose="02020603050405020304" pitchFamily="18" charset="0"/>
              </a:rPr>
              <a:t>，但是其代码可以在运行时链接到系统中作为内核的一部分运行或从内核中取下，从而可以</a:t>
            </a:r>
            <a:r>
              <a:rPr lang="zh-CN" altLang="en-US"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动态扩充内核的功能</a:t>
            </a:r>
          </a:p>
          <a:p>
            <a:pPr>
              <a:buFontTx/>
              <a:buChar char="•"/>
            </a:pPr>
            <a:r>
              <a:rPr lang="zh-CN" altLang="en-US"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这种目标代码通常由一组函数和数据结构组成</a:t>
            </a:r>
          </a:p>
          <a:p>
            <a:endParaRPr lang="zh-CN" altLang="en-US" sz="240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55" name="Rectangle 2"/>
          <p:cNvSpPr>
            <a:spLocks noChangeArrowheads="1"/>
          </p:cNvSpPr>
          <p:nvPr/>
        </p:nvSpPr>
        <p:spPr bwMode="auto">
          <a:xfrm>
            <a:off x="755650"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7156603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a:xfrm>
            <a:off x="573088" y="844550"/>
            <a:ext cx="7769225" cy="4779963"/>
          </a:xfrm>
        </p:spPr>
        <p:txBody>
          <a:bodyPr/>
          <a:lstStyle/>
          <a:p>
            <a:pPr>
              <a:lnSpc>
                <a:spcPct val="110000"/>
              </a:lnSpc>
              <a:buFont typeface="Arial" panose="020B0604020202020204" pitchFamily="34" charset="0"/>
              <a:buChar char="•"/>
            </a:pPr>
            <a:r>
              <a:rPr lang="zh-CN" altLang="en-US" sz="3200" smtClean="0">
                <a:solidFill>
                  <a:srgbClr val="002060"/>
                </a:solidFill>
                <a:latin typeface="宋体" panose="02010600030101010101" pitchFamily="2" charset="-122"/>
                <a:ea typeface="宋体" panose="02010600030101010101" pitchFamily="2" charset="-122"/>
              </a:rPr>
              <a:t>优点</a:t>
            </a:r>
          </a:p>
          <a:p>
            <a:pPr lvl="1">
              <a:lnSpc>
                <a:spcPct val="110000"/>
              </a:lnSpc>
            </a:pPr>
            <a:r>
              <a:rPr lang="zh-CN" altLang="en-US" sz="2800" smtClean="0">
                <a:latin typeface="宋体" panose="02010600030101010101" pitchFamily="2" charset="-122"/>
                <a:ea typeface="宋体" panose="02010600030101010101" pitchFamily="2" charset="-122"/>
              </a:rPr>
              <a:t>使得内核更加</a:t>
            </a:r>
            <a:r>
              <a:rPr lang="zh-CN" altLang="en-US" sz="2800" smtClean="0">
                <a:solidFill>
                  <a:srgbClr val="FF0000"/>
                </a:solidFill>
                <a:latin typeface="宋体" panose="02010600030101010101" pitchFamily="2" charset="-122"/>
                <a:ea typeface="宋体" panose="02010600030101010101" pitchFamily="2" charset="-122"/>
              </a:rPr>
              <a:t>紧凑和灵活</a:t>
            </a:r>
          </a:p>
          <a:p>
            <a:pPr lvl="1">
              <a:lnSpc>
                <a:spcPct val="110000"/>
              </a:lnSpc>
            </a:pPr>
            <a:r>
              <a:rPr lang="zh-CN" altLang="en-US" sz="2800" smtClean="0">
                <a:latin typeface="宋体" panose="02010600030101010101" pitchFamily="2" charset="-122"/>
                <a:ea typeface="宋体" panose="02010600030101010101" pitchFamily="2" charset="-122"/>
              </a:rPr>
              <a:t>修改内核时，</a:t>
            </a:r>
            <a:r>
              <a:rPr lang="zh-CN" altLang="en-US" sz="2800" smtClean="0">
                <a:solidFill>
                  <a:srgbClr val="FF0000"/>
                </a:solidFill>
                <a:latin typeface="宋体" panose="02010600030101010101" pitchFamily="2" charset="-122"/>
                <a:ea typeface="宋体" panose="02010600030101010101" pitchFamily="2" charset="-122"/>
              </a:rPr>
              <a:t>不必全部重新编译</a:t>
            </a:r>
            <a:r>
              <a:rPr lang="zh-CN" altLang="en-US" sz="2800" smtClean="0">
                <a:latin typeface="宋体" panose="02010600030101010101" pitchFamily="2" charset="-122"/>
                <a:ea typeface="宋体" panose="02010600030101010101" pitchFamily="2" charset="-122"/>
              </a:rPr>
              <a:t>整个内核。系统如果需要使用新模块，只要编译相应的模块，然后使用</a:t>
            </a:r>
            <a:r>
              <a:rPr lang="en-US" altLang="zh-CN" sz="2800" smtClean="0">
                <a:latin typeface="宋体" panose="02010600030101010101" pitchFamily="2" charset="-122"/>
                <a:ea typeface="宋体" panose="02010600030101010101" pitchFamily="2" charset="-122"/>
              </a:rPr>
              <a:t>insmod</a:t>
            </a:r>
            <a:r>
              <a:rPr lang="zh-CN" altLang="en-US" sz="2800" smtClean="0">
                <a:latin typeface="宋体" panose="02010600030101010101" pitchFamily="2" charset="-122"/>
                <a:ea typeface="宋体" panose="02010600030101010101" pitchFamily="2" charset="-122"/>
              </a:rPr>
              <a:t>将模块装载即可</a:t>
            </a:r>
          </a:p>
          <a:p>
            <a:pPr lvl="1">
              <a:lnSpc>
                <a:spcPct val="110000"/>
              </a:lnSpc>
            </a:pPr>
            <a:r>
              <a:rPr lang="zh-CN" altLang="en-US" sz="2800" smtClean="0">
                <a:latin typeface="宋体" panose="02010600030101010101" pitchFamily="2" charset="-122"/>
                <a:ea typeface="宋体" panose="02010600030101010101" pitchFamily="2" charset="-122"/>
              </a:rPr>
              <a:t>模块的目标代码一旦被链接到内核，它的作用域和静态链接的内核目标代码完全等价</a:t>
            </a:r>
            <a:endParaRPr lang="zh-CN" altLang="en-US" sz="2500" smtClean="0">
              <a:latin typeface="宋体" panose="02010600030101010101" pitchFamily="2" charset="-122"/>
              <a:ea typeface="宋体" panose="02010600030101010101" pitchFamily="2" charset="-122"/>
            </a:endParaRPr>
          </a:p>
        </p:txBody>
      </p:sp>
      <p:sp>
        <p:nvSpPr>
          <p:cNvPr id="25603"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323003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11188" y="1125538"/>
            <a:ext cx="8137525" cy="4779962"/>
          </a:xfrm>
        </p:spPr>
        <p:txBody>
          <a:bodyPr/>
          <a:lstStyle/>
          <a:p>
            <a:pPr>
              <a:lnSpc>
                <a:spcPct val="110000"/>
              </a:lnSpc>
              <a:buFont typeface="Arial" panose="020B0604020202020204" pitchFamily="34" charset="0"/>
              <a:buChar char="•"/>
            </a:pPr>
            <a:r>
              <a:rPr lang="zh-CN" altLang="en-US" smtClean="0">
                <a:solidFill>
                  <a:srgbClr val="002060"/>
                </a:solidFill>
                <a:latin typeface="宋体" panose="02010600030101010101" pitchFamily="2" charset="-122"/>
                <a:ea typeface="宋体" panose="02010600030101010101" pitchFamily="2" charset="-122"/>
              </a:rPr>
              <a:t>缺点</a:t>
            </a:r>
          </a:p>
          <a:p>
            <a:pPr lvl="1">
              <a:lnSpc>
                <a:spcPct val="110000"/>
              </a:lnSpc>
            </a:pPr>
            <a:r>
              <a:rPr lang="zh-CN" altLang="en-US" sz="2500" smtClean="0">
                <a:latin typeface="宋体" panose="02010600030101010101" pitchFamily="2" charset="-122"/>
                <a:ea typeface="宋体" panose="02010600030101010101" pitchFamily="2" charset="-122"/>
              </a:rPr>
              <a:t>由于内核所占用的内存是不会被换出的，所以链接进内核的模块会给整个系统带来一定的</a:t>
            </a:r>
            <a:r>
              <a:rPr lang="zh-CN" altLang="en-US" sz="2500" smtClean="0">
                <a:solidFill>
                  <a:srgbClr val="FF0000"/>
                </a:solidFill>
                <a:latin typeface="宋体" panose="02010600030101010101" pitchFamily="2" charset="-122"/>
                <a:ea typeface="宋体" panose="02010600030101010101" pitchFamily="2" charset="-122"/>
              </a:rPr>
              <a:t>性能和内存利用方面的损失</a:t>
            </a:r>
            <a:r>
              <a:rPr lang="zh-CN" altLang="en-US" sz="2500" smtClean="0">
                <a:latin typeface="宋体" panose="02010600030101010101" pitchFamily="2" charset="-122"/>
                <a:ea typeface="宋体" panose="02010600030101010101" pitchFamily="2" charset="-122"/>
              </a:rPr>
              <a:t>。</a:t>
            </a:r>
            <a:endParaRPr lang="en-US" altLang="zh-CN" sz="2500" smtClean="0">
              <a:latin typeface="宋体" panose="02010600030101010101" pitchFamily="2" charset="-122"/>
              <a:ea typeface="宋体" panose="02010600030101010101" pitchFamily="2" charset="-122"/>
            </a:endParaRPr>
          </a:p>
          <a:p>
            <a:pPr lvl="1">
              <a:lnSpc>
                <a:spcPct val="110000"/>
              </a:lnSpc>
            </a:pPr>
            <a:r>
              <a:rPr lang="zh-CN" altLang="en-US" sz="2500" smtClean="0">
                <a:latin typeface="宋体" panose="02010600030101010101" pitchFamily="2" charset="-122"/>
                <a:ea typeface="宋体" panose="02010600030101010101" pitchFamily="2" charset="-122"/>
              </a:rPr>
              <a:t>装入内核的模块就成为内核的一部分，可以修改内核中的其他部分，因此，模块的使用不当会导致系统崩溃。</a:t>
            </a:r>
            <a:endParaRPr lang="en-US" altLang="zh-CN" sz="2500" smtClean="0">
              <a:latin typeface="宋体" panose="02010600030101010101" pitchFamily="2" charset="-122"/>
              <a:ea typeface="宋体" panose="02010600030101010101" pitchFamily="2" charset="-122"/>
            </a:endParaRPr>
          </a:p>
          <a:p>
            <a:pPr lvl="1">
              <a:lnSpc>
                <a:spcPct val="110000"/>
              </a:lnSpc>
            </a:pPr>
            <a:r>
              <a:rPr lang="zh-CN" altLang="en-US" sz="2500" smtClean="0">
                <a:latin typeface="宋体" panose="02010600030101010101" pitchFamily="2" charset="-122"/>
                <a:ea typeface="宋体" panose="02010600030101010101" pitchFamily="2" charset="-122"/>
              </a:rPr>
              <a:t>为了让内核模块能访问所有内核资源，</a:t>
            </a:r>
            <a:r>
              <a:rPr lang="zh-CN" altLang="en-US" sz="2500" smtClean="0">
                <a:solidFill>
                  <a:srgbClr val="FF0000"/>
                </a:solidFill>
                <a:latin typeface="宋体" panose="02010600030101010101" pitchFamily="2" charset="-122"/>
                <a:ea typeface="宋体" panose="02010600030101010101" pitchFamily="2" charset="-122"/>
              </a:rPr>
              <a:t>内核必须维护符号表</a:t>
            </a:r>
            <a:r>
              <a:rPr lang="zh-CN" altLang="en-US" sz="2500" smtClean="0">
                <a:latin typeface="宋体" panose="02010600030101010101" pitchFamily="2" charset="-122"/>
                <a:ea typeface="宋体" panose="02010600030101010101" pitchFamily="2" charset="-122"/>
              </a:rPr>
              <a:t>，并在装入和卸载模块时修改符号表</a:t>
            </a:r>
            <a:r>
              <a:rPr lang="en-US" altLang="zh-CN" sz="2500" smtClean="0">
                <a:latin typeface="宋体" panose="02010600030101010101" pitchFamily="2" charset="-122"/>
                <a:ea typeface="宋体" panose="02010600030101010101" pitchFamily="2" charset="-122"/>
              </a:rPr>
              <a:t>;</a:t>
            </a:r>
          </a:p>
          <a:p>
            <a:pPr lvl="1">
              <a:lnSpc>
                <a:spcPct val="110000"/>
              </a:lnSpc>
            </a:pPr>
            <a:r>
              <a:rPr lang="zh-CN" altLang="en-US" sz="2500" smtClean="0">
                <a:latin typeface="宋体" panose="02010600030101010101" pitchFamily="2" charset="-122"/>
                <a:ea typeface="宋体" panose="02010600030101010101" pitchFamily="2" charset="-122"/>
              </a:rPr>
              <a:t>模块会要求利用其它模块的功能，所以，</a:t>
            </a:r>
            <a:r>
              <a:rPr lang="zh-CN" altLang="en-US" sz="2500" smtClean="0">
                <a:solidFill>
                  <a:srgbClr val="FF0000"/>
                </a:solidFill>
                <a:latin typeface="宋体" panose="02010600030101010101" pitchFamily="2" charset="-122"/>
                <a:ea typeface="宋体" panose="02010600030101010101" pitchFamily="2" charset="-122"/>
              </a:rPr>
              <a:t>内核要维护模块之间的依赖性。</a:t>
            </a:r>
            <a:endParaRPr lang="en-US" altLang="zh-CN" sz="2500" smtClean="0">
              <a:latin typeface="宋体" panose="02010600030101010101" pitchFamily="2" charset="-122"/>
              <a:ea typeface="宋体" panose="02010600030101010101" pitchFamily="2" charset="-122"/>
            </a:endParaRPr>
          </a:p>
        </p:txBody>
      </p:sp>
      <p:sp>
        <p:nvSpPr>
          <p:cNvPr id="27651"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7101981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46063" y="1141413"/>
            <a:ext cx="7199313" cy="839787"/>
          </a:xfrm>
        </p:spPr>
        <p:txBody>
          <a:bodyPr/>
          <a:lstStyle/>
          <a:p>
            <a:pPr defTabSz="812800"/>
            <a:r>
              <a:rPr lang="en-US" altLang="zh-CN" sz="28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Linux</a:t>
            </a:r>
            <a:r>
              <a:rPr lang="zh-CN" altLang="en-US" sz="28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内核模块与应用程序的区别</a:t>
            </a:r>
          </a:p>
        </p:txBody>
      </p:sp>
      <p:sp>
        <p:nvSpPr>
          <p:cNvPr id="29699" name="Rectangle 3"/>
          <p:cNvSpPr>
            <a:spLocks noGrp="1" noChangeArrowheads="1"/>
          </p:cNvSpPr>
          <p:nvPr>
            <p:ph type="body" idx="1"/>
          </p:nvPr>
        </p:nvSpPr>
        <p:spPr>
          <a:xfrm>
            <a:off x="1042988" y="2114550"/>
            <a:ext cx="8489950" cy="3195638"/>
          </a:xfrm>
        </p:spPr>
        <p:txBody>
          <a:bodyPr/>
          <a:lstStyle/>
          <a:p>
            <a:pPr marL="0" indent="0" algn="just">
              <a:lnSpc>
                <a:spcPct val="90000"/>
              </a:lnSpc>
              <a:buFont typeface="Monotype Sorts"/>
              <a:buNone/>
            </a:pPr>
            <a:r>
              <a:rPr lang="zh-CN" altLang="en-US" sz="1400" smtClean="0">
                <a:latin typeface="幼圆" panose="02010509060101010101" pitchFamily="49" charset="-122"/>
                <a:ea typeface="幼圆" panose="02010509060101010101" pitchFamily="49" charset="-122"/>
              </a:rPr>
              <a:t>             </a:t>
            </a:r>
            <a:r>
              <a:rPr lang="en-US" altLang="zh-CN" sz="2400" smtClean="0">
                <a:latin typeface="幼圆" panose="02010509060101010101" pitchFamily="49" charset="-122"/>
                <a:ea typeface="幼圆" panose="02010509060101010101" pitchFamily="49" charset="-122"/>
              </a:rPr>
              <a:t>C</a:t>
            </a:r>
            <a:r>
              <a:rPr lang="zh-CN" altLang="en-US" sz="2400" smtClean="0">
                <a:latin typeface="幼圆" panose="02010509060101010101" pitchFamily="49" charset="-122"/>
                <a:ea typeface="幼圆" panose="02010509060101010101" pitchFamily="49" charset="-122"/>
              </a:rPr>
              <a:t>语言程序           </a:t>
            </a:r>
            <a:r>
              <a:rPr lang="en-US" altLang="zh-CN" sz="2400" smtClean="0">
                <a:latin typeface="幼圆" panose="02010509060101010101" pitchFamily="49" charset="-122"/>
                <a:ea typeface="幼圆" panose="02010509060101010101" pitchFamily="49" charset="-122"/>
              </a:rPr>
              <a:t>Linux</a:t>
            </a:r>
            <a:r>
              <a:rPr lang="zh-CN" altLang="en-US" sz="2400" smtClean="0">
                <a:latin typeface="幼圆" panose="02010509060101010101" pitchFamily="49" charset="-122"/>
                <a:ea typeface="幼圆" panose="02010509060101010101" pitchFamily="49" charset="-122"/>
              </a:rPr>
              <a:t>内核模块</a:t>
            </a:r>
          </a:p>
          <a:p>
            <a:pPr marL="0" indent="0" algn="just">
              <a:lnSpc>
                <a:spcPct val="90000"/>
              </a:lnSpc>
              <a:buFont typeface="Monotype Sorts"/>
              <a:buNone/>
            </a:pPr>
            <a:endParaRPr lang="zh-CN" altLang="en-US" sz="2400" smtClean="0">
              <a:latin typeface="幼圆" panose="02010509060101010101" pitchFamily="49" charset="-122"/>
              <a:ea typeface="幼圆" panose="02010509060101010101" pitchFamily="49" charset="-122"/>
            </a:endParaRPr>
          </a:p>
          <a:p>
            <a:pPr marL="0" indent="0" algn="just">
              <a:lnSpc>
                <a:spcPct val="90000"/>
              </a:lnSpc>
              <a:buFont typeface="Monotype Sorts"/>
              <a:buNone/>
            </a:pPr>
            <a:r>
              <a:rPr lang="zh-CN" altLang="en-US" sz="2400" smtClean="0">
                <a:latin typeface="幼圆" panose="02010509060101010101" pitchFamily="49" charset="-122"/>
                <a:ea typeface="幼圆" panose="02010509060101010101" pitchFamily="49" charset="-122"/>
              </a:rPr>
              <a:t>运行     用户空间          内核空间</a:t>
            </a:r>
          </a:p>
          <a:p>
            <a:pPr marL="0" indent="0">
              <a:lnSpc>
                <a:spcPct val="90000"/>
              </a:lnSpc>
              <a:buFont typeface="Monotype Sorts"/>
              <a:buNone/>
            </a:pPr>
            <a:r>
              <a:rPr lang="zh-CN" altLang="en-US" sz="2400" smtClean="0">
                <a:latin typeface="幼圆" panose="02010509060101010101" pitchFamily="49" charset="-122"/>
                <a:ea typeface="幼圆" panose="02010509060101010101" pitchFamily="49" charset="-122"/>
              </a:rPr>
              <a:t>入口     </a:t>
            </a:r>
            <a:r>
              <a:rPr lang="en-US" altLang="zh-CN" sz="2400" smtClean="0">
                <a:latin typeface="幼圆" panose="02010509060101010101" pitchFamily="49" charset="-122"/>
                <a:ea typeface="幼圆" panose="02010509060101010101" pitchFamily="49" charset="-122"/>
              </a:rPr>
              <a:t>main()            </a:t>
            </a:r>
            <a:r>
              <a:rPr lang="zh-CN" altLang="zh-CN" sz="2400" smtClean="0">
                <a:latin typeface="幼圆" panose="02010509060101010101" pitchFamily="49" charset="-122"/>
                <a:ea typeface="幼圆" panose="02010509060101010101" pitchFamily="49" charset="-122"/>
              </a:rPr>
              <a:t>module_init()指定;</a:t>
            </a:r>
          </a:p>
          <a:p>
            <a:pPr marL="0" indent="0">
              <a:lnSpc>
                <a:spcPct val="90000"/>
              </a:lnSpc>
              <a:buFont typeface="Monotype Sorts"/>
              <a:buNone/>
            </a:pPr>
            <a:r>
              <a:rPr lang="zh-CN" altLang="en-US" sz="2400" smtClean="0">
                <a:latin typeface="幼圆" panose="02010509060101010101" pitchFamily="49" charset="-122"/>
                <a:ea typeface="幼圆" panose="02010509060101010101" pitchFamily="49" charset="-122"/>
              </a:rPr>
              <a:t>出口     无                </a:t>
            </a:r>
            <a:r>
              <a:rPr lang="zh-CN" altLang="zh-CN" sz="2400" smtClean="0">
                <a:latin typeface="幼圆" panose="02010509060101010101" pitchFamily="49" charset="-122"/>
                <a:ea typeface="幼圆" panose="02010509060101010101" pitchFamily="49" charset="-122"/>
              </a:rPr>
              <a:t>module_exit()指定;</a:t>
            </a:r>
            <a:r>
              <a:rPr lang="en-US" altLang="zh-CN" sz="2400" smtClean="0">
                <a:latin typeface="幼圆" panose="02010509060101010101" pitchFamily="49" charset="-122"/>
                <a:ea typeface="幼圆" panose="02010509060101010101" pitchFamily="49" charset="-122"/>
              </a:rPr>
              <a:t> </a:t>
            </a:r>
          </a:p>
          <a:p>
            <a:pPr marL="0" indent="0" algn="just">
              <a:lnSpc>
                <a:spcPct val="90000"/>
              </a:lnSpc>
              <a:buFont typeface="Monotype Sorts"/>
              <a:buNone/>
            </a:pPr>
            <a:r>
              <a:rPr lang="zh-CN" altLang="en-US" sz="2400" smtClean="0">
                <a:latin typeface="幼圆" panose="02010509060101010101" pitchFamily="49" charset="-122"/>
                <a:ea typeface="幼圆" panose="02010509060101010101" pitchFamily="49" charset="-122"/>
              </a:rPr>
              <a:t>编译     </a:t>
            </a:r>
            <a:r>
              <a:rPr lang="en-US" altLang="zh-CN" sz="2400" smtClean="0">
                <a:latin typeface="幼圆" panose="02010509060101010101" pitchFamily="49" charset="-122"/>
                <a:ea typeface="幼圆" panose="02010509060101010101" pitchFamily="49" charset="-122"/>
              </a:rPr>
              <a:t>gcc </a:t>
            </a:r>
            <a:r>
              <a:rPr lang="en-US" altLang="zh-CN" sz="2400" smtClean="0">
                <a:latin typeface="Arial" panose="020B0604020202020204" pitchFamily="34" charset="0"/>
                <a:ea typeface="幼圆" panose="02010509060101010101" pitchFamily="49" charset="-122"/>
              </a:rPr>
              <a:t>–</a:t>
            </a:r>
            <a:r>
              <a:rPr lang="en-US" altLang="zh-CN" sz="2400" smtClean="0">
                <a:latin typeface="幼圆" panose="02010509060101010101" pitchFamily="49" charset="-122"/>
                <a:ea typeface="幼圆" panose="02010509060101010101" pitchFamily="49" charset="-122"/>
              </a:rPr>
              <a:t>c            Makefile</a:t>
            </a:r>
          </a:p>
          <a:p>
            <a:pPr marL="0" indent="0" algn="just">
              <a:lnSpc>
                <a:spcPct val="90000"/>
              </a:lnSpc>
              <a:buFont typeface="Monotype Sorts"/>
              <a:buNone/>
            </a:pPr>
            <a:r>
              <a:rPr lang="zh-CN" altLang="en-US" sz="2400" smtClean="0">
                <a:latin typeface="幼圆" panose="02010509060101010101" pitchFamily="49" charset="-122"/>
                <a:ea typeface="幼圆" panose="02010509060101010101" pitchFamily="49" charset="-122"/>
              </a:rPr>
              <a:t>连接     </a:t>
            </a:r>
            <a:r>
              <a:rPr lang="en-US" altLang="zh-CN" sz="2400" smtClean="0">
                <a:latin typeface="幼圆" panose="02010509060101010101" pitchFamily="49" charset="-122"/>
                <a:ea typeface="幼圆" panose="02010509060101010101" pitchFamily="49" charset="-122"/>
              </a:rPr>
              <a:t>ld                insmod</a:t>
            </a:r>
          </a:p>
          <a:p>
            <a:pPr marL="0" indent="0" algn="just">
              <a:lnSpc>
                <a:spcPct val="90000"/>
              </a:lnSpc>
              <a:buFont typeface="Monotype Sorts"/>
              <a:buNone/>
            </a:pPr>
            <a:r>
              <a:rPr lang="zh-CN" altLang="en-US" sz="2400" smtClean="0">
                <a:latin typeface="幼圆" panose="02010509060101010101" pitchFamily="49" charset="-122"/>
                <a:ea typeface="幼圆" panose="02010509060101010101" pitchFamily="49" charset="-122"/>
              </a:rPr>
              <a:t>运行     直接运行          </a:t>
            </a:r>
            <a:r>
              <a:rPr lang="en-US" altLang="zh-CN" sz="2400" smtClean="0">
                <a:latin typeface="幼圆" panose="02010509060101010101" pitchFamily="49" charset="-122"/>
                <a:ea typeface="幼圆" panose="02010509060101010101" pitchFamily="49" charset="-122"/>
              </a:rPr>
              <a:t>insmod</a:t>
            </a:r>
          </a:p>
          <a:p>
            <a:pPr marL="0" indent="0">
              <a:lnSpc>
                <a:spcPct val="90000"/>
              </a:lnSpc>
              <a:buFont typeface="Monotype Sorts"/>
              <a:buNone/>
            </a:pPr>
            <a:r>
              <a:rPr lang="zh-CN" altLang="en-US" sz="2400" smtClean="0">
                <a:latin typeface="幼圆" panose="02010509060101010101" pitchFamily="49" charset="-122"/>
                <a:ea typeface="幼圆" panose="02010509060101010101" pitchFamily="49" charset="-122"/>
              </a:rPr>
              <a:t>调试     </a:t>
            </a:r>
            <a:r>
              <a:rPr lang="en-US" altLang="zh-CN" sz="2400" smtClean="0">
                <a:latin typeface="幼圆" panose="02010509060101010101" pitchFamily="49" charset="-122"/>
                <a:ea typeface="幼圆" panose="02010509060101010101" pitchFamily="49" charset="-122"/>
              </a:rPr>
              <a:t>gdb               kdbug, kdb, kgdb</a:t>
            </a:r>
            <a:r>
              <a:rPr lang="zh-CN" altLang="en-US" sz="2400" smtClean="0">
                <a:latin typeface="幼圆" panose="02010509060101010101" pitchFamily="49" charset="-122"/>
                <a:ea typeface="幼圆" panose="02010509060101010101" pitchFamily="49" charset="-122"/>
              </a:rPr>
              <a:t>等 </a:t>
            </a:r>
          </a:p>
        </p:txBody>
      </p:sp>
      <p:sp>
        <p:nvSpPr>
          <p:cNvPr id="29700" name="Line 4"/>
          <p:cNvSpPr>
            <a:spLocks noChangeShapeType="1"/>
          </p:cNvSpPr>
          <p:nvPr/>
        </p:nvSpPr>
        <p:spPr bwMode="auto">
          <a:xfrm>
            <a:off x="900113" y="2852738"/>
            <a:ext cx="66230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1" name="Line 5"/>
          <p:cNvSpPr>
            <a:spLocks noChangeShapeType="1"/>
          </p:cNvSpPr>
          <p:nvPr/>
        </p:nvSpPr>
        <p:spPr bwMode="auto">
          <a:xfrm flipH="1">
            <a:off x="1979613" y="2854325"/>
            <a:ext cx="0" cy="31670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2" name="Line 6"/>
          <p:cNvSpPr>
            <a:spLocks noChangeShapeType="1"/>
          </p:cNvSpPr>
          <p:nvPr/>
        </p:nvSpPr>
        <p:spPr bwMode="auto">
          <a:xfrm flipH="1">
            <a:off x="4213225" y="2855913"/>
            <a:ext cx="0" cy="30940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3" name="Line 7"/>
          <p:cNvSpPr>
            <a:spLocks noChangeShapeType="1"/>
          </p:cNvSpPr>
          <p:nvPr/>
        </p:nvSpPr>
        <p:spPr bwMode="auto">
          <a:xfrm flipV="1">
            <a:off x="755650" y="5949950"/>
            <a:ext cx="7712075" cy="714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4" name="Rectangle 2"/>
          <p:cNvSpPr>
            <a:spLocks noChangeArrowheads="1"/>
          </p:cNvSpPr>
          <p:nvPr/>
        </p:nvSpPr>
        <p:spPr bwMode="auto">
          <a:xfrm>
            <a:off x="695325" y="-1588"/>
            <a:ext cx="7772400" cy="844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923701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879600" y="914400"/>
            <a:ext cx="7772400" cy="844550"/>
          </a:xfrm>
        </p:spPr>
        <p:txBody>
          <a:bodyPr/>
          <a:lstStyle/>
          <a:p>
            <a:pPr defTabSz="812800"/>
            <a:r>
              <a:rPr lang="zh-CN" altLang="en-US" sz="2800" smtClean="0">
                <a:solidFill>
                  <a:srgbClr val="002060"/>
                </a:solidFill>
                <a:latin typeface="宋体" panose="02010600030101010101" pitchFamily="2" charset="-122"/>
                <a:ea typeface="宋体" panose="02010600030101010101" pitchFamily="2" charset="-122"/>
              </a:rPr>
              <a:t>模块相关命令 </a:t>
            </a:r>
          </a:p>
        </p:txBody>
      </p:sp>
      <p:sp>
        <p:nvSpPr>
          <p:cNvPr id="30723" name="Rectangle 3"/>
          <p:cNvSpPr>
            <a:spLocks noGrp="1" noChangeArrowheads="1"/>
          </p:cNvSpPr>
          <p:nvPr>
            <p:ph type="body" idx="1"/>
          </p:nvPr>
        </p:nvSpPr>
        <p:spPr>
          <a:xfrm>
            <a:off x="687388" y="1600200"/>
            <a:ext cx="7769225" cy="4564063"/>
          </a:xfrm>
        </p:spPr>
        <p:txBody>
          <a:bodyPr/>
          <a:lstStyle/>
          <a:p>
            <a:pPr>
              <a:buFont typeface="Arial" panose="020B0604020202020204" pitchFamily="34" charset="0"/>
              <a:buChar char="•"/>
            </a:pPr>
            <a:r>
              <a:rPr lang="en-US" altLang="en-US" sz="2400" smtClean="0">
                <a:solidFill>
                  <a:srgbClr val="002060"/>
                </a:solidFill>
                <a:latin typeface="Times New Roman" panose="02020603050405020304" pitchFamily="18" charset="0"/>
              </a:rPr>
              <a:t>insmod &lt;module.ko&gt; [module parameters]</a:t>
            </a:r>
            <a:endParaRPr lang="en-US" altLang="zh-CN" sz="2400" smtClean="0">
              <a:solidFill>
                <a:srgbClr val="002060"/>
              </a:solidFill>
              <a:latin typeface="Times New Roman" panose="02020603050405020304" pitchFamily="18" charset="0"/>
              <a:ea typeface="宋体" panose="02010600030101010101" pitchFamily="2" charset="-122"/>
            </a:endParaRPr>
          </a:p>
          <a:p>
            <a:pPr lvl="1">
              <a:buFont typeface="Arial" panose="020B0604020202020204" pitchFamily="34" charset="0"/>
              <a:buChar char="•"/>
            </a:pPr>
            <a:r>
              <a:rPr lang="en-US" altLang="en-US" sz="2400" smtClean="0">
                <a:solidFill>
                  <a:srgbClr val="002060"/>
                </a:solidFill>
                <a:latin typeface="Times New Roman" panose="02020603050405020304" pitchFamily="18" charset="0"/>
              </a:rPr>
              <a:t>Load the module</a:t>
            </a:r>
            <a:endParaRPr lang="en-US" altLang="zh-CN" sz="2400" smtClean="0">
              <a:solidFill>
                <a:srgbClr val="002060"/>
              </a:solidFill>
              <a:latin typeface="Times New Roman" panose="02020603050405020304" pitchFamily="18" charset="0"/>
              <a:ea typeface="宋体" panose="02010600030101010101" pitchFamily="2" charset="-122"/>
            </a:endParaRPr>
          </a:p>
          <a:p>
            <a:pPr lvl="1">
              <a:buFont typeface="Arial" panose="020B0604020202020204" pitchFamily="34" charset="0"/>
              <a:buChar char="•"/>
            </a:pPr>
            <a:r>
              <a:rPr lang="zh-CN" altLang="en-US" sz="2100" smtClean="0">
                <a:solidFill>
                  <a:srgbClr val="002060"/>
                </a:solidFill>
                <a:latin typeface="Times New Roman" panose="02020603050405020304" pitchFamily="18" charset="0"/>
                <a:ea typeface="宋体" panose="02010600030101010101" pitchFamily="2" charset="-122"/>
              </a:rPr>
              <a:t>注意，只有超级用户才能使用这个命令</a:t>
            </a:r>
            <a:endParaRPr lang="en-US" altLang="en-US" sz="2100" smtClean="0">
              <a:solidFill>
                <a:srgbClr val="002060"/>
              </a:solidFill>
              <a:latin typeface="Times New Roman" panose="02020603050405020304" pitchFamily="18" charset="0"/>
            </a:endParaRPr>
          </a:p>
          <a:p>
            <a:pPr>
              <a:buFont typeface="Arial" panose="020B0604020202020204" pitchFamily="34" charset="0"/>
              <a:buChar char="•"/>
            </a:pPr>
            <a:r>
              <a:rPr lang="en-US" altLang="en-US" sz="2400" smtClean="0">
                <a:solidFill>
                  <a:srgbClr val="002060"/>
                </a:solidFill>
                <a:latin typeface="Times New Roman" panose="02020603050405020304" pitchFamily="18" charset="0"/>
              </a:rPr>
              <a:t>Rmmod</a:t>
            </a:r>
            <a:endParaRPr lang="en-US" altLang="zh-CN" sz="2400" smtClean="0">
              <a:solidFill>
                <a:srgbClr val="002060"/>
              </a:solidFill>
              <a:latin typeface="Times New Roman" panose="02020603050405020304" pitchFamily="18" charset="0"/>
              <a:ea typeface="宋体" panose="02010600030101010101" pitchFamily="2" charset="-122"/>
            </a:endParaRPr>
          </a:p>
          <a:p>
            <a:pPr lvl="1">
              <a:buFont typeface="Arial" panose="020B0604020202020204" pitchFamily="34" charset="0"/>
              <a:buChar char="•"/>
            </a:pPr>
            <a:r>
              <a:rPr lang="zh-CN" altLang="en-US" sz="2400" smtClean="0">
                <a:solidFill>
                  <a:srgbClr val="002060"/>
                </a:solidFill>
                <a:latin typeface="Times New Roman" panose="02020603050405020304" pitchFamily="18" charset="0"/>
                <a:ea typeface="宋体" panose="02010600030101010101" pitchFamily="2" charset="-122"/>
              </a:rPr>
              <a:t>卸载模块</a:t>
            </a:r>
            <a:endParaRPr lang="en-US" altLang="zh-CN" sz="2400" smtClean="0">
              <a:solidFill>
                <a:srgbClr val="002060"/>
              </a:solidFill>
              <a:latin typeface="Times New Roman" panose="02020603050405020304" pitchFamily="18" charset="0"/>
              <a:ea typeface="宋体" panose="02010600030101010101" pitchFamily="2" charset="-122"/>
            </a:endParaRPr>
          </a:p>
          <a:p>
            <a:pPr>
              <a:buFont typeface="Arial" panose="020B0604020202020204" pitchFamily="34" charset="0"/>
              <a:buChar char="•"/>
            </a:pPr>
            <a:r>
              <a:rPr lang="en-US" altLang="en-US" sz="2400" smtClean="0">
                <a:solidFill>
                  <a:srgbClr val="002060"/>
                </a:solidFill>
                <a:latin typeface="Times New Roman" panose="02020603050405020304" pitchFamily="18" charset="0"/>
              </a:rPr>
              <a:t>lsmod</a:t>
            </a:r>
          </a:p>
          <a:p>
            <a:pPr lvl="1">
              <a:buFont typeface="Arial" panose="020B0604020202020204" pitchFamily="34" charset="0"/>
              <a:buChar char="•"/>
            </a:pPr>
            <a:r>
              <a:rPr lang="zh-CN" altLang="en-US" sz="2400" smtClean="0">
                <a:solidFill>
                  <a:srgbClr val="002060"/>
                </a:solidFill>
                <a:latin typeface="Times New Roman" panose="02020603050405020304" pitchFamily="18" charset="0"/>
                <a:ea typeface="宋体" panose="02010600030101010101" pitchFamily="2" charset="-122"/>
              </a:rPr>
              <a:t>列出所有已安装进内核的模块</a:t>
            </a:r>
            <a:endParaRPr lang="en-US" altLang="zh-CN" sz="2400" smtClean="0">
              <a:solidFill>
                <a:srgbClr val="002060"/>
              </a:solidFill>
              <a:latin typeface="Times New Roman" panose="02020603050405020304" pitchFamily="18" charset="0"/>
              <a:ea typeface="宋体" panose="02010600030101010101" pitchFamily="2" charset="-122"/>
            </a:endParaRPr>
          </a:p>
          <a:p>
            <a:pPr lvl="1">
              <a:buFont typeface="Arial" panose="020B0604020202020204" pitchFamily="34" charset="0"/>
              <a:buChar char="•"/>
            </a:pPr>
            <a:r>
              <a:rPr lang="zh-CN" altLang="en-US" sz="2400" smtClean="0">
                <a:solidFill>
                  <a:srgbClr val="002060"/>
                </a:solidFill>
                <a:latin typeface="Times New Roman" panose="02020603050405020304" pitchFamily="18" charset="0"/>
                <a:ea typeface="宋体" panose="02010600030101010101" pitchFamily="2" charset="-122"/>
              </a:rPr>
              <a:t>这个命令和</a:t>
            </a:r>
            <a:r>
              <a:rPr lang="en-US" altLang="zh-CN" sz="2400" smtClean="0">
                <a:solidFill>
                  <a:srgbClr val="002060"/>
                </a:solidFill>
                <a:latin typeface="Times New Roman" panose="02020603050405020304" pitchFamily="18" charset="0"/>
                <a:ea typeface="宋体" panose="02010600030101010101" pitchFamily="2" charset="-122"/>
              </a:rPr>
              <a:t>cat  /proc/modules</a:t>
            </a:r>
            <a:r>
              <a:rPr lang="zh-CN" altLang="en-US" sz="2400" smtClean="0">
                <a:solidFill>
                  <a:srgbClr val="002060"/>
                </a:solidFill>
                <a:latin typeface="Times New Roman" panose="02020603050405020304" pitchFamily="18" charset="0"/>
                <a:ea typeface="宋体" panose="02010600030101010101" pitchFamily="2" charset="-122"/>
              </a:rPr>
              <a:t>等价</a:t>
            </a:r>
          </a:p>
          <a:p>
            <a:pPr>
              <a:buFont typeface="Arial" panose="020B0604020202020204" pitchFamily="34" charset="0"/>
              <a:buChar char="•"/>
            </a:pPr>
            <a:r>
              <a:rPr lang="en-US" altLang="en-US" sz="2400" smtClean="0">
                <a:solidFill>
                  <a:srgbClr val="002060"/>
                </a:solidFill>
                <a:latin typeface="Times New Roman" panose="02020603050405020304" pitchFamily="18" charset="0"/>
              </a:rPr>
              <a:t>modprobe [-r] &lt;module name&gt;</a:t>
            </a:r>
          </a:p>
          <a:p>
            <a:pPr lvl="1">
              <a:buFont typeface="Arial" panose="020B0604020202020204" pitchFamily="34" charset="0"/>
              <a:buChar char="•"/>
            </a:pPr>
            <a:r>
              <a:rPr lang="en-US" altLang="en-US" sz="2400" smtClean="0">
                <a:solidFill>
                  <a:srgbClr val="002060"/>
                </a:solidFill>
                <a:latin typeface="Times New Roman" panose="02020603050405020304" pitchFamily="18" charset="0"/>
              </a:rPr>
              <a:t>– </a:t>
            </a:r>
            <a:r>
              <a:rPr lang="zh-CN" altLang="en-US" sz="2400" smtClean="0">
                <a:solidFill>
                  <a:srgbClr val="002060"/>
                </a:solidFill>
                <a:latin typeface="Times New Roman" panose="02020603050405020304" pitchFamily="18" charset="0"/>
                <a:ea typeface="宋体" panose="02010600030101010101" pitchFamily="2" charset="-122"/>
              </a:rPr>
              <a:t>加载指定的模块及该模块所依赖的模块</a:t>
            </a:r>
            <a:endParaRPr lang="en-US" altLang="en-US" sz="2400" smtClean="0">
              <a:solidFill>
                <a:srgbClr val="002060"/>
              </a:solidFill>
              <a:latin typeface="Times New Roman" panose="02020603050405020304" pitchFamily="18" charset="0"/>
              <a:ea typeface="宋体" panose="02010600030101010101" pitchFamily="2" charset="-122"/>
            </a:endParaRPr>
          </a:p>
        </p:txBody>
      </p:sp>
      <p:sp>
        <p:nvSpPr>
          <p:cNvPr id="30724"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7860792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187575" y="833438"/>
            <a:ext cx="7772400" cy="844550"/>
          </a:xfrm>
        </p:spPr>
        <p:txBody>
          <a:bodyPr/>
          <a:lstStyle/>
          <a:p>
            <a:pPr defTabSz="812800"/>
            <a:r>
              <a:rPr lang="zh-CN" altLang="en-US" smtClean="0">
                <a:solidFill>
                  <a:srgbClr val="002060"/>
                </a:solidFill>
                <a:latin typeface="宋体" panose="02010600030101010101" pitchFamily="2" charset="-122"/>
                <a:ea typeface="宋体" panose="02010600030101010101" pitchFamily="2" charset="-122"/>
              </a:rPr>
              <a:t>模块依赖</a:t>
            </a:r>
          </a:p>
        </p:txBody>
      </p:sp>
      <p:sp>
        <p:nvSpPr>
          <p:cNvPr id="31747" name="Rectangle 3"/>
          <p:cNvSpPr>
            <a:spLocks noGrp="1" noChangeArrowheads="1"/>
          </p:cNvSpPr>
          <p:nvPr>
            <p:ph type="body" idx="1"/>
          </p:nvPr>
        </p:nvSpPr>
        <p:spPr>
          <a:xfrm>
            <a:off x="398463" y="1689100"/>
            <a:ext cx="8202612" cy="3544888"/>
          </a:xfrm>
        </p:spPr>
        <p:txBody>
          <a:bodyPr/>
          <a:lstStyle/>
          <a:p>
            <a:pPr>
              <a:buFont typeface="Arial" panose="020B0604020202020204" pitchFamily="34" charset="0"/>
              <a:buChar char="•"/>
            </a:pPr>
            <a:r>
              <a:rPr lang="zh-CN" altLang="en-US" smtClean="0">
                <a:solidFill>
                  <a:srgbClr val="002060"/>
                </a:solidFill>
                <a:latin typeface="宋体" panose="02010600030101010101" pitchFamily="2" charset="-122"/>
                <a:ea typeface="宋体" panose="02010600030101010101" pitchFamily="2" charset="-122"/>
              </a:rPr>
              <a:t>一个模块</a:t>
            </a:r>
            <a:r>
              <a:rPr lang="en-US" altLang="zh-CN" smtClean="0">
                <a:solidFill>
                  <a:srgbClr val="002060"/>
                </a:solidFill>
                <a:latin typeface="宋体" panose="02010600030101010101" pitchFamily="2" charset="-122"/>
                <a:ea typeface="宋体" panose="02010600030101010101" pitchFamily="2" charset="-122"/>
              </a:rPr>
              <a:t>A</a:t>
            </a:r>
            <a:r>
              <a:rPr lang="zh-CN" altLang="en-US" smtClean="0">
                <a:solidFill>
                  <a:srgbClr val="002060"/>
                </a:solidFill>
                <a:latin typeface="宋体" panose="02010600030101010101" pitchFamily="2" charset="-122"/>
                <a:ea typeface="宋体" panose="02010600030101010101" pitchFamily="2" charset="-122"/>
              </a:rPr>
              <a:t>引用另一个模块</a:t>
            </a:r>
            <a:r>
              <a:rPr lang="en-US" altLang="zh-CN" smtClean="0">
                <a:solidFill>
                  <a:srgbClr val="002060"/>
                </a:solidFill>
                <a:latin typeface="宋体" panose="02010600030101010101" pitchFamily="2" charset="-122"/>
                <a:ea typeface="宋体" panose="02010600030101010101" pitchFamily="2" charset="-122"/>
              </a:rPr>
              <a:t>B</a:t>
            </a:r>
            <a:r>
              <a:rPr lang="zh-CN" altLang="en-US" smtClean="0">
                <a:solidFill>
                  <a:srgbClr val="002060"/>
                </a:solidFill>
                <a:latin typeface="宋体" panose="02010600030101010101" pitchFamily="2" charset="-122"/>
                <a:ea typeface="宋体" panose="02010600030101010101" pitchFamily="2" charset="-122"/>
              </a:rPr>
              <a:t>所导出的符号，我们就说模块</a:t>
            </a:r>
            <a:r>
              <a:rPr lang="en-US" altLang="zh-CN" smtClean="0">
                <a:solidFill>
                  <a:srgbClr val="002060"/>
                </a:solidFill>
                <a:latin typeface="宋体" panose="02010600030101010101" pitchFamily="2" charset="-122"/>
                <a:ea typeface="宋体" panose="02010600030101010101" pitchFamily="2" charset="-122"/>
              </a:rPr>
              <a:t>B</a:t>
            </a:r>
            <a:r>
              <a:rPr lang="zh-CN" altLang="en-US" smtClean="0">
                <a:solidFill>
                  <a:srgbClr val="002060"/>
                </a:solidFill>
                <a:latin typeface="宋体" panose="02010600030101010101" pitchFamily="2" charset="-122"/>
                <a:ea typeface="宋体" panose="02010600030101010101" pitchFamily="2" charset="-122"/>
              </a:rPr>
              <a:t>被模块</a:t>
            </a:r>
            <a:r>
              <a:rPr lang="en-US" altLang="zh-CN" smtClean="0">
                <a:solidFill>
                  <a:srgbClr val="002060"/>
                </a:solidFill>
                <a:latin typeface="宋体" panose="02010600030101010101" pitchFamily="2" charset="-122"/>
                <a:ea typeface="宋体" panose="02010600030101010101" pitchFamily="2" charset="-122"/>
              </a:rPr>
              <a:t>A</a:t>
            </a:r>
            <a:r>
              <a:rPr lang="zh-CN" altLang="en-US" smtClean="0">
                <a:solidFill>
                  <a:srgbClr val="002060"/>
                </a:solidFill>
                <a:latin typeface="宋体" panose="02010600030101010101" pitchFamily="2" charset="-122"/>
                <a:ea typeface="宋体" panose="02010600030101010101" pitchFamily="2" charset="-122"/>
              </a:rPr>
              <a:t>引用。</a:t>
            </a:r>
          </a:p>
          <a:p>
            <a:pPr>
              <a:buFont typeface="Arial" panose="020B0604020202020204" pitchFamily="34" charset="0"/>
              <a:buChar char="•"/>
            </a:pPr>
            <a:r>
              <a:rPr lang="zh-CN" altLang="en-US" smtClean="0">
                <a:solidFill>
                  <a:srgbClr val="002060"/>
                </a:solidFill>
                <a:latin typeface="宋体" panose="02010600030101010101" pitchFamily="2" charset="-122"/>
                <a:ea typeface="宋体" panose="02010600030101010101" pitchFamily="2" charset="-122"/>
              </a:rPr>
              <a:t>如果要装载模块</a:t>
            </a:r>
            <a:r>
              <a:rPr lang="en-US" altLang="zh-CN" smtClean="0">
                <a:solidFill>
                  <a:srgbClr val="002060"/>
                </a:solidFill>
                <a:latin typeface="宋体" panose="02010600030101010101" pitchFamily="2" charset="-122"/>
                <a:ea typeface="宋体" panose="02010600030101010101" pitchFamily="2" charset="-122"/>
              </a:rPr>
              <a:t>A</a:t>
            </a:r>
            <a:r>
              <a:rPr lang="zh-CN" altLang="en-US" smtClean="0">
                <a:solidFill>
                  <a:srgbClr val="002060"/>
                </a:solidFill>
                <a:latin typeface="宋体" panose="02010600030101010101" pitchFamily="2" charset="-122"/>
                <a:ea typeface="宋体" panose="02010600030101010101" pitchFamily="2" charset="-122"/>
              </a:rPr>
              <a:t>，必须先要装载模块</a:t>
            </a:r>
            <a:r>
              <a:rPr lang="en-US" altLang="zh-CN" smtClean="0">
                <a:solidFill>
                  <a:srgbClr val="002060"/>
                </a:solidFill>
                <a:latin typeface="宋体" panose="02010600030101010101" pitchFamily="2" charset="-122"/>
                <a:ea typeface="宋体" panose="02010600030101010101" pitchFamily="2" charset="-122"/>
              </a:rPr>
              <a:t>B</a:t>
            </a:r>
            <a:r>
              <a:rPr lang="zh-CN" altLang="en-US" smtClean="0">
                <a:solidFill>
                  <a:srgbClr val="002060"/>
                </a:solidFill>
                <a:latin typeface="宋体" panose="02010600030101010101" pitchFamily="2" charset="-122"/>
                <a:ea typeface="宋体" panose="02010600030101010101" pitchFamily="2" charset="-122"/>
              </a:rPr>
              <a:t>。否则，模块</a:t>
            </a:r>
            <a:r>
              <a:rPr lang="en-US" altLang="zh-CN" smtClean="0">
                <a:solidFill>
                  <a:srgbClr val="002060"/>
                </a:solidFill>
                <a:latin typeface="宋体" panose="02010600030101010101" pitchFamily="2" charset="-122"/>
                <a:ea typeface="宋体" panose="02010600030101010101" pitchFamily="2" charset="-122"/>
              </a:rPr>
              <a:t>B</a:t>
            </a:r>
            <a:r>
              <a:rPr lang="zh-CN" altLang="en-US" smtClean="0">
                <a:solidFill>
                  <a:srgbClr val="002060"/>
                </a:solidFill>
                <a:latin typeface="宋体" panose="02010600030101010101" pitchFamily="2" charset="-122"/>
                <a:ea typeface="宋体" panose="02010600030101010101" pitchFamily="2" charset="-122"/>
              </a:rPr>
              <a:t>所导出的那些符号的引用就不可能被链接到模块</a:t>
            </a:r>
            <a:r>
              <a:rPr lang="en-US" altLang="zh-CN" smtClean="0">
                <a:solidFill>
                  <a:srgbClr val="002060"/>
                </a:solidFill>
                <a:latin typeface="宋体" panose="02010600030101010101" pitchFamily="2" charset="-122"/>
                <a:ea typeface="宋体" panose="02010600030101010101" pitchFamily="2" charset="-122"/>
              </a:rPr>
              <a:t>A</a:t>
            </a:r>
            <a:r>
              <a:rPr lang="zh-CN" altLang="en-US" smtClean="0">
                <a:solidFill>
                  <a:srgbClr val="002060"/>
                </a:solidFill>
                <a:latin typeface="宋体" panose="02010600030101010101" pitchFamily="2" charset="-122"/>
                <a:ea typeface="宋体" panose="02010600030101010101" pitchFamily="2" charset="-122"/>
              </a:rPr>
              <a:t>中。这种模块间的相互关系就叫做模块依赖。</a:t>
            </a:r>
          </a:p>
        </p:txBody>
      </p:sp>
      <p:sp>
        <p:nvSpPr>
          <p:cNvPr id="31748"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5852843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412875" y="733425"/>
            <a:ext cx="7772400" cy="844550"/>
          </a:xfrm>
        </p:spPr>
        <p:txBody>
          <a:bodyPr/>
          <a:lstStyle/>
          <a:p>
            <a:pPr defTabSz="812800"/>
            <a:r>
              <a:rPr lang="zh-CN" altLang="zh-CN" sz="2800" smtClean="0">
                <a:solidFill>
                  <a:srgbClr val="002060"/>
                </a:solidFill>
                <a:ea typeface="宋体" panose="02010600030101010101" pitchFamily="2" charset="-122"/>
              </a:rPr>
              <a:t>简单的</a:t>
            </a:r>
            <a:r>
              <a:rPr lang="zh-CN" altLang="en-US" sz="2800" smtClean="0">
                <a:solidFill>
                  <a:srgbClr val="002060"/>
                </a:solidFill>
                <a:ea typeface="宋体" panose="02010600030101010101" pitchFamily="2" charset="-122"/>
              </a:rPr>
              <a:t>内核模块</a:t>
            </a:r>
            <a:r>
              <a:rPr lang="zh-CN" altLang="zh-CN" sz="2800" smtClean="0">
                <a:solidFill>
                  <a:srgbClr val="002060"/>
                </a:solidFill>
                <a:ea typeface="宋体" panose="02010600030101010101" pitchFamily="2" charset="-122"/>
              </a:rPr>
              <a:t>例子</a:t>
            </a:r>
            <a:endParaRPr lang="zh-CN" altLang="en-US" sz="2800" smtClean="0">
              <a:solidFill>
                <a:srgbClr val="002060"/>
              </a:solidFill>
              <a:ea typeface="宋体" panose="02010600030101010101" pitchFamily="2" charset="-122"/>
            </a:endParaRPr>
          </a:p>
        </p:txBody>
      </p:sp>
      <p:sp>
        <p:nvSpPr>
          <p:cNvPr id="32771" name="Rectangle 3"/>
          <p:cNvSpPr>
            <a:spLocks noChangeArrowheads="1"/>
          </p:cNvSpPr>
          <p:nvPr/>
        </p:nvSpPr>
        <p:spPr bwMode="auto">
          <a:xfrm>
            <a:off x="755650" y="1700213"/>
            <a:ext cx="7705725"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zh-CN" sz="2000" b="0">
                <a:solidFill>
                  <a:srgbClr val="000000"/>
                </a:solidFill>
                <a:latin typeface="Arial" panose="020B0604020202020204" pitchFamily="34" charset="0"/>
              </a:rPr>
              <a:t>#include &lt;linux/kernel.h&gt;</a:t>
            </a:r>
          </a:p>
          <a:p>
            <a:pPr eaLnBrk="1" hangingPunct="1">
              <a:spcBef>
                <a:spcPct val="0"/>
              </a:spcBef>
              <a:buClrTx/>
              <a:buFontTx/>
              <a:buNone/>
            </a:pPr>
            <a:r>
              <a:rPr lang="zh-CN" altLang="zh-CN" sz="2000" b="0">
                <a:solidFill>
                  <a:srgbClr val="000000"/>
                </a:solidFill>
                <a:latin typeface="Arial" panose="020B0604020202020204" pitchFamily="34" charset="0"/>
              </a:rPr>
              <a:t>#include &lt;linux/module.h&gt;</a:t>
            </a:r>
          </a:p>
          <a:p>
            <a:pPr eaLnBrk="1" hangingPunct="1">
              <a:spcBef>
                <a:spcPct val="0"/>
              </a:spcBef>
              <a:buClrTx/>
              <a:buFontTx/>
              <a:buNone/>
            </a:pPr>
            <a:r>
              <a:rPr lang="zh-CN" altLang="zh-CN" sz="2000" b="0">
                <a:solidFill>
                  <a:srgbClr val="000000"/>
                </a:solidFill>
                <a:latin typeface="Arial" panose="020B0604020202020204" pitchFamily="34" charset="0"/>
              </a:rPr>
              <a:t>#include &lt;linux/init.h&gt;</a:t>
            </a:r>
          </a:p>
          <a:p>
            <a:pPr eaLnBrk="1" hangingPunct="1">
              <a:spcBef>
                <a:spcPct val="0"/>
              </a:spcBef>
              <a:buClrTx/>
              <a:buFontTx/>
              <a:buNone/>
            </a:pPr>
            <a:r>
              <a:rPr lang="zh-CN" altLang="zh-CN" sz="2000" b="0">
                <a:solidFill>
                  <a:srgbClr val="000000"/>
                </a:solidFill>
                <a:latin typeface="Arial" panose="020B0604020202020204" pitchFamily="34" charset="0"/>
              </a:rPr>
              <a:t>static int __init hello_init(void)</a:t>
            </a:r>
          </a:p>
          <a:p>
            <a:pPr eaLnBrk="1" hangingPunct="1">
              <a:spcBef>
                <a:spcPct val="0"/>
              </a:spcBef>
              <a:buClrTx/>
              <a:buFontTx/>
              <a:buNone/>
            </a:pPr>
            <a:r>
              <a:rPr lang="zh-CN" altLang="zh-CN" sz="2000" b="0">
                <a:solidFill>
                  <a:srgbClr val="000000"/>
                </a:solidFill>
                <a:latin typeface="Arial" panose="020B0604020202020204" pitchFamily="34" charset="0"/>
              </a:rPr>
              <a:t>{</a:t>
            </a:r>
          </a:p>
          <a:p>
            <a:pPr lvl="1" eaLnBrk="1" hangingPunct="1">
              <a:spcBef>
                <a:spcPct val="0"/>
              </a:spcBef>
              <a:buClrTx/>
              <a:buSzTx/>
              <a:buFontTx/>
              <a:buNone/>
            </a:pPr>
            <a:r>
              <a:rPr lang="en-US" altLang="zh-CN" sz="2000" b="0">
                <a:solidFill>
                  <a:srgbClr val="000000"/>
                </a:solidFill>
                <a:latin typeface="Arial" panose="020B0604020202020204" pitchFamily="34" charset="0"/>
              </a:rPr>
              <a:t>	</a:t>
            </a:r>
            <a:r>
              <a:rPr lang="zh-CN" altLang="zh-CN" sz="2000" b="0">
                <a:solidFill>
                  <a:srgbClr val="000000"/>
                </a:solidFill>
                <a:latin typeface="Arial" panose="020B0604020202020204" pitchFamily="34" charset="0"/>
              </a:rPr>
              <a:t>printk(KERN_INFO "Hello world\n");</a:t>
            </a:r>
          </a:p>
          <a:p>
            <a:pPr lvl="1" eaLnBrk="1" hangingPunct="1">
              <a:spcBef>
                <a:spcPct val="0"/>
              </a:spcBef>
              <a:buClrTx/>
              <a:buSzTx/>
              <a:buFontTx/>
              <a:buNone/>
            </a:pPr>
            <a:r>
              <a:rPr lang="en-US" altLang="zh-CN" sz="2000" b="0">
                <a:solidFill>
                  <a:srgbClr val="000000"/>
                </a:solidFill>
                <a:latin typeface="Arial" panose="020B0604020202020204" pitchFamily="34" charset="0"/>
              </a:rPr>
              <a:t>	</a:t>
            </a:r>
            <a:r>
              <a:rPr lang="zh-CN" altLang="zh-CN" sz="2000" b="0">
                <a:solidFill>
                  <a:srgbClr val="000000"/>
                </a:solidFill>
                <a:latin typeface="Arial" panose="020B0604020202020204" pitchFamily="34" charset="0"/>
              </a:rPr>
              <a:t>return 0;</a:t>
            </a:r>
          </a:p>
          <a:p>
            <a:pPr eaLnBrk="1" hangingPunct="1">
              <a:spcBef>
                <a:spcPct val="0"/>
              </a:spcBef>
              <a:buClrTx/>
              <a:buFontTx/>
              <a:buNone/>
            </a:pPr>
            <a:r>
              <a:rPr lang="zh-CN" altLang="zh-CN" sz="2000" b="0">
                <a:solidFill>
                  <a:srgbClr val="000000"/>
                </a:solidFill>
                <a:latin typeface="Arial" panose="020B0604020202020204" pitchFamily="34" charset="0"/>
              </a:rPr>
              <a:t>}</a:t>
            </a:r>
          </a:p>
          <a:p>
            <a:pPr eaLnBrk="1" hangingPunct="1">
              <a:spcBef>
                <a:spcPct val="0"/>
              </a:spcBef>
              <a:buClrTx/>
              <a:buFontTx/>
              <a:buNone/>
            </a:pPr>
            <a:r>
              <a:rPr lang="zh-CN" altLang="zh-CN" sz="2000" b="0">
                <a:solidFill>
                  <a:srgbClr val="000000"/>
                </a:solidFill>
                <a:latin typeface="Arial" panose="020B0604020202020204" pitchFamily="34" charset="0"/>
              </a:rPr>
              <a:t>static void __exit hello_exit(void)</a:t>
            </a:r>
          </a:p>
          <a:p>
            <a:pPr eaLnBrk="1" hangingPunct="1">
              <a:spcBef>
                <a:spcPct val="0"/>
              </a:spcBef>
              <a:buClrTx/>
              <a:buFontTx/>
              <a:buNone/>
            </a:pPr>
            <a:r>
              <a:rPr lang="zh-CN" altLang="zh-CN" sz="2000" b="0">
                <a:solidFill>
                  <a:srgbClr val="000000"/>
                </a:solidFill>
                <a:latin typeface="Arial" panose="020B0604020202020204" pitchFamily="34" charset="0"/>
              </a:rPr>
              <a:t>{</a:t>
            </a:r>
          </a:p>
          <a:p>
            <a:pPr lvl="1" eaLnBrk="1" hangingPunct="1">
              <a:spcBef>
                <a:spcPct val="0"/>
              </a:spcBef>
              <a:buClrTx/>
              <a:buSzTx/>
              <a:buFontTx/>
              <a:buNone/>
            </a:pPr>
            <a:r>
              <a:rPr lang="en-US" altLang="zh-CN" sz="2000" b="0">
                <a:solidFill>
                  <a:srgbClr val="000000"/>
                </a:solidFill>
                <a:latin typeface="Arial" panose="020B0604020202020204" pitchFamily="34" charset="0"/>
              </a:rPr>
              <a:t>	</a:t>
            </a:r>
            <a:r>
              <a:rPr lang="zh-CN" altLang="zh-CN" sz="2000" b="0">
                <a:solidFill>
                  <a:srgbClr val="000000"/>
                </a:solidFill>
                <a:latin typeface="Arial" panose="020B0604020202020204" pitchFamily="34" charset="0"/>
              </a:rPr>
              <a:t>printk(KERN_INFO "Goodbye world\n");</a:t>
            </a:r>
          </a:p>
          <a:p>
            <a:pPr eaLnBrk="1" hangingPunct="1">
              <a:spcBef>
                <a:spcPct val="0"/>
              </a:spcBef>
              <a:buClrTx/>
              <a:buFontTx/>
              <a:buNone/>
            </a:pPr>
            <a:r>
              <a:rPr lang="zh-CN" altLang="zh-CN" sz="2000" b="0">
                <a:solidFill>
                  <a:srgbClr val="000000"/>
                </a:solidFill>
                <a:latin typeface="Arial" panose="020B0604020202020204" pitchFamily="34" charset="0"/>
              </a:rPr>
              <a:t>}</a:t>
            </a:r>
          </a:p>
          <a:p>
            <a:pPr eaLnBrk="1" hangingPunct="1">
              <a:spcBef>
                <a:spcPct val="0"/>
              </a:spcBef>
              <a:buClrTx/>
              <a:buFontTx/>
              <a:buNone/>
            </a:pPr>
            <a:r>
              <a:rPr lang="zh-CN" altLang="zh-CN" sz="2000" b="0">
                <a:solidFill>
                  <a:srgbClr val="000000"/>
                </a:solidFill>
                <a:latin typeface="Arial" panose="020B0604020202020204" pitchFamily="34" charset="0"/>
              </a:rPr>
              <a:t>module_init(hello_init);</a:t>
            </a:r>
          </a:p>
          <a:p>
            <a:pPr eaLnBrk="1" hangingPunct="1">
              <a:spcBef>
                <a:spcPct val="0"/>
              </a:spcBef>
              <a:buClrTx/>
              <a:buFontTx/>
              <a:buNone/>
            </a:pPr>
            <a:r>
              <a:rPr lang="zh-CN" altLang="zh-CN" sz="2000" b="0">
                <a:solidFill>
                  <a:srgbClr val="000000"/>
                </a:solidFill>
                <a:latin typeface="Arial" panose="020B0604020202020204" pitchFamily="34" charset="0"/>
              </a:rPr>
              <a:t>module_exit(hello_exit);</a:t>
            </a:r>
            <a:endParaRPr lang="en-US" altLang="zh-CN" sz="2000" b="0">
              <a:solidFill>
                <a:srgbClr val="000000"/>
              </a:solidFill>
              <a:latin typeface="Arial" panose="020B0604020202020204" pitchFamily="34" charset="0"/>
            </a:endParaRPr>
          </a:p>
        </p:txBody>
      </p:sp>
      <p:sp>
        <p:nvSpPr>
          <p:cNvPr id="32772"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610436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468313" y="1125538"/>
            <a:ext cx="8002587" cy="4967287"/>
          </a:xfrm>
        </p:spPr>
        <p:txBody>
          <a:bodyPr/>
          <a:lstStyle/>
          <a:p>
            <a:pPr>
              <a:lnSpc>
                <a:spcPct val="90000"/>
              </a:lnSpc>
              <a:buFont typeface="Arial" panose="020B0604020202020204" pitchFamily="34" charset="0"/>
              <a:buChar char="•"/>
            </a:pPr>
            <a:r>
              <a:rPr lang="zh-CN"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static int __init hello_init(void)</a:t>
            </a:r>
            <a:endParaRPr lang="en-US"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90000"/>
              </a:lnSpc>
              <a:buFont typeface="Arial" panose="020B0604020202020204" pitchFamily="34" charset="0"/>
              <a:buChar char="•"/>
            </a:pPr>
            <a:r>
              <a:rPr lang="zh-CN"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static void __exit hello_exit(void)</a:t>
            </a:r>
          </a:p>
          <a:p>
            <a:pPr lvl="1">
              <a:lnSpc>
                <a:spcPct val="90000"/>
              </a:lnSpc>
              <a:buFont typeface="Arial" panose="020B0604020202020204" pitchFamily="34" charset="0"/>
              <a:buChar char="•"/>
            </a:pPr>
            <a:r>
              <a:rPr lang="zh-CN" altLang="zh-CN" sz="21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Static声明，因为这种函数在特定文件之外没有其它意义</a:t>
            </a:r>
            <a:endParaRPr lang="zh-CN" altLang="en-US" sz="21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90000"/>
              </a:lnSpc>
              <a:buFont typeface="Arial" panose="020B0604020202020204" pitchFamily="34" charset="0"/>
              <a:buChar char="•"/>
            </a:pPr>
            <a:r>
              <a:rPr lang="en-US" altLang="zh-CN" sz="21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__init</a:t>
            </a:r>
            <a:r>
              <a:rPr lang="zh-CN" altLang="en-US" sz="21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标记</a:t>
            </a:r>
            <a:r>
              <a:rPr lang="en-US" altLang="zh-CN" sz="21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1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该函数只在初始化期间使用。模块装载后，将该函数占用的内存空间释放</a:t>
            </a:r>
          </a:p>
          <a:p>
            <a:pPr lvl="1">
              <a:lnSpc>
                <a:spcPct val="90000"/>
              </a:lnSpc>
              <a:buFont typeface="Arial" panose="020B0604020202020204" pitchFamily="34" charset="0"/>
              <a:buChar char="•"/>
            </a:pPr>
            <a:r>
              <a:rPr lang="en-US" altLang="zh-CN" sz="21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__exit</a:t>
            </a:r>
            <a:r>
              <a:rPr lang="zh-CN" altLang="en-US" sz="21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标记 该代码仅用于模块卸载。</a:t>
            </a:r>
          </a:p>
          <a:p>
            <a:pPr>
              <a:lnSpc>
                <a:spcPct val="90000"/>
              </a:lnSpc>
              <a:buFont typeface="Arial" panose="020B0604020202020204" pitchFamily="34" charset="0"/>
              <a:buChar char="•"/>
            </a:pPr>
            <a:r>
              <a:rPr lang="zh-CN"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Init/exit</a:t>
            </a:r>
          </a:p>
          <a:p>
            <a:pPr lvl="1">
              <a:lnSpc>
                <a:spcPct val="90000"/>
              </a:lnSpc>
              <a:buFont typeface="Arial" panose="020B0604020202020204" pitchFamily="34" charset="0"/>
              <a:buChar char="•"/>
            </a:pPr>
            <a:r>
              <a:rPr lang="zh-CN"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宏：module_init/module_exit</a:t>
            </a:r>
          </a:p>
          <a:p>
            <a:pPr lvl="1">
              <a:lnSpc>
                <a:spcPct val="90000"/>
              </a:lnSpc>
              <a:buFont typeface="Arial" panose="020B0604020202020204" pitchFamily="34" charset="0"/>
              <a:buChar char="•"/>
            </a:pPr>
            <a:r>
              <a:rPr lang="zh-CN"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声明模块初始化及清除函数所在的位置</a:t>
            </a:r>
          </a:p>
          <a:p>
            <a:pPr lvl="1">
              <a:lnSpc>
                <a:spcPct val="90000"/>
              </a:lnSpc>
              <a:buFont typeface="Arial" panose="020B0604020202020204" pitchFamily="34" charset="0"/>
              <a:buChar char="•"/>
            </a:pPr>
            <a:r>
              <a:rPr lang="zh-CN"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装载和卸载模块时，内核可以自动找到相应的函数</a:t>
            </a:r>
            <a:endParaRPr lang="zh-CN" altLang="en-US"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90000"/>
              </a:lnSpc>
              <a:buFont typeface="Arial" panose="020B0604020202020204" pitchFamily="34" charset="0"/>
              <a:buChar char="•"/>
            </a:pPr>
            <a:r>
              <a:rPr lang="zh-CN" altLang="en-US"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module_init(hello_init);</a:t>
            </a:r>
          </a:p>
          <a:p>
            <a:pPr>
              <a:lnSpc>
                <a:spcPct val="90000"/>
              </a:lnSpc>
              <a:buFont typeface="Arial" panose="020B0604020202020204" pitchFamily="34" charset="0"/>
              <a:buChar char="•"/>
            </a:pPr>
            <a:r>
              <a:rPr lang="en-US"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rPr>
              <a:t>module_exit(hello_exit);</a:t>
            </a:r>
            <a:endParaRPr lang="en-US" altLang="zh-CN" sz="2400" smtClean="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795"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999873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68313" y="885825"/>
            <a:ext cx="8507412" cy="1139825"/>
          </a:xfrm>
        </p:spPr>
        <p:txBody>
          <a:bodyPr/>
          <a:lstStyle/>
          <a:p>
            <a:pPr algn="l" defTabSz="812800"/>
            <a:r>
              <a:rPr lang="zh-CN" altLang="zh-CN" sz="2800" smtClean="0">
                <a:solidFill>
                  <a:srgbClr val="002060"/>
                </a:solidFill>
                <a:ea typeface="宋体" panose="02010600030101010101" pitchFamily="2" charset="-122"/>
              </a:rPr>
              <a:t>编译</a:t>
            </a:r>
            <a:r>
              <a:rPr lang="zh-CN" altLang="en-US" sz="2800" smtClean="0">
                <a:solidFill>
                  <a:srgbClr val="002060"/>
                </a:solidFill>
                <a:ea typeface="宋体" panose="02010600030101010101" pitchFamily="2" charset="-122"/>
              </a:rPr>
              <a:t>内核</a:t>
            </a:r>
            <a:r>
              <a:rPr lang="zh-CN" altLang="zh-CN" sz="2800" smtClean="0">
                <a:solidFill>
                  <a:srgbClr val="002060"/>
                </a:solidFill>
                <a:ea typeface="宋体" panose="02010600030101010101" pitchFamily="2" charset="-122"/>
              </a:rPr>
              <a:t>模块</a:t>
            </a:r>
            <a:endParaRPr lang="zh-CN" altLang="en-US" sz="2800" smtClean="0">
              <a:solidFill>
                <a:srgbClr val="002060"/>
              </a:solidFill>
              <a:ea typeface="宋体" panose="02010600030101010101" pitchFamily="2" charset="-122"/>
            </a:endParaRPr>
          </a:p>
        </p:txBody>
      </p:sp>
      <p:sp>
        <p:nvSpPr>
          <p:cNvPr id="34819" name="Rectangle 3"/>
          <p:cNvSpPr>
            <a:spLocks noGrp="1" noChangeArrowheads="1"/>
          </p:cNvSpPr>
          <p:nvPr>
            <p:ph type="body" idx="1"/>
          </p:nvPr>
        </p:nvSpPr>
        <p:spPr>
          <a:xfrm>
            <a:off x="468313" y="1822450"/>
            <a:ext cx="8229600" cy="2878138"/>
          </a:xfrm>
        </p:spPr>
        <p:txBody>
          <a:bodyPr/>
          <a:lstStyle/>
          <a:p>
            <a:pPr>
              <a:lnSpc>
                <a:spcPct val="80000"/>
              </a:lnSpc>
            </a:pPr>
            <a:r>
              <a:rPr lang="zh-CN" altLang="zh-CN" sz="2400" smtClean="0">
                <a:ea typeface="宋体" panose="02010600030101010101" pitchFamily="2" charset="-122"/>
              </a:rPr>
              <a:t>Makefile文件</a:t>
            </a:r>
          </a:p>
          <a:p>
            <a:pPr lvl="2">
              <a:lnSpc>
                <a:spcPct val="80000"/>
              </a:lnSpc>
              <a:buFont typeface="Monotype Sorts"/>
              <a:buNone/>
            </a:pPr>
            <a:r>
              <a:rPr lang="zh-CN" altLang="zh-CN" sz="2000" b="1" smtClean="0">
                <a:ea typeface="宋体" panose="02010600030101010101" pitchFamily="2" charset="-122"/>
              </a:rPr>
              <a:t>obj-m := hello.o</a:t>
            </a:r>
          </a:p>
          <a:p>
            <a:pPr lvl="2">
              <a:lnSpc>
                <a:spcPct val="80000"/>
              </a:lnSpc>
              <a:buFont typeface="Monotype Sorts"/>
              <a:buNone/>
            </a:pPr>
            <a:r>
              <a:rPr lang="zh-CN" altLang="zh-CN" sz="2000" b="1" smtClean="0">
                <a:ea typeface="宋体" panose="02010600030101010101" pitchFamily="2" charset="-122"/>
              </a:rPr>
              <a:t>all:</a:t>
            </a:r>
            <a:r>
              <a:rPr lang="en-US" altLang="zh-CN" sz="2000" b="1" smtClean="0">
                <a:ea typeface="宋体" panose="02010600030101010101" pitchFamily="2" charset="-122"/>
              </a:rPr>
              <a:t> </a:t>
            </a:r>
            <a:endParaRPr lang="zh-CN" altLang="zh-CN" sz="2000" b="1" smtClean="0">
              <a:ea typeface="宋体" panose="02010600030101010101" pitchFamily="2" charset="-122"/>
            </a:endParaRPr>
          </a:p>
          <a:p>
            <a:pPr lvl="3">
              <a:lnSpc>
                <a:spcPct val="80000"/>
              </a:lnSpc>
              <a:buFontTx/>
              <a:buNone/>
            </a:pPr>
            <a:r>
              <a:rPr lang="zh-CN" altLang="zh-CN" sz="2400" b="1" smtClean="0">
                <a:ea typeface="宋体" panose="02010600030101010101" pitchFamily="2" charset="-122"/>
              </a:rPr>
              <a:t>make -C /lib/modules/$(shell uname -r)/build M=$(shell pwd) modules</a:t>
            </a:r>
          </a:p>
          <a:p>
            <a:pPr lvl="2">
              <a:lnSpc>
                <a:spcPct val="80000"/>
              </a:lnSpc>
              <a:buFont typeface="Monotype Sorts"/>
              <a:buNone/>
            </a:pPr>
            <a:r>
              <a:rPr lang="zh-CN" altLang="zh-CN" sz="2000" b="1" smtClean="0">
                <a:ea typeface="宋体" panose="02010600030101010101" pitchFamily="2" charset="-122"/>
              </a:rPr>
              <a:t>clean:</a:t>
            </a:r>
          </a:p>
          <a:p>
            <a:pPr lvl="3">
              <a:lnSpc>
                <a:spcPct val="80000"/>
              </a:lnSpc>
              <a:buFontTx/>
              <a:buNone/>
            </a:pPr>
            <a:r>
              <a:rPr lang="zh-CN" altLang="zh-CN" sz="2400" b="1" smtClean="0">
                <a:ea typeface="宋体" panose="02010600030101010101" pitchFamily="2" charset="-122"/>
              </a:rPr>
              <a:t>make -C /lib/modules/$(shell uname -r)/build M=$(shell pwd) clean</a:t>
            </a:r>
            <a:endParaRPr lang="en-US" altLang="zh-CN" sz="2400" b="1" smtClean="0">
              <a:ea typeface="宋体" panose="02010600030101010101" pitchFamily="2" charset="-122"/>
            </a:endParaRPr>
          </a:p>
          <a:p>
            <a:pPr>
              <a:lnSpc>
                <a:spcPct val="80000"/>
              </a:lnSpc>
            </a:pPr>
            <a:r>
              <a:rPr lang="zh-CN" altLang="zh-CN" sz="2400" smtClean="0">
                <a:ea typeface="宋体" panose="02010600030101010101" pitchFamily="2" charset="-122"/>
              </a:rPr>
              <a:t>Module includes more files</a:t>
            </a:r>
            <a:endParaRPr lang="en-US" altLang="zh-CN" sz="2400" smtClean="0">
              <a:ea typeface="宋体" panose="02010600030101010101" pitchFamily="2" charset="-122"/>
            </a:endParaRPr>
          </a:p>
          <a:p>
            <a:pPr lvl="2">
              <a:lnSpc>
                <a:spcPct val="80000"/>
              </a:lnSpc>
              <a:buFont typeface="Monotype Sorts"/>
              <a:buNone/>
            </a:pPr>
            <a:r>
              <a:rPr lang="zh-CN" altLang="zh-CN" sz="2000" b="1" smtClean="0">
                <a:ea typeface="宋体" panose="02010600030101010101" pitchFamily="2" charset="-122"/>
              </a:rPr>
              <a:t>obj-m:=hello.o</a:t>
            </a:r>
          </a:p>
          <a:p>
            <a:pPr lvl="2">
              <a:lnSpc>
                <a:spcPct val="80000"/>
              </a:lnSpc>
              <a:buFont typeface="Monotype Sorts"/>
              <a:buNone/>
            </a:pPr>
            <a:r>
              <a:rPr lang="zh-CN" altLang="zh-CN" sz="2000" b="1" smtClean="0">
                <a:ea typeface="宋体" panose="02010600030101010101" pitchFamily="2" charset="-122"/>
              </a:rPr>
              <a:t>hello-objs := a.o b.o</a:t>
            </a:r>
          </a:p>
        </p:txBody>
      </p:sp>
      <p:sp>
        <p:nvSpPr>
          <p:cNvPr id="34820"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6657076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93700" y="536575"/>
            <a:ext cx="8507413" cy="1139825"/>
          </a:xfrm>
        </p:spPr>
        <p:txBody>
          <a:bodyPr/>
          <a:lstStyle/>
          <a:p>
            <a:pPr algn="l" defTabSz="812800"/>
            <a:r>
              <a:rPr lang="zh-CN" altLang="zh-CN" sz="2800" smtClean="0">
                <a:solidFill>
                  <a:srgbClr val="002060"/>
                </a:solidFill>
                <a:ea typeface="宋体" panose="02010600030101010101" pitchFamily="2" charset="-122"/>
              </a:rPr>
              <a:t>装载和卸载模块</a:t>
            </a:r>
            <a:endParaRPr lang="zh-CN" altLang="en-US" sz="2800" smtClean="0">
              <a:solidFill>
                <a:srgbClr val="002060"/>
              </a:solidFill>
              <a:ea typeface="宋体" panose="02010600030101010101" pitchFamily="2" charset="-122"/>
            </a:endParaRPr>
          </a:p>
        </p:txBody>
      </p:sp>
      <p:sp>
        <p:nvSpPr>
          <p:cNvPr id="35843" name="Rectangle 3"/>
          <p:cNvSpPr>
            <a:spLocks noGrp="1" noChangeArrowheads="1"/>
          </p:cNvSpPr>
          <p:nvPr>
            <p:ph type="body" idx="1"/>
          </p:nvPr>
        </p:nvSpPr>
        <p:spPr>
          <a:xfrm>
            <a:off x="533400" y="1676400"/>
            <a:ext cx="8229600" cy="4097338"/>
          </a:xfrm>
        </p:spPr>
        <p:txBody>
          <a:bodyPr/>
          <a:lstStyle/>
          <a:p>
            <a:pPr>
              <a:lnSpc>
                <a:spcPct val="90000"/>
              </a:lnSpc>
            </a:pPr>
            <a:r>
              <a:rPr lang="zh-CN" altLang="zh-CN" sz="2400" smtClean="0">
                <a:solidFill>
                  <a:srgbClr val="002060"/>
                </a:solidFill>
                <a:latin typeface="幼圆" panose="02010509060101010101" pitchFamily="49" charset="-122"/>
                <a:ea typeface="幼圆" panose="02010509060101010101" pitchFamily="49" charset="-122"/>
              </a:rPr>
              <a:t>相关命令</a:t>
            </a:r>
          </a:p>
          <a:p>
            <a:pPr lvl="1">
              <a:lnSpc>
                <a:spcPct val="90000"/>
              </a:lnSpc>
            </a:pPr>
            <a:r>
              <a:rPr lang="zh-CN" altLang="zh-CN" sz="2400" smtClean="0">
                <a:solidFill>
                  <a:srgbClr val="002060"/>
                </a:solidFill>
                <a:latin typeface="幼圆" panose="02010509060101010101" pitchFamily="49" charset="-122"/>
                <a:ea typeface="幼圆" panose="02010509060101010101" pitchFamily="49" charset="-122"/>
              </a:rPr>
              <a:t>lsmod</a:t>
            </a:r>
          </a:p>
          <a:p>
            <a:pPr lvl="1">
              <a:lnSpc>
                <a:spcPct val="90000"/>
              </a:lnSpc>
            </a:pPr>
            <a:r>
              <a:rPr lang="zh-CN" altLang="zh-CN" sz="2400" smtClean="0">
                <a:solidFill>
                  <a:srgbClr val="002060"/>
                </a:solidFill>
                <a:latin typeface="幼圆" panose="02010509060101010101" pitchFamily="49" charset="-122"/>
                <a:ea typeface="幼圆" panose="02010509060101010101" pitchFamily="49" charset="-122"/>
              </a:rPr>
              <a:t>insmod hello.ko</a:t>
            </a:r>
          </a:p>
          <a:p>
            <a:pPr lvl="1">
              <a:lnSpc>
                <a:spcPct val="90000"/>
              </a:lnSpc>
            </a:pPr>
            <a:r>
              <a:rPr lang="zh-CN" altLang="zh-CN" sz="2400" smtClean="0">
                <a:solidFill>
                  <a:srgbClr val="002060"/>
                </a:solidFill>
                <a:latin typeface="幼圆" panose="02010509060101010101" pitchFamily="49" charset="-122"/>
                <a:ea typeface="幼圆" panose="02010509060101010101" pitchFamily="49" charset="-122"/>
              </a:rPr>
              <a:t>rmmod hello.ko</a:t>
            </a:r>
          </a:p>
        </p:txBody>
      </p:sp>
      <p:sp>
        <p:nvSpPr>
          <p:cNvPr id="35844"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6072495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57225" y="1006475"/>
            <a:ext cx="7772400" cy="844550"/>
          </a:xfrm>
        </p:spPr>
        <p:txBody>
          <a:bodyPr/>
          <a:lstStyle/>
          <a:p>
            <a:pPr algn="l"/>
            <a:r>
              <a:rPr lang="zh-CN" altLang="en-US" sz="2800" smtClean="0">
                <a:solidFill>
                  <a:srgbClr val="002060"/>
                </a:solidFill>
                <a:latin typeface="Times New Roman" panose="02020603050405020304" pitchFamily="18" charset="0"/>
                <a:ea typeface="宋体" panose="02010600030101010101" pitchFamily="2" charset="-122"/>
              </a:rPr>
              <a:t>内核模块的引入带来的问题</a:t>
            </a:r>
          </a:p>
        </p:txBody>
      </p:sp>
      <p:sp>
        <p:nvSpPr>
          <p:cNvPr id="36867" name="Rectangle 3"/>
          <p:cNvSpPr>
            <a:spLocks noGrp="1" noChangeArrowheads="1"/>
          </p:cNvSpPr>
          <p:nvPr>
            <p:ph type="body" idx="1"/>
          </p:nvPr>
        </p:nvSpPr>
        <p:spPr>
          <a:xfrm>
            <a:off x="241300" y="1851025"/>
            <a:ext cx="8450263" cy="5130800"/>
          </a:xfrm>
        </p:spPr>
        <p:txBody>
          <a:bodyPr/>
          <a:lstStyle/>
          <a:p>
            <a:pPr eaLnBrk="1" hangingPunct="1">
              <a:spcBef>
                <a:spcPct val="0"/>
              </a:spcBef>
              <a:buClrTx/>
              <a:buFont typeface="Arial" panose="020B0604020202020204" pitchFamily="34" charset="0"/>
              <a:buChar char="•"/>
            </a:pPr>
            <a:r>
              <a:rPr lang="zh-CN" altLang="en-US" sz="2400" smtClean="0">
                <a:latin typeface="Times New Roman" panose="02020603050405020304" pitchFamily="18" charset="0"/>
                <a:ea typeface="宋体" panose="02010600030101010101" pitchFamily="2" charset="-122"/>
              </a:rPr>
              <a:t>有可能同时带来与内核模块相关的性能与内存损失。可加载模块的代码一般较长，且额外的数据结构可能会占据一些内存，对系统性能和内存利用有负面影响。</a:t>
            </a:r>
            <a:endParaRPr lang="en-US" altLang="zh-CN" sz="2400" smtClean="0">
              <a:latin typeface="Times New Roman" panose="02020603050405020304" pitchFamily="18" charset="0"/>
              <a:ea typeface="宋体" panose="02010600030101010101" pitchFamily="2" charset="-122"/>
            </a:endParaRPr>
          </a:p>
          <a:p>
            <a:pPr eaLnBrk="1" hangingPunct="1">
              <a:spcBef>
                <a:spcPct val="0"/>
              </a:spcBef>
              <a:buClrTx/>
              <a:buFont typeface="Arial" panose="020B0604020202020204" pitchFamily="34" charset="0"/>
              <a:buChar char="•"/>
            </a:pPr>
            <a:r>
              <a:rPr lang="zh-CN" altLang="en-US" sz="2400" smtClean="0">
                <a:latin typeface="宋体" panose="02010600030101010101" pitchFamily="2" charset="-122"/>
                <a:ea typeface="宋体" panose="02010600030101010101" pitchFamily="2" charset="-122"/>
              </a:rPr>
              <a:t>一旦</a:t>
            </a:r>
            <a:r>
              <a:rPr lang="en-US" altLang="zh-CN" sz="2400" smtClean="0">
                <a:latin typeface="Arial" panose="020B0604020202020204" pitchFamily="34" charset="0"/>
                <a:ea typeface="宋体" panose="02010600030101010101" pitchFamily="2" charset="-122"/>
              </a:rPr>
              <a:t>Linux</a:t>
            </a:r>
            <a:r>
              <a:rPr lang="zh-CN" altLang="en-US" sz="2400" smtClean="0">
                <a:latin typeface="宋体" panose="02010600030101010101" pitchFamily="2" charset="-122"/>
                <a:ea typeface="宋体" panose="02010600030101010101" pitchFamily="2" charset="-122"/>
              </a:rPr>
              <a:t>模块被加载，则和普通内核代码一样成为内核的一部分，具有与其他内核代码相同的权限与职责。因此，</a:t>
            </a:r>
            <a:r>
              <a:rPr lang="en-US" altLang="zh-CN" sz="2400" smtClean="0">
                <a:latin typeface="Arial" panose="020B0604020202020204" pitchFamily="34" charset="0"/>
                <a:ea typeface="宋体" panose="02010600030101010101" pitchFamily="2" charset="-122"/>
              </a:rPr>
              <a:t>Linux</a:t>
            </a:r>
            <a:r>
              <a:rPr lang="zh-CN" altLang="en-US" sz="2400" smtClean="0">
                <a:latin typeface="宋体" panose="02010600030101010101" pitchFamily="2" charset="-122"/>
                <a:ea typeface="宋体" panose="02010600030101010101" pitchFamily="2" charset="-122"/>
              </a:rPr>
              <a:t>内核模块也可以象所有内核代码和设备驱动一样使内核崩溃。</a:t>
            </a:r>
            <a:r>
              <a:rPr lang="zh-CN" altLang="en-US" sz="2400" smtClean="0">
                <a:latin typeface="Arial" panose="020B0604020202020204" pitchFamily="34" charset="0"/>
                <a:ea typeface="宋体" panose="02010600030101010101" pitchFamily="2" charset="-122"/>
              </a:rPr>
              <a:t> </a:t>
            </a:r>
          </a:p>
          <a:p>
            <a:pPr>
              <a:spcBef>
                <a:spcPct val="0"/>
              </a:spcBef>
              <a:buClrTx/>
              <a:buFont typeface="Arial" panose="020B0604020202020204" pitchFamily="34" charset="0"/>
              <a:buChar char="•"/>
            </a:pPr>
            <a:r>
              <a:rPr lang="zh-CN" altLang="en-US" sz="2400" smtClean="0">
                <a:latin typeface="宋体" panose="02010600030101010101" pitchFamily="2" charset="-122"/>
                <a:ea typeface="宋体" panose="02010600030101010101" pitchFamily="2" charset="-122"/>
              </a:rPr>
              <a:t>为了内核模块访问所有内核资源，内核必须维护符号表，并在装入和卸载模块时修改这些符号表。</a:t>
            </a:r>
            <a:r>
              <a:rPr lang="zh-CN" altLang="en-US" sz="2400" smtClean="0">
                <a:latin typeface="Arial" panose="020B0604020202020204" pitchFamily="34" charset="0"/>
                <a:ea typeface="宋体" panose="02010600030101010101" pitchFamily="2" charset="-122"/>
              </a:rPr>
              <a:t> </a:t>
            </a:r>
          </a:p>
        </p:txBody>
      </p:sp>
      <p:sp>
        <p:nvSpPr>
          <p:cNvPr id="36868"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7407681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1"/>
          </p:nvPr>
        </p:nvSpPr>
        <p:spPr>
          <a:xfrm>
            <a:off x="649288" y="1593850"/>
            <a:ext cx="7670800" cy="4613275"/>
          </a:xfrm>
        </p:spPr>
        <p:txBody>
          <a:bodyPr/>
          <a:lstStyle/>
          <a:p>
            <a:pPr eaLnBrk="1" hangingPunct="1">
              <a:spcBef>
                <a:spcPct val="0"/>
              </a:spcBef>
              <a:buClrTx/>
              <a:buFontTx/>
              <a:buNone/>
            </a:pPr>
            <a:endParaRPr lang="zh-CN" altLang="en-US" smtClean="0">
              <a:latin typeface="Arial" panose="020B0604020202020204" pitchFamily="34" charset="0"/>
              <a:ea typeface="宋体" panose="02010600030101010101" pitchFamily="2" charset="-122"/>
            </a:endParaRPr>
          </a:p>
          <a:p>
            <a:pPr>
              <a:lnSpc>
                <a:spcPct val="130000"/>
              </a:lnSpc>
              <a:spcBef>
                <a:spcPct val="0"/>
              </a:spcBef>
              <a:buClrTx/>
              <a:buFont typeface="Arial" panose="020B0604020202020204" pitchFamily="34" charset="0"/>
              <a:buChar char="•"/>
            </a:pPr>
            <a:r>
              <a:rPr lang="zh-CN" altLang="en-US" smtClean="0">
                <a:latin typeface="Times New Roman" panose="02020603050405020304" pitchFamily="18" charset="0"/>
                <a:ea typeface="宋体" panose="02010600030101010101" pitchFamily="2" charset="-122"/>
              </a:rPr>
              <a:t>有些模块要求利用其他模块的功能，因此，内核要维护模块之间的依赖性。</a:t>
            </a:r>
            <a:endParaRPr lang="zh-CN" altLang="en-US" smtClean="0">
              <a:latin typeface="Arial" panose="020B0604020202020204" pitchFamily="34" charset="0"/>
              <a:ea typeface="宋体" panose="02010600030101010101" pitchFamily="2" charset="-122"/>
            </a:endParaRPr>
          </a:p>
          <a:p>
            <a:pPr>
              <a:lnSpc>
                <a:spcPct val="130000"/>
              </a:lnSpc>
              <a:spcBef>
                <a:spcPct val="0"/>
              </a:spcBef>
              <a:buClrTx/>
              <a:buFont typeface="Arial" panose="020B0604020202020204" pitchFamily="34" charset="0"/>
              <a:buChar char="•"/>
            </a:pPr>
            <a:r>
              <a:rPr lang="zh-CN" altLang="en-US" smtClean="0">
                <a:latin typeface="Times New Roman" panose="02020603050405020304" pitchFamily="18" charset="0"/>
                <a:ea typeface="宋体" panose="02010600030101010101" pitchFamily="2" charset="-122"/>
              </a:rPr>
              <a:t>内核必须能够在卸载模块时通知模块，并且要释放分配给模块的内存和中断等资源；</a:t>
            </a:r>
            <a:endParaRPr lang="zh-CN" altLang="en-US" smtClean="0">
              <a:latin typeface="Arial" panose="020B0604020202020204" pitchFamily="34" charset="0"/>
              <a:ea typeface="宋体" panose="02010600030101010101" pitchFamily="2" charset="-122"/>
            </a:endParaRPr>
          </a:p>
          <a:p>
            <a:pPr>
              <a:lnSpc>
                <a:spcPct val="130000"/>
              </a:lnSpc>
              <a:spcBef>
                <a:spcPct val="0"/>
              </a:spcBef>
              <a:buClrTx/>
              <a:buFont typeface="Arial" panose="020B0604020202020204" pitchFamily="34" charset="0"/>
              <a:buChar char="•"/>
            </a:pPr>
            <a:r>
              <a:rPr lang="zh-CN" altLang="en-US" smtClean="0">
                <a:latin typeface="Times New Roman" panose="02020603050405020304" pitchFamily="18" charset="0"/>
                <a:ea typeface="宋体" panose="02010600030101010101" pitchFamily="2" charset="-122"/>
              </a:rPr>
              <a:t>内核版本和模块版本的不兼容，也可能导致系统崩溃，因此，严格的版本检查是必需的。</a:t>
            </a:r>
            <a:endParaRPr lang="zh-CN" altLang="en-US" smtClean="0">
              <a:ea typeface="宋体" panose="02010600030101010101" pitchFamily="2" charset="-122"/>
            </a:endParaRPr>
          </a:p>
        </p:txBody>
      </p:sp>
      <p:sp>
        <p:nvSpPr>
          <p:cNvPr id="37891" name="Rectangle 2"/>
          <p:cNvSpPr>
            <a:spLocks noGrp="1" noChangeArrowheads="1"/>
          </p:cNvSpPr>
          <p:nvPr>
            <p:ph type="title"/>
          </p:nvPr>
        </p:nvSpPr>
        <p:spPr>
          <a:xfrm>
            <a:off x="657225" y="1006475"/>
            <a:ext cx="7772400" cy="844550"/>
          </a:xfrm>
        </p:spPr>
        <p:txBody>
          <a:bodyPr/>
          <a:lstStyle/>
          <a:p>
            <a:pPr algn="l"/>
            <a:r>
              <a:rPr lang="zh-CN" altLang="en-US" sz="2800" smtClean="0">
                <a:solidFill>
                  <a:srgbClr val="002060"/>
                </a:solidFill>
                <a:latin typeface="Times New Roman" panose="02020603050405020304" pitchFamily="18" charset="0"/>
                <a:ea typeface="宋体" panose="02010600030101010101" pitchFamily="2" charset="-122"/>
              </a:rPr>
              <a:t>内核模块的引入带来的问题</a:t>
            </a:r>
          </a:p>
        </p:txBody>
      </p:sp>
      <p:sp>
        <p:nvSpPr>
          <p:cNvPr id="37892" name="Rectangle 2"/>
          <p:cNvSpPr>
            <a:spLocks noChangeArrowheads="1"/>
          </p:cNvSpPr>
          <p:nvPr/>
        </p:nvSpPr>
        <p:spPr bwMode="auto">
          <a:xfrm>
            <a:off x="1171575" y="0"/>
            <a:ext cx="77724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None/>
            </a:pPr>
            <a:r>
              <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8.6 Linux</a:t>
            </a:r>
            <a:r>
              <a:rPr lang="zh-CN" altLang="en-US"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模块机制</a:t>
            </a:r>
            <a:endParaRPr lang="en-US" altLang="zh-CN" sz="3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6151744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smtClean="0">
                <a:ea typeface="宋体" panose="02010600030101010101" pitchFamily="2" charset="-122"/>
              </a:rPr>
              <a:t>作业</a:t>
            </a:r>
          </a:p>
        </p:txBody>
      </p:sp>
      <p:sp>
        <p:nvSpPr>
          <p:cNvPr id="38915" name="Rectangle 3"/>
          <p:cNvSpPr>
            <a:spLocks noGrp="1" noChangeArrowheads="1"/>
          </p:cNvSpPr>
          <p:nvPr>
            <p:ph type="body" idx="1"/>
          </p:nvPr>
        </p:nvSpPr>
        <p:spPr/>
        <p:txBody>
          <a:bodyPr/>
          <a:lstStyle/>
          <a:p>
            <a:r>
              <a:rPr lang="zh-CN" altLang="en-US" sz="2400" smtClean="0">
                <a:ea typeface="宋体" panose="02010600030101010101" pitchFamily="2" charset="-122"/>
              </a:rPr>
              <a:t>什么是设备驱动程序？</a:t>
            </a:r>
          </a:p>
          <a:p>
            <a:r>
              <a:rPr lang="zh-CN" altLang="en-US" sz="2400" smtClean="0">
                <a:ea typeface="宋体" panose="02010600030101010101" pitchFamily="2" charset="-122"/>
              </a:rPr>
              <a:t>如何注册字符设备驱动程序？</a:t>
            </a:r>
          </a:p>
          <a:p>
            <a:pPr algn="just"/>
            <a:r>
              <a:rPr lang="zh-CN" altLang="en-US" sz="2400" smtClean="0">
                <a:ea typeface="宋体" panose="02010600030101010101" pitchFamily="2" charset="-122"/>
              </a:rPr>
              <a:t>为什么</a:t>
            </a:r>
            <a:r>
              <a:rPr lang="en-US" altLang="zh-CN" sz="2400" smtClean="0">
                <a:ea typeface="宋体" panose="02010600030101010101" pitchFamily="2" charset="-122"/>
              </a:rPr>
              <a:t>Linux</a:t>
            </a:r>
            <a:r>
              <a:rPr lang="zh-CN" altLang="en-US" sz="2400" smtClean="0">
                <a:ea typeface="宋体" panose="02010600030101010101" pitchFamily="2" charset="-122"/>
              </a:rPr>
              <a:t>使用设备转换表引导设备操作？</a:t>
            </a:r>
          </a:p>
          <a:p>
            <a:pPr algn="just"/>
            <a:r>
              <a:rPr lang="zh-CN" altLang="en-US" sz="2400" smtClean="0">
                <a:ea typeface="宋体" panose="02010600030101010101" pitchFamily="2" charset="-122"/>
              </a:rPr>
              <a:t>字符设备与块设备有何区别？</a:t>
            </a:r>
          </a:p>
          <a:p>
            <a:pPr algn="just"/>
            <a:r>
              <a:rPr lang="zh-CN" altLang="en-US" sz="2400" smtClean="0">
                <a:ea typeface="宋体" panose="02010600030101010101" pitchFamily="2" charset="-122"/>
              </a:rPr>
              <a:t>为什么一个</a:t>
            </a:r>
            <a:r>
              <a:rPr lang="en-US" altLang="zh-CN" sz="2400" smtClean="0">
                <a:ea typeface="宋体" panose="02010600030101010101" pitchFamily="2" charset="-122"/>
              </a:rPr>
              <a:t>I/O</a:t>
            </a:r>
            <a:r>
              <a:rPr lang="zh-CN" altLang="en-US" sz="2400" smtClean="0">
                <a:ea typeface="宋体" panose="02010600030101010101" pitchFamily="2" charset="-122"/>
              </a:rPr>
              <a:t>设备有两个设备号？一个是主设备号，另一个是次设备号。</a:t>
            </a:r>
          </a:p>
          <a:p>
            <a:pPr algn="just"/>
            <a:r>
              <a:rPr lang="zh-CN" altLang="en-US" sz="2400" smtClean="0">
                <a:ea typeface="宋体" panose="02010600030101010101" pitchFamily="2" charset="-122"/>
              </a:rPr>
              <a:t>将设备和普通文件统一命名的好处是什么？</a:t>
            </a:r>
            <a:endParaRPr lang="en-US" altLang="zh-CN" sz="2400" smtClean="0">
              <a:ea typeface="宋体" panose="02010600030101010101" pitchFamily="2" charset="-122"/>
            </a:endParaRPr>
          </a:p>
          <a:p>
            <a:pPr algn="just"/>
            <a:r>
              <a:rPr lang="zh-CN" altLang="en-US" sz="2400" smtClean="0">
                <a:ea typeface="宋体" panose="02010600030101010101" pitchFamily="2" charset="-122"/>
              </a:rPr>
              <a:t>简述</a:t>
            </a:r>
            <a:r>
              <a:rPr lang="en-US" altLang="zh-CN" sz="2400" smtClean="0">
                <a:ea typeface="宋体" panose="02010600030101010101" pitchFamily="2" charset="-122"/>
              </a:rPr>
              <a:t>Linux</a:t>
            </a:r>
            <a:r>
              <a:rPr lang="zh-CN" altLang="en-US" sz="2400" smtClean="0">
                <a:ea typeface="宋体" panose="02010600030101010101" pitchFamily="2" charset="-122"/>
              </a:rPr>
              <a:t>的模块机制及其优缺点。</a:t>
            </a:r>
            <a:endParaRPr lang="en-US" altLang="zh-CN" sz="2400" smtClean="0">
              <a:ea typeface="宋体" panose="02010600030101010101" pitchFamily="2" charset="-122"/>
            </a:endParaRPr>
          </a:p>
        </p:txBody>
      </p:sp>
    </p:spTree>
    <p:extLst>
      <p:ext uri="{BB962C8B-B14F-4D97-AF65-F5344CB8AC3E}">
        <p14:creationId xmlns:p14="http://schemas.microsoft.com/office/powerpoint/2010/main" val="7253882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THENA.MIXSHAPE" val="|streamable=true|audioOnly=true|recordStart=0|recordEnd=8003|recordLength=12955|start=0|end=8003|audioFormat={00001610-0000-0010-8000-00AA00389B71}|audioRate=44100|muted=false|volume=0.8|fadeIn=0|fadeOut=0|videoFormat={34363248-0000-0010-8000-00AA00389B71}|videoRate=15|videoWidth=256|videoHeight=256"/>
</p:tagLst>
</file>

<file path=ppt/theme/theme1.xml><?xml version="1.0" encoding="utf-8"?>
<a:theme xmlns:a="http://schemas.openxmlformats.org/drawingml/2006/main" name="041tgp_figure_blue">
  <a:themeElements>
    <a:clrScheme name="041tgp_figure_blue 3">
      <a:dk1>
        <a:srgbClr val="0F1A81"/>
      </a:dk1>
      <a:lt1>
        <a:srgbClr val="FFFFFF"/>
      </a:lt1>
      <a:dk2>
        <a:srgbClr val="175B5B"/>
      </a:dk2>
      <a:lt2>
        <a:srgbClr val="DDDDDD"/>
      </a:lt2>
      <a:accent1>
        <a:srgbClr val="A4C226"/>
      </a:accent1>
      <a:accent2>
        <a:srgbClr val="6CA5D8"/>
      </a:accent2>
      <a:accent3>
        <a:srgbClr val="FFFFFF"/>
      </a:accent3>
      <a:accent4>
        <a:srgbClr val="0B146D"/>
      </a:accent4>
      <a:accent5>
        <a:srgbClr val="CFDDAC"/>
      </a:accent5>
      <a:accent6>
        <a:srgbClr val="6195C4"/>
      </a:accent6>
      <a:hlink>
        <a:srgbClr val="5D4BC7"/>
      </a:hlink>
      <a:folHlink>
        <a:srgbClr val="878FA5"/>
      </a:folHlink>
    </a:clrScheme>
    <a:fontScheme name="041tgp_figure_blue">
      <a:majorFont>
        <a:latin typeface="黑体"/>
        <a:ea typeface="黑体"/>
        <a:cs typeface=""/>
      </a:majorFont>
      <a:minorFont>
        <a:latin typeface="新宋体"/>
        <a:ea typeface="新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041tgp_figure_blue 1">
        <a:dk1>
          <a:srgbClr val="000000"/>
        </a:dk1>
        <a:lt1>
          <a:srgbClr val="FFFFFF"/>
        </a:lt1>
        <a:dk2>
          <a:srgbClr val="000066"/>
        </a:dk2>
        <a:lt2>
          <a:srgbClr val="DDDDDD"/>
        </a:lt2>
        <a:accent1>
          <a:srgbClr val="E47F6E"/>
        </a:accent1>
        <a:accent2>
          <a:srgbClr val="0099CC"/>
        </a:accent2>
        <a:accent3>
          <a:srgbClr val="FFFFFF"/>
        </a:accent3>
        <a:accent4>
          <a:srgbClr val="000000"/>
        </a:accent4>
        <a:accent5>
          <a:srgbClr val="EFC0BA"/>
        </a:accent5>
        <a:accent6>
          <a:srgbClr val="008AB9"/>
        </a:accent6>
        <a:hlink>
          <a:srgbClr val="7648EA"/>
        </a:hlink>
        <a:folHlink>
          <a:srgbClr val="DFAE6D"/>
        </a:folHlink>
      </a:clrScheme>
      <a:clrMap bg1="lt1" tx1="dk1" bg2="lt2" tx2="dk2" accent1="accent1" accent2="accent2" accent3="accent3" accent4="accent4" accent5="accent5" accent6="accent6" hlink="hlink" folHlink="folHlink"/>
    </a:extraClrScheme>
    <a:extraClrScheme>
      <a:clrScheme name="041tgp_figure_blue 2">
        <a:dk1>
          <a:srgbClr val="333333"/>
        </a:dk1>
        <a:lt1>
          <a:srgbClr val="FFFFFF"/>
        </a:lt1>
        <a:dk2>
          <a:srgbClr val="003366"/>
        </a:dk2>
        <a:lt2>
          <a:srgbClr val="B2B2B2"/>
        </a:lt2>
        <a:accent1>
          <a:srgbClr val="4CA491"/>
        </a:accent1>
        <a:accent2>
          <a:srgbClr val="E2AF52"/>
        </a:accent2>
        <a:accent3>
          <a:srgbClr val="FFFFFF"/>
        </a:accent3>
        <a:accent4>
          <a:srgbClr val="2A2A2A"/>
        </a:accent4>
        <a:accent5>
          <a:srgbClr val="B2CFC7"/>
        </a:accent5>
        <a:accent6>
          <a:srgbClr val="CD9E49"/>
        </a:accent6>
        <a:hlink>
          <a:srgbClr val="576CD5"/>
        </a:hlink>
        <a:folHlink>
          <a:srgbClr val="D87252"/>
        </a:folHlink>
      </a:clrScheme>
      <a:clrMap bg1="lt1" tx1="dk1" bg2="lt2" tx2="dk2" accent1="accent1" accent2="accent2" accent3="accent3" accent4="accent4" accent5="accent5" accent6="accent6" hlink="hlink" folHlink="folHlink"/>
    </a:extraClrScheme>
    <a:extraClrScheme>
      <a:clrScheme name="041tgp_figure_blue 3">
        <a:dk1>
          <a:srgbClr val="0F1A81"/>
        </a:dk1>
        <a:lt1>
          <a:srgbClr val="FFFFFF"/>
        </a:lt1>
        <a:dk2>
          <a:srgbClr val="175B5B"/>
        </a:dk2>
        <a:lt2>
          <a:srgbClr val="DDDDDD"/>
        </a:lt2>
        <a:accent1>
          <a:srgbClr val="A4C226"/>
        </a:accent1>
        <a:accent2>
          <a:srgbClr val="6CA5D8"/>
        </a:accent2>
        <a:accent3>
          <a:srgbClr val="FFFFFF"/>
        </a:accent3>
        <a:accent4>
          <a:srgbClr val="0B146D"/>
        </a:accent4>
        <a:accent5>
          <a:srgbClr val="CFDDAC"/>
        </a:accent5>
        <a:accent6>
          <a:srgbClr val="6195C4"/>
        </a:accent6>
        <a:hlink>
          <a:srgbClr val="5D4BC7"/>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1363</TotalTime>
  <Words>5170</Words>
  <Application>Microsoft Office PowerPoint</Application>
  <PresentationFormat>全屏显示(4:3)</PresentationFormat>
  <Paragraphs>448</Paragraphs>
  <Slides>53</Slides>
  <Notes>20</Notes>
  <HiddenSlides>0</HiddenSlides>
  <MMClips>1</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7" baseType="lpstr">
      <vt:lpstr>Gulim</vt:lpstr>
      <vt:lpstr>黑体</vt:lpstr>
      <vt:lpstr>楷体_GB2312</vt:lpstr>
      <vt:lpstr>宋体</vt:lpstr>
      <vt:lpstr>新宋体</vt:lpstr>
      <vt:lpstr>幼圆</vt:lpstr>
      <vt:lpstr>Arial</vt:lpstr>
      <vt:lpstr>Helvetica</vt:lpstr>
      <vt:lpstr>Monotype Sorts</vt:lpstr>
      <vt:lpstr>Times New Roman</vt:lpstr>
      <vt:lpstr>Verdana</vt:lpstr>
      <vt:lpstr>Wingdings</vt:lpstr>
      <vt:lpstr>041tgp_figure_blue</vt:lpstr>
      <vt:lpstr>VISIO</vt:lpstr>
      <vt:lpstr>第8章 Linux设备管理与模块机制</vt:lpstr>
      <vt:lpstr>8.1  Linux设备管理概述 </vt:lpstr>
      <vt:lpstr>8.1  Linux设备管理概述</vt:lpstr>
      <vt:lpstr>PowerPoint 演示文稿</vt:lpstr>
      <vt:lpstr>8.1  Linux设备管理概述</vt:lpstr>
      <vt:lpstr>8.1  Linux设备管理概述</vt:lpstr>
      <vt:lpstr>8.1  Linux设备管理概述</vt:lpstr>
      <vt:lpstr>8.2 Linux设备分类及数据结构</vt:lpstr>
      <vt:lpstr>8.2 Linux设备分类及数据结构</vt:lpstr>
      <vt:lpstr>8.2 Linux设备分类及数据结构</vt:lpstr>
      <vt:lpstr>PowerPoint 演示文稿</vt:lpstr>
      <vt:lpstr>8.2 Linux设备分类及数据结构</vt:lpstr>
      <vt:lpstr>8.2 Linux设备分类及数据结构</vt:lpstr>
      <vt:lpstr>8.2 Linux设备分类及数据结构</vt:lpstr>
      <vt:lpstr>8.2 Linux设备分类及数据结构</vt:lpstr>
      <vt:lpstr>8.2 Linux设备分类及数据结构</vt:lpstr>
      <vt:lpstr>8.2 Linux设备分类及数据结构</vt:lpstr>
      <vt:lpstr>设备文件的VFS处理</vt:lpstr>
      <vt:lpstr>设备文件： struct file数据结构</vt:lpstr>
      <vt:lpstr>设备文件：i节点</vt:lpstr>
      <vt:lpstr>设备文件：操作</vt:lpstr>
      <vt:lpstr>8.3  Linux设备转换表</vt:lpstr>
      <vt:lpstr>8.3  Linux设备转换表</vt:lpstr>
      <vt:lpstr>8.3  Linux设备转换表</vt:lpstr>
      <vt:lpstr>8.3  Linux设备转换表</vt:lpstr>
      <vt:lpstr>字符设备转换表</vt:lpstr>
      <vt:lpstr>字符设备转换表</vt:lpstr>
      <vt:lpstr>PowerPoint 演示文稿</vt:lpstr>
      <vt:lpstr>字符设备的操作</vt:lpstr>
      <vt:lpstr>PowerPoint 演示文稿</vt:lpstr>
      <vt:lpstr>PowerPoint 演示文稿</vt:lpstr>
      <vt:lpstr>块设备转换表 </vt:lpstr>
      <vt:lpstr>PowerPoint 演示文稿</vt:lpstr>
      <vt:lpstr>块设备的注册与管理</vt:lpstr>
      <vt:lpstr>块设备请求</vt:lpstr>
      <vt:lpstr>块设备的操作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Linux内核模块与应用程序的区别</vt:lpstr>
      <vt:lpstr>模块相关命令 </vt:lpstr>
      <vt:lpstr>模块依赖</vt:lpstr>
      <vt:lpstr>简单的内核模块例子</vt:lpstr>
      <vt:lpstr>PowerPoint 演示文稿</vt:lpstr>
      <vt:lpstr>编译内核模块</vt:lpstr>
      <vt:lpstr>装载和卸载模块</vt:lpstr>
      <vt:lpstr>内核模块的引入带来的问题</vt:lpstr>
      <vt:lpstr>内核模块的引入带来的问题</vt:lpstr>
      <vt:lpstr>作业</vt:lpstr>
    </vt:vector>
  </TitlesOfParts>
  <Company>Guild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授课教师：王 丹 办公电话：67396752  E-Mail：  wangdan@bjut.edu.cn  单   位： 计算机学院-软件系 办公地点：信南404          2011年2月</dc:title>
  <dc:creator>admin</dc:creator>
  <cp:lastModifiedBy>admin</cp:lastModifiedBy>
  <cp:revision>291</cp:revision>
  <cp:lastPrinted>2015-03-01T04:37:34Z</cp:lastPrinted>
  <dcterms:created xsi:type="dcterms:W3CDTF">2003-08-26T05:45:41Z</dcterms:created>
  <dcterms:modified xsi:type="dcterms:W3CDTF">2020-02-14T22:23:48Z</dcterms:modified>
</cp:coreProperties>
</file>