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av" ContentType="audio/x-wav"/>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handoutMasterIdLst>
    <p:handoutMasterId r:id="rId120"/>
  </p:handoutMasterIdLst>
  <p:sldIdLst>
    <p:sldId id="256" r:id="rId3"/>
    <p:sldId id="736" r:id="rId4"/>
    <p:sldId id="258" r:id="rId5"/>
    <p:sldId id="512" r:id="rId7"/>
    <p:sldId id="513" r:id="rId8"/>
    <p:sldId id="514" r:id="rId9"/>
    <p:sldId id="370" r:id="rId10"/>
    <p:sldId id="623" r:id="rId11"/>
    <p:sldId id="478" r:id="rId12"/>
    <p:sldId id="517" r:id="rId13"/>
    <p:sldId id="632" r:id="rId14"/>
    <p:sldId id="633" r:id="rId15"/>
    <p:sldId id="518" r:id="rId16"/>
    <p:sldId id="637" r:id="rId17"/>
    <p:sldId id="373" r:id="rId18"/>
    <p:sldId id="636" r:id="rId19"/>
    <p:sldId id="604" r:id="rId20"/>
    <p:sldId id="606" r:id="rId21"/>
    <p:sldId id="607" r:id="rId22"/>
    <p:sldId id="638" r:id="rId23"/>
    <p:sldId id="639" r:id="rId24"/>
    <p:sldId id="640" r:id="rId25"/>
    <p:sldId id="641" r:id="rId26"/>
    <p:sldId id="642" r:id="rId27"/>
    <p:sldId id="643" r:id="rId28"/>
    <p:sldId id="644" r:id="rId29"/>
    <p:sldId id="645" r:id="rId30"/>
    <p:sldId id="646" r:id="rId31"/>
    <p:sldId id="647" r:id="rId32"/>
    <p:sldId id="648" r:id="rId33"/>
    <p:sldId id="649" r:id="rId34"/>
    <p:sldId id="650" r:id="rId35"/>
    <p:sldId id="651" r:id="rId36"/>
    <p:sldId id="652" r:id="rId37"/>
    <p:sldId id="653" r:id="rId38"/>
    <p:sldId id="654" r:id="rId39"/>
    <p:sldId id="655" r:id="rId40"/>
    <p:sldId id="656" r:id="rId41"/>
    <p:sldId id="657" r:id="rId42"/>
    <p:sldId id="658" r:id="rId43"/>
    <p:sldId id="659" r:id="rId44"/>
    <p:sldId id="660" r:id="rId45"/>
    <p:sldId id="661" r:id="rId46"/>
    <p:sldId id="662" r:id="rId47"/>
    <p:sldId id="663" r:id="rId48"/>
    <p:sldId id="664" r:id="rId49"/>
    <p:sldId id="665" r:id="rId50"/>
    <p:sldId id="666" r:id="rId51"/>
    <p:sldId id="667" r:id="rId52"/>
    <p:sldId id="668" r:id="rId53"/>
    <p:sldId id="669" r:id="rId54"/>
    <p:sldId id="670" r:id="rId55"/>
    <p:sldId id="671" r:id="rId56"/>
    <p:sldId id="672" r:id="rId57"/>
    <p:sldId id="673" r:id="rId58"/>
    <p:sldId id="674" r:id="rId59"/>
    <p:sldId id="675" r:id="rId60"/>
    <p:sldId id="676" r:id="rId61"/>
    <p:sldId id="677" r:id="rId62"/>
    <p:sldId id="678" r:id="rId63"/>
    <p:sldId id="679" r:id="rId64"/>
    <p:sldId id="680" r:id="rId65"/>
    <p:sldId id="681" r:id="rId66"/>
    <p:sldId id="682" r:id="rId67"/>
    <p:sldId id="683" r:id="rId68"/>
    <p:sldId id="684" r:id="rId69"/>
    <p:sldId id="685" r:id="rId70"/>
    <p:sldId id="686" r:id="rId71"/>
    <p:sldId id="687" r:id="rId72"/>
    <p:sldId id="688" r:id="rId73"/>
    <p:sldId id="689" r:id="rId74"/>
    <p:sldId id="690" r:id="rId75"/>
    <p:sldId id="691" r:id="rId76"/>
    <p:sldId id="692" r:id="rId77"/>
    <p:sldId id="693" r:id="rId78"/>
    <p:sldId id="694" r:id="rId79"/>
    <p:sldId id="695" r:id="rId80"/>
    <p:sldId id="696" r:id="rId81"/>
    <p:sldId id="697" r:id="rId82"/>
    <p:sldId id="698" r:id="rId83"/>
    <p:sldId id="699" r:id="rId84"/>
    <p:sldId id="700" r:id="rId85"/>
    <p:sldId id="701" r:id="rId86"/>
    <p:sldId id="702" r:id="rId87"/>
    <p:sldId id="703" r:id="rId88"/>
    <p:sldId id="704" r:id="rId89"/>
    <p:sldId id="705" r:id="rId90"/>
    <p:sldId id="706" r:id="rId91"/>
    <p:sldId id="707" r:id="rId92"/>
    <p:sldId id="708" r:id="rId93"/>
    <p:sldId id="709" r:id="rId94"/>
    <p:sldId id="710" r:id="rId95"/>
    <p:sldId id="711" r:id="rId96"/>
    <p:sldId id="712" r:id="rId97"/>
    <p:sldId id="713" r:id="rId98"/>
    <p:sldId id="714" r:id="rId99"/>
    <p:sldId id="715" r:id="rId100"/>
    <p:sldId id="716" r:id="rId101"/>
    <p:sldId id="717" r:id="rId102"/>
    <p:sldId id="718" r:id="rId103"/>
    <p:sldId id="719" r:id="rId104"/>
    <p:sldId id="720" r:id="rId105"/>
    <p:sldId id="721" r:id="rId106"/>
    <p:sldId id="722" r:id="rId107"/>
    <p:sldId id="723" r:id="rId108"/>
    <p:sldId id="724" r:id="rId109"/>
    <p:sldId id="725" r:id="rId110"/>
    <p:sldId id="726" r:id="rId111"/>
    <p:sldId id="727" r:id="rId112"/>
    <p:sldId id="728" r:id="rId113"/>
    <p:sldId id="729" r:id="rId114"/>
    <p:sldId id="730" r:id="rId115"/>
    <p:sldId id="731" r:id="rId116"/>
    <p:sldId id="732" r:id="rId117"/>
    <p:sldId id="734" r:id="rId118"/>
    <p:sldId id="735" r:id="rId119"/>
  </p:sldIdLst>
  <p:sldSz cx="9144000" cy="6858000" type="screen4x3"/>
  <p:notesSz cx="6760845" cy="9942195"/>
  <p:custDataLst>
    <p:tags r:id="rId124"/>
  </p:custDataLst>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新宋体" panose="02010609030101010101" pitchFamily="49" charset="-122"/>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新宋体" panose="02010609030101010101" pitchFamily="49" charset="-122"/>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新宋体" panose="02010609030101010101" pitchFamily="49" charset="-122"/>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新宋体" panose="02010609030101010101" pitchFamily="49" charset="-122"/>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新宋体" panose="02010609030101010101" pitchFamily="49" charset="-122"/>
        <a:cs typeface="+mn-cs"/>
      </a:defRPr>
    </a:lvl5pPr>
    <a:lvl6pPr marL="2286000" algn="l" defTabSz="914400" rtl="0" eaLnBrk="1" latinLnBrk="0" hangingPunct="1">
      <a:defRPr sz="2400" kern="1200">
        <a:solidFill>
          <a:schemeClr val="tx1"/>
        </a:solidFill>
        <a:latin typeface="Times New Roman" panose="02020603050405020304" pitchFamily="18" charset="0"/>
        <a:ea typeface="新宋体" panose="02010609030101010101" pitchFamily="49" charset="-122"/>
        <a:cs typeface="+mn-cs"/>
      </a:defRPr>
    </a:lvl6pPr>
    <a:lvl7pPr marL="2743200" algn="l" defTabSz="914400" rtl="0" eaLnBrk="1" latinLnBrk="0" hangingPunct="1">
      <a:defRPr sz="2400" kern="1200">
        <a:solidFill>
          <a:schemeClr val="tx1"/>
        </a:solidFill>
        <a:latin typeface="Times New Roman" panose="02020603050405020304" pitchFamily="18" charset="0"/>
        <a:ea typeface="新宋体" panose="02010609030101010101" pitchFamily="49" charset="-122"/>
        <a:cs typeface="+mn-cs"/>
      </a:defRPr>
    </a:lvl7pPr>
    <a:lvl8pPr marL="3200400" algn="l" defTabSz="914400" rtl="0" eaLnBrk="1" latinLnBrk="0" hangingPunct="1">
      <a:defRPr sz="2400" kern="1200">
        <a:solidFill>
          <a:schemeClr val="tx1"/>
        </a:solidFill>
        <a:latin typeface="Times New Roman" panose="02020603050405020304" pitchFamily="18" charset="0"/>
        <a:ea typeface="新宋体" panose="02010609030101010101" pitchFamily="49" charset="-122"/>
        <a:cs typeface="+mn-cs"/>
      </a:defRPr>
    </a:lvl8pPr>
    <a:lvl9pPr marL="3657600" algn="l" defTabSz="914400" rtl="0" eaLnBrk="1" latinLnBrk="0" hangingPunct="1">
      <a:defRPr sz="2400" kern="1200">
        <a:solidFill>
          <a:schemeClr val="tx1"/>
        </a:solidFill>
        <a:latin typeface="Times New Roman" panose="02020603050405020304" pitchFamily="18" charset="0"/>
        <a:ea typeface="新宋体" panose="02010609030101010101" pitchFamily="49"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80"/>
    <a:srgbClr val="669900"/>
    <a:srgbClr val="FF0000"/>
    <a:srgbClr val="004182"/>
    <a:srgbClr val="2B5681"/>
    <a:srgbClr val="2E5C8A"/>
    <a:srgbClr val="006666"/>
    <a:srgbClr val="8B3A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692" autoAdjust="0"/>
    <p:restoredTop sz="95535" autoAdjust="0"/>
  </p:normalViewPr>
  <p:slideViewPr>
    <p:cSldViewPr showGuides="1">
      <p:cViewPr varScale="1">
        <p:scale>
          <a:sx n="109" d="100"/>
          <a:sy n="109" d="100"/>
        </p:scale>
        <p:origin x="1272" y="102"/>
      </p:cViewPr>
      <p:guideLst>
        <p:guide orient="horz" pos="2160"/>
        <p:guide pos="2880"/>
      </p:guideLst>
    </p:cSldViewPr>
  </p:slideViewPr>
  <p:outlineViewPr>
    <p:cViewPr>
      <p:scale>
        <a:sx n="33" d="100"/>
        <a:sy n="33" d="100"/>
      </p:scale>
      <p:origin x="0" y="100380"/>
    </p:cViewPr>
  </p:outlineViewPr>
  <p:notesTextViewPr>
    <p:cViewPr>
      <p:scale>
        <a:sx n="150" d="100"/>
        <a:sy n="150" d="100"/>
      </p:scale>
      <p:origin x="0" y="0"/>
    </p:cViewPr>
  </p:notesTextViewPr>
  <p:sorterViewPr>
    <p:cViewPr>
      <p:scale>
        <a:sx n="66" d="100"/>
        <a:sy n="66" d="100"/>
      </p:scale>
      <p:origin x="0" y="12222"/>
    </p:cViewPr>
  </p:sorterViewPr>
  <p:notesViewPr>
    <p:cSldViewPr>
      <p:cViewPr varScale="1">
        <p:scale>
          <a:sx n="56" d="100"/>
          <a:sy n="56" d="100"/>
        </p:scale>
        <p:origin x="-1854" y="-96"/>
      </p:cViewPr>
      <p:guideLst>
        <p:guide orient="horz" pos="3132"/>
        <p:guide pos="2130"/>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notesMaster" Target="notesMasters/notesMaster1.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4" Type="http://schemas.openxmlformats.org/officeDocument/2006/relationships/tags" Target="tags/tag1.xml"/><Relationship Id="rId123" Type="http://schemas.openxmlformats.org/officeDocument/2006/relationships/tableStyles" Target="tableStyles.xml"/><Relationship Id="rId122" Type="http://schemas.openxmlformats.org/officeDocument/2006/relationships/viewProps" Target="viewProps.xml"/><Relationship Id="rId121" Type="http://schemas.openxmlformats.org/officeDocument/2006/relationships/presProps" Target="presProps.xml"/><Relationship Id="rId120" Type="http://schemas.openxmlformats.org/officeDocument/2006/relationships/handoutMaster" Target="handoutMasters/handoutMaster1.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7.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7826" name="Rectangle 2"/>
          <p:cNvSpPr>
            <a:spLocks noGrp="1" noChangeArrowheads="1"/>
          </p:cNvSpPr>
          <p:nvPr>
            <p:ph type="hdr" sz="quarter"/>
          </p:nvPr>
        </p:nvSpPr>
        <p:spPr bwMode="auto">
          <a:xfrm>
            <a:off x="0" y="1"/>
            <a:ext cx="2930574" cy="497126"/>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Arial" panose="020B0604020202020204" pitchFamily="34" charset="0"/>
                <a:ea typeface="Gulim" panose="020B0600000101010101" pitchFamily="34" charset="-127"/>
              </a:defRPr>
            </a:lvl1pPr>
          </a:lstStyle>
          <a:p>
            <a:pPr>
              <a:defRPr/>
            </a:pPr>
            <a:endParaRPr lang="en-US" altLang="ko-KR"/>
          </a:p>
        </p:txBody>
      </p:sp>
      <p:sp>
        <p:nvSpPr>
          <p:cNvPr id="77827" name="Rectangle 3"/>
          <p:cNvSpPr>
            <a:spLocks noGrp="1" noChangeArrowheads="1"/>
          </p:cNvSpPr>
          <p:nvPr>
            <p:ph type="dt" sz="quarter" idx="1"/>
          </p:nvPr>
        </p:nvSpPr>
        <p:spPr bwMode="auto">
          <a:xfrm>
            <a:off x="3829010" y="1"/>
            <a:ext cx="2930574" cy="497126"/>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ea typeface="Gulim" panose="020B0600000101010101" pitchFamily="34" charset="-127"/>
              </a:defRPr>
            </a:lvl1pPr>
          </a:lstStyle>
          <a:p>
            <a:pPr>
              <a:defRPr/>
            </a:pPr>
            <a:endParaRPr lang="en-US" altLang="ko-KR"/>
          </a:p>
        </p:txBody>
      </p:sp>
      <p:sp>
        <p:nvSpPr>
          <p:cNvPr id="77828" name="Rectangle 4"/>
          <p:cNvSpPr>
            <a:spLocks noGrp="1" noChangeArrowheads="1"/>
          </p:cNvSpPr>
          <p:nvPr>
            <p:ph type="ftr" sz="quarter" idx="2"/>
          </p:nvPr>
        </p:nvSpPr>
        <p:spPr bwMode="auto">
          <a:xfrm>
            <a:off x="0" y="9443789"/>
            <a:ext cx="2930574" cy="497126"/>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Arial" panose="020B0604020202020204" pitchFamily="34" charset="0"/>
                <a:ea typeface="Gulim" panose="020B0600000101010101" pitchFamily="34" charset="-127"/>
              </a:defRPr>
            </a:lvl1pPr>
          </a:lstStyle>
          <a:p>
            <a:pPr>
              <a:defRPr/>
            </a:pPr>
            <a:endParaRPr lang="en-US" altLang="ko-KR"/>
          </a:p>
        </p:txBody>
      </p:sp>
      <p:sp>
        <p:nvSpPr>
          <p:cNvPr id="77829" name="Rectangle 5"/>
          <p:cNvSpPr>
            <a:spLocks noGrp="1" noChangeArrowheads="1"/>
          </p:cNvSpPr>
          <p:nvPr>
            <p:ph type="sldNum" sz="quarter" idx="3"/>
          </p:nvPr>
        </p:nvSpPr>
        <p:spPr bwMode="auto">
          <a:xfrm>
            <a:off x="3829010" y="9443789"/>
            <a:ext cx="2930574" cy="497126"/>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atin typeface="Arial" panose="020B0604020202020204" pitchFamily="34" charset="0"/>
                <a:ea typeface="Gulim" panose="020B0600000101010101" pitchFamily="34" charset="-127"/>
              </a:defRPr>
            </a:lvl1pPr>
          </a:lstStyle>
          <a:p>
            <a:pPr>
              <a:defRPr/>
            </a:pPr>
            <a:fld id="{B0C127A0-6889-4D5D-931C-D98B887D9B5B}" type="slidenum">
              <a:rPr lang="ko-KR" altLang="en-US"/>
            </a:fld>
            <a:endParaRPr lang="en-US" altLang="ko-K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1138" name="Rectangle 2"/>
          <p:cNvSpPr>
            <a:spLocks noGrp="1" noChangeArrowheads="1"/>
          </p:cNvSpPr>
          <p:nvPr>
            <p:ph type="hdr" sz="quarter"/>
          </p:nvPr>
        </p:nvSpPr>
        <p:spPr bwMode="auto">
          <a:xfrm>
            <a:off x="0" y="1"/>
            <a:ext cx="2930574" cy="497126"/>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Arial" panose="020B0604020202020204" pitchFamily="34" charset="0"/>
                <a:ea typeface="+mn-ea"/>
              </a:defRPr>
            </a:lvl1pPr>
          </a:lstStyle>
          <a:p>
            <a:pPr>
              <a:defRPr/>
            </a:pPr>
            <a:endParaRPr lang="zh-CN" altLang="en-US"/>
          </a:p>
        </p:txBody>
      </p:sp>
      <p:sp>
        <p:nvSpPr>
          <p:cNvPr id="91139" name="Rectangle 3"/>
          <p:cNvSpPr>
            <a:spLocks noGrp="1" noChangeArrowheads="1"/>
          </p:cNvSpPr>
          <p:nvPr>
            <p:ph type="dt" idx="1"/>
          </p:nvPr>
        </p:nvSpPr>
        <p:spPr bwMode="auto">
          <a:xfrm>
            <a:off x="3829010" y="1"/>
            <a:ext cx="2930574" cy="497126"/>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ea typeface="+mn-ea"/>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896938" y="746125"/>
            <a:ext cx="4967287" cy="372745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91141" name="Rectangle 5"/>
          <p:cNvSpPr>
            <a:spLocks noGrp="1" noChangeArrowheads="1"/>
          </p:cNvSpPr>
          <p:nvPr>
            <p:ph type="body" sz="quarter" idx="3"/>
          </p:nvPr>
        </p:nvSpPr>
        <p:spPr bwMode="auto">
          <a:xfrm>
            <a:off x="675801" y="4721895"/>
            <a:ext cx="5409562" cy="4474131"/>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91142" name="Rectangle 6"/>
          <p:cNvSpPr>
            <a:spLocks noGrp="1" noChangeArrowheads="1"/>
          </p:cNvSpPr>
          <p:nvPr>
            <p:ph type="ftr" sz="quarter" idx="4"/>
          </p:nvPr>
        </p:nvSpPr>
        <p:spPr bwMode="auto">
          <a:xfrm>
            <a:off x="0" y="9443789"/>
            <a:ext cx="2930574" cy="497126"/>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Arial" panose="020B0604020202020204" pitchFamily="34" charset="0"/>
                <a:ea typeface="+mn-ea"/>
              </a:defRPr>
            </a:lvl1pPr>
          </a:lstStyle>
          <a:p>
            <a:pPr>
              <a:defRPr/>
            </a:pPr>
            <a:endParaRPr lang="en-US" altLang="zh-CN"/>
          </a:p>
        </p:txBody>
      </p:sp>
      <p:sp>
        <p:nvSpPr>
          <p:cNvPr id="91143" name="Rectangle 7"/>
          <p:cNvSpPr>
            <a:spLocks noGrp="1" noChangeArrowheads="1"/>
          </p:cNvSpPr>
          <p:nvPr>
            <p:ph type="sldNum" sz="quarter" idx="5"/>
          </p:nvPr>
        </p:nvSpPr>
        <p:spPr bwMode="auto">
          <a:xfrm>
            <a:off x="3829010" y="9443789"/>
            <a:ext cx="2930574" cy="497126"/>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atin typeface="Arial" panose="020B0604020202020204" pitchFamily="34" charset="0"/>
                <a:ea typeface="宋体" panose="02010600030101010101" pitchFamily="2" charset="-122"/>
              </a:defRPr>
            </a:lvl1pPr>
          </a:lstStyle>
          <a:p>
            <a:pPr>
              <a:defRPr/>
            </a:pPr>
            <a:fld id="{96834240-5C6D-4094-8FA3-16F3D4ED9F57}"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latinLnBrk="1" hangingPunct="0">
      <a:spcBef>
        <a:spcPct val="30000"/>
      </a:spcBef>
      <a:spcAft>
        <a:spcPct val="0"/>
      </a:spcAft>
      <a:defRPr kumimoji="1" sz="1200" kern="1200">
        <a:solidFill>
          <a:schemeClr val="tx1"/>
        </a:solidFill>
        <a:latin typeface="Gulim" panose="020B0600000101010101" pitchFamily="34" charset="-127"/>
        <a:ea typeface="Gulim" panose="020B0600000101010101" pitchFamily="34" charset="-127"/>
        <a:cs typeface="+mn-cs"/>
      </a:defRPr>
    </a:lvl1pPr>
    <a:lvl2pPr marL="457200" algn="l" rtl="0" eaLnBrk="0" fontAlgn="base" latinLnBrk="1" hangingPunct="0">
      <a:spcBef>
        <a:spcPct val="30000"/>
      </a:spcBef>
      <a:spcAft>
        <a:spcPct val="0"/>
      </a:spcAft>
      <a:defRPr kumimoji="1" sz="1200" kern="1200">
        <a:solidFill>
          <a:schemeClr val="tx1"/>
        </a:solidFill>
        <a:latin typeface="Gulim" panose="020B0600000101010101" pitchFamily="34" charset="-127"/>
        <a:ea typeface="Gulim" panose="020B0600000101010101" pitchFamily="34" charset="-127"/>
        <a:cs typeface="+mn-cs"/>
      </a:defRPr>
    </a:lvl2pPr>
    <a:lvl3pPr marL="914400" algn="l" rtl="0" eaLnBrk="0" fontAlgn="base" latinLnBrk="1" hangingPunct="0">
      <a:spcBef>
        <a:spcPct val="30000"/>
      </a:spcBef>
      <a:spcAft>
        <a:spcPct val="0"/>
      </a:spcAft>
      <a:defRPr kumimoji="1" sz="1200" kern="1200">
        <a:solidFill>
          <a:schemeClr val="tx1"/>
        </a:solidFill>
        <a:latin typeface="Gulim" panose="020B0600000101010101" pitchFamily="34" charset="-127"/>
        <a:ea typeface="Gulim" panose="020B0600000101010101" pitchFamily="34" charset="-127"/>
        <a:cs typeface="+mn-cs"/>
      </a:defRPr>
    </a:lvl3pPr>
    <a:lvl4pPr marL="1371600" algn="l" rtl="0" eaLnBrk="0" fontAlgn="base" latinLnBrk="1" hangingPunct="0">
      <a:spcBef>
        <a:spcPct val="30000"/>
      </a:spcBef>
      <a:spcAft>
        <a:spcPct val="0"/>
      </a:spcAft>
      <a:defRPr kumimoji="1" sz="1200" kern="1200">
        <a:solidFill>
          <a:schemeClr val="tx1"/>
        </a:solidFill>
        <a:latin typeface="Gulim" panose="020B0600000101010101" pitchFamily="34" charset="-127"/>
        <a:ea typeface="Gulim" panose="020B0600000101010101" pitchFamily="34" charset="-127"/>
        <a:cs typeface="+mn-cs"/>
      </a:defRPr>
    </a:lvl4pPr>
    <a:lvl5pPr marL="1828800" algn="l" rtl="0" eaLnBrk="0" fontAlgn="base" latinLnBrk="1" hangingPunct="0">
      <a:spcBef>
        <a:spcPct val="30000"/>
      </a:spcBef>
      <a:spcAft>
        <a:spcPct val="0"/>
      </a:spcAft>
      <a:defRPr kumimoji="1" sz="1200" kern="1200">
        <a:solidFill>
          <a:schemeClr val="tx1"/>
        </a:solidFill>
        <a:latin typeface="Gulim" panose="020B0600000101010101" pitchFamily="34" charset="-127"/>
        <a:ea typeface="Gulim" panose="020B0600000101010101" pitchFamily="34" charset="-127"/>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新宋体" panose="02010609030101010101" pitchFamily="49" charset="-122"/>
              </a:defRPr>
            </a:lvl1pPr>
            <a:lvl2pPr marL="742950" indent="-285750">
              <a:defRPr sz="2400">
                <a:solidFill>
                  <a:schemeClr val="tx1"/>
                </a:solidFill>
                <a:latin typeface="Times New Roman" panose="02020603050405020304" pitchFamily="18" charset="0"/>
                <a:ea typeface="新宋体" panose="02010609030101010101" pitchFamily="49" charset="-122"/>
              </a:defRPr>
            </a:lvl2pPr>
            <a:lvl3pPr marL="1143000" indent="-228600">
              <a:defRPr sz="2400">
                <a:solidFill>
                  <a:schemeClr val="tx1"/>
                </a:solidFill>
                <a:latin typeface="Times New Roman" panose="02020603050405020304" pitchFamily="18" charset="0"/>
                <a:ea typeface="新宋体" panose="02010609030101010101" pitchFamily="49" charset="-122"/>
              </a:defRPr>
            </a:lvl3pPr>
            <a:lvl4pPr marL="1600200" indent="-228600">
              <a:defRPr sz="2400">
                <a:solidFill>
                  <a:schemeClr val="tx1"/>
                </a:solidFill>
                <a:latin typeface="Times New Roman" panose="02020603050405020304" pitchFamily="18" charset="0"/>
                <a:ea typeface="新宋体" panose="02010609030101010101" pitchFamily="49" charset="-122"/>
              </a:defRPr>
            </a:lvl4pPr>
            <a:lvl5pPr marL="2057400" indent="-228600">
              <a:defRPr sz="2400">
                <a:solidFill>
                  <a:schemeClr val="tx1"/>
                </a:solidFill>
                <a:latin typeface="Times New Roman" panose="02020603050405020304" pitchFamily="18" charset="0"/>
                <a:ea typeface="新宋体" panose="02010609030101010101"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9pPr>
          </a:lstStyle>
          <a:p>
            <a:fld id="{0675C206-8EE5-46A7-9218-3E7BC2D08F0E}" type="slidenum">
              <a:rPr lang="zh-CN" altLang="en-US" sz="1200" smtClean="0">
                <a:latin typeface="Arial" panose="020B0604020202020204" pitchFamily="34" charset="0"/>
                <a:ea typeface="宋体" panose="02010600030101010101" pitchFamily="2" charset="-122"/>
              </a:rPr>
            </a:fld>
            <a:endParaRPr lang="en-US" altLang="zh-CN" sz="1200">
              <a:latin typeface="Arial" panose="020B0604020202020204" pitchFamily="34" charset="0"/>
              <a:ea typeface="宋体" panose="02010600030101010101" pitchFamily="2" charset="-122"/>
            </a:endParaRPr>
          </a:p>
        </p:txBody>
      </p:sp>
      <p:sp>
        <p:nvSpPr>
          <p:cNvPr id="7171" name="Rectangle 2"/>
          <p:cNvSpPr>
            <a:spLocks noGrp="1" noRot="1" noChangeAspect="1" noChangeArrowheads="1" noTextEdit="1"/>
          </p:cNvSpPr>
          <p:nvPr>
            <p:ph type="sldImg"/>
          </p:nvPr>
        </p:nvSpPr>
        <p:spPr/>
      </p:sp>
      <p:sp>
        <p:nvSpPr>
          <p:cNvPr id="7172" name="Rectangle 3"/>
          <p:cNvSpPr>
            <a:spLocks noGrp="1" noChangeArrowheads="1"/>
          </p:cNvSpPr>
          <p:nvPr>
            <p:ph type="body" idx="1"/>
          </p:nvPr>
        </p:nvSpPr>
        <p:spPr>
          <a:xfrm>
            <a:off x="901594" y="4721895"/>
            <a:ext cx="4957976" cy="447413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p:sp>
      <p:sp>
        <p:nvSpPr>
          <p:cNvPr id="1024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a:t>
            </a:r>
            <a:endParaRPr lang="zh-CN" altLang="en-US"/>
          </a:p>
        </p:txBody>
      </p:sp>
      <p:sp>
        <p:nvSpPr>
          <p:cNvPr id="1024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新宋体" panose="02010609030101010101" pitchFamily="49" charset="-122"/>
              </a:defRPr>
            </a:lvl1pPr>
            <a:lvl2pPr marL="742950" indent="-285750">
              <a:defRPr sz="2400">
                <a:solidFill>
                  <a:schemeClr val="tx1"/>
                </a:solidFill>
                <a:latin typeface="Times New Roman" panose="02020603050405020304" pitchFamily="18" charset="0"/>
                <a:ea typeface="新宋体" panose="02010609030101010101" pitchFamily="49" charset="-122"/>
              </a:defRPr>
            </a:lvl2pPr>
            <a:lvl3pPr marL="1143000" indent="-228600">
              <a:defRPr sz="2400">
                <a:solidFill>
                  <a:schemeClr val="tx1"/>
                </a:solidFill>
                <a:latin typeface="Times New Roman" panose="02020603050405020304" pitchFamily="18" charset="0"/>
                <a:ea typeface="新宋体" panose="02010609030101010101" pitchFamily="49" charset="-122"/>
              </a:defRPr>
            </a:lvl3pPr>
            <a:lvl4pPr marL="1600200" indent="-228600">
              <a:defRPr sz="2400">
                <a:solidFill>
                  <a:schemeClr val="tx1"/>
                </a:solidFill>
                <a:latin typeface="Times New Roman" panose="02020603050405020304" pitchFamily="18" charset="0"/>
                <a:ea typeface="新宋体" panose="02010609030101010101" pitchFamily="49" charset="-122"/>
              </a:defRPr>
            </a:lvl4pPr>
            <a:lvl5pPr marL="2057400" indent="-228600">
              <a:defRPr sz="2400">
                <a:solidFill>
                  <a:schemeClr val="tx1"/>
                </a:solidFill>
                <a:latin typeface="Times New Roman" panose="02020603050405020304" pitchFamily="18" charset="0"/>
                <a:ea typeface="新宋体" panose="02010609030101010101"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9pPr>
          </a:lstStyle>
          <a:p>
            <a:fld id="{53426C8B-6689-489D-88F9-18BE2A9DC36B}" type="slidenum">
              <a:rPr lang="zh-CN" altLang="en-US" sz="1200" smtClean="0">
                <a:latin typeface="Arial" panose="020B0604020202020204" pitchFamily="34" charset="0"/>
                <a:ea typeface="宋体" panose="02010600030101010101" pitchFamily="2" charset="-122"/>
              </a:rPr>
            </a:fld>
            <a:endParaRPr lang="en-US" altLang="zh-CN" sz="1200">
              <a:latin typeface="Arial" panose="020B0604020202020204" pitchFamily="34" charset="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新宋体" panose="02010609030101010101" pitchFamily="49" charset="-122"/>
              </a:defRPr>
            </a:lvl1pPr>
            <a:lvl2pPr marL="742950" indent="-285750">
              <a:defRPr sz="2400">
                <a:solidFill>
                  <a:schemeClr val="tx1"/>
                </a:solidFill>
                <a:latin typeface="Times New Roman" panose="02020603050405020304" pitchFamily="18" charset="0"/>
                <a:ea typeface="新宋体" panose="02010609030101010101" pitchFamily="49" charset="-122"/>
              </a:defRPr>
            </a:lvl2pPr>
            <a:lvl3pPr marL="1143000" indent="-228600">
              <a:defRPr sz="2400">
                <a:solidFill>
                  <a:schemeClr val="tx1"/>
                </a:solidFill>
                <a:latin typeface="Times New Roman" panose="02020603050405020304" pitchFamily="18" charset="0"/>
                <a:ea typeface="新宋体" panose="02010609030101010101" pitchFamily="49" charset="-122"/>
              </a:defRPr>
            </a:lvl3pPr>
            <a:lvl4pPr marL="1600200" indent="-228600">
              <a:defRPr sz="2400">
                <a:solidFill>
                  <a:schemeClr val="tx1"/>
                </a:solidFill>
                <a:latin typeface="Times New Roman" panose="02020603050405020304" pitchFamily="18" charset="0"/>
                <a:ea typeface="新宋体" panose="02010609030101010101" pitchFamily="49" charset="-122"/>
              </a:defRPr>
            </a:lvl4pPr>
            <a:lvl5pPr marL="2057400" indent="-228600">
              <a:defRPr sz="2400">
                <a:solidFill>
                  <a:schemeClr val="tx1"/>
                </a:solidFill>
                <a:latin typeface="Times New Roman" panose="02020603050405020304" pitchFamily="18" charset="0"/>
                <a:ea typeface="新宋体" panose="02010609030101010101"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9pPr>
          </a:lstStyle>
          <a:p>
            <a:fld id="{C6419132-264D-4741-AAA4-D173600B6A56}" type="slidenum">
              <a:rPr lang="zh-CN" altLang="en-US" sz="1200" smtClean="0">
                <a:latin typeface="Arial" panose="020B0604020202020204" pitchFamily="34" charset="0"/>
                <a:ea typeface="宋体" panose="02010600030101010101" pitchFamily="2" charset="-122"/>
              </a:rPr>
            </a:fld>
            <a:endParaRPr lang="en-US" altLang="zh-CN" sz="1200">
              <a:latin typeface="Arial" panose="020B0604020202020204" pitchFamily="34" charset="0"/>
              <a:ea typeface="宋体" panose="02010600030101010101" pitchFamily="2" charset="-122"/>
            </a:endParaRPr>
          </a:p>
        </p:txBody>
      </p:sp>
      <p:sp>
        <p:nvSpPr>
          <p:cNvPr id="13315" name="Rectangle 2"/>
          <p:cNvSpPr>
            <a:spLocks noGrp="1" noRot="1" noChangeAspect="1" noChangeArrowheads="1" noTextEdit="1"/>
          </p:cNvSpPr>
          <p:nvPr>
            <p:ph type="sldImg"/>
          </p:nvPr>
        </p:nvSpPr>
        <p:spPr/>
      </p:sp>
      <p:sp>
        <p:nvSpPr>
          <p:cNvPr id="1331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t>进程的身份证</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p:sp>
      <p:sp>
        <p:nvSpPr>
          <p:cNvPr id="1945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96834240-5C6D-4094-8FA3-16F3D4ED9F57}" type="slidenum">
              <a:rPr lang="zh-CN" altLang="en-US"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Rot="1" noChangeAspect="1" noChangeArrowheads="1" noTextEdit="1"/>
          </p:cNvSpPr>
          <p:nvPr>
            <p:ph type="sldImg"/>
          </p:nvPr>
        </p:nvSpPr>
        <p:spPr/>
      </p:sp>
      <p:sp>
        <p:nvSpPr>
          <p:cNvPr id="26627" name="Rectangle 3"/>
          <p:cNvSpPr>
            <a:spLocks noGrp="1" noChangeArrowheads="1"/>
          </p:cNvSpPr>
          <p:nvPr>
            <p:ph type="body" idx="1"/>
          </p:nvPr>
        </p:nvSpPr>
        <p:spPr>
          <a:xfrm>
            <a:off x="901594" y="4723494"/>
            <a:ext cx="4957976" cy="447413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96834240-5C6D-4094-8FA3-16F3D4ED9F57}" type="slidenum">
              <a:rPr lang="zh-CN" altLang="en-US"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幻灯片图像占位符 1"/>
          <p:cNvSpPr>
            <a:spLocks noGrp="1" noRot="1" noChangeAspect="1" noTextEdit="1"/>
          </p:cNvSpPr>
          <p:nvPr>
            <p:ph type="sldImg"/>
          </p:nvPr>
        </p:nvSpPr>
        <p:spPr/>
      </p:sp>
      <p:sp>
        <p:nvSpPr>
          <p:cNvPr id="819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19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新宋体" panose="02010609030101010101" pitchFamily="49" charset="-122"/>
              </a:defRPr>
            </a:lvl1pPr>
            <a:lvl2pPr marL="742950" indent="-285750">
              <a:defRPr sz="2400">
                <a:solidFill>
                  <a:schemeClr val="tx1"/>
                </a:solidFill>
                <a:latin typeface="Times New Roman" panose="02020603050405020304" pitchFamily="18" charset="0"/>
                <a:ea typeface="新宋体" panose="02010609030101010101" pitchFamily="49" charset="-122"/>
              </a:defRPr>
            </a:lvl2pPr>
            <a:lvl3pPr marL="1143000" indent="-228600">
              <a:defRPr sz="2400">
                <a:solidFill>
                  <a:schemeClr val="tx1"/>
                </a:solidFill>
                <a:latin typeface="Times New Roman" panose="02020603050405020304" pitchFamily="18" charset="0"/>
                <a:ea typeface="新宋体" panose="02010609030101010101" pitchFamily="49" charset="-122"/>
              </a:defRPr>
            </a:lvl3pPr>
            <a:lvl4pPr marL="1600200" indent="-228600">
              <a:defRPr sz="2400">
                <a:solidFill>
                  <a:schemeClr val="tx1"/>
                </a:solidFill>
                <a:latin typeface="Times New Roman" panose="02020603050405020304" pitchFamily="18" charset="0"/>
                <a:ea typeface="新宋体" panose="02010609030101010101" pitchFamily="49" charset="-122"/>
              </a:defRPr>
            </a:lvl4pPr>
            <a:lvl5pPr marL="2057400" indent="-228600">
              <a:defRPr sz="2400">
                <a:solidFill>
                  <a:schemeClr val="tx1"/>
                </a:solidFill>
                <a:latin typeface="Times New Roman" panose="02020603050405020304" pitchFamily="18" charset="0"/>
                <a:ea typeface="新宋体" panose="02010609030101010101"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9pPr>
          </a:lstStyle>
          <a:p>
            <a:fld id="{E1A30040-7C30-4D2B-9D6F-A8C31DDC6C3C}" type="slidenum">
              <a:rPr lang="zh-CN" altLang="en-US" sz="1200" smtClean="0">
                <a:latin typeface="Arial" panose="020B0604020202020204" pitchFamily="34" charset="0"/>
                <a:ea typeface="宋体" panose="02010600030101010101" pitchFamily="2" charset="-122"/>
              </a:rPr>
            </a:fld>
            <a:endParaRPr lang="en-US" altLang="zh-CN" sz="1200">
              <a:latin typeface="Arial" panose="020B0604020202020204" pitchFamily="34" charset="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新宋体" panose="02010609030101010101" pitchFamily="49" charset="-122"/>
              </a:defRPr>
            </a:lvl1pPr>
            <a:lvl2pPr marL="742950" indent="-285750">
              <a:defRPr sz="2400">
                <a:solidFill>
                  <a:schemeClr val="tx1"/>
                </a:solidFill>
                <a:latin typeface="Times New Roman" panose="02020603050405020304" pitchFamily="18" charset="0"/>
                <a:ea typeface="新宋体" panose="02010609030101010101" pitchFamily="49" charset="-122"/>
              </a:defRPr>
            </a:lvl2pPr>
            <a:lvl3pPr marL="1143000" indent="-228600">
              <a:defRPr sz="2400">
                <a:solidFill>
                  <a:schemeClr val="tx1"/>
                </a:solidFill>
                <a:latin typeface="Times New Roman" panose="02020603050405020304" pitchFamily="18" charset="0"/>
                <a:ea typeface="新宋体" panose="02010609030101010101" pitchFamily="49" charset="-122"/>
              </a:defRPr>
            </a:lvl3pPr>
            <a:lvl4pPr marL="1600200" indent="-228600">
              <a:defRPr sz="2400">
                <a:solidFill>
                  <a:schemeClr val="tx1"/>
                </a:solidFill>
                <a:latin typeface="Times New Roman" panose="02020603050405020304" pitchFamily="18" charset="0"/>
                <a:ea typeface="新宋体" panose="02010609030101010101" pitchFamily="49" charset="-122"/>
              </a:defRPr>
            </a:lvl4pPr>
            <a:lvl5pPr marL="2057400" indent="-228600">
              <a:defRPr sz="2400">
                <a:solidFill>
                  <a:schemeClr val="tx1"/>
                </a:solidFill>
                <a:latin typeface="Times New Roman" panose="02020603050405020304" pitchFamily="18" charset="0"/>
                <a:ea typeface="新宋体" panose="02010609030101010101"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9pPr>
          </a:lstStyle>
          <a:p>
            <a:fld id="{4D47D675-A413-45D4-A271-6AEB56CAB7A6}" type="slidenum">
              <a:rPr lang="zh-CN" altLang="en-US" sz="1200" smtClean="0">
                <a:latin typeface="Arial" panose="020B0604020202020204" pitchFamily="34" charset="0"/>
                <a:ea typeface="宋体" panose="02010600030101010101" pitchFamily="2" charset="-122"/>
              </a:rPr>
            </a:fld>
            <a:endParaRPr lang="en-US" altLang="zh-CN" sz="1200">
              <a:latin typeface="Arial" panose="020B0604020202020204" pitchFamily="34" charset="0"/>
              <a:ea typeface="宋体" panose="02010600030101010101" pitchFamily="2" charset="-122"/>
            </a:endParaRPr>
          </a:p>
        </p:txBody>
      </p:sp>
      <p:sp>
        <p:nvSpPr>
          <p:cNvPr id="14339" name="Rectangle 2"/>
          <p:cNvSpPr>
            <a:spLocks noGrp="1" noRot="1" noChangeAspect="1" noChangeArrowheads="1" noTextEdit="1"/>
          </p:cNvSpPr>
          <p:nvPr>
            <p:ph type="sldImg"/>
          </p:nvPr>
        </p:nvSpPr>
        <p:spPr/>
      </p:sp>
      <p:sp>
        <p:nvSpPr>
          <p:cNvPr id="1434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a:t>2</a:t>
            </a:r>
            <a:r>
              <a:rPr lang="zh-CN" altLang="en-US"/>
              <a:t>：进程结构</a:t>
            </a:r>
            <a:r>
              <a:rPr lang="en-US" altLang="zh-CN"/>
              <a:t>task_struct</a:t>
            </a:r>
            <a:r>
              <a:rPr lang="zh-CN" altLang="en-US"/>
              <a:t>的起始地址必须保证指针地址的低</a:t>
            </a:r>
            <a:r>
              <a:rPr lang="en-US" altLang="zh-CN"/>
              <a:t>13</a:t>
            </a:r>
            <a:r>
              <a:rPr lang="zh-CN" altLang="en-US"/>
              <a:t>位全为</a:t>
            </a:r>
            <a:r>
              <a:rPr lang="en-US" altLang="zh-CN"/>
              <a:t>0</a:t>
            </a:r>
            <a:r>
              <a:rPr lang="zh-CN" altLang="en-US"/>
              <a:t>，因为由于</a:t>
            </a:r>
            <a:r>
              <a:rPr lang="en-US" altLang="zh-CN"/>
              <a:t>linux</a:t>
            </a:r>
            <a:r>
              <a:rPr lang="zh-CN" altLang="en-US"/>
              <a:t>内核分配进程任务结构空间时，是以</a:t>
            </a:r>
            <a:r>
              <a:rPr lang="en-US" altLang="zh-CN"/>
              <a:t>8KB(2</a:t>
            </a:r>
            <a:r>
              <a:rPr lang="zh-CN" altLang="en-US"/>
              <a:t>个页面空间，即</a:t>
            </a:r>
            <a:r>
              <a:rPr lang="en-US" altLang="zh-CN"/>
              <a:t>2^1*4KB</a:t>
            </a:r>
            <a:r>
              <a:rPr lang="zh-CN" altLang="en-US"/>
              <a:t>，</a:t>
            </a:r>
            <a:r>
              <a:rPr lang="en-US" altLang="zh-CN"/>
              <a:t>linux</a:t>
            </a:r>
            <a:r>
              <a:rPr lang="zh-CN" altLang="en-US"/>
              <a:t>对物理内存空间和虚拟内存空间管理时，均规定其页面单位的尺寸为</a:t>
            </a:r>
            <a:r>
              <a:rPr lang="en-US" altLang="zh-CN"/>
              <a:t>4KB)</a:t>
            </a:r>
            <a:r>
              <a:rPr lang="zh-CN" altLang="en-US"/>
              <a:t>为单位来分配的，所以内存应用地址是</a:t>
            </a:r>
            <a:r>
              <a:rPr lang="en-US" altLang="zh-CN"/>
              <a:t>8KB(2^13)</a:t>
            </a:r>
            <a:r>
              <a:rPr lang="zh-CN" altLang="en-US"/>
              <a:t>的整数倍，即指针地址的低</a:t>
            </a:r>
            <a:r>
              <a:rPr lang="en-US" altLang="zh-CN"/>
              <a:t>13</a:t>
            </a:r>
            <a:r>
              <a:rPr lang="zh-CN" altLang="en-US"/>
              <a:t>位全为</a:t>
            </a:r>
            <a:r>
              <a:rPr lang="en-US" altLang="zh-CN"/>
              <a:t>0</a:t>
            </a:r>
            <a:r>
              <a:rPr lang="zh-CN" altLang="en-US"/>
              <a:t>。</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新宋体" panose="02010609030101010101" pitchFamily="49" charset="-122"/>
              </a:defRPr>
            </a:lvl1pPr>
            <a:lvl2pPr marL="742950" indent="-285750">
              <a:defRPr sz="2400">
                <a:solidFill>
                  <a:schemeClr val="tx1"/>
                </a:solidFill>
                <a:latin typeface="Times New Roman" panose="02020603050405020304" pitchFamily="18" charset="0"/>
                <a:ea typeface="新宋体" panose="02010609030101010101" pitchFamily="49" charset="-122"/>
              </a:defRPr>
            </a:lvl2pPr>
            <a:lvl3pPr marL="1143000" indent="-228600">
              <a:defRPr sz="2400">
                <a:solidFill>
                  <a:schemeClr val="tx1"/>
                </a:solidFill>
                <a:latin typeface="Times New Roman" panose="02020603050405020304" pitchFamily="18" charset="0"/>
                <a:ea typeface="新宋体" panose="02010609030101010101" pitchFamily="49" charset="-122"/>
              </a:defRPr>
            </a:lvl3pPr>
            <a:lvl4pPr marL="1600200" indent="-228600">
              <a:defRPr sz="2400">
                <a:solidFill>
                  <a:schemeClr val="tx1"/>
                </a:solidFill>
                <a:latin typeface="Times New Roman" panose="02020603050405020304" pitchFamily="18" charset="0"/>
                <a:ea typeface="新宋体" panose="02010609030101010101" pitchFamily="49" charset="-122"/>
              </a:defRPr>
            </a:lvl4pPr>
            <a:lvl5pPr marL="2057400" indent="-228600">
              <a:defRPr sz="2400">
                <a:solidFill>
                  <a:schemeClr val="tx1"/>
                </a:solidFill>
                <a:latin typeface="Times New Roman" panose="02020603050405020304" pitchFamily="18" charset="0"/>
                <a:ea typeface="新宋体" panose="02010609030101010101"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9pPr>
          </a:lstStyle>
          <a:p>
            <a:fld id="{71E0EBFE-631A-4252-A66B-79E4E1067F1E}" type="slidenum">
              <a:rPr lang="zh-CN" altLang="en-US" sz="1200" smtClean="0">
                <a:latin typeface="Arial" panose="020B0604020202020204" pitchFamily="34" charset="0"/>
                <a:ea typeface="宋体" panose="02010600030101010101" pitchFamily="2" charset="-122"/>
              </a:rPr>
            </a:fld>
            <a:endParaRPr lang="en-US" altLang="zh-CN" sz="1200">
              <a:latin typeface="Arial" panose="020B0604020202020204" pitchFamily="34" charset="0"/>
              <a:ea typeface="宋体" panose="02010600030101010101" pitchFamily="2" charset="-122"/>
            </a:endParaRPr>
          </a:p>
        </p:txBody>
      </p:sp>
      <p:sp>
        <p:nvSpPr>
          <p:cNvPr id="16387" name="Rectangle 2"/>
          <p:cNvSpPr>
            <a:spLocks noGrp="1" noRot="1" noChangeAspect="1" noChangeArrowheads="1" noTextEdit="1"/>
          </p:cNvSpPr>
          <p:nvPr>
            <p:ph type="sldImg"/>
          </p:nvPr>
        </p:nvSpPr>
        <p:spPr/>
      </p:sp>
      <p:sp>
        <p:nvSpPr>
          <p:cNvPr id="163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a:t>2</a:t>
            </a:r>
            <a:r>
              <a:rPr lang="zh-CN" altLang="en-US"/>
              <a:t>）在</a:t>
            </a:r>
            <a:r>
              <a:rPr lang="en-US" altLang="zh-CN"/>
              <a:t>task_union </a:t>
            </a:r>
            <a:r>
              <a:rPr lang="zh-CN" altLang="en-US"/>
              <a:t>里，</a:t>
            </a:r>
            <a:r>
              <a:rPr lang="en-US" altLang="zh-CN"/>
              <a:t>task_struct </a:t>
            </a:r>
            <a:r>
              <a:rPr lang="zh-CN" altLang="en-US"/>
              <a:t>和</a:t>
            </a:r>
            <a:r>
              <a:rPr lang="en-US" altLang="zh-CN"/>
              <a:t>stack[2048]</a:t>
            </a:r>
            <a:r>
              <a:rPr lang="zh-CN" altLang="en-US"/>
              <a:t>的起始地址是相同的。 </a:t>
            </a:r>
            <a:endParaRPr lang="zh-CN" altLang="en-US"/>
          </a:p>
          <a:p>
            <a:pPr eaLnBrk="1" hangingPunct="1"/>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新宋体" panose="02010609030101010101" pitchFamily="49" charset="-122"/>
              </a:defRPr>
            </a:lvl1pPr>
            <a:lvl2pPr marL="742950" indent="-285750">
              <a:defRPr sz="2400">
                <a:solidFill>
                  <a:schemeClr val="tx1"/>
                </a:solidFill>
                <a:latin typeface="Times New Roman" panose="02020603050405020304" pitchFamily="18" charset="0"/>
                <a:ea typeface="新宋体" panose="02010609030101010101" pitchFamily="49" charset="-122"/>
              </a:defRPr>
            </a:lvl2pPr>
            <a:lvl3pPr marL="1143000" indent="-228600">
              <a:defRPr sz="2400">
                <a:solidFill>
                  <a:schemeClr val="tx1"/>
                </a:solidFill>
                <a:latin typeface="Times New Roman" panose="02020603050405020304" pitchFamily="18" charset="0"/>
                <a:ea typeface="新宋体" panose="02010609030101010101" pitchFamily="49" charset="-122"/>
              </a:defRPr>
            </a:lvl3pPr>
            <a:lvl4pPr marL="1600200" indent="-228600">
              <a:defRPr sz="2400">
                <a:solidFill>
                  <a:schemeClr val="tx1"/>
                </a:solidFill>
                <a:latin typeface="Times New Roman" panose="02020603050405020304" pitchFamily="18" charset="0"/>
                <a:ea typeface="新宋体" panose="02010609030101010101" pitchFamily="49" charset="-122"/>
              </a:defRPr>
            </a:lvl4pPr>
            <a:lvl5pPr marL="2057400" indent="-228600">
              <a:defRPr sz="2400">
                <a:solidFill>
                  <a:schemeClr val="tx1"/>
                </a:solidFill>
                <a:latin typeface="Times New Roman" panose="02020603050405020304" pitchFamily="18" charset="0"/>
                <a:ea typeface="新宋体" panose="02010609030101010101"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9pPr>
          </a:lstStyle>
          <a:p>
            <a:fld id="{237CA1A7-D97B-4091-BF6C-78926A7DCB27}" type="slidenum">
              <a:rPr lang="zh-CN" altLang="en-US" sz="1200" smtClean="0">
                <a:latin typeface="Arial" panose="020B0604020202020204" pitchFamily="34" charset="0"/>
                <a:ea typeface="宋体" panose="02010600030101010101" pitchFamily="2" charset="-122"/>
              </a:rPr>
            </a:fld>
            <a:endParaRPr lang="en-US" altLang="zh-CN" sz="1200">
              <a:latin typeface="Arial" panose="020B0604020202020204" pitchFamily="34" charset="0"/>
              <a:ea typeface="宋体" panose="02010600030101010101" pitchFamily="2"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ea typeface="宋体" panose="02010600030101010101" pitchFamily="2" charset="-122"/>
              </a:rPr>
              <a:t>屏蔽掉</a:t>
            </a:r>
            <a:r>
              <a:rPr lang="en-US" altLang="zh-CN">
                <a:ea typeface="宋体" panose="02010600030101010101" pitchFamily="2" charset="-122"/>
              </a:rPr>
              <a:t>%esp</a:t>
            </a:r>
            <a:r>
              <a:rPr lang="zh-CN" altLang="en-US">
                <a:ea typeface="宋体" panose="02010600030101010101" pitchFamily="2" charset="-122"/>
              </a:rPr>
              <a:t>的</a:t>
            </a:r>
            <a:r>
              <a:rPr lang="en-US" altLang="zh-CN">
                <a:ea typeface="宋体" panose="02010600030101010101" pitchFamily="2" charset="-122"/>
              </a:rPr>
              <a:t>13-bit LSB</a:t>
            </a:r>
            <a:r>
              <a:rPr lang="zh-CN" altLang="en-US">
                <a:ea typeface="宋体" panose="02010600030101010101" pitchFamily="2" charset="-122"/>
              </a:rPr>
              <a:t>后，就得到了内核栈的开头，而这个开头正好是</a:t>
            </a:r>
            <a:r>
              <a:rPr lang="en-US" altLang="zh-CN">
                <a:ea typeface="宋体" panose="02010600030101010101" pitchFamily="2" charset="-122"/>
              </a:rPr>
              <a:t>task_struct</a:t>
            </a:r>
            <a:r>
              <a:rPr lang="zh-CN" altLang="en-US">
                <a:ea typeface="宋体" panose="02010600030101010101" pitchFamily="2" charset="-122"/>
              </a:rPr>
              <a:t>的开</a:t>
            </a:r>
            <a:br>
              <a:rPr lang="zh-CN" altLang="en-US">
                <a:ea typeface="宋体" panose="02010600030101010101" pitchFamily="2" charset="-122"/>
              </a:rPr>
            </a:br>
            <a:r>
              <a:rPr lang="zh-CN" altLang="en-US">
                <a:ea typeface="宋体" panose="02010600030101010101" pitchFamily="2" charset="-122"/>
              </a:rPr>
              <a:t>始，从而得到了指向</a:t>
            </a:r>
            <a:r>
              <a:rPr lang="en-US" altLang="zh-CN">
                <a:ea typeface="宋体" panose="02010600030101010101" pitchFamily="2" charset="-122"/>
              </a:rPr>
              <a:t>task_struct</a:t>
            </a:r>
            <a:r>
              <a:rPr lang="zh-CN" altLang="en-US">
                <a:ea typeface="宋体" panose="02010600030101010101" pitchFamily="2" charset="-122"/>
              </a:rPr>
              <a:t>的指针。</a:t>
            </a:r>
            <a:br>
              <a:rPr lang="zh-CN" altLang="en-US">
                <a:ea typeface="宋体" panose="02010600030101010101" pitchFamily="2" charset="-122"/>
              </a:rPr>
            </a:br>
            <a:endParaRPr lang="zh-CN" altLang="en-US">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96834240-5C6D-4094-8FA3-16F3D4ED9F57}" type="slidenum">
              <a:rPr lang="zh-CN" altLang="en-US" smtClean="0"/>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p:nvPr>
        </p:nvSpPr>
        <p:spPr/>
      </p:sp>
      <p:sp>
        <p:nvSpPr>
          <p:cNvPr id="921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22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新宋体" panose="02010609030101010101" pitchFamily="49" charset="-122"/>
              </a:defRPr>
            </a:lvl1pPr>
            <a:lvl2pPr marL="742950" indent="-285750">
              <a:defRPr sz="2400">
                <a:solidFill>
                  <a:schemeClr val="tx1"/>
                </a:solidFill>
                <a:latin typeface="Times New Roman" panose="02020603050405020304" pitchFamily="18" charset="0"/>
                <a:ea typeface="新宋体" panose="02010609030101010101" pitchFamily="49" charset="-122"/>
              </a:defRPr>
            </a:lvl2pPr>
            <a:lvl3pPr marL="1143000" indent="-228600">
              <a:defRPr sz="2400">
                <a:solidFill>
                  <a:schemeClr val="tx1"/>
                </a:solidFill>
                <a:latin typeface="Times New Roman" panose="02020603050405020304" pitchFamily="18" charset="0"/>
                <a:ea typeface="新宋体" panose="02010609030101010101" pitchFamily="49" charset="-122"/>
              </a:defRPr>
            </a:lvl3pPr>
            <a:lvl4pPr marL="1600200" indent="-228600">
              <a:defRPr sz="2400">
                <a:solidFill>
                  <a:schemeClr val="tx1"/>
                </a:solidFill>
                <a:latin typeface="Times New Roman" panose="02020603050405020304" pitchFamily="18" charset="0"/>
                <a:ea typeface="新宋体" panose="02010609030101010101" pitchFamily="49" charset="-122"/>
              </a:defRPr>
            </a:lvl4pPr>
            <a:lvl5pPr marL="2057400" indent="-228600">
              <a:defRPr sz="2400">
                <a:solidFill>
                  <a:schemeClr val="tx1"/>
                </a:solidFill>
                <a:latin typeface="Times New Roman" panose="02020603050405020304" pitchFamily="18" charset="0"/>
                <a:ea typeface="新宋体" panose="02010609030101010101"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9pPr>
          </a:lstStyle>
          <a:p>
            <a:fld id="{C7231672-8893-4DB5-997F-C5761A910B35}" type="slidenum">
              <a:rPr lang="zh-CN" altLang="en-US" sz="1200" smtClean="0">
                <a:latin typeface="Arial" panose="020B0604020202020204" pitchFamily="34" charset="0"/>
                <a:ea typeface="宋体" panose="02010600030101010101" pitchFamily="2" charset="-122"/>
              </a:rPr>
            </a:fld>
            <a:endParaRPr lang="en-US" altLang="zh-CN" sz="1200">
              <a:latin typeface="Arial" panose="020B0604020202020204" pitchFamily="34" charset="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新宋体" panose="02010609030101010101" pitchFamily="49" charset="-122"/>
              </a:defRPr>
            </a:lvl1pPr>
            <a:lvl2pPr marL="742950" indent="-285750">
              <a:defRPr sz="2400">
                <a:solidFill>
                  <a:schemeClr val="tx1"/>
                </a:solidFill>
                <a:latin typeface="Times New Roman" panose="02020603050405020304" pitchFamily="18" charset="0"/>
                <a:ea typeface="新宋体" panose="02010609030101010101" pitchFamily="49" charset="-122"/>
              </a:defRPr>
            </a:lvl2pPr>
            <a:lvl3pPr marL="1143000" indent="-228600">
              <a:defRPr sz="2400">
                <a:solidFill>
                  <a:schemeClr val="tx1"/>
                </a:solidFill>
                <a:latin typeface="Times New Roman" panose="02020603050405020304" pitchFamily="18" charset="0"/>
                <a:ea typeface="新宋体" panose="02010609030101010101" pitchFamily="49" charset="-122"/>
              </a:defRPr>
            </a:lvl3pPr>
            <a:lvl4pPr marL="1600200" indent="-228600">
              <a:defRPr sz="2400">
                <a:solidFill>
                  <a:schemeClr val="tx1"/>
                </a:solidFill>
                <a:latin typeface="Times New Roman" panose="02020603050405020304" pitchFamily="18" charset="0"/>
                <a:ea typeface="新宋体" panose="02010609030101010101" pitchFamily="49" charset="-122"/>
              </a:defRPr>
            </a:lvl4pPr>
            <a:lvl5pPr marL="2057400" indent="-228600">
              <a:defRPr sz="2400">
                <a:solidFill>
                  <a:schemeClr val="tx1"/>
                </a:solidFill>
                <a:latin typeface="Times New Roman" panose="02020603050405020304" pitchFamily="18" charset="0"/>
                <a:ea typeface="新宋体" panose="02010609030101010101"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9pPr>
          </a:lstStyle>
          <a:p>
            <a:fld id="{2F137632-6268-437C-88F7-73F11DB8C990}" type="slidenum">
              <a:rPr lang="zh-CN" altLang="en-US" sz="1200" smtClean="0">
                <a:latin typeface="Arial" panose="020B0604020202020204" pitchFamily="34" charset="0"/>
                <a:ea typeface="宋体" panose="02010600030101010101" pitchFamily="2" charset="-122"/>
              </a:rPr>
            </a:fld>
            <a:endParaRPr lang="en-US" altLang="zh-CN" sz="1200">
              <a:latin typeface="Arial" panose="020B0604020202020204" pitchFamily="34" charset="0"/>
              <a:ea typeface="宋体" panose="02010600030101010101" pitchFamily="2" charset="-122"/>
            </a:endParaRPr>
          </a:p>
        </p:txBody>
      </p:sp>
      <p:sp>
        <p:nvSpPr>
          <p:cNvPr id="13315" name="Rectangle 2"/>
          <p:cNvSpPr>
            <a:spLocks noGrp="1" noRot="1" noChangeAspect="1" noChangeArrowheads="1" noTextEdit="1"/>
          </p:cNvSpPr>
          <p:nvPr>
            <p:ph type="sldImg"/>
          </p:nvPr>
        </p:nvSpPr>
        <p:spPr/>
      </p:sp>
      <p:sp>
        <p:nvSpPr>
          <p:cNvPr id="1331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eaLnBrk="1" hangingPunct="1"/>
            <a:r>
              <a:rPr lang="en-US" altLang="zh-CN"/>
              <a:t>find_task_by_pid()</a:t>
            </a:r>
            <a:r>
              <a:rPr lang="zh-CN" altLang="en-US"/>
              <a:t>查找散列表并返回给定</a:t>
            </a:r>
            <a:r>
              <a:rPr lang="en-US" altLang="zh-CN"/>
              <a:t>PID</a:t>
            </a:r>
            <a:r>
              <a:rPr lang="zh-CN" altLang="en-US"/>
              <a:t>的进程描述符指针</a:t>
            </a:r>
            <a:endParaRPr lang="zh-CN" altLang="en-US"/>
          </a:p>
          <a:p>
            <a:pPr eaLnBrk="1" hangingPunct="1"/>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新宋体" panose="02010609030101010101" pitchFamily="49" charset="-122"/>
              </a:defRPr>
            </a:lvl1pPr>
            <a:lvl2pPr marL="742950" indent="-285750">
              <a:defRPr sz="2400">
                <a:solidFill>
                  <a:schemeClr val="tx1"/>
                </a:solidFill>
                <a:latin typeface="Times New Roman" panose="02020603050405020304" pitchFamily="18" charset="0"/>
                <a:ea typeface="新宋体" panose="02010609030101010101" pitchFamily="49" charset="-122"/>
              </a:defRPr>
            </a:lvl2pPr>
            <a:lvl3pPr marL="1143000" indent="-228600">
              <a:defRPr sz="2400">
                <a:solidFill>
                  <a:schemeClr val="tx1"/>
                </a:solidFill>
                <a:latin typeface="Times New Roman" panose="02020603050405020304" pitchFamily="18" charset="0"/>
                <a:ea typeface="新宋体" panose="02010609030101010101" pitchFamily="49" charset="-122"/>
              </a:defRPr>
            </a:lvl3pPr>
            <a:lvl4pPr marL="1600200" indent="-228600">
              <a:defRPr sz="2400">
                <a:solidFill>
                  <a:schemeClr val="tx1"/>
                </a:solidFill>
                <a:latin typeface="Times New Roman" panose="02020603050405020304" pitchFamily="18" charset="0"/>
                <a:ea typeface="新宋体" panose="02010609030101010101" pitchFamily="49" charset="-122"/>
              </a:defRPr>
            </a:lvl4pPr>
            <a:lvl5pPr marL="2057400" indent="-228600">
              <a:defRPr sz="2400">
                <a:solidFill>
                  <a:schemeClr val="tx1"/>
                </a:solidFill>
                <a:latin typeface="Times New Roman" panose="02020603050405020304" pitchFamily="18" charset="0"/>
                <a:ea typeface="新宋体" panose="02010609030101010101"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9pPr>
          </a:lstStyle>
          <a:p>
            <a:fld id="{092249FE-846C-4704-8059-21B19C888415}" type="slidenum">
              <a:rPr lang="zh-CN" altLang="en-US" sz="1200" smtClean="0">
                <a:latin typeface="Arial" panose="020B0604020202020204" pitchFamily="34" charset="0"/>
                <a:ea typeface="宋体" panose="02010600030101010101" pitchFamily="2" charset="-122"/>
              </a:rPr>
            </a:fld>
            <a:endParaRPr lang="en-US" altLang="zh-CN" sz="1200">
              <a:latin typeface="Arial" panose="020B0604020202020204" pitchFamily="34" charset="0"/>
              <a:ea typeface="宋体" panose="02010600030101010101" pitchFamily="2" charset="-122"/>
            </a:endParaRPr>
          </a:p>
        </p:txBody>
      </p:sp>
      <p:sp>
        <p:nvSpPr>
          <p:cNvPr id="16387" name="Rectangle 2"/>
          <p:cNvSpPr>
            <a:spLocks noGrp="1" noRot="1" noChangeAspect="1" noChangeArrowheads="1" noTextEdit="1"/>
          </p:cNvSpPr>
          <p:nvPr>
            <p:ph type="sldImg"/>
          </p:nvPr>
        </p:nvSpPr>
        <p:spPr/>
      </p:sp>
      <p:sp>
        <p:nvSpPr>
          <p:cNvPr id="163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ea typeface="宋体" panose="02010600030101010101" pitchFamily="2" charset="-122"/>
              </a:rPr>
              <a:t>然而，要唤醒等待队列中所有睡眠的进程有时并不方便。例如，如果两个或多个进程正在等待互斥访问某一要释放的资源，仅唤醒等待队列中一个进程才有意义。这 个进程占有资源，而其他进程继续睡眠</a:t>
            </a:r>
            <a:r>
              <a:rPr lang="en-US" altLang="zh-CN">
                <a:ea typeface="宋体" panose="02010600030101010101" pitchFamily="2" charset="-122"/>
              </a:rPr>
              <a:t>.(</a:t>
            </a:r>
            <a:r>
              <a:rPr lang="zh-CN" altLang="en-US">
                <a:ea typeface="宋体" panose="02010600030101010101" pitchFamily="2" charset="-122"/>
              </a:rPr>
              <a:t>这就避免了所谓的</a:t>
            </a:r>
            <a:r>
              <a:rPr lang="en-US" altLang="zh-CN">
                <a:ea typeface="宋体" panose="02010600030101010101" pitchFamily="2" charset="-122"/>
              </a:rPr>
              <a:t>"</a:t>
            </a:r>
            <a:r>
              <a:rPr lang="zh-CN" altLang="en-US">
                <a:ea typeface="宋体" panose="02010600030101010101" pitchFamily="2" charset="-122"/>
              </a:rPr>
              <a:t>雷鸣般群兽</a:t>
            </a:r>
            <a:r>
              <a:rPr lang="en-US" altLang="zh-CN">
                <a:ea typeface="宋体" panose="02010600030101010101" pitchFamily="2" charset="-122"/>
              </a:rPr>
              <a:t>"</a:t>
            </a:r>
            <a:r>
              <a:rPr lang="zh-CN" altLang="en-US">
                <a:ea typeface="宋体" panose="02010600030101010101" pitchFamily="2" charset="-122"/>
              </a:rPr>
              <a:t>问题，即唤醒多个进程只为了竞争一个资源，而这个资源只能有一个进程访问，结果是 其他进程必须再次回去睡眠</a:t>
            </a:r>
            <a:r>
              <a:rPr lang="en-US" altLang="zh-CN">
                <a:ea typeface="宋体" panose="02010600030101010101" pitchFamily="2" charset="-122"/>
              </a:rPr>
              <a:t>.)</a:t>
            </a:r>
            <a:endParaRPr lang="en-US" altLang="zh-CN">
              <a:ea typeface="宋体" panose="02010600030101010101" pitchFamily="2" charset="-122"/>
            </a:endParaRPr>
          </a:p>
          <a:p>
            <a:pPr eaLnBrk="1" hangingPunct="1"/>
            <a:endParaRPr lang="en-US" altLang="zh-CN">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新宋体" panose="02010609030101010101" pitchFamily="49" charset="-122"/>
              </a:defRPr>
            </a:lvl1pPr>
            <a:lvl2pPr marL="742950" indent="-285750">
              <a:defRPr sz="2400">
                <a:solidFill>
                  <a:schemeClr val="tx1"/>
                </a:solidFill>
                <a:latin typeface="Times New Roman" panose="02020603050405020304" pitchFamily="18" charset="0"/>
                <a:ea typeface="新宋体" panose="02010609030101010101" pitchFamily="49" charset="-122"/>
              </a:defRPr>
            </a:lvl2pPr>
            <a:lvl3pPr marL="1143000" indent="-228600">
              <a:defRPr sz="2400">
                <a:solidFill>
                  <a:schemeClr val="tx1"/>
                </a:solidFill>
                <a:latin typeface="Times New Roman" panose="02020603050405020304" pitchFamily="18" charset="0"/>
                <a:ea typeface="新宋体" panose="02010609030101010101" pitchFamily="49" charset="-122"/>
              </a:defRPr>
            </a:lvl3pPr>
            <a:lvl4pPr marL="1600200" indent="-228600">
              <a:defRPr sz="2400">
                <a:solidFill>
                  <a:schemeClr val="tx1"/>
                </a:solidFill>
                <a:latin typeface="Times New Roman" panose="02020603050405020304" pitchFamily="18" charset="0"/>
                <a:ea typeface="新宋体" panose="02010609030101010101" pitchFamily="49" charset="-122"/>
              </a:defRPr>
            </a:lvl4pPr>
            <a:lvl5pPr marL="2057400" indent="-228600">
              <a:defRPr sz="2400">
                <a:solidFill>
                  <a:schemeClr val="tx1"/>
                </a:solidFill>
                <a:latin typeface="Times New Roman" panose="02020603050405020304" pitchFamily="18" charset="0"/>
                <a:ea typeface="新宋体" panose="02010609030101010101"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9pPr>
          </a:lstStyle>
          <a:p>
            <a:fld id="{52E2FCC0-9983-4367-B3FA-CD2154168675}" type="slidenum">
              <a:rPr lang="zh-CN" altLang="en-US" sz="1200" smtClean="0">
                <a:latin typeface="Arial" panose="020B0604020202020204" pitchFamily="34" charset="0"/>
                <a:ea typeface="宋体" panose="02010600030101010101" pitchFamily="2" charset="-122"/>
              </a:rPr>
            </a:fld>
            <a:endParaRPr lang="en-US" altLang="zh-CN" sz="1200">
              <a:latin typeface="Arial" panose="020B0604020202020204" pitchFamily="34" charset="0"/>
              <a:ea typeface="宋体" panose="02010600030101010101" pitchFamily="2" charset="-122"/>
            </a:endParaRPr>
          </a:p>
        </p:txBody>
      </p:sp>
      <p:sp>
        <p:nvSpPr>
          <p:cNvPr id="19459" name="Rectangle 2"/>
          <p:cNvSpPr>
            <a:spLocks noGrp="1" noRot="1" noChangeAspect="1" noChangeArrowheads="1" noTextEdit="1"/>
          </p:cNvSpPr>
          <p:nvPr>
            <p:ph type="sldImg"/>
          </p:nvPr>
        </p:nvSpPr>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新宋体" panose="02010609030101010101" pitchFamily="49" charset="-122"/>
              </a:defRPr>
            </a:lvl1pPr>
            <a:lvl2pPr marL="742950" indent="-285750">
              <a:defRPr sz="2400">
                <a:solidFill>
                  <a:schemeClr val="tx1"/>
                </a:solidFill>
                <a:latin typeface="Times New Roman" panose="02020603050405020304" pitchFamily="18" charset="0"/>
                <a:ea typeface="新宋体" panose="02010609030101010101" pitchFamily="49" charset="-122"/>
              </a:defRPr>
            </a:lvl2pPr>
            <a:lvl3pPr marL="1143000" indent="-228600">
              <a:defRPr sz="2400">
                <a:solidFill>
                  <a:schemeClr val="tx1"/>
                </a:solidFill>
                <a:latin typeface="Times New Roman" panose="02020603050405020304" pitchFamily="18" charset="0"/>
                <a:ea typeface="新宋体" panose="02010609030101010101" pitchFamily="49" charset="-122"/>
              </a:defRPr>
            </a:lvl3pPr>
            <a:lvl4pPr marL="1600200" indent="-228600">
              <a:defRPr sz="2400">
                <a:solidFill>
                  <a:schemeClr val="tx1"/>
                </a:solidFill>
                <a:latin typeface="Times New Roman" panose="02020603050405020304" pitchFamily="18" charset="0"/>
                <a:ea typeface="新宋体" panose="02010609030101010101" pitchFamily="49" charset="-122"/>
              </a:defRPr>
            </a:lvl4pPr>
            <a:lvl5pPr marL="2057400" indent="-228600">
              <a:defRPr sz="2400">
                <a:solidFill>
                  <a:schemeClr val="tx1"/>
                </a:solidFill>
                <a:latin typeface="Times New Roman" panose="02020603050405020304" pitchFamily="18" charset="0"/>
                <a:ea typeface="新宋体" panose="02010609030101010101"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9pPr>
          </a:lstStyle>
          <a:p>
            <a:fld id="{A17DDF95-29B8-4169-9FA3-3E2B55045DE6}" type="slidenum">
              <a:rPr lang="zh-CN" altLang="en-US" sz="1200" smtClean="0">
                <a:latin typeface="Arial" panose="020B0604020202020204" pitchFamily="34" charset="0"/>
                <a:ea typeface="宋体" panose="02010600030101010101" pitchFamily="2" charset="-122"/>
              </a:rPr>
            </a:fld>
            <a:endParaRPr lang="en-US" altLang="zh-CN" sz="1200">
              <a:latin typeface="Arial" panose="020B0604020202020204" pitchFamily="34" charset="0"/>
              <a:ea typeface="宋体" panose="02010600030101010101" pitchFamily="2" charset="-122"/>
            </a:endParaRPr>
          </a:p>
        </p:txBody>
      </p:sp>
      <p:sp>
        <p:nvSpPr>
          <p:cNvPr id="31747" name="Rectangle 2"/>
          <p:cNvSpPr>
            <a:spLocks noGrp="1" noRot="1" noChangeAspect="1" noChangeArrowheads="1" noTextEdit="1"/>
          </p:cNvSpPr>
          <p:nvPr>
            <p:ph type="sldImg"/>
          </p:nvPr>
        </p:nvSpPr>
        <p:spPr/>
      </p:sp>
      <p:sp>
        <p:nvSpPr>
          <p:cNvPr id="31748" name="Rectangle 3"/>
          <p:cNvSpPr>
            <a:spLocks noGrp="1" noChangeArrowheads="1"/>
          </p:cNvSpPr>
          <p:nvPr>
            <p:ph type="body" idx="1"/>
          </p:nvPr>
        </p:nvSpPr>
        <p:spPr>
          <a:xfrm>
            <a:off x="901594" y="4721895"/>
            <a:ext cx="4957976" cy="447413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90000"/>
              </a:lnSpc>
            </a:pPr>
            <a:endParaRPr lang="zh-CN" altLang="en-US" sz="18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新宋体" panose="02010609030101010101" pitchFamily="49" charset="-122"/>
              </a:defRPr>
            </a:lvl1pPr>
            <a:lvl2pPr marL="742950" indent="-285750">
              <a:defRPr sz="2400">
                <a:solidFill>
                  <a:schemeClr val="tx1"/>
                </a:solidFill>
                <a:latin typeface="Times New Roman" panose="02020603050405020304" pitchFamily="18" charset="0"/>
                <a:ea typeface="新宋体" panose="02010609030101010101" pitchFamily="49" charset="-122"/>
              </a:defRPr>
            </a:lvl2pPr>
            <a:lvl3pPr marL="1143000" indent="-228600">
              <a:defRPr sz="2400">
                <a:solidFill>
                  <a:schemeClr val="tx1"/>
                </a:solidFill>
                <a:latin typeface="Times New Roman" panose="02020603050405020304" pitchFamily="18" charset="0"/>
                <a:ea typeface="新宋体" panose="02010609030101010101" pitchFamily="49" charset="-122"/>
              </a:defRPr>
            </a:lvl3pPr>
            <a:lvl4pPr marL="1600200" indent="-228600">
              <a:defRPr sz="2400">
                <a:solidFill>
                  <a:schemeClr val="tx1"/>
                </a:solidFill>
                <a:latin typeface="Times New Roman" panose="02020603050405020304" pitchFamily="18" charset="0"/>
                <a:ea typeface="新宋体" panose="02010609030101010101" pitchFamily="49" charset="-122"/>
              </a:defRPr>
            </a:lvl4pPr>
            <a:lvl5pPr marL="2057400" indent="-228600">
              <a:defRPr sz="2400">
                <a:solidFill>
                  <a:schemeClr val="tx1"/>
                </a:solidFill>
                <a:latin typeface="Times New Roman" panose="02020603050405020304" pitchFamily="18" charset="0"/>
                <a:ea typeface="新宋体" panose="02010609030101010101"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9pPr>
          </a:lstStyle>
          <a:p>
            <a:fld id="{AA83D53D-AF5A-42A1-9D87-228B6B479207}" type="slidenum">
              <a:rPr lang="zh-CN" altLang="en-US" sz="1200" smtClean="0">
                <a:latin typeface="Arial" panose="020B0604020202020204" pitchFamily="34" charset="0"/>
                <a:ea typeface="宋体" panose="02010600030101010101" pitchFamily="2" charset="-122"/>
              </a:rPr>
            </a:fld>
            <a:endParaRPr lang="en-US" altLang="zh-CN" sz="1200">
              <a:latin typeface="Arial" panose="020B0604020202020204" pitchFamily="34" charset="0"/>
              <a:ea typeface="宋体" panose="02010600030101010101" pitchFamily="2" charset="-122"/>
            </a:endParaRPr>
          </a:p>
        </p:txBody>
      </p:sp>
      <p:sp>
        <p:nvSpPr>
          <p:cNvPr id="53251" name="Rectangle 2"/>
          <p:cNvSpPr>
            <a:spLocks noGrp="1" noRot="1" noChangeAspect="1" noChangeArrowheads="1" noTextEdit="1"/>
          </p:cNvSpPr>
          <p:nvPr>
            <p:ph type="sldImg"/>
          </p:nvPr>
        </p:nvSpPr>
        <p:spPr/>
      </p:sp>
      <p:sp>
        <p:nvSpPr>
          <p:cNvPr id="53252" name="Rectangle 3"/>
          <p:cNvSpPr>
            <a:spLocks noGrp="1" noChangeArrowheads="1"/>
          </p:cNvSpPr>
          <p:nvPr>
            <p:ph type="body" idx="1"/>
          </p:nvPr>
        </p:nvSpPr>
        <p:spPr>
          <a:xfrm>
            <a:off x="901594" y="4721895"/>
            <a:ext cx="4957976" cy="447413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ea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新宋体" panose="02010609030101010101" pitchFamily="49" charset="-122"/>
              </a:defRPr>
            </a:lvl1pPr>
            <a:lvl2pPr marL="742950" indent="-285750">
              <a:defRPr sz="2400">
                <a:solidFill>
                  <a:schemeClr val="tx1"/>
                </a:solidFill>
                <a:latin typeface="Times New Roman" panose="02020603050405020304" pitchFamily="18" charset="0"/>
                <a:ea typeface="新宋体" panose="02010609030101010101" pitchFamily="49" charset="-122"/>
              </a:defRPr>
            </a:lvl2pPr>
            <a:lvl3pPr marL="1143000" indent="-228600">
              <a:defRPr sz="2400">
                <a:solidFill>
                  <a:schemeClr val="tx1"/>
                </a:solidFill>
                <a:latin typeface="Times New Roman" panose="02020603050405020304" pitchFamily="18" charset="0"/>
                <a:ea typeface="新宋体" panose="02010609030101010101" pitchFamily="49" charset="-122"/>
              </a:defRPr>
            </a:lvl3pPr>
            <a:lvl4pPr marL="1600200" indent="-228600">
              <a:defRPr sz="2400">
                <a:solidFill>
                  <a:schemeClr val="tx1"/>
                </a:solidFill>
                <a:latin typeface="Times New Roman" panose="02020603050405020304" pitchFamily="18" charset="0"/>
                <a:ea typeface="新宋体" panose="02010609030101010101" pitchFamily="49" charset="-122"/>
              </a:defRPr>
            </a:lvl4pPr>
            <a:lvl5pPr marL="2057400" indent="-228600">
              <a:defRPr sz="2400">
                <a:solidFill>
                  <a:schemeClr val="tx1"/>
                </a:solidFill>
                <a:latin typeface="Times New Roman" panose="02020603050405020304" pitchFamily="18" charset="0"/>
                <a:ea typeface="新宋体" panose="02010609030101010101"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9pPr>
          </a:lstStyle>
          <a:p>
            <a:fld id="{5EB4B48D-8F4D-4DB3-8409-88885308A067}" type="slidenum">
              <a:rPr lang="zh-CN" altLang="en-US" sz="1200" smtClean="0">
                <a:latin typeface="Arial" panose="020B0604020202020204" pitchFamily="34" charset="0"/>
                <a:ea typeface="宋体" panose="02010600030101010101" pitchFamily="2" charset="-122"/>
              </a:rPr>
            </a:fld>
            <a:endParaRPr lang="en-US" altLang="zh-CN" sz="1200">
              <a:latin typeface="Arial" panose="020B0604020202020204" pitchFamily="34" charset="0"/>
              <a:ea typeface="宋体" panose="02010600030101010101" pitchFamily="2" charset="-122"/>
            </a:endParaRPr>
          </a:p>
        </p:txBody>
      </p:sp>
      <p:sp>
        <p:nvSpPr>
          <p:cNvPr id="55299" name="Rectangle 2"/>
          <p:cNvSpPr>
            <a:spLocks noGrp="1" noRot="1" noChangeAspect="1" noChangeArrowheads="1" noTextEdit="1"/>
          </p:cNvSpPr>
          <p:nvPr>
            <p:ph type="sldImg"/>
          </p:nvPr>
        </p:nvSpPr>
        <p:spPr/>
      </p:sp>
      <p:sp>
        <p:nvSpPr>
          <p:cNvPr id="55300" name="Rectangle 3"/>
          <p:cNvSpPr>
            <a:spLocks noGrp="1" noChangeArrowheads="1"/>
          </p:cNvSpPr>
          <p:nvPr>
            <p:ph type="body" idx="1"/>
          </p:nvPr>
        </p:nvSpPr>
        <p:spPr>
          <a:xfrm>
            <a:off x="901594" y="4721895"/>
            <a:ext cx="4957976" cy="447413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a:ea typeface="宋体" panose="02010600030101010101" pitchFamily="2" charset="-122"/>
              </a:rPr>
              <a:t>Clone()</a:t>
            </a:r>
            <a:r>
              <a:rPr lang="zh-CN" altLang="en-US">
                <a:ea typeface="宋体" panose="02010600030101010101" pitchFamily="2" charset="-122"/>
              </a:rPr>
              <a:t>用于创建一个轻量级线程。调用者必须给出子进程要执行的函数体指针、堆栈和</a:t>
            </a:r>
            <a:r>
              <a:rPr lang="en-US" altLang="zh-CN">
                <a:ea typeface="宋体" panose="02010600030101010101" pitchFamily="2" charset="-122"/>
              </a:rPr>
              <a:t>clone</a:t>
            </a:r>
            <a:r>
              <a:rPr lang="zh-CN" altLang="en-US">
                <a:ea typeface="宋体" panose="02010600030101010101" pitchFamily="2" charset="-122"/>
              </a:rPr>
              <a:t>选项。</a:t>
            </a:r>
            <a:endParaRPr lang="zh-CN" altLang="en-US">
              <a:ea typeface="宋体" panose="02010600030101010101" pitchFamily="2" charset="-122"/>
            </a:endParaRPr>
          </a:p>
          <a:p>
            <a:pPr eaLnBrk="1" hangingPunct="1"/>
            <a:r>
              <a:rPr lang="zh-CN" altLang="en-US">
                <a:ea typeface="宋体" panose="02010600030101010101" pitchFamily="2" charset="-122"/>
              </a:rPr>
              <a:t>都是调用</a:t>
            </a:r>
            <a:r>
              <a:rPr lang="en-US" altLang="zh-CN">
                <a:ea typeface="宋体" panose="02010600030101010101" pitchFamily="2" charset="-122"/>
              </a:rPr>
              <a:t>do_fork,</a:t>
            </a:r>
            <a:r>
              <a:rPr lang="zh-CN" altLang="en-US">
                <a:ea typeface="宋体" panose="02010600030101010101" pitchFamily="2" charset="-122"/>
              </a:rPr>
              <a:t>只是给他传递了不同的参数</a:t>
            </a:r>
            <a:endParaRPr lang="zh-CN" altLang="en-US">
              <a:ea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新宋体" panose="02010609030101010101" pitchFamily="49" charset="-122"/>
              </a:defRPr>
            </a:lvl1pPr>
            <a:lvl2pPr marL="742950" indent="-285750">
              <a:defRPr sz="2400">
                <a:solidFill>
                  <a:schemeClr val="tx1"/>
                </a:solidFill>
                <a:latin typeface="Times New Roman" panose="02020603050405020304" pitchFamily="18" charset="0"/>
                <a:ea typeface="新宋体" panose="02010609030101010101" pitchFamily="49" charset="-122"/>
              </a:defRPr>
            </a:lvl2pPr>
            <a:lvl3pPr marL="1143000" indent="-228600">
              <a:defRPr sz="2400">
                <a:solidFill>
                  <a:schemeClr val="tx1"/>
                </a:solidFill>
                <a:latin typeface="Times New Roman" panose="02020603050405020304" pitchFamily="18" charset="0"/>
                <a:ea typeface="新宋体" panose="02010609030101010101" pitchFamily="49" charset="-122"/>
              </a:defRPr>
            </a:lvl3pPr>
            <a:lvl4pPr marL="1600200" indent="-228600">
              <a:defRPr sz="2400">
                <a:solidFill>
                  <a:schemeClr val="tx1"/>
                </a:solidFill>
                <a:latin typeface="Times New Roman" panose="02020603050405020304" pitchFamily="18" charset="0"/>
                <a:ea typeface="新宋体" panose="02010609030101010101" pitchFamily="49" charset="-122"/>
              </a:defRPr>
            </a:lvl4pPr>
            <a:lvl5pPr marL="2057400" indent="-228600">
              <a:defRPr sz="2400">
                <a:solidFill>
                  <a:schemeClr val="tx1"/>
                </a:solidFill>
                <a:latin typeface="Times New Roman" panose="02020603050405020304" pitchFamily="18" charset="0"/>
                <a:ea typeface="新宋体" panose="02010609030101010101"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9pPr>
          </a:lstStyle>
          <a:p>
            <a:fld id="{8FB66F0B-EC1B-46F2-939B-950642530281}" type="slidenum">
              <a:rPr lang="zh-CN" altLang="en-US" sz="1200" smtClean="0">
                <a:latin typeface="Arial" panose="020B0604020202020204" pitchFamily="34" charset="0"/>
                <a:ea typeface="宋体" panose="02010600030101010101" pitchFamily="2" charset="-122"/>
              </a:rPr>
            </a:fld>
            <a:endParaRPr lang="en-US" altLang="zh-CN" sz="1200">
              <a:latin typeface="Arial" panose="020B0604020202020204" pitchFamily="34" charset="0"/>
              <a:ea typeface="宋体" panose="02010600030101010101" pitchFamily="2" charset="-122"/>
            </a:endParaRPr>
          </a:p>
        </p:txBody>
      </p:sp>
      <p:sp>
        <p:nvSpPr>
          <p:cNvPr id="62467" name="Rectangle 2"/>
          <p:cNvSpPr>
            <a:spLocks noGrp="1" noRot="1" noChangeAspect="1" noChangeArrowheads="1" noTextEdit="1"/>
          </p:cNvSpPr>
          <p:nvPr>
            <p:ph type="sldImg"/>
          </p:nvPr>
        </p:nvSpPr>
        <p:spPr/>
      </p:sp>
      <p:sp>
        <p:nvSpPr>
          <p:cNvPr id="62468" name="Rectangle 3"/>
          <p:cNvSpPr>
            <a:spLocks noGrp="1" noChangeArrowheads="1"/>
          </p:cNvSpPr>
          <p:nvPr>
            <p:ph type="body" idx="1"/>
          </p:nvPr>
        </p:nvSpPr>
        <p:spPr>
          <a:xfrm>
            <a:off x="901594" y="4721895"/>
            <a:ext cx="4957976" cy="447413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ea typeface="宋体" panose="02010600030101010101" pitchFamily="2" charset="-122"/>
              </a:rPr>
              <a:t>留心看一下这</a:t>
            </a:r>
            <a:r>
              <a:rPr lang="en-US" altLang="zh-CN">
                <a:ea typeface="宋体" panose="02010600030101010101" pitchFamily="2" charset="-122"/>
              </a:rPr>
              <a:t>6</a:t>
            </a:r>
            <a:r>
              <a:rPr lang="zh-CN" altLang="en-US">
                <a:ea typeface="宋体" panose="02010600030101010101" pitchFamily="2" charset="-122"/>
              </a:rPr>
              <a:t>个函数还可以发现，前</a:t>
            </a:r>
            <a:r>
              <a:rPr lang="en-US" altLang="zh-CN">
                <a:ea typeface="宋体" panose="02010600030101010101" pitchFamily="2" charset="-122"/>
              </a:rPr>
              <a:t>3</a:t>
            </a:r>
            <a:r>
              <a:rPr lang="zh-CN" altLang="en-US">
                <a:ea typeface="宋体" panose="02010600030101010101" pitchFamily="2" charset="-122"/>
              </a:rPr>
              <a:t>个函数都是以</a:t>
            </a:r>
            <a:r>
              <a:rPr lang="en-US" altLang="zh-CN">
                <a:ea typeface="宋体" panose="02010600030101010101" pitchFamily="2" charset="-122"/>
              </a:rPr>
              <a:t>execl</a:t>
            </a:r>
            <a:r>
              <a:rPr lang="zh-CN" altLang="en-US">
                <a:ea typeface="宋体" panose="02010600030101010101" pitchFamily="2" charset="-122"/>
              </a:rPr>
              <a:t>开头的，后</a:t>
            </a:r>
            <a:r>
              <a:rPr lang="en-US" altLang="zh-CN">
                <a:ea typeface="宋体" panose="02010600030101010101" pitchFamily="2" charset="-122"/>
              </a:rPr>
              <a:t>3</a:t>
            </a:r>
            <a:r>
              <a:rPr lang="zh-CN" altLang="en-US">
                <a:ea typeface="宋体" panose="02010600030101010101" pitchFamily="2" charset="-122"/>
              </a:rPr>
              <a:t>个都是以</a:t>
            </a:r>
            <a:r>
              <a:rPr lang="en-US" altLang="zh-CN">
                <a:ea typeface="宋体" panose="02010600030101010101" pitchFamily="2" charset="-122"/>
              </a:rPr>
              <a:t>execv</a:t>
            </a:r>
            <a:r>
              <a:rPr lang="zh-CN" altLang="en-US">
                <a:ea typeface="宋体" panose="02010600030101010101" pitchFamily="2" charset="-122"/>
              </a:rPr>
              <a:t>开头的，它们的区别在于，</a:t>
            </a:r>
            <a:r>
              <a:rPr lang="en-US" altLang="zh-CN">
                <a:ea typeface="宋体" panose="02010600030101010101" pitchFamily="2" charset="-122"/>
              </a:rPr>
              <a:t>execv</a:t>
            </a:r>
            <a:r>
              <a:rPr lang="zh-CN" altLang="en-US">
                <a:ea typeface="宋体" panose="02010600030101010101" pitchFamily="2" charset="-122"/>
              </a:rPr>
              <a:t>开头的函数是以</a:t>
            </a:r>
            <a:r>
              <a:rPr lang="en-US" altLang="zh-CN">
                <a:ea typeface="宋体" panose="02010600030101010101" pitchFamily="2" charset="-122"/>
              </a:rPr>
              <a:t>"char *argv[]"</a:t>
            </a:r>
            <a:r>
              <a:rPr lang="zh-CN" altLang="en-US">
                <a:ea typeface="宋体" panose="02010600030101010101" pitchFamily="2" charset="-122"/>
              </a:rPr>
              <a:t>这样的形式传递命令行参数，而</a:t>
            </a:r>
            <a:r>
              <a:rPr lang="en-US" altLang="zh-CN">
                <a:ea typeface="宋体" panose="02010600030101010101" pitchFamily="2" charset="-122"/>
              </a:rPr>
              <a:t>execl</a:t>
            </a:r>
            <a:r>
              <a:rPr lang="zh-CN" altLang="en-US">
                <a:ea typeface="宋体" panose="02010600030101010101" pitchFamily="2" charset="-122"/>
              </a:rPr>
              <a:t>开头的函数采用了我们更容易习惯的方式，把参数一个一个列出来，然后以一个</a:t>
            </a:r>
            <a:r>
              <a:rPr lang="en-US" altLang="zh-CN">
                <a:ea typeface="宋体" panose="02010600030101010101" pitchFamily="2" charset="-122"/>
              </a:rPr>
              <a:t>NULL</a:t>
            </a:r>
            <a:r>
              <a:rPr lang="zh-CN" altLang="en-US">
                <a:ea typeface="宋体" panose="02010600030101010101" pitchFamily="2" charset="-122"/>
              </a:rPr>
              <a:t>表示结束。这里的</a:t>
            </a:r>
            <a:r>
              <a:rPr lang="en-US" altLang="zh-CN">
                <a:ea typeface="宋体" panose="02010600030101010101" pitchFamily="2" charset="-122"/>
              </a:rPr>
              <a:t>NULL</a:t>
            </a:r>
            <a:r>
              <a:rPr lang="zh-CN" altLang="en-US">
                <a:ea typeface="宋体" panose="02010600030101010101" pitchFamily="2" charset="-122"/>
              </a:rPr>
              <a:t>的作用和</a:t>
            </a:r>
            <a:r>
              <a:rPr lang="en-US" altLang="zh-CN">
                <a:ea typeface="宋体" panose="02010600030101010101" pitchFamily="2" charset="-122"/>
              </a:rPr>
              <a:t>argv</a:t>
            </a:r>
            <a:r>
              <a:rPr lang="zh-CN" altLang="en-US">
                <a:ea typeface="宋体" panose="02010600030101010101" pitchFamily="2" charset="-122"/>
              </a:rPr>
              <a:t>数组里的</a:t>
            </a:r>
            <a:r>
              <a:rPr lang="en-US" altLang="zh-CN">
                <a:ea typeface="宋体" panose="02010600030101010101" pitchFamily="2" charset="-122"/>
              </a:rPr>
              <a:t>NULL</a:t>
            </a:r>
            <a:r>
              <a:rPr lang="zh-CN" altLang="en-US">
                <a:ea typeface="宋体" panose="02010600030101010101" pitchFamily="2" charset="-122"/>
              </a:rPr>
              <a:t>作用是一样的。</a:t>
            </a:r>
            <a:endParaRPr lang="zh-CN" altLang="en-US">
              <a:ea typeface="宋体" panose="02010600030101010101" pitchFamily="2" charset="-122"/>
            </a:endParaRPr>
          </a:p>
          <a:p>
            <a:pPr eaLnBrk="1" hangingPunct="1"/>
            <a:r>
              <a:rPr lang="zh-CN" altLang="en-US">
                <a:ea typeface="宋体" panose="02010600030101010101" pitchFamily="2" charset="-122"/>
              </a:rPr>
              <a:t>在全部</a:t>
            </a:r>
            <a:r>
              <a:rPr lang="en-US" altLang="zh-CN">
                <a:ea typeface="宋体" panose="02010600030101010101" pitchFamily="2" charset="-122"/>
              </a:rPr>
              <a:t>6</a:t>
            </a:r>
            <a:r>
              <a:rPr lang="zh-CN" altLang="en-US">
                <a:ea typeface="宋体" panose="02010600030101010101" pitchFamily="2" charset="-122"/>
              </a:rPr>
              <a:t>个函数中，只有</a:t>
            </a:r>
            <a:r>
              <a:rPr lang="en-US" altLang="zh-CN">
                <a:ea typeface="宋体" panose="02010600030101010101" pitchFamily="2" charset="-122"/>
              </a:rPr>
              <a:t>execle</a:t>
            </a:r>
            <a:r>
              <a:rPr lang="zh-CN" altLang="en-US">
                <a:ea typeface="宋体" panose="02010600030101010101" pitchFamily="2" charset="-122"/>
              </a:rPr>
              <a:t>和</a:t>
            </a:r>
            <a:r>
              <a:rPr lang="en-US" altLang="zh-CN">
                <a:ea typeface="宋体" panose="02010600030101010101" pitchFamily="2" charset="-122"/>
              </a:rPr>
              <a:t>execve</a:t>
            </a:r>
            <a:r>
              <a:rPr lang="zh-CN" altLang="en-US">
                <a:ea typeface="宋体" panose="02010600030101010101" pitchFamily="2" charset="-122"/>
              </a:rPr>
              <a:t>使用了</a:t>
            </a:r>
            <a:r>
              <a:rPr lang="en-US" altLang="zh-CN">
                <a:ea typeface="宋体" panose="02010600030101010101" pitchFamily="2" charset="-122"/>
              </a:rPr>
              <a:t>char *envp[]</a:t>
            </a:r>
            <a:r>
              <a:rPr lang="zh-CN" altLang="en-US">
                <a:ea typeface="宋体" panose="02010600030101010101" pitchFamily="2" charset="-122"/>
              </a:rPr>
              <a:t>传递环境变量，其它的</a:t>
            </a:r>
            <a:r>
              <a:rPr lang="en-US" altLang="zh-CN">
                <a:ea typeface="宋体" panose="02010600030101010101" pitchFamily="2" charset="-122"/>
              </a:rPr>
              <a:t>4</a:t>
            </a:r>
            <a:r>
              <a:rPr lang="zh-CN" altLang="en-US">
                <a:ea typeface="宋体" panose="02010600030101010101" pitchFamily="2" charset="-122"/>
              </a:rPr>
              <a:t>个函数都没有这个参数，这并不意味着它们不传递环境变量，这</a:t>
            </a:r>
            <a:r>
              <a:rPr lang="en-US" altLang="zh-CN">
                <a:ea typeface="宋体" panose="02010600030101010101" pitchFamily="2" charset="-122"/>
              </a:rPr>
              <a:t>4</a:t>
            </a:r>
            <a:r>
              <a:rPr lang="zh-CN" altLang="en-US">
                <a:ea typeface="宋体" panose="02010600030101010101" pitchFamily="2" charset="-122"/>
              </a:rPr>
              <a:t>个函数将把默认的环境变量不做任何修改地传给被执行的应用程序。而</a:t>
            </a:r>
            <a:r>
              <a:rPr lang="en-US" altLang="zh-CN">
                <a:ea typeface="宋体" panose="02010600030101010101" pitchFamily="2" charset="-122"/>
              </a:rPr>
              <a:t>execle</a:t>
            </a:r>
            <a:r>
              <a:rPr lang="zh-CN" altLang="en-US">
                <a:ea typeface="宋体" panose="02010600030101010101" pitchFamily="2" charset="-122"/>
              </a:rPr>
              <a:t>和</a:t>
            </a:r>
            <a:r>
              <a:rPr lang="en-US" altLang="zh-CN">
                <a:ea typeface="宋体" panose="02010600030101010101" pitchFamily="2" charset="-122"/>
              </a:rPr>
              <a:t>execve</a:t>
            </a:r>
            <a:r>
              <a:rPr lang="zh-CN" altLang="en-US">
                <a:ea typeface="宋体" panose="02010600030101010101" pitchFamily="2" charset="-122"/>
              </a:rPr>
              <a:t>会用指定的环境变量去替代默认的那些。</a:t>
            </a:r>
            <a:endParaRPr lang="zh-CN" altLang="en-US">
              <a:ea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新宋体" panose="02010609030101010101" pitchFamily="49" charset="-122"/>
              </a:defRPr>
            </a:lvl1pPr>
            <a:lvl2pPr marL="742950" indent="-285750">
              <a:defRPr sz="2400">
                <a:solidFill>
                  <a:schemeClr val="tx1"/>
                </a:solidFill>
                <a:latin typeface="Times New Roman" panose="02020603050405020304" pitchFamily="18" charset="0"/>
                <a:ea typeface="新宋体" panose="02010609030101010101" pitchFamily="49" charset="-122"/>
              </a:defRPr>
            </a:lvl2pPr>
            <a:lvl3pPr marL="1143000" indent="-228600">
              <a:defRPr sz="2400">
                <a:solidFill>
                  <a:schemeClr val="tx1"/>
                </a:solidFill>
                <a:latin typeface="Times New Roman" panose="02020603050405020304" pitchFamily="18" charset="0"/>
                <a:ea typeface="新宋体" panose="02010609030101010101" pitchFamily="49" charset="-122"/>
              </a:defRPr>
            </a:lvl3pPr>
            <a:lvl4pPr marL="1600200" indent="-228600">
              <a:defRPr sz="2400">
                <a:solidFill>
                  <a:schemeClr val="tx1"/>
                </a:solidFill>
                <a:latin typeface="Times New Roman" panose="02020603050405020304" pitchFamily="18" charset="0"/>
                <a:ea typeface="新宋体" panose="02010609030101010101" pitchFamily="49" charset="-122"/>
              </a:defRPr>
            </a:lvl4pPr>
            <a:lvl5pPr marL="2057400" indent="-228600">
              <a:defRPr sz="2400">
                <a:solidFill>
                  <a:schemeClr val="tx1"/>
                </a:solidFill>
                <a:latin typeface="Times New Roman" panose="02020603050405020304" pitchFamily="18" charset="0"/>
                <a:ea typeface="新宋体" panose="02010609030101010101"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9pPr>
          </a:lstStyle>
          <a:p>
            <a:fld id="{619B13BD-8A7F-4DC4-8B11-6036B941CCFC}" type="slidenum">
              <a:rPr lang="zh-CN" altLang="en-US" sz="1200" smtClean="0">
                <a:latin typeface="Arial" panose="020B0604020202020204" pitchFamily="34" charset="0"/>
                <a:ea typeface="宋体" panose="02010600030101010101" pitchFamily="2" charset="-122"/>
              </a:rPr>
            </a:fld>
            <a:endParaRPr lang="en-US" altLang="zh-CN" sz="1200">
              <a:latin typeface="Arial" panose="020B0604020202020204" pitchFamily="34" charset="0"/>
              <a:ea typeface="宋体" panose="02010600030101010101" pitchFamily="2" charset="-122"/>
            </a:endParaRPr>
          </a:p>
        </p:txBody>
      </p:sp>
      <p:sp>
        <p:nvSpPr>
          <p:cNvPr id="64515" name="Rectangle 2"/>
          <p:cNvSpPr>
            <a:spLocks noGrp="1" noRot="1" noChangeAspect="1" noChangeArrowheads="1" noTextEdit="1"/>
          </p:cNvSpPr>
          <p:nvPr>
            <p:ph type="sldImg"/>
          </p:nvPr>
        </p:nvSpPr>
        <p:spPr/>
      </p:sp>
      <p:sp>
        <p:nvSpPr>
          <p:cNvPr id="64516" name="Rectangle 3"/>
          <p:cNvSpPr>
            <a:spLocks noGrp="1" noChangeArrowheads="1"/>
          </p:cNvSpPr>
          <p:nvPr>
            <p:ph type="body" idx="1"/>
          </p:nvPr>
        </p:nvSpPr>
        <p:spPr>
          <a:xfrm>
            <a:off x="901594" y="4721895"/>
            <a:ext cx="4957976" cy="447413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1600">
                <a:ea typeface="宋体" panose="02010600030101010101" pitchFamily="2" charset="-122"/>
              </a:rPr>
              <a:t>留心看一下这</a:t>
            </a:r>
            <a:r>
              <a:rPr lang="en-US" altLang="zh-CN" sz="1600">
                <a:ea typeface="宋体" panose="02010600030101010101" pitchFamily="2" charset="-122"/>
              </a:rPr>
              <a:t>6</a:t>
            </a:r>
            <a:r>
              <a:rPr lang="zh-CN" altLang="en-US" sz="1600">
                <a:ea typeface="宋体" panose="02010600030101010101" pitchFamily="2" charset="-122"/>
              </a:rPr>
              <a:t>个函数还可以发现，前</a:t>
            </a:r>
            <a:r>
              <a:rPr lang="en-US" altLang="zh-CN" sz="1600">
                <a:ea typeface="宋体" panose="02010600030101010101" pitchFamily="2" charset="-122"/>
              </a:rPr>
              <a:t>3</a:t>
            </a:r>
            <a:r>
              <a:rPr lang="zh-CN" altLang="en-US" sz="1600">
                <a:ea typeface="宋体" panose="02010600030101010101" pitchFamily="2" charset="-122"/>
              </a:rPr>
              <a:t>个函数都是以</a:t>
            </a:r>
            <a:r>
              <a:rPr lang="en-US" altLang="zh-CN" sz="1600">
                <a:ea typeface="宋体" panose="02010600030101010101" pitchFamily="2" charset="-122"/>
              </a:rPr>
              <a:t>execl</a:t>
            </a:r>
            <a:r>
              <a:rPr lang="zh-CN" altLang="en-US" sz="1600">
                <a:ea typeface="宋体" panose="02010600030101010101" pitchFamily="2" charset="-122"/>
              </a:rPr>
              <a:t>开头的，后</a:t>
            </a:r>
            <a:r>
              <a:rPr lang="en-US" altLang="zh-CN" sz="1600">
                <a:ea typeface="宋体" panose="02010600030101010101" pitchFamily="2" charset="-122"/>
              </a:rPr>
              <a:t>3</a:t>
            </a:r>
            <a:r>
              <a:rPr lang="zh-CN" altLang="en-US" sz="1600">
                <a:ea typeface="宋体" panose="02010600030101010101" pitchFamily="2" charset="-122"/>
              </a:rPr>
              <a:t>个都是以</a:t>
            </a:r>
            <a:r>
              <a:rPr lang="en-US" altLang="zh-CN" sz="1600">
                <a:ea typeface="宋体" panose="02010600030101010101" pitchFamily="2" charset="-122"/>
              </a:rPr>
              <a:t>execv</a:t>
            </a:r>
            <a:r>
              <a:rPr lang="zh-CN" altLang="en-US" sz="1600">
                <a:ea typeface="宋体" panose="02010600030101010101" pitchFamily="2" charset="-122"/>
              </a:rPr>
              <a:t>开头的，它们的区别在于，</a:t>
            </a:r>
            <a:r>
              <a:rPr lang="en-US" altLang="zh-CN" sz="1600">
                <a:ea typeface="宋体" panose="02010600030101010101" pitchFamily="2" charset="-122"/>
              </a:rPr>
              <a:t>execv</a:t>
            </a:r>
            <a:r>
              <a:rPr lang="zh-CN" altLang="en-US" sz="1600">
                <a:ea typeface="宋体" panose="02010600030101010101" pitchFamily="2" charset="-122"/>
              </a:rPr>
              <a:t>开头的函数是以</a:t>
            </a:r>
            <a:r>
              <a:rPr lang="en-US" altLang="zh-CN" sz="1600">
                <a:ea typeface="宋体" panose="02010600030101010101" pitchFamily="2" charset="-122"/>
              </a:rPr>
              <a:t>"char *argv[]"</a:t>
            </a:r>
            <a:r>
              <a:rPr lang="zh-CN" altLang="en-US" sz="1600">
                <a:ea typeface="宋体" panose="02010600030101010101" pitchFamily="2" charset="-122"/>
              </a:rPr>
              <a:t>这样的形式传递命令行参数，而</a:t>
            </a:r>
            <a:r>
              <a:rPr lang="en-US" altLang="zh-CN" sz="1600">
                <a:ea typeface="宋体" panose="02010600030101010101" pitchFamily="2" charset="-122"/>
              </a:rPr>
              <a:t>execl</a:t>
            </a:r>
            <a:r>
              <a:rPr lang="zh-CN" altLang="en-US" sz="1600">
                <a:ea typeface="宋体" panose="02010600030101010101" pitchFamily="2" charset="-122"/>
              </a:rPr>
              <a:t>开头的函数采用了我们更容易习惯的方式，把参数一个一个列出来，然后以一个</a:t>
            </a:r>
            <a:r>
              <a:rPr lang="en-US" altLang="zh-CN" sz="1600">
                <a:ea typeface="宋体" panose="02010600030101010101" pitchFamily="2" charset="-122"/>
              </a:rPr>
              <a:t>NULL</a:t>
            </a:r>
            <a:r>
              <a:rPr lang="zh-CN" altLang="en-US" sz="1600">
                <a:ea typeface="宋体" panose="02010600030101010101" pitchFamily="2" charset="-122"/>
              </a:rPr>
              <a:t>表示结束。这里的</a:t>
            </a:r>
            <a:r>
              <a:rPr lang="en-US" altLang="zh-CN" sz="1600">
                <a:ea typeface="宋体" panose="02010600030101010101" pitchFamily="2" charset="-122"/>
              </a:rPr>
              <a:t>NULL</a:t>
            </a:r>
            <a:r>
              <a:rPr lang="zh-CN" altLang="en-US" sz="1600">
                <a:ea typeface="宋体" panose="02010600030101010101" pitchFamily="2" charset="-122"/>
              </a:rPr>
              <a:t>的作用和</a:t>
            </a:r>
            <a:r>
              <a:rPr lang="en-US" altLang="zh-CN" sz="1600">
                <a:ea typeface="宋体" panose="02010600030101010101" pitchFamily="2" charset="-122"/>
              </a:rPr>
              <a:t>argv</a:t>
            </a:r>
            <a:r>
              <a:rPr lang="zh-CN" altLang="en-US" sz="1600">
                <a:ea typeface="宋体" panose="02010600030101010101" pitchFamily="2" charset="-122"/>
              </a:rPr>
              <a:t>数组里的</a:t>
            </a:r>
            <a:r>
              <a:rPr lang="en-US" altLang="zh-CN" sz="1600">
                <a:ea typeface="宋体" panose="02010600030101010101" pitchFamily="2" charset="-122"/>
              </a:rPr>
              <a:t>NULL</a:t>
            </a:r>
            <a:r>
              <a:rPr lang="zh-CN" altLang="en-US" sz="1600">
                <a:ea typeface="宋体" panose="02010600030101010101" pitchFamily="2" charset="-122"/>
              </a:rPr>
              <a:t>作用是一样的。</a:t>
            </a:r>
            <a:endParaRPr lang="zh-CN" altLang="en-US" sz="1600">
              <a:ea typeface="宋体" panose="02010600030101010101" pitchFamily="2" charset="-122"/>
            </a:endParaRPr>
          </a:p>
          <a:p>
            <a:pPr eaLnBrk="1" hangingPunct="1"/>
            <a:r>
              <a:rPr lang="zh-CN" altLang="en-US" sz="1600">
                <a:ea typeface="宋体" panose="02010600030101010101" pitchFamily="2" charset="-122"/>
              </a:rPr>
              <a:t>在全部</a:t>
            </a:r>
            <a:r>
              <a:rPr lang="en-US" altLang="zh-CN" sz="1600">
                <a:ea typeface="宋体" panose="02010600030101010101" pitchFamily="2" charset="-122"/>
              </a:rPr>
              <a:t>6</a:t>
            </a:r>
            <a:r>
              <a:rPr lang="zh-CN" altLang="en-US" sz="1600">
                <a:ea typeface="宋体" panose="02010600030101010101" pitchFamily="2" charset="-122"/>
              </a:rPr>
              <a:t>个函数中，只有</a:t>
            </a:r>
            <a:r>
              <a:rPr lang="en-US" altLang="zh-CN" sz="1600">
                <a:ea typeface="宋体" panose="02010600030101010101" pitchFamily="2" charset="-122"/>
              </a:rPr>
              <a:t>execle</a:t>
            </a:r>
            <a:r>
              <a:rPr lang="zh-CN" altLang="en-US" sz="1600">
                <a:ea typeface="宋体" panose="02010600030101010101" pitchFamily="2" charset="-122"/>
              </a:rPr>
              <a:t>和</a:t>
            </a:r>
            <a:r>
              <a:rPr lang="en-US" altLang="zh-CN" sz="1600">
                <a:ea typeface="宋体" panose="02010600030101010101" pitchFamily="2" charset="-122"/>
              </a:rPr>
              <a:t>execve</a:t>
            </a:r>
            <a:r>
              <a:rPr lang="zh-CN" altLang="en-US" sz="1600">
                <a:ea typeface="宋体" panose="02010600030101010101" pitchFamily="2" charset="-122"/>
              </a:rPr>
              <a:t>使用了</a:t>
            </a:r>
            <a:r>
              <a:rPr lang="en-US" altLang="zh-CN" sz="1600">
                <a:ea typeface="宋体" panose="02010600030101010101" pitchFamily="2" charset="-122"/>
              </a:rPr>
              <a:t>char *envp[]</a:t>
            </a:r>
            <a:r>
              <a:rPr lang="zh-CN" altLang="en-US" sz="1600">
                <a:ea typeface="宋体" panose="02010600030101010101" pitchFamily="2" charset="-122"/>
              </a:rPr>
              <a:t>传递环境变量，其它的</a:t>
            </a:r>
            <a:r>
              <a:rPr lang="en-US" altLang="zh-CN" sz="1600">
                <a:ea typeface="宋体" panose="02010600030101010101" pitchFamily="2" charset="-122"/>
              </a:rPr>
              <a:t>4</a:t>
            </a:r>
            <a:r>
              <a:rPr lang="zh-CN" altLang="en-US" sz="1600">
                <a:ea typeface="宋体" panose="02010600030101010101" pitchFamily="2" charset="-122"/>
              </a:rPr>
              <a:t>个函数都没有这个参数，这并不意味着它们不传递环境变量，这</a:t>
            </a:r>
            <a:r>
              <a:rPr lang="en-US" altLang="zh-CN" sz="1600">
                <a:ea typeface="宋体" panose="02010600030101010101" pitchFamily="2" charset="-122"/>
              </a:rPr>
              <a:t>4</a:t>
            </a:r>
            <a:r>
              <a:rPr lang="zh-CN" altLang="en-US" sz="1600">
                <a:ea typeface="宋体" panose="02010600030101010101" pitchFamily="2" charset="-122"/>
              </a:rPr>
              <a:t>个函数将把默认的环境变量不做任何修改地传给被执行的应用程序。而</a:t>
            </a:r>
            <a:r>
              <a:rPr lang="en-US" altLang="zh-CN" sz="1600">
                <a:ea typeface="宋体" panose="02010600030101010101" pitchFamily="2" charset="-122"/>
              </a:rPr>
              <a:t>execle</a:t>
            </a:r>
            <a:r>
              <a:rPr lang="zh-CN" altLang="en-US" sz="1600">
                <a:ea typeface="宋体" panose="02010600030101010101" pitchFamily="2" charset="-122"/>
              </a:rPr>
              <a:t>和</a:t>
            </a:r>
            <a:r>
              <a:rPr lang="en-US" altLang="zh-CN" sz="1600">
                <a:ea typeface="宋体" panose="02010600030101010101" pitchFamily="2" charset="-122"/>
              </a:rPr>
              <a:t>execve</a:t>
            </a:r>
            <a:r>
              <a:rPr lang="zh-CN" altLang="en-US" sz="1600">
                <a:ea typeface="宋体" panose="02010600030101010101" pitchFamily="2" charset="-122"/>
              </a:rPr>
              <a:t>会用指定的环境变量去替代默认的那些。</a:t>
            </a:r>
            <a:endParaRPr lang="zh-CN" altLang="en-US" sz="1600">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新宋体" panose="02010609030101010101" pitchFamily="49" charset="-122"/>
              </a:defRPr>
            </a:lvl1pPr>
            <a:lvl2pPr marL="742950" indent="-285750">
              <a:defRPr sz="2400">
                <a:solidFill>
                  <a:schemeClr val="tx1"/>
                </a:solidFill>
                <a:latin typeface="Times New Roman" panose="02020603050405020304" pitchFamily="18" charset="0"/>
                <a:ea typeface="新宋体" panose="02010609030101010101" pitchFamily="49" charset="-122"/>
              </a:defRPr>
            </a:lvl2pPr>
            <a:lvl3pPr marL="1143000" indent="-228600">
              <a:defRPr sz="2400">
                <a:solidFill>
                  <a:schemeClr val="tx1"/>
                </a:solidFill>
                <a:latin typeface="Times New Roman" panose="02020603050405020304" pitchFamily="18" charset="0"/>
                <a:ea typeface="新宋体" panose="02010609030101010101" pitchFamily="49" charset="-122"/>
              </a:defRPr>
            </a:lvl3pPr>
            <a:lvl4pPr marL="1600200" indent="-228600">
              <a:defRPr sz="2400">
                <a:solidFill>
                  <a:schemeClr val="tx1"/>
                </a:solidFill>
                <a:latin typeface="Times New Roman" panose="02020603050405020304" pitchFamily="18" charset="0"/>
                <a:ea typeface="新宋体" panose="02010609030101010101" pitchFamily="49" charset="-122"/>
              </a:defRPr>
            </a:lvl4pPr>
            <a:lvl5pPr marL="2057400" indent="-228600">
              <a:defRPr sz="2400">
                <a:solidFill>
                  <a:schemeClr val="tx1"/>
                </a:solidFill>
                <a:latin typeface="Times New Roman" panose="02020603050405020304" pitchFamily="18" charset="0"/>
                <a:ea typeface="新宋体" panose="02010609030101010101"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9pPr>
          </a:lstStyle>
          <a:p>
            <a:fld id="{5C307738-E702-4AFD-AB85-81DCAC044961}" type="slidenum">
              <a:rPr lang="zh-CN" altLang="en-US" sz="1200" smtClean="0">
                <a:latin typeface="Arial" panose="020B0604020202020204" pitchFamily="34" charset="0"/>
                <a:ea typeface="宋体" panose="02010600030101010101" pitchFamily="2" charset="-122"/>
              </a:rPr>
            </a:fld>
            <a:endParaRPr lang="en-US" altLang="zh-CN" sz="1200">
              <a:latin typeface="Arial" panose="020B0604020202020204" pitchFamily="34" charset="0"/>
              <a:ea typeface="宋体" panose="02010600030101010101" pitchFamily="2" charset="-122"/>
            </a:endParaRPr>
          </a:p>
        </p:txBody>
      </p:sp>
      <p:sp>
        <p:nvSpPr>
          <p:cNvPr id="68611" name="Rectangle 2"/>
          <p:cNvSpPr>
            <a:spLocks noGrp="1" noRot="1" noChangeAspect="1" noChangeArrowheads="1" noTextEdit="1"/>
          </p:cNvSpPr>
          <p:nvPr>
            <p:ph type="sldImg"/>
          </p:nvPr>
        </p:nvSpPr>
        <p:spPr/>
      </p:sp>
      <p:sp>
        <p:nvSpPr>
          <p:cNvPr id="6861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eaLnBrk="1" hangingPunct="1"/>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幻灯片图像占位符 1"/>
          <p:cNvSpPr>
            <a:spLocks noGrp="1" noRot="1" noChangeAspect="1" noTextEdit="1"/>
          </p:cNvSpPr>
          <p:nvPr>
            <p:ph type="sldImg"/>
          </p:nvPr>
        </p:nvSpPr>
        <p:spPr/>
      </p:sp>
      <p:sp>
        <p:nvSpPr>
          <p:cNvPr id="7065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a:r>
              <a:rPr lang="en-US" altLang="zh-CN"/>
              <a:t>wait3()</a:t>
            </a:r>
            <a:r>
              <a:rPr lang="zh-CN" altLang="en-US"/>
              <a:t>，等待所有子进程结束</a:t>
            </a:r>
            <a:endParaRPr lang="zh-CN" altLang="en-US"/>
          </a:p>
          <a:p>
            <a:pPr lvl="1"/>
            <a:r>
              <a:rPr lang="en-US" altLang="zh-CN"/>
              <a:t>wait4()</a:t>
            </a:r>
            <a:r>
              <a:rPr lang="zh-CN" altLang="en-US"/>
              <a:t>，等待刚创建的子进程结束</a:t>
            </a:r>
            <a:endParaRPr lang="zh-CN" altLang="en-US"/>
          </a:p>
          <a:p>
            <a:r>
              <a:rPr lang="zh-CN" altLang="en-US"/>
              <a:t>与子进程独立，继续运行</a:t>
            </a:r>
            <a:endParaRPr lang="zh-CN" altLang="en-US"/>
          </a:p>
          <a:p>
            <a:pPr lvl="1"/>
            <a:r>
              <a:rPr lang="zh-CN" altLang="en-US"/>
              <a:t>先于子进程结束，</a:t>
            </a:r>
            <a:r>
              <a:rPr lang="en-US" altLang="zh-CN"/>
              <a:t>exit()</a:t>
            </a:r>
            <a:endParaRPr lang="en-US" altLang="zh-CN"/>
          </a:p>
          <a:p>
            <a:pPr lvl="1"/>
            <a:r>
              <a:rPr lang="zh-CN" altLang="en-US"/>
              <a:t>后于子进程结束，收到子进程结束的信号</a:t>
            </a:r>
            <a:endParaRPr lang="zh-CN" altLang="en-US"/>
          </a:p>
          <a:p>
            <a:endParaRPr lang="zh-CN" altLang="en-US"/>
          </a:p>
        </p:txBody>
      </p:sp>
      <p:sp>
        <p:nvSpPr>
          <p:cNvPr id="7066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新宋体" panose="02010609030101010101" pitchFamily="49" charset="-122"/>
              </a:defRPr>
            </a:lvl1pPr>
            <a:lvl2pPr marL="742950" indent="-285750">
              <a:defRPr sz="2400">
                <a:solidFill>
                  <a:schemeClr val="tx1"/>
                </a:solidFill>
                <a:latin typeface="Times New Roman" panose="02020603050405020304" pitchFamily="18" charset="0"/>
                <a:ea typeface="新宋体" panose="02010609030101010101" pitchFamily="49" charset="-122"/>
              </a:defRPr>
            </a:lvl2pPr>
            <a:lvl3pPr marL="1143000" indent="-228600">
              <a:defRPr sz="2400">
                <a:solidFill>
                  <a:schemeClr val="tx1"/>
                </a:solidFill>
                <a:latin typeface="Times New Roman" panose="02020603050405020304" pitchFamily="18" charset="0"/>
                <a:ea typeface="新宋体" panose="02010609030101010101" pitchFamily="49" charset="-122"/>
              </a:defRPr>
            </a:lvl3pPr>
            <a:lvl4pPr marL="1600200" indent="-228600">
              <a:defRPr sz="2400">
                <a:solidFill>
                  <a:schemeClr val="tx1"/>
                </a:solidFill>
                <a:latin typeface="Times New Roman" panose="02020603050405020304" pitchFamily="18" charset="0"/>
                <a:ea typeface="新宋体" panose="02010609030101010101" pitchFamily="49" charset="-122"/>
              </a:defRPr>
            </a:lvl4pPr>
            <a:lvl5pPr marL="2057400" indent="-228600">
              <a:defRPr sz="2400">
                <a:solidFill>
                  <a:schemeClr val="tx1"/>
                </a:solidFill>
                <a:latin typeface="Times New Roman" panose="02020603050405020304" pitchFamily="18" charset="0"/>
                <a:ea typeface="新宋体" panose="02010609030101010101"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9pPr>
          </a:lstStyle>
          <a:p>
            <a:fld id="{2C3275EA-D78F-4EEF-8A4B-9432091E890E}" type="slidenum">
              <a:rPr lang="zh-CN" altLang="en-US" sz="1200" smtClean="0">
                <a:latin typeface="Arial" panose="020B0604020202020204" pitchFamily="34" charset="0"/>
                <a:ea typeface="宋体" panose="02010600030101010101" pitchFamily="2" charset="-122"/>
              </a:rPr>
            </a:fld>
            <a:endParaRPr lang="en-US" altLang="zh-CN" sz="1200">
              <a:latin typeface="Arial" panose="020B0604020202020204" pitchFamily="34" charset="0"/>
              <a:ea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新宋体" panose="02010609030101010101" pitchFamily="49" charset="-122"/>
              </a:defRPr>
            </a:lvl1pPr>
            <a:lvl2pPr marL="742950" indent="-285750">
              <a:defRPr sz="2400">
                <a:solidFill>
                  <a:schemeClr val="tx1"/>
                </a:solidFill>
                <a:latin typeface="Times New Roman" panose="02020603050405020304" pitchFamily="18" charset="0"/>
                <a:ea typeface="新宋体" panose="02010609030101010101" pitchFamily="49" charset="-122"/>
              </a:defRPr>
            </a:lvl2pPr>
            <a:lvl3pPr marL="1143000" indent="-228600">
              <a:defRPr sz="2400">
                <a:solidFill>
                  <a:schemeClr val="tx1"/>
                </a:solidFill>
                <a:latin typeface="Times New Roman" panose="02020603050405020304" pitchFamily="18" charset="0"/>
                <a:ea typeface="新宋体" panose="02010609030101010101" pitchFamily="49" charset="-122"/>
              </a:defRPr>
            </a:lvl3pPr>
            <a:lvl4pPr marL="1600200" indent="-228600">
              <a:defRPr sz="2400">
                <a:solidFill>
                  <a:schemeClr val="tx1"/>
                </a:solidFill>
                <a:latin typeface="Times New Roman" panose="02020603050405020304" pitchFamily="18" charset="0"/>
                <a:ea typeface="新宋体" panose="02010609030101010101" pitchFamily="49" charset="-122"/>
              </a:defRPr>
            </a:lvl4pPr>
            <a:lvl5pPr marL="2057400" indent="-228600">
              <a:defRPr sz="2400">
                <a:solidFill>
                  <a:schemeClr val="tx1"/>
                </a:solidFill>
                <a:latin typeface="Times New Roman" panose="02020603050405020304" pitchFamily="18" charset="0"/>
                <a:ea typeface="新宋体" panose="02010609030101010101"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9pPr>
          </a:lstStyle>
          <a:p>
            <a:fld id="{C1DF060A-CB20-4316-8726-12352714517E}" type="slidenum">
              <a:rPr lang="zh-CN" altLang="en-US" sz="1200" smtClean="0">
                <a:latin typeface="Arial" panose="020B0604020202020204" pitchFamily="34" charset="0"/>
                <a:ea typeface="宋体" panose="02010600030101010101" pitchFamily="2" charset="-122"/>
              </a:rPr>
            </a:fld>
            <a:endParaRPr lang="en-US" altLang="zh-CN" sz="1200">
              <a:latin typeface="Arial" panose="020B0604020202020204" pitchFamily="34" charset="0"/>
              <a:ea typeface="宋体" panose="02010600030101010101" pitchFamily="2" charset="-122"/>
            </a:endParaRPr>
          </a:p>
        </p:txBody>
      </p:sp>
      <p:sp>
        <p:nvSpPr>
          <p:cNvPr id="9219" name="Rectangle 2"/>
          <p:cNvSpPr>
            <a:spLocks noGrp="1" noRot="1" noChangeAspect="1" noChangeArrowheads="1" noTextEdit="1"/>
          </p:cNvSpPr>
          <p:nvPr>
            <p:ph type="sldImg"/>
          </p:nvPr>
        </p:nvSpPr>
        <p:spPr/>
      </p:sp>
      <p:sp>
        <p:nvSpPr>
          <p:cNvPr id="922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ea typeface="宋体" panose="02010600030101010101" pitchFamily="2" charset="-122"/>
              </a:rPr>
              <a:t>进程不应该自己消亡。</a:t>
            </a:r>
            <a:endParaRPr lang="en-US" altLang="zh-CN">
              <a:ea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p:sp>
      <p:sp>
        <p:nvSpPr>
          <p:cNvPr id="24579" name="Rectangle 3"/>
          <p:cNvSpPr>
            <a:spLocks noGrp="1" noChangeArrowheads="1"/>
          </p:cNvSpPr>
          <p:nvPr>
            <p:ph type="body" idx="1"/>
          </p:nvPr>
        </p:nvSpPr>
        <p:spPr>
          <a:xfrm>
            <a:off x="901594" y="4723494"/>
            <a:ext cx="4957976" cy="447413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bwMode="gray">
      <p:bgPr>
        <a:solidFill>
          <a:schemeClr val="bg1"/>
        </a:solidFill>
        <a:effectLst/>
      </p:bgPr>
    </p:bg>
    <p:spTree>
      <p:nvGrpSpPr>
        <p:cNvPr id="1" name=""/>
        <p:cNvGrpSpPr/>
        <p:nvPr/>
      </p:nvGrpSpPr>
      <p:grpSpPr>
        <a:xfrm>
          <a:off x="0" y="0"/>
          <a:ext cx="0" cy="0"/>
          <a:chOff x="0" y="0"/>
          <a:chExt cx="0" cy="0"/>
        </a:xfrm>
      </p:grpSpPr>
      <p:sp>
        <p:nvSpPr>
          <p:cNvPr id="4" name="Rectangle 42"/>
          <p:cNvSpPr>
            <a:spLocks noChangeArrowheads="1"/>
          </p:cNvSpPr>
          <p:nvPr/>
        </p:nvSpPr>
        <p:spPr bwMode="ltGray">
          <a:xfrm>
            <a:off x="0" y="0"/>
            <a:ext cx="9144000" cy="483235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新宋体" panose="02010609030101010101" pitchFamily="49" charset="-122"/>
              </a:defRPr>
            </a:lvl1pPr>
            <a:lvl2pPr marL="742950" indent="-285750">
              <a:defRPr sz="2400">
                <a:solidFill>
                  <a:schemeClr val="tx1"/>
                </a:solidFill>
                <a:latin typeface="Times New Roman" panose="02020603050405020304" pitchFamily="18" charset="0"/>
                <a:ea typeface="新宋体" panose="02010609030101010101" pitchFamily="49" charset="-122"/>
              </a:defRPr>
            </a:lvl2pPr>
            <a:lvl3pPr marL="1143000" indent="-228600">
              <a:defRPr sz="2400">
                <a:solidFill>
                  <a:schemeClr val="tx1"/>
                </a:solidFill>
                <a:latin typeface="Times New Roman" panose="02020603050405020304" pitchFamily="18" charset="0"/>
                <a:ea typeface="新宋体" panose="02010609030101010101" pitchFamily="49" charset="-122"/>
              </a:defRPr>
            </a:lvl3pPr>
            <a:lvl4pPr marL="1600200" indent="-228600">
              <a:defRPr sz="2400">
                <a:solidFill>
                  <a:schemeClr val="tx1"/>
                </a:solidFill>
                <a:latin typeface="Times New Roman" panose="02020603050405020304" pitchFamily="18" charset="0"/>
                <a:ea typeface="新宋体" panose="02010609030101010101" pitchFamily="49" charset="-122"/>
              </a:defRPr>
            </a:lvl4pPr>
            <a:lvl5pPr marL="2057400" indent="-228600">
              <a:defRPr sz="2400">
                <a:solidFill>
                  <a:schemeClr val="tx1"/>
                </a:solidFill>
                <a:latin typeface="Times New Roman" panose="02020603050405020304" pitchFamily="18" charset="0"/>
                <a:ea typeface="新宋体" panose="02010609030101010101"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9pPr>
          </a:lstStyle>
          <a:p>
            <a:pPr>
              <a:defRPr/>
            </a:pPr>
            <a:endParaRPr lang="zh-CN" altLang="en-US"/>
          </a:p>
        </p:txBody>
      </p:sp>
      <p:sp>
        <p:nvSpPr>
          <p:cNvPr id="5" name="AutoShape 37"/>
          <p:cNvSpPr>
            <a:spLocks noChangeArrowheads="1"/>
          </p:cNvSpPr>
          <p:nvPr/>
        </p:nvSpPr>
        <p:spPr bwMode="ltGray">
          <a:xfrm flipH="1">
            <a:off x="2411413" y="4581525"/>
            <a:ext cx="863600" cy="503238"/>
          </a:xfrm>
          <a:prstGeom prst="homePlate">
            <a:avLst>
              <a:gd name="adj" fmla="val 42902"/>
            </a:avLst>
          </a:prstGeom>
          <a:gradFill rotWithShape="1">
            <a:gsLst>
              <a:gs pos="0">
                <a:schemeClr val="tx1">
                  <a:gamma/>
                  <a:shade val="46275"/>
                  <a:invGamma/>
                </a:schemeClr>
              </a:gs>
              <a:gs pos="100000">
                <a:schemeClr val="tx1"/>
              </a:gs>
            </a:gsLst>
            <a:lin ang="0" scaled="1"/>
          </a:gradFill>
          <a:ln w="9525">
            <a:noFill/>
            <a:miter lim="800000"/>
          </a:ln>
          <a:effectLst/>
        </p:spPr>
        <p:txBody>
          <a:bodyPr wrap="none" anchor="ctr"/>
          <a:lstStyle/>
          <a:p>
            <a:pPr>
              <a:defRPr/>
            </a:pPr>
            <a:endParaRPr lang="zh-CN" altLang="en-US">
              <a:ea typeface="+mn-ea"/>
            </a:endParaRPr>
          </a:p>
        </p:txBody>
      </p:sp>
      <p:sp>
        <p:nvSpPr>
          <p:cNvPr id="6" name="AutoShape 38"/>
          <p:cNvSpPr>
            <a:spLocks noChangeArrowheads="1"/>
          </p:cNvSpPr>
          <p:nvPr/>
        </p:nvSpPr>
        <p:spPr bwMode="ltGray">
          <a:xfrm flipH="1">
            <a:off x="2700338" y="4581525"/>
            <a:ext cx="719137" cy="503238"/>
          </a:xfrm>
          <a:prstGeom prst="homePlate">
            <a:avLst>
              <a:gd name="adj" fmla="val 35725"/>
            </a:avLst>
          </a:prstGeom>
          <a:gradFill rotWithShape="1">
            <a:gsLst>
              <a:gs pos="0">
                <a:schemeClr val="hlink">
                  <a:gamma/>
                  <a:shade val="46275"/>
                  <a:invGamma/>
                </a:schemeClr>
              </a:gs>
              <a:gs pos="100000">
                <a:schemeClr val="hlink"/>
              </a:gs>
            </a:gsLst>
            <a:lin ang="0" scaled="1"/>
          </a:gradFill>
          <a:ln w="9525">
            <a:noFill/>
            <a:miter lim="800000"/>
          </a:ln>
          <a:effectLst/>
        </p:spPr>
        <p:txBody>
          <a:bodyPr wrap="none" anchor="ctr"/>
          <a:lstStyle/>
          <a:p>
            <a:pPr>
              <a:defRPr/>
            </a:pPr>
            <a:endParaRPr lang="zh-CN" altLang="en-US">
              <a:ea typeface="+mn-ea"/>
            </a:endParaRPr>
          </a:p>
        </p:txBody>
      </p:sp>
      <p:grpSp>
        <p:nvGrpSpPr>
          <p:cNvPr id="7" name="Group 44"/>
          <p:cNvGrpSpPr/>
          <p:nvPr/>
        </p:nvGrpSpPr>
        <p:grpSpPr bwMode="auto">
          <a:xfrm>
            <a:off x="2987675" y="4581525"/>
            <a:ext cx="6156325" cy="503238"/>
            <a:chOff x="1882" y="2886"/>
            <a:chExt cx="3878" cy="317"/>
          </a:xfrm>
        </p:grpSpPr>
        <p:sp>
          <p:nvSpPr>
            <p:cNvPr id="8" name="Rectangle 40"/>
            <p:cNvSpPr>
              <a:spLocks noChangeArrowheads="1"/>
            </p:cNvSpPr>
            <p:nvPr/>
          </p:nvSpPr>
          <p:spPr bwMode="gray">
            <a:xfrm flipH="1">
              <a:off x="2147" y="2887"/>
              <a:ext cx="3613" cy="316"/>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新宋体" panose="02010609030101010101" pitchFamily="49" charset="-122"/>
                </a:defRPr>
              </a:lvl1pPr>
              <a:lvl2pPr marL="742950" indent="-285750">
                <a:defRPr sz="2400">
                  <a:solidFill>
                    <a:schemeClr val="tx1"/>
                  </a:solidFill>
                  <a:latin typeface="Times New Roman" panose="02020603050405020304" pitchFamily="18" charset="0"/>
                  <a:ea typeface="新宋体" panose="02010609030101010101" pitchFamily="49" charset="-122"/>
                </a:defRPr>
              </a:lvl2pPr>
              <a:lvl3pPr marL="1143000" indent="-228600">
                <a:defRPr sz="2400">
                  <a:solidFill>
                    <a:schemeClr val="tx1"/>
                  </a:solidFill>
                  <a:latin typeface="Times New Roman" panose="02020603050405020304" pitchFamily="18" charset="0"/>
                  <a:ea typeface="新宋体" panose="02010609030101010101" pitchFamily="49" charset="-122"/>
                </a:defRPr>
              </a:lvl3pPr>
              <a:lvl4pPr marL="1600200" indent="-228600">
                <a:defRPr sz="2400">
                  <a:solidFill>
                    <a:schemeClr val="tx1"/>
                  </a:solidFill>
                  <a:latin typeface="Times New Roman" panose="02020603050405020304" pitchFamily="18" charset="0"/>
                  <a:ea typeface="新宋体" panose="02010609030101010101" pitchFamily="49" charset="-122"/>
                </a:defRPr>
              </a:lvl4pPr>
              <a:lvl5pPr marL="2057400" indent="-228600">
                <a:defRPr sz="2400">
                  <a:solidFill>
                    <a:schemeClr val="tx1"/>
                  </a:solidFill>
                  <a:latin typeface="Times New Roman" panose="02020603050405020304" pitchFamily="18" charset="0"/>
                  <a:ea typeface="新宋体" panose="02010609030101010101"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9pPr>
            </a:lstStyle>
            <a:p>
              <a:pPr>
                <a:defRPr/>
              </a:pPr>
              <a:endParaRPr lang="zh-CN" altLang="en-US"/>
            </a:p>
          </p:txBody>
        </p:sp>
        <p:sp>
          <p:nvSpPr>
            <p:cNvPr id="9" name="AutoShape 41"/>
            <p:cNvSpPr>
              <a:spLocks noChangeArrowheads="1"/>
            </p:cNvSpPr>
            <p:nvPr/>
          </p:nvSpPr>
          <p:spPr bwMode="gray">
            <a:xfrm flipH="1">
              <a:off x="1882" y="2886"/>
              <a:ext cx="411" cy="316"/>
            </a:xfrm>
            <a:prstGeom prst="homePlate">
              <a:avLst>
                <a:gd name="adj" fmla="val 32516"/>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新宋体" panose="02010609030101010101" pitchFamily="49" charset="-122"/>
                </a:defRPr>
              </a:lvl1pPr>
              <a:lvl2pPr marL="742950" indent="-285750">
                <a:defRPr sz="2400">
                  <a:solidFill>
                    <a:schemeClr val="tx1"/>
                  </a:solidFill>
                  <a:latin typeface="Times New Roman" panose="02020603050405020304" pitchFamily="18" charset="0"/>
                  <a:ea typeface="新宋体" panose="02010609030101010101" pitchFamily="49" charset="-122"/>
                </a:defRPr>
              </a:lvl2pPr>
              <a:lvl3pPr marL="1143000" indent="-228600">
                <a:defRPr sz="2400">
                  <a:solidFill>
                    <a:schemeClr val="tx1"/>
                  </a:solidFill>
                  <a:latin typeface="Times New Roman" panose="02020603050405020304" pitchFamily="18" charset="0"/>
                  <a:ea typeface="新宋体" panose="02010609030101010101" pitchFamily="49" charset="-122"/>
                </a:defRPr>
              </a:lvl3pPr>
              <a:lvl4pPr marL="1600200" indent="-228600">
                <a:defRPr sz="2400">
                  <a:solidFill>
                    <a:schemeClr val="tx1"/>
                  </a:solidFill>
                  <a:latin typeface="Times New Roman" panose="02020603050405020304" pitchFamily="18" charset="0"/>
                  <a:ea typeface="新宋体" panose="02010609030101010101" pitchFamily="49" charset="-122"/>
                </a:defRPr>
              </a:lvl4pPr>
              <a:lvl5pPr marL="2057400" indent="-228600">
                <a:defRPr sz="2400">
                  <a:solidFill>
                    <a:schemeClr val="tx1"/>
                  </a:solidFill>
                  <a:latin typeface="Times New Roman" panose="02020603050405020304" pitchFamily="18" charset="0"/>
                  <a:ea typeface="新宋体" panose="02010609030101010101"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9pPr>
            </a:lstStyle>
            <a:p>
              <a:pPr>
                <a:defRPr/>
              </a:pPr>
              <a:endParaRPr lang="zh-CN" altLang="en-US"/>
            </a:p>
          </p:txBody>
        </p:sp>
      </p:grpSp>
      <p:sp>
        <p:nvSpPr>
          <p:cNvPr id="13333" name="Rectangle 21"/>
          <p:cNvSpPr>
            <a:spLocks noGrp="1" noChangeArrowheads="1"/>
          </p:cNvSpPr>
          <p:nvPr>
            <p:ph type="ctrTitle" sz="quarter"/>
          </p:nvPr>
        </p:nvSpPr>
        <p:spPr>
          <a:xfrm>
            <a:off x="2843213" y="2349500"/>
            <a:ext cx="6300787" cy="1944688"/>
          </a:xfrm>
          <a:effectLst>
            <a:outerShdw dist="35921" dir="2700000" algn="ctr" rotWithShape="0">
              <a:schemeClr val="tx1"/>
            </a:outerShdw>
          </a:effectLst>
        </p:spPr>
        <p:txBody>
          <a:bodyPr/>
          <a:lstStyle>
            <a:lvl1pPr algn="l">
              <a:defRPr sz="5400">
                <a:solidFill>
                  <a:schemeClr val="bg1"/>
                </a:solidFill>
              </a:defRPr>
            </a:lvl1pPr>
          </a:lstStyle>
          <a:p>
            <a:r>
              <a:rPr lang="en-US" altLang="ko-KR"/>
              <a:t>Click to edit Master title style</a:t>
            </a:r>
            <a:endParaRPr lang="en-US" altLang="ko-KR"/>
          </a:p>
        </p:txBody>
      </p:sp>
      <p:sp>
        <p:nvSpPr>
          <p:cNvPr id="13334" name="Rectangle 22"/>
          <p:cNvSpPr>
            <a:spLocks noGrp="1" noChangeArrowheads="1"/>
          </p:cNvSpPr>
          <p:nvPr>
            <p:ph type="subTitle" sz="quarter" idx="1"/>
          </p:nvPr>
        </p:nvSpPr>
        <p:spPr bwMode="white">
          <a:xfrm>
            <a:off x="3348038" y="4581525"/>
            <a:ext cx="5795962" cy="376238"/>
          </a:xfrm>
        </p:spPr>
        <p:txBody>
          <a:bodyPr/>
          <a:lstStyle>
            <a:lvl1pPr marL="0" indent="0">
              <a:buFont typeface="Wingdings" panose="05000000000000000000" pitchFamily="2" charset="2"/>
              <a:buNone/>
              <a:defRPr sz="2400">
                <a:solidFill>
                  <a:schemeClr val="tx1"/>
                </a:solidFill>
              </a:defRPr>
            </a:lvl1pPr>
          </a:lstStyle>
          <a:p>
            <a:r>
              <a:rPr lang="en-US" altLang="ko-KR"/>
              <a:t>Click to edit Master subtitle style</a:t>
            </a:r>
            <a:endParaRPr lang="en-US" altLang="ko-KR"/>
          </a:p>
        </p:txBody>
      </p:sp>
      <p:sp>
        <p:nvSpPr>
          <p:cNvPr id="10" name="Rectangle 23"/>
          <p:cNvSpPr>
            <a:spLocks noGrp="1" noChangeArrowheads="1"/>
          </p:cNvSpPr>
          <p:nvPr>
            <p:ph type="dt" sz="quarter" idx="10"/>
          </p:nvPr>
        </p:nvSpPr>
        <p:spPr bwMode="black">
          <a:xfrm>
            <a:off x="457200" y="6553200"/>
            <a:ext cx="2133600" cy="152400"/>
          </a:xfrm>
          <a:prstGeom prst="rect">
            <a:avLst/>
          </a:prstGeom>
          <a:ln>
            <a:miter lim="800000"/>
          </a:ln>
        </p:spPr>
        <p:txBody>
          <a:bodyPr vert="horz" wrap="square" lIns="91440" tIns="45720" rIns="91440" bIns="45720" numCol="1" anchor="t" anchorCtr="0" compatLnSpc="1"/>
          <a:lstStyle>
            <a:lvl1pPr eaLnBrk="1" hangingPunct="1">
              <a:defRPr sz="1400">
                <a:effectLst>
                  <a:outerShdw blurRad="38100" dist="38100" dir="2700000" algn="tl">
                    <a:srgbClr val="C0C0C0"/>
                  </a:outerShdw>
                </a:effectLst>
                <a:ea typeface="Gulim" panose="020B0600000101010101" pitchFamily="34" charset="-127"/>
              </a:defRPr>
            </a:lvl1pPr>
          </a:lstStyle>
          <a:p>
            <a:pPr>
              <a:defRPr/>
            </a:pPr>
            <a:endParaRPr lang="en-US" altLang="ko-KR"/>
          </a:p>
        </p:txBody>
      </p:sp>
      <p:sp>
        <p:nvSpPr>
          <p:cNvPr id="11" name="Rectangle 24"/>
          <p:cNvSpPr>
            <a:spLocks noGrp="1" noChangeArrowheads="1"/>
          </p:cNvSpPr>
          <p:nvPr>
            <p:ph type="ftr" sz="quarter" idx="11"/>
          </p:nvPr>
        </p:nvSpPr>
        <p:spPr bwMode="black">
          <a:xfrm>
            <a:off x="3124200" y="6553200"/>
            <a:ext cx="2895600" cy="152400"/>
          </a:xfrm>
          <a:prstGeom prst="rect">
            <a:avLst/>
          </a:prstGeom>
          <a:ln>
            <a:miter lim="800000"/>
          </a:ln>
        </p:spPr>
        <p:txBody>
          <a:bodyPr vert="horz" wrap="square" lIns="91440" tIns="45720" rIns="91440" bIns="45720" numCol="1" anchor="t" anchorCtr="0" compatLnSpc="1"/>
          <a:lstStyle>
            <a:lvl1pPr algn="ctr" eaLnBrk="1" hangingPunct="1">
              <a:defRPr sz="1400">
                <a:effectLst>
                  <a:outerShdw blurRad="38100" dist="38100" dir="2700000" algn="tl">
                    <a:srgbClr val="C0C0C0"/>
                  </a:outerShdw>
                </a:effectLst>
                <a:ea typeface="Gulim" panose="020B0600000101010101" pitchFamily="34" charset="-127"/>
              </a:defRPr>
            </a:lvl1pPr>
          </a:lstStyle>
          <a:p>
            <a:pPr>
              <a:defRPr/>
            </a:pPr>
            <a:endParaRPr lang="en-US" altLang="ko-KR"/>
          </a:p>
        </p:txBody>
      </p:sp>
      <p:sp>
        <p:nvSpPr>
          <p:cNvPr id="12" name="Rectangle 25"/>
          <p:cNvSpPr>
            <a:spLocks noGrp="1" noChangeArrowheads="1"/>
          </p:cNvSpPr>
          <p:nvPr>
            <p:ph type="sldNum" sz="quarter" idx="12"/>
          </p:nvPr>
        </p:nvSpPr>
        <p:spPr bwMode="black">
          <a:xfrm>
            <a:off x="6553200" y="6553200"/>
            <a:ext cx="2133600" cy="152400"/>
          </a:xfrm>
        </p:spPr>
        <p:txBody>
          <a:bodyPr/>
          <a:lstStyle>
            <a:lvl1pPr algn="r">
              <a:defRPr sz="1400">
                <a:latin typeface="Times New Roman" panose="02020603050405020304" pitchFamily="18" charset="0"/>
              </a:defRPr>
            </a:lvl1pPr>
          </a:lstStyle>
          <a:p>
            <a:pPr>
              <a:defRPr/>
            </a:pPr>
            <a:fld id="{1021DC9D-3F5E-4FD9-934E-49B66E197649}" type="slidenum">
              <a:rPr lang="ko-KR" altLang="en-US"/>
            </a:fld>
            <a:endParaRPr lang="en-US" altLang="ko-K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25"/>
          <p:cNvSpPr>
            <a:spLocks noGrp="1" noChangeArrowheads="1"/>
          </p:cNvSpPr>
          <p:nvPr>
            <p:ph type="sldNum" sz="quarter" idx="10"/>
          </p:nvPr>
        </p:nvSpPr>
        <p:spPr/>
        <p:txBody>
          <a:bodyPr/>
          <a:lstStyle>
            <a:lvl1pPr>
              <a:defRPr/>
            </a:lvl1pPr>
          </a:lstStyle>
          <a:p>
            <a:pPr>
              <a:defRPr/>
            </a:pPr>
            <a:fld id="{E209E03F-D948-4E72-80FC-6B63856D6D5D}" type="slidenum">
              <a:rPr lang="ko-KR" altLang="en-US"/>
            </a:fld>
            <a:endParaRPr lang="en-US" altLang="ko-K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25"/>
          <p:cNvSpPr>
            <a:spLocks noGrp="1" noChangeArrowheads="1"/>
          </p:cNvSpPr>
          <p:nvPr>
            <p:ph type="sldNum" sz="quarter" idx="10"/>
          </p:nvPr>
        </p:nvSpPr>
        <p:spPr/>
        <p:txBody>
          <a:bodyPr/>
          <a:lstStyle>
            <a:lvl1pPr>
              <a:defRPr/>
            </a:lvl1pPr>
          </a:lstStyle>
          <a:p>
            <a:pPr>
              <a:defRPr/>
            </a:pPr>
            <a:fld id="{5353BD9F-E227-4885-9247-669325E447EE}" type="slidenum">
              <a:rPr lang="ko-KR" altLang="en-US"/>
            </a:fld>
            <a:endParaRPr lang="en-US" altLang="ko-K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395288" y="1052513"/>
            <a:ext cx="4068762" cy="52720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16450" y="1052513"/>
            <a:ext cx="4070350" cy="52720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25"/>
          <p:cNvSpPr>
            <a:spLocks noGrp="1" noChangeArrowheads="1"/>
          </p:cNvSpPr>
          <p:nvPr>
            <p:ph type="sldNum" sz="quarter" idx="10"/>
          </p:nvPr>
        </p:nvSpPr>
        <p:spPr/>
        <p:txBody>
          <a:bodyPr/>
          <a:lstStyle>
            <a:lvl1pPr>
              <a:defRPr/>
            </a:lvl1pPr>
          </a:lstStyle>
          <a:p>
            <a:pPr>
              <a:defRPr/>
            </a:pPr>
            <a:fld id="{3244642A-BA67-4E7B-8E94-18B4DD4141E8}" type="slidenum">
              <a:rPr lang="ko-KR" altLang="en-US"/>
            </a:fld>
            <a:endParaRPr lang="en-US" altLang="ko-K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25"/>
          <p:cNvSpPr>
            <a:spLocks noGrp="1" noChangeArrowheads="1"/>
          </p:cNvSpPr>
          <p:nvPr>
            <p:ph type="sldNum" sz="quarter" idx="10"/>
          </p:nvPr>
        </p:nvSpPr>
        <p:spPr/>
        <p:txBody>
          <a:bodyPr/>
          <a:lstStyle>
            <a:lvl1pPr>
              <a:defRPr/>
            </a:lvl1pPr>
          </a:lstStyle>
          <a:p>
            <a:pPr>
              <a:defRPr/>
            </a:pPr>
            <a:fld id="{EE6BB1FF-A8C2-4209-BA82-9EB5E7A4C49D}" type="slidenum">
              <a:rPr lang="ko-KR" altLang="en-US"/>
            </a:fld>
            <a:endParaRPr lang="en-US" altLang="ko-K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25"/>
          <p:cNvSpPr>
            <a:spLocks noGrp="1" noChangeArrowheads="1"/>
          </p:cNvSpPr>
          <p:nvPr>
            <p:ph type="sldNum" sz="quarter" idx="10"/>
          </p:nvPr>
        </p:nvSpPr>
        <p:spPr/>
        <p:txBody>
          <a:bodyPr/>
          <a:lstStyle>
            <a:lvl1pPr>
              <a:defRPr/>
            </a:lvl1pPr>
          </a:lstStyle>
          <a:p>
            <a:pPr>
              <a:defRPr/>
            </a:pPr>
            <a:fld id="{00E72E9A-B09B-4EC3-9061-8926CF7F6A17}" type="slidenum">
              <a:rPr lang="ko-KR" altLang="en-US"/>
            </a:fld>
            <a:endParaRPr lang="en-US" altLang="ko-K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5"/>
          <p:cNvSpPr>
            <a:spLocks noGrp="1" noChangeArrowheads="1"/>
          </p:cNvSpPr>
          <p:nvPr>
            <p:ph type="sldNum" sz="quarter" idx="10"/>
          </p:nvPr>
        </p:nvSpPr>
        <p:spPr/>
        <p:txBody>
          <a:bodyPr/>
          <a:lstStyle>
            <a:lvl1pPr>
              <a:defRPr/>
            </a:lvl1pPr>
          </a:lstStyle>
          <a:p>
            <a:pPr>
              <a:defRPr/>
            </a:pPr>
            <a:fld id="{04C7C708-F14B-463A-94F2-E43EFD5DD216}" type="slidenum">
              <a:rPr lang="ko-KR" altLang="en-US"/>
            </a:fld>
            <a:endParaRPr lang="en-US" altLang="ko-K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25"/>
          <p:cNvSpPr>
            <a:spLocks noGrp="1" noChangeArrowheads="1"/>
          </p:cNvSpPr>
          <p:nvPr>
            <p:ph type="sldNum" sz="quarter" idx="10"/>
          </p:nvPr>
        </p:nvSpPr>
        <p:spPr/>
        <p:txBody>
          <a:bodyPr/>
          <a:lstStyle>
            <a:lvl1pPr>
              <a:defRPr/>
            </a:lvl1pPr>
          </a:lstStyle>
          <a:p>
            <a:pPr>
              <a:defRPr/>
            </a:pPr>
            <a:fld id="{4A4332DC-D49E-44B3-B2BA-E082E352AA7D}" type="slidenum">
              <a:rPr lang="ko-KR" altLang="en-US"/>
            </a:fld>
            <a:endParaRPr lang="en-US" altLang="ko-K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25"/>
          <p:cNvSpPr>
            <a:spLocks noGrp="1" noChangeArrowheads="1"/>
          </p:cNvSpPr>
          <p:nvPr>
            <p:ph type="sldNum" sz="quarter" idx="10"/>
          </p:nvPr>
        </p:nvSpPr>
        <p:spPr/>
        <p:txBody>
          <a:bodyPr/>
          <a:lstStyle>
            <a:lvl1pPr>
              <a:defRPr/>
            </a:lvl1pPr>
          </a:lstStyle>
          <a:p>
            <a:pPr>
              <a:defRPr/>
            </a:pPr>
            <a:fld id="{12988327-93AD-4184-919A-8776A2D2AA9F}" type="slidenum">
              <a:rPr lang="ko-KR" altLang="en-US"/>
            </a:fld>
            <a:endParaRPr lang="en-US" altLang="ko-K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25"/>
          <p:cNvSpPr>
            <a:spLocks noGrp="1" noChangeArrowheads="1"/>
          </p:cNvSpPr>
          <p:nvPr>
            <p:ph type="sldNum" sz="quarter" idx="10"/>
          </p:nvPr>
        </p:nvSpPr>
        <p:spPr/>
        <p:txBody>
          <a:bodyPr/>
          <a:lstStyle>
            <a:lvl1pPr>
              <a:defRPr/>
            </a:lvl1pPr>
          </a:lstStyle>
          <a:p>
            <a:pPr>
              <a:defRPr/>
            </a:pPr>
            <a:fld id="{2E24B746-78FD-4392-AB44-7DB9398CF3AD}" type="slidenum">
              <a:rPr lang="ko-KR" altLang="en-US"/>
            </a:fld>
            <a:endParaRPr lang="en-US" altLang="ko-K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15113" y="115888"/>
            <a:ext cx="2071687" cy="6208712"/>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395288" y="115888"/>
            <a:ext cx="6067425" cy="6208712"/>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25"/>
          <p:cNvSpPr>
            <a:spLocks noGrp="1" noChangeArrowheads="1"/>
          </p:cNvSpPr>
          <p:nvPr>
            <p:ph type="sldNum" sz="quarter" idx="10"/>
          </p:nvPr>
        </p:nvSpPr>
        <p:spPr/>
        <p:txBody>
          <a:bodyPr/>
          <a:lstStyle>
            <a:lvl1pPr>
              <a:defRPr/>
            </a:lvl1pPr>
          </a:lstStyle>
          <a:p>
            <a:pPr>
              <a:defRPr/>
            </a:pPr>
            <a:fld id="{F1DD42BC-C511-48F4-B621-BBF0E7131E33}" type="slidenum">
              <a:rPr lang="ko-KR" altLang="en-US"/>
            </a:fld>
            <a:endParaRPr lang="en-US" altLang="ko-K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11188" y="115888"/>
            <a:ext cx="7632700" cy="6096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395288" y="1052513"/>
            <a:ext cx="4068762" cy="527208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16450" y="1052513"/>
            <a:ext cx="4070350" cy="5272087"/>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25"/>
          <p:cNvSpPr>
            <a:spLocks noGrp="1" noChangeArrowheads="1"/>
          </p:cNvSpPr>
          <p:nvPr>
            <p:ph type="sldNum" sz="quarter" idx="10"/>
          </p:nvPr>
        </p:nvSpPr>
        <p:spPr/>
        <p:txBody>
          <a:bodyPr/>
          <a:lstStyle>
            <a:lvl1pPr>
              <a:defRPr/>
            </a:lvl1pPr>
          </a:lstStyle>
          <a:p>
            <a:pPr>
              <a:defRPr/>
            </a:pPr>
            <a:fld id="{21D76080-2501-4313-8D79-2D0C80AB75A4}" type="slidenum">
              <a:rPr lang="ko-KR" altLang="en-US"/>
            </a:fld>
            <a:endParaRPr lang="en-US" altLang="ko-K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11188" y="115888"/>
            <a:ext cx="7632700" cy="609600"/>
          </a:xfrm>
        </p:spPr>
        <p:txBody>
          <a:bodyPr/>
          <a:lstStyle/>
          <a:p>
            <a:r>
              <a:rPr lang="zh-CN" altLang="en-US"/>
              <a:t>单击此处编辑母版标题样式</a:t>
            </a:r>
            <a:endParaRPr lang="zh-CN" altLang="en-US"/>
          </a:p>
        </p:txBody>
      </p:sp>
      <p:sp>
        <p:nvSpPr>
          <p:cNvPr id="3" name="表格占位符 2"/>
          <p:cNvSpPr>
            <a:spLocks noGrp="1"/>
          </p:cNvSpPr>
          <p:nvPr>
            <p:ph type="tbl" idx="1"/>
          </p:nvPr>
        </p:nvSpPr>
        <p:spPr>
          <a:xfrm>
            <a:off x="395288" y="1052513"/>
            <a:ext cx="8291512" cy="5272087"/>
          </a:xfrm>
        </p:spPr>
        <p:txBody>
          <a:bodyPr/>
          <a:lstStyle/>
          <a:p>
            <a:pPr lvl="0"/>
            <a:endParaRPr lang="zh-CN" altLang="en-US" noProof="0"/>
          </a:p>
        </p:txBody>
      </p:sp>
      <p:sp>
        <p:nvSpPr>
          <p:cNvPr id="4" name="Rectangle 25"/>
          <p:cNvSpPr>
            <a:spLocks noGrp="1" noChangeArrowheads="1"/>
          </p:cNvSpPr>
          <p:nvPr>
            <p:ph type="sldNum" sz="quarter" idx="10"/>
          </p:nvPr>
        </p:nvSpPr>
        <p:spPr/>
        <p:txBody>
          <a:bodyPr/>
          <a:lstStyle>
            <a:lvl1pPr>
              <a:defRPr/>
            </a:lvl1pPr>
          </a:lstStyle>
          <a:p>
            <a:pPr>
              <a:defRPr/>
            </a:pPr>
            <a:fld id="{D2944F30-DFED-49A2-8A0B-242550F68C70}" type="slidenum">
              <a:rPr lang="ko-KR" altLang="en-US"/>
            </a:fld>
            <a:endParaRPr lang="en-US" altLang="ko-K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Pr>
        <a:solidFill>
          <a:schemeClr val="bg1"/>
        </a:solidFill>
        <a:effectLst/>
      </p:bgPr>
    </p:bg>
    <p:spTree>
      <p:nvGrpSpPr>
        <p:cNvPr id="1" name=""/>
        <p:cNvGrpSpPr/>
        <p:nvPr/>
      </p:nvGrpSpPr>
      <p:grpSpPr>
        <a:xfrm>
          <a:off x="0" y="0"/>
          <a:ext cx="0" cy="0"/>
          <a:chOff x="0" y="0"/>
          <a:chExt cx="0" cy="0"/>
        </a:xfrm>
      </p:grpSpPr>
      <p:sp>
        <p:nvSpPr>
          <p:cNvPr id="12324" name="Rectangle 36"/>
          <p:cNvSpPr>
            <a:spLocks noChangeArrowheads="1"/>
          </p:cNvSpPr>
          <p:nvPr/>
        </p:nvSpPr>
        <p:spPr bwMode="ltGray">
          <a:xfrm>
            <a:off x="8859838" y="0"/>
            <a:ext cx="284162" cy="6858000"/>
          </a:xfrm>
          <a:prstGeom prst="rect">
            <a:avLst/>
          </a:prstGeom>
          <a:gradFill rotWithShape="1">
            <a:gsLst>
              <a:gs pos="0">
                <a:schemeClr val="accent1"/>
              </a:gs>
              <a:gs pos="100000">
                <a:schemeClr val="accent1">
                  <a:gamma/>
                  <a:tint val="0"/>
                  <a:invGamma/>
                </a:schemeClr>
              </a:gs>
            </a:gsLst>
            <a:lin ang="5400000" scaled="1"/>
          </a:gradFill>
          <a:ln w="9525">
            <a:noFill/>
            <a:miter lim="800000"/>
          </a:ln>
          <a:effectLst/>
        </p:spPr>
        <p:txBody>
          <a:bodyPr wrap="none" anchor="ctr"/>
          <a:lstStyle/>
          <a:p>
            <a:pPr>
              <a:defRPr/>
            </a:pPr>
            <a:endParaRPr lang="zh-CN" altLang="en-US">
              <a:ea typeface="+mn-ea"/>
            </a:endParaRPr>
          </a:p>
        </p:txBody>
      </p:sp>
      <p:sp>
        <p:nvSpPr>
          <p:cNvPr id="1027" name="Rectangle 22"/>
          <p:cNvSpPr>
            <a:spLocks noGrp="1" noChangeArrowheads="1"/>
          </p:cNvSpPr>
          <p:nvPr>
            <p:ph type="body" idx="1"/>
          </p:nvPr>
        </p:nvSpPr>
        <p:spPr bwMode="auto">
          <a:xfrm>
            <a:off x="395288" y="1052513"/>
            <a:ext cx="8291512" cy="5272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ko-KR"/>
              <a:t>Click to edit Master text styles</a:t>
            </a:r>
            <a:endParaRPr lang="en-US" altLang="ko-KR"/>
          </a:p>
          <a:p>
            <a:pPr lvl="1"/>
            <a:r>
              <a:rPr lang="en-US" altLang="ko-KR"/>
              <a:t>Second level</a:t>
            </a:r>
            <a:endParaRPr lang="en-US" altLang="ko-KR"/>
          </a:p>
          <a:p>
            <a:pPr lvl="2"/>
            <a:r>
              <a:rPr lang="en-US" altLang="ko-KR"/>
              <a:t>Third level</a:t>
            </a:r>
            <a:endParaRPr lang="en-US" altLang="ko-KR"/>
          </a:p>
          <a:p>
            <a:pPr lvl="3"/>
            <a:r>
              <a:rPr lang="en-US" altLang="ko-KR"/>
              <a:t>Fourth level</a:t>
            </a:r>
            <a:endParaRPr lang="en-US" altLang="ko-KR"/>
          </a:p>
          <a:p>
            <a:pPr lvl="4"/>
            <a:r>
              <a:rPr lang="en-US" altLang="ko-KR"/>
              <a:t>Fifth level</a:t>
            </a:r>
            <a:endParaRPr lang="en-US" altLang="ko-KR"/>
          </a:p>
        </p:txBody>
      </p:sp>
      <p:sp>
        <p:nvSpPr>
          <p:cNvPr id="12313" name="Rectangle 25"/>
          <p:cNvSpPr>
            <a:spLocks noGrp="1" noChangeArrowheads="1"/>
          </p:cNvSpPr>
          <p:nvPr>
            <p:ph type="sldNum" sz="quarter" idx="4"/>
          </p:nvPr>
        </p:nvSpPr>
        <p:spPr bwMode="auto">
          <a:xfrm>
            <a:off x="3276600" y="6477000"/>
            <a:ext cx="2133600" cy="30480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200">
                <a:effectLst>
                  <a:outerShdw blurRad="38100" dist="38100" dir="2700000" algn="tl">
                    <a:srgbClr val="C0C0C0"/>
                  </a:outerShdw>
                </a:effectLst>
                <a:latin typeface="Verdana" panose="020B0604030504040204" pitchFamily="34" charset="0"/>
                <a:ea typeface="Gulim" panose="020B0600000101010101" pitchFamily="34" charset="-127"/>
              </a:defRPr>
            </a:lvl1pPr>
          </a:lstStyle>
          <a:p>
            <a:pPr>
              <a:defRPr/>
            </a:pPr>
            <a:fld id="{64067FDB-4215-48E8-B8BC-E35296F7A2B3}" type="slidenum">
              <a:rPr lang="ko-KR" altLang="en-US"/>
            </a:fld>
            <a:endParaRPr lang="en-US" altLang="ko-KR"/>
          </a:p>
        </p:txBody>
      </p:sp>
      <p:sp>
        <p:nvSpPr>
          <p:cNvPr id="12326" name="AutoShape 38"/>
          <p:cNvSpPr>
            <a:spLocks noChangeArrowheads="1"/>
          </p:cNvSpPr>
          <p:nvPr/>
        </p:nvSpPr>
        <p:spPr bwMode="ltGray">
          <a:xfrm>
            <a:off x="8461375" y="-6350"/>
            <a:ext cx="539750" cy="835025"/>
          </a:xfrm>
          <a:prstGeom prst="homePlate">
            <a:avLst>
              <a:gd name="adj" fmla="val 25000"/>
            </a:avLst>
          </a:prstGeom>
          <a:gradFill rotWithShape="1">
            <a:gsLst>
              <a:gs pos="0">
                <a:schemeClr val="tx1">
                  <a:gamma/>
                  <a:shade val="46275"/>
                  <a:invGamma/>
                </a:schemeClr>
              </a:gs>
              <a:gs pos="100000">
                <a:schemeClr val="tx1"/>
              </a:gs>
            </a:gsLst>
            <a:lin ang="0" scaled="1"/>
          </a:gradFill>
          <a:ln w="9525">
            <a:noFill/>
            <a:miter lim="800000"/>
          </a:ln>
          <a:effectLst/>
        </p:spPr>
        <p:txBody>
          <a:bodyPr wrap="none" anchor="ctr"/>
          <a:lstStyle/>
          <a:p>
            <a:pPr>
              <a:defRPr/>
            </a:pPr>
            <a:endParaRPr lang="zh-CN" altLang="en-US">
              <a:ea typeface="+mn-ea"/>
            </a:endParaRPr>
          </a:p>
        </p:txBody>
      </p:sp>
      <p:sp>
        <p:nvSpPr>
          <p:cNvPr id="12328" name="AutoShape 40"/>
          <p:cNvSpPr>
            <a:spLocks noChangeArrowheads="1"/>
          </p:cNvSpPr>
          <p:nvPr/>
        </p:nvSpPr>
        <p:spPr bwMode="ltGray">
          <a:xfrm>
            <a:off x="8101013" y="1588"/>
            <a:ext cx="574675" cy="835025"/>
          </a:xfrm>
          <a:prstGeom prst="homePlate">
            <a:avLst>
              <a:gd name="adj" fmla="val 25000"/>
            </a:avLst>
          </a:prstGeom>
          <a:gradFill rotWithShape="1">
            <a:gsLst>
              <a:gs pos="0">
                <a:schemeClr val="hlink">
                  <a:gamma/>
                  <a:shade val="46275"/>
                  <a:invGamma/>
                </a:schemeClr>
              </a:gs>
              <a:gs pos="100000">
                <a:schemeClr val="hlink"/>
              </a:gs>
            </a:gsLst>
            <a:lin ang="0" scaled="1"/>
          </a:gradFill>
          <a:ln w="9525">
            <a:noFill/>
            <a:miter lim="800000"/>
          </a:ln>
          <a:effectLst/>
        </p:spPr>
        <p:txBody>
          <a:bodyPr wrap="none" anchor="ctr"/>
          <a:lstStyle/>
          <a:p>
            <a:pPr algn="ctr">
              <a:defRPr/>
            </a:pPr>
            <a:endParaRPr lang="ko-KR" altLang="en-US" sz="1800">
              <a:ea typeface="Gulim" panose="020B0600000101010101" pitchFamily="34" charset="-127"/>
            </a:endParaRPr>
          </a:p>
        </p:txBody>
      </p:sp>
      <p:sp>
        <p:nvSpPr>
          <p:cNvPr id="12323" name="Rectangle 35"/>
          <p:cNvSpPr>
            <a:spLocks noChangeArrowheads="1"/>
          </p:cNvSpPr>
          <p:nvPr/>
        </p:nvSpPr>
        <p:spPr bwMode="ltGray">
          <a:xfrm>
            <a:off x="107950" y="0"/>
            <a:ext cx="7951788" cy="847725"/>
          </a:xfrm>
          <a:prstGeom prst="rect">
            <a:avLst/>
          </a:prstGeom>
          <a:gradFill rotWithShape="1">
            <a:gsLst>
              <a:gs pos="0">
                <a:schemeClr val="accent2">
                  <a:gamma/>
                  <a:tint val="0"/>
                  <a:invGamma/>
                </a:schemeClr>
              </a:gs>
              <a:gs pos="100000">
                <a:schemeClr val="accent2"/>
              </a:gs>
            </a:gsLst>
            <a:lin ang="0" scaled="1"/>
          </a:gradFill>
          <a:ln w="9525">
            <a:noFill/>
            <a:miter lim="800000"/>
          </a:ln>
          <a:effectLst/>
        </p:spPr>
        <p:txBody>
          <a:bodyPr wrap="none" anchor="ctr"/>
          <a:lstStyle/>
          <a:p>
            <a:pPr>
              <a:defRPr/>
            </a:pPr>
            <a:endParaRPr lang="zh-CN" altLang="en-US">
              <a:ea typeface="+mn-ea"/>
            </a:endParaRPr>
          </a:p>
        </p:txBody>
      </p:sp>
      <p:sp>
        <p:nvSpPr>
          <p:cNvPr id="1032" name="AutoShape 41"/>
          <p:cNvSpPr>
            <a:spLocks noChangeArrowheads="1"/>
          </p:cNvSpPr>
          <p:nvPr/>
        </p:nvSpPr>
        <p:spPr bwMode="ltGray">
          <a:xfrm>
            <a:off x="7888288" y="0"/>
            <a:ext cx="427037" cy="835025"/>
          </a:xfrm>
          <a:prstGeom prst="homePlate">
            <a:avLst>
              <a:gd name="adj" fmla="val 25000"/>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新宋体" panose="02010609030101010101" pitchFamily="49" charset="-122"/>
              </a:defRPr>
            </a:lvl1pPr>
            <a:lvl2pPr marL="742950" indent="-285750">
              <a:defRPr sz="2400">
                <a:solidFill>
                  <a:schemeClr val="tx1"/>
                </a:solidFill>
                <a:latin typeface="Times New Roman" panose="02020603050405020304" pitchFamily="18" charset="0"/>
                <a:ea typeface="新宋体" panose="02010609030101010101" pitchFamily="49" charset="-122"/>
              </a:defRPr>
            </a:lvl2pPr>
            <a:lvl3pPr marL="1143000" indent="-228600">
              <a:defRPr sz="2400">
                <a:solidFill>
                  <a:schemeClr val="tx1"/>
                </a:solidFill>
                <a:latin typeface="Times New Roman" panose="02020603050405020304" pitchFamily="18" charset="0"/>
                <a:ea typeface="新宋体" panose="02010609030101010101" pitchFamily="49" charset="-122"/>
              </a:defRPr>
            </a:lvl3pPr>
            <a:lvl4pPr marL="1600200" indent="-228600">
              <a:defRPr sz="2400">
                <a:solidFill>
                  <a:schemeClr val="tx1"/>
                </a:solidFill>
                <a:latin typeface="Times New Roman" panose="02020603050405020304" pitchFamily="18" charset="0"/>
                <a:ea typeface="新宋体" panose="02010609030101010101" pitchFamily="49" charset="-122"/>
              </a:defRPr>
            </a:lvl4pPr>
            <a:lvl5pPr marL="2057400" indent="-228600">
              <a:defRPr sz="2400">
                <a:solidFill>
                  <a:schemeClr val="tx1"/>
                </a:solidFill>
                <a:latin typeface="Times New Roman" panose="02020603050405020304" pitchFamily="18" charset="0"/>
                <a:ea typeface="新宋体" panose="02010609030101010101"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9pPr>
          </a:lstStyle>
          <a:p>
            <a:pPr>
              <a:defRPr/>
            </a:pPr>
            <a:endParaRPr lang="zh-CN" altLang="en-US"/>
          </a:p>
        </p:txBody>
      </p:sp>
      <p:sp>
        <p:nvSpPr>
          <p:cNvPr id="1033" name="Rectangle 21"/>
          <p:cNvSpPr>
            <a:spLocks noGrp="1" noChangeArrowheads="1"/>
          </p:cNvSpPr>
          <p:nvPr>
            <p:ph type="title"/>
          </p:nvPr>
        </p:nvSpPr>
        <p:spPr bwMode="black">
          <a:xfrm>
            <a:off x="611188" y="115888"/>
            <a:ext cx="76327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ko-KR"/>
              <a:t>Click to edit Master title style</a:t>
            </a:r>
            <a:endParaRPr lang="en-US" altLang="ko-K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2pPr>
      <a:lvl3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3pPr>
      <a:lvl4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4pPr>
      <a:lvl5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5pPr>
      <a:lvl6pPr marL="4572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6pPr>
      <a:lvl7pPr marL="9144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7pPr>
      <a:lvl8pPr marL="13716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8pPr>
      <a:lvl9pPr marL="18288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9pPr>
    </p:titleStyle>
    <p:bodyStyle>
      <a:lvl1pPr marL="342900" indent="-342900" algn="l" rtl="0" eaLnBrk="0" fontAlgn="base" hangingPunct="0">
        <a:spcBef>
          <a:spcPct val="20000"/>
        </a:spcBef>
        <a:spcAft>
          <a:spcPct val="0"/>
        </a:spcAft>
        <a:buClr>
          <a:schemeClr val="accent2"/>
        </a:buClr>
        <a:buFont typeface="Wingdings" panose="05000000000000000000" pitchFamily="2" charset="2"/>
        <a:buChar char="u"/>
        <a:defRPr sz="2800" b="1">
          <a:solidFill>
            <a:srgbClr val="2B5681"/>
          </a:solidFill>
          <a:latin typeface="+mn-lt"/>
          <a:ea typeface="+mn-ea"/>
          <a:cs typeface="+mn-cs"/>
        </a:defRPr>
      </a:lvl1pPr>
      <a:lvl2pPr marL="742950" indent="-285750" algn="l" rtl="0" eaLnBrk="0" fontAlgn="base" hangingPunct="0">
        <a:spcBef>
          <a:spcPct val="20000"/>
        </a:spcBef>
        <a:spcAft>
          <a:spcPct val="0"/>
        </a:spcAft>
        <a:buClr>
          <a:schemeClr val="tx2"/>
        </a:buClr>
        <a:buSzPct val="60000"/>
        <a:buFont typeface="Wingdings" panose="05000000000000000000" pitchFamily="2" charset="2"/>
        <a:buChar char="n"/>
        <a:defRPr sz="2600" b="1">
          <a:solidFill>
            <a:srgbClr val="008080"/>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rgbClr val="339966"/>
          </a:solidFill>
          <a:latin typeface="+mn-lt"/>
          <a:ea typeface="+mn-ea"/>
        </a:defRPr>
      </a:lvl3pPr>
      <a:lvl4pPr marL="1600200" indent="-228600" algn="l" rtl="0" eaLnBrk="0" fontAlgn="base" hangingPunct="0">
        <a:spcBef>
          <a:spcPct val="20000"/>
        </a:spcBef>
        <a:spcAft>
          <a:spcPct val="0"/>
        </a:spcAft>
        <a:buClr>
          <a:schemeClr val="tx1"/>
        </a:buClr>
        <a:buSzPct val="60000"/>
        <a:buFont typeface="Wingdings" panose="05000000000000000000" pitchFamily="2" charset="2"/>
        <a:buChar char="n"/>
        <a:defRPr sz="2000">
          <a:solidFill>
            <a:schemeClr val="tx2"/>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sz="2000">
          <a:solidFill>
            <a:schemeClr val="tx2"/>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sz="2000">
          <a:solidFill>
            <a:schemeClr val="tx2"/>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sz="2000">
          <a:solidFill>
            <a:schemeClr val="tx2"/>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sz="2000">
          <a:solidFill>
            <a:schemeClr val="tx2"/>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hyperlink" Target="Linux%202.4&#30456;&#20851;&#20195;&#30721;/sched.c.doc" TargetMode="External"/><Relationship Id="rId1" Type="http://schemas.openxmlformats.org/officeDocument/2006/relationships/hyperlink" Target="Linux%202.4&#30456;&#20851;&#20195;&#30721;/sched.h.doc" TargetMode="Externa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hyperlink" Target="sched.h.doc" TargetMode="External"/><Relationship Id="rId3" Type="http://schemas.openxmlformats.org/officeDocument/2006/relationships/hyperlink" Target="../../2009-linux/BJUT-Linux-2009/sched.h.doc" TargetMode="External"/><Relationship Id="rId2" Type="http://schemas.openxmlformats.org/officeDocument/2006/relationships/hyperlink" Target="../../2010-linux&#35838;&#20214;/sched.h.doc" TargetMode="External"/><Relationship Id="rId1" Type="http://schemas.openxmlformats.org/officeDocument/2006/relationships/hyperlink" Target="Linux%202.4&#30456;&#20851;&#20195;&#30721;/sched.h.doc"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7.emf"/><Relationship Id="rId4" Type="http://schemas.openxmlformats.org/officeDocument/2006/relationships/image" Target="../media/image6.emf"/><Relationship Id="rId3" Type="http://schemas.openxmlformats.org/officeDocument/2006/relationships/image" Target="../media/image5.emf"/><Relationship Id="rId2" Type="http://schemas.openxmlformats.org/officeDocument/2006/relationships/image" Target="../media/image4.png"/><Relationship Id="rId1" Type="http://schemas.openxmlformats.org/officeDocument/2006/relationships/hyperlink" Target="sched.h.doc"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fork.c.doc" TargetMode="Externa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hyperlink" Target="sched.h.doc#task_union"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jpeg"/><Relationship Id="rId1" Type="http://schemas.openxmlformats.org/officeDocument/2006/relationships/image" Target="../media/image17.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image" Target="../media/image2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image" Target="../media/image23.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image" Target="../media/image25.png"/></Relationships>
</file>

<file path=ppt/slides/_rels/slide4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s>
</file>

<file path=ppt/slides/_rels/slide4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29.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wait.h.doc#wait_queue" TargetMode="Externa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6.png"/><Relationship Id="rId1" Type="http://schemas.openxmlformats.org/officeDocument/2006/relationships/hyperlink" Target="sched.h.doc#relation" TargetMode="External"/></Relationships>
</file>

<file path=ppt/slides/_rels/slide57.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37.png"/><Relationship Id="rId1" Type="http://schemas.openxmlformats.org/officeDocument/2006/relationships/oleObject" Target="../embeddings/oleObject1.bin"/></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9.png"/><Relationship Id="rId1" Type="http://schemas.openxmlformats.org/officeDocument/2006/relationships/image" Target="../media/image38.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2.wmf"/></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3.pn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4.png"/></Relationships>
</file>

<file path=ppt/slides/_rels/slide7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image" Target="../media/image45.pn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8.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9.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0.png"/></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fork.c.doc#do_fork()" TargetMode="Externa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1.png"/></Relationships>
</file>

<file path=ppt/slides/_rels/slide8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i386_process.c.doc#sys_execve" TargetMode="External"/><Relationship Id="rId1" Type="http://schemas.openxmlformats.org/officeDocument/2006/relationships/image" Target="../media/image52.png"/></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exit.c.doc#release()" TargetMode="External"/><Relationship Id="rId1" Type="http://schemas.openxmlformats.org/officeDocument/2006/relationships/hyperlink" Target="exit.c.doc#wait4" TargetMode="Externa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3.png"/></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3.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exit.c.doc#do_exit" TargetMode="Externa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5.png"/><Relationship Id="rId1" Type="http://schemas.openxmlformats.org/officeDocument/2006/relationships/image" Target="../media/image54.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7.xml"/><Relationship Id="rId1" Type="http://schemas.openxmlformats.org/officeDocument/2006/relationships/audio" Target="../media/audio1.wav"/></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79388" y="0"/>
            <a:ext cx="8229600" cy="1139825"/>
          </a:xfrm>
        </p:spPr>
        <p:txBody>
          <a:bodyPr/>
          <a:lstStyle/>
          <a:p>
            <a:pPr eaLnBrk="1" hangingPunct="1"/>
            <a:r>
              <a:rPr lang="zh-CN" altLang="en-US" sz="3600" dirty="0">
                <a:latin typeface="Times New Roman" panose="02020603050405020304" pitchFamily="18" charset="0"/>
                <a:ea typeface="楷体_GB2312" pitchFamily="49" charset="-122"/>
                <a:cs typeface="Times New Roman" panose="02020603050405020304" pitchFamily="18" charset="0"/>
              </a:rPr>
              <a:t>第</a:t>
            </a:r>
            <a:r>
              <a:rPr lang="en-US" altLang="zh-CN" sz="3600" dirty="0">
                <a:latin typeface="Times New Roman" panose="02020603050405020304" pitchFamily="18" charset="0"/>
                <a:ea typeface="楷体_GB2312" pitchFamily="49" charset="-122"/>
                <a:cs typeface="Times New Roman" panose="02020603050405020304" pitchFamily="18" charset="0"/>
              </a:rPr>
              <a:t>2</a:t>
            </a:r>
            <a:r>
              <a:rPr lang="zh-CN" altLang="en-US" sz="3600" dirty="0">
                <a:latin typeface="Times New Roman" panose="02020603050405020304" pitchFamily="18" charset="0"/>
                <a:ea typeface="楷体_GB2312" pitchFamily="49" charset="-122"/>
                <a:cs typeface="Times New Roman" panose="02020603050405020304" pitchFamily="18" charset="0"/>
              </a:rPr>
              <a:t>章 </a:t>
            </a:r>
            <a:r>
              <a:rPr lang="en-US" altLang="zh-CN" sz="3600" dirty="0">
                <a:latin typeface="Times New Roman" panose="02020603050405020304" pitchFamily="18" charset="0"/>
                <a:ea typeface="楷体_GB2312" pitchFamily="49" charset="-122"/>
                <a:cs typeface="Times New Roman" panose="02020603050405020304" pitchFamily="18" charset="0"/>
              </a:rPr>
              <a:t>Linux</a:t>
            </a:r>
            <a:r>
              <a:rPr lang="zh-CN" altLang="en-US" sz="3600" dirty="0">
                <a:latin typeface="Times New Roman" panose="02020603050405020304" pitchFamily="18" charset="0"/>
                <a:ea typeface="楷体_GB2312" pitchFamily="49" charset="-122"/>
                <a:cs typeface="Times New Roman" panose="02020603050405020304" pitchFamily="18" charset="0"/>
              </a:rPr>
              <a:t>进程管理</a:t>
            </a:r>
            <a:r>
              <a:rPr lang="zh-CN" altLang="en-US" sz="2400" dirty="0">
                <a:latin typeface="Times New Roman" panose="02020603050405020304" pitchFamily="18" charset="0"/>
                <a:ea typeface="楷体_GB2312" pitchFamily="49" charset="-122"/>
                <a:cs typeface="Times New Roman" panose="02020603050405020304" pitchFamily="18" charset="0"/>
              </a:rPr>
              <a:t> </a:t>
            </a:r>
            <a:endParaRPr lang="zh-CN" altLang="en-US" sz="2400" dirty="0">
              <a:latin typeface="Times New Roman" panose="02020603050405020304" pitchFamily="18" charset="0"/>
              <a:ea typeface="楷体_GB2312" pitchFamily="49" charset="-122"/>
              <a:cs typeface="Times New Roman" panose="02020603050405020304" pitchFamily="18" charset="0"/>
            </a:endParaRPr>
          </a:p>
        </p:txBody>
      </p:sp>
      <p:sp>
        <p:nvSpPr>
          <p:cNvPr id="5123" name="Rectangle 3"/>
          <p:cNvSpPr>
            <a:spLocks noGrp="1" noChangeArrowheads="1"/>
          </p:cNvSpPr>
          <p:nvPr>
            <p:ph type="body" idx="1"/>
          </p:nvPr>
        </p:nvSpPr>
        <p:spPr>
          <a:xfrm>
            <a:off x="1558132" y="1340768"/>
            <a:ext cx="5472112" cy="4032250"/>
          </a:xfrm>
        </p:spPr>
        <p:txBody>
          <a:bodyPr/>
          <a:lstStyle/>
          <a:p>
            <a:pPr eaLnBrk="1" hangingPunct="1">
              <a:buFont typeface="Wingdings" panose="05000000000000000000" pitchFamily="2" charset="2"/>
              <a:buNone/>
            </a:pPr>
            <a:r>
              <a:rPr lang="en-US" altLang="zh-CN" dirty="0">
                <a:latin typeface="Times New Roman" panose="02020603050405020304" pitchFamily="18" charset="0"/>
                <a:ea typeface="楷体_GB2312" pitchFamily="49" charset="-122"/>
                <a:cs typeface="Times New Roman" panose="02020603050405020304" pitchFamily="18" charset="0"/>
              </a:rPr>
              <a:t>2.0 </a:t>
            </a:r>
            <a:r>
              <a:rPr lang="zh-CN" altLang="en-US" dirty="0">
                <a:latin typeface="Times New Roman" panose="02020603050405020304" pitchFamily="18" charset="0"/>
                <a:ea typeface="楷体_GB2312" pitchFamily="49" charset="-122"/>
                <a:cs typeface="Times New Roman" panose="02020603050405020304" pitchFamily="18" charset="0"/>
              </a:rPr>
              <a:t> 进程与线程知识回顾</a:t>
            </a:r>
            <a:endParaRPr lang="en-US" altLang="zh-CN"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Wingdings" panose="05000000000000000000" pitchFamily="2" charset="2"/>
              <a:buNone/>
            </a:pPr>
            <a:r>
              <a:rPr lang="en-US" altLang="zh-CN" dirty="0">
                <a:latin typeface="Times New Roman" panose="02020603050405020304" pitchFamily="18" charset="0"/>
                <a:ea typeface="楷体_GB2312" pitchFamily="49" charset="-122"/>
                <a:cs typeface="Times New Roman" panose="02020603050405020304" pitchFamily="18" charset="0"/>
              </a:rPr>
              <a:t>2.1  Linux</a:t>
            </a:r>
            <a:r>
              <a:rPr lang="zh-CN" altLang="en-US" dirty="0">
                <a:latin typeface="Times New Roman" panose="02020603050405020304" pitchFamily="18" charset="0"/>
                <a:ea typeface="楷体_GB2312" pitchFamily="49" charset="-122"/>
                <a:cs typeface="Times New Roman" panose="02020603050405020304" pitchFamily="18" charset="0"/>
              </a:rPr>
              <a:t>进程描述</a:t>
            </a:r>
            <a:endParaRPr lang="en-US" altLang="zh-CN"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Wingdings" panose="05000000000000000000" pitchFamily="2" charset="2"/>
              <a:buNone/>
            </a:pPr>
            <a:r>
              <a:rPr lang="en-US" altLang="zh-CN" dirty="0">
                <a:latin typeface="Times New Roman" panose="02020603050405020304" pitchFamily="18" charset="0"/>
                <a:ea typeface="楷体_GB2312" pitchFamily="49" charset="-122"/>
                <a:cs typeface="Times New Roman" panose="02020603050405020304" pitchFamily="18" charset="0"/>
              </a:rPr>
              <a:t>2.2  Linux</a:t>
            </a:r>
            <a:r>
              <a:rPr lang="zh-CN" altLang="en-US" dirty="0">
                <a:latin typeface="Times New Roman" panose="02020603050405020304" pitchFamily="18" charset="0"/>
                <a:ea typeface="楷体_GB2312" pitchFamily="49" charset="-122"/>
                <a:cs typeface="Times New Roman" panose="02020603050405020304" pitchFamily="18" charset="0"/>
              </a:rPr>
              <a:t>进程状态与转换</a:t>
            </a:r>
            <a:endParaRPr lang="en-US" altLang="zh-CN"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Wingdings" panose="05000000000000000000" pitchFamily="2" charset="2"/>
              <a:buNone/>
            </a:pPr>
            <a:r>
              <a:rPr lang="en-US" altLang="zh-CN" dirty="0">
                <a:latin typeface="Times New Roman" panose="02020603050405020304" pitchFamily="18" charset="0"/>
                <a:ea typeface="楷体_GB2312" pitchFamily="49" charset="-122"/>
                <a:cs typeface="Times New Roman" panose="02020603050405020304" pitchFamily="18" charset="0"/>
              </a:rPr>
              <a:t>2.3  Linux</a:t>
            </a:r>
            <a:r>
              <a:rPr lang="zh-CN" altLang="en-US" dirty="0">
                <a:latin typeface="Times New Roman" panose="02020603050405020304" pitchFamily="18" charset="0"/>
                <a:ea typeface="楷体_GB2312" pitchFamily="49" charset="-122"/>
                <a:cs typeface="Times New Roman" panose="02020603050405020304" pitchFamily="18" charset="0"/>
              </a:rPr>
              <a:t>进程标识与组织</a:t>
            </a:r>
            <a:endParaRPr lang="en-US" altLang="zh-CN" dirty="0">
              <a:latin typeface="Times New Roman" panose="02020603050405020304" pitchFamily="18" charset="0"/>
              <a:ea typeface="楷体_GB2312" pitchFamily="49" charset="-122"/>
              <a:cs typeface="Times New Roman" panose="02020603050405020304" pitchFamily="18" charset="0"/>
            </a:endParaRPr>
          </a:p>
          <a:p>
            <a:pPr eaLnBrk="1" hangingPunct="1">
              <a:buNone/>
            </a:pPr>
            <a:r>
              <a:rPr lang="en-US" altLang="zh-CN" dirty="0">
                <a:latin typeface="Times New Roman" panose="02020603050405020304" pitchFamily="18" charset="0"/>
                <a:ea typeface="楷体_GB2312" pitchFamily="49" charset="-122"/>
                <a:cs typeface="Times New Roman" panose="02020603050405020304" pitchFamily="18" charset="0"/>
              </a:rPr>
              <a:t>2.4  Linux</a:t>
            </a:r>
            <a:r>
              <a:rPr lang="zh-CN" altLang="en-US" dirty="0">
                <a:latin typeface="Times New Roman" panose="02020603050405020304" pitchFamily="18" charset="0"/>
                <a:ea typeface="楷体_GB2312" pitchFamily="49" charset="-122"/>
                <a:cs typeface="Times New Roman" panose="02020603050405020304" pitchFamily="18" charset="0"/>
              </a:rPr>
              <a:t>进程的系统堆栈</a:t>
            </a:r>
            <a:endParaRPr lang="en-US" altLang="zh-CN" dirty="0">
              <a:latin typeface="Times New Roman" panose="02020603050405020304" pitchFamily="18" charset="0"/>
              <a:ea typeface="楷体_GB2312" pitchFamily="49" charset="-122"/>
              <a:cs typeface="Times New Roman" panose="02020603050405020304" pitchFamily="18" charset="0"/>
            </a:endParaRPr>
          </a:p>
          <a:p>
            <a:pPr eaLnBrk="1" hangingPunct="1">
              <a:buNone/>
            </a:pPr>
            <a:r>
              <a:rPr lang="en-US" altLang="zh-CN" dirty="0">
                <a:latin typeface="Times New Roman" panose="02020603050405020304" pitchFamily="18" charset="0"/>
                <a:ea typeface="楷体_GB2312" pitchFamily="49" charset="-122"/>
                <a:cs typeface="Times New Roman" panose="02020603050405020304" pitchFamily="18" charset="0"/>
              </a:rPr>
              <a:t>2.5  Linux</a:t>
            </a:r>
            <a:r>
              <a:rPr lang="zh-CN" altLang="en-US" dirty="0">
                <a:latin typeface="Times New Roman" panose="02020603050405020304" pitchFamily="18" charset="0"/>
                <a:ea typeface="楷体_GB2312" pitchFamily="49" charset="-122"/>
                <a:cs typeface="Times New Roman" panose="02020603050405020304" pitchFamily="18" charset="0"/>
              </a:rPr>
              <a:t>进程的链表结构</a:t>
            </a:r>
            <a:endParaRPr lang="en-US" altLang="zh-CN" dirty="0">
              <a:latin typeface="Times New Roman" panose="02020603050405020304" pitchFamily="18" charset="0"/>
              <a:ea typeface="楷体_GB2312" pitchFamily="49" charset="-122"/>
              <a:cs typeface="Times New Roman" panose="02020603050405020304" pitchFamily="18" charset="0"/>
            </a:endParaRPr>
          </a:p>
          <a:p>
            <a:pPr eaLnBrk="1" hangingPunct="1">
              <a:buNone/>
            </a:pPr>
            <a:r>
              <a:rPr lang="en-US" altLang="zh-CN" dirty="0">
                <a:latin typeface="Times New Roman" panose="02020603050405020304" pitchFamily="18" charset="0"/>
                <a:ea typeface="楷体_GB2312" pitchFamily="49" charset="-122"/>
                <a:cs typeface="Times New Roman" panose="02020603050405020304" pitchFamily="18" charset="0"/>
              </a:rPr>
              <a:t>2.6  Linux</a:t>
            </a:r>
            <a:r>
              <a:rPr lang="zh-CN" altLang="en-US" dirty="0">
                <a:latin typeface="Times New Roman" panose="02020603050405020304" pitchFamily="18" charset="0"/>
                <a:ea typeface="楷体_GB2312" pitchFamily="49" charset="-122"/>
                <a:cs typeface="Times New Roman" panose="02020603050405020304" pitchFamily="18" charset="0"/>
              </a:rPr>
              <a:t>进程的家族关系</a:t>
            </a:r>
            <a:endParaRPr lang="en-US" altLang="zh-CN"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Wingdings" panose="05000000000000000000" pitchFamily="2" charset="2"/>
              <a:buNone/>
            </a:pPr>
            <a:r>
              <a:rPr lang="en-US" altLang="zh-CN" dirty="0">
                <a:latin typeface="Times New Roman" panose="02020603050405020304" pitchFamily="18" charset="0"/>
                <a:ea typeface="楷体_GB2312" pitchFamily="49" charset="-122"/>
                <a:cs typeface="Times New Roman" panose="02020603050405020304" pitchFamily="18" charset="0"/>
              </a:rPr>
              <a:t>2.7  Linux</a:t>
            </a:r>
            <a:r>
              <a:rPr lang="zh-CN" altLang="en-US" dirty="0">
                <a:latin typeface="Times New Roman" panose="02020603050405020304" pitchFamily="18" charset="0"/>
                <a:ea typeface="楷体_GB2312" pitchFamily="49" charset="-122"/>
                <a:cs typeface="Times New Roman" panose="02020603050405020304" pitchFamily="18" charset="0"/>
              </a:rPr>
              <a:t>进程控制</a:t>
            </a:r>
            <a:endParaRPr lang="en-US" altLang="zh-CN"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Wingdings" panose="05000000000000000000" pitchFamily="2" charset="2"/>
              <a:buNone/>
            </a:pPr>
            <a:r>
              <a:rPr lang="en-US" altLang="zh-CN" dirty="0">
                <a:latin typeface="Times New Roman" panose="02020603050405020304" pitchFamily="18" charset="0"/>
                <a:ea typeface="楷体_GB2312" pitchFamily="49" charset="-122"/>
                <a:cs typeface="Times New Roman" panose="02020603050405020304" pitchFamily="18" charset="0"/>
              </a:rPr>
              <a:t>2.8  Linux</a:t>
            </a:r>
            <a:r>
              <a:rPr lang="zh-CN" altLang="en-US" dirty="0">
                <a:latin typeface="Times New Roman" panose="02020603050405020304" pitchFamily="18" charset="0"/>
                <a:ea typeface="楷体_GB2312" pitchFamily="49" charset="-122"/>
                <a:cs typeface="Times New Roman" panose="02020603050405020304" pitchFamily="18" charset="0"/>
              </a:rPr>
              <a:t>进程与线程实现</a:t>
            </a:r>
            <a:endParaRPr lang="en-US" altLang="zh-CN"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Wingdings" panose="05000000000000000000" pitchFamily="2" charset="2"/>
              <a:buNone/>
            </a:pPr>
            <a:r>
              <a:rPr lang="zh-CN" altLang="en-US" b="0" dirty="0">
                <a:solidFill>
                  <a:srgbClr val="000000"/>
                </a:solidFill>
                <a:latin typeface="Times New Roman" panose="02020603050405020304" pitchFamily="18" charset="0"/>
                <a:ea typeface="楷体_GB2312" pitchFamily="49" charset="-122"/>
                <a:cs typeface="Times New Roman" panose="02020603050405020304" pitchFamily="18" charset="0"/>
              </a:rPr>
              <a:t> </a:t>
            </a:r>
            <a:endParaRPr lang="zh-CN" altLang="en-US" b="0" dirty="0">
              <a:solidFill>
                <a:srgbClr val="000000"/>
              </a:solidFill>
              <a:latin typeface="Times New Roman" panose="02020603050405020304" pitchFamily="18" charset="0"/>
              <a:ea typeface="楷体_GB2312" pitchFamily="49" charset="-122"/>
              <a:cs typeface="Times New Roman" panose="02020603050405020304" pitchFamily="18" charset="0"/>
            </a:endParaRPr>
          </a:p>
          <a:p>
            <a:pPr eaLnBrk="1" hangingPunct="1"/>
            <a:endParaRPr lang="zh-CN" altLang="en-US" b="0" dirty="0">
              <a:solidFill>
                <a:srgbClr val="000000"/>
              </a:solidFill>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ransition>
    <p:dissolv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txBox="1"/>
          <p:nvPr/>
        </p:nvSpPr>
        <p:spPr>
          <a:xfrm>
            <a:off x="395288" y="1052513"/>
            <a:ext cx="8291512" cy="5272087"/>
          </a:xfrm>
          <a:prstGeom prst="rect">
            <a:avLst/>
          </a:prstGeom>
        </p:spPr>
        <p:txBody>
          <a:bodyPr/>
          <a:lstStyle>
            <a:lvl1pPr marL="342900" indent="-342900" algn="l" rtl="0" eaLnBrk="0" fontAlgn="base" hangingPunct="0">
              <a:spcBef>
                <a:spcPct val="20000"/>
              </a:spcBef>
              <a:spcAft>
                <a:spcPct val="0"/>
              </a:spcAft>
              <a:buClr>
                <a:schemeClr val="accent2"/>
              </a:buClr>
              <a:buFont typeface="Wingdings" panose="05000000000000000000" pitchFamily="2" charset="2"/>
              <a:buChar char="u"/>
              <a:defRPr sz="2800" b="1">
                <a:solidFill>
                  <a:srgbClr val="2B5681"/>
                </a:solidFill>
                <a:latin typeface="+mn-lt"/>
                <a:ea typeface="+mn-ea"/>
                <a:cs typeface="+mn-cs"/>
              </a:defRPr>
            </a:lvl1pPr>
            <a:lvl2pPr marL="742950" indent="-285750" algn="l" rtl="0" eaLnBrk="0" fontAlgn="base" hangingPunct="0">
              <a:spcBef>
                <a:spcPct val="20000"/>
              </a:spcBef>
              <a:spcAft>
                <a:spcPct val="0"/>
              </a:spcAft>
              <a:buClr>
                <a:schemeClr val="tx2"/>
              </a:buClr>
              <a:buSzPct val="60000"/>
              <a:buFont typeface="Wingdings" panose="05000000000000000000" pitchFamily="2" charset="2"/>
              <a:buChar char="n"/>
              <a:defRPr sz="2600" b="1">
                <a:solidFill>
                  <a:srgbClr val="008080"/>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rgbClr val="339966"/>
                </a:solidFill>
                <a:latin typeface="+mn-lt"/>
                <a:ea typeface="+mn-ea"/>
              </a:defRPr>
            </a:lvl3pPr>
            <a:lvl4pPr marL="1600200" indent="-228600" algn="l" rtl="0" eaLnBrk="0" fontAlgn="base" hangingPunct="0">
              <a:spcBef>
                <a:spcPct val="20000"/>
              </a:spcBef>
              <a:spcAft>
                <a:spcPct val="0"/>
              </a:spcAft>
              <a:buClr>
                <a:schemeClr val="tx1"/>
              </a:buClr>
              <a:buSzPct val="60000"/>
              <a:buFont typeface="Wingdings" panose="05000000000000000000" pitchFamily="2" charset="2"/>
              <a:buChar char="n"/>
              <a:defRPr sz="2000">
                <a:solidFill>
                  <a:schemeClr val="tx2"/>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mn-lt"/>
                <a:ea typeface="+mn-ea"/>
              </a:defRPr>
            </a:lvl5pPr>
            <a:lvl6pPr marL="2514600" indent="-228600" algn="l" rtl="0" fontAlgn="base">
              <a:spcBef>
                <a:spcPct val="20000"/>
              </a:spcBef>
              <a:spcAft>
                <a:spcPct val="0"/>
              </a:spcAft>
              <a:buClr>
                <a:schemeClr val="hlink"/>
              </a:buClr>
              <a:buSzPct val="60000"/>
              <a:buFont typeface="Wingdings" panose="05000000000000000000" pitchFamily="2" charset="2"/>
              <a:buChar char="n"/>
              <a:defRPr sz="2000">
                <a:solidFill>
                  <a:schemeClr val="tx2"/>
                </a:solidFill>
                <a:latin typeface="+mn-lt"/>
                <a:ea typeface="+mn-ea"/>
              </a:defRPr>
            </a:lvl6pPr>
            <a:lvl7pPr marL="2971800" indent="-228600" algn="l" rtl="0" fontAlgn="base">
              <a:spcBef>
                <a:spcPct val="20000"/>
              </a:spcBef>
              <a:spcAft>
                <a:spcPct val="0"/>
              </a:spcAft>
              <a:buClr>
                <a:schemeClr val="hlink"/>
              </a:buClr>
              <a:buSzPct val="60000"/>
              <a:buFont typeface="Wingdings" panose="05000000000000000000" pitchFamily="2" charset="2"/>
              <a:buChar char="n"/>
              <a:defRPr sz="2000">
                <a:solidFill>
                  <a:schemeClr val="tx2"/>
                </a:solidFill>
                <a:latin typeface="+mn-lt"/>
                <a:ea typeface="+mn-ea"/>
              </a:defRPr>
            </a:lvl7pPr>
            <a:lvl8pPr marL="3429000" indent="-228600" algn="l" rtl="0" fontAlgn="base">
              <a:spcBef>
                <a:spcPct val="20000"/>
              </a:spcBef>
              <a:spcAft>
                <a:spcPct val="0"/>
              </a:spcAft>
              <a:buClr>
                <a:schemeClr val="hlink"/>
              </a:buClr>
              <a:buSzPct val="60000"/>
              <a:buFont typeface="Wingdings" panose="05000000000000000000" pitchFamily="2" charset="2"/>
              <a:buChar char="n"/>
              <a:defRPr sz="2000">
                <a:solidFill>
                  <a:schemeClr val="tx2"/>
                </a:solidFill>
                <a:latin typeface="+mn-lt"/>
                <a:ea typeface="+mn-ea"/>
              </a:defRPr>
            </a:lvl8pPr>
            <a:lvl9pPr marL="3886200" indent="-228600" algn="l" rtl="0" fontAlgn="base">
              <a:spcBef>
                <a:spcPct val="20000"/>
              </a:spcBef>
              <a:spcAft>
                <a:spcPct val="0"/>
              </a:spcAft>
              <a:buClr>
                <a:schemeClr val="hlink"/>
              </a:buClr>
              <a:buSzPct val="60000"/>
              <a:buFont typeface="Wingdings" panose="05000000000000000000" pitchFamily="2" charset="2"/>
              <a:buChar char="n"/>
              <a:defRPr sz="2000">
                <a:solidFill>
                  <a:schemeClr val="tx2"/>
                </a:solidFill>
                <a:latin typeface="+mn-lt"/>
                <a:ea typeface="+mn-ea"/>
              </a:defRPr>
            </a:lvl9pPr>
          </a:lstStyle>
          <a:p>
            <a:pPr eaLnBrk="1" hangingPunct="1">
              <a:buFont typeface="Arial" panose="020B0604020202020204" pitchFamily="34" charset="0"/>
              <a:buChar char="•"/>
            </a:pPr>
            <a:r>
              <a:rPr lang="zh-CN" altLang="en-US" sz="2400" kern="0">
                <a:latin typeface="Times New Roman" panose="02020603050405020304" pitchFamily="18" charset="0"/>
                <a:ea typeface="楷体_GB2312" pitchFamily="49" charset="-122"/>
                <a:cs typeface="Times New Roman" panose="02020603050405020304" pitchFamily="18" charset="0"/>
              </a:rPr>
              <a:t>理解和掌握</a:t>
            </a:r>
            <a:r>
              <a:rPr lang="en-US" altLang="zh-CN" sz="2400" kern="0">
                <a:latin typeface="Times New Roman" panose="02020603050405020304" pitchFamily="18" charset="0"/>
                <a:ea typeface="楷体_GB2312" pitchFamily="49" charset="-122"/>
                <a:cs typeface="Times New Roman" panose="02020603050405020304" pitchFamily="18" charset="0"/>
              </a:rPr>
              <a:t>Linux</a:t>
            </a:r>
            <a:r>
              <a:rPr lang="zh-CN" altLang="en-US" sz="2400" kern="0">
                <a:latin typeface="Times New Roman" panose="02020603050405020304" pitchFamily="18" charset="0"/>
                <a:ea typeface="楷体_GB2312" pitchFamily="49" charset="-122"/>
                <a:cs typeface="Times New Roman" panose="02020603050405020304" pitchFamily="18" charset="0"/>
              </a:rPr>
              <a:t>的进程</a:t>
            </a:r>
            <a:r>
              <a:rPr lang="en-US" altLang="zh-CN" sz="2400" kern="0">
                <a:latin typeface="Times New Roman" panose="02020603050405020304" pitchFamily="18" charset="0"/>
                <a:ea typeface="楷体_GB2312" pitchFamily="49" charset="-122"/>
                <a:cs typeface="Times New Roman" panose="02020603050405020304" pitchFamily="18" charset="0"/>
              </a:rPr>
              <a:t>/</a:t>
            </a:r>
            <a:r>
              <a:rPr lang="zh-CN" altLang="en-US" sz="2400" kern="0">
                <a:latin typeface="Times New Roman" panose="02020603050405020304" pitchFamily="18" charset="0"/>
                <a:ea typeface="楷体_GB2312" pitchFamily="49" charset="-122"/>
                <a:cs typeface="Times New Roman" panose="02020603050405020304" pitchFamily="18" charset="0"/>
              </a:rPr>
              <a:t>线程描述机制</a:t>
            </a:r>
            <a:endParaRPr lang="zh-CN" altLang="en-US" sz="2400" kern="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sz="2000" kern="0">
                <a:latin typeface="Times New Roman" panose="02020603050405020304" pitchFamily="18" charset="0"/>
                <a:ea typeface="楷体_GB2312" pitchFamily="49" charset="-122"/>
                <a:cs typeface="Times New Roman" panose="02020603050405020304" pitchFamily="18" charset="0"/>
              </a:rPr>
              <a:t>Linux</a:t>
            </a:r>
            <a:r>
              <a:rPr lang="zh-CN" altLang="en-US" sz="2000" kern="0">
                <a:latin typeface="Times New Roman" panose="02020603050405020304" pitchFamily="18" charset="0"/>
                <a:ea typeface="楷体_GB2312" pitchFamily="49" charset="-122"/>
                <a:cs typeface="Times New Roman" panose="02020603050405020304" pitchFamily="18" charset="0"/>
              </a:rPr>
              <a:t>进程描述符</a:t>
            </a:r>
            <a:endParaRPr lang="zh-CN" altLang="en-US" sz="2000" kern="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sz="2000" kern="0">
                <a:latin typeface="Times New Roman" panose="02020603050405020304" pitchFamily="18" charset="0"/>
                <a:ea typeface="楷体_GB2312" pitchFamily="49" charset="-122"/>
                <a:cs typeface="Times New Roman" panose="02020603050405020304" pitchFamily="18" charset="0"/>
              </a:rPr>
              <a:t>Linux</a:t>
            </a:r>
            <a:r>
              <a:rPr lang="zh-CN" altLang="en-US" sz="2000" kern="0">
                <a:latin typeface="Times New Roman" panose="02020603050405020304" pitchFamily="18" charset="0"/>
                <a:ea typeface="楷体_GB2312" pitchFamily="49" charset="-122"/>
                <a:cs typeface="Times New Roman" panose="02020603050405020304" pitchFamily="18" charset="0"/>
              </a:rPr>
              <a:t>进程的系统堆栈结构</a:t>
            </a:r>
            <a:endParaRPr lang="zh-CN" altLang="en-US" sz="2000" kern="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sz="2400" kern="0">
                <a:latin typeface="Times New Roman" panose="02020603050405020304" pitchFamily="18" charset="0"/>
                <a:ea typeface="楷体_GB2312" pitchFamily="49" charset="-122"/>
                <a:cs typeface="Times New Roman" panose="02020603050405020304" pitchFamily="18" charset="0"/>
              </a:rPr>
              <a:t>理解和掌握</a:t>
            </a:r>
            <a:r>
              <a:rPr lang="en-US" altLang="zh-CN" sz="2400" kern="0">
                <a:latin typeface="Times New Roman" panose="02020603050405020304" pitchFamily="18" charset="0"/>
                <a:ea typeface="楷体_GB2312" pitchFamily="49" charset="-122"/>
                <a:cs typeface="Times New Roman" panose="02020603050405020304" pitchFamily="18" charset="0"/>
              </a:rPr>
              <a:t>Linux</a:t>
            </a:r>
            <a:r>
              <a:rPr lang="zh-CN" altLang="en-US" sz="2400" kern="0">
                <a:latin typeface="Times New Roman" panose="02020603050405020304" pitchFamily="18" charset="0"/>
                <a:ea typeface="楷体_GB2312" pitchFamily="49" charset="-122"/>
                <a:cs typeface="Times New Roman" panose="02020603050405020304" pitchFamily="18" charset="0"/>
              </a:rPr>
              <a:t>进程的内核管理机制</a:t>
            </a:r>
            <a:endParaRPr lang="zh-CN" altLang="en-US" sz="2400" kern="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sz="2000" kern="0">
                <a:latin typeface="Times New Roman" panose="02020603050405020304" pitchFamily="18" charset="0"/>
                <a:ea typeface="楷体_GB2312" pitchFamily="49" charset="-122"/>
                <a:cs typeface="Times New Roman" panose="02020603050405020304" pitchFamily="18" charset="0"/>
              </a:rPr>
              <a:t>内核链表结构</a:t>
            </a:r>
            <a:endParaRPr lang="en-US" altLang="zh-CN" sz="2000" kern="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sz="2000" kern="0">
                <a:latin typeface="Times New Roman" panose="02020603050405020304" pitchFamily="18" charset="0"/>
                <a:ea typeface="楷体_GB2312" pitchFamily="49" charset="-122"/>
                <a:cs typeface="Times New Roman" panose="02020603050405020304" pitchFamily="18" charset="0"/>
              </a:rPr>
              <a:t>Linux</a:t>
            </a:r>
            <a:r>
              <a:rPr lang="zh-CN" altLang="en-US" sz="2000" kern="0">
                <a:latin typeface="Times New Roman" panose="02020603050405020304" pitchFamily="18" charset="0"/>
                <a:ea typeface="楷体_GB2312" pitchFamily="49" charset="-122"/>
                <a:cs typeface="Times New Roman" panose="02020603050405020304" pitchFamily="18" charset="0"/>
              </a:rPr>
              <a:t>的进程家族结构</a:t>
            </a:r>
            <a:endParaRPr lang="zh-CN" altLang="en-US" sz="2000" kern="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sz="2000" kern="0">
                <a:latin typeface="Times New Roman" panose="02020603050405020304" pitchFamily="18" charset="0"/>
                <a:ea typeface="楷体_GB2312" pitchFamily="49" charset="-122"/>
                <a:cs typeface="Times New Roman" panose="02020603050405020304" pitchFamily="18" charset="0"/>
              </a:rPr>
              <a:t>Linux</a:t>
            </a:r>
            <a:r>
              <a:rPr lang="zh-CN" altLang="en-US" sz="2000" kern="0">
                <a:latin typeface="Times New Roman" panose="02020603050405020304" pitchFamily="18" charset="0"/>
                <a:ea typeface="楷体_GB2312" pitchFamily="49" charset="-122"/>
                <a:cs typeface="Times New Roman" panose="02020603050405020304" pitchFamily="18" charset="0"/>
              </a:rPr>
              <a:t>进程系统启动过程</a:t>
            </a:r>
            <a:endParaRPr lang="zh-CN" altLang="en-US" sz="2000" kern="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sz="2400" kern="0">
                <a:latin typeface="Times New Roman" panose="02020603050405020304" pitchFamily="18" charset="0"/>
                <a:ea typeface="楷体_GB2312" pitchFamily="49" charset="-122"/>
                <a:cs typeface="Times New Roman" panose="02020603050405020304" pitchFamily="18" charset="0"/>
              </a:rPr>
              <a:t>理解和掌握</a:t>
            </a:r>
            <a:r>
              <a:rPr lang="en-US" altLang="zh-CN" sz="2400" kern="0">
                <a:latin typeface="Times New Roman" panose="02020603050405020304" pitchFamily="18" charset="0"/>
                <a:ea typeface="楷体_GB2312" pitchFamily="49" charset="-122"/>
                <a:cs typeface="Times New Roman" panose="02020603050405020304" pitchFamily="18" charset="0"/>
              </a:rPr>
              <a:t>Linux</a:t>
            </a:r>
            <a:r>
              <a:rPr lang="zh-CN" altLang="en-US" sz="2400" kern="0">
                <a:latin typeface="Times New Roman" panose="02020603050405020304" pitchFamily="18" charset="0"/>
                <a:ea typeface="楷体_GB2312" pitchFamily="49" charset="-122"/>
                <a:cs typeface="Times New Roman" panose="02020603050405020304" pitchFamily="18" charset="0"/>
              </a:rPr>
              <a:t>进程创建与实现机制</a:t>
            </a:r>
            <a:endParaRPr lang="zh-CN" altLang="en-US" sz="2400" kern="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sz="2000" kern="0">
                <a:latin typeface="Times New Roman" panose="02020603050405020304" pitchFamily="18" charset="0"/>
                <a:ea typeface="楷体_GB2312" pitchFamily="49" charset="-122"/>
                <a:cs typeface="Times New Roman" panose="02020603050405020304" pitchFamily="18" charset="0"/>
              </a:rPr>
              <a:t>fork()</a:t>
            </a:r>
            <a:r>
              <a:rPr lang="zh-CN" altLang="en-US" sz="2000" kern="0">
                <a:latin typeface="Times New Roman" panose="02020603050405020304" pitchFamily="18" charset="0"/>
                <a:ea typeface="楷体_GB2312" pitchFamily="49" charset="-122"/>
                <a:cs typeface="Times New Roman" panose="02020603050405020304" pitchFamily="18" charset="0"/>
              </a:rPr>
              <a:t>、</a:t>
            </a:r>
            <a:r>
              <a:rPr lang="en-US" altLang="zh-CN" sz="2000" kern="0">
                <a:latin typeface="Times New Roman" panose="02020603050405020304" pitchFamily="18" charset="0"/>
                <a:ea typeface="楷体_GB2312" pitchFamily="49" charset="-122"/>
                <a:cs typeface="Times New Roman" panose="02020603050405020304" pitchFamily="18" charset="0"/>
              </a:rPr>
              <a:t>vfork()</a:t>
            </a:r>
            <a:r>
              <a:rPr lang="zh-CN" altLang="en-US" sz="2000" kern="0">
                <a:latin typeface="Times New Roman" panose="02020603050405020304" pitchFamily="18" charset="0"/>
                <a:ea typeface="楷体_GB2312" pitchFamily="49" charset="-122"/>
                <a:cs typeface="Times New Roman" panose="02020603050405020304" pitchFamily="18" charset="0"/>
              </a:rPr>
              <a:t>、</a:t>
            </a:r>
            <a:r>
              <a:rPr lang="en-US" altLang="zh-CN" sz="2000" kern="0">
                <a:latin typeface="Times New Roman" panose="02020603050405020304" pitchFamily="18" charset="0"/>
                <a:ea typeface="楷体_GB2312" pitchFamily="49" charset="-122"/>
                <a:cs typeface="Times New Roman" panose="02020603050405020304" pitchFamily="18" charset="0"/>
              </a:rPr>
              <a:t>clone()</a:t>
            </a:r>
            <a:r>
              <a:rPr lang="zh-CN" altLang="en-US" sz="2000" kern="0">
                <a:latin typeface="Times New Roman" panose="02020603050405020304" pitchFamily="18" charset="0"/>
                <a:ea typeface="楷体_GB2312" pitchFamily="49" charset="-122"/>
                <a:cs typeface="Times New Roman" panose="02020603050405020304" pitchFamily="18" charset="0"/>
              </a:rPr>
              <a:t>的使用场景及实现机制的差别</a:t>
            </a:r>
            <a:endParaRPr lang="zh-CN" altLang="en-US" sz="2000" kern="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sz="2000" kern="0">
                <a:latin typeface="Times New Roman" panose="02020603050405020304" pitchFamily="18" charset="0"/>
                <a:ea typeface="楷体_GB2312" pitchFamily="49" charset="-122"/>
                <a:cs typeface="Times New Roman" panose="02020603050405020304" pitchFamily="18" charset="0"/>
              </a:rPr>
              <a:t>do_fork()</a:t>
            </a:r>
            <a:r>
              <a:rPr lang="zh-CN" altLang="en-US" sz="2000" kern="0">
                <a:latin typeface="Times New Roman" panose="02020603050405020304" pitchFamily="18" charset="0"/>
                <a:ea typeface="楷体_GB2312" pitchFamily="49" charset="-122"/>
                <a:cs typeface="Times New Roman" panose="02020603050405020304" pitchFamily="18" charset="0"/>
              </a:rPr>
              <a:t>的工作机理</a:t>
            </a:r>
            <a:endParaRPr lang="en-US" altLang="zh-CN" kern="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kern="0">
                <a:latin typeface="Times New Roman" panose="02020603050405020304" pitchFamily="18" charset="0"/>
                <a:ea typeface="楷体_GB2312" pitchFamily="49" charset="-122"/>
                <a:cs typeface="Times New Roman" panose="02020603050405020304" pitchFamily="18" charset="0"/>
              </a:rPr>
              <a:t>理解和掌握</a:t>
            </a:r>
            <a:r>
              <a:rPr lang="en-US" altLang="zh-CN" kern="0">
                <a:latin typeface="Times New Roman" panose="02020603050405020304" pitchFamily="18" charset="0"/>
                <a:ea typeface="楷体_GB2312" pitchFamily="49" charset="-122"/>
                <a:cs typeface="Times New Roman" panose="02020603050405020304" pitchFamily="18" charset="0"/>
              </a:rPr>
              <a:t>Linux</a:t>
            </a:r>
            <a:r>
              <a:rPr lang="zh-CN" altLang="en-US" kern="0">
                <a:latin typeface="Times New Roman" panose="02020603050405020304" pitchFamily="18" charset="0"/>
                <a:ea typeface="楷体_GB2312" pitchFamily="49" charset="-122"/>
                <a:cs typeface="Times New Roman" panose="02020603050405020304" pitchFamily="18" charset="0"/>
              </a:rPr>
              <a:t>线程创建与实现机制</a:t>
            </a:r>
            <a:endParaRPr lang="zh-CN" altLang="en-US" kern="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sz="2000" kern="0">
                <a:latin typeface="Times New Roman" panose="02020603050405020304" pitchFamily="18" charset="0"/>
                <a:ea typeface="楷体_GB2312" pitchFamily="49" charset="-122"/>
                <a:cs typeface="Times New Roman" panose="02020603050405020304" pitchFamily="18" charset="0"/>
              </a:rPr>
              <a:t>Linux</a:t>
            </a:r>
            <a:r>
              <a:rPr lang="zh-CN" altLang="en-US" sz="2000" kern="0">
                <a:latin typeface="Times New Roman" panose="02020603050405020304" pitchFamily="18" charset="0"/>
                <a:ea typeface="楷体_GB2312" pitchFamily="49" charset="-122"/>
                <a:cs typeface="Times New Roman" panose="02020603050405020304" pitchFamily="18" charset="0"/>
              </a:rPr>
              <a:t>线程的实现机制</a:t>
            </a:r>
            <a:endParaRPr lang="en-US" altLang="zh-CN" sz="2000" kern="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sz="2000" kern="0">
                <a:latin typeface="Times New Roman" panose="02020603050405020304" pitchFamily="18" charset="0"/>
                <a:ea typeface="楷体_GB2312" pitchFamily="49" charset="-122"/>
                <a:cs typeface="Times New Roman" panose="02020603050405020304" pitchFamily="18" charset="0"/>
              </a:rPr>
              <a:t>Linux</a:t>
            </a:r>
            <a:r>
              <a:rPr lang="zh-CN" altLang="en-US" sz="2000" kern="0">
                <a:latin typeface="Times New Roman" panose="02020603050405020304" pitchFamily="18" charset="0"/>
                <a:ea typeface="楷体_GB2312" pitchFamily="49" charset="-122"/>
                <a:cs typeface="Times New Roman" panose="02020603050405020304" pitchFamily="18" charset="0"/>
              </a:rPr>
              <a:t>用户线程</a:t>
            </a:r>
            <a:r>
              <a:rPr lang="en-US" altLang="zh-CN" sz="2000" kern="0">
                <a:latin typeface="Times New Roman" panose="02020603050405020304" pitchFamily="18" charset="0"/>
                <a:ea typeface="楷体_GB2312" pitchFamily="49" charset="-122"/>
                <a:cs typeface="Times New Roman" panose="02020603050405020304" pitchFamily="18" charset="0"/>
              </a:rPr>
              <a:t>/</a:t>
            </a:r>
            <a:r>
              <a:rPr lang="zh-CN" altLang="en-US" sz="2000" kern="0">
                <a:latin typeface="Times New Roman" panose="02020603050405020304" pitchFamily="18" charset="0"/>
                <a:ea typeface="楷体_GB2312" pitchFamily="49" charset="-122"/>
                <a:cs typeface="Times New Roman" panose="02020603050405020304" pitchFamily="18" charset="0"/>
              </a:rPr>
              <a:t>内核线程的创建方法</a:t>
            </a:r>
            <a:endParaRPr lang="en-US" altLang="zh-CN" sz="2000" kern="0" dirty="0">
              <a:latin typeface="Times New Roman" panose="02020603050405020304" pitchFamily="18" charset="0"/>
              <a:ea typeface="楷体_GB2312" pitchFamily="49" charset="-122"/>
              <a:cs typeface="Times New Roman" panose="02020603050405020304" pitchFamily="18" charset="0"/>
            </a:endParaRPr>
          </a:p>
        </p:txBody>
      </p:sp>
      <p:sp>
        <p:nvSpPr>
          <p:cNvPr id="3" name="Rectangle 2"/>
          <p:cNvSpPr txBox="1">
            <a:spLocks noChangeArrowheads="1"/>
          </p:cNvSpPr>
          <p:nvPr/>
        </p:nvSpPr>
        <p:spPr>
          <a:xfrm>
            <a:off x="179512" y="188641"/>
            <a:ext cx="8229600" cy="648072"/>
          </a:xfrm>
          <a:prstGeom prst="rect">
            <a:avLst/>
          </a:prstGeom>
        </p:spPr>
        <p:txBody>
          <a:bodyPr/>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2pPr>
            <a:lvl3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3pPr>
            <a:lvl4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4pPr>
            <a:lvl5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5pPr>
            <a:lvl6pPr marL="4572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6pPr>
            <a:lvl7pPr marL="9144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7pPr>
            <a:lvl8pPr marL="13716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8pPr>
            <a:lvl9pPr marL="18288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9pPr>
          </a:lstStyle>
          <a:p>
            <a:pPr eaLnBrk="1" hangingPunct="1"/>
            <a:r>
              <a:rPr lang="zh-CN" altLang="en-US" sz="3600" kern="0" dirty="0">
                <a:latin typeface="Times New Roman" panose="02020603050405020304" pitchFamily="18" charset="0"/>
                <a:ea typeface="楷体_GB2312" pitchFamily="49" charset="-122"/>
                <a:cs typeface="Times New Roman" panose="02020603050405020304" pitchFamily="18" charset="0"/>
              </a:rPr>
              <a:t>本章教学目标</a:t>
            </a:r>
            <a:endParaRPr lang="zh-CN" altLang="en-US" sz="2400" kern="0"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buFont typeface="Wingdings" panose="05000000000000000000" pitchFamily="2" charset="2"/>
              <a:buNone/>
            </a:pPr>
            <a:r>
              <a:rPr lang="en-US" altLang="zh-CN" dirty="0">
                <a:latin typeface="Times New Roman" panose="02020603050405020304" pitchFamily="18" charset="0"/>
                <a:ea typeface="楷体_GB2312" pitchFamily="49" charset="-122"/>
                <a:cs typeface="Times New Roman" panose="02020603050405020304" pitchFamily="18" charset="0"/>
              </a:rPr>
              <a:t>2.0 </a:t>
            </a:r>
            <a:r>
              <a:rPr lang="zh-CN" altLang="en-US" dirty="0">
                <a:latin typeface="Times New Roman" panose="02020603050405020304" pitchFamily="18" charset="0"/>
                <a:ea typeface="楷体_GB2312" pitchFamily="49" charset="-122"/>
                <a:cs typeface="Times New Roman" panose="02020603050405020304" pitchFamily="18" charset="0"/>
              </a:rPr>
              <a:t> 进程与线程知识回顾</a:t>
            </a:r>
            <a:endParaRPr lang="en-US" altLang="zh-CN" dirty="0">
              <a:latin typeface="Times New Roman" panose="02020603050405020304" pitchFamily="18" charset="0"/>
              <a:ea typeface="楷体_GB2312" pitchFamily="49" charset="-122"/>
              <a:cs typeface="Times New Roman" panose="02020603050405020304" pitchFamily="18" charset="0"/>
            </a:endParaRPr>
          </a:p>
        </p:txBody>
      </p:sp>
      <p:sp>
        <p:nvSpPr>
          <p:cNvPr id="6147" name="Rectangle 3"/>
          <p:cNvSpPr>
            <a:spLocks noGrp="1" noChangeArrowheads="1"/>
          </p:cNvSpPr>
          <p:nvPr>
            <p:ph type="body" idx="1"/>
          </p:nvPr>
        </p:nvSpPr>
        <p:spPr>
          <a:xfrm>
            <a:off x="431800" y="1484313"/>
            <a:ext cx="8229600" cy="4530725"/>
          </a:xfrm>
        </p:spPr>
        <p:txBody>
          <a:bodyPr/>
          <a:lstStyle/>
          <a:p>
            <a:pPr eaLnBrk="1" hangingPunct="1">
              <a:buFont typeface="Arial" panose="020B0604020202020204" pitchFamily="34" charset="0"/>
              <a:buChar char="•"/>
            </a:pPr>
            <a:r>
              <a:rPr lang="en-US" altLang="zh-CN" sz="3000" dirty="0">
                <a:latin typeface="Times New Roman" panose="02020603050405020304" pitchFamily="18" charset="0"/>
                <a:ea typeface="楷体_GB2312" pitchFamily="49" charset="-122"/>
                <a:cs typeface="Times New Roman" panose="02020603050405020304" pitchFamily="18" charset="0"/>
              </a:rPr>
              <a:t>Linux</a:t>
            </a:r>
            <a:r>
              <a:rPr lang="zh-CN" altLang="en-US" sz="3000" dirty="0">
                <a:latin typeface="Times New Roman" panose="02020603050405020304" pitchFamily="18" charset="0"/>
                <a:ea typeface="楷体_GB2312" pitchFamily="49" charset="-122"/>
                <a:cs typeface="Times New Roman" panose="02020603050405020304" pitchFamily="18" charset="0"/>
              </a:rPr>
              <a:t>是多任务、多用户操作系统，一个任务</a:t>
            </a:r>
            <a:r>
              <a:rPr lang="en-US" altLang="zh-CN" sz="3000" dirty="0">
                <a:latin typeface="Times New Roman" panose="02020603050405020304" pitchFamily="18" charset="0"/>
                <a:ea typeface="楷体_GB2312" pitchFamily="49" charset="-122"/>
                <a:cs typeface="Times New Roman" panose="02020603050405020304" pitchFamily="18" charset="0"/>
              </a:rPr>
              <a:t>(Task)</a:t>
            </a:r>
            <a:r>
              <a:rPr lang="zh-CN" altLang="en-US" sz="3000" dirty="0">
                <a:latin typeface="Times New Roman" panose="02020603050405020304" pitchFamily="18" charset="0"/>
                <a:ea typeface="楷体_GB2312" pitchFamily="49" charset="-122"/>
                <a:cs typeface="Times New Roman" panose="02020603050405020304" pitchFamily="18" charset="0"/>
              </a:rPr>
              <a:t>就是一个进程</a:t>
            </a:r>
            <a:r>
              <a:rPr lang="en-US" altLang="zh-CN" sz="3000" dirty="0">
                <a:latin typeface="Times New Roman" panose="02020603050405020304" pitchFamily="18" charset="0"/>
                <a:ea typeface="楷体_GB2312" pitchFamily="49" charset="-122"/>
                <a:cs typeface="Times New Roman" panose="02020603050405020304" pitchFamily="18" charset="0"/>
              </a:rPr>
              <a:t>(Process)</a:t>
            </a:r>
            <a:r>
              <a:rPr lang="zh-CN" altLang="en-US" sz="3000" dirty="0">
                <a:latin typeface="Times New Roman" panose="02020603050405020304" pitchFamily="18" charset="0"/>
                <a:ea typeface="楷体_GB2312" pitchFamily="49" charset="-122"/>
                <a:cs typeface="Times New Roman" panose="02020603050405020304" pitchFamily="18" charset="0"/>
              </a:rPr>
              <a:t>。</a:t>
            </a:r>
            <a:endParaRPr lang="zh-CN" altLang="en-US" sz="30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sz="3000" dirty="0">
                <a:latin typeface="Times New Roman" panose="02020603050405020304" pitchFamily="18" charset="0"/>
                <a:ea typeface="楷体_GB2312" pitchFamily="49" charset="-122"/>
                <a:cs typeface="Times New Roman" panose="02020603050405020304" pitchFamily="18" charset="0"/>
              </a:rPr>
              <a:t>每一个进程都具有一定的功能和权限，它们都运行在各自独立的虚拟地址空间。</a:t>
            </a:r>
            <a:endParaRPr lang="zh-CN" altLang="en-US" sz="30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sz="3000" dirty="0">
                <a:solidFill>
                  <a:srgbClr val="FF0000"/>
                </a:solidFill>
                <a:latin typeface="Times New Roman" panose="02020603050405020304" pitchFamily="18" charset="0"/>
                <a:ea typeface="楷体_GB2312" pitchFamily="49" charset="-122"/>
                <a:cs typeface="Times New Roman" panose="02020603050405020304" pitchFamily="18" charset="0"/>
              </a:rPr>
              <a:t>在</a:t>
            </a:r>
            <a:r>
              <a:rPr lang="en-US" altLang="zh-CN" sz="3000" dirty="0">
                <a:solidFill>
                  <a:srgbClr val="FF0000"/>
                </a:solidFill>
                <a:latin typeface="Times New Roman" panose="02020603050405020304" pitchFamily="18" charset="0"/>
                <a:ea typeface="楷体_GB2312" pitchFamily="49" charset="-122"/>
                <a:cs typeface="Times New Roman" panose="02020603050405020304" pitchFamily="18" charset="0"/>
              </a:rPr>
              <a:t>Linux</a:t>
            </a:r>
            <a:r>
              <a:rPr lang="zh-CN" altLang="en-US" sz="3000" dirty="0">
                <a:solidFill>
                  <a:srgbClr val="FF0000"/>
                </a:solidFill>
                <a:latin typeface="Times New Roman" panose="02020603050405020304" pitchFamily="18" charset="0"/>
                <a:ea typeface="楷体_GB2312" pitchFamily="49" charset="-122"/>
                <a:cs typeface="Times New Roman" panose="02020603050405020304" pitchFamily="18" charset="0"/>
              </a:rPr>
              <a:t>中，进程是系统资源分配的基本单位，也是</a:t>
            </a:r>
            <a:r>
              <a:rPr lang="en-US" altLang="zh-CN" sz="3000" dirty="0">
                <a:solidFill>
                  <a:srgbClr val="FF0000"/>
                </a:solidFill>
                <a:latin typeface="Times New Roman" panose="02020603050405020304" pitchFamily="18" charset="0"/>
                <a:ea typeface="楷体_GB2312" pitchFamily="49" charset="-122"/>
                <a:cs typeface="Times New Roman" panose="02020603050405020304" pitchFamily="18" charset="0"/>
              </a:rPr>
              <a:t>CPU</a:t>
            </a:r>
            <a:r>
              <a:rPr lang="zh-CN" altLang="en-US" sz="3000" dirty="0">
                <a:solidFill>
                  <a:srgbClr val="FF0000"/>
                </a:solidFill>
                <a:latin typeface="Times New Roman" panose="02020603050405020304" pitchFamily="18" charset="0"/>
                <a:ea typeface="楷体_GB2312" pitchFamily="49" charset="-122"/>
                <a:cs typeface="Times New Roman" panose="02020603050405020304" pitchFamily="18" charset="0"/>
              </a:rPr>
              <a:t>的基本调度单位。</a:t>
            </a:r>
            <a:endParaRPr lang="zh-CN" altLang="en-US" sz="3000" dirty="0">
              <a:solidFill>
                <a:srgbClr val="FF0000"/>
              </a:solidFill>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sz="3000" dirty="0">
                <a:latin typeface="Times New Roman" panose="02020603050405020304" pitchFamily="18" charset="0"/>
                <a:ea typeface="楷体_GB2312" pitchFamily="49" charset="-122"/>
                <a:cs typeface="Times New Roman" panose="02020603050405020304" pitchFamily="18" charset="0"/>
              </a:rPr>
              <a:t>进程在</a:t>
            </a:r>
            <a:r>
              <a:rPr lang="en-US" altLang="zh-CN" sz="3000" dirty="0">
                <a:latin typeface="Times New Roman" panose="02020603050405020304" pitchFamily="18" charset="0"/>
                <a:ea typeface="楷体_GB2312" pitchFamily="49" charset="-122"/>
                <a:cs typeface="Times New Roman" panose="02020603050405020304" pitchFamily="18" charset="0"/>
              </a:rPr>
              <a:t>OS</a:t>
            </a:r>
            <a:r>
              <a:rPr lang="zh-CN" altLang="en-US" sz="3000" dirty="0">
                <a:latin typeface="Times New Roman" panose="02020603050405020304" pitchFamily="18" charset="0"/>
                <a:ea typeface="楷体_GB2312" pitchFamily="49" charset="-122"/>
                <a:cs typeface="Times New Roman" panose="02020603050405020304" pitchFamily="18" charset="0"/>
              </a:rPr>
              <a:t>内用</a:t>
            </a:r>
            <a:r>
              <a:rPr lang="en-US" altLang="zh-CN" sz="3000" dirty="0">
                <a:latin typeface="Times New Roman" panose="02020603050405020304" pitchFamily="18" charset="0"/>
                <a:ea typeface="楷体_GB2312" pitchFamily="49" charset="-122"/>
                <a:cs typeface="Times New Roman" panose="02020603050405020304" pitchFamily="18" charset="0"/>
              </a:rPr>
              <a:t>PCB</a:t>
            </a:r>
            <a:r>
              <a:rPr lang="zh-CN" altLang="en-US" sz="3000" dirty="0">
                <a:latin typeface="Times New Roman" panose="02020603050405020304" pitchFamily="18" charset="0"/>
                <a:ea typeface="楷体_GB2312" pitchFamily="49" charset="-122"/>
                <a:cs typeface="Times New Roman" panose="02020603050405020304" pitchFamily="18" charset="0"/>
              </a:rPr>
              <a:t>表示（</a:t>
            </a:r>
            <a:r>
              <a:rPr lang="en-US" altLang="zh-CN" sz="3000" dirty="0">
                <a:latin typeface="Times New Roman" panose="02020603050405020304" pitchFamily="18" charset="0"/>
                <a:ea typeface="楷体_GB2312" pitchFamily="49" charset="-122"/>
                <a:cs typeface="Times New Roman" panose="02020603050405020304" pitchFamily="18" charset="0"/>
              </a:rPr>
              <a:t>Process Control Block) </a:t>
            </a:r>
            <a:r>
              <a:rPr lang="zh-CN" altLang="en-US" sz="3000" dirty="0">
                <a:latin typeface="Times New Roman" panose="02020603050405020304" pitchFamily="18" charset="0"/>
                <a:ea typeface="楷体_GB2312" pitchFamily="49" charset="-122"/>
                <a:cs typeface="Times New Roman" panose="02020603050405020304" pitchFamily="18" charset="0"/>
              </a:rPr>
              <a:t>，</a:t>
            </a:r>
            <a:r>
              <a:rPr lang="en-US" altLang="zh-CN" sz="3000" dirty="0">
                <a:latin typeface="Times New Roman" panose="02020603050405020304" pitchFamily="18" charset="0"/>
                <a:ea typeface="楷体_GB2312" pitchFamily="49" charset="-122"/>
                <a:cs typeface="Times New Roman" panose="02020603050405020304" pitchFamily="18" charset="0"/>
              </a:rPr>
              <a:t>PCB</a:t>
            </a:r>
            <a:r>
              <a:rPr lang="zh-CN" altLang="en-US" sz="3000" dirty="0">
                <a:latin typeface="Times New Roman" panose="02020603050405020304" pitchFamily="18" charset="0"/>
                <a:ea typeface="楷体_GB2312" pitchFamily="49" charset="-122"/>
                <a:cs typeface="Times New Roman" panose="02020603050405020304" pitchFamily="18" charset="0"/>
              </a:rPr>
              <a:t>是进程的属性之一。 </a:t>
            </a:r>
            <a:endParaRPr lang="zh-CN" altLang="en-US" sz="3000"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4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14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lvl1pPr>
              <a:defRPr sz="2400">
                <a:solidFill>
                  <a:schemeClr val="tx1"/>
                </a:solidFill>
                <a:latin typeface="Times New Roman" panose="02020603050405020304" pitchFamily="18" charset="0"/>
                <a:ea typeface="新宋体" panose="02010609030101010101" pitchFamily="49" charset="-122"/>
              </a:defRPr>
            </a:lvl1pPr>
            <a:lvl2pPr marL="742950" indent="-285750">
              <a:defRPr sz="2400">
                <a:solidFill>
                  <a:schemeClr val="tx1"/>
                </a:solidFill>
                <a:latin typeface="Times New Roman" panose="02020603050405020304" pitchFamily="18" charset="0"/>
                <a:ea typeface="新宋体" panose="02010609030101010101" pitchFamily="49" charset="-122"/>
              </a:defRPr>
            </a:lvl2pPr>
            <a:lvl3pPr marL="1143000" indent="-228600">
              <a:defRPr sz="2400">
                <a:solidFill>
                  <a:schemeClr val="tx1"/>
                </a:solidFill>
                <a:latin typeface="Times New Roman" panose="02020603050405020304" pitchFamily="18" charset="0"/>
                <a:ea typeface="新宋体" panose="02010609030101010101" pitchFamily="49" charset="-122"/>
              </a:defRPr>
            </a:lvl3pPr>
            <a:lvl4pPr marL="1600200" indent="-228600">
              <a:defRPr sz="2400">
                <a:solidFill>
                  <a:schemeClr val="tx1"/>
                </a:solidFill>
                <a:latin typeface="Times New Roman" panose="02020603050405020304" pitchFamily="18" charset="0"/>
                <a:ea typeface="新宋体" panose="02010609030101010101" pitchFamily="49" charset="-122"/>
              </a:defRPr>
            </a:lvl4pPr>
            <a:lvl5pPr marL="2057400" indent="-228600">
              <a:defRPr sz="2400">
                <a:solidFill>
                  <a:schemeClr val="tx1"/>
                </a:solidFill>
                <a:latin typeface="Times New Roman" panose="02020603050405020304" pitchFamily="18" charset="0"/>
                <a:ea typeface="新宋体" panose="02010609030101010101"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9pPr>
          </a:lstStyle>
          <a:p>
            <a:pPr>
              <a:defRPr/>
            </a:pPr>
            <a:fld id="{7AB04778-9DDE-4274-9FDE-CC3E7449DA19}" type="slidenum">
              <a:rPr lang="en-US" altLang="zh-CN" sz="1200" smtClean="0">
                <a:latin typeface="Verdana" panose="020B0604030504040204" pitchFamily="34" charset="0"/>
                <a:ea typeface="Gulim" panose="020B0600000101010101" pitchFamily="34" charset="-127"/>
              </a:rPr>
            </a:fld>
            <a:endParaRPr lang="en-US" altLang="zh-CN" sz="1200">
              <a:latin typeface="Verdana" panose="020B0604030504040204" pitchFamily="34" charset="0"/>
              <a:ea typeface="Gulim" panose="020B0600000101010101" pitchFamily="34" charset="-127"/>
            </a:endParaRPr>
          </a:p>
        </p:txBody>
      </p:sp>
      <p:sp>
        <p:nvSpPr>
          <p:cNvPr id="8195" name="Rectangle 2"/>
          <p:cNvSpPr>
            <a:spLocks noGrp="1" noChangeArrowheads="1"/>
          </p:cNvSpPr>
          <p:nvPr>
            <p:ph type="title"/>
          </p:nvPr>
        </p:nvSpPr>
        <p:spPr/>
        <p:txBody>
          <a:bodyPr/>
          <a:lstStyle/>
          <a:p>
            <a:pPr eaLnBrk="1" hangingPunct="1">
              <a:buFont typeface="Wingdings" panose="05000000000000000000" pitchFamily="2" charset="2"/>
              <a:buNone/>
            </a:pPr>
            <a:r>
              <a:rPr lang="en-US" altLang="zh-CN" dirty="0">
                <a:latin typeface="Times New Roman" panose="02020603050405020304" pitchFamily="18" charset="0"/>
                <a:ea typeface="楷体_GB2312" pitchFamily="49" charset="-122"/>
                <a:cs typeface="Times New Roman" panose="02020603050405020304" pitchFamily="18" charset="0"/>
              </a:rPr>
              <a:t>2.0 </a:t>
            </a:r>
            <a:r>
              <a:rPr lang="zh-CN" altLang="en-US" dirty="0">
                <a:latin typeface="Times New Roman" panose="02020603050405020304" pitchFamily="18" charset="0"/>
                <a:ea typeface="楷体_GB2312" pitchFamily="49" charset="-122"/>
                <a:cs typeface="Times New Roman" panose="02020603050405020304" pitchFamily="18" charset="0"/>
              </a:rPr>
              <a:t> 进程与线程知识回顾</a:t>
            </a:r>
            <a:endParaRPr lang="en-US" altLang="zh-CN" dirty="0">
              <a:latin typeface="Times New Roman" panose="02020603050405020304" pitchFamily="18" charset="0"/>
              <a:ea typeface="楷体_GB2312" pitchFamily="49" charset="-122"/>
              <a:cs typeface="Times New Roman" panose="02020603050405020304" pitchFamily="18" charset="0"/>
            </a:endParaRPr>
          </a:p>
        </p:txBody>
      </p:sp>
      <p:sp>
        <p:nvSpPr>
          <p:cNvPr id="8196" name="Rectangle 3"/>
          <p:cNvSpPr>
            <a:spLocks noGrp="1" noChangeArrowheads="1"/>
          </p:cNvSpPr>
          <p:nvPr>
            <p:ph type="body" idx="1"/>
          </p:nvPr>
        </p:nvSpPr>
        <p:spPr/>
        <p:txBody>
          <a:bodyPr/>
          <a:lstStyle/>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进程（</a:t>
            </a:r>
            <a:r>
              <a:rPr lang="en-US" altLang="zh-CN" dirty="0">
                <a:latin typeface="Times New Roman" panose="02020603050405020304" pitchFamily="18" charset="0"/>
                <a:ea typeface="楷体_GB2312" pitchFamily="49" charset="-122"/>
                <a:cs typeface="Times New Roman" panose="02020603050405020304" pitchFamily="18" charset="0"/>
              </a:rPr>
              <a:t>process</a:t>
            </a:r>
            <a:r>
              <a:rPr lang="zh-CN" altLang="en-US" dirty="0">
                <a:latin typeface="Times New Roman" panose="02020603050405020304" pitchFamily="18" charset="0"/>
                <a:ea typeface="楷体_GB2312" pitchFamily="49" charset="-122"/>
                <a:cs typeface="Times New Roman" panose="02020603050405020304" pitchFamily="18" charset="0"/>
              </a:rPr>
              <a:t>）</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程序</a:t>
            </a:r>
            <a:r>
              <a:rPr lang="zh-CN" altLang="en-US" dirty="0">
                <a:solidFill>
                  <a:schemeClr val="tx2"/>
                </a:solidFill>
                <a:latin typeface="Times New Roman" panose="02020603050405020304" pitchFamily="18" charset="0"/>
                <a:ea typeface="楷体_GB2312" pitchFamily="49" charset="-122"/>
                <a:cs typeface="Times New Roman" panose="02020603050405020304" pitchFamily="18" charset="0"/>
              </a:rPr>
              <a:t>的一次执行及其</a:t>
            </a:r>
            <a:r>
              <a:rPr lang="zh-CN" altLang="en-US" dirty="0">
                <a:latin typeface="Times New Roman" panose="02020603050405020304" pitchFamily="18" charset="0"/>
                <a:ea typeface="楷体_GB2312" pitchFamily="49" charset="-122"/>
                <a:cs typeface="Times New Roman" panose="02020603050405020304" pitchFamily="18" charset="0"/>
              </a:rPr>
              <a:t>所包含</a:t>
            </a:r>
            <a:r>
              <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资源</a:t>
            </a:r>
            <a:r>
              <a:rPr lang="zh-CN" altLang="en-US" dirty="0">
                <a:latin typeface="Times New Roman" panose="02020603050405020304" pitchFamily="18" charset="0"/>
                <a:ea typeface="楷体_GB2312" pitchFamily="49" charset="-122"/>
                <a:cs typeface="Times New Roman" panose="02020603050405020304" pitchFamily="18" charset="0"/>
              </a:rPr>
              <a:t>的总称</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2"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程序：可执行程序代码</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2"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资源：打开文件、挂起信号、地址空间、数据段等</a:t>
            </a: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线程（</a:t>
            </a:r>
            <a:r>
              <a:rPr lang="en-US" altLang="zh-CN" dirty="0">
                <a:latin typeface="Times New Roman" panose="02020603050405020304" pitchFamily="18" charset="0"/>
                <a:ea typeface="楷体_GB2312" pitchFamily="49" charset="-122"/>
                <a:cs typeface="Times New Roman" panose="02020603050405020304" pitchFamily="18" charset="0"/>
              </a:rPr>
              <a:t>thread</a:t>
            </a:r>
            <a:r>
              <a:rPr lang="zh-CN" altLang="en-US" dirty="0">
                <a:latin typeface="Times New Roman" panose="02020603050405020304" pitchFamily="18" charset="0"/>
                <a:ea typeface="楷体_GB2312" pitchFamily="49" charset="-122"/>
                <a:cs typeface="Times New Roman" panose="02020603050405020304" pitchFamily="18" charset="0"/>
              </a:rPr>
              <a:t>）</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进程中活动的对象</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2"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有独立的程序计数器、进程栈及一组进程寄存器</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pic>
        <p:nvPicPr>
          <p:cNvPr id="8197" name="Picture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00250" y="4521200"/>
            <a:ext cx="5286375" cy="233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9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196">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196">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196">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196">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196">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19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6"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buFont typeface="Wingdings" panose="05000000000000000000" pitchFamily="2" charset="2"/>
              <a:buNone/>
            </a:pPr>
            <a:r>
              <a:rPr lang="en-US" altLang="zh-CN" dirty="0">
                <a:latin typeface="Times New Roman" panose="02020603050405020304" pitchFamily="18" charset="0"/>
                <a:ea typeface="楷体_GB2312" pitchFamily="49" charset="-122"/>
                <a:cs typeface="Times New Roman" panose="02020603050405020304" pitchFamily="18" charset="0"/>
              </a:rPr>
              <a:t>2.0 </a:t>
            </a:r>
            <a:r>
              <a:rPr lang="zh-CN" altLang="en-US" dirty="0">
                <a:latin typeface="Times New Roman" panose="02020603050405020304" pitchFamily="18" charset="0"/>
                <a:ea typeface="楷体_GB2312" pitchFamily="49" charset="-122"/>
                <a:cs typeface="Times New Roman" panose="02020603050405020304" pitchFamily="18" charset="0"/>
              </a:rPr>
              <a:t> 进程与线程知识回顾</a:t>
            </a:r>
            <a:endParaRPr lang="en-US" altLang="zh-CN" dirty="0">
              <a:latin typeface="Times New Roman" panose="02020603050405020304" pitchFamily="18" charset="0"/>
              <a:ea typeface="楷体_GB2312" pitchFamily="49" charset="-122"/>
              <a:cs typeface="Times New Roman" panose="02020603050405020304" pitchFamily="18" charset="0"/>
            </a:endParaRPr>
          </a:p>
        </p:txBody>
      </p:sp>
      <p:sp>
        <p:nvSpPr>
          <p:cNvPr id="9219" name="Rectangle 3"/>
          <p:cNvSpPr>
            <a:spLocks noGrp="1" noChangeArrowheads="1"/>
          </p:cNvSpPr>
          <p:nvPr>
            <p:ph type="body" idx="1"/>
          </p:nvPr>
        </p:nvSpPr>
        <p:spPr/>
        <p:txBody>
          <a:bodyPr/>
          <a:lstStyle/>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从形态角度</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一个进程可包含一个或多个线程</a:t>
            </a: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从调度角度</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进程是</a:t>
            </a:r>
            <a:r>
              <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资源分配</a:t>
            </a:r>
            <a:r>
              <a:rPr lang="zh-CN" altLang="en-US" dirty="0">
                <a:latin typeface="Times New Roman" panose="02020603050405020304" pitchFamily="18" charset="0"/>
                <a:ea typeface="楷体_GB2312" pitchFamily="49" charset="-122"/>
                <a:cs typeface="Times New Roman" panose="02020603050405020304" pitchFamily="18" charset="0"/>
              </a:rPr>
              <a:t>的基本单位</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线程是</a:t>
            </a:r>
            <a:r>
              <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处理器调度</a:t>
            </a:r>
            <a:r>
              <a:rPr lang="zh-CN" altLang="en-US" dirty="0">
                <a:latin typeface="Times New Roman" panose="02020603050405020304" pitchFamily="18" charset="0"/>
                <a:ea typeface="楷体_GB2312" pitchFamily="49" charset="-122"/>
                <a:cs typeface="Times New Roman" panose="02020603050405020304" pitchFamily="18" charset="0"/>
              </a:rPr>
              <a:t>的独立单位</a:t>
            </a: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从虚拟化角度</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进程提供两种虚拟机制</a:t>
            </a:r>
            <a:endPar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endParaRPr>
          </a:p>
          <a:p>
            <a:pPr lvl="2"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虚拟处理器：进程独享处理器的假象</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2"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虚拟内存：进程拥有系统内所有内存资源的假象</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线程之间可共享虚拟内存，但各自拥有独立虚拟处理器</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ransition>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21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219">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219">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219">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219">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219">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219">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219">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21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buFont typeface="Wingdings" panose="05000000000000000000" pitchFamily="2" charset="2"/>
              <a:buNone/>
            </a:pPr>
            <a:r>
              <a:rPr lang="en-US" altLang="zh-CN" dirty="0">
                <a:latin typeface="Times New Roman" panose="02020603050405020304" pitchFamily="18" charset="0"/>
                <a:ea typeface="楷体_GB2312" pitchFamily="49" charset="-122"/>
                <a:cs typeface="Times New Roman" panose="02020603050405020304" pitchFamily="18" charset="0"/>
              </a:rPr>
              <a:t>2.0 </a:t>
            </a:r>
            <a:r>
              <a:rPr lang="zh-CN" altLang="en-US" dirty="0">
                <a:latin typeface="Times New Roman" panose="02020603050405020304" pitchFamily="18" charset="0"/>
                <a:ea typeface="楷体_GB2312" pitchFamily="49" charset="-122"/>
                <a:cs typeface="Times New Roman" panose="02020603050405020304" pitchFamily="18" charset="0"/>
              </a:rPr>
              <a:t> 进程与线程知识回顾</a:t>
            </a:r>
            <a:endParaRPr lang="en-US" altLang="zh-CN" dirty="0">
              <a:latin typeface="Times New Roman" panose="02020603050405020304" pitchFamily="18" charset="0"/>
              <a:ea typeface="楷体_GB2312" pitchFamily="49" charset="-122"/>
              <a:cs typeface="Times New Roman" panose="02020603050405020304" pitchFamily="18" charset="0"/>
            </a:endParaRPr>
          </a:p>
        </p:txBody>
      </p:sp>
      <p:sp>
        <p:nvSpPr>
          <p:cNvPr id="11267" name="Rectangle 3"/>
          <p:cNvSpPr>
            <a:spLocks noGrp="1" noChangeArrowheads="1"/>
          </p:cNvSpPr>
          <p:nvPr>
            <p:ph type="body" idx="1"/>
          </p:nvPr>
        </p:nvSpPr>
        <p:spPr>
          <a:xfrm>
            <a:off x="179388" y="1052513"/>
            <a:ext cx="8569325" cy="5272087"/>
          </a:xfrm>
        </p:spPr>
        <p:txBody>
          <a:bodyPr/>
          <a:lstStyle/>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正文段</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 存放进程运行的代码，描述进程需完成的功能</a:t>
            </a: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进程数据段</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存放正文段在执行期间所需的数据和工作区</a:t>
            </a:r>
            <a:endParaRPr lang="en-US" altLang="zh-CN" dirty="0">
              <a:latin typeface="Times New Roman" panose="02020603050405020304" pitchFamily="18" charset="0"/>
              <a:ea typeface="楷体_GB2312" pitchFamily="49" charset="-122"/>
              <a:cs typeface="Times New Roman" panose="02020603050405020304" pitchFamily="18" charset="0"/>
            </a:endParaRPr>
          </a:p>
          <a:p>
            <a:pPr lvl="2" eaLnBrk="1" hangingPunct="1">
              <a:buFont typeface="Arial" panose="020B0604020202020204" pitchFamily="34" charset="0"/>
              <a:buChar char="•"/>
            </a:pPr>
            <a:r>
              <a:rPr lang="zh-CN" altLang="en-US" sz="2600" b="1" dirty="0">
                <a:solidFill>
                  <a:srgbClr val="008080"/>
                </a:solidFill>
                <a:latin typeface="Times New Roman" panose="02020603050405020304" pitchFamily="18" charset="0"/>
                <a:ea typeface="楷体_GB2312" pitchFamily="49" charset="-122"/>
                <a:cs typeface="Times New Roman" panose="02020603050405020304" pitchFamily="18" charset="0"/>
              </a:rPr>
              <a:t>包括全局变量、动态分配的空间（调用</a:t>
            </a:r>
            <a:r>
              <a:rPr lang="en-US" altLang="zh-CN" sz="2600" b="1" dirty="0" err="1">
                <a:solidFill>
                  <a:srgbClr val="008080"/>
                </a:solidFill>
                <a:latin typeface="Times New Roman" panose="02020603050405020304" pitchFamily="18" charset="0"/>
                <a:ea typeface="楷体_GB2312" pitchFamily="49" charset="-122"/>
                <a:cs typeface="Times New Roman" panose="02020603050405020304" pitchFamily="18" charset="0"/>
              </a:rPr>
              <a:t>malloc</a:t>
            </a:r>
            <a:r>
              <a:rPr lang="zh-CN" altLang="en-US" sz="2600" b="1" dirty="0">
                <a:solidFill>
                  <a:srgbClr val="008080"/>
                </a:solidFill>
                <a:latin typeface="Times New Roman" panose="02020603050405020304" pitchFamily="18" charset="0"/>
                <a:ea typeface="楷体_GB2312" pitchFamily="49" charset="-122"/>
                <a:cs typeface="Times New Roman" panose="02020603050405020304" pitchFamily="18" charset="0"/>
              </a:rPr>
              <a:t>函数）</a:t>
            </a:r>
            <a:endParaRPr lang="en-US" altLang="zh-CN" sz="2600" b="1" dirty="0">
              <a:solidFill>
                <a:srgbClr val="008080"/>
              </a:solidFill>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用户栈也在该数据段开辟，存放函数调用时的栈帧、局部变量等</a:t>
            </a: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系统堆栈</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每个进程捆绑一个，进程在内核态下工作时使用</a:t>
            </a:r>
            <a:endParaRPr lang="en-US" altLang="zh-CN"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保存中断现场、执行函数调用时的参数和返回地址等</a:t>
            </a:r>
            <a:endParaRPr lang="en-US" altLang="zh-CN"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其中最重要的数据结构是</a:t>
            </a:r>
            <a:r>
              <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进程控制块</a:t>
            </a:r>
            <a:endPar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ransition>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6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26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26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267">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267">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267">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267">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267">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26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楷体_GB2312" pitchFamily="49" charset="-122"/>
                <a:cs typeface="Times New Roman" panose="02020603050405020304" pitchFamily="18" charset="0"/>
              </a:rPr>
              <a:t>2.1 </a:t>
            </a:r>
            <a:r>
              <a:rPr lang="zh-CN" altLang="en-US" dirty="0">
                <a:latin typeface="Times New Roman" panose="02020603050405020304" pitchFamily="18" charset="0"/>
                <a:ea typeface="楷体_GB2312" pitchFamily="49" charset="-122"/>
                <a:cs typeface="Times New Roman" panose="02020603050405020304" pitchFamily="18" charset="0"/>
              </a:rPr>
              <a:t> </a:t>
            </a:r>
            <a:r>
              <a:rPr lang="en-US" altLang="zh-CN" dirty="0">
                <a:latin typeface="Times New Roman" panose="02020603050405020304" pitchFamily="18" charset="0"/>
                <a:ea typeface="楷体_GB2312" pitchFamily="49" charset="-122"/>
                <a:cs typeface="Times New Roman" panose="02020603050405020304" pitchFamily="18" charset="0"/>
              </a:rPr>
              <a:t>Linux</a:t>
            </a:r>
            <a:r>
              <a:rPr lang="zh-CN" altLang="en-US" dirty="0">
                <a:latin typeface="Times New Roman" panose="02020603050405020304" pitchFamily="18" charset="0"/>
                <a:ea typeface="楷体_GB2312" pitchFamily="49" charset="-122"/>
                <a:cs typeface="Times New Roman" panose="02020603050405020304" pitchFamily="18" charset="0"/>
              </a:rPr>
              <a:t>进程描述</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
        <p:nvSpPr>
          <p:cNvPr id="12291" name="Rectangle 3"/>
          <p:cNvSpPr>
            <a:spLocks noGrp="1" noChangeArrowheads="1"/>
          </p:cNvSpPr>
          <p:nvPr>
            <p:ph type="body" idx="1"/>
          </p:nvPr>
        </p:nvSpPr>
        <p:spPr>
          <a:xfrm>
            <a:off x="395288" y="908050"/>
            <a:ext cx="8291512" cy="5416550"/>
          </a:xfrm>
        </p:spPr>
        <p:txBody>
          <a:bodyPr/>
          <a:lstStyle/>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内核必须对每个进程进行清晰的描述。</a:t>
            </a:r>
            <a:r>
              <a:rPr lang="en-US" altLang="zh-CN" sz="3200" dirty="0">
                <a:latin typeface="Times New Roman" panose="02020603050405020304" pitchFamily="18" charset="0"/>
                <a:ea typeface="楷体_GB2312" pitchFamily="49" charset="-122"/>
                <a:cs typeface="Times New Roman" panose="02020603050405020304" pitchFamily="18" charset="0"/>
              </a:rPr>
              <a:t>Linux </a:t>
            </a:r>
            <a:r>
              <a:rPr lang="zh-CN" altLang="en-US" dirty="0">
                <a:latin typeface="Times New Roman" panose="02020603050405020304" pitchFamily="18" charset="0"/>
                <a:ea typeface="楷体_GB2312" pitchFamily="49" charset="-122"/>
                <a:cs typeface="Times New Roman" panose="02020603050405020304" pitchFamily="18" charset="0"/>
              </a:rPr>
              <a:t>内核利用数据结构  </a:t>
            </a:r>
            <a:r>
              <a:rPr lang="en-US" altLang="zh-CN" dirty="0" err="1">
                <a:solidFill>
                  <a:srgbClr val="981D14"/>
                </a:solidFill>
                <a:latin typeface="Times New Roman" panose="02020603050405020304" pitchFamily="18" charset="0"/>
                <a:ea typeface="楷体_GB2312" pitchFamily="49" charset="-122"/>
                <a:cs typeface="Times New Roman" panose="02020603050405020304" pitchFamily="18" charset="0"/>
                <a:hlinkClick r:id="rId1" action="ppaction://hlinkfile"/>
              </a:rPr>
              <a:t>task_struct</a:t>
            </a:r>
            <a:r>
              <a:rPr lang="en-US" altLang="zh-CN" dirty="0">
                <a:solidFill>
                  <a:srgbClr val="981D14"/>
                </a:solidFill>
                <a:latin typeface="Times New Roman" panose="02020603050405020304" pitchFamily="18" charset="0"/>
                <a:ea typeface="楷体_GB2312" pitchFamily="49" charset="-122"/>
                <a:cs typeface="Times New Roman" panose="02020603050405020304" pitchFamily="18" charset="0"/>
                <a:hlinkClick r:id="rId1" action="ppaction://hlinkfile"/>
              </a:rPr>
              <a:t> </a:t>
            </a:r>
            <a:r>
              <a:rPr lang="en-US" altLang="zh-CN" dirty="0">
                <a:solidFill>
                  <a:srgbClr val="981D14"/>
                </a:solidFill>
                <a:latin typeface="Times New Roman" panose="02020603050405020304" pitchFamily="18" charset="0"/>
                <a:ea typeface="楷体_GB2312" pitchFamily="49" charset="-122"/>
                <a:cs typeface="Times New Roman" panose="02020603050405020304" pitchFamily="18" charset="0"/>
              </a:rPr>
              <a:t> </a:t>
            </a:r>
            <a:r>
              <a:rPr lang="zh-CN" altLang="en-US" dirty="0">
                <a:latin typeface="Times New Roman" panose="02020603050405020304" pitchFamily="18" charset="0"/>
                <a:ea typeface="楷体_GB2312" pitchFamily="49" charset="-122"/>
                <a:cs typeface="Times New Roman" panose="02020603050405020304" pitchFamily="18" charset="0"/>
              </a:rPr>
              <a:t>来描述，它代表一个进程的</a:t>
            </a:r>
            <a:r>
              <a:rPr lang="en-US" altLang="zh-CN" dirty="0">
                <a:latin typeface="Times New Roman" panose="02020603050405020304" pitchFamily="18" charset="0"/>
                <a:ea typeface="楷体_GB2312" pitchFamily="49" charset="-122"/>
                <a:cs typeface="Times New Roman" panose="02020603050405020304" pitchFamily="18" charset="0"/>
              </a:rPr>
              <a:t>PCB</a:t>
            </a:r>
            <a:r>
              <a:rPr lang="zh-CN" altLang="en-US" dirty="0">
                <a:latin typeface="Times New Roman" panose="02020603050405020304" pitchFamily="18" charset="0"/>
                <a:ea typeface="楷体_GB2312" pitchFamily="49" charset="-122"/>
                <a:cs typeface="Times New Roman" panose="02020603050405020304" pitchFamily="18" charset="0"/>
              </a:rPr>
              <a:t>。</a:t>
            </a: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en-US" altLang="zh-CN" dirty="0" err="1">
                <a:solidFill>
                  <a:srgbClr val="981D14"/>
                </a:solidFill>
                <a:latin typeface="Times New Roman" panose="02020603050405020304" pitchFamily="18" charset="0"/>
                <a:ea typeface="楷体_GB2312" pitchFamily="49" charset="-122"/>
                <a:cs typeface="Times New Roman" panose="02020603050405020304" pitchFamily="18" charset="0"/>
              </a:rPr>
              <a:t>task_struct</a:t>
            </a:r>
            <a:r>
              <a:rPr lang="zh-CN" altLang="en-US" dirty="0">
                <a:latin typeface="Times New Roman" panose="02020603050405020304" pitchFamily="18" charset="0"/>
                <a:ea typeface="楷体_GB2312" pitchFamily="49" charset="-122"/>
                <a:cs typeface="Times New Roman" panose="02020603050405020304" pitchFamily="18" charset="0"/>
              </a:rPr>
              <a:t>定义于</a:t>
            </a:r>
            <a:r>
              <a:rPr lang="en-US" altLang="zh-CN" dirty="0">
                <a:latin typeface="Times New Roman" panose="02020603050405020304" pitchFamily="18" charset="0"/>
                <a:ea typeface="楷体_GB2312" pitchFamily="49" charset="-122"/>
                <a:cs typeface="Times New Roman" panose="02020603050405020304" pitchFamily="18" charset="0"/>
              </a:rPr>
              <a:t>include/</a:t>
            </a:r>
            <a:r>
              <a:rPr lang="en-US" altLang="zh-CN" dirty="0" err="1">
                <a:latin typeface="Times New Roman" panose="02020603050405020304" pitchFamily="18" charset="0"/>
                <a:ea typeface="楷体_GB2312" pitchFamily="49" charset="-122"/>
                <a:cs typeface="Times New Roman" panose="02020603050405020304" pitchFamily="18" charset="0"/>
              </a:rPr>
              <a:t>linux</a:t>
            </a:r>
            <a:r>
              <a:rPr lang="en-US" altLang="zh-CN" dirty="0">
                <a:latin typeface="Times New Roman" panose="02020603050405020304" pitchFamily="18" charset="0"/>
                <a:ea typeface="楷体_GB2312" pitchFamily="49" charset="-122"/>
                <a:cs typeface="Times New Roman" panose="02020603050405020304" pitchFamily="18" charset="0"/>
                <a:hlinkClick r:id="rId2" action="ppaction://hlinkfile"/>
              </a:rPr>
              <a:t>/</a:t>
            </a:r>
            <a:r>
              <a:rPr lang="en-US" altLang="zh-CN" dirty="0" err="1">
                <a:latin typeface="Times New Roman" panose="02020603050405020304" pitchFamily="18" charset="0"/>
                <a:ea typeface="楷体_GB2312" pitchFamily="49" charset="-122"/>
                <a:cs typeface="Times New Roman" panose="02020603050405020304" pitchFamily="18" charset="0"/>
                <a:hlinkClick r:id="rId2" action="ppaction://hlinkfile"/>
              </a:rPr>
              <a:t>sched.h</a:t>
            </a:r>
            <a:r>
              <a:rPr lang="en-US" altLang="zh-CN" dirty="0">
                <a:latin typeface="Times New Roman" panose="02020603050405020304" pitchFamily="18" charset="0"/>
                <a:ea typeface="楷体_GB2312" pitchFamily="49" charset="-122"/>
                <a:cs typeface="Times New Roman" panose="02020603050405020304" pitchFamily="18" charset="0"/>
              </a:rPr>
              <a:t> </a:t>
            </a:r>
            <a:r>
              <a:rPr lang="zh-CN" altLang="en-US" dirty="0">
                <a:latin typeface="Times New Roman" panose="02020603050405020304" pitchFamily="18" charset="0"/>
                <a:ea typeface="楷体_GB2312" pitchFamily="49" charset="-122"/>
                <a:cs typeface="Times New Roman" panose="02020603050405020304" pitchFamily="18" charset="0"/>
              </a:rPr>
              <a:t>中，内核以此感知进程的存在。</a:t>
            </a: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当建立新进程的时候，</a:t>
            </a:r>
            <a:r>
              <a:rPr lang="en-US" altLang="zh-CN" dirty="0">
                <a:latin typeface="Times New Roman" panose="02020603050405020304" pitchFamily="18" charset="0"/>
                <a:ea typeface="楷体_GB2312" pitchFamily="49" charset="-122"/>
                <a:cs typeface="Times New Roman" panose="02020603050405020304" pitchFamily="18" charset="0"/>
              </a:rPr>
              <a:t>Linux </a:t>
            </a:r>
            <a:r>
              <a:rPr lang="zh-CN" altLang="en-US" dirty="0">
                <a:latin typeface="Times New Roman" panose="02020603050405020304" pitchFamily="18" charset="0"/>
                <a:ea typeface="楷体_GB2312" pitchFamily="49" charset="-122"/>
                <a:cs typeface="Times New Roman" panose="02020603050405020304" pitchFamily="18" charset="0"/>
              </a:rPr>
              <a:t>为新的进程分配一个 </a:t>
            </a:r>
            <a:r>
              <a:rPr lang="en-US" altLang="zh-CN" dirty="0" err="1">
                <a:latin typeface="Times New Roman" panose="02020603050405020304" pitchFamily="18" charset="0"/>
                <a:ea typeface="楷体_GB2312" pitchFamily="49" charset="-122"/>
                <a:cs typeface="Times New Roman" panose="02020603050405020304" pitchFamily="18" charset="0"/>
              </a:rPr>
              <a:t>task_struct</a:t>
            </a:r>
            <a:r>
              <a:rPr lang="en-US" altLang="zh-CN" dirty="0">
                <a:latin typeface="Times New Roman" panose="02020603050405020304" pitchFamily="18" charset="0"/>
                <a:ea typeface="楷体_GB2312" pitchFamily="49" charset="-122"/>
                <a:cs typeface="Times New Roman" panose="02020603050405020304" pitchFamily="18" charset="0"/>
              </a:rPr>
              <a:t> </a:t>
            </a:r>
            <a:r>
              <a:rPr lang="zh-CN" altLang="en-US" dirty="0">
                <a:latin typeface="Times New Roman" panose="02020603050405020304" pitchFamily="18" charset="0"/>
                <a:ea typeface="楷体_GB2312" pitchFamily="49" charset="-122"/>
                <a:cs typeface="Times New Roman" panose="02020603050405020304" pitchFamily="18" charset="0"/>
              </a:rPr>
              <a:t>结构。</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p:txBody>
          <a:bodyPr/>
          <a:lstStyle/>
          <a:p>
            <a:endParaRPr lang="zh-CN" altLang="en-US"/>
          </a:p>
        </p:txBody>
      </p:sp>
      <p:sp>
        <p:nvSpPr>
          <p:cNvPr id="14339" name="内容占位符 2"/>
          <p:cNvSpPr>
            <a:spLocks noGrp="1"/>
          </p:cNvSpPr>
          <p:nvPr>
            <p:ph idx="1"/>
          </p:nvPr>
        </p:nvSpPr>
        <p:spPr/>
        <p:txBody>
          <a:bodyPr/>
          <a:lstStyle/>
          <a:p>
            <a:endParaRPr lang="zh-CN" altLang="en-US"/>
          </a:p>
        </p:txBody>
      </p:sp>
      <p:pic>
        <p:nvPicPr>
          <p:cNvPr id="1434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63713" y="0"/>
            <a:ext cx="5688012" cy="6342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611188" y="188913"/>
            <a:ext cx="7632700" cy="609600"/>
          </a:xfrm>
        </p:spPr>
        <p:txBody>
          <a:bodyPr/>
          <a:lstStyle/>
          <a:p>
            <a:pPr eaLnBrk="1" hangingPunct="1"/>
            <a:r>
              <a:rPr lang="en-US" altLang="zh-CN" dirty="0">
                <a:latin typeface="Times New Roman" panose="02020603050405020304" pitchFamily="18" charset="0"/>
                <a:ea typeface="楷体_GB2312" pitchFamily="49" charset="-122"/>
                <a:cs typeface="Times New Roman" panose="02020603050405020304" pitchFamily="18" charset="0"/>
              </a:rPr>
              <a:t>2.1 Linux</a:t>
            </a:r>
            <a:r>
              <a:rPr lang="zh-CN" altLang="en-US" dirty="0">
                <a:latin typeface="Times New Roman" panose="02020603050405020304" pitchFamily="18" charset="0"/>
                <a:ea typeface="楷体_GB2312" pitchFamily="49" charset="-122"/>
                <a:cs typeface="Times New Roman" panose="02020603050405020304" pitchFamily="18" charset="0"/>
              </a:rPr>
              <a:t>进程描述符</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
        <p:nvSpPr>
          <p:cNvPr id="15363" name="Rectangle 3"/>
          <p:cNvSpPr>
            <a:spLocks noGrp="1" noChangeArrowheads="1"/>
          </p:cNvSpPr>
          <p:nvPr>
            <p:ph type="body" idx="1"/>
          </p:nvPr>
        </p:nvSpPr>
        <p:spPr>
          <a:xfrm>
            <a:off x="216024" y="836613"/>
            <a:ext cx="8892480" cy="5416550"/>
          </a:xfrm>
        </p:spPr>
        <p:txBody>
          <a:bodyPr/>
          <a:lstStyle/>
          <a:p>
            <a:pPr eaLnBrk="1" hangingPunct="1">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进程描述符提供了内核所需了解的进程信息</a:t>
            </a: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进程描述符</a:t>
            </a:r>
            <a:endParaRPr lang="en-US" altLang="zh-CN" sz="2400"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数据结构：</a:t>
            </a:r>
            <a:r>
              <a:rPr lang="en-US" altLang="zh-CN" sz="2200" dirty="0" err="1">
                <a:solidFill>
                  <a:srgbClr val="FF0000"/>
                </a:solidFill>
                <a:latin typeface="Times New Roman" panose="02020603050405020304" pitchFamily="18" charset="0"/>
                <a:ea typeface="楷体_GB2312" pitchFamily="49" charset="-122"/>
                <a:cs typeface="Times New Roman" panose="02020603050405020304" pitchFamily="18" charset="0"/>
              </a:rPr>
              <a:t>task_struct</a:t>
            </a:r>
            <a:r>
              <a:rPr lang="zh-CN" altLang="en-US" sz="2200"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dirty="0">
                <a:latin typeface="Times New Roman" panose="02020603050405020304" pitchFamily="18" charset="0"/>
                <a:ea typeface="楷体_GB2312" pitchFamily="49" charset="-122"/>
                <a:cs typeface="Times New Roman" panose="02020603050405020304" pitchFamily="18" charset="0"/>
              </a:rPr>
              <a:t>定义位置：</a:t>
            </a:r>
            <a:r>
              <a:rPr lang="en-US" altLang="zh-CN" sz="2200" dirty="0">
                <a:latin typeface="Times New Roman" panose="02020603050405020304" pitchFamily="18" charset="0"/>
                <a:ea typeface="楷体_GB2312" pitchFamily="49" charset="-122"/>
                <a:cs typeface="Times New Roman" panose="02020603050405020304" pitchFamily="18" charset="0"/>
              </a:rPr>
              <a:t>include/</a:t>
            </a:r>
            <a:r>
              <a:rPr lang="en-US" altLang="zh-CN" sz="2200" dirty="0" err="1">
                <a:latin typeface="Times New Roman" panose="02020603050405020304" pitchFamily="18" charset="0"/>
                <a:ea typeface="楷体_GB2312" pitchFamily="49" charset="-122"/>
                <a:cs typeface="Times New Roman" panose="02020603050405020304" pitchFamily="18" charset="0"/>
              </a:rPr>
              <a:t>linux</a:t>
            </a:r>
            <a:r>
              <a:rPr lang="en-US" altLang="zh-CN" sz="2200" dirty="0">
                <a:latin typeface="Times New Roman" panose="02020603050405020304" pitchFamily="18" charset="0"/>
                <a:ea typeface="楷体_GB2312" pitchFamily="49" charset="-122"/>
                <a:cs typeface="Times New Roman" panose="02020603050405020304" pitchFamily="18" charset="0"/>
              </a:rPr>
              <a:t>/</a:t>
            </a:r>
            <a:r>
              <a:rPr lang="en-US" altLang="zh-CN" sz="2200" dirty="0" err="1">
                <a:latin typeface="Times New Roman" panose="02020603050405020304" pitchFamily="18" charset="0"/>
                <a:ea typeface="楷体_GB2312" pitchFamily="49" charset="-122"/>
                <a:cs typeface="Times New Roman" panose="02020603050405020304" pitchFamily="18" charset="0"/>
              </a:rPr>
              <a:t>sched.h</a:t>
            </a:r>
            <a:endParaRPr lang="en-US" altLang="zh-CN" sz="2200"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sz="2400" dirty="0">
                <a:solidFill>
                  <a:srgbClr val="981D14"/>
                </a:solidFill>
                <a:latin typeface="Times New Roman" panose="02020603050405020304" pitchFamily="18" charset="0"/>
                <a:ea typeface="楷体_GB2312" pitchFamily="49" charset="-122"/>
                <a:cs typeface="Times New Roman" panose="02020603050405020304" pitchFamily="18" charset="0"/>
                <a:hlinkClick r:id="rId1" action="ppaction://hlinkfile"/>
              </a:rPr>
              <a:t> include/</a:t>
            </a:r>
            <a:r>
              <a:rPr lang="en-US" altLang="zh-CN" sz="2400" dirty="0" err="1">
                <a:solidFill>
                  <a:srgbClr val="981D14"/>
                </a:solidFill>
                <a:latin typeface="Times New Roman" panose="02020603050405020304" pitchFamily="18" charset="0"/>
                <a:ea typeface="楷体_GB2312" pitchFamily="49" charset="-122"/>
                <a:cs typeface="Times New Roman" panose="02020603050405020304" pitchFamily="18" charset="0"/>
                <a:hlinkClick r:id="rId1" action="ppaction://hlinkfile"/>
              </a:rPr>
              <a:t>linux</a:t>
            </a:r>
            <a:r>
              <a:rPr lang="en-US" altLang="zh-CN" sz="2400" dirty="0">
                <a:solidFill>
                  <a:srgbClr val="981D14"/>
                </a:solidFill>
                <a:latin typeface="Times New Roman" panose="02020603050405020304" pitchFamily="18" charset="0"/>
                <a:ea typeface="楷体_GB2312" pitchFamily="49" charset="-122"/>
                <a:cs typeface="Times New Roman" panose="02020603050405020304" pitchFamily="18" charset="0"/>
                <a:hlinkClick r:id="rId1" action="ppaction://hlinkfile"/>
              </a:rPr>
              <a:t>/</a:t>
            </a:r>
            <a:r>
              <a:rPr lang="en-US" altLang="zh-CN" sz="2400" dirty="0" err="1">
                <a:solidFill>
                  <a:srgbClr val="981D14"/>
                </a:solidFill>
                <a:latin typeface="Times New Roman" panose="02020603050405020304" pitchFamily="18" charset="0"/>
                <a:ea typeface="楷体_GB2312" pitchFamily="49" charset="-122"/>
                <a:cs typeface="Times New Roman" panose="02020603050405020304" pitchFamily="18" charset="0"/>
                <a:hlinkClick r:id="rId1" action="ppaction://hlinkfile"/>
              </a:rPr>
              <a:t>sched.h</a:t>
            </a:r>
            <a:r>
              <a:rPr lang="en-US" altLang="zh-CN" sz="2400" dirty="0">
                <a:solidFill>
                  <a:srgbClr val="981D14"/>
                </a:solidFill>
                <a:latin typeface="Times New Roman" panose="02020603050405020304" pitchFamily="18" charset="0"/>
                <a:ea typeface="楷体_GB2312" pitchFamily="49" charset="-122"/>
                <a:cs typeface="Times New Roman" panose="02020603050405020304" pitchFamily="18" charset="0"/>
                <a:hlinkClick r:id="rId2" action="ppaction://hlinkfile"/>
              </a:rPr>
              <a:t> </a:t>
            </a:r>
            <a:r>
              <a:rPr lang="en-US" altLang="zh-CN" sz="2400" dirty="0">
                <a:solidFill>
                  <a:srgbClr val="981D14"/>
                </a:solidFill>
                <a:latin typeface="Times New Roman" panose="02020603050405020304" pitchFamily="18" charset="0"/>
                <a:ea typeface="楷体_GB2312" pitchFamily="49" charset="-122"/>
                <a:cs typeface="Times New Roman" panose="02020603050405020304" pitchFamily="18" charset="0"/>
              </a:rPr>
              <a:t> </a:t>
            </a:r>
            <a:r>
              <a:rPr lang="en-US" altLang="zh-CN" sz="2400" dirty="0">
                <a:solidFill>
                  <a:srgbClr val="981D14"/>
                </a:solidFill>
                <a:latin typeface="Times New Roman" panose="02020603050405020304" pitchFamily="18" charset="0"/>
                <a:ea typeface="楷体_GB2312" pitchFamily="49" charset="-122"/>
                <a:cs typeface="Times New Roman" panose="02020603050405020304" pitchFamily="18" charset="0"/>
                <a:hlinkClick r:id="rId3" action="ppaction://hlinkfile"/>
              </a:rPr>
              <a:t> </a:t>
            </a:r>
            <a:r>
              <a:rPr lang="en-US" altLang="zh-CN" sz="2400" dirty="0">
                <a:latin typeface="Times New Roman" panose="02020603050405020304" pitchFamily="18" charset="0"/>
                <a:ea typeface="楷体_GB2312" pitchFamily="49" charset="-122"/>
                <a:cs typeface="Times New Roman" panose="02020603050405020304" pitchFamily="18" charset="0"/>
              </a:rPr>
              <a:t> </a:t>
            </a:r>
            <a:r>
              <a:rPr lang="zh-CN" altLang="en-US" sz="2400" dirty="0">
                <a:solidFill>
                  <a:srgbClr val="2B5681"/>
                </a:solidFill>
                <a:latin typeface="Times New Roman" panose="02020603050405020304" pitchFamily="18" charset="0"/>
                <a:ea typeface="楷体_GB2312" pitchFamily="49" charset="-122"/>
                <a:cs typeface="Times New Roman" panose="02020603050405020304" pitchFamily="18" charset="0"/>
              </a:rPr>
              <a:t>中的</a:t>
            </a:r>
            <a:r>
              <a:rPr lang="en-US" altLang="zh-CN" sz="2400" dirty="0" err="1">
                <a:solidFill>
                  <a:srgbClr val="2B5681"/>
                </a:solidFill>
                <a:latin typeface="Times New Roman" panose="02020603050405020304" pitchFamily="18" charset="0"/>
                <a:ea typeface="楷体_GB2312" pitchFamily="49" charset="-122"/>
                <a:cs typeface="Times New Roman" panose="02020603050405020304" pitchFamily="18" charset="0"/>
              </a:rPr>
              <a:t>struct</a:t>
            </a:r>
            <a:r>
              <a:rPr lang="en-US" altLang="zh-CN" sz="2400" dirty="0">
                <a:latin typeface="Times New Roman" panose="02020603050405020304" pitchFamily="18" charset="0"/>
                <a:ea typeface="楷体_GB2312" pitchFamily="49" charset="-122"/>
                <a:cs typeface="Times New Roman" panose="02020603050405020304" pitchFamily="18" charset="0"/>
              </a:rPr>
              <a:t> </a:t>
            </a:r>
            <a:r>
              <a:rPr lang="en-US" altLang="zh-CN" sz="2400" dirty="0" err="1">
                <a:latin typeface="Times New Roman" panose="02020603050405020304" pitchFamily="18" charset="0"/>
                <a:ea typeface="楷体_GB2312" pitchFamily="49" charset="-122"/>
                <a:cs typeface="Times New Roman" panose="02020603050405020304" pitchFamily="18" charset="0"/>
                <a:hlinkClick r:id="rId4" action="ppaction://hlinkfile"/>
              </a:rPr>
              <a:t>task_struct</a:t>
            </a:r>
            <a:endParaRPr lang="en-US" altLang="zh-CN" sz="22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进程描述符向量结构</a:t>
            </a:r>
            <a:endParaRPr lang="en-US" altLang="zh-CN" sz="2400"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数据结构：</a:t>
            </a:r>
            <a:r>
              <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rPr>
              <a:t>task[NR_TASKS]</a:t>
            </a:r>
            <a:endParaRPr lang="en-US" altLang="zh-CN"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定义位置：</a:t>
            </a:r>
            <a:r>
              <a:rPr lang="en-US" altLang="zh-CN" dirty="0">
                <a:latin typeface="Times New Roman" panose="02020603050405020304" pitchFamily="18" charset="0"/>
                <a:ea typeface="楷体_GB2312" pitchFamily="49" charset="-122"/>
                <a:cs typeface="Times New Roman" panose="02020603050405020304" pitchFamily="18" charset="0"/>
              </a:rPr>
              <a:t> include/</a:t>
            </a:r>
            <a:r>
              <a:rPr lang="en-US" altLang="zh-CN" dirty="0" err="1">
                <a:latin typeface="Times New Roman" panose="02020603050405020304" pitchFamily="18" charset="0"/>
                <a:ea typeface="楷体_GB2312" pitchFamily="49" charset="-122"/>
                <a:cs typeface="Times New Roman" panose="02020603050405020304" pitchFamily="18" charset="0"/>
              </a:rPr>
              <a:t>linux</a:t>
            </a:r>
            <a:r>
              <a:rPr lang="en-US" altLang="zh-CN" dirty="0">
                <a:latin typeface="Times New Roman" panose="02020603050405020304" pitchFamily="18" charset="0"/>
                <a:ea typeface="楷体_GB2312" pitchFamily="49" charset="-122"/>
                <a:cs typeface="Times New Roman" panose="02020603050405020304" pitchFamily="18" charset="0"/>
              </a:rPr>
              <a:t>/</a:t>
            </a:r>
            <a:r>
              <a:rPr lang="en-US" altLang="zh-CN" dirty="0" err="1">
                <a:latin typeface="Times New Roman" panose="02020603050405020304" pitchFamily="18" charset="0"/>
                <a:ea typeface="楷体_GB2312" pitchFamily="49" charset="-122"/>
                <a:cs typeface="Times New Roman" panose="02020603050405020304" pitchFamily="18" charset="0"/>
              </a:rPr>
              <a:t>sched.h</a:t>
            </a:r>
            <a:endParaRPr lang="en-US" altLang="zh-CN"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定义格式</a:t>
            </a:r>
            <a:endParaRPr lang="en-US" altLang="zh-CN" dirty="0">
              <a:latin typeface="Times New Roman" panose="02020603050405020304" pitchFamily="18" charset="0"/>
              <a:ea typeface="楷体_GB2312" pitchFamily="49" charset="-122"/>
              <a:cs typeface="Times New Roman" panose="02020603050405020304" pitchFamily="18" charset="0"/>
            </a:endParaRPr>
          </a:p>
          <a:p>
            <a:pPr lvl="2" eaLnBrk="1" hangingPunct="1">
              <a:buFont typeface="Arial" panose="020B0604020202020204" pitchFamily="34" charset="0"/>
              <a:buChar char="•"/>
            </a:pPr>
            <a:r>
              <a:rPr lang="en-US" altLang="zh-CN" sz="2200" b="1" dirty="0" err="1">
                <a:solidFill>
                  <a:srgbClr val="008080"/>
                </a:solidFill>
                <a:latin typeface="Times New Roman" panose="02020603050405020304" pitchFamily="18" charset="0"/>
                <a:ea typeface="楷体_GB2312" pitchFamily="49" charset="-122"/>
                <a:cs typeface="Times New Roman" panose="02020603050405020304" pitchFamily="18" charset="0"/>
              </a:rPr>
              <a:t>struct</a:t>
            </a:r>
            <a:r>
              <a:rPr lang="en-US" altLang="zh-CN" sz="2200" b="1" dirty="0">
                <a:solidFill>
                  <a:srgbClr val="008080"/>
                </a:solidFill>
                <a:latin typeface="Times New Roman" panose="02020603050405020304" pitchFamily="18" charset="0"/>
                <a:ea typeface="楷体_GB2312" pitchFamily="49" charset="-122"/>
                <a:cs typeface="Times New Roman" panose="02020603050405020304" pitchFamily="18" charset="0"/>
              </a:rPr>
              <a:t> </a:t>
            </a:r>
            <a:r>
              <a:rPr lang="en-US" altLang="zh-CN" sz="2200" b="1" dirty="0" err="1">
                <a:solidFill>
                  <a:srgbClr val="008080"/>
                </a:solidFill>
                <a:latin typeface="Times New Roman" panose="02020603050405020304" pitchFamily="18" charset="0"/>
                <a:ea typeface="楷体_GB2312" pitchFamily="49" charset="-122"/>
                <a:cs typeface="Times New Roman" panose="02020603050405020304" pitchFamily="18" charset="0"/>
              </a:rPr>
              <a:t>task_struct</a:t>
            </a:r>
            <a:r>
              <a:rPr lang="en-US" altLang="zh-CN" sz="2200" b="1" dirty="0">
                <a:solidFill>
                  <a:srgbClr val="008080"/>
                </a:solidFill>
                <a:latin typeface="Times New Roman" panose="02020603050405020304" pitchFamily="18" charset="0"/>
                <a:ea typeface="楷体_GB2312" pitchFamily="49" charset="-122"/>
                <a:cs typeface="Times New Roman" panose="02020603050405020304" pitchFamily="18" charset="0"/>
              </a:rPr>
              <a:t> *task[NR_TASKS] = {&amp;</a:t>
            </a:r>
            <a:r>
              <a:rPr lang="en-US" altLang="zh-CN" sz="2200" b="1" dirty="0" err="1">
                <a:solidFill>
                  <a:srgbClr val="008080"/>
                </a:solidFill>
                <a:latin typeface="Times New Roman" panose="02020603050405020304" pitchFamily="18" charset="0"/>
                <a:ea typeface="楷体_GB2312" pitchFamily="49" charset="-122"/>
                <a:cs typeface="Times New Roman" panose="02020603050405020304" pitchFamily="18" charset="0"/>
              </a:rPr>
              <a:t>init_task</a:t>
            </a:r>
            <a:r>
              <a:rPr lang="en-US" altLang="zh-CN" sz="2200" b="1" dirty="0">
                <a:solidFill>
                  <a:srgbClr val="008080"/>
                </a:solidFill>
                <a:latin typeface="Times New Roman" panose="02020603050405020304" pitchFamily="18" charset="0"/>
                <a:ea typeface="楷体_GB2312" pitchFamily="49" charset="-122"/>
                <a:cs typeface="Times New Roman" panose="02020603050405020304" pitchFamily="18" charset="0"/>
              </a:rPr>
              <a:t>}</a:t>
            </a:r>
            <a:endParaRPr lang="en-US" altLang="zh-CN" sz="2200" b="1" dirty="0">
              <a:solidFill>
                <a:srgbClr val="008080"/>
              </a:solidFill>
              <a:latin typeface="Times New Roman" panose="02020603050405020304" pitchFamily="18" charset="0"/>
              <a:ea typeface="楷体_GB2312" pitchFamily="49" charset="-122"/>
              <a:cs typeface="Times New Roman" panose="02020603050405020304" pitchFamily="18" charset="0"/>
            </a:endParaRPr>
          </a:p>
          <a:p>
            <a:pPr lvl="2" eaLnBrk="1" hangingPunct="1">
              <a:buFont typeface="Arial" panose="020B0604020202020204" pitchFamily="34" charset="0"/>
              <a:buChar char="•"/>
            </a:pPr>
            <a:r>
              <a:rPr lang="en-US" altLang="zh-CN" sz="2200" b="1" dirty="0">
                <a:solidFill>
                  <a:srgbClr val="008080"/>
                </a:solidFill>
                <a:latin typeface="Times New Roman" panose="02020603050405020304" pitchFamily="18" charset="0"/>
                <a:ea typeface="楷体_GB2312" pitchFamily="49" charset="-122"/>
                <a:cs typeface="Times New Roman" panose="02020603050405020304" pitchFamily="18" charset="0"/>
              </a:rPr>
              <a:t>#define NR_TASKS 512</a:t>
            </a:r>
            <a:endParaRPr lang="en-US" altLang="zh-CN" sz="2200" b="1" dirty="0">
              <a:solidFill>
                <a:srgbClr val="008080"/>
              </a:solidFill>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sz="2200" dirty="0">
                <a:latin typeface="Times New Roman" panose="02020603050405020304" pitchFamily="18" charset="0"/>
                <a:ea typeface="楷体_GB2312" pitchFamily="49" charset="-122"/>
                <a:cs typeface="Times New Roman" panose="02020603050405020304" pitchFamily="18" charset="0"/>
              </a:rPr>
              <a:t>说明</a:t>
            </a:r>
            <a:endParaRPr lang="en-US" altLang="zh-CN" sz="2200" dirty="0">
              <a:latin typeface="Times New Roman" panose="02020603050405020304" pitchFamily="18" charset="0"/>
              <a:ea typeface="楷体_GB2312" pitchFamily="49" charset="-122"/>
              <a:cs typeface="Times New Roman" panose="02020603050405020304" pitchFamily="18" charset="0"/>
            </a:endParaRPr>
          </a:p>
          <a:p>
            <a:pPr lvl="2" eaLnBrk="1" hangingPunct="1">
              <a:buFont typeface="Arial" panose="020B0604020202020204" pitchFamily="34" charset="0"/>
              <a:buChar char="•"/>
            </a:pPr>
            <a:r>
              <a:rPr lang="zh-CN" altLang="en-US" sz="2200" b="1" dirty="0">
                <a:solidFill>
                  <a:srgbClr val="008080"/>
                </a:solidFill>
                <a:latin typeface="Times New Roman" panose="02020603050405020304" pitchFamily="18" charset="0"/>
                <a:ea typeface="楷体_GB2312" pitchFamily="49" charset="-122"/>
                <a:cs typeface="Times New Roman" panose="02020603050405020304" pitchFamily="18" charset="0"/>
              </a:rPr>
              <a:t>全局变量</a:t>
            </a:r>
            <a:r>
              <a:rPr lang="en-US" altLang="zh-CN" sz="2200" b="1" dirty="0">
                <a:solidFill>
                  <a:srgbClr val="FF0000"/>
                </a:solidFill>
                <a:latin typeface="Times New Roman" panose="02020603050405020304" pitchFamily="18" charset="0"/>
                <a:ea typeface="楷体_GB2312" pitchFamily="49" charset="-122"/>
                <a:cs typeface="Times New Roman" panose="02020603050405020304" pitchFamily="18" charset="0"/>
              </a:rPr>
              <a:t>NR_TASKS</a:t>
            </a:r>
            <a:r>
              <a:rPr lang="zh-CN" altLang="en-US" sz="2200" b="1" dirty="0">
                <a:solidFill>
                  <a:srgbClr val="008080"/>
                </a:solidFill>
                <a:latin typeface="Times New Roman" panose="02020603050405020304" pitchFamily="18" charset="0"/>
                <a:ea typeface="楷体_GB2312" pitchFamily="49" charset="-122"/>
                <a:cs typeface="Times New Roman" panose="02020603050405020304" pitchFamily="18" charset="0"/>
              </a:rPr>
              <a:t>记录系统可容纳进程数，默认大小是</a:t>
            </a:r>
            <a:r>
              <a:rPr lang="en-US" altLang="zh-CN" sz="2200" b="1" dirty="0">
                <a:solidFill>
                  <a:srgbClr val="008080"/>
                </a:solidFill>
                <a:latin typeface="Times New Roman" panose="02020603050405020304" pitchFamily="18" charset="0"/>
                <a:ea typeface="楷体_GB2312" pitchFamily="49" charset="-122"/>
                <a:cs typeface="Times New Roman" panose="02020603050405020304" pitchFamily="18" charset="0"/>
              </a:rPr>
              <a:t>512</a:t>
            </a:r>
            <a:endParaRPr lang="en-US" altLang="zh-CN" sz="2200" b="1" dirty="0">
              <a:solidFill>
                <a:srgbClr val="008080"/>
              </a:solidFill>
              <a:latin typeface="Times New Roman" panose="02020603050405020304" pitchFamily="18" charset="0"/>
              <a:ea typeface="楷体_GB2312" pitchFamily="49" charset="-122"/>
              <a:cs typeface="Times New Roman" panose="02020603050405020304" pitchFamily="18" charset="0"/>
              <a:hlinkClick r:id="rId4" action="ppaction://hlinkfile"/>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a:xfrm>
            <a:off x="1054100" y="6019800"/>
            <a:ext cx="7632700" cy="609600"/>
          </a:xfrm>
        </p:spPr>
        <p:txBody>
          <a:bodyPr/>
          <a:lstStyle/>
          <a:p>
            <a:pPr eaLnBrk="1" hangingPunct="1"/>
            <a:r>
              <a:rPr lang="en-US" altLang="zh-CN" sz="2000" dirty="0">
                <a:solidFill>
                  <a:srgbClr val="008080"/>
                </a:solidFill>
                <a:latin typeface="Times New Roman" panose="02020603050405020304" pitchFamily="18" charset="0"/>
                <a:ea typeface="楷体_GB2312" pitchFamily="49" charset="-122"/>
                <a:cs typeface="Times New Roman" panose="02020603050405020304" pitchFamily="18" charset="0"/>
              </a:rPr>
              <a:t>Linux</a:t>
            </a:r>
            <a:r>
              <a:rPr lang="zh-CN" altLang="en-US" sz="2000" dirty="0">
                <a:solidFill>
                  <a:srgbClr val="008080"/>
                </a:solidFill>
                <a:latin typeface="Times New Roman" panose="02020603050405020304" pitchFamily="18" charset="0"/>
                <a:ea typeface="楷体_GB2312" pitchFamily="49" charset="-122"/>
                <a:cs typeface="Times New Roman" panose="02020603050405020304" pitchFamily="18" charset="0"/>
              </a:rPr>
              <a:t>进程描述符的信息组成</a:t>
            </a:r>
            <a:endParaRPr lang="zh-CN" altLang="en-US" sz="2000" dirty="0">
              <a:solidFill>
                <a:srgbClr val="008080"/>
              </a:solidFill>
              <a:latin typeface="Times New Roman" panose="02020603050405020304" pitchFamily="18" charset="0"/>
              <a:ea typeface="楷体_GB2312" pitchFamily="49" charset="-122"/>
              <a:cs typeface="Times New Roman" panose="02020603050405020304" pitchFamily="18" charset="0"/>
            </a:endParaRPr>
          </a:p>
        </p:txBody>
      </p:sp>
      <p:sp>
        <p:nvSpPr>
          <p:cNvPr id="16387" name="内容占位符 2"/>
          <p:cNvSpPr>
            <a:spLocks noGrp="1"/>
          </p:cNvSpPr>
          <p:nvPr>
            <p:ph idx="1"/>
          </p:nvPr>
        </p:nvSpPr>
        <p:spPr/>
        <p:txBody>
          <a:bodyPr/>
          <a:lstStyle/>
          <a:p>
            <a:pPr eaLnBrk="1" hangingPunct="1">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进程状态信息</a:t>
            </a:r>
            <a:r>
              <a:rPr lang="en-US" altLang="zh-CN" sz="2400" dirty="0">
                <a:latin typeface="Times New Roman" panose="02020603050405020304" pitchFamily="18" charset="0"/>
                <a:ea typeface="楷体_GB2312" pitchFamily="49" charset="-122"/>
                <a:cs typeface="Times New Roman" panose="02020603050405020304" pitchFamily="18" charset="0"/>
              </a:rPr>
              <a:t>(state, flags, </a:t>
            </a:r>
            <a:r>
              <a:rPr lang="en-US" altLang="zh-CN" sz="2400" dirty="0" err="1">
                <a:latin typeface="Times New Roman" panose="02020603050405020304" pitchFamily="18" charset="0"/>
                <a:ea typeface="楷体_GB2312" pitchFamily="49" charset="-122"/>
                <a:cs typeface="Times New Roman" panose="02020603050405020304" pitchFamily="18" charset="0"/>
              </a:rPr>
              <a:t>ptrace</a:t>
            </a:r>
            <a:r>
              <a:rPr lang="en-US" altLang="zh-CN" sz="2400" dirty="0">
                <a:latin typeface="Times New Roman" panose="02020603050405020304" pitchFamily="18" charset="0"/>
                <a:ea typeface="楷体_GB2312" pitchFamily="49" charset="-122"/>
                <a:cs typeface="Times New Roman" panose="02020603050405020304" pitchFamily="18" charset="0"/>
              </a:rPr>
              <a:t>)</a:t>
            </a: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调度信息</a:t>
            </a:r>
            <a:r>
              <a:rPr lang="en-US" altLang="zh-CN" sz="2400" dirty="0">
                <a:latin typeface="Times New Roman" panose="02020603050405020304" pitchFamily="18" charset="0"/>
                <a:ea typeface="楷体_GB2312" pitchFamily="49" charset="-122"/>
                <a:cs typeface="Times New Roman" panose="02020603050405020304" pitchFamily="18" charset="0"/>
              </a:rPr>
              <a:t>(</a:t>
            </a:r>
            <a:r>
              <a:rPr lang="en-US" altLang="zh-CN" sz="2400" dirty="0" err="1">
                <a:latin typeface="Times New Roman" panose="02020603050405020304" pitchFamily="18" charset="0"/>
                <a:ea typeface="楷体_GB2312" pitchFamily="49" charset="-122"/>
                <a:cs typeface="Times New Roman" panose="02020603050405020304" pitchFamily="18" charset="0"/>
              </a:rPr>
              <a:t>static_prio</a:t>
            </a:r>
            <a:r>
              <a:rPr lang="en-US" altLang="zh-CN" sz="2400" dirty="0">
                <a:latin typeface="Times New Roman" panose="02020603050405020304" pitchFamily="18" charset="0"/>
                <a:ea typeface="楷体_GB2312" pitchFamily="49" charset="-122"/>
                <a:cs typeface="Times New Roman" panose="02020603050405020304" pitchFamily="18" charset="0"/>
              </a:rPr>
              <a:t>, </a:t>
            </a:r>
            <a:r>
              <a:rPr lang="en-US" altLang="zh-CN" sz="2400" dirty="0" err="1">
                <a:latin typeface="Times New Roman" panose="02020603050405020304" pitchFamily="18" charset="0"/>
                <a:ea typeface="楷体_GB2312" pitchFamily="49" charset="-122"/>
                <a:cs typeface="Times New Roman" panose="02020603050405020304" pitchFamily="18" charset="0"/>
              </a:rPr>
              <a:t>normal_proi</a:t>
            </a:r>
            <a:r>
              <a:rPr lang="en-US" altLang="zh-CN" sz="2400" dirty="0">
                <a:latin typeface="Times New Roman" panose="02020603050405020304" pitchFamily="18" charset="0"/>
                <a:ea typeface="楷体_GB2312" pitchFamily="49" charset="-122"/>
                <a:cs typeface="Times New Roman" panose="02020603050405020304" pitchFamily="18" charset="0"/>
              </a:rPr>
              <a:t>, </a:t>
            </a:r>
            <a:r>
              <a:rPr lang="en-US" altLang="zh-CN" sz="2400" dirty="0" err="1">
                <a:latin typeface="Times New Roman" panose="02020603050405020304" pitchFamily="18" charset="0"/>
                <a:ea typeface="楷体_GB2312" pitchFamily="49" charset="-122"/>
                <a:cs typeface="Times New Roman" panose="02020603050405020304" pitchFamily="18" charset="0"/>
              </a:rPr>
              <a:t>run_list</a:t>
            </a:r>
            <a:r>
              <a:rPr lang="en-US" altLang="zh-CN" sz="2400" dirty="0">
                <a:latin typeface="Times New Roman" panose="02020603050405020304" pitchFamily="18" charset="0"/>
                <a:ea typeface="楷体_GB2312" pitchFamily="49" charset="-122"/>
                <a:cs typeface="Times New Roman" panose="02020603050405020304" pitchFamily="18" charset="0"/>
              </a:rPr>
              <a:t>, array, policy)</a:t>
            </a:r>
            <a:endParaRPr lang="en-US" altLang="zh-CN" sz="24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内存管理</a:t>
            </a:r>
            <a:r>
              <a:rPr lang="en-US" altLang="zh-CN" sz="2400" dirty="0">
                <a:latin typeface="Times New Roman" panose="02020603050405020304" pitchFamily="18" charset="0"/>
                <a:ea typeface="楷体_GB2312" pitchFamily="49" charset="-122"/>
                <a:cs typeface="Times New Roman" panose="02020603050405020304" pitchFamily="18" charset="0"/>
              </a:rPr>
              <a:t>(mm, </a:t>
            </a:r>
            <a:r>
              <a:rPr lang="en-US" altLang="zh-CN" sz="2400" dirty="0" err="1">
                <a:latin typeface="Times New Roman" panose="02020603050405020304" pitchFamily="18" charset="0"/>
                <a:ea typeface="楷体_GB2312" pitchFamily="49" charset="-122"/>
                <a:cs typeface="Times New Roman" panose="02020603050405020304" pitchFamily="18" charset="0"/>
              </a:rPr>
              <a:t>active_mm</a:t>
            </a:r>
            <a:r>
              <a:rPr lang="en-US" altLang="zh-CN" sz="2400" dirty="0">
                <a:latin typeface="Times New Roman" panose="02020603050405020304" pitchFamily="18" charset="0"/>
                <a:ea typeface="楷体_GB2312" pitchFamily="49" charset="-122"/>
                <a:cs typeface="Times New Roman" panose="02020603050405020304" pitchFamily="18" charset="0"/>
              </a:rPr>
              <a:t>)</a:t>
            </a:r>
            <a:endParaRPr lang="en-US" altLang="zh-CN" sz="24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进程状态位信息</a:t>
            </a:r>
            <a:r>
              <a:rPr lang="en-US" altLang="zh-CN" sz="2400" dirty="0">
                <a:latin typeface="Times New Roman" panose="02020603050405020304" pitchFamily="18" charset="0"/>
                <a:ea typeface="楷体_GB2312" pitchFamily="49" charset="-122"/>
                <a:cs typeface="Times New Roman" panose="02020603050405020304" pitchFamily="18" charset="0"/>
              </a:rPr>
              <a:t>(</a:t>
            </a:r>
            <a:r>
              <a:rPr lang="en-US" altLang="zh-CN" sz="2400" dirty="0" err="1">
                <a:latin typeface="Times New Roman" panose="02020603050405020304" pitchFamily="18" charset="0"/>
                <a:ea typeface="楷体_GB2312" pitchFamily="49" charset="-122"/>
                <a:cs typeface="Times New Roman" panose="02020603050405020304" pitchFamily="18" charset="0"/>
              </a:rPr>
              <a:t>binfmt</a:t>
            </a:r>
            <a:r>
              <a:rPr lang="en-US" altLang="zh-CN" sz="2400" dirty="0">
                <a:latin typeface="Times New Roman" panose="02020603050405020304" pitchFamily="18" charset="0"/>
                <a:ea typeface="楷体_GB2312" pitchFamily="49" charset="-122"/>
                <a:cs typeface="Times New Roman" panose="02020603050405020304" pitchFamily="18" charset="0"/>
              </a:rPr>
              <a:t>, </a:t>
            </a:r>
            <a:r>
              <a:rPr lang="en-US" altLang="zh-CN" sz="2400" dirty="0" err="1">
                <a:latin typeface="Times New Roman" panose="02020603050405020304" pitchFamily="18" charset="0"/>
                <a:ea typeface="楷体_GB2312" pitchFamily="49" charset="-122"/>
                <a:cs typeface="Times New Roman" panose="02020603050405020304" pitchFamily="18" charset="0"/>
              </a:rPr>
              <a:t>exit_state</a:t>
            </a:r>
            <a:r>
              <a:rPr lang="en-US" altLang="zh-CN" sz="2400" dirty="0">
                <a:latin typeface="Times New Roman" panose="02020603050405020304" pitchFamily="18" charset="0"/>
                <a:ea typeface="楷体_GB2312" pitchFamily="49" charset="-122"/>
                <a:cs typeface="Times New Roman" panose="02020603050405020304" pitchFamily="18" charset="0"/>
              </a:rPr>
              <a:t>, </a:t>
            </a:r>
            <a:r>
              <a:rPr lang="en-US" altLang="zh-CN" sz="2400" dirty="0" err="1">
                <a:latin typeface="Times New Roman" panose="02020603050405020304" pitchFamily="18" charset="0"/>
                <a:ea typeface="楷体_GB2312" pitchFamily="49" charset="-122"/>
                <a:cs typeface="Times New Roman" panose="02020603050405020304" pitchFamily="18" charset="0"/>
              </a:rPr>
              <a:t>exit_code</a:t>
            </a:r>
            <a:r>
              <a:rPr lang="en-US" altLang="zh-CN" sz="2400" dirty="0">
                <a:latin typeface="Times New Roman" panose="02020603050405020304" pitchFamily="18" charset="0"/>
                <a:ea typeface="楷体_GB2312" pitchFamily="49" charset="-122"/>
                <a:cs typeface="Times New Roman" panose="02020603050405020304" pitchFamily="18" charset="0"/>
              </a:rPr>
              <a:t>, </a:t>
            </a:r>
            <a:r>
              <a:rPr lang="en-US" altLang="zh-CN" sz="2400" dirty="0" err="1">
                <a:latin typeface="Times New Roman" panose="02020603050405020304" pitchFamily="18" charset="0"/>
                <a:ea typeface="楷体_GB2312" pitchFamily="49" charset="-122"/>
                <a:cs typeface="Times New Roman" panose="02020603050405020304" pitchFamily="18" charset="0"/>
              </a:rPr>
              <a:t>exit_signal</a:t>
            </a:r>
            <a:r>
              <a:rPr lang="en-US" altLang="zh-CN" sz="2400" dirty="0">
                <a:latin typeface="Times New Roman" panose="02020603050405020304" pitchFamily="18" charset="0"/>
                <a:ea typeface="楷体_GB2312" pitchFamily="49" charset="-122"/>
                <a:cs typeface="Times New Roman" panose="02020603050405020304" pitchFamily="18" charset="0"/>
              </a:rPr>
              <a:t>)</a:t>
            </a:r>
            <a:endParaRPr lang="en-US" altLang="zh-CN" sz="24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身份信息</a:t>
            </a:r>
            <a:r>
              <a:rPr lang="en-US" altLang="zh-CN" sz="2400" dirty="0">
                <a:latin typeface="Times New Roman" panose="02020603050405020304" pitchFamily="18" charset="0"/>
                <a:ea typeface="楷体_GB2312" pitchFamily="49" charset="-122"/>
                <a:cs typeface="Times New Roman" panose="02020603050405020304" pitchFamily="18" charset="0"/>
              </a:rPr>
              <a:t>(</a:t>
            </a:r>
            <a:r>
              <a:rPr lang="en-US" altLang="zh-CN" sz="2400" dirty="0" err="1">
                <a:latin typeface="Times New Roman" panose="02020603050405020304" pitchFamily="18" charset="0"/>
                <a:ea typeface="楷体_GB2312" pitchFamily="49" charset="-122"/>
                <a:cs typeface="Times New Roman" panose="02020603050405020304" pitchFamily="18" charset="0"/>
              </a:rPr>
              <a:t>pid</a:t>
            </a:r>
            <a:r>
              <a:rPr lang="en-US" altLang="zh-CN" sz="2400" dirty="0">
                <a:latin typeface="Times New Roman" panose="02020603050405020304" pitchFamily="18" charset="0"/>
                <a:ea typeface="楷体_GB2312" pitchFamily="49" charset="-122"/>
                <a:cs typeface="Times New Roman" panose="02020603050405020304" pitchFamily="18" charset="0"/>
              </a:rPr>
              <a:t>, </a:t>
            </a:r>
            <a:r>
              <a:rPr lang="en-US" altLang="zh-CN" sz="2400" dirty="0" err="1">
                <a:latin typeface="Times New Roman" panose="02020603050405020304" pitchFamily="18" charset="0"/>
                <a:ea typeface="楷体_GB2312" pitchFamily="49" charset="-122"/>
                <a:cs typeface="Times New Roman" panose="02020603050405020304" pitchFamily="18" charset="0"/>
              </a:rPr>
              <a:t>tgid</a:t>
            </a:r>
            <a:r>
              <a:rPr lang="en-US" altLang="zh-CN" sz="2400" dirty="0">
                <a:latin typeface="Times New Roman" panose="02020603050405020304" pitchFamily="18" charset="0"/>
                <a:ea typeface="楷体_GB2312" pitchFamily="49" charset="-122"/>
                <a:cs typeface="Times New Roman" panose="02020603050405020304" pitchFamily="18" charset="0"/>
              </a:rPr>
              <a:t>, </a:t>
            </a:r>
            <a:r>
              <a:rPr lang="en-US" altLang="zh-CN" sz="2400" dirty="0" err="1">
                <a:latin typeface="Times New Roman" panose="02020603050405020304" pitchFamily="18" charset="0"/>
                <a:ea typeface="楷体_GB2312" pitchFamily="49" charset="-122"/>
                <a:cs typeface="Times New Roman" panose="02020603050405020304" pitchFamily="18" charset="0"/>
              </a:rPr>
              <a:t>uid</a:t>
            </a:r>
            <a:r>
              <a:rPr lang="en-US" altLang="zh-CN" sz="2400" dirty="0">
                <a:latin typeface="Times New Roman" panose="02020603050405020304" pitchFamily="18" charset="0"/>
                <a:ea typeface="楷体_GB2312" pitchFamily="49" charset="-122"/>
                <a:cs typeface="Times New Roman" panose="02020603050405020304" pitchFamily="18" charset="0"/>
              </a:rPr>
              <a:t>, </a:t>
            </a:r>
            <a:r>
              <a:rPr lang="en-US" altLang="zh-CN" sz="2400" dirty="0" err="1">
                <a:latin typeface="Times New Roman" panose="02020603050405020304" pitchFamily="18" charset="0"/>
                <a:ea typeface="楷体_GB2312" pitchFamily="49" charset="-122"/>
                <a:cs typeface="Times New Roman" panose="02020603050405020304" pitchFamily="18" charset="0"/>
              </a:rPr>
              <a:t>suid</a:t>
            </a:r>
            <a:r>
              <a:rPr lang="en-US" altLang="zh-CN" sz="2400" dirty="0">
                <a:latin typeface="Times New Roman" panose="02020603050405020304" pitchFamily="18" charset="0"/>
                <a:ea typeface="楷体_GB2312" pitchFamily="49" charset="-122"/>
                <a:cs typeface="Times New Roman" panose="02020603050405020304" pitchFamily="18" charset="0"/>
              </a:rPr>
              <a:t>, </a:t>
            </a:r>
            <a:r>
              <a:rPr lang="en-US" altLang="zh-CN" sz="2400" dirty="0" err="1">
                <a:latin typeface="Times New Roman" panose="02020603050405020304" pitchFamily="18" charset="0"/>
                <a:ea typeface="楷体_GB2312" pitchFamily="49" charset="-122"/>
                <a:cs typeface="Times New Roman" panose="02020603050405020304" pitchFamily="18" charset="0"/>
              </a:rPr>
              <a:t>fsuid</a:t>
            </a:r>
            <a:r>
              <a:rPr lang="en-US" altLang="zh-CN" sz="2400" dirty="0">
                <a:latin typeface="Times New Roman" panose="02020603050405020304" pitchFamily="18" charset="0"/>
                <a:ea typeface="楷体_GB2312" pitchFamily="49" charset="-122"/>
                <a:cs typeface="Times New Roman" panose="02020603050405020304" pitchFamily="18" charset="0"/>
              </a:rPr>
              <a:t>, </a:t>
            </a:r>
            <a:r>
              <a:rPr lang="en-US" altLang="zh-CN" sz="2400" dirty="0" err="1">
                <a:latin typeface="Times New Roman" panose="02020603050405020304" pitchFamily="18" charset="0"/>
                <a:ea typeface="楷体_GB2312" pitchFamily="49" charset="-122"/>
                <a:cs typeface="Times New Roman" panose="02020603050405020304" pitchFamily="18" charset="0"/>
              </a:rPr>
              <a:t>gid</a:t>
            </a:r>
            <a:r>
              <a:rPr lang="en-US" altLang="zh-CN" sz="2400" dirty="0">
                <a:latin typeface="Times New Roman" panose="02020603050405020304" pitchFamily="18" charset="0"/>
                <a:ea typeface="楷体_GB2312" pitchFamily="49" charset="-122"/>
                <a:cs typeface="Times New Roman" panose="02020603050405020304" pitchFamily="18" charset="0"/>
              </a:rPr>
              <a:t>, </a:t>
            </a:r>
            <a:r>
              <a:rPr lang="en-US" altLang="zh-CN" sz="2400" dirty="0" err="1">
                <a:latin typeface="Times New Roman" panose="02020603050405020304" pitchFamily="18" charset="0"/>
                <a:ea typeface="楷体_GB2312" pitchFamily="49" charset="-122"/>
                <a:cs typeface="Times New Roman" panose="02020603050405020304" pitchFamily="18" charset="0"/>
              </a:rPr>
              <a:t>egid</a:t>
            </a:r>
            <a:r>
              <a:rPr lang="en-US" altLang="zh-CN" sz="2400" dirty="0">
                <a:latin typeface="Times New Roman" panose="02020603050405020304" pitchFamily="18" charset="0"/>
                <a:ea typeface="楷体_GB2312" pitchFamily="49" charset="-122"/>
                <a:cs typeface="Times New Roman" panose="02020603050405020304" pitchFamily="18" charset="0"/>
              </a:rPr>
              <a:t>, </a:t>
            </a:r>
            <a:r>
              <a:rPr lang="en-US" altLang="zh-CN" sz="2400" dirty="0" err="1">
                <a:latin typeface="Times New Roman" panose="02020603050405020304" pitchFamily="18" charset="0"/>
                <a:ea typeface="楷体_GB2312" pitchFamily="49" charset="-122"/>
                <a:cs typeface="Times New Roman" panose="02020603050405020304" pitchFamily="18" charset="0"/>
              </a:rPr>
              <a:t>sgid</a:t>
            </a:r>
            <a:r>
              <a:rPr lang="en-US" altLang="zh-CN" sz="2400" dirty="0">
                <a:latin typeface="Times New Roman" panose="02020603050405020304" pitchFamily="18" charset="0"/>
                <a:ea typeface="楷体_GB2312" pitchFamily="49" charset="-122"/>
                <a:cs typeface="Times New Roman" panose="02020603050405020304" pitchFamily="18" charset="0"/>
              </a:rPr>
              <a:t>, </a:t>
            </a:r>
            <a:r>
              <a:rPr lang="en-US" altLang="zh-CN" sz="2400" dirty="0" err="1">
                <a:latin typeface="Times New Roman" panose="02020603050405020304" pitchFamily="18" charset="0"/>
                <a:ea typeface="楷体_GB2312" pitchFamily="49" charset="-122"/>
                <a:cs typeface="Times New Roman" panose="02020603050405020304" pitchFamily="18" charset="0"/>
              </a:rPr>
              <a:t>fsgid</a:t>
            </a:r>
            <a:r>
              <a:rPr lang="en-US" altLang="zh-CN" sz="2400" dirty="0">
                <a:latin typeface="Times New Roman" panose="02020603050405020304" pitchFamily="18" charset="0"/>
                <a:ea typeface="楷体_GB2312" pitchFamily="49" charset="-122"/>
                <a:cs typeface="Times New Roman" panose="02020603050405020304" pitchFamily="18" charset="0"/>
              </a:rPr>
              <a:t>)</a:t>
            </a: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家族信息</a:t>
            </a:r>
            <a:r>
              <a:rPr lang="en-US" altLang="zh-CN" sz="2400" dirty="0">
                <a:latin typeface="Times New Roman" panose="02020603050405020304" pitchFamily="18" charset="0"/>
                <a:ea typeface="楷体_GB2312" pitchFamily="49" charset="-122"/>
                <a:cs typeface="Times New Roman" panose="02020603050405020304" pitchFamily="18" charset="0"/>
              </a:rPr>
              <a:t>(</a:t>
            </a:r>
            <a:r>
              <a:rPr lang="en-US" altLang="zh-CN" sz="2400" dirty="0" err="1">
                <a:latin typeface="Times New Roman" panose="02020603050405020304" pitchFamily="18" charset="0"/>
                <a:ea typeface="楷体_GB2312" pitchFamily="49" charset="-122"/>
                <a:cs typeface="Times New Roman" panose="02020603050405020304" pitchFamily="18" charset="0"/>
              </a:rPr>
              <a:t>real_parent</a:t>
            </a:r>
            <a:r>
              <a:rPr lang="en-US" altLang="zh-CN" sz="2400" dirty="0">
                <a:latin typeface="Times New Roman" panose="02020603050405020304" pitchFamily="18" charset="0"/>
                <a:ea typeface="楷体_GB2312" pitchFamily="49" charset="-122"/>
                <a:cs typeface="Times New Roman" panose="02020603050405020304" pitchFamily="18" charset="0"/>
              </a:rPr>
              <a:t>, parent, children, sibling)</a:t>
            </a: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进程耗间信息</a:t>
            </a:r>
            <a:r>
              <a:rPr lang="en-US" altLang="zh-CN" sz="2400" dirty="0">
                <a:latin typeface="Times New Roman" panose="02020603050405020304" pitchFamily="18" charset="0"/>
                <a:ea typeface="楷体_GB2312" pitchFamily="49" charset="-122"/>
                <a:cs typeface="Times New Roman" panose="02020603050405020304" pitchFamily="18" charset="0"/>
              </a:rPr>
              <a:t>(</a:t>
            </a:r>
            <a:r>
              <a:rPr lang="en-US" altLang="zh-CN" sz="2400" dirty="0" err="1">
                <a:latin typeface="Times New Roman" panose="02020603050405020304" pitchFamily="18" charset="0"/>
                <a:ea typeface="楷体_GB2312" pitchFamily="49" charset="-122"/>
                <a:cs typeface="Times New Roman" panose="02020603050405020304" pitchFamily="18" charset="0"/>
              </a:rPr>
              <a:t>realtime</a:t>
            </a:r>
            <a:r>
              <a:rPr lang="en-US" altLang="zh-CN" sz="2400" dirty="0">
                <a:latin typeface="Times New Roman" panose="02020603050405020304" pitchFamily="18" charset="0"/>
                <a:ea typeface="楷体_GB2312" pitchFamily="49" charset="-122"/>
                <a:cs typeface="Times New Roman" panose="02020603050405020304" pitchFamily="18" charset="0"/>
              </a:rPr>
              <a:t>, </a:t>
            </a:r>
            <a:r>
              <a:rPr lang="en-US" altLang="zh-CN" sz="2400" dirty="0" err="1">
                <a:latin typeface="Times New Roman" panose="02020603050405020304" pitchFamily="18" charset="0"/>
                <a:ea typeface="楷体_GB2312" pitchFamily="49" charset="-122"/>
                <a:cs typeface="Times New Roman" panose="02020603050405020304" pitchFamily="18" charset="0"/>
              </a:rPr>
              <a:t>utime</a:t>
            </a:r>
            <a:r>
              <a:rPr lang="en-US" altLang="zh-CN" sz="2400" dirty="0">
                <a:latin typeface="Times New Roman" panose="02020603050405020304" pitchFamily="18" charset="0"/>
                <a:ea typeface="楷体_GB2312" pitchFamily="49" charset="-122"/>
                <a:cs typeface="Times New Roman" panose="02020603050405020304" pitchFamily="18" charset="0"/>
              </a:rPr>
              <a:t>, </a:t>
            </a:r>
            <a:r>
              <a:rPr lang="en-US" altLang="zh-CN" sz="2400" dirty="0" err="1">
                <a:latin typeface="Times New Roman" panose="02020603050405020304" pitchFamily="18" charset="0"/>
                <a:ea typeface="楷体_GB2312" pitchFamily="49" charset="-122"/>
                <a:cs typeface="Times New Roman" panose="02020603050405020304" pitchFamily="18" charset="0"/>
              </a:rPr>
              <a:t>stime</a:t>
            </a:r>
            <a:r>
              <a:rPr lang="en-US" altLang="zh-CN" sz="2400" dirty="0">
                <a:latin typeface="Times New Roman" panose="02020603050405020304" pitchFamily="18" charset="0"/>
                <a:ea typeface="楷体_GB2312" pitchFamily="49" charset="-122"/>
                <a:cs typeface="Times New Roman" panose="02020603050405020304" pitchFamily="18" charset="0"/>
              </a:rPr>
              <a:t>, </a:t>
            </a:r>
            <a:r>
              <a:rPr lang="en-US" altLang="zh-CN" sz="2400" dirty="0" err="1">
                <a:latin typeface="Times New Roman" panose="02020603050405020304" pitchFamily="18" charset="0"/>
                <a:ea typeface="楷体_GB2312" pitchFamily="49" charset="-122"/>
                <a:cs typeface="Times New Roman" panose="02020603050405020304" pitchFamily="18" charset="0"/>
              </a:rPr>
              <a:t>starttime</a:t>
            </a:r>
            <a:r>
              <a:rPr lang="en-US" altLang="zh-CN" sz="2400" dirty="0">
                <a:latin typeface="Times New Roman" panose="02020603050405020304" pitchFamily="18" charset="0"/>
                <a:ea typeface="楷体_GB2312" pitchFamily="49" charset="-122"/>
                <a:cs typeface="Times New Roman" panose="02020603050405020304" pitchFamily="18" charset="0"/>
              </a:rPr>
              <a:t>)</a:t>
            </a:r>
            <a:endParaRPr lang="en-US" altLang="zh-CN" sz="24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时钟信息</a:t>
            </a:r>
            <a:r>
              <a:rPr lang="en-US" altLang="zh-CN" sz="2400" dirty="0">
                <a:latin typeface="Times New Roman" panose="02020603050405020304" pitchFamily="18" charset="0"/>
                <a:ea typeface="楷体_GB2312" pitchFamily="49" charset="-122"/>
                <a:cs typeface="Times New Roman" panose="02020603050405020304" pitchFamily="18" charset="0"/>
              </a:rPr>
              <a:t>(</a:t>
            </a:r>
            <a:r>
              <a:rPr lang="en-US" altLang="zh-CN" sz="2400" dirty="0" err="1">
                <a:latin typeface="Times New Roman" panose="02020603050405020304" pitchFamily="18" charset="0"/>
                <a:ea typeface="楷体_GB2312" pitchFamily="49" charset="-122"/>
                <a:cs typeface="Times New Roman" panose="02020603050405020304" pitchFamily="18" charset="0"/>
              </a:rPr>
              <a:t>it_prof_expires</a:t>
            </a:r>
            <a:r>
              <a:rPr lang="en-US" altLang="zh-CN" sz="2400" dirty="0">
                <a:latin typeface="Times New Roman" panose="02020603050405020304" pitchFamily="18" charset="0"/>
                <a:ea typeface="楷体_GB2312" pitchFamily="49" charset="-122"/>
                <a:cs typeface="Times New Roman" panose="02020603050405020304" pitchFamily="18" charset="0"/>
              </a:rPr>
              <a:t>, </a:t>
            </a:r>
            <a:r>
              <a:rPr lang="en-US" altLang="zh-CN" sz="2400" dirty="0" err="1">
                <a:latin typeface="Times New Roman" panose="02020603050405020304" pitchFamily="18" charset="0"/>
                <a:ea typeface="楷体_GB2312" pitchFamily="49" charset="-122"/>
                <a:cs typeface="Times New Roman" panose="02020603050405020304" pitchFamily="18" charset="0"/>
              </a:rPr>
              <a:t>it_virt_expires</a:t>
            </a:r>
            <a:r>
              <a:rPr lang="en-US" altLang="zh-CN" sz="2400" dirty="0">
                <a:latin typeface="Times New Roman" panose="02020603050405020304" pitchFamily="18" charset="0"/>
                <a:ea typeface="楷体_GB2312" pitchFamily="49" charset="-122"/>
                <a:cs typeface="Times New Roman" panose="02020603050405020304" pitchFamily="18" charset="0"/>
              </a:rPr>
              <a:t>, </a:t>
            </a:r>
            <a:r>
              <a:rPr lang="en-US" altLang="zh-CN" sz="2400" dirty="0" err="1">
                <a:latin typeface="Times New Roman" panose="02020603050405020304" pitchFamily="18" charset="0"/>
                <a:ea typeface="楷体_GB2312" pitchFamily="49" charset="-122"/>
                <a:cs typeface="Times New Roman" panose="02020603050405020304" pitchFamily="18" charset="0"/>
              </a:rPr>
              <a:t>it_sched_expires</a:t>
            </a:r>
            <a:r>
              <a:rPr lang="en-US" altLang="zh-CN" sz="2400" dirty="0">
                <a:latin typeface="Times New Roman" panose="02020603050405020304" pitchFamily="18" charset="0"/>
                <a:ea typeface="楷体_GB2312" pitchFamily="49" charset="-122"/>
                <a:cs typeface="Times New Roman" panose="02020603050405020304" pitchFamily="18" charset="0"/>
              </a:rPr>
              <a:t>)</a:t>
            </a: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文件系统信息</a:t>
            </a:r>
            <a:r>
              <a:rPr lang="en-US" altLang="zh-CN" sz="2400" dirty="0">
                <a:latin typeface="Times New Roman" panose="02020603050405020304" pitchFamily="18" charset="0"/>
                <a:ea typeface="楷体_GB2312" pitchFamily="49" charset="-122"/>
                <a:cs typeface="Times New Roman" panose="02020603050405020304" pitchFamily="18" charset="0"/>
              </a:rPr>
              <a:t>(</a:t>
            </a:r>
            <a:r>
              <a:rPr lang="en-US" altLang="zh-CN" sz="2400" dirty="0" err="1">
                <a:latin typeface="Times New Roman" panose="02020603050405020304" pitchFamily="18" charset="0"/>
                <a:ea typeface="楷体_GB2312" pitchFamily="49" charset="-122"/>
                <a:cs typeface="Times New Roman" panose="02020603050405020304" pitchFamily="18" charset="0"/>
              </a:rPr>
              <a:t>link_count</a:t>
            </a:r>
            <a:r>
              <a:rPr lang="en-US" altLang="zh-CN" sz="2400" dirty="0">
                <a:latin typeface="Times New Roman" panose="02020603050405020304" pitchFamily="18" charset="0"/>
                <a:ea typeface="楷体_GB2312" pitchFamily="49" charset="-122"/>
                <a:cs typeface="Times New Roman" panose="02020603050405020304" pitchFamily="18" charset="0"/>
              </a:rPr>
              <a:t>, fs, files)</a:t>
            </a: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en-US" altLang="zh-CN" sz="2400" dirty="0">
                <a:latin typeface="Times New Roman" panose="02020603050405020304" pitchFamily="18" charset="0"/>
                <a:ea typeface="楷体_GB2312" pitchFamily="49" charset="-122"/>
                <a:cs typeface="Times New Roman" panose="02020603050405020304" pitchFamily="18" charset="0"/>
              </a:rPr>
              <a:t>IPC</a:t>
            </a:r>
            <a:r>
              <a:rPr lang="zh-CN" altLang="en-US" sz="2400" dirty="0">
                <a:latin typeface="Times New Roman" panose="02020603050405020304" pitchFamily="18" charset="0"/>
                <a:ea typeface="楷体_GB2312" pitchFamily="49" charset="-122"/>
                <a:cs typeface="Times New Roman" panose="02020603050405020304" pitchFamily="18" charset="0"/>
              </a:rPr>
              <a:t>信息</a:t>
            </a:r>
            <a:r>
              <a:rPr lang="en-US" altLang="zh-CN" sz="2400" dirty="0">
                <a:latin typeface="Times New Roman" panose="02020603050405020304" pitchFamily="18" charset="0"/>
                <a:ea typeface="楷体_GB2312" pitchFamily="49" charset="-122"/>
                <a:cs typeface="Times New Roman" panose="02020603050405020304" pitchFamily="18" charset="0"/>
              </a:rPr>
              <a:t>(</a:t>
            </a:r>
            <a:r>
              <a:rPr lang="en-US" altLang="zh-CN" sz="2400" dirty="0" err="1">
                <a:latin typeface="Times New Roman" panose="02020603050405020304" pitchFamily="18" charset="0"/>
                <a:ea typeface="楷体_GB2312" pitchFamily="49" charset="-122"/>
                <a:cs typeface="Times New Roman" panose="02020603050405020304" pitchFamily="18" charset="0"/>
              </a:rPr>
              <a:t>sysvsem</a:t>
            </a:r>
            <a:r>
              <a:rPr lang="en-US" altLang="zh-CN" sz="2400" dirty="0">
                <a:latin typeface="Times New Roman" panose="02020603050405020304" pitchFamily="18" charset="0"/>
                <a:ea typeface="楷体_GB2312" pitchFamily="49" charset="-122"/>
                <a:cs typeface="Times New Roman" panose="02020603050405020304" pitchFamily="18" charset="0"/>
              </a:rPr>
              <a:t>, signal, </a:t>
            </a:r>
            <a:r>
              <a:rPr lang="en-US" altLang="zh-CN" sz="2400" dirty="0" err="1">
                <a:latin typeface="Times New Roman" panose="02020603050405020304" pitchFamily="18" charset="0"/>
                <a:ea typeface="楷体_GB2312" pitchFamily="49" charset="-122"/>
                <a:cs typeface="Times New Roman" panose="02020603050405020304" pitchFamily="18" charset="0"/>
              </a:rPr>
              <a:t>sighand</a:t>
            </a:r>
            <a:r>
              <a:rPr lang="en-US" altLang="zh-CN" sz="2400" dirty="0">
                <a:latin typeface="Times New Roman" panose="02020603050405020304" pitchFamily="18" charset="0"/>
                <a:ea typeface="楷体_GB2312" pitchFamily="49" charset="-122"/>
                <a:cs typeface="Times New Roman" panose="02020603050405020304" pitchFamily="18" charset="0"/>
              </a:rPr>
              <a:t>, blocked, </a:t>
            </a:r>
            <a:r>
              <a:rPr lang="en-US" altLang="zh-CN" sz="2400" dirty="0" err="1">
                <a:latin typeface="Times New Roman" panose="02020603050405020304" pitchFamily="18" charset="0"/>
                <a:ea typeface="楷体_GB2312" pitchFamily="49" charset="-122"/>
                <a:cs typeface="Times New Roman" panose="02020603050405020304" pitchFamily="18" charset="0"/>
              </a:rPr>
              <a:t>sigmask</a:t>
            </a:r>
            <a:r>
              <a:rPr lang="en-US" altLang="zh-CN" sz="2400" dirty="0">
                <a:latin typeface="Times New Roman" panose="02020603050405020304" pitchFamily="18" charset="0"/>
                <a:ea typeface="楷体_GB2312" pitchFamily="49" charset="-122"/>
                <a:cs typeface="Times New Roman" panose="02020603050405020304" pitchFamily="18" charset="0"/>
              </a:rPr>
              <a:t>, pending)</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
        <p:nvSpPr>
          <p:cNvPr id="4" name="Rectangle 2"/>
          <p:cNvSpPr txBox="1">
            <a:spLocks noChangeArrowheads="1"/>
          </p:cNvSpPr>
          <p:nvPr/>
        </p:nvSpPr>
        <p:spPr bwMode="black">
          <a:xfrm>
            <a:off x="611188" y="188913"/>
            <a:ext cx="76327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2pPr>
            <a:lvl3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3pPr>
            <a:lvl4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4pPr>
            <a:lvl5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5pPr>
            <a:lvl6pPr marL="4572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6pPr>
            <a:lvl7pPr marL="9144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7pPr>
            <a:lvl8pPr marL="13716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8pPr>
            <a:lvl9pPr marL="18288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9pPr>
          </a:lstStyle>
          <a:p>
            <a:pPr eaLnBrk="1" hangingPunct="1"/>
            <a:r>
              <a:rPr lang="en-US" altLang="zh-CN" kern="0" dirty="0">
                <a:latin typeface="Times New Roman" panose="02020603050405020304" pitchFamily="18" charset="0"/>
                <a:ea typeface="楷体_GB2312" pitchFamily="49" charset="-122"/>
                <a:cs typeface="Times New Roman" panose="02020603050405020304" pitchFamily="18" charset="0"/>
              </a:rPr>
              <a:t>2.1 Linux</a:t>
            </a:r>
            <a:r>
              <a:rPr lang="zh-CN" altLang="en-US" kern="0" dirty="0">
                <a:latin typeface="Times New Roman" panose="02020603050405020304" pitchFamily="18" charset="0"/>
                <a:ea typeface="楷体_GB2312" pitchFamily="49" charset="-122"/>
                <a:cs typeface="Times New Roman" panose="02020603050405020304" pitchFamily="18" charset="0"/>
              </a:rPr>
              <a:t>进程描述符</a:t>
            </a:r>
            <a:endParaRPr lang="zh-CN" altLang="en-US" kern="0"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ransition>
    <p:wedg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0"/>
          </p:nvPr>
        </p:nvSpPr>
        <p:spPr>
          <a:xfrm>
            <a:off x="6553200" y="6245225"/>
            <a:ext cx="2133600" cy="476250"/>
          </a:xfrm>
        </p:spPr>
        <p:txBody>
          <a:bodyPr/>
          <a:lstStyle>
            <a:lvl1pPr>
              <a:defRPr sz="2400">
                <a:solidFill>
                  <a:schemeClr val="tx1"/>
                </a:solidFill>
                <a:latin typeface="Times New Roman" panose="02020603050405020304" pitchFamily="18" charset="0"/>
                <a:ea typeface="新宋体" panose="02010609030101010101" pitchFamily="49" charset="-122"/>
              </a:defRPr>
            </a:lvl1pPr>
            <a:lvl2pPr marL="742950" indent="-285750">
              <a:defRPr sz="2400">
                <a:solidFill>
                  <a:schemeClr val="tx1"/>
                </a:solidFill>
                <a:latin typeface="Times New Roman" panose="02020603050405020304" pitchFamily="18" charset="0"/>
                <a:ea typeface="新宋体" panose="02010609030101010101" pitchFamily="49" charset="-122"/>
              </a:defRPr>
            </a:lvl2pPr>
            <a:lvl3pPr marL="1143000" indent="-228600">
              <a:defRPr sz="2400">
                <a:solidFill>
                  <a:schemeClr val="tx1"/>
                </a:solidFill>
                <a:latin typeface="Times New Roman" panose="02020603050405020304" pitchFamily="18" charset="0"/>
                <a:ea typeface="新宋体" panose="02010609030101010101" pitchFamily="49" charset="-122"/>
              </a:defRPr>
            </a:lvl3pPr>
            <a:lvl4pPr marL="1600200" indent="-228600">
              <a:defRPr sz="2400">
                <a:solidFill>
                  <a:schemeClr val="tx1"/>
                </a:solidFill>
                <a:latin typeface="Times New Roman" panose="02020603050405020304" pitchFamily="18" charset="0"/>
                <a:ea typeface="新宋体" panose="02010609030101010101" pitchFamily="49" charset="-122"/>
              </a:defRPr>
            </a:lvl4pPr>
            <a:lvl5pPr marL="2057400" indent="-228600">
              <a:defRPr sz="2400">
                <a:solidFill>
                  <a:schemeClr val="tx1"/>
                </a:solidFill>
                <a:latin typeface="Times New Roman" panose="02020603050405020304" pitchFamily="18" charset="0"/>
                <a:ea typeface="新宋体" panose="02010609030101010101"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9pPr>
          </a:lstStyle>
          <a:p>
            <a:pPr>
              <a:defRPr/>
            </a:pPr>
            <a:fld id="{536B8BF7-1D2F-4B87-8B1B-3DF11093B369}" type="slidenum">
              <a:rPr lang="zh-CN" altLang="en-US" sz="1200" smtClean="0">
                <a:latin typeface="Verdana" panose="020B0604030504040204" pitchFamily="34" charset="0"/>
                <a:ea typeface="Gulim" panose="020B0600000101010101" pitchFamily="34" charset="-127"/>
              </a:rPr>
            </a:fld>
            <a:endParaRPr lang="en-US" altLang="zh-CN" sz="1200">
              <a:latin typeface="Verdana" panose="020B0604030504040204" pitchFamily="34" charset="0"/>
              <a:ea typeface="Gulim" panose="020B0600000101010101" pitchFamily="34" charset="-127"/>
            </a:endParaRPr>
          </a:p>
        </p:txBody>
      </p:sp>
      <p:sp>
        <p:nvSpPr>
          <p:cNvPr id="17411" name="Rectangle 2"/>
          <p:cNvSpPr>
            <a:spLocks noGrp="1" noChangeArrowheads="1"/>
          </p:cNvSpPr>
          <p:nvPr>
            <p:ph type="title"/>
          </p:nvPr>
        </p:nvSpPr>
        <p:spPr/>
        <p:txBody>
          <a:bodyPr/>
          <a:lstStyle/>
          <a:p>
            <a:endParaRPr lang="zh-CN" altLang="en-US"/>
          </a:p>
        </p:txBody>
      </p:sp>
      <p:sp>
        <p:nvSpPr>
          <p:cNvPr id="17412" name="Rectangle 3"/>
          <p:cNvSpPr>
            <a:spLocks noGrp="1" noChangeArrowheads="1"/>
          </p:cNvSpPr>
          <p:nvPr>
            <p:ph type="body" idx="1"/>
          </p:nvPr>
        </p:nvSpPr>
        <p:spPr/>
        <p:txBody>
          <a:bodyPr/>
          <a:lstStyle/>
          <a:p>
            <a:endParaRPr lang="zh-CN" altLang="en-US"/>
          </a:p>
        </p:txBody>
      </p:sp>
      <p:pic>
        <p:nvPicPr>
          <p:cNvPr id="17413"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8588" y="-347663"/>
            <a:ext cx="9401176" cy="7553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type="body" idx="1"/>
          </p:nvPr>
        </p:nvSpPr>
        <p:spPr>
          <a:xfrm>
            <a:off x="426244" y="908721"/>
            <a:ext cx="8291512" cy="4392488"/>
          </a:xfrm>
        </p:spPr>
        <p:txBody>
          <a:bodyPr/>
          <a:lstStyle/>
          <a:p>
            <a:pPr>
              <a:lnSpc>
                <a:spcPct val="90000"/>
              </a:lnSpc>
              <a:buFontTx/>
              <a:buNone/>
            </a:pPr>
            <a:r>
              <a:rPr kumimoji="1" lang="zh-CN" altLang="en-US" sz="2400" dirty="0">
                <a:latin typeface="Times New Roman" panose="02020603050405020304" pitchFamily="18" charset="0"/>
                <a:ea typeface="楷体_GB2312" pitchFamily="49" charset="-122"/>
                <a:cs typeface="Times New Roman" panose="02020603050405020304" pitchFamily="18" charset="0"/>
              </a:rPr>
              <a:t>再看</a:t>
            </a:r>
            <a:r>
              <a:rPr kumimoji="1" lang="en-US" altLang="zh-CN" sz="2400" dirty="0">
                <a:latin typeface="Times New Roman" panose="02020603050405020304" pitchFamily="18" charset="0"/>
                <a:ea typeface="楷体_GB2312" pitchFamily="49" charset="-122"/>
                <a:cs typeface="Times New Roman" panose="02020603050405020304" pitchFamily="18" charset="0"/>
              </a:rPr>
              <a:t>Linux 2.4</a:t>
            </a:r>
            <a:r>
              <a:rPr kumimoji="1" lang="zh-CN" altLang="en-US" sz="2400" dirty="0">
                <a:latin typeface="Times New Roman" panose="02020603050405020304" pitchFamily="18" charset="0"/>
                <a:ea typeface="楷体_GB2312" pitchFamily="49" charset="-122"/>
                <a:cs typeface="Times New Roman" panose="02020603050405020304" pitchFamily="18" charset="0"/>
              </a:rPr>
              <a:t>内核：</a:t>
            </a:r>
            <a:endParaRPr kumimoji="1" lang="zh-CN" altLang="en-US" sz="2400" dirty="0">
              <a:latin typeface="Times New Roman" panose="02020603050405020304" pitchFamily="18" charset="0"/>
              <a:ea typeface="楷体_GB2312" pitchFamily="49" charset="-122"/>
              <a:cs typeface="Times New Roman" panose="02020603050405020304" pitchFamily="18" charset="0"/>
            </a:endParaRPr>
          </a:p>
          <a:p>
            <a:pPr>
              <a:lnSpc>
                <a:spcPct val="90000"/>
              </a:lnSpc>
              <a:buFontTx/>
              <a:buNone/>
            </a:pPr>
            <a:r>
              <a:rPr kumimoji="1" lang="en-US" altLang="zh-CN" sz="2400" dirty="0" err="1">
                <a:solidFill>
                  <a:srgbClr val="FF0000"/>
                </a:solidFill>
                <a:latin typeface="Times New Roman" panose="02020603050405020304" pitchFamily="18" charset="0"/>
                <a:ea typeface="楷体_GB2312" pitchFamily="49" charset="-122"/>
                <a:cs typeface="Times New Roman" panose="02020603050405020304" pitchFamily="18" charset="0"/>
              </a:rPr>
              <a:t>struct</a:t>
            </a:r>
            <a:r>
              <a:rPr kumimoji="1" lang="en-US" altLang="zh-CN" sz="2400"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kumimoji="1" lang="en-US" altLang="zh-CN" sz="2400" dirty="0" err="1">
                <a:solidFill>
                  <a:srgbClr val="FF0000"/>
                </a:solidFill>
                <a:latin typeface="Times New Roman" panose="02020603050405020304" pitchFamily="18" charset="0"/>
                <a:ea typeface="楷体_GB2312" pitchFamily="49" charset="-122"/>
                <a:cs typeface="Times New Roman" panose="02020603050405020304" pitchFamily="18" charset="0"/>
              </a:rPr>
              <a:t>task_struct</a:t>
            </a:r>
            <a:r>
              <a:rPr kumimoji="1" lang="en-US" altLang="zh-CN" sz="2400" dirty="0">
                <a:solidFill>
                  <a:srgbClr val="FF0000"/>
                </a:solidFill>
                <a:latin typeface="Times New Roman" panose="02020603050405020304" pitchFamily="18" charset="0"/>
                <a:ea typeface="楷体_GB2312" pitchFamily="49" charset="-122"/>
                <a:cs typeface="Times New Roman" panose="02020603050405020304" pitchFamily="18" charset="0"/>
              </a:rPr>
              <a:t> {</a:t>
            </a:r>
            <a:endParaRPr kumimoji="1" lang="en-US" altLang="zh-CN" sz="2400" dirty="0">
              <a:solidFill>
                <a:srgbClr val="FF0000"/>
              </a:solidFill>
              <a:latin typeface="Times New Roman" panose="02020603050405020304" pitchFamily="18" charset="0"/>
              <a:ea typeface="楷体_GB2312" pitchFamily="49" charset="-122"/>
              <a:cs typeface="Times New Roman" panose="02020603050405020304" pitchFamily="18" charset="0"/>
            </a:endParaRPr>
          </a:p>
          <a:p>
            <a:pPr>
              <a:lnSpc>
                <a:spcPct val="90000"/>
              </a:lnSpc>
              <a:buFontTx/>
              <a:buNone/>
            </a:pPr>
            <a:r>
              <a:rPr kumimoji="1" lang="en-US" altLang="zh-CN" sz="2400" dirty="0">
                <a:latin typeface="Times New Roman" panose="02020603050405020304" pitchFamily="18" charset="0"/>
                <a:ea typeface="楷体_GB2312" pitchFamily="49" charset="-122"/>
                <a:cs typeface="Times New Roman" panose="02020603050405020304" pitchFamily="18" charset="0"/>
              </a:rPr>
              <a:t>…</a:t>
            </a:r>
            <a:endParaRPr kumimoji="1" lang="en-US" altLang="zh-CN" sz="2400" dirty="0">
              <a:latin typeface="Times New Roman" panose="02020603050405020304" pitchFamily="18" charset="0"/>
              <a:ea typeface="楷体_GB2312" pitchFamily="49" charset="-122"/>
              <a:cs typeface="Times New Roman" panose="02020603050405020304" pitchFamily="18" charset="0"/>
            </a:endParaRPr>
          </a:p>
          <a:p>
            <a:pPr>
              <a:lnSpc>
                <a:spcPct val="90000"/>
              </a:lnSpc>
              <a:buFontTx/>
              <a:buNone/>
            </a:pPr>
            <a:r>
              <a:rPr kumimoji="1" lang="en-US" altLang="zh-CN" sz="2400" dirty="0">
                <a:latin typeface="Times New Roman" panose="02020603050405020304" pitchFamily="18" charset="0"/>
                <a:ea typeface="楷体_GB2312" pitchFamily="49" charset="-122"/>
                <a:cs typeface="Times New Roman" panose="02020603050405020304" pitchFamily="18" charset="0"/>
              </a:rPr>
              <a:t>	</a:t>
            </a:r>
            <a:r>
              <a:rPr kumimoji="1" lang="en-US" altLang="zh-CN" sz="2400" dirty="0" err="1">
                <a:latin typeface="Times New Roman" panose="02020603050405020304" pitchFamily="18" charset="0"/>
                <a:ea typeface="楷体_GB2312" pitchFamily="49" charset="-122"/>
                <a:cs typeface="Times New Roman" panose="02020603050405020304" pitchFamily="18" charset="0"/>
              </a:rPr>
              <a:t>struct</a:t>
            </a:r>
            <a:r>
              <a:rPr kumimoji="1" lang="en-US" altLang="zh-CN" sz="2400" dirty="0">
                <a:latin typeface="Times New Roman" panose="02020603050405020304" pitchFamily="18" charset="0"/>
                <a:ea typeface="楷体_GB2312" pitchFamily="49" charset="-122"/>
                <a:cs typeface="Times New Roman" panose="02020603050405020304" pitchFamily="18" charset="0"/>
              </a:rPr>
              <a:t> </a:t>
            </a:r>
            <a:r>
              <a:rPr kumimoji="1" lang="en-US" altLang="zh-CN" sz="2400" dirty="0" err="1">
                <a:latin typeface="Times New Roman" panose="02020603050405020304" pitchFamily="18" charset="0"/>
                <a:ea typeface="楷体_GB2312" pitchFamily="49" charset="-122"/>
                <a:cs typeface="Times New Roman" panose="02020603050405020304" pitchFamily="18" charset="0"/>
              </a:rPr>
              <a:t>list_head</a:t>
            </a:r>
            <a:r>
              <a:rPr kumimoji="1" lang="en-US" altLang="zh-CN" sz="2400" dirty="0">
                <a:latin typeface="Times New Roman" panose="02020603050405020304" pitchFamily="18" charset="0"/>
                <a:ea typeface="楷体_GB2312" pitchFamily="49" charset="-122"/>
                <a:cs typeface="Times New Roman" panose="02020603050405020304" pitchFamily="18" charset="0"/>
              </a:rPr>
              <a:t> </a:t>
            </a:r>
            <a:r>
              <a:rPr kumimoji="1" lang="en-US" altLang="zh-CN" sz="2400" dirty="0" err="1">
                <a:latin typeface="Times New Roman" panose="02020603050405020304" pitchFamily="18" charset="0"/>
                <a:ea typeface="楷体_GB2312" pitchFamily="49" charset="-122"/>
                <a:cs typeface="Times New Roman" panose="02020603050405020304" pitchFamily="18" charset="0"/>
              </a:rPr>
              <a:t>run_list</a:t>
            </a:r>
            <a:r>
              <a:rPr kumimoji="1" lang="en-US" altLang="zh-CN" sz="2400" dirty="0">
                <a:latin typeface="Times New Roman" panose="02020603050405020304" pitchFamily="18" charset="0"/>
                <a:ea typeface="楷体_GB2312" pitchFamily="49" charset="-122"/>
                <a:cs typeface="Times New Roman" panose="02020603050405020304" pitchFamily="18" charset="0"/>
              </a:rPr>
              <a:t>;</a:t>
            </a:r>
            <a:endParaRPr kumimoji="1" lang="en-US" altLang="zh-CN" sz="2400" dirty="0">
              <a:latin typeface="Times New Roman" panose="02020603050405020304" pitchFamily="18" charset="0"/>
              <a:ea typeface="楷体_GB2312" pitchFamily="49" charset="-122"/>
              <a:cs typeface="Times New Roman" panose="02020603050405020304" pitchFamily="18" charset="0"/>
            </a:endParaRPr>
          </a:p>
          <a:p>
            <a:pPr>
              <a:lnSpc>
                <a:spcPct val="90000"/>
              </a:lnSpc>
              <a:buFontTx/>
              <a:buNone/>
            </a:pPr>
            <a:r>
              <a:rPr kumimoji="1" lang="en-US" altLang="zh-CN" sz="2400" dirty="0">
                <a:latin typeface="Times New Roman" panose="02020603050405020304" pitchFamily="18" charset="0"/>
                <a:ea typeface="楷体_GB2312" pitchFamily="49" charset="-122"/>
                <a:cs typeface="Times New Roman" panose="02020603050405020304" pitchFamily="18" charset="0"/>
              </a:rPr>
              <a:t>	</a:t>
            </a:r>
            <a:r>
              <a:rPr kumimoji="1" lang="en-US" altLang="zh-CN" sz="2400" dirty="0" err="1">
                <a:latin typeface="Times New Roman" panose="02020603050405020304" pitchFamily="18" charset="0"/>
                <a:ea typeface="楷体_GB2312" pitchFamily="49" charset="-122"/>
                <a:cs typeface="Times New Roman" panose="02020603050405020304" pitchFamily="18" charset="0"/>
              </a:rPr>
              <a:t>struct</a:t>
            </a:r>
            <a:r>
              <a:rPr kumimoji="1" lang="en-US" altLang="zh-CN" sz="2400" dirty="0">
                <a:latin typeface="Times New Roman" panose="02020603050405020304" pitchFamily="18" charset="0"/>
                <a:ea typeface="楷体_GB2312" pitchFamily="49" charset="-122"/>
                <a:cs typeface="Times New Roman" panose="02020603050405020304" pitchFamily="18" charset="0"/>
              </a:rPr>
              <a:t> </a:t>
            </a:r>
            <a:r>
              <a:rPr kumimoji="1" lang="en-US" altLang="zh-CN" sz="2400" dirty="0" err="1">
                <a:latin typeface="Times New Roman" panose="02020603050405020304" pitchFamily="18" charset="0"/>
                <a:ea typeface="楷体_GB2312" pitchFamily="49" charset="-122"/>
                <a:cs typeface="Times New Roman" panose="02020603050405020304" pitchFamily="18" charset="0"/>
              </a:rPr>
              <a:t>task_struct</a:t>
            </a:r>
            <a:r>
              <a:rPr kumimoji="1" lang="en-US" altLang="zh-CN" sz="2400" dirty="0">
                <a:latin typeface="Times New Roman" panose="02020603050405020304" pitchFamily="18" charset="0"/>
                <a:ea typeface="楷体_GB2312" pitchFamily="49" charset="-122"/>
                <a:cs typeface="Times New Roman" panose="02020603050405020304" pitchFamily="18" charset="0"/>
              </a:rPr>
              <a:t> </a:t>
            </a:r>
            <a:r>
              <a:rPr kumimoji="1" lang="en-US" altLang="zh-CN" sz="2400"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kumimoji="1" lang="en-US" altLang="zh-CN" sz="2400" dirty="0" err="1">
                <a:solidFill>
                  <a:srgbClr val="FF0000"/>
                </a:solidFill>
                <a:latin typeface="Times New Roman" panose="02020603050405020304" pitchFamily="18" charset="0"/>
                <a:ea typeface="楷体_GB2312" pitchFamily="49" charset="-122"/>
                <a:cs typeface="Times New Roman" panose="02020603050405020304" pitchFamily="18" charset="0"/>
              </a:rPr>
              <a:t>next_task</a:t>
            </a:r>
            <a:r>
              <a:rPr kumimoji="1" lang="en-US" altLang="zh-CN" sz="2400"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kumimoji="1" lang="en-US" altLang="zh-CN" sz="2400" dirty="0" err="1">
                <a:solidFill>
                  <a:srgbClr val="FF0000"/>
                </a:solidFill>
                <a:latin typeface="Times New Roman" panose="02020603050405020304" pitchFamily="18" charset="0"/>
                <a:ea typeface="楷体_GB2312" pitchFamily="49" charset="-122"/>
                <a:cs typeface="Times New Roman" panose="02020603050405020304" pitchFamily="18" charset="0"/>
              </a:rPr>
              <a:t>prev_task</a:t>
            </a:r>
            <a:r>
              <a:rPr kumimoji="1" lang="en-US" altLang="zh-CN" sz="2400" dirty="0">
                <a:solidFill>
                  <a:srgbClr val="FF0000"/>
                </a:solidFill>
                <a:latin typeface="Times New Roman" panose="02020603050405020304" pitchFamily="18" charset="0"/>
                <a:ea typeface="楷体_GB2312" pitchFamily="49" charset="-122"/>
                <a:cs typeface="Times New Roman" panose="02020603050405020304" pitchFamily="18" charset="0"/>
              </a:rPr>
              <a:t>;</a:t>
            </a:r>
            <a:endParaRPr kumimoji="1" lang="en-US" altLang="zh-CN" sz="2400" dirty="0">
              <a:solidFill>
                <a:srgbClr val="FF0000"/>
              </a:solidFill>
              <a:latin typeface="Times New Roman" panose="02020603050405020304" pitchFamily="18" charset="0"/>
              <a:ea typeface="楷体_GB2312" pitchFamily="49" charset="-122"/>
              <a:cs typeface="Times New Roman" panose="02020603050405020304" pitchFamily="18" charset="0"/>
            </a:endParaRPr>
          </a:p>
          <a:p>
            <a:pPr>
              <a:lnSpc>
                <a:spcPct val="90000"/>
              </a:lnSpc>
              <a:buFontTx/>
              <a:buNone/>
            </a:pPr>
            <a:r>
              <a:rPr kumimoji="1" lang="en-US" altLang="zh-CN" sz="2400" dirty="0">
                <a:latin typeface="Times New Roman" panose="02020603050405020304" pitchFamily="18" charset="0"/>
                <a:ea typeface="楷体_GB2312" pitchFamily="49" charset="-122"/>
                <a:cs typeface="Times New Roman" panose="02020603050405020304" pitchFamily="18" charset="0"/>
              </a:rPr>
              <a:t>	</a:t>
            </a:r>
            <a:r>
              <a:rPr kumimoji="1" lang="en-US" altLang="zh-CN" sz="2400" dirty="0" err="1">
                <a:latin typeface="Times New Roman" panose="02020603050405020304" pitchFamily="18" charset="0"/>
                <a:ea typeface="楷体_GB2312" pitchFamily="49" charset="-122"/>
                <a:cs typeface="Times New Roman" panose="02020603050405020304" pitchFamily="18" charset="0"/>
              </a:rPr>
              <a:t>struct</a:t>
            </a:r>
            <a:r>
              <a:rPr kumimoji="1" lang="en-US" altLang="zh-CN" sz="2400" dirty="0">
                <a:latin typeface="Times New Roman" panose="02020603050405020304" pitchFamily="18" charset="0"/>
                <a:ea typeface="楷体_GB2312" pitchFamily="49" charset="-122"/>
                <a:cs typeface="Times New Roman" panose="02020603050405020304" pitchFamily="18" charset="0"/>
              </a:rPr>
              <a:t> </a:t>
            </a:r>
            <a:r>
              <a:rPr kumimoji="1" lang="en-US" altLang="zh-CN" sz="2400" dirty="0" err="1">
                <a:latin typeface="Times New Roman" panose="02020603050405020304" pitchFamily="18" charset="0"/>
                <a:ea typeface="楷体_GB2312" pitchFamily="49" charset="-122"/>
                <a:cs typeface="Times New Roman" panose="02020603050405020304" pitchFamily="18" charset="0"/>
              </a:rPr>
              <a:t>task_struct</a:t>
            </a:r>
            <a:r>
              <a:rPr kumimoji="1" lang="en-US" altLang="zh-CN" sz="2400" dirty="0">
                <a:latin typeface="Times New Roman" panose="02020603050405020304" pitchFamily="18" charset="0"/>
                <a:ea typeface="楷体_GB2312" pitchFamily="49" charset="-122"/>
                <a:cs typeface="Times New Roman" panose="02020603050405020304" pitchFamily="18" charset="0"/>
              </a:rPr>
              <a:t> </a:t>
            </a:r>
            <a:r>
              <a:rPr kumimoji="1" lang="en-US" altLang="zh-CN" sz="2400" dirty="0">
                <a:solidFill>
                  <a:schemeClr val="accent2"/>
                </a:solidFill>
                <a:latin typeface="Times New Roman" panose="02020603050405020304" pitchFamily="18" charset="0"/>
                <a:ea typeface="楷体_GB2312" pitchFamily="49" charset="-122"/>
                <a:cs typeface="Times New Roman" panose="02020603050405020304" pitchFamily="18" charset="0"/>
              </a:rPr>
              <a:t>*</a:t>
            </a:r>
            <a:r>
              <a:rPr kumimoji="1" lang="en-US" altLang="zh-CN" sz="2400" dirty="0" err="1">
                <a:solidFill>
                  <a:schemeClr val="accent2"/>
                </a:solidFill>
                <a:latin typeface="Times New Roman" panose="02020603050405020304" pitchFamily="18" charset="0"/>
                <a:ea typeface="楷体_GB2312" pitchFamily="49" charset="-122"/>
                <a:cs typeface="Times New Roman" panose="02020603050405020304" pitchFamily="18" charset="0"/>
              </a:rPr>
              <a:t>p_opptr</a:t>
            </a:r>
            <a:r>
              <a:rPr kumimoji="1" lang="en-US" altLang="zh-CN" sz="2400" dirty="0">
                <a:solidFill>
                  <a:schemeClr val="accent2"/>
                </a:solidFill>
                <a:latin typeface="Times New Roman" panose="02020603050405020304" pitchFamily="18" charset="0"/>
                <a:ea typeface="楷体_GB2312" pitchFamily="49" charset="-122"/>
                <a:cs typeface="Times New Roman" panose="02020603050405020304" pitchFamily="18" charset="0"/>
              </a:rPr>
              <a:t>, *</a:t>
            </a:r>
            <a:r>
              <a:rPr kumimoji="1" lang="en-US" altLang="zh-CN" sz="2400" dirty="0" err="1">
                <a:solidFill>
                  <a:schemeClr val="accent2"/>
                </a:solidFill>
                <a:latin typeface="Times New Roman" panose="02020603050405020304" pitchFamily="18" charset="0"/>
                <a:ea typeface="楷体_GB2312" pitchFamily="49" charset="-122"/>
                <a:cs typeface="Times New Roman" panose="02020603050405020304" pitchFamily="18" charset="0"/>
              </a:rPr>
              <a:t>p_pptr</a:t>
            </a:r>
            <a:r>
              <a:rPr kumimoji="1" lang="en-US" altLang="zh-CN" sz="2400" dirty="0">
                <a:solidFill>
                  <a:schemeClr val="accent2"/>
                </a:solidFill>
                <a:latin typeface="Times New Roman" panose="02020603050405020304" pitchFamily="18" charset="0"/>
                <a:ea typeface="楷体_GB2312" pitchFamily="49" charset="-122"/>
                <a:cs typeface="Times New Roman" panose="02020603050405020304" pitchFamily="18" charset="0"/>
              </a:rPr>
              <a:t>, *</a:t>
            </a:r>
            <a:r>
              <a:rPr kumimoji="1" lang="en-US" altLang="zh-CN" sz="2400" dirty="0" err="1">
                <a:solidFill>
                  <a:schemeClr val="accent2"/>
                </a:solidFill>
                <a:latin typeface="Times New Roman" panose="02020603050405020304" pitchFamily="18" charset="0"/>
                <a:ea typeface="楷体_GB2312" pitchFamily="49" charset="-122"/>
                <a:cs typeface="Times New Roman" panose="02020603050405020304" pitchFamily="18" charset="0"/>
              </a:rPr>
              <a:t>p_cptr</a:t>
            </a:r>
            <a:r>
              <a:rPr kumimoji="1" lang="en-US" altLang="zh-CN" sz="2400" dirty="0">
                <a:solidFill>
                  <a:schemeClr val="accent2"/>
                </a:solidFill>
                <a:latin typeface="Times New Roman" panose="02020603050405020304" pitchFamily="18" charset="0"/>
                <a:ea typeface="楷体_GB2312" pitchFamily="49" charset="-122"/>
                <a:cs typeface="Times New Roman" panose="02020603050405020304" pitchFamily="18" charset="0"/>
              </a:rPr>
              <a:t>, *</a:t>
            </a:r>
            <a:r>
              <a:rPr kumimoji="1" lang="en-US" altLang="zh-CN" sz="2400" dirty="0" err="1">
                <a:solidFill>
                  <a:schemeClr val="accent2"/>
                </a:solidFill>
                <a:latin typeface="Times New Roman" panose="02020603050405020304" pitchFamily="18" charset="0"/>
                <a:ea typeface="楷体_GB2312" pitchFamily="49" charset="-122"/>
                <a:cs typeface="Times New Roman" panose="02020603050405020304" pitchFamily="18" charset="0"/>
              </a:rPr>
              <a:t>p_ysptr</a:t>
            </a:r>
            <a:r>
              <a:rPr kumimoji="1" lang="en-US" altLang="zh-CN" sz="2400" dirty="0">
                <a:solidFill>
                  <a:schemeClr val="accent2"/>
                </a:solidFill>
                <a:latin typeface="Times New Roman" panose="02020603050405020304" pitchFamily="18" charset="0"/>
                <a:ea typeface="楷体_GB2312" pitchFamily="49" charset="-122"/>
                <a:cs typeface="Times New Roman" panose="02020603050405020304" pitchFamily="18" charset="0"/>
              </a:rPr>
              <a:t>, *</a:t>
            </a:r>
            <a:r>
              <a:rPr kumimoji="1" lang="en-US" altLang="zh-CN" sz="2400" dirty="0" err="1">
                <a:solidFill>
                  <a:schemeClr val="accent2"/>
                </a:solidFill>
                <a:latin typeface="Times New Roman" panose="02020603050405020304" pitchFamily="18" charset="0"/>
                <a:ea typeface="楷体_GB2312" pitchFamily="49" charset="-122"/>
                <a:cs typeface="Times New Roman" panose="02020603050405020304" pitchFamily="18" charset="0"/>
              </a:rPr>
              <a:t>p_osptr</a:t>
            </a:r>
            <a:r>
              <a:rPr kumimoji="1" lang="en-US" altLang="zh-CN" sz="2400" dirty="0">
                <a:solidFill>
                  <a:schemeClr val="accent2"/>
                </a:solidFill>
                <a:latin typeface="Times New Roman" panose="02020603050405020304" pitchFamily="18" charset="0"/>
                <a:ea typeface="楷体_GB2312" pitchFamily="49" charset="-122"/>
                <a:cs typeface="Times New Roman" panose="02020603050405020304" pitchFamily="18" charset="0"/>
              </a:rPr>
              <a:t>;</a:t>
            </a:r>
            <a:endParaRPr kumimoji="1" lang="en-US" altLang="zh-CN" sz="2400" dirty="0">
              <a:solidFill>
                <a:schemeClr val="accent2"/>
              </a:solidFill>
              <a:latin typeface="Times New Roman" panose="02020603050405020304" pitchFamily="18" charset="0"/>
              <a:ea typeface="楷体_GB2312" pitchFamily="49" charset="-122"/>
              <a:cs typeface="Times New Roman" panose="02020603050405020304" pitchFamily="18" charset="0"/>
            </a:endParaRPr>
          </a:p>
          <a:p>
            <a:pPr>
              <a:lnSpc>
                <a:spcPct val="90000"/>
              </a:lnSpc>
              <a:buFontTx/>
              <a:buNone/>
            </a:pPr>
            <a:r>
              <a:rPr kumimoji="1" lang="en-US" altLang="zh-CN" sz="2400" dirty="0">
                <a:latin typeface="Times New Roman" panose="02020603050405020304" pitchFamily="18" charset="0"/>
                <a:ea typeface="楷体_GB2312" pitchFamily="49" charset="-122"/>
                <a:cs typeface="Times New Roman" panose="02020603050405020304" pitchFamily="18" charset="0"/>
              </a:rPr>
              <a:t>…</a:t>
            </a:r>
            <a:endParaRPr kumimoji="1" lang="en-US" altLang="zh-CN" sz="2400" dirty="0">
              <a:latin typeface="Times New Roman" panose="02020603050405020304" pitchFamily="18" charset="0"/>
              <a:ea typeface="楷体_GB2312" pitchFamily="49" charset="-122"/>
              <a:cs typeface="Times New Roman" panose="02020603050405020304" pitchFamily="18" charset="0"/>
            </a:endParaRPr>
          </a:p>
          <a:p>
            <a:pPr>
              <a:lnSpc>
                <a:spcPct val="90000"/>
              </a:lnSpc>
              <a:buFontTx/>
              <a:buNone/>
            </a:pPr>
            <a:r>
              <a:rPr kumimoji="1" lang="en-US" altLang="zh-CN" sz="2400" dirty="0">
                <a:latin typeface="Times New Roman" panose="02020603050405020304" pitchFamily="18" charset="0"/>
                <a:ea typeface="楷体_GB2312" pitchFamily="49" charset="-122"/>
                <a:cs typeface="Times New Roman" panose="02020603050405020304" pitchFamily="18" charset="0"/>
              </a:rPr>
              <a:t>	</a:t>
            </a:r>
            <a:r>
              <a:rPr kumimoji="1" lang="en-US" altLang="zh-CN" sz="2400" dirty="0" err="1">
                <a:latin typeface="Times New Roman" panose="02020603050405020304" pitchFamily="18" charset="0"/>
                <a:ea typeface="楷体_GB2312" pitchFamily="49" charset="-122"/>
                <a:cs typeface="Times New Roman" panose="02020603050405020304" pitchFamily="18" charset="0"/>
              </a:rPr>
              <a:t>struct</a:t>
            </a:r>
            <a:r>
              <a:rPr kumimoji="1" lang="en-US" altLang="zh-CN" sz="2400" dirty="0">
                <a:latin typeface="Times New Roman" panose="02020603050405020304" pitchFamily="18" charset="0"/>
                <a:ea typeface="楷体_GB2312" pitchFamily="49" charset="-122"/>
                <a:cs typeface="Times New Roman" panose="02020603050405020304" pitchFamily="18" charset="0"/>
              </a:rPr>
              <a:t> </a:t>
            </a:r>
            <a:r>
              <a:rPr kumimoji="1" lang="en-US" altLang="zh-CN" sz="2400" dirty="0" err="1">
                <a:latin typeface="Times New Roman" panose="02020603050405020304" pitchFamily="18" charset="0"/>
                <a:ea typeface="楷体_GB2312" pitchFamily="49" charset="-122"/>
                <a:cs typeface="Times New Roman" panose="02020603050405020304" pitchFamily="18" charset="0"/>
              </a:rPr>
              <a:t>task_struct</a:t>
            </a:r>
            <a:r>
              <a:rPr kumimoji="1" lang="en-US" altLang="zh-CN" sz="2400" dirty="0">
                <a:latin typeface="Times New Roman" panose="02020603050405020304" pitchFamily="18" charset="0"/>
                <a:ea typeface="楷体_GB2312" pitchFamily="49" charset="-122"/>
                <a:cs typeface="Times New Roman" panose="02020603050405020304" pitchFamily="18" charset="0"/>
              </a:rPr>
              <a:t> </a:t>
            </a:r>
            <a:r>
              <a:rPr kumimoji="1" lang="en-US" altLang="zh-CN" sz="2400" dirty="0">
                <a:solidFill>
                  <a:srgbClr val="8E6C00"/>
                </a:solidFill>
                <a:latin typeface="Times New Roman" panose="02020603050405020304" pitchFamily="18" charset="0"/>
                <a:ea typeface="楷体_GB2312" pitchFamily="49" charset="-122"/>
                <a:cs typeface="Times New Roman" panose="02020603050405020304" pitchFamily="18" charset="0"/>
              </a:rPr>
              <a:t>*</a:t>
            </a:r>
            <a:r>
              <a:rPr kumimoji="1" lang="en-US" altLang="zh-CN" sz="2400" dirty="0" err="1">
                <a:solidFill>
                  <a:srgbClr val="8E6C00"/>
                </a:solidFill>
                <a:latin typeface="Times New Roman" panose="02020603050405020304" pitchFamily="18" charset="0"/>
                <a:ea typeface="楷体_GB2312" pitchFamily="49" charset="-122"/>
                <a:cs typeface="Times New Roman" panose="02020603050405020304" pitchFamily="18" charset="0"/>
              </a:rPr>
              <a:t>pidhash_next</a:t>
            </a:r>
            <a:r>
              <a:rPr kumimoji="1" lang="en-US" altLang="zh-CN" sz="2400" dirty="0">
                <a:solidFill>
                  <a:srgbClr val="8E6C00"/>
                </a:solidFill>
                <a:latin typeface="Times New Roman" panose="02020603050405020304" pitchFamily="18" charset="0"/>
                <a:ea typeface="楷体_GB2312" pitchFamily="49" charset="-122"/>
                <a:cs typeface="Times New Roman" panose="02020603050405020304" pitchFamily="18" charset="0"/>
              </a:rPr>
              <a:t>;</a:t>
            </a:r>
            <a:endParaRPr kumimoji="1" lang="en-US" altLang="zh-CN" sz="2400" dirty="0">
              <a:solidFill>
                <a:srgbClr val="8E6C00"/>
              </a:solidFill>
              <a:latin typeface="Times New Roman" panose="02020603050405020304" pitchFamily="18" charset="0"/>
              <a:ea typeface="楷体_GB2312" pitchFamily="49" charset="-122"/>
              <a:cs typeface="Times New Roman" panose="02020603050405020304" pitchFamily="18" charset="0"/>
            </a:endParaRPr>
          </a:p>
          <a:p>
            <a:pPr>
              <a:lnSpc>
                <a:spcPct val="90000"/>
              </a:lnSpc>
              <a:buFontTx/>
              <a:buNone/>
            </a:pPr>
            <a:r>
              <a:rPr kumimoji="1" lang="en-US" altLang="zh-CN" sz="2400" dirty="0">
                <a:latin typeface="Times New Roman" panose="02020603050405020304" pitchFamily="18" charset="0"/>
                <a:ea typeface="楷体_GB2312" pitchFamily="49" charset="-122"/>
                <a:cs typeface="Times New Roman" panose="02020603050405020304" pitchFamily="18" charset="0"/>
              </a:rPr>
              <a:t>   </a:t>
            </a:r>
            <a:r>
              <a:rPr kumimoji="1" lang="en-US" altLang="zh-CN" sz="2400" dirty="0" err="1">
                <a:latin typeface="Times New Roman" panose="02020603050405020304" pitchFamily="18" charset="0"/>
                <a:ea typeface="楷体_GB2312" pitchFamily="49" charset="-122"/>
                <a:cs typeface="Times New Roman" panose="02020603050405020304" pitchFamily="18" charset="0"/>
              </a:rPr>
              <a:t>struct</a:t>
            </a:r>
            <a:r>
              <a:rPr kumimoji="1" lang="en-US" altLang="zh-CN" sz="2400" dirty="0">
                <a:latin typeface="Times New Roman" panose="02020603050405020304" pitchFamily="18" charset="0"/>
                <a:ea typeface="楷体_GB2312" pitchFamily="49" charset="-122"/>
                <a:cs typeface="Times New Roman" panose="02020603050405020304" pitchFamily="18" charset="0"/>
              </a:rPr>
              <a:t> </a:t>
            </a:r>
            <a:r>
              <a:rPr kumimoji="1" lang="en-US" altLang="zh-CN" sz="2400" dirty="0" err="1">
                <a:latin typeface="Times New Roman" panose="02020603050405020304" pitchFamily="18" charset="0"/>
                <a:ea typeface="楷体_GB2312" pitchFamily="49" charset="-122"/>
                <a:cs typeface="Times New Roman" panose="02020603050405020304" pitchFamily="18" charset="0"/>
              </a:rPr>
              <a:t>task_struct</a:t>
            </a:r>
            <a:r>
              <a:rPr kumimoji="1" lang="en-US" altLang="zh-CN" sz="2400" dirty="0">
                <a:latin typeface="Times New Roman" panose="02020603050405020304" pitchFamily="18" charset="0"/>
                <a:ea typeface="楷体_GB2312" pitchFamily="49" charset="-122"/>
                <a:cs typeface="Times New Roman" panose="02020603050405020304" pitchFamily="18" charset="0"/>
              </a:rPr>
              <a:t> </a:t>
            </a:r>
            <a:r>
              <a:rPr kumimoji="1" lang="en-US" altLang="zh-CN" sz="2400" dirty="0">
                <a:solidFill>
                  <a:srgbClr val="8E6C00"/>
                </a:solidFill>
                <a:latin typeface="Times New Roman" panose="02020603050405020304" pitchFamily="18" charset="0"/>
                <a:ea typeface="楷体_GB2312" pitchFamily="49" charset="-122"/>
                <a:cs typeface="Times New Roman" panose="02020603050405020304" pitchFamily="18" charset="0"/>
              </a:rPr>
              <a:t>**</a:t>
            </a:r>
            <a:r>
              <a:rPr kumimoji="1" lang="en-US" altLang="zh-CN" sz="2400" dirty="0" err="1">
                <a:solidFill>
                  <a:srgbClr val="8E6C00"/>
                </a:solidFill>
                <a:latin typeface="Times New Roman" panose="02020603050405020304" pitchFamily="18" charset="0"/>
                <a:ea typeface="楷体_GB2312" pitchFamily="49" charset="-122"/>
                <a:cs typeface="Times New Roman" panose="02020603050405020304" pitchFamily="18" charset="0"/>
              </a:rPr>
              <a:t>pidhash_pprev</a:t>
            </a:r>
            <a:r>
              <a:rPr kumimoji="1" lang="en-US" altLang="zh-CN" sz="2400" dirty="0">
                <a:solidFill>
                  <a:srgbClr val="8E6C00"/>
                </a:solidFill>
                <a:latin typeface="Times New Roman" panose="02020603050405020304" pitchFamily="18" charset="0"/>
                <a:ea typeface="楷体_GB2312" pitchFamily="49" charset="-122"/>
                <a:cs typeface="Times New Roman" panose="02020603050405020304" pitchFamily="18" charset="0"/>
              </a:rPr>
              <a:t>;</a:t>
            </a:r>
            <a:endParaRPr kumimoji="1" lang="en-US" altLang="zh-CN" sz="2400" dirty="0">
              <a:solidFill>
                <a:srgbClr val="8E6C00"/>
              </a:solidFill>
              <a:latin typeface="Times New Roman" panose="02020603050405020304" pitchFamily="18" charset="0"/>
              <a:ea typeface="楷体_GB2312" pitchFamily="49" charset="-122"/>
              <a:cs typeface="Times New Roman" panose="02020603050405020304" pitchFamily="18" charset="0"/>
            </a:endParaRPr>
          </a:p>
          <a:p>
            <a:pPr>
              <a:lnSpc>
                <a:spcPct val="90000"/>
              </a:lnSpc>
              <a:buFontTx/>
              <a:buNone/>
            </a:pPr>
            <a:r>
              <a:rPr kumimoji="1" lang="en-US" altLang="zh-CN" sz="2400" dirty="0">
                <a:latin typeface="Times New Roman" panose="02020603050405020304" pitchFamily="18" charset="0"/>
                <a:ea typeface="楷体_GB2312" pitchFamily="49" charset="-122"/>
                <a:cs typeface="Times New Roman" panose="02020603050405020304" pitchFamily="18" charset="0"/>
              </a:rPr>
              <a:t>… }</a:t>
            </a:r>
            <a:endParaRPr kumimoji="1" lang="en-US" altLang="zh-CN" sz="2400" dirty="0">
              <a:latin typeface="Times New Roman" panose="02020603050405020304" pitchFamily="18" charset="0"/>
              <a:ea typeface="楷体_GB2312" pitchFamily="49" charset="-122"/>
              <a:cs typeface="Times New Roman" panose="02020603050405020304" pitchFamily="18" charset="0"/>
            </a:endParaRPr>
          </a:p>
        </p:txBody>
      </p:sp>
      <p:sp>
        <p:nvSpPr>
          <p:cNvPr id="4" name="Rectangle 2"/>
          <p:cNvSpPr txBox="1">
            <a:spLocks noChangeArrowheads="1"/>
          </p:cNvSpPr>
          <p:nvPr/>
        </p:nvSpPr>
        <p:spPr bwMode="black">
          <a:xfrm>
            <a:off x="611188" y="188913"/>
            <a:ext cx="76327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2pPr>
            <a:lvl3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3pPr>
            <a:lvl4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4pPr>
            <a:lvl5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5pPr>
            <a:lvl6pPr marL="4572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6pPr>
            <a:lvl7pPr marL="9144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7pPr>
            <a:lvl8pPr marL="13716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8pPr>
            <a:lvl9pPr marL="18288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9pPr>
          </a:lstStyle>
          <a:p>
            <a:pPr eaLnBrk="1" hangingPunct="1"/>
            <a:r>
              <a:rPr lang="en-US" altLang="zh-CN" kern="0" dirty="0">
                <a:latin typeface="Times New Roman" panose="02020603050405020304" pitchFamily="18" charset="0"/>
                <a:ea typeface="楷体_GB2312" pitchFamily="49" charset="-122"/>
                <a:cs typeface="Times New Roman" panose="02020603050405020304" pitchFamily="18" charset="0"/>
              </a:rPr>
              <a:t>2.1 Linux</a:t>
            </a:r>
            <a:r>
              <a:rPr lang="zh-CN" altLang="en-US" kern="0" dirty="0">
                <a:latin typeface="Times New Roman" panose="02020603050405020304" pitchFamily="18" charset="0"/>
                <a:ea typeface="楷体_GB2312" pitchFamily="49" charset="-122"/>
                <a:cs typeface="Times New Roman" panose="02020603050405020304" pitchFamily="18" charset="0"/>
              </a:rPr>
              <a:t>进程描述符</a:t>
            </a:r>
            <a:endParaRPr lang="zh-CN" altLang="en-US" kern="0" dirty="0">
              <a:latin typeface="Times New Roman" panose="02020603050405020304" pitchFamily="18" charset="0"/>
              <a:ea typeface="楷体_GB2312" pitchFamily="49" charset="-122"/>
              <a:cs typeface="Times New Roman" panose="02020603050405020304" pitchFamily="18" charset="0"/>
            </a:endParaRPr>
          </a:p>
        </p:txBody>
      </p:sp>
      <p:sp>
        <p:nvSpPr>
          <p:cNvPr id="2" name="矩形 1"/>
          <p:cNvSpPr/>
          <p:nvPr/>
        </p:nvSpPr>
        <p:spPr>
          <a:xfrm>
            <a:off x="971600" y="5301208"/>
            <a:ext cx="7839659" cy="1477328"/>
          </a:xfrm>
          <a:prstGeom prst="rect">
            <a:avLst/>
          </a:prstGeom>
        </p:spPr>
        <p:txBody>
          <a:bodyPr wrap="square">
            <a:spAutoFit/>
          </a:bodyPr>
          <a:lstStyle/>
          <a:p>
            <a:pPr marL="457200" indent="-457200">
              <a:buAutoNum type="arabicParenR"/>
            </a:pPr>
            <a:r>
              <a:rPr kumimoji="1" lang="en-US" altLang="zh-CN" sz="1800" b="1" dirty="0" err="1">
                <a:solidFill>
                  <a:srgbClr val="2B5681"/>
                </a:solidFill>
                <a:ea typeface="楷体" panose="02010609060101010101" pitchFamily="49" charset="-122"/>
                <a:cs typeface="Times New Roman" panose="02020603050405020304" pitchFamily="18" charset="0"/>
              </a:rPr>
              <a:t>p_opptr</a:t>
            </a:r>
            <a:r>
              <a:rPr kumimoji="1" lang="zh-CN" altLang="en-US" sz="1800" b="1" dirty="0">
                <a:solidFill>
                  <a:srgbClr val="2B5681"/>
                </a:solidFill>
                <a:ea typeface="楷体" panose="02010609060101010101" pitchFamily="49" charset="-122"/>
                <a:cs typeface="Times New Roman" panose="02020603050405020304" pitchFamily="18" charset="0"/>
              </a:rPr>
              <a:t>指向进程的原始祖先，通常和</a:t>
            </a:r>
            <a:r>
              <a:rPr kumimoji="1" lang="en-US" altLang="zh-CN" sz="1800" b="1" dirty="0" err="1">
                <a:solidFill>
                  <a:srgbClr val="2B5681"/>
                </a:solidFill>
                <a:ea typeface="楷体" panose="02010609060101010101" pitchFamily="49" charset="-122"/>
                <a:cs typeface="Times New Roman" panose="02020603050405020304" pitchFamily="18" charset="0"/>
              </a:rPr>
              <a:t>p_pptr</a:t>
            </a:r>
            <a:r>
              <a:rPr kumimoji="1" lang="zh-CN" altLang="en-US" sz="1800" b="1" dirty="0">
                <a:solidFill>
                  <a:srgbClr val="2B5681"/>
                </a:solidFill>
                <a:ea typeface="楷体" panose="02010609060101010101" pitchFamily="49" charset="-122"/>
                <a:cs typeface="Times New Roman" panose="02020603050405020304" pitchFamily="18" charset="0"/>
              </a:rPr>
              <a:t>类似</a:t>
            </a:r>
            <a:endParaRPr kumimoji="1" lang="en-US" altLang="zh-CN" sz="1800" b="1" dirty="0">
              <a:solidFill>
                <a:srgbClr val="2B5681"/>
              </a:solidFill>
              <a:ea typeface="楷体" panose="02010609060101010101" pitchFamily="49" charset="-122"/>
              <a:cs typeface="Times New Roman" panose="02020603050405020304" pitchFamily="18" charset="0"/>
            </a:endParaRPr>
          </a:p>
          <a:p>
            <a:pPr marL="457200" indent="-457200">
              <a:buAutoNum type="arabicParenR"/>
            </a:pPr>
            <a:r>
              <a:rPr kumimoji="1" lang="en-US" altLang="zh-CN" sz="1800" b="1" dirty="0" err="1">
                <a:solidFill>
                  <a:srgbClr val="2B5681"/>
                </a:solidFill>
                <a:ea typeface="楷体" panose="02010609060101010101" pitchFamily="49" charset="-122"/>
                <a:cs typeface="Times New Roman" panose="02020603050405020304" pitchFamily="18" charset="0"/>
              </a:rPr>
              <a:t>p_pptr</a:t>
            </a:r>
            <a:r>
              <a:rPr kumimoji="1" lang="zh-CN" altLang="en-US" sz="1800" b="1" dirty="0">
                <a:solidFill>
                  <a:srgbClr val="2B5681"/>
                </a:solidFill>
                <a:ea typeface="楷体" panose="02010609060101010101" pitchFamily="49" charset="-122"/>
                <a:cs typeface="Times New Roman" panose="02020603050405020304" pitchFamily="18" charset="0"/>
              </a:rPr>
              <a:t>指向进程的当前祖先</a:t>
            </a:r>
            <a:endParaRPr kumimoji="1" lang="en-US" altLang="zh-CN" sz="1800" b="1" dirty="0">
              <a:solidFill>
                <a:srgbClr val="2B5681"/>
              </a:solidFill>
              <a:ea typeface="楷体" panose="02010609060101010101" pitchFamily="49" charset="-122"/>
              <a:cs typeface="Times New Roman" panose="02020603050405020304" pitchFamily="18" charset="0"/>
            </a:endParaRPr>
          </a:p>
          <a:p>
            <a:pPr marL="457200" indent="-457200">
              <a:buAutoNum type="arabicParenR"/>
            </a:pPr>
            <a:r>
              <a:rPr kumimoji="1" lang="en-US" altLang="zh-CN" sz="1800" b="1" dirty="0" err="1">
                <a:solidFill>
                  <a:srgbClr val="2B5681"/>
                </a:solidFill>
                <a:ea typeface="楷体" panose="02010609060101010101" pitchFamily="49" charset="-122"/>
                <a:cs typeface="Times New Roman" panose="02020603050405020304" pitchFamily="18" charset="0"/>
              </a:rPr>
              <a:t>p_cptr</a:t>
            </a:r>
            <a:r>
              <a:rPr kumimoji="1" lang="zh-CN" altLang="en-US" sz="1800" b="1" dirty="0">
                <a:solidFill>
                  <a:srgbClr val="2B5681"/>
                </a:solidFill>
                <a:ea typeface="楷体" panose="02010609060101010101" pitchFamily="49" charset="-122"/>
                <a:cs typeface="Times New Roman" panose="02020603050405020304" pitchFamily="18" charset="0"/>
              </a:rPr>
              <a:t>指向进程的最年青</a:t>
            </a:r>
            <a:r>
              <a:rPr kumimoji="1" lang="en-US" altLang="zh-CN" sz="1800" b="1" dirty="0">
                <a:solidFill>
                  <a:srgbClr val="2B5681"/>
                </a:solidFill>
                <a:ea typeface="楷体" panose="02010609060101010101" pitchFamily="49" charset="-122"/>
                <a:cs typeface="Times New Roman" panose="02020603050405020304" pitchFamily="18" charset="0"/>
              </a:rPr>
              <a:t>(</a:t>
            </a:r>
            <a:r>
              <a:rPr kumimoji="1" lang="zh-CN" altLang="en-US" sz="1800" b="1" dirty="0">
                <a:solidFill>
                  <a:srgbClr val="2B5681"/>
                </a:solidFill>
                <a:ea typeface="楷体" panose="02010609060101010101" pitchFamily="49" charset="-122"/>
                <a:cs typeface="Times New Roman" panose="02020603050405020304" pitchFamily="18" charset="0"/>
              </a:rPr>
              <a:t>最近</a:t>
            </a:r>
            <a:r>
              <a:rPr kumimoji="1" lang="en-US" altLang="zh-CN" sz="1800" b="1" dirty="0">
                <a:solidFill>
                  <a:srgbClr val="2B5681"/>
                </a:solidFill>
                <a:ea typeface="楷体" panose="02010609060101010101" pitchFamily="49" charset="-122"/>
                <a:cs typeface="Times New Roman" panose="02020603050405020304" pitchFamily="18" charset="0"/>
              </a:rPr>
              <a:t>)</a:t>
            </a:r>
            <a:r>
              <a:rPr kumimoji="1" lang="zh-CN" altLang="en-US" sz="1800" b="1" dirty="0">
                <a:solidFill>
                  <a:srgbClr val="2B5681"/>
                </a:solidFill>
                <a:ea typeface="楷体" panose="02010609060101010101" pitchFamily="49" charset="-122"/>
                <a:cs typeface="Times New Roman" panose="02020603050405020304" pitchFamily="18" charset="0"/>
              </a:rPr>
              <a:t>子孙</a:t>
            </a:r>
            <a:endParaRPr kumimoji="1" lang="en-US" altLang="zh-CN" sz="1800" b="1" dirty="0">
              <a:solidFill>
                <a:srgbClr val="2B5681"/>
              </a:solidFill>
              <a:ea typeface="楷体" panose="02010609060101010101" pitchFamily="49" charset="-122"/>
              <a:cs typeface="Times New Roman" panose="02020603050405020304" pitchFamily="18" charset="0"/>
            </a:endParaRPr>
          </a:p>
          <a:p>
            <a:pPr marL="457200" indent="-457200">
              <a:buAutoNum type="arabicParenR"/>
            </a:pPr>
            <a:r>
              <a:rPr kumimoji="1" lang="en-US" altLang="zh-CN" sz="1800" b="1" dirty="0" err="1">
                <a:solidFill>
                  <a:srgbClr val="2B5681"/>
                </a:solidFill>
                <a:ea typeface="楷体" panose="02010609060101010101" pitchFamily="49" charset="-122"/>
                <a:cs typeface="Times New Roman" panose="02020603050405020304" pitchFamily="18" charset="0"/>
              </a:rPr>
              <a:t>p_ysptr</a:t>
            </a:r>
            <a:r>
              <a:rPr kumimoji="1" lang="zh-CN" altLang="en-US" sz="1800" b="1" dirty="0">
                <a:solidFill>
                  <a:srgbClr val="2B5681"/>
                </a:solidFill>
                <a:ea typeface="楷体" panose="02010609060101010101" pitchFamily="49" charset="-122"/>
                <a:cs typeface="Times New Roman" panose="02020603050405020304" pitchFamily="18" charset="0"/>
              </a:rPr>
              <a:t>指向进程的下一个最年青</a:t>
            </a:r>
            <a:r>
              <a:rPr kumimoji="1" lang="en-US" altLang="zh-CN" sz="1800" b="1" dirty="0">
                <a:solidFill>
                  <a:srgbClr val="2B5681"/>
                </a:solidFill>
                <a:ea typeface="楷体" panose="02010609060101010101" pitchFamily="49" charset="-122"/>
                <a:cs typeface="Times New Roman" panose="02020603050405020304" pitchFamily="18" charset="0"/>
              </a:rPr>
              <a:t>(</a:t>
            </a:r>
            <a:r>
              <a:rPr kumimoji="1" lang="zh-CN" altLang="en-US" sz="1800" b="1" dirty="0">
                <a:solidFill>
                  <a:srgbClr val="2B5681"/>
                </a:solidFill>
                <a:ea typeface="楷体" panose="02010609060101010101" pitchFamily="49" charset="-122"/>
                <a:cs typeface="Times New Roman" panose="02020603050405020304" pitchFamily="18" charset="0"/>
              </a:rPr>
              <a:t>下一个最近</a:t>
            </a:r>
            <a:r>
              <a:rPr kumimoji="1" lang="en-US" altLang="zh-CN" sz="1800" b="1" dirty="0">
                <a:solidFill>
                  <a:srgbClr val="2B5681"/>
                </a:solidFill>
                <a:ea typeface="楷体" panose="02010609060101010101" pitchFamily="49" charset="-122"/>
                <a:cs typeface="Times New Roman" panose="02020603050405020304" pitchFamily="18" charset="0"/>
              </a:rPr>
              <a:t>)</a:t>
            </a:r>
            <a:r>
              <a:rPr kumimoji="1" lang="zh-CN" altLang="en-US" sz="1800" b="1" dirty="0">
                <a:solidFill>
                  <a:srgbClr val="2B5681"/>
                </a:solidFill>
                <a:ea typeface="楷体" panose="02010609060101010101" pitchFamily="49" charset="-122"/>
                <a:cs typeface="Times New Roman" panose="02020603050405020304" pitchFamily="18" charset="0"/>
              </a:rPr>
              <a:t>兄弟</a:t>
            </a:r>
            <a:r>
              <a:rPr kumimoji="1" lang="en-US" altLang="zh-CN" sz="1800" b="1" dirty="0">
                <a:solidFill>
                  <a:srgbClr val="2B5681"/>
                </a:solidFill>
                <a:ea typeface="楷体" panose="02010609060101010101" pitchFamily="49" charset="-122"/>
                <a:cs typeface="Times New Roman" panose="02020603050405020304" pitchFamily="18" charset="0"/>
              </a:rPr>
              <a:t> </a:t>
            </a:r>
            <a:endParaRPr kumimoji="1" lang="en-US" altLang="zh-CN" sz="1800" b="1" dirty="0">
              <a:solidFill>
                <a:srgbClr val="2B5681"/>
              </a:solidFill>
              <a:ea typeface="楷体" panose="02010609060101010101" pitchFamily="49" charset="-122"/>
              <a:cs typeface="Times New Roman" panose="02020603050405020304" pitchFamily="18" charset="0"/>
            </a:endParaRPr>
          </a:p>
          <a:p>
            <a:pPr marL="457200" indent="-457200">
              <a:buAutoNum type="arabicParenR"/>
            </a:pPr>
            <a:r>
              <a:rPr kumimoji="1" lang="en-US" altLang="zh-CN" sz="1800" b="1" dirty="0" err="1">
                <a:solidFill>
                  <a:srgbClr val="2B5681"/>
                </a:solidFill>
                <a:ea typeface="楷体" panose="02010609060101010101" pitchFamily="49" charset="-122"/>
                <a:cs typeface="Times New Roman" panose="02020603050405020304" pitchFamily="18" charset="0"/>
              </a:rPr>
              <a:t>p_osptr</a:t>
            </a:r>
            <a:r>
              <a:rPr kumimoji="1" lang="zh-CN" altLang="en-US" sz="1800" b="1" dirty="0">
                <a:solidFill>
                  <a:srgbClr val="2B5681"/>
                </a:solidFill>
                <a:ea typeface="楷体" panose="02010609060101010101" pitchFamily="49" charset="-122"/>
                <a:cs typeface="Times New Roman" panose="02020603050405020304" pitchFamily="18" charset="0"/>
              </a:rPr>
              <a:t>指向进程的下一个最古老</a:t>
            </a:r>
            <a:r>
              <a:rPr kumimoji="1" lang="en-US" altLang="zh-CN" sz="1800" b="1" dirty="0">
                <a:solidFill>
                  <a:srgbClr val="2B5681"/>
                </a:solidFill>
                <a:ea typeface="楷体" panose="02010609060101010101" pitchFamily="49" charset="-122"/>
                <a:cs typeface="Times New Roman" panose="02020603050405020304" pitchFamily="18" charset="0"/>
              </a:rPr>
              <a:t>(</a:t>
            </a:r>
            <a:r>
              <a:rPr kumimoji="1" lang="zh-CN" altLang="en-US" sz="1800" b="1" dirty="0">
                <a:solidFill>
                  <a:srgbClr val="2B5681"/>
                </a:solidFill>
                <a:ea typeface="楷体" panose="02010609060101010101" pitchFamily="49" charset="-122"/>
                <a:cs typeface="Times New Roman" panose="02020603050405020304" pitchFamily="18" charset="0"/>
              </a:rPr>
              <a:t>下一个最远</a:t>
            </a:r>
            <a:r>
              <a:rPr kumimoji="1" lang="en-US" altLang="zh-CN" sz="1800" b="1" dirty="0">
                <a:solidFill>
                  <a:srgbClr val="2B5681"/>
                </a:solidFill>
                <a:ea typeface="楷体" panose="02010609060101010101" pitchFamily="49" charset="-122"/>
                <a:cs typeface="Times New Roman" panose="02020603050405020304" pitchFamily="18" charset="0"/>
              </a:rPr>
              <a:t>)</a:t>
            </a:r>
            <a:r>
              <a:rPr kumimoji="1" lang="zh-CN" altLang="en-US" sz="1800" b="1" dirty="0">
                <a:solidFill>
                  <a:srgbClr val="2B5681"/>
                </a:solidFill>
                <a:ea typeface="楷体" panose="02010609060101010101" pitchFamily="49" charset="-122"/>
                <a:cs typeface="Times New Roman" panose="02020603050405020304" pitchFamily="18" charset="0"/>
              </a:rPr>
              <a:t>兄弟</a:t>
            </a:r>
            <a:r>
              <a:rPr kumimoji="1" lang="en-US" altLang="zh-CN" sz="1800" b="1" dirty="0">
                <a:solidFill>
                  <a:srgbClr val="2B5681"/>
                </a:solidFill>
                <a:ea typeface="楷体" panose="02010609060101010101" pitchFamily="49" charset="-122"/>
                <a:cs typeface="Times New Roman" panose="02020603050405020304" pitchFamily="18" charset="0"/>
              </a:rPr>
              <a:t> </a:t>
            </a:r>
            <a:endParaRPr kumimoji="1" lang="zh-CN" altLang="en-US" sz="1800" b="1" dirty="0">
              <a:solidFill>
                <a:srgbClr val="2B5681"/>
              </a:solidFill>
              <a:ea typeface="楷体" panose="02010609060101010101" pitchFamily="49" charset="-122"/>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611188" y="155575"/>
            <a:ext cx="7632700" cy="609600"/>
          </a:xfrm>
        </p:spPr>
        <p:txBody>
          <a:bodyPr/>
          <a:lstStyle/>
          <a:p>
            <a:pPr eaLnBrk="1" hangingPunct="1"/>
            <a:r>
              <a:rPr lang="en-US" altLang="zh-CN" b="0" dirty="0">
                <a:latin typeface="Times New Roman" panose="02020603050405020304" pitchFamily="18" charset="0"/>
                <a:ea typeface="楷体_GB2312" pitchFamily="49" charset="-122"/>
                <a:cs typeface="Times New Roman" panose="02020603050405020304" pitchFamily="18" charset="0"/>
              </a:rPr>
              <a:t>2.2 Linux</a:t>
            </a:r>
            <a:r>
              <a:rPr lang="zh-CN" altLang="en-US" b="0" dirty="0">
                <a:latin typeface="Times New Roman" panose="02020603050405020304" pitchFamily="18" charset="0"/>
                <a:ea typeface="楷体_GB2312" pitchFamily="49" charset="-122"/>
                <a:cs typeface="Times New Roman" panose="02020603050405020304" pitchFamily="18" charset="0"/>
              </a:rPr>
              <a:t>进程的</a:t>
            </a:r>
            <a:r>
              <a:rPr lang="zh-CN" altLang="en-US" dirty="0">
                <a:latin typeface="Times New Roman" panose="02020603050405020304" pitchFamily="18" charset="0"/>
                <a:ea typeface="楷体_GB2312" pitchFamily="49" charset="-122"/>
                <a:cs typeface="Times New Roman" panose="02020603050405020304" pitchFamily="18" charset="0"/>
                <a:hlinkClick r:id="rId1" action="ppaction://hlinkfile"/>
              </a:rPr>
              <a:t>状态</a:t>
            </a:r>
            <a:r>
              <a:rPr lang="zh-CN" altLang="en-US" dirty="0">
                <a:latin typeface="Times New Roman" panose="02020603050405020304" pitchFamily="18" charset="0"/>
                <a:ea typeface="楷体_GB2312" pitchFamily="49" charset="-122"/>
                <a:cs typeface="Times New Roman" panose="02020603050405020304" pitchFamily="18" charset="0"/>
              </a:rPr>
              <a:t>及转换</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
        <p:nvSpPr>
          <p:cNvPr id="21507" name="Rectangle 3"/>
          <p:cNvSpPr>
            <a:spLocks noGrp="1" noChangeArrowheads="1"/>
          </p:cNvSpPr>
          <p:nvPr>
            <p:ph type="body" idx="1"/>
          </p:nvPr>
        </p:nvSpPr>
        <p:spPr>
          <a:xfrm>
            <a:off x="611188" y="1076996"/>
            <a:ext cx="8532812" cy="5589588"/>
          </a:xfrm>
        </p:spPr>
        <p:txBody>
          <a:bodyPr/>
          <a:lstStyle/>
          <a:p>
            <a:pPr eaLnBrk="1" hangingPunct="1">
              <a:buFont typeface="Arial" panose="020B0604020202020204" pitchFamily="34" charset="0"/>
              <a:buChar char="•"/>
            </a:pPr>
            <a:r>
              <a:rPr lang="en-US" altLang="zh-CN" dirty="0" err="1">
                <a:latin typeface="Times New Roman" panose="02020603050405020304" pitchFamily="18" charset="0"/>
                <a:ea typeface="楷体_GB2312" pitchFamily="49" charset="-122"/>
                <a:cs typeface="Times New Roman" panose="02020603050405020304" pitchFamily="18" charset="0"/>
              </a:rPr>
              <a:t>task_struct</a:t>
            </a:r>
            <a:r>
              <a:rPr lang="zh-CN" altLang="en-US" dirty="0">
                <a:latin typeface="Times New Roman" panose="02020603050405020304" pitchFamily="18" charset="0"/>
                <a:ea typeface="楷体_GB2312" pitchFamily="49" charset="-122"/>
                <a:cs typeface="Times New Roman" panose="02020603050405020304" pitchFamily="18" charset="0"/>
              </a:rPr>
              <a:t>中的</a:t>
            </a:r>
            <a:r>
              <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rPr>
              <a:t>state </a:t>
            </a:r>
            <a:r>
              <a:rPr lang="zh-CN" altLang="en-US" dirty="0">
                <a:latin typeface="Times New Roman" panose="02020603050405020304" pitchFamily="18" charset="0"/>
                <a:ea typeface="楷体_GB2312" pitchFamily="49" charset="-122"/>
                <a:cs typeface="Times New Roman" panose="02020603050405020304" pitchFamily="18" charset="0"/>
              </a:rPr>
              <a:t>表示进程当前的状态：</a:t>
            </a:r>
            <a:endParaRPr lang="en-US" altLang="zh-CN" dirty="0">
              <a:latin typeface="Times New Roman" panose="02020603050405020304" pitchFamily="18" charset="0"/>
              <a:ea typeface="楷体_GB2312" pitchFamily="49" charset="-122"/>
              <a:cs typeface="Times New Roman" panose="02020603050405020304" pitchFamily="18" charset="0"/>
            </a:endParaRPr>
          </a:p>
          <a:p>
            <a:pPr marL="0" indent="0" eaLnBrk="1" hangingPunct="1">
              <a:buNone/>
            </a:pPr>
            <a:r>
              <a:rPr lang="en-US" altLang="zh-CN" dirty="0">
                <a:latin typeface="Times New Roman" panose="02020603050405020304" pitchFamily="18" charset="0"/>
                <a:ea typeface="楷体_GB2312" pitchFamily="49" charset="-122"/>
                <a:cs typeface="Times New Roman" panose="02020603050405020304" pitchFamily="18" charset="0"/>
              </a:rPr>
              <a:t>        volatile long </a:t>
            </a:r>
            <a:r>
              <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rPr>
              <a:t>state </a:t>
            </a:r>
            <a:endPar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功能：表征进程的可运行性</a:t>
            </a:r>
            <a:endParaRPr lang="en-US" altLang="zh-CN"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状态定义</a:t>
            </a:r>
            <a:r>
              <a:rPr lang="en-US" altLang="zh-CN" dirty="0">
                <a:latin typeface="Times New Roman" panose="02020603050405020304" pitchFamily="18" charset="0"/>
                <a:ea typeface="楷体_GB2312" pitchFamily="49" charset="-122"/>
                <a:cs typeface="Times New Roman" panose="02020603050405020304" pitchFamily="18" charset="0"/>
              </a:rPr>
              <a:t>[include/</a:t>
            </a:r>
            <a:r>
              <a:rPr lang="en-US" altLang="zh-CN" dirty="0" err="1">
                <a:latin typeface="Times New Roman" panose="02020603050405020304" pitchFamily="18" charset="0"/>
                <a:ea typeface="楷体_GB2312" pitchFamily="49" charset="-122"/>
                <a:cs typeface="Times New Roman" panose="02020603050405020304" pitchFamily="18" charset="0"/>
              </a:rPr>
              <a:t>linux</a:t>
            </a:r>
            <a:r>
              <a:rPr lang="en-US" altLang="zh-CN" dirty="0">
                <a:latin typeface="Times New Roman" panose="02020603050405020304" pitchFamily="18" charset="0"/>
                <a:ea typeface="楷体_GB2312" pitchFamily="49" charset="-122"/>
                <a:cs typeface="Times New Roman" panose="02020603050405020304" pitchFamily="18" charset="0"/>
              </a:rPr>
              <a:t>/</a:t>
            </a:r>
            <a:r>
              <a:rPr lang="en-US" altLang="zh-CN" dirty="0" err="1">
                <a:latin typeface="Times New Roman" panose="02020603050405020304" pitchFamily="18" charset="0"/>
                <a:ea typeface="楷体_GB2312" pitchFamily="49" charset="-122"/>
                <a:cs typeface="Times New Roman" panose="02020603050405020304" pitchFamily="18" charset="0"/>
              </a:rPr>
              <a:t>sched.h</a:t>
            </a:r>
            <a:r>
              <a:rPr lang="en-US" altLang="zh-CN" dirty="0">
                <a:latin typeface="Times New Roman" panose="02020603050405020304" pitchFamily="18" charset="0"/>
                <a:ea typeface="楷体_GB2312" pitchFamily="49" charset="-122"/>
                <a:cs typeface="Times New Roman" panose="02020603050405020304" pitchFamily="18" charset="0"/>
              </a:rPr>
              <a:t>]</a:t>
            </a:r>
            <a:endParaRPr lang="en-US" altLang="zh-CN" dirty="0">
              <a:latin typeface="Times New Roman" panose="02020603050405020304" pitchFamily="18" charset="0"/>
              <a:ea typeface="楷体_GB2312" pitchFamily="49" charset="-122"/>
              <a:cs typeface="Times New Roman" panose="02020603050405020304" pitchFamily="18" charset="0"/>
            </a:endParaRPr>
          </a:p>
          <a:p>
            <a:pPr eaLnBrk="1" hangingPunct="1"/>
            <a:endParaRPr lang="en-US" altLang="zh-CN" dirty="0">
              <a:latin typeface="Times New Roman" panose="02020603050405020304" pitchFamily="18" charset="0"/>
              <a:ea typeface="楷体_GB2312" pitchFamily="49" charset="-122"/>
              <a:cs typeface="Times New Roman" panose="02020603050405020304" pitchFamily="18" charset="0"/>
            </a:endParaRPr>
          </a:p>
          <a:p>
            <a:pPr eaLnBrk="1" hangingPunct="1"/>
            <a:endParaRPr lang="en-US" altLang="zh-CN" dirty="0">
              <a:latin typeface="Times New Roman" panose="02020603050405020304" pitchFamily="18" charset="0"/>
              <a:ea typeface="楷体_GB2312" pitchFamily="49" charset="-122"/>
              <a:cs typeface="Times New Roman" panose="02020603050405020304" pitchFamily="18" charset="0"/>
            </a:endParaRPr>
          </a:p>
          <a:p>
            <a:pPr eaLnBrk="1" hangingPunct="1"/>
            <a:endParaRPr lang="en-US" altLang="zh-CN" dirty="0">
              <a:latin typeface="Times New Roman" panose="02020603050405020304" pitchFamily="18" charset="0"/>
              <a:ea typeface="楷体_GB2312" pitchFamily="49" charset="-122"/>
              <a:cs typeface="Times New Roman" panose="02020603050405020304" pitchFamily="18" charset="0"/>
            </a:endParaRPr>
          </a:p>
          <a:p>
            <a:pPr eaLnBrk="1" hangingPunct="1"/>
            <a:endParaRPr lang="en-US" altLang="zh-CN" dirty="0">
              <a:latin typeface="Times New Roman" panose="02020603050405020304" pitchFamily="18" charset="0"/>
              <a:ea typeface="楷体_GB2312" pitchFamily="49" charset="-122"/>
              <a:cs typeface="Times New Roman" panose="02020603050405020304" pitchFamily="18" charset="0"/>
            </a:endParaRPr>
          </a:p>
          <a:p>
            <a:pPr lvl="1" eaLnBrk="1" hangingPunct="1"/>
            <a:r>
              <a:rPr lang="en-US" altLang="zh-CN" dirty="0">
                <a:latin typeface="Times New Roman" panose="02020603050405020304" pitchFamily="18" charset="0"/>
                <a:ea typeface="楷体_GB2312" pitchFamily="49" charset="-122"/>
                <a:cs typeface="Times New Roman" panose="02020603050405020304" pitchFamily="18" charset="0"/>
              </a:rPr>
              <a:t>Linux 2.4</a:t>
            </a:r>
            <a:r>
              <a:rPr lang="zh-CN" altLang="en-US" dirty="0">
                <a:latin typeface="Times New Roman" panose="02020603050405020304" pitchFamily="18" charset="0"/>
                <a:ea typeface="楷体_GB2312" pitchFamily="49" charset="-122"/>
                <a:cs typeface="Times New Roman" panose="02020603050405020304" pitchFamily="18" charset="0"/>
              </a:rPr>
              <a:t>与</a:t>
            </a:r>
            <a:r>
              <a:rPr lang="en-US" altLang="zh-CN" dirty="0">
                <a:latin typeface="Times New Roman" panose="02020603050405020304" pitchFamily="18" charset="0"/>
                <a:ea typeface="楷体_GB2312" pitchFamily="49" charset="-122"/>
                <a:cs typeface="Times New Roman" panose="02020603050405020304" pitchFamily="18" charset="0"/>
              </a:rPr>
              <a:t>Linux 2.6</a:t>
            </a:r>
            <a:r>
              <a:rPr lang="zh-CN" altLang="en-US" dirty="0">
                <a:latin typeface="Times New Roman" panose="02020603050405020304" pitchFamily="18" charset="0"/>
                <a:ea typeface="楷体_GB2312" pitchFamily="49" charset="-122"/>
                <a:cs typeface="Times New Roman" panose="02020603050405020304" pitchFamily="18" charset="0"/>
              </a:rPr>
              <a:t>的状态定义变化</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2" eaLnBrk="1" hangingPunct="1"/>
            <a:r>
              <a:rPr lang="zh-CN" altLang="en-US" dirty="0">
                <a:latin typeface="Times New Roman" panose="02020603050405020304" pitchFamily="18" charset="0"/>
                <a:ea typeface="楷体_GB2312" pitchFamily="49" charset="-122"/>
                <a:cs typeface="Times New Roman" panose="02020603050405020304" pitchFamily="18" charset="0"/>
              </a:rPr>
              <a:t>新增两种状态：</a:t>
            </a:r>
            <a:r>
              <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rPr>
              <a:t>TASK_TRACED</a:t>
            </a:r>
            <a:r>
              <a:rPr lang="zh-CN" altLang="en-US" dirty="0">
                <a:latin typeface="Times New Roman" panose="02020603050405020304" pitchFamily="18" charset="0"/>
                <a:ea typeface="楷体_GB2312" pitchFamily="49" charset="-122"/>
                <a:cs typeface="Times New Roman" panose="02020603050405020304" pitchFamily="18" charset="0"/>
              </a:rPr>
              <a:t>、</a:t>
            </a:r>
            <a:r>
              <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rPr>
              <a:t>TASK_DEAD</a:t>
            </a:r>
            <a:endPar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endParaRPr>
          </a:p>
          <a:p>
            <a:pPr lvl="2" eaLnBrk="1" hangingPunct="1"/>
            <a:r>
              <a:rPr lang="zh-CN" altLang="en-US" dirty="0">
                <a:latin typeface="Times New Roman" panose="02020603050405020304" pitchFamily="18" charset="0"/>
                <a:ea typeface="楷体_GB2312" pitchFamily="49" charset="-122"/>
                <a:cs typeface="Times New Roman" panose="02020603050405020304" pitchFamily="18" charset="0"/>
              </a:rPr>
              <a:t>宏定义数值有较大差别</a:t>
            </a:r>
            <a:endPar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endParaRPr>
          </a:p>
        </p:txBody>
      </p:sp>
      <p:pic>
        <p:nvPicPr>
          <p:cNvPr id="21508"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7313" y="3143250"/>
            <a:ext cx="6408737" cy="191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Line 6"/>
          <p:cNvSpPr>
            <a:spLocks noChangeShapeType="1"/>
          </p:cNvSpPr>
          <p:nvPr/>
        </p:nvSpPr>
        <p:spPr bwMode="auto">
          <a:xfrm flipV="1">
            <a:off x="1357313" y="4994275"/>
            <a:ext cx="4929187" cy="0"/>
          </a:xfrm>
          <a:prstGeom prst="line">
            <a:avLst/>
          </a:prstGeom>
          <a:noFill/>
          <a:ln w="38100">
            <a:solidFill>
              <a:srgbClr val="FF3300"/>
            </a:solidFill>
            <a:round/>
          </a:ln>
          <a:effectLst/>
        </p:spPr>
        <p:txBody>
          <a:bodyPr/>
          <a:lstStyle/>
          <a:p>
            <a:pPr>
              <a:spcBef>
                <a:spcPct val="20000"/>
              </a:spcBef>
              <a:buClr>
                <a:srgbClr val="FF9900"/>
              </a:buClr>
              <a:buFont typeface="Wingdings" panose="05000000000000000000" pitchFamily="2" charset="2"/>
              <a:buNone/>
              <a:defRPr/>
            </a:pPr>
            <a:endParaRPr lang="zh-CN" altLang="en-US">
              <a:effectLst>
                <a:outerShdw blurRad="38100" dist="38100" dir="2700000" algn="tl">
                  <a:srgbClr val="000000">
                    <a:alpha val="43137"/>
                  </a:srgbClr>
                </a:outerShdw>
              </a:effectLst>
            </a:endParaRPr>
          </a:p>
        </p:txBody>
      </p:sp>
      <p:sp>
        <p:nvSpPr>
          <p:cNvPr id="7" name="Line 8"/>
          <p:cNvSpPr>
            <a:spLocks noChangeShapeType="1"/>
          </p:cNvSpPr>
          <p:nvPr/>
        </p:nvSpPr>
        <p:spPr bwMode="auto">
          <a:xfrm>
            <a:off x="1357313" y="4438650"/>
            <a:ext cx="4824412" cy="0"/>
          </a:xfrm>
          <a:prstGeom prst="line">
            <a:avLst/>
          </a:prstGeom>
          <a:noFill/>
          <a:ln w="38100">
            <a:solidFill>
              <a:srgbClr val="FF3300"/>
            </a:solidFill>
            <a:round/>
          </a:ln>
          <a:effectLst/>
        </p:spPr>
        <p:txBody>
          <a:bodyPr/>
          <a:lstStyle/>
          <a:p>
            <a:pPr>
              <a:spcBef>
                <a:spcPct val="20000"/>
              </a:spcBef>
              <a:buClr>
                <a:srgbClr val="FF9900"/>
              </a:buClr>
              <a:buFont typeface="Wingdings" panose="05000000000000000000" pitchFamily="2" charset="2"/>
              <a:buNone/>
              <a:defRPr/>
            </a:pPr>
            <a:endParaRPr lang="zh-CN" altLang="en-US">
              <a:effectLst>
                <a:outerShdw blurRad="38100" dist="38100" dir="2700000" algn="tl">
                  <a:srgbClr val="000000">
                    <a:alpha val="43137"/>
                  </a:srgbClr>
                </a:outerShdw>
              </a:effectLst>
            </a:endParaRPr>
          </a:p>
        </p:txBody>
      </p:sp>
      <p:pic>
        <p:nvPicPr>
          <p:cNvPr id="21511" name="Ink 2"/>
          <p:cNvPicPr>
            <a:picLocks noRot="1" noChangeAspect="1" noEditPoints="1" noChangeArrowheads="1" noChangeShapeType="1"/>
          </p:cNvPicPr>
          <p:nvPr/>
        </p:nvPicPr>
        <p:blipFill>
          <a:blip r:embed="rId3">
            <a:extLst>
              <a:ext uri="{28A0092B-C50C-407E-A947-70E740481C1C}">
                <a14:useLocalDpi xmlns:a14="http://schemas.microsoft.com/office/drawing/2010/main" val="0"/>
              </a:ext>
            </a:extLst>
          </a:blip>
          <a:srcRect/>
          <a:stretch>
            <a:fillRect/>
          </a:stretch>
        </p:blipFill>
        <p:spPr bwMode="auto">
          <a:xfrm>
            <a:off x="5861050" y="3773488"/>
            <a:ext cx="236538" cy="101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2" name="Ink 3"/>
          <p:cNvPicPr>
            <a:picLocks noRot="1" noChangeAspect="1" noEditPoints="1" noChangeArrowheads="1" noChangeShapeType="1"/>
          </p:cNvPicPr>
          <p:nvPr/>
        </p:nvPicPr>
        <p:blipFill>
          <a:blip r:embed="rId4">
            <a:extLst>
              <a:ext uri="{28A0092B-C50C-407E-A947-70E740481C1C}">
                <a14:useLocalDpi xmlns:a14="http://schemas.microsoft.com/office/drawing/2010/main" val="0"/>
              </a:ext>
            </a:extLst>
          </a:blip>
          <a:srcRect/>
          <a:stretch>
            <a:fillRect/>
          </a:stretch>
        </p:blipFill>
        <p:spPr bwMode="auto">
          <a:xfrm>
            <a:off x="5878513" y="4478338"/>
            <a:ext cx="317500"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3" name="Ink 4"/>
          <p:cNvPicPr>
            <a:picLocks noRot="1" noChangeAspect="1" noEditPoints="1" noChangeArrowheads="1" noChangeShapeType="1"/>
          </p:cNvPicPr>
          <p:nvPr/>
        </p:nvPicPr>
        <p:blipFill>
          <a:blip r:embed="rId5">
            <a:extLst>
              <a:ext uri="{28A0092B-C50C-407E-A947-70E740481C1C}">
                <a14:useLocalDpi xmlns:a14="http://schemas.microsoft.com/office/drawing/2010/main" val="0"/>
              </a:ext>
            </a:extLst>
          </a:blip>
          <a:srcRect/>
          <a:stretch>
            <a:fillRect/>
          </a:stretch>
        </p:blipFill>
        <p:spPr bwMode="auto">
          <a:xfrm>
            <a:off x="5870575" y="4362450"/>
            <a:ext cx="325438" cy="1011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edg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7504" y="1052513"/>
            <a:ext cx="8748712" cy="5272087"/>
          </a:xfrm>
        </p:spPr>
        <p:txBody>
          <a:bodyPr/>
          <a:lstStyle/>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运行态</a:t>
            </a:r>
            <a:r>
              <a:rPr lang="en-US" altLang="zh-CN" dirty="0">
                <a:latin typeface="Times New Roman" panose="02020603050405020304" pitchFamily="18" charset="0"/>
                <a:ea typeface="楷体_GB2312" pitchFamily="49" charset="-122"/>
                <a:cs typeface="Times New Roman" panose="02020603050405020304" pitchFamily="18" charset="0"/>
              </a:rPr>
              <a:t>/</a:t>
            </a:r>
            <a:r>
              <a:rPr lang="zh-CN" altLang="en-US" dirty="0">
                <a:latin typeface="Times New Roman" panose="02020603050405020304" pitchFamily="18" charset="0"/>
                <a:ea typeface="楷体_GB2312" pitchFamily="49" charset="-122"/>
                <a:cs typeface="Times New Roman" panose="02020603050405020304" pitchFamily="18" charset="0"/>
              </a:rPr>
              <a:t>就绪态</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sz="2200" dirty="0">
                <a:solidFill>
                  <a:srgbClr val="FF0000"/>
                </a:solidFill>
                <a:latin typeface="Times New Roman" panose="02020603050405020304" pitchFamily="18" charset="0"/>
                <a:ea typeface="楷体_GB2312" pitchFamily="49" charset="-122"/>
                <a:cs typeface="Times New Roman" panose="02020603050405020304" pitchFamily="18" charset="0"/>
              </a:rPr>
              <a:t>TASK_RUNNING</a:t>
            </a:r>
            <a:r>
              <a:rPr lang="zh-CN" altLang="en-US" sz="2200"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200" dirty="0">
                <a:latin typeface="Times New Roman" panose="02020603050405020304" pitchFamily="18" charset="0"/>
                <a:ea typeface="楷体_GB2312" pitchFamily="49" charset="-122"/>
                <a:cs typeface="Times New Roman" panose="02020603050405020304" pitchFamily="18" charset="0"/>
              </a:rPr>
              <a:t>正在运行或已处于就绪只等待</a:t>
            </a:r>
            <a:r>
              <a:rPr lang="en-US" altLang="zh-CN" sz="2200" dirty="0">
                <a:latin typeface="Times New Roman" panose="02020603050405020304" pitchFamily="18" charset="0"/>
                <a:ea typeface="楷体_GB2312" pitchFamily="49" charset="-122"/>
                <a:cs typeface="Times New Roman" panose="02020603050405020304" pitchFamily="18" charset="0"/>
              </a:rPr>
              <a:t>CPU</a:t>
            </a:r>
            <a:r>
              <a:rPr lang="zh-CN" altLang="en-US" sz="2200" dirty="0">
                <a:latin typeface="Times New Roman" panose="02020603050405020304" pitchFamily="18" charset="0"/>
                <a:ea typeface="楷体_GB2312" pitchFamily="49" charset="-122"/>
                <a:cs typeface="Times New Roman" panose="02020603050405020304" pitchFamily="18" charset="0"/>
              </a:rPr>
              <a:t>调度。</a:t>
            </a:r>
            <a:r>
              <a:rPr lang="zh-CN" altLang="en-US" sz="2200" dirty="0">
                <a:latin typeface="楷体_GB2312" pitchFamily="49" charset="-122"/>
                <a:ea typeface="楷体_GB2312" pitchFamily="49" charset="-122"/>
              </a:rPr>
              <a:t>由</a:t>
            </a:r>
            <a:r>
              <a:rPr lang="en-US" altLang="zh-CN" sz="2200" dirty="0">
                <a:solidFill>
                  <a:srgbClr val="008080"/>
                </a:solidFill>
                <a:latin typeface="楷体_GB2312" pitchFamily="49" charset="-122"/>
                <a:ea typeface="楷体_GB2312" pitchFamily="49" charset="-122"/>
              </a:rPr>
              <a:t>current </a:t>
            </a:r>
            <a:r>
              <a:rPr lang="zh-CN" altLang="en-US" sz="2200" dirty="0">
                <a:solidFill>
                  <a:srgbClr val="008080"/>
                </a:solidFill>
                <a:latin typeface="楷体_GB2312" pitchFamily="49" charset="-122"/>
                <a:ea typeface="楷体_GB2312" pitchFamily="49" charset="-122"/>
              </a:rPr>
              <a:t>指针</a:t>
            </a:r>
            <a:r>
              <a:rPr lang="zh-CN" altLang="en-US" sz="2200" dirty="0">
                <a:latin typeface="楷体_GB2312" pitchFamily="49" charset="-122"/>
                <a:ea typeface="楷体_GB2312" pitchFamily="49" charset="-122"/>
              </a:rPr>
              <a:t>指向当前运行的进程。</a:t>
            </a:r>
            <a:endParaRPr lang="en-US" altLang="zh-CN" sz="2200" dirty="0">
              <a:latin typeface="Times New Roman" panose="02020603050405020304" pitchFamily="18" charset="0"/>
              <a:ea typeface="楷体_GB2312" pitchFamily="49" charset="-122"/>
            </a:endParaRPr>
          </a:p>
          <a:p>
            <a:pPr lvl="1" eaLnBrk="1" hangingPunct="1">
              <a:buFont typeface="Arial" panose="020B0604020202020204" pitchFamily="34" charset="0"/>
              <a:buChar char="•"/>
            </a:pPr>
            <a:r>
              <a:rPr lang="en-US" altLang="zh-CN" sz="2200" dirty="0">
                <a:solidFill>
                  <a:srgbClr val="FF0000"/>
                </a:solidFill>
                <a:latin typeface="Times New Roman" panose="02020603050405020304" pitchFamily="18" charset="0"/>
                <a:ea typeface="楷体_GB2312" pitchFamily="49" charset="-122"/>
                <a:cs typeface="Times New Roman" panose="02020603050405020304" pitchFamily="18" charset="0"/>
              </a:rPr>
              <a:t>TASK_TRACED</a:t>
            </a:r>
            <a:r>
              <a:rPr lang="zh-CN" altLang="en-US" sz="2200"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200" dirty="0">
                <a:latin typeface="Times New Roman" panose="02020603050405020304" pitchFamily="18" charset="0"/>
                <a:ea typeface="楷体_GB2312" pitchFamily="49" charset="-122"/>
                <a:cs typeface="Times New Roman" panose="02020603050405020304" pitchFamily="18" charset="0"/>
              </a:rPr>
              <a:t>供调试使用</a:t>
            </a:r>
            <a:endParaRPr lang="en-US" altLang="zh-CN" sz="22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rPr>
              <a:t>被挂起状态</a:t>
            </a:r>
            <a:endParaRPr lang="zh-CN" altLang="en-US" dirty="0">
              <a:latin typeface="Times New Roman" panose="02020603050405020304" pitchFamily="18" charset="0"/>
              <a:ea typeface="楷体_GB2312" pitchFamily="49" charset="-122"/>
            </a:endParaRPr>
          </a:p>
          <a:p>
            <a:pPr lvl="1" eaLnBrk="1" hangingPunct="1">
              <a:buFont typeface="Arial" panose="020B0604020202020204" pitchFamily="34" charset="0"/>
              <a:buChar char="•"/>
            </a:pPr>
            <a:r>
              <a:rPr lang="en-US" altLang="zh-CN" sz="2200" dirty="0">
                <a:solidFill>
                  <a:srgbClr val="FF0000"/>
                </a:solidFill>
                <a:latin typeface="Times New Roman" panose="02020603050405020304" pitchFamily="18" charset="0"/>
                <a:ea typeface="楷体_GB2312" pitchFamily="49" charset="-122"/>
              </a:rPr>
              <a:t>TASK_INTERRUPTIBLE</a:t>
            </a:r>
            <a:r>
              <a:rPr lang="zh-CN" altLang="en-US" sz="2200" dirty="0">
                <a:solidFill>
                  <a:srgbClr val="FF0000"/>
                </a:solidFill>
                <a:latin typeface="Times New Roman" panose="02020603050405020304" pitchFamily="18" charset="0"/>
                <a:ea typeface="楷体_GB2312" pitchFamily="49" charset="-122"/>
              </a:rPr>
              <a:t>：</a:t>
            </a:r>
            <a:r>
              <a:rPr lang="zh-CN" altLang="en-US" sz="2200" dirty="0">
                <a:latin typeface="Times New Roman" panose="02020603050405020304" pitchFamily="18" charset="0"/>
                <a:ea typeface="楷体_GB2312" pitchFamily="49" charset="-122"/>
              </a:rPr>
              <a:t>可被信号或中断唤醒进入就绪队列</a:t>
            </a:r>
            <a:endParaRPr lang="zh-CN" altLang="en-US" sz="2200" dirty="0">
              <a:latin typeface="Times New Roman" panose="02020603050405020304" pitchFamily="18" charset="0"/>
              <a:ea typeface="楷体_GB2312" pitchFamily="49" charset="-122"/>
            </a:endParaRPr>
          </a:p>
          <a:p>
            <a:pPr lvl="1" eaLnBrk="1" hangingPunct="1">
              <a:buFont typeface="Arial" panose="020B0604020202020204" pitchFamily="34" charset="0"/>
              <a:buChar char="•"/>
            </a:pPr>
            <a:r>
              <a:rPr lang="en-US" altLang="zh-CN" sz="2200" dirty="0">
                <a:solidFill>
                  <a:srgbClr val="FF0000"/>
                </a:solidFill>
                <a:latin typeface="Times New Roman" panose="02020603050405020304" pitchFamily="18" charset="0"/>
                <a:ea typeface="楷体_GB2312" pitchFamily="49" charset="-122"/>
              </a:rPr>
              <a:t>TASK_UNINTERRUPTIBLE</a:t>
            </a:r>
            <a:r>
              <a:rPr lang="zh-CN" altLang="en-US" sz="2200" dirty="0">
                <a:solidFill>
                  <a:srgbClr val="FF0000"/>
                </a:solidFill>
                <a:latin typeface="Times New Roman" panose="02020603050405020304" pitchFamily="18" charset="0"/>
                <a:ea typeface="楷体_GB2312" pitchFamily="49" charset="-122"/>
              </a:rPr>
              <a:t>：</a:t>
            </a:r>
            <a:r>
              <a:rPr lang="zh-CN" altLang="en-US" sz="2200" dirty="0">
                <a:latin typeface="Times New Roman" panose="02020603050405020304" pitchFamily="18" charset="0"/>
                <a:ea typeface="楷体_GB2312" pitchFamily="49" charset="-122"/>
              </a:rPr>
              <a:t>等待资源不可被其他进程中断</a:t>
            </a:r>
            <a:endParaRPr lang="zh-CN" altLang="en-US" sz="2200" dirty="0">
              <a:latin typeface="Times New Roman" panose="02020603050405020304" pitchFamily="18" charset="0"/>
              <a:ea typeface="楷体_GB2312" pitchFamily="49" charset="-122"/>
            </a:endParaRPr>
          </a:p>
          <a:p>
            <a:pPr lvl="1" eaLnBrk="1" hangingPunct="1">
              <a:buFont typeface="Arial" panose="020B0604020202020204" pitchFamily="34" charset="0"/>
              <a:buChar char="•"/>
            </a:pPr>
            <a:r>
              <a:rPr lang="en-US" altLang="zh-CN" sz="2200" dirty="0">
                <a:solidFill>
                  <a:srgbClr val="FF0000"/>
                </a:solidFill>
                <a:latin typeface="Times New Roman" panose="02020603050405020304" pitchFamily="18" charset="0"/>
                <a:ea typeface="楷体_GB2312" pitchFamily="49" charset="-122"/>
              </a:rPr>
              <a:t>TASK_STOPPED</a:t>
            </a:r>
            <a:r>
              <a:rPr lang="zh-CN" altLang="en-US" sz="2200" dirty="0">
                <a:solidFill>
                  <a:srgbClr val="FF0000"/>
                </a:solidFill>
                <a:latin typeface="Times New Roman" panose="02020603050405020304" pitchFamily="18" charset="0"/>
                <a:ea typeface="楷体_GB2312" pitchFamily="49" charset="-122"/>
              </a:rPr>
              <a:t>：</a:t>
            </a:r>
            <a:r>
              <a:rPr lang="zh-CN" altLang="en-US" sz="2200" dirty="0">
                <a:latin typeface="Times New Roman" panose="02020603050405020304" pitchFamily="18" charset="0"/>
                <a:ea typeface="楷体_GB2312" pitchFamily="49" charset="-122"/>
              </a:rPr>
              <a:t>被调试暂停，或收到</a:t>
            </a:r>
            <a:r>
              <a:rPr lang="en-US" altLang="zh-CN" sz="2200" dirty="0">
                <a:latin typeface="Times New Roman" panose="02020603050405020304" pitchFamily="18" charset="0"/>
                <a:ea typeface="楷体_GB2312" pitchFamily="49" charset="-122"/>
              </a:rPr>
              <a:t>SIGSTOP</a:t>
            </a:r>
            <a:r>
              <a:rPr lang="zh-CN" altLang="en-US" sz="2200" dirty="0">
                <a:latin typeface="Times New Roman" panose="02020603050405020304" pitchFamily="18" charset="0"/>
                <a:ea typeface="楷体_GB2312" pitchFamily="49" charset="-122"/>
              </a:rPr>
              <a:t>等信号</a:t>
            </a:r>
            <a:endParaRPr lang="en-US" altLang="zh-CN" sz="2200" dirty="0">
              <a:latin typeface="Times New Roman" panose="02020603050405020304" pitchFamily="18" charset="0"/>
              <a:ea typeface="楷体_GB2312" pitchFamily="49" charset="-122"/>
            </a:endParaRPr>
          </a:p>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rPr>
              <a:t>不可运行态</a:t>
            </a:r>
            <a:endParaRPr lang="zh-CN" altLang="en-US" dirty="0">
              <a:latin typeface="Times New Roman" panose="02020603050405020304" pitchFamily="18" charset="0"/>
              <a:ea typeface="楷体_GB2312" pitchFamily="49" charset="-122"/>
            </a:endParaRPr>
          </a:p>
          <a:p>
            <a:pPr lvl="1" eaLnBrk="1" hangingPunct="1">
              <a:buFont typeface="Arial" panose="020B0604020202020204" pitchFamily="34" charset="0"/>
              <a:buChar char="•"/>
            </a:pPr>
            <a:r>
              <a:rPr lang="en-US" altLang="zh-CN" sz="2200" dirty="0">
                <a:solidFill>
                  <a:srgbClr val="FF0000"/>
                </a:solidFill>
                <a:latin typeface="Times New Roman" panose="02020603050405020304" pitchFamily="18" charset="0"/>
                <a:ea typeface="楷体_GB2312" pitchFamily="49" charset="-122"/>
              </a:rPr>
              <a:t>TASK_ZOMBIE</a:t>
            </a:r>
            <a:r>
              <a:rPr lang="zh-CN" altLang="en-US" sz="2200" dirty="0">
                <a:solidFill>
                  <a:srgbClr val="FF0000"/>
                </a:solidFill>
                <a:latin typeface="Times New Roman" panose="02020603050405020304" pitchFamily="18" charset="0"/>
                <a:ea typeface="楷体_GB2312" pitchFamily="49" charset="-122"/>
              </a:rPr>
              <a:t>：</a:t>
            </a:r>
            <a:r>
              <a:rPr lang="zh-CN" altLang="en-US" sz="2200" dirty="0">
                <a:latin typeface="Times New Roman" panose="02020603050405020304" pitchFamily="18" charset="0"/>
                <a:ea typeface="楷体_GB2312" pitchFamily="49" charset="-122"/>
              </a:rPr>
              <a:t>正在终止（</a:t>
            </a:r>
            <a:r>
              <a:rPr lang="zh-CN" altLang="en-US" sz="2200" dirty="0">
                <a:latin typeface="Times New Roman" panose="02020603050405020304" pitchFamily="18" charset="0"/>
                <a:ea typeface="楷体_GB2312" pitchFamily="49" charset="-122"/>
                <a:cs typeface="Times New Roman" panose="02020603050405020304" pitchFamily="18" charset="0"/>
              </a:rPr>
              <a:t>已结束，已释放内存、文件等资源，但其父进程未接到通知，描述符未释放），等待父进程通过</a:t>
            </a:r>
            <a:r>
              <a:rPr lang="en-US" altLang="zh-CN" sz="2200" dirty="0">
                <a:latin typeface="Times New Roman" panose="02020603050405020304" pitchFamily="18" charset="0"/>
                <a:ea typeface="楷体_GB2312" pitchFamily="49" charset="-122"/>
                <a:cs typeface="Times New Roman" panose="02020603050405020304" pitchFamily="18" charset="0"/>
              </a:rPr>
              <a:t>wait4()</a:t>
            </a:r>
            <a:r>
              <a:rPr lang="zh-CN" altLang="en-US" sz="2200" dirty="0">
                <a:latin typeface="Times New Roman" panose="02020603050405020304" pitchFamily="18" charset="0"/>
                <a:ea typeface="楷体_GB2312" pitchFamily="49" charset="-122"/>
                <a:cs typeface="Times New Roman" panose="02020603050405020304" pitchFamily="18" charset="0"/>
              </a:rPr>
              <a:t>或</a:t>
            </a:r>
            <a:r>
              <a:rPr lang="en-US" altLang="zh-CN" sz="2200" dirty="0" err="1">
                <a:latin typeface="Times New Roman" panose="02020603050405020304" pitchFamily="18" charset="0"/>
                <a:ea typeface="楷体_GB2312" pitchFamily="49" charset="-122"/>
                <a:cs typeface="Times New Roman" panose="02020603050405020304" pitchFamily="18" charset="0"/>
              </a:rPr>
              <a:t>waitpid</a:t>
            </a:r>
            <a:r>
              <a:rPr lang="en-US" altLang="zh-CN" sz="2200" dirty="0">
                <a:latin typeface="Times New Roman" panose="02020603050405020304" pitchFamily="18" charset="0"/>
                <a:ea typeface="楷体_GB2312" pitchFamily="49" charset="-122"/>
                <a:cs typeface="Times New Roman" panose="02020603050405020304" pitchFamily="18" charset="0"/>
              </a:rPr>
              <a:t>()</a:t>
            </a:r>
            <a:r>
              <a:rPr lang="zh-CN" altLang="en-US" sz="2200" dirty="0">
                <a:latin typeface="Times New Roman" panose="02020603050405020304" pitchFamily="18" charset="0"/>
                <a:ea typeface="楷体_GB2312" pitchFamily="49" charset="-122"/>
                <a:cs typeface="Times New Roman" panose="02020603050405020304" pitchFamily="18" charset="0"/>
              </a:rPr>
              <a:t>回收</a:t>
            </a:r>
            <a:endParaRPr lang="en-US" altLang="zh-CN" sz="2200"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sz="2200" dirty="0">
                <a:solidFill>
                  <a:srgbClr val="FF0000"/>
                </a:solidFill>
                <a:latin typeface="Times New Roman" panose="02020603050405020304" pitchFamily="18" charset="0"/>
                <a:ea typeface="楷体_GB2312" pitchFamily="49" charset="-122"/>
                <a:cs typeface="Times New Roman" panose="02020603050405020304" pitchFamily="18" charset="0"/>
              </a:rPr>
              <a:t>TASK_DEAD</a:t>
            </a:r>
            <a:r>
              <a:rPr lang="zh-CN" altLang="en-US" sz="2200"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200" dirty="0">
                <a:latin typeface="Times New Roman" panose="02020603050405020304" pitchFamily="18" charset="0"/>
                <a:ea typeface="楷体_GB2312" pitchFamily="49" charset="-122"/>
                <a:cs typeface="Times New Roman" panose="02020603050405020304" pitchFamily="18" charset="0"/>
              </a:rPr>
              <a:t>已退出且不需父进程回收的进程的状态</a:t>
            </a:r>
            <a:endParaRPr lang="zh-CN" altLang="en-US" sz="2200"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endParaRPr lang="zh-CN" altLang="en-US" sz="2200" dirty="0">
              <a:latin typeface="Times New Roman" panose="02020603050405020304" pitchFamily="18" charset="0"/>
              <a:ea typeface="楷体_GB2312" pitchFamily="49" charset="-122"/>
            </a:endParaRPr>
          </a:p>
          <a:p>
            <a:pPr lvl="2" eaLnBrk="1" hangingPunct="1">
              <a:buFont typeface="Arial" panose="020B0604020202020204" pitchFamily="34" charset="0"/>
              <a:buChar char="•"/>
            </a:pPr>
            <a:endParaRPr lang="zh-CN" altLang="en-US" sz="2000" dirty="0">
              <a:latin typeface="Times New Roman" panose="02020603050405020304" pitchFamily="18" charset="0"/>
              <a:ea typeface="楷体_GB2312" pitchFamily="49" charset="-122"/>
              <a:cs typeface="Times New Roman" panose="02020603050405020304" pitchFamily="18" charset="0"/>
            </a:endParaRPr>
          </a:p>
          <a:p>
            <a:pPr>
              <a:buFont typeface="Arial" panose="020B0604020202020204" pitchFamily="34" charset="0"/>
              <a:buChar char="•"/>
            </a:pPr>
            <a:endParaRPr lang="zh-CN" altLang="en-US" dirty="0"/>
          </a:p>
        </p:txBody>
      </p:sp>
      <p:sp>
        <p:nvSpPr>
          <p:cNvPr id="4" name="标题 1"/>
          <p:cNvSpPr>
            <a:spLocks noGrp="1"/>
          </p:cNvSpPr>
          <p:nvPr>
            <p:ph type="title"/>
          </p:nvPr>
        </p:nvSpPr>
        <p:spPr>
          <a:xfrm>
            <a:off x="611188" y="115888"/>
            <a:ext cx="7632700" cy="609600"/>
          </a:xfrm>
        </p:spPr>
        <p:txBody>
          <a:bodyPr/>
          <a:lstStyle/>
          <a:p>
            <a:pPr eaLnBrk="1" hangingPunct="1"/>
            <a:r>
              <a:rPr lang="en-US" altLang="zh-CN" dirty="0">
                <a:latin typeface="Times New Roman" panose="02020603050405020304" pitchFamily="18" charset="0"/>
                <a:ea typeface="楷体_GB2312" pitchFamily="49" charset="-122"/>
                <a:cs typeface="Times New Roman" panose="02020603050405020304" pitchFamily="18" charset="0"/>
              </a:rPr>
              <a:t>2.2 Linux</a:t>
            </a:r>
            <a:r>
              <a:rPr lang="zh-CN" altLang="en-US" dirty="0">
                <a:latin typeface="Times New Roman" panose="02020603050405020304" pitchFamily="18" charset="0"/>
                <a:ea typeface="楷体_GB2312" pitchFamily="49" charset="-122"/>
                <a:cs typeface="Times New Roman" panose="02020603050405020304" pitchFamily="18" charset="0"/>
              </a:rPr>
              <a:t>进程的状态及转换</a:t>
            </a:r>
            <a:endParaRPr lang="zh-CN" altLang="en-US" b="0"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971600" y="6358855"/>
            <a:ext cx="7523162" cy="504825"/>
          </a:xfrm>
        </p:spPr>
        <p:txBody>
          <a:bodyPr/>
          <a:lstStyle/>
          <a:p>
            <a:pPr eaLnBrk="1" hangingPunct="1"/>
            <a:r>
              <a:rPr lang="en-US" altLang="zh-CN" sz="2000" dirty="0">
                <a:solidFill>
                  <a:schemeClr val="tx1">
                    <a:lumMod val="50000"/>
                  </a:schemeClr>
                </a:solidFill>
                <a:latin typeface="Times New Roman" panose="02020603050405020304" pitchFamily="18" charset="0"/>
                <a:ea typeface="楷体_GB2312" pitchFamily="49" charset="-122"/>
                <a:cs typeface="Times New Roman" panose="02020603050405020304" pitchFamily="18" charset="0"/>
              </a:rPr>
              <a:t>Linux2.4</a:t>
            </a:r>
            <a:r>
              <a:rPr lang="zh-CN" altLang="en-US" sz="2000" dirty="0">
                <a:solidFill>
                  <a:schemeClr val="tx1">
                    <a:lumMod val="50000"/>
                  </a:schemeClr>
                </a:solidFill>
                <a:latin typeface="Times New Roman" panose="02020603050405020304" pitchFamily="18" charset="0"/>
                <a:ea typeface="楷体_GB2312" pitchFamily="49" charset="-122"/>
                <a:cs typeface="Times New Roman" panose="02020603050405020304" pitchFamily="18" charset="0"/>
              </a:rPr>
              <a:t> 的进程状态转换图</a:t>
            </a:r>
            <a:endParaRPr lang="zh-CN" altLang="en-US" sz="2000" dirty="0">
              <a:solidFill>
                <a:schemeClr val="tx1">
                  <a:lumMod val="50000"/>
                </a:schemeClr>
              </a:solidFill>
              <a:latin typeface="Times New Roman" panose="02020603050405020304" pitchFamily="18" charset="0"/>
              <a:ea typeface="楷体_GB2312" pitchFamily="49" charset="-122"/>
              <a:cs typeface="Times New Roman" panose="02020603050405020304" pitchFamily="18" charset="0"/>
            </a:endParaRPr>
          </a:p>
        </p:txBody>
      </p:sp>
      <p:pic>
        <p:nvPicPr>
          <p:cNvPr id="24579" name="Picture 3" descr="zhu"/>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4081" y="750714"/>
            <a:ext cx="8458200" cy="606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1"/>
          <p:cNvSpPr txBox="1"/>
          <p:nvPr/>
        </p:nvSpPr>
        <p:spPr bwMode="black">
          <a:xfrm>
            <a:off x="611188" y="115888"/>
            <a:ext cx="76327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2pPr>
            <a:lvl3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3pPr>
            <a:lvl4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4pPr>
            <a:lvl5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5pPr>
            <a:lvl6pPr marL="4572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6pPr>
            <a:lvl7pPr marL="9144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7pPr>
            <a:lvl8pPr marL="13716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8pPr>
            <a:lvl9pPr marL="18288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9pPr>
          </a:lstStyle>
          <a:p>
            <a:pPr eaLnBrk="1" hangingPunct="1"/>
            <a:r>
              <a:rPr lang="en-US" altLang="zh-CN" kern="0" dirty="0">
                <a:latin typeface="Times New Roman" panose="02020603050405020304" pitchFamily="18" charset="0"/>
                <a:ea typeface="楷体_GB2312" pitchFamily="49" charset="-122"/>
                <a:cs typeface="Times New Roman" panose="02020603050405020304" pitchFamily="18" charset="0"/>
              </a:rPr>
              <a:t>2.2 Linux</a:t>
            </a:r>
            <a:r>
              <a:rPr lang="zh-CN" altLang="en-US" kern="0" dirty="0">
                <a:latin typeface="Times New Roman" panose="02020603050405020304" pitchFamily="18" charset="0"/>
                <a:ea typeface="楷体_GB2312" pitchFamily="49" charset="-122"/>
                <a:cs typeface="Times New Roman" panose="02020603050405020304" pitchFamily="18" charset="0"/>
              </a:rPr>
              <a:t>进程的状态</a:t>
            </a:r>
            <a:r>
              <a:rPr lang="zh-CN" altLang="en-US" dirty="0">
                <a:latin typeface="Times New Roman" panose="02020603050405020304" pitchFamily="18" charset="0"/>
                <a:ea typeface="楷体_GB2312" pitchFamily="49" charset="-122"/>
                <a:cs typeface="Times New Roman" panose="02020603050405020304" pitchFamily="18" charset="0"/>
              </a:rPr>
              <a:t>及转换</a:t>
            </a:r>
            <a:endParaRPr lang="zh-CN" altLang="en-US" b="0" kern="0"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3"/>
          <p:cNvSpPr txBox="1">
            <a:spLocks noChangeArrowheads="1"/>
          </p:cNvSpPr>
          <p:nvPr/>
        </p:nvSpPr>
        <p:spPr bwMode="auto">
          <a:xfrm>
            <a:off x="468313" y="7220272"/>
            <a:ext cx="84597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FontTx/>
              <a:buNone/>
            </a:pPr>
            <a:r>
              <a:rPr lang="en-US" altLang="zh-CN" sz="2400">
                <a:solidFill>
                  <a:schemeClr val="tx1"/>
                </a:solidFill>
                <a:latin typeface="楷体_GB2312" pitchFamily="49" charset="-122"/>
                <a:ea typeface="楷体_GB2312" pitchFamily="49" charset="-122"/>
              </a:rPr>
              <a:t>Linux</a:t>
            </a:r>
            <a:r>
              <a:rPr lang="zh-CN" altLang="en-US" sz="2400">
                <a:solidFill>
                  <a:schemeClr val="tx1"/>
                </a:solidFill>
                <a:latin typeface="楷体_GB2312" pitchFamily="49" charset="-122"/>
                <a:ea typeface="楷体_GB2312" pitchFamily="49" charset="-122"/>
              </a:rPr>
              <a:t>进程状态及转换 </a:t>
            </a:r>
            <a:endParaRPr lang="zh-CN" altLang="en-US" sz="2400">
              <a:solidFill>
                <a:schemeClr val="tx1"/>
              </a:solidFill>
              <a:latin typeface="楷体_GB2312" pitchFamily="49" charset="-122"/>
              <a:ea typeface="楷体_GB2312" pitchFamily="49" charset="-122"/>
            </a:endParaRPr>
          </a:p>
        </p:txBody>
      </p:sp>
      <p:sp>
        <p:nvSpPr>
          <p:cNvPr id="25603" name="Rectangle 4"/>
          <p:cNvSpPr>
            <a:spLocks noChangeArrowheads="1"/>
          </p:cNvSpPr>
          <p:nvPr/>
        </p:nvSpPr>
        <p:spPr bwMode="auto">
          <a:xfrm>
            <a:off x="3851275" y="980728"/>
            <a:ext cx="1223963" cy="320675"/>
          </a:xfrm>
          <a:prstGeom prst="rect">
            <a:avLst/>
          </a:prstGeom>
          <a:solidFill>
            <a:srgbClr val="99FF99"/>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FontTx/>
              <a:buNone/>
            </a:pPr>
            <a:r>
              <a:rPr kumimoji="1" lang="en-US" altLang="zh-CN" sz="2100" dirty="0">
                <a:solidFill>
                  <a:srgbClr val="FF0000"/>
                </a:solidFill>
                <a:latin typeface="Tahoma" panose="020B0604030504040204" pitchFamily="34" charset="0"/>
                <a:ea typeface="隶书" panose="02010509060101010101" pitchFamily="49" charset="-122"/>
              </a:rPr>
              <a:t>fork()</a:t>
            </a:r>
            <a:endParaRPr kumimoji="1" lang="en-US" altLang="zh-CN" sz="4000" dirty="0">
              <a:solidFill>
                <a:srgbClr val="FF0000"/>
              </a:solidFill>
              <a:latin typeface="Times New Roman" panose="02020603050405020304" pitchFamily="18" charset="0"/>
              <a:ea typeface="隶书" panose="02010509060101010101" pitchFamily="49" charset="-122"/>
            </a:endParaRPr>
          </a:p>
        </p:txBody>
      </p:sp>
      <p:sp>
        <p:nvSpPr>
          <p:cNvPr id="25604" name="Text Box 6"/>
          <p:cNvSpPr txBox="1">
            <a:spLocks noChangeArrowheads="1"/>
          </p:cNvSpPr>
          <p:nvPr/>
        </p:nvSpPr>
        <p:spPr bwMode="auto">
          <a:xfrm>
            <a:off x="4854575" y="587657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50000"/>
              </a:spcBef>
              <a:buClrTx/>
              <a:buFontTx/>
              <a:buNone/>
            </a:pPr>
            <a:endParaRPr kumimoji="1" lang="zh-CN" altLang="en-US" sz="2400">
              <a:solidFill>
                <a:schemeClr val="tx1"/>
              </a:solidFill>
              <a:latin typeface="Times New Roman" panose="02020603050405020304" pitchFamily="18" charset="0"/>
            </a:endParaRPr>
          </a:p>
        </p:txBody>
      </p:sp>
      <p:sp>
        <p:nvSpPr>
          <p:cNvPr id="25605" name="Freeform 7"/>
          <p:cNvSpPr/>
          <p:nvPr/>
        </p:nvSpPr>
        <p:spPr bwMode="auto">
          <a:xfrm>
            <a:off x="3722688" y="1987203"/>
            <a:ext cx="1490662" cy="650875"/>
          </a:xfrm>
          <a:custGeom>
            <a:avLst/>
            <a:gdLst>
              <a:gd name="T0" fmla="*/ 2147483646 w 1878"/>
              <a:gd name="T1" fmla="*/ 2147483646 h 821"/>
              <a:gd name="T2" fmla="*/ 2147483646 w 1878"/>
              <a:gd name="T3" fmla="*/ 2147483646 h 821"/>
              <a:gd name="T4" fmla="*/ 2147483646 w 1878"/>
              <a:gd name="T5" fmla="*/ 2147483646 h 821"/>
              <a:gd name="T6" fmla="*/ 2147483646 w 1878"/>
              <a:gd name="T7" fmla="*/ 2147483646 h 821"/>
              <a:gd name="T8" fmla="*/ 2147483646 w 1878"/>
              <a:gd name="T9" fmla="*/ 2147483646 h 821"/>
              <a:gd name="T10" fmla="*/ 2147483646 w 1878"/>
              <a:gd name="T11" fmla="*/ 2147483646 h 821"/>
              <a:gd name="T12" fmla="*/ 2147483646 w 1878"/>
              <a:gd name="T13" fmla="*/ 2147483646 h 821"/>
              <a:gd name="T14" fmla="*/ 2147483646 w 1878"/>
              <a:gd name="T15" fmla="*/ 2147483646 h 821"/>
              <a:gd name="T16" fmla="*/ 2147483646 w 1878"/>
              <a:gd name="T17" fmla="*/ 2147483646 h 821"/>
              <a:gd name="T18" fmla="*/ 2147483646 w 1878"/>
              <a:gd name="T19" fmla="*/ 2147483646 h 821"/>
              <a:gd name="T20" fmla="*/ 2147483646 w 1878"/>
              <a:gd name="T21" fmla="*/ 2147483646 h 821"/>
              <a:gd name="T22" fmla="*/ 2147483646 w 1878"/>
              <a:gd name="T23" fmla="*/ 2147483646 h 821"/>
              <a:gd name="T24" fmla="*/ 2147483646 w 1878"/>
              <a:gd name="T25" fmla="*/ 2147483646 h 821"/>
              <a:gd name="T26" fmla="*/ 2147483646 w 1878"/>
              <a:gd name="T27" fmla="*/ 2147483646 h 821"/>
              <a:gd name="T28" fmla="*/ 2147483646 w 1878"/>
              <a:gd name="T29" fmla="*/ 2147483646 h 821"/>
              <a:gd name="T30" fmla="*/ 2147483646 w 1878"/>
              <a:gd name="T31" fmla="*/ 2147483646 h 821"/>
              <a:gd name="T32" fmla="*/ 2147483646 w 1878"/>
              <a:gd name="T33" fmla="*/ 2147483646 h 821"/>
              <a:gd name="T34" fmla="*/ 2147483646 w 1878"/>
              <a:gd name="T35" fmla="*/ 2147483646 h 821"/>
              <a:gd name="T36" fmla="*/ 2147483646 w 1878"/>
              <a:gd name="T37" fmla="*/ 2147483646 h 821"/>
              <a:gd name="T38" fmla="*/ 2147483646 w 1878"/>
              <a:gd name="T39" fmla="*/ 2147483646 h 821"/>
              <a:gd name="T40" fmla="*/ 2147483646 w 1878"/>
              <a:gd name="T41" fmla="*/ 2147483646 h 821"/>
              <a:gd name="T42" fmla="*/ 2147483646 w 1878"/>
              <a:gd name="T43" fmla="*/ 2147483646 h 821"/>
              <a:gd name="T44" fmla="*/ 2147483646 w 1878"/>
              <a:gd name="T45" fmla="*/ 2147483646 h 821"/>
              <a:gd name="T46" fmla="*/ 2147483646 w 1878"/>
              <a:gd name="T47" fmla="*/ 2147483646 h 821"/>
              <a:gd name="T48" fmla="*/ 2147483646 w 1878"/>
              <a:gd name="T49" fmla="*/ 2147483646 h 821"/>
              <a:gd name="T50" fmla="*/ 2147483646 w 1878"/>
              <a:gd name="T51" fmla="*/ 2147483646 h 821"/>
              <a:gd name="T52" fmla="*/ 2147483646 w 1878"/>
              <a:gd name="T53" fmla="*/ 2147483646 h 821"/>
              <a:gd name="T54" fmla="*/ 2147483646 w 1878"/>
              <a:gd name="T55" fmla="*/ 2147483646 h 821"/>
              <a:gd name="T56" fmla="*/ 2147483646 w 1878"/>
              <a:gd name="T57" fmla="*/ 2147483646 h 821"/>
              <a:gd name="T58" fmla="*/ 2147483646 w 1878"/>
              <a:gd name="T59" fmla="*/ 2147483646 h 821"/>
              <a:gd name="T60" fmla="*/ 2147483646 w 1878"/>
              <a:gd name="T61" fmla="*/ 2147483646 h 821"/>
              <a:gd name="T62" fmla="*/ 2147483646 w 1878"/>
              <a:gd name="T63" fmla="*/ 2147483646 h 821"/>
              <a:gd name="T64" fmla="*/ 2147483646 w 1878"/>
              <a:gd name="T65" fmla="*/ 2147483646 h 821"/>
              <a:gd name="T66" fmla="*/ 2147483646 w 1878"/>
              <a:gd name="T67" fmla="*/ 2147483646 h 821"/>
              <a:gd name="T68" fmla="*/ 2147483646 w 1878"/>
              <a:gd name="T69" fmla="*/ 2147483646 h 821"/>
              <a:gd name="T70" fmla="*/ 2147483646 w 1878"/>
              <a:gd name="T71" fmla="*/ 2147483646 h 821"/>
              <a:gd name="T72" fmla="*/ 2147483646 w 1878"/>
              <a:gd name="T73" fmla="*/ 2147483646 h 821"/>
              <a:gd name="T74" fmla="*/ 2147483646 w 1878"/>
              <a:gd name="T75" fmla="*/ 2147483646 h 821"/>
              <a:gd name="T76" fmla="*/ 2147483646 w 1878"/>
              <a:gd name="T77" fmla="*/ 2147483646 h 821"/>
              <a:gd name="T78" fmla="*/ 2147483646 w 1878"/>
              <a:gd name="T79" fmla="*/ 2147483646 h 821"/>
              <a:gd name="T80" fmla="*/ 2147483646 w 1878"/>
              <a:gd name="T81" fmla="*/ 2147483646 h 821"/>
              <a:gd name="T82" fmla="*/ 2147483646 w 1878"/>
              <a:gd name="T83" fmla="*/ 2147483646 h 821"/>
              <a:gd name="T84" fmla="*/ 2147483646 w 1878"/>
              <a:gd name="T85" fmla="*/ 2147483646 h 821"/>
              <a:gd name="T86" fmla="*/ 2147483646 w 1878"/>
              <a:gd name="T87" fmla="*/ 2147483646 h 821"/>
              <a:gd name="T88" fmla="*/ 2147483646 w 1878"/>
              <a:gd name="T89" fmla="*/ 2147483646 h 821"/>
              <a:gd name="T90" fmla="*/ 2147483646 w 1878"/>
              <a:gd name="T91" fmla="*/ 2147483646 h 821"/>
              <a:gd name="T92" fmla="*/ 2147483646 w 1878"/>
              <a:gd name="T93" fmla="*/ 2147483646 h 821"/>
              <a:gd name="T94" fmla="*/ 2147483646 w 1878"/>
              <a:gd name="T95" fmla="*/ 2147483646 h 821"/>
              <a:gd name="T96" fmla="*/ 2147483646 w 1878"/>
              <a:gd name="T97" fmla="*/ 2147483646 h 821"/>
              <a:gd name="T98" fmla="*/ 2147483646 w 1878"/>
              <a:gd name="T99" fmla="*/ 2147483646 h 821"/>
              <a:gd name="T100" fmla="*/ 2147483646 w 1878"/>
              <a:gd name="T101" fmla="*/ 2147483646 h 821"/>
              <a:gd name="T102" fmla="*/ 2147483646 w 1878"/>
              <a:gd name="T103" fmla="*/ 2147483646 h 821"/>
              <a:gd name="T104" fmla="*/ 2147483646 w 1878"/>
              <a:gd name="T105" fmla="*/ 2147483646 h 821"/>
              <a:gd name="T106" fmla="*/ 2147483646 w 1878"/>
              <a:gd name="T107" fmla="*/ 2147483646 h 821"/>
              <a:gd name="T108" fmla="*/ 2147483646 w 1878"/>
              <a:gd name="T109" fmla="*/ 2147483646 h 821"/>
              <a:gd name="T110" fmla="*/ 2147483646 w 1878"/>
              <a:gd name="T111" fmla="*/ 2147483646 h 821"/>
              <a:gd name="T112" fmla="*/ 2147483646 w 1878"/>
              <a:gd name="T113" fmla="*/ 2147483646 h 821"/>
              <a:gd name="T114" fmla="*/ 2147483646 w 1878"/>
              <a:gd name="T115" fmla="*/ 2147483646 h 821"/>
              <a:gd name="T116" fmla="*/ 2147483646 w 1878"/>
              <a:gd name="T117" fmla="*/ 2147483646 h 821"/>
              <a:gd name="T118" fmla="*/ 0 w 1878"/>
              <a:gd name="T119" fmla="*/ 2147483646 h 821"/>
              <a:gd name="T120" fmla="*/ 2147483646 w 1878"/>
              <a:gd name="T121" fmla="*/ 2147483646 h 821"/>
              <a:gd name="T122" fmla="*/ 2147483646 w 1878"/>
              <a:gd name="T123" fmla="*/ 2147483646 h 821"/>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878"/>
              <a:gd name="T187" fmla="*/ 0 h 821"/>
              <a:gd name="T188" fmla="*/ 1878 w 1878"/>
              <a:gd name="T189" fmla="*/ 821 h 821"/>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878" h="821">
                <a:moveTo>
                  <a:pt x="41" y="412"/>
                </a:moveTo>
                <a:lnTo>
                  <a:pt x="34" y="408"/>
                </a:lnTo>
                <a:lnTo>
                  <a:pt x="29" y="406"/>
                </a:lnTo>
                <a:lnTo>
                  <a:pt x="24" y="403"/>
                </a:lnTo>
                <a:lnTo>
                  <a:pt x="19" y="397"/>
                </a:lnTo>
                <a:lnTo>
                  <a:pt x="14" y="393"/>
                </a:lnTo>
                <a:lnTo>
                  <a:pt x="11" y="390"/>
                </a:lnTo>
                <a:lnTo>
                  <a:pt x="9" y="384"/>
                </a:lnTo>
                <a:lnTo>
                  <a:pt x="5" y="381"/>
                </a:lnTo>
                <a:lnTo>
                  <a:pt x="5" y="375"/>
                </a:lnTo>
                <a:lnTo>
                  <a:pt x="4" y="371"/>
                </a:lnTo>
                <a:lnTo>
                  <a:pt x="4" y="366"/>
                </a:lnTo>
                <a:lnTo>
                  <a:pt x="5" y="360"/>
                </a:lnTo>
                <a:lnTo>
                  <a:pt x="5" y="357"/>
                </a:lnTo>
                <a:lnTo>
                  <a:pt x="9" y="351"/>
                </a:lnTo>
                <a:lnTo>
                  <a:pt x="12" y="346"/>
                </a:lnTo>
                <a:lnTo>
                  <a:pt x="16" y="342"/>
                </a:lnTo>
                <a:lnTo>
                  <a:pt x="21" y="336"/>
                </a:lnTo>
                <a:lnTo>
                  <a:pt x="26" y="333"/>
                </a:lnTo>
                <a:lnTo>
                  <a:pt x="31" y="329"/>
                </a:lnTo>
                <a:lnTo>
                  <a:pt x="37" y="325"/>
                </a:lnTo>
                <a:lnTo>
                  <a:pt x="44" y="324"/>
                </a:lnTo>
                <a:lnTo>
                  <a:pt x="52" y="322"/>
                </a:lnTo>
                <a:lnTo>
                  <a:pt x="59" y="320"/>
                </a:lnTo>
                <a:lnTo>
                  <a:pt x="68" y="318"/>
                </a:lnTo>
                <a:lnTo>
                  <a:pt x="62" y="313"/>
                </a:lnTo>
                <a:lnTo>
                  <a:pt x="59" y="305"/>
                </a:lnTo>
                <a:lnTo>
                  <a:pt x="56" y="300"/>
                </a:lnTo>
                <a:lnTo>
                  <a:pt x="54" y="292"/>
                </a:lnTo>
                <a:lnTo>
                  <a:pt x="52" y="285"/>
                </a:lnTo>
                <a:lnTo>
                  <a:pt x="52" y="280"/>
                </a:lnTo>
                <a:lnTo>
                  <a:pt x="54" y="272"/>
                </a:lnTo>
                <a:lnTo>
                  <a:pt x="56" y="267"/>
                </a:lnTo>
                <a:lnTo>
                  <a:pt x="57" y="259"/>
                </a:lnTo>
                <a:lnTo>
                  <a:pt x="62" y="254"/>
                </a:lnTo>
                <a:lnTo>
                  <a:pt x="66" y="248"/>
                </a:lnTo>
                <a:lnTo>
                  <a:pt x="73" y="243"/>
                </a:lnTo>
                <a:lnTo>
                  <a:pt x="79" y="237"/>
                </a:lnTo>
                <a:lnTo>
                  <a:pt x="86" y="232"/>
                </a:lnTo>
                <a:lnTo>
                  <a:pt x="94" y="228"/>
                </a:lnTo>
                <a:lnTo>
                  <a:pt x="103" y="223"/>
                </a:lnTo>
                <a:lnTo>
                  <a:pt x="118" y="219"/>
                </a:lnTo>
                <a:lnTo>
                  <a:pt x="135" y="215"/>
                </a:lnTo>
                <a:lnTo>
                  <a:pt x="151" y="213"/>
                </a:lnTo>
                <a:lnTo>
                  <a:pt x="168" y="213"/>
                </a:lnTo>
                <a:lnTo>
                  <a:pt x="166" y="206"/>
                </a:lnTo>
                <a:lnTo>
                  <a:pt x="165" y="197"/>
                </a:lnTo>
                <a:lnTo>
                  <a:pt x="165" y="190"/>
                </a:lnTo>
                <a:lnTo>
                  <a:pt x="166" y="182"/>
                </a:lnTo>
                <a:lnTo>
                  <a:pt x="168" y="175"/>
                </a:lnTo>
                <a:lnTo>
                  <a:pt x="171" y="168"/>
                </a:lnTo>
                <a:lnTo>
                  <a:pt x="176" y="160"/>
                </a:lnTo>
                <a:lnTo>
                  <a:pt x="183" y="153"/>
                </a:lnTo>
                <a:lnTo>
                  <a:pt x="188" y="147"/>
                </a:lnTo>
                <a:lnTo>
                  <a:pt x="197" y="142"/>
                </a:lnTo>
                <a:lnTo>
                  <a:pt x="205" y="136"/>
                </a:lnTo>
                <a:lnTo>
                  <a:pt x="213" y="131"/>
                </a:lnTo>
                <a:lnTo>
                  <a:pt x="223" y="127"/>
                </a:lnTo>
                <a:lnTo>
                  <a:pt x="235" y="123"/>
                </a:lnTo>
                <a:lnTo>
                  <a:pt x="245" y="120"/>
                </a:lnTo>
                <a:lnTo>
                  <a:pt x="257" y="118"/>
                </a:lnTo>
                <a:lnTo>
                  <a:pt x="269" y="116"/>
                </a:lnTo>
                <a:lnTo>
                  <a:pt x="279" y="116"/>
                </a:lnTo>
                <a:lnTo>
                  <a:pt x="289" y="116"/>
                </a:lnTo>
                <a:lnTo>
                  <a:pt x="299" y="116"/>
                </a:lnTo>
                <a:lnTo>
                  <a:pt x="309" y="118"/>
                </a:lnTo>
                <a:lnTo>
                  <a:pt x="321" y="118"/>
                </a:lnTo>
                <a:lnTo>
                  <a:pt x="329" y="122"/>
                </a:lnTo>
                <a:lnTo>
                  <a:pt x="339" y="123"/>
                </a:lnTo>
                <a:lnTo>
                  <a:pt x="336" y="118"/>
                </a:lnTo>
                <a:lnTo>
                  <a:pt x="334" y="112"/>
                </a:lnTo>
                <a:lnTo>
                  <a:pt x="332" y="109"/>
                </a:lnTo>
                <a:lnTo>
                  <a:pt x="332" y="103"/>
                </a:lnTo>
                <a:lnTo>
                  <a:pt x="332" y="98"/>
                </a:lnTo>
                <a:lnTo>
                  <a:pt x="334" y="92"/>
                </a:lnTo>
                <a:lnTo>
                  <a:pt x="336" y="87"/>
                </a:lnTo>
                <a:lnTo>
                  <a:pt x="337" y="83"/>
                </a:lnTo>
                <a:lnTo>
                  <a:pt x="341" y="78"/>
                </a:lnTo>
                <a:lnTo>
                  <a:pt x="346" y="74"/>
                </a:lnTo>
                <a:lnTo>
                  <a:pt x="349" y="68"/>
                </a:lnTo>
                <a:lnTo>
                  <a:pt x="356" y="65"/>
                </a:lnTo>
                <a:lnTo>
                  <a:pt x="361" y="61"/>
                </a:lnTo>
                <a:lnTo>
                  <a:pt x="368" y="57"/>
                </a:lnTo>
                <a:lnTo>
                  <a:pt x="374" y="56"/>
                </a:lnTo>
                <a:lnTo>
                  <a:pt x="383" y="52"/>
                </a:lnTo>
                <a:lnTo>
                  <a:pt x="389" y="50"/>
                </a:lnTo>
                <a:lnTo>
                  <a:pt x="398" y="48"/>
                </a:lnTo>
                <a:lnTo>
                  <a:pt x="404" y="48"/>
                </a:lnTo>
                <a:lnTo>
                  <a:pt x="413" y="48"/>
                </a:lnTo>
                <a:lnTo>
                  <a:pt x="421" y="48"/>
                </a:lnTo>
                <a:lnTo>
                  <a:pt x="428" y="48"/>
                </a:lnTo>
                <a:lnTo>
                  <a:pt x="443" y="50"/>
                </a:lnTo>
                <a:lnTo>
                  <a:pt x="456" y="56"/>
                </a:lnTo>
                <a:lnTo>
                  <a:pt x="463" y="57"/>
                </a:lnTo>
                <a:lnTo>
                  <a:pt x="470" y="61"/>
                </a:lnTo>
                <a:lnTo>
                  <a:pt x="475" y="65"/>
                </a:lnTo>
                <a:lnTo>
                  <a:pt x="480" y="68"/>
                </a:lnTo>
                <a:lnTo>
                  <a:pt x="485" y="72"/>
                </a:lnTo>
                <a:lnTo>
                  <a:pt x="490" y="78"/>
                </a:lnTo>
                <a:lnTo>
                  <a:pt x="490" y="72"/>
                </a:lnTo>
                <a:lnTo>
                  <a:pt x="493" y="65"/>
                </a:lnTo>
                <a:lnTo>
                  <a:pt x="497" y="59"/>
                </a:lnTo>
                <a:lnTo>
                  <a:pt x="500" y="56"/>
                </a:lnTo>
                <a:lnTo>
                  <a:pt x="505" y="50"/>
                </a:lnTo>
                <a:lnTo>
                  <a:pt x="510" y="46"/>
                </a:lnTo>
                <a:lnTo>
                  <a:pt x="517" y="41"/>
                </a:lnTo>
                <a:lnTo>
                  <a:pt x="524" y="37"/>
                </a:lnTo>
                <a:lnTo>
                  <a:pt x="530" y="35"/>
                </a:lnTo>
                <a:lnTo>
                  <a:pt x="539" y="32"/>
                </a:lnTo>
                <a:lnTo>
                  <a:pt x="547" y="30"/>
                </a:lnTo>
                <a:lnTo>
                  <a:pt x="555" y="28"/>
                </a:lnTo>
                <a:lnTo>
                  <a:pt x="564" y="26"/>
                </a:lnTo>
                <a:lnTo>
                  <a:pt x="572" y="26"/>
                </a:lnTo>
                <a:lnTo>
                  <a:pt x="580" y="24"/>
                </a:lnTo>
                <a:lnTo>
                  <a:pt x="591" y="26"/>
                </a:lnTo>
                <a:lnTo>
                  <a:pt x="599" y="26"/>
                </a:lnTo>
                <a:lnTo>
                  <a:pt x="607" y="28"/>
                </a:lnTo>
                <a:lnTo>
                  <a:pt x="616" y="30"/>
                </a:lnTo>
                <a:lnTo>
                  <a:pt x="622" y="32"/>
                </a:lnTo>
                <a:lnTo>
                  <a:pt x="631" y="35"/>
                </a:lnTo>
                <a:lnTo>
                  <a:pt x="637" y="39"/>
                </a:lnTo>
                <a:lnTo>
                  <a:pt x="643" y="43"/>
                </a:lnTo>
                <a:lnTo>
                  <a:pt x="649" y="46"/>
                </a:lnTo>
                <a:lnTo>
                  <a:pt x="661" y="37"/>
                </a:lnTo>
                <a:lnTo>
                  <a:pt x="674" y="30"/>
                </a:lnTo>
                <a:lnTo>
                  <a:pt x="688" y="23"/>
                </a:lnTo>
                <a:lnTo>
                  <a:pt x="703" y="17"/>
                </a:lnTo>
                <a:lnTo>
                  <a:pt x="718" y="12"/>
                </a:lnTo>
                <a:lnTo>
                  <a:pt x="735" y="8"/>
                </a:lnTo>
                <a:lnTo>
                  <a:pt x="751" y="4"/>
                </a:lnTo>
                <a:lnTo>
                  <a:pt x="768" y="2"/>
                </a:lnTo>
                <a:lnTo>
                  <a:pt x="785" y="2"/>
                </a:lnTo>
                <a:lnTo>
                  <a:pt x="802" y="2"/>
                </a:lnTo>
                <a:lnTo>
                  <a:pt x="819" y="4"/>
                </a:lnTo>
                <a:lnTo>
                  <a:pt x="835" y="6"/>
                </a:lnTo>
                <a:lnTo>
                  <a:pt x="852" y="10"/>
                </a:lnTo>
                <a:lnTo>
                  <a:pt x="869" y="15"/>
                </a:lnTo>
                <a:lnTo>
                  <a:pt x="884" y="21"/>
                </a:lnTo>
                <a:lnTo>
                  <a:pt x="899" y="26"/>
                </a:lnTo>
                <a:lnTo>
                  <a:pt x="901" y="23"/>
                </a:lnTo>
                <a:lnTo>
                  <a:pt x="902" y="21"/>
                </a:lnTo>
                <a:lnTo>
                  <a:pt x="906" y="17"/>
                </a:lnTo>
                <a:lnTo>
                  <a:pt x="907" y="13"/>
                </a:lnTo>
                <a:lnTo>
                  <a:pt x="914" y="10"/>
                </a:lnTo>
                <a:lnTo>
                  <a:pt x="922" y="4"/>
                </a:lnTo>
                <a:lnTo>
                  <a:pt x="933" y="2"/>
                </a:lnTo>
                <a:lnTo>
                  <a:pt x="943" y="0"/>
                </a:lnTo>
                <a:lnTo>
                  <a:pt x="953" y="0"/>
                </a:lnTo>
                <a:lnTo>
                  <a:pt x="964" y="0"/>
                </a:lnTo>
                <a:lnTo>
                  <a:pt x="971" y="2"/>
                </a:lnTo>
                <a:lnTo>
                  <a:pt x="978" y="4"/>
                </a:lnTo>
                <a:lnTo>
                  <a:pt x="985" y="8"/>
                </a:lnTo>
                <a:lnTo>
                  <a:pt x="990" y="10"/>
                </a:lnTo>
                <a:lnTo>
                  <a:pt x="995" y="13"/>
                </a:lnTo>
                <a:lnTo>
                  <a:pt x="1000" y="19"/>
                </a:lnTo>
                <a:lnTo>
                  <a:pt x="1001" y="23"/>
                </a:lnTo>
                <a:lnTo>
                  <a:pt x="1005" y="28"/>
                </a:lnTo>
                <a:lnTo>
                  <a:pt x="1005" y="24"/>
                </a:lnTo>
                <a:lnTo>
                  <a:pt x="1006" y="21"/>
                </a:lnTo>
                <a:lnTo>
                  <a:pt x="1008" y="19"/>
                </a:lnTo>
                <a:lnTo>
                  <a:pt x="1010" y="15"/>
                </a:lnTo>
                <a:lnTo>
                  <a:pt x="1013" y="13"/>
                </a:lnTo>
                <a:lnTo>
                  <a:pt x="1015" y="10"/>
                </a:lnTo>
                <a:lnTo>
                  <a:pt x="1023" y="6"/>
                </a:lnTo>
                <a:lnTo>
                  <a:pt x="1031" y="2"/>
                </a:lnTo>
                <a:lnTo>
                  <a:pt x="1042" y="0"/>
                </a:lnTo>
                <a:lnTo>
                  <a:pt x="1053" y="0"/>
                </a:lnTo>
                <a:lnTo>
                  <a:pt x="1065" y="0"/>
                </a:lnTo>
                <a:lnTo>
                  <a:pt x="1073" y="0"/>
                </a:lnTo>
                <a:lnTo>
                  <a:pt x="1082" y="4"/>
                </a:lnTo>
                <a:lnTo>
                  <a:pt x="1088" y="6"/>
                </a:lnTo>
                <a:lnTo>
                  <a:pt x="1095" y="10"/>
                </a:lnTo>
                <a:lnTo>
                  <a:pt x="1102" y="13"/>
                </a:lnTo>
                <a:lnTo>
                  <a:pt x="1107" y="17"/>
                </a:lnTo>
                <a:lnTo>
                  <a:pt x="1112" y="21"/>
                </a:lnTo>
                <a:lnTo>
                  <a:pt x="1115" y="26"/>
                </a:lnTo>
                <a:lnTo>
                  <a:pt x="1124" y="24"/>
                </a:lnTo>
                <a:lnTo>
                  <a:pt x="1132" y="21"/>
                </a:lnTo>
                <a:lnTo>
                  <a:pt x="1142" y="21"/>
                </a:lnTo>
                <a:lnTo>
                  <a:pt x="1152" y="21"/>
                </a:lnTo>
                <a:lnTo>
                  <a:pt x="1162" y="21"/>
                </a:lnTo>
                <a:lnTo>
                  <a:pt x="1172" y="23"/>
                </a:lnTo>
                <a:lnTo>
                  <a:pt x="1182" y="24"/>
                </a:lnTo>
                <a:lnTo>
                  <a:pt x="1192" y="28"/>
                </a:lnTo>
                <a:lnTo>
                  <a:pt x="1196" y="30"/>
                </a:lnTo>
                <a:lnTo>
                  <a:pt x="1199" y="32"/>
                </a:lnTo>
                <a:lnTo>
                  <a:pt x="1202" y="34"/>
                </a:lnTo>
                <a:lnTo>
                  <a:pt x="1206" y="35"/>
                </a:lnTo>
                <a:lnTo>
                  <a:pt x="1207" y="39"/>
                </a:lnTo>
                <a:lnTo>
                  <a:pt x="1209" y="41"/>
                </a:lnTo>
                <a:lnTo>
                  <a:pt x="1211" y="43"/>
                </a:lnTo>
                <a:lnTo>
                  <a:pt x="1211" y="46"/>
                </a:lnTo>
                <a:lnTo>
                  <a:pt x="1216" y="43"/>
                </a:lnTo>
                <a:lnTo>
                  <a:pt x="1219" y="39"/>
                </a:lnTo>
                <a:lnTo>
                  <a:pt x="1226" y="35"/>
                </a:lnTo>
                <a:lnTo>
                  <a:pt x="1231" y="32"/>
                </a:lnTo>
                <a:lnTo>
                  <a:pt x="1239" y="30"/>
                </a:lnTo>
                <a:lnTo>
                  <a:pt x="1246" y="28"/>
                </a:lnTo>
                <a:lnTo>
                  <a:pt x="1254" y="26"/>
                </a:lnTo>
                <a:lnTo>
                  <a:pt x="1263" y="24"/>
                </a:lnTo>
                <a:lnTo>
                  <a:pt x="1281" y="23"/>
                </a:lnTo>
                <a:lnTo>
                  <a:pt x="1300" y="23"/>
                </a:lnTo>
                <a:lnTo>
                  <a:pt x="1320" y="24"/>
                </a:lnTo>
                <a:lnTo>
                  <a:pt x="1330" y="26"/>
                </a:lnTo>
                <a:lnTo>
                  <a:pt x="1340" y="28"/>
                </a:lnTo>
                <a:lnTo>
                  <a:pt x="1355" y="32"/>
                </a:lnTo>
                <a:lnTo>
                  <a:pt x="1362" y="35"/>
                </a:lnTo>
                <a:lnTo>
                  <a:pt x="1368" y="37"/>
                </a:lnTo>
                <a:lnTo>
                  <a:pt x="1373" y="41"/>
                </a:lnTo>
                <a:lnTo>
                  <a:pt x="1380" y="43"/>
                </a:lnTo>
                <a:lnTo>
                  <a:pt x="1385" y="46"/>
                </a:lnTo>
                <a:lnTo>
                  <a:pt x="1389" y="50"/>
                </a:lnTo>
                <a:lnTo>
                  <a:pt x="1394" y="52"/>
                </a:lnTo>
                <a:lnTo>
                  <a:pt x="1397" y="56"/>
                </a:lnTo>
                <a:lnTo>
                  <a:pt x="1400" y="59"/>
                </a:lnTo>
                <a:lnTo>
                  <a:pt x="1402" y="63"/>
                </a:lnTo>
                <a:lnTo>
                  <a:pt x="1405" y="67"/>
                </a:lnTo>
                <a:lnTo>
                  <a:pt x="1405" y="70"/>
                </a:lnTo>
                <a:lnTo>
                  <a:pt x="1407" y="74"/>
                </a:lnTo>
                <a:lnTo>
                  <a:pt x="1407" y="78"/>
                </a:lnTo>
                <a:lnTo>
                  <a:pt x="1417" y="72"/>
                </a:lnTo>
                <a:lnTo>
                  <a:pt x="1427" y="68"/>
                </a:lnTo>
                <a:lnTo>
                  <a:pt x="1437" y="67"/>
                </a:lnTo>
                <a:lnTo>
                  <a:pt x="1447" y="65"/>
                </a:lnTo>
                <a:lnTo>
                  <a:pt x="1457" y="65"/>
                </a:lnTo>
                <a:lnTo>
                  <a:pt x="1467" y="65"/>
                </a:lnTo>
                <a:lnTo>
                  <a:pt x="1476" y="67"/>
                </a:lnTo>
                <a:lnTo>
                  <a:pt x="1482" y="70"/>
                </a:lnTo>
                <a:lnTo>
                  <a:pt x="1486" y="74"/>
                </a:lnTo>
                <a:lnTo>
                  <a:pt x="1489" y="78"/>
                </a:lnTo>
                <a:lnTo>
                  <a:pt x="1491" y="81"/>
                </a:lnTo>
                <a:lnTo>
                  <a:pt x="1491" y="87"/>
                </a:lnTo>
                <a:lnTo>
                  <a:pt x="1489" y="92"/>
                </a:lnTo>
                <a:lnTo>
                  <a:pt x="1486" y="98"/>
                </a:lnTo>
                <a:lnTo>
                  <a:pt x="1482" y="103"/>
                </a:lnTo>
                <a:lnTo>
                  <a:pt x="1476" y="107"/>
                </a:lnTo>
                <a:lnTo>
                  <a:pt x="1484" y="103"/>
                </a:lnTo>
                <a:lnTo>
                  <a:pt x="1492" y="100"/>
                </a:lnTo>
                <a:lnTo>
                  <a:pt x="1503" y="96"/>
                </a:lnTo>
                <a:lnTo>
                  <a:pt x="1511" y="94"/>
                </a:lnTo>
                <a:lnTo>
                  <a:pt x="1521" y="92"/>
                </a:lnTo>
                <a:lnTo>
                  <a:pt x="1531" y="92"/>
                </a:lnTo>
                <a:lnTo>
                  <a:pt x="1541" y="90"/>
                </a:lnTo>
                <a:lnTo>
                  <a:pt x="1551" y="90"/>
                </a:lnTo>
                <a:lnTo>
                  <a:pt x="1561" y="92"/>
                </a:lnTo>
                <a:lnTo>
                  <a:pt x="1570" y="94"/>
                </a:lnTo>
                <a:lnTo>
                  <a:pt x="1580" y="96"/>
                </a:lnTo>
                <a:lnTo>
                  <a:pt x="1590" y="98"/>
                </a:lnTo>
                <a:lnTo>
                  <a:pt x="1598" y="101"/>
                </a:lnTo>
                <a:lnTo>
                  <a:pt x="1606" y="105"/>
                </a:lnTo>
                <a:lnTo>
                  <a:pt x="1615" y="109"/>
                </a:lnTo>
                <a:lnTo>
                  <a:pt x="1622" y="114"/>
                </a:lnTo>
                <a:lnTo>
                  <a:pt x="1630" y="122"/>
                </a:lnTo>
                <a:lnTo>
                  <a:pt x="1637" y="129"/>
                </a:lnTo>
                <a:lnTo>
                  <a:pt x="1642" y="136"/>
                </a:lnTo>
                <a:lnTo>
                  <a:pt x="1643" y="142"/>
                </a:lnTo>
                <a:lnTo>
                  <a:pt x="1645" y="146"/>
                </a:lnTo>
                <a:lnTo>
                  <a:pt x="1647" y="149"/>
                </a:lnTo>
                <a:lnTo>
                  <a:pt x="1647" y="155"/>
                </a:lnTo>
                <a:lnTo>
                  <a:pt x="1647" y="158"/>
                </a:lnTo>
                <a:lnTo>
                  <a:pt x="1647" y="164"/>
                </a:lnTo>
                <a:lnTo>
                  <a:pt x="1647" y="168"/>
                </a:lnTo>
                <a:lnTo>
                  <a:pt x="1645" y="171"/>
                </a:lnTo>
                <a:lnTo>
                  <a:pt x="1643" y="177"/>
                </a:lnTo>
                <a:lnTo>
                  <a:pt x="1642" y="180"/>
                </a:lnTo>
                <a:lnTo>
                  <a:pt x="1650" y="184"/>
                </a:lnTo>
                <a:lnTo>
                  <a:pt x="1660" y="186"/>
                </a:lnTo>
                <a:lnTo>
                  <a:pt x="1668" y="190"/>
                </a:lnTo>
                <a:lnTo>
                  <a:pt x="1675" y="193"/>
                </a:lnTo>
                <a:lnTo>
                  <a:pt x="1682" y="197"/>
                </a:lnTo>
                <a:lnTo>
                  <a:pt x="1689" y="201"/>
                </a:lnTo>
                <a:lnTo>
                  <a:pt x="1694" y="204"/>
                </a:lnTo>
                <a:lnTo>
                  <a:pt x="1699" y="208"/>
                </a:lnTo>
                <a:lnTo>
                  <a:pt x="1704" y="212"/>
                </a:lnTo>
                <a:lnTo>
                  <a:pt x="1707" y="217"/>
                </a:lnTo>
                <a:lnTo>
                  <a:pt x="1709" y="221"/>
                </a:lnTo>
                <a:lnTo>
                  <a:pt x="1710" y="226"/>
                </a:lnTo>
                <a:lnTo>
                  <a:pt x="1712" y="230"/>
                </a:lnTo>
                <a:lnTo>
                  <a:pt x="1710" y="234"/>
                </a:lnTo>
                <a:lnTo>
                  <a:pt x="1710" y="239"/>
                </a:lnTo>
                <a:lnTo>
                  <a:pt x="1709" y="243"/>
                </a:lnTo>
                <a:lnTo>
                  <a:pt x="1722" y="243"/>
                </a:lnTo>
                <a:lnTo>
                  <a:pt x="1737" y="245"/>
                </a:lnTo>
                <a:lnTo>
                  <a:pt x="1751" y="247"/>
                </a:lnTo>
                <a:lnTo>
                  <a:pt x="1764" y="248"/>
                </a:lnTo>
                <a:lnTo>
                  <a:pt x="1776" y="252"/>
                </a:lnTo>
                <a:lnTo>
                  <a:pt x="1788" y="256"/>
                </a:lnTo>
                <a:lnTo>
                  <a:pt x="1799" y="259"/>
                </a:lnTo>
                <a:lnTo>
                  <a:pt x="1808" y="263"/>
                </a:lnTo>
                <a:lnTo>
                  <a:pt x="1818" y="267"/>
                </a:lnTo>
                <a:lnTo>
                  <a:pt x="1824" y="272"/>
                </a:lnTo>
                <a:lnTo>
                  <a:pt x="1831" y="278"/>
                </a:lnTo>
                <a:lnTo>
                  <a:pt x="1836" y="283"/>
                </a:lnTo>
                <a:lnTo>
                  <a:pt x="1841" y="289"/>
                </a:lnTo>
                <a:lnTo>
                  <a:pt x="1843" y="294"/>
                </a:lnTo>
                <a:lnTo>
                  <a:pt x="1845" y="302"/>
                </a:lnTo>
                <a:lnTo>
                  <a:pt x="1845" y="307"/>
                </a:lnTo>
                <a:lnTo>
                  <a:pt x="1843" y="313"/>
                </a:lnTo>
                <a:lnTo>
                  <a:pt x="1841" y="318"/>
                </a:lnTo>
                <a:lnTo>
                  <a:pt x="1838" y="324"/>
                </a:lnTo>
                <a:lnTo>
                  <a:pt x="1833" y="329"/>
                </a:lnTo>
                <a:lnTo>
                  <a:pt x="1828" y="335"/>
                </a:lnTo>
                <a:lnTo>
                  <a:pt x="1821" y="338"/>
                </a:lnTo>
                <a:lnTo>
                  <a:pt x="1814" y="344"/>
                </a:lnTo>
                <a:lnTo>
                  <a:pt x="1806" y="347"/>
                </a:lnTo>
                <a:lnTo>
                  <a:pt x="1814" y="349"/>
                </a:lnTo>
                <a:lnTo>
                  <a:pt x="1821" y="351"/>
                </a:lnTo>
                <a:lnTo>
                  <a:pt x="1828" y="353"/>
                </a:lnTo>
                <a:lnTo>
                  <a:pt x="1834" y="357"/>
                </a:lnTo>
                <a:lnTo>
                  <a:pt x="1839" y="359"/>
                </a:lnTo>
                <a:lnTo>
                  <a:pt x="1845" y="362"/>
                </a:lnTo>
                <a:lnTo>
                  <a:pt x="1848" y="364"/>
                </a:lnTo>
                <a:lnTo>
                  <a:pt x="1851" y="368"/>
                </a:lnTo>
                <a:lnTo>
                  <a:pt x="1855" y="371"/>
                </a:lnTo>
                <a:lnTo>
                  <a:pt x="1856" y="375"/>
                </a:lnTo>
                <a:lnTo>
                  <a:pt x="1858" y="377"/>
                </a:lnTo>
                <a:lnTo>
                  <a:pt x="1858" y="381"/>
                </a:lnTo>
                <a:lnTo>
                  <a:pt x="1856" y="384"/>
                </a:lnTo>
                <a:lnTo>
                  <a:pt x="1856" y="388"/>
                </a:lnTo>
                <a:lnTo>
                  <a:pt x="1853" y="392"/>
                </a:lnTo>
                <a:lnTo>
                  <a:pt x="1851" y="395"/>
                </a:lnTo>
                <a:lnTo>
                  <a:pt x="1845" y="401"/>
                </a:lnTo>
                <a:lnTo>
                  <a:pt x="1838" y="404"/>
                </a:lnTo>
                <a:lnTo>
                  <a:pt x="1829" y="408"/>
                </a:lnTo>
                <a:lnTo>
                  <a:pt x="1819" y="412"/>
                </a:lnTo>
                <a:lnTo>
                  <a:pt x="1828" y="410"/>
                </a:lnTo>
                <a:lnTo>
                  <a:pt x="1836" y="410"/>
                </a:lnTo>
                <a:lnTo>
                  <a:pt x="1843" y="410"/>
                </a:lnTo>
                <a:lnTo>
                  <a:pt x="1851" y="412"/>
                </a:lnTo>
                <a:lnTo>
                  <a:pt x="1858" y="414"/>
                </a:lnTo>
                <a:lnTo>
                  <a:pt x="1865" y="417"/>
                </a:lnTo>
                <a:lnTo>
                  <a:pt x="1870" y="421"/>
                </a:lnTo>
                <a:lnTo>
                  <a:pt x="1875" y="426"/>
                </a:lnTo>
                <a:lnTo>
                  <a:pt x="1876" y="428"/>
                </a:lnTo>
                <a:lnTo>
                  <a:pt x="1876" y="430"/>
                </a:lnTo>
                <a:lnTo>
                  <a:pt x="1878" y="434"/>
                </a:lnTo>
                <a:lnTo>
                  <a:pt x="1878" y="436"/>
                </a:lnTo>
                <a:lnTo>
                  <a:pt x="1878" y="441"/>
                </a:lnTo>
                <a:lnTo>
                  <a:pt x="1875" y="447"/>
                </a:lnTo>
                <a:lnTo>
                  <a:pt x="1871" y="452"/>
                </a:lnTo>
                <a:lnTo>
                  <a:pt x="1866" y="456"/>
                </a:lnTo>
                <a:lnTo>
                  <a:pt x="1861" y="459"/>
                </a:lnTo>
                <a:lnTo>
                  <a:pt x="1853" y="461"/>
                </a:lnTo>
                <a:lnTo>
                  <a:pt x="1843" y="463"/>
                </a:lnTo>
                <a:lnTo>
                  <a:pt x="1833" y="465"/>
                </a:lnTo>
                <a:lnTo>
                  <a:pt x="1821" y="463"/>
                </a:lnTo>
                <a:lnTo>
                  <a:pt x="1813" y="459"/>
                </a:lnTo>
                <a:lnTo>
                  <a:pt x="1818" y="463"/>
                </a:lnTo>
                <a:lnTo>
                  <a:pt x="1823" y="469"/>
                </a:lnTo>
                <a:lnTo>
                  <a:pt x="1828" y="474"/>
                </a:lnTo>
                <a:lnTo>
                  <a:pt x="1831" y="480"/>
                </a:lnTo>
                <a:lnTo>
                  <a:pt x="1833" y="485"/>
                </a:lnTo>
                <a:lnTo>
                  <a:pt x="1834" y="491"/>
                </a:lnTo>
                <a:lnTo>
                  <a:pt x="1834" y="496"/>
                </a:lnTo>
                <a:lnTo>
                  <a:pt x="1834" y="502"/>
                </a:lnTo>
                <a:lnTo>
                  <a:pt x="1834" y="507"/>
                </a:lnTo>
                <a:lnTo>
                  <a:pt x="1833" y="513"/>
                </a:lnTo>
                <a:lnTo>
                  <a:pt x="1829" y="518"/>
                </a:lnTo>
                <a:lnTo>
                  <a:pt x="1826" y="524"/>
                </a:lnTo>
                <a:lnTo>
                  <a:pt x="1821" y="529"/>
                </a:lnTo>
                <a:lnTo>
                  <a:pt x="1816" y="535"/>
                </a:lnTo>
                <a:lnTo>
                  <a:pt x="1811" y="538"/>
                </a:lnTo>
                <a:lnTo>
                  <a:pt x="1804" y="542"/>
                </a:lnTo>
                <a:lnTo>
                  <a:pt x="1793" y="548"/>
                </a:lnTo>
                <a:lnTo>
                  <a:pt x="1781" y="553"/>
                </a:lnTo>
                <a:lnTo>
                  <a:pt x="1767" y="555"/>
                </a:lnTo>
                <a:lnTo>
                  <a:pt x="1752" y="557"/>
                </a:lnTo>
                <a:lnTo>
                  <a:pt x="1764" y="560"/>
                </a:lnTo>
                <a:lnTo>
                  <a:pt x="1774" y="564"/>
                </a:lnTo>
                <a:lnTo>
                  <a:pt x="1777" y="566"/>
                </a:lnTo>
                <a:lnTo>
                  <a:pt x="1781" y="568"/>
                </a:lnTo>
                <a:lnTo>
                  <a:pt x="1784" y="570"/>
                </a:lnTo>
                <a:lnTo>
                  <a:pt x="1788" y="573"/>
                </a:lnTo>
                <a:lnTo>
                  <a:pt x="1789" y="575"/>
                </a:lnTo>
                <a:lnTo>
                  <a:pt x="1791" y="579"/>
                </a:lnTo>
                <a:lnTo>
                  <a:pt x="1793" y="581"/>
                </a:lnTo>
                <a:lnTo>
                  <a:pt x="1793" y="584"/>
                </a:lnTo>
                <a:lnTo>
                  <a:pt x="1793" y="588"/>
                </a:lnTo>
                <a:lnTo>
                  <a:pt x="1793" y="590"/>
                </a:lnTo>
                <a:lnTo>
                  <a:pt x="1791" y="594"/>
                </a:lnTo>
                <a:lnTo>
                  <a:pt x="1789" y="597"/>
                </a:lnTo>
                <a:lnTo>
                  <a:pt x="1788" y="599"/>
                </a:lnTo>
                <a:lnTo>
                  <a:pt x="1784" y="603"/>
                </a:lnTo>
                <a:lnTo>
                  <a:pt x="1781" y="605"/>
                </a:lnTo>
                <a:lnTo>
                  <a:pt x="1777" y="606"/>
                </a:lnTo>
                <a:lnTo>
                  <a:pt x="1769" y="612"/>
                </a:lnTo>
                <a:lnTo>
                  <a:pt x="1759" y="614"/>
                </a:lnTo>
                <a:lnTo>
                  <a:pt x="1749" y="617"/>
                </a:lnTo>
                <a:lnTo>
                  <a:pt x="1737" y="617"/>
                </a:lnTo>
                <a:lnTo>
                  <a:pt x="1725" y="617"/>
                </a:lnTo>
                <a:lnTo>
                  <a:pt x="1714" y="616"/>
                </a:lnTo>
                <a:lnTo>
                  <a:pt x="1702" y="614"/>
                </a:lnTo>
                <a:lnTo>
                  <a:pt x="1692" y="610"/>
                </a:lnTo>
                <a:lnTo>
                  <a:pt x="1695" y="617"/>
                </a:lnTo>
                <a:lnTo>
                  <a:pt x="1695" y="625"/>
                </a:lnTo>
                <a:lnTo>
                  <a:pt x="1695" y="634"/>
                </a:lnTo>
                <a:lnTo>
                  <a:pt x="1694" y="641"/>
                </a:lnTo>
                <a:lnTo>
                  <a:pt x="1692" y="649"/>
                </a:lnTo>
                <a:lnTo>
                  <a:pt x="1689" y="656"/>
                </a:lnTo>
                <a:lnTo>
                  <a:pt x="1684" y="663"/>
                </a:lnTo>
                <a:lnTo>
                  <a:pt x="1679" y="669"/>
                </a:lnTo>
                <a:lnTo>
                  <a:pt x="1672" y="676"/>
                </a:lnTo>
                <a:lnTo>
                  <a:pt x="1663" y="682"/>
                </a:lnTo>
                <a:lnTo>
                  <a:pt x="1655" y="687"/>
                </a:lnTo>
                <a:lnTo>
                  <a:pt x="1647" y="693"/>
                </a:lnTo>
                <a:lnTo>
                  <a:pt x="1637" y="696"/>
                </a:lnTo>
                <a:lnTo>
                  <a:pt x="1627" y="700"/>
                </a:lnTo>
                <a:lnTo>
                  <a:pt x="1615" y="704"/>
                </a:lnTo>
                <a:lnTo>
                  <a:pt x="1603" y="706"/>
                </a:lnTo>
                <a:lnTo>
                  <a:pt x="1593" y="707"/>
                </a:lnTo>
                <a:lnTo>
                  <a:pt x="1581" y="707"/>
                </a:lnTo>
                <a:lnTo>
                  <a:pt x="1571" y="707"/>
                </a:lnTo>
                <a:lnTo>
                  <a:pt x="1561" y="707"/>
                </a:lnTo>
                <a:lnTo>
                  <a:pt x="1551" y="706"/>
                </a:lnTo>
                <a:lnTo>
                  <a:pt x="1541" y="704"/>
                </a:lnTo>
                <a:lnTo>
                  <a:pt x="1531" y="702"/>
                </a:lnTo>
                <a:lnTo>
                  <a:pt x="1521" y="700"/>
                </a:lnTo>
                <a:lnTo>
                  <a:pt x="1524" y="704"/>
                </a:lnTo>
                <a:lnTo>
                  <a:pt x="1526" y="707"/>
                </a:lnTo>
                <a:lnTo>
                  <a:pt x="1528" y="711"/>
                </a:lnTo>
                <a:lnTo>
                  <a:pt x="1528" y="715"/>
                </a:lnTo>
                <a:lnTo>
                  <a:pt x="1526" y="720"/>
                </a:lnTo>
                <a:lnTo>
                  <a:pt x="1526" y="724"/>
                </a:lnTo>
                <a:lnTo>
                  <a:pt x="1523" y="728"/>
                </a:lnTo>
                <a:lnTo>
                  <a:pt x="1519" y="731"/>
                </a:lnTo>
                <a:lnTo>
                  <a:pt x="1516" y="735"/>
                </a:lnTo>
                <a:lnTo>
                  <a:pt x="1511" y="739"/>
                </a:lnTo>
                <a:lnTo>
                  <a:pt x="1506" y="740"/>
                </a:lnTo>
                <a:lnTo>
                  <a:pt x="1499" y="744"/>
                </a:lnTo>
                <a:lnTo>
                  <a:pt x="1492" y="746"/>
                </a:lnTo>
                <a:lnTo>
                  <a:pt x="1484" y="750"/>
                </a:lnTo>
                <a:lnTo>
                  <a:pt x="1476" y="751"/>
                </a:lnTo>
                <a:lnTo>
                  <a:pt x="1467" y="753"/>
                </a:lnTo>
                <a:lnTo>
                  <a:pt x="1456" y="755"/>
                </a:lnTo>
                <a:lnTo>
                  <a:pt x="1442" y="755"/>
                </a:lnTo>
                <a:lnTo>
                  <a:pt x="1430" y="755"/>
                </a:lnTo>
                <a:lnTo>
                  <a:pt x="1417" y="755"/>
                </a:lnTo>
                <a:lnTo>
                  <a:pt x="1405" y="753"/>
                </a:lnTo>
                <a:lnTo>
                  <a:pt x="1394" y="751"/>
                </a:lnTo>
                <a:lnTo>
                  <a:pt x="1382" y="750"/>
                </a:lnTo>
                <a:lnTo>
                  <a:pt x="1372" y="746"/>
                </a:lnTo>
                <a:lnTo>
                  <a:pt x="1372" y="751"/>
                </a:lnTo>
                <a:lnTo>
                  <a:pt x="1372" y="755"/>
                </a:lnTo>
                <a:lnTo>
                  <a:pt x="1372" y="761"/>
                </a:lnTo>
                <a:lnTo>
                  <a:pt x="1370" y="766"/>
                </a:lnTo>
                <a:lnTo>
                  <a:pt x="1368" y="770"/>
                </a:lnTo>
                <a:lnTo>
                  <a:pt x="1367" y="775"/>
                </a:lnTo>
                <a:lnTo>
                  <a:pt x="1363" y="779"/>
                </a:lnTo>
                <a:lnTo>
                  <a:pt x="1360" y="783"/>
                </a:lnTo>
                <a:lnTo>
                  <a:pt x="1355" y="786"/>
                </a:lnTo>
                <a:lnTo>
                  <a:pt x="1350" y="790"/>
                </a:lnTo>
                <a:lnTo>
                  <a:pt x="1345" y="794"/>
                </a:lnTo>
                <a:lnTo>
                  <a:pt x="1338" y="795"/>
                </a:lnTo>
                <a:lnTo>
                  <a:pt x="1333" y="799"/>
                </a:lnTo>
                <a:lnTo>
                  <a:pt x="1327" y="801"/>
                </a:lnTo>
                <a:lnTo>
                  <a:pt x="1318" y="803"/>
                </a:lnTo>
                <a:lnTo>
                  <a:pt x="1311" y="803"/>
                </a:lnTo>
                <a:lnTo>
                  <a:pt x="1298" y="805"/>
                </a:lnTo>
                <a:lnTo>
                  <a:pt x="1285" y="803"/>
                </a:lnTo>
                <a:lnTo>
                  <a:pt x="1271" y="801"/>
                </a:lnTo>
                <a:lnTo>
                  <a:pt x="1259" y="797"/>
                </a:lnTo>
                <a:lnTo>
                  <a:pt x="1249" y="794"/>
                </a:lnTo>
                <a:lnTo>
                  <a:pt x="1241" y="788"/>
                </a:lnTo>
                <a:lnTo>
                  <a:pt x="1236" y="784"/>
                </a:lnTo>
                <a:lnTo>
                  <a:pt x="1233" y="781"/>
                </a:lnTo>
                <a:lnTo>
                  <a:pt x="1229" y="777"/>
                </a:lnTo>
                <a:lnTo>
                  <a:pt x="1226" y="773"/>
                </a:lnTo>
                <a:lnTo>
                  <a:pt x="1228" y="777"/>
                </a:lnTo>
                <a:lnTo>
                  <a:pt x="1229" y="781"/>
                </a:lnTo>
                <a:lnTo>
                  <a:pt x="1229" y="784"/>
                </a:lnTo>
                <a:lnTo>
                  <a:pt x="1229" y="788"/>
                </a:lnTo>
                <a:lnTo>
                  <a:pt x="1228" y="792"/>
                </a:lnTo>
                <a:lnTo>
                  <a:pt x="1226" y="795"/>
                </a:lnTo>
                <a:lnTo>
                  <a:pt x="1223" y="799"/>
                </a:lnTo>
                <a:lnTo>
                  <a:pt x="1219" y="803"/>
                </a:lnTo>
                <a:lnTo>
                  <a:pt x="1216" y="805"/>
                </a:lnTo>
                <a:lnTo>
                  <a:pt x="1211" y="808"/>
                </a:lnTo>
                <a:lnTo>
                  <a:pt x="1206" y="810"/>
                </a:lnTo>
                <a:lnTo>
                  <a:pt x="1201" y="814"/>
                </a:lnTo>
                <a:lnTo>
                  <a:pt x="1194" y="816"/>
                </a:lnTo>
                <a:lnTo>
                  <a:pt x="1187" y="818"/>
                </a:lnTo>
                <a:lnTo>
                  <a:pt x="1181" y="819"/>
                </a:lnTo>
                <a:lnTo>
                  <a:pt x="1172" y="819"/>
                </a:lnTo>
                <a:lnTo>
                  <a:pt x="1157" y="821"/>
                </a:lnTo>
                <a:lnTo>
                  <a:pt x="1142" y="819"/>
                </a:lnTo>
                <a:lnTo>
                  <a:pt x="1127" y="818"/>
                </a:lnTo>
                <a:lnTo>
                  <a:pt x="1114" y="816"/>
                </a:lnTo>
                <a:lnTo>
                  <a:pt x="1102" y="810"/>
                </a:lnTo>
                <a:lnTo>
                  <a:pt x="1097" y="808"/>
                </a:lnTo>
                <a:lnTo>
                  <a:pt x="1092" y="805"/>
                </a:lnTo>
                <a:lnTo>
                  <a:pt x="1087" y="803"/>
                </a:lnTo>
                <a:lnTo>
                  <a:pt x="1083" y="799"/>
                </a:lnTo>
                <a:lnTo>
                  <a:pt x="1078" y="795"/>
                </a:lnTo>
                <a:lnTo>
                  <a:pt x="1077" y="792"/>
                </a:lnTo>
                <a:lnTo>
                  <a:pt x="1075" y="795"/>
                </a:lnTo>
                <a:lnTo>
                  <a:pt x="1073" y="797"/>
                </a:lnTo>
                <a:lnTo>
                  <a:pt x="1072" y="801"/>
                </a:lnTo>
                <a:lnTo>
                  <a:pt x="1068" y="803"/>
                </a:lnTo>
                <a:lnTo>
                  <a:pt x="1063" y="807"/>
                </a:lnTo>
                <a:lnTo>
                  <a:pt x="1060" y="808"/>
                </a:lnTo>
                <a:lnTo>
                  <a:pt x="1055" y="812"/>
                </a:lnTo>
                <a:lnTo>
                  <a:pt x="1050" y="814"/>
                </a:lnTo>
                <a:lnTo>
                  <a:pt x="1045" y="816"/>
                </a:lnTo>
                <a:lnTo>
                  <a:pt x="1038" y="818"/>
                </a:lnTo>
                <a:lnTo>
                  <a:pt x="1025" y="819"/>
                </a:lnTo>
                <a:lnTo>
                  <a:pt x="1011" y="821"/>
                </a:lnTo>
                <a:lnTo>
                  <a:pt x="996" y="821"/>
                </a:lnTo>
                <a:lnTo>
                  <a:pt x="985" y="819"/>
                </a:lnTo>
                <a:lnTo>
                  <a:pt x="973" y="818"/>
                </a:lnTo>
                <a:lnTo>
                  <a:pt x="963" y="816"/>
                </a:lnTo>
                <a:lnTo>
                  <a:pt x="954" y="814"/>
                </a:lnTo>
                <a:lnTo>
                  <a:pt x="946" y="810"/>
                </a:lnTo>
                <a:lnTo>
                  <a:pt x="939" y="807"/>
                </a:lnTo>
                <a:lnTo>
                  <a:pt x="934" y="801"/>
                </a:lnTo>
                <a:lnTo>
                  <a:pt x="933" y="799"/>
                </a:lnTo>
                <a:lnTo>
                  <a:pt x="931" y="797"/>
                </a:lnTo>
                <a:lnTo>
                  <a:pt x="926" y="801"/>
                </a:lnTo>
                <a:lnTo>
                  <a:pt x="921" y="805"/>
                </a:lnTo>
                <a:lnTo>
                  <a:pt x="916" y="807"/>
                </a:lnTo>
                <a:lnTo>
                  <a:pt x="909" y="810"/>
                </a:lnTo>
                <a:lnTo>
                  <a:pt x="902" y="814"/>
                </a:lnTo>
                <a:lnTo>
                  <a:pt x="894" y="816"/>
                </a:lnTo>
                <a:lnTo>
                  <a:pt x="887" y="818"/>
                </a:lnTo>
                <a:lnTo>
                  <a:pt x="879" y="819"/>
                </a:lnTo>
                <a:lnTo>
                  <a:pt x="860" y="821"/>
                </a:lnTo>
                <a:lnTo>
                  <a:pt x="842" y="821"/>
                </a:lnTo>
                <a:lnTo>
                  <a:pt x="824" y="821"/>
                </a:lnTo>
                <a:lnTo>
                  <a:pt x="805" y="819"/>
                </a:lnTo>
                <a:lnTo>
                  <a:pt x="795" y="816"/>
                </a:lnTo>
                <a:lnTo>
                  <a:pt x="785" y="814"/>
                </a:lnTo>
                <a:lnTo>
                  <a:pt x="777" y="810"/>
                </a:lnTo>
                <a:lnTo>
                  <a:pt x="768" y="807"/>
                </a:lnTo>
                <a:lnTo>
                  <a:pt x="762" y="803"/>
                </a:lnTo>
                <a:lnTo>
                  <a:pt x="757" y="799"/>
                </a:lnTo>
                <a:lnTo>
                  <a:pt x="751" y="794"/>
                </a:lnTo>
                <a:lnTo>
                  <a:pt x="748" y="788"/>
                </a:lnTo>
                <a:lnTo>
                  <a:pt x="743" y="792"/>
                </a:lnTo>
                <a:lnTo>
                  <a:pt x="736" y="794"/>
                </a:lnTo>
                <a:lnTo>
                  <a:pt x="730" y="795"/>
                </a:lnTo>
                <a:lnTo>
                  <a:pt x="723" y="795"/>
                </a:lnTo>
                <a:lnTo>
                  <a:pt x="708" y="797"/>
                </a:lnTo>
                <a:lnTo>
                  <a:pt x="691" y="799"/>
                </a:lnTo>
                <a:lnTo>
                  <a:pt x="674" y="797"/>
                </a:lnTo>
                <a:lnTo>
                  <a:pt x="659" y="795"/>
                </a:lnTo>
                <a:lnTo>
                  <a:pt x="643" y="790"/>
                </a:lnTo>
                <a:lnTo>
                  <a:pt x="629" y="786"/>
                </a:lnTo>
                <a:lnTo>
                  <a:pt x="621" y="781"/>
                </a:lnTo>
                <a:lnTo>
                  <a:pt x="614" y="777"/>
                </a:lnTo>
                <a:lnTo>
                  <a:pt x="607" y="773"/>
                </a:lnTo>
                <a:lnTo>
                  <a:pt x="602" y="768"/>
                </a:lnTo>
                <a:lnTo>
                  <a:pt x="599" y="762"/>
                </a:lnTo>
                <a:lnTo>
                  <a:pt x="597" y="759"/>
                </a:lnTo>
                <a:lnTo>
                  <a:pt x="596" y="753"/>
                </a:lnTo>
                <a:lnTo>
                  <a:pt x="597" y="748"/>
                </a:lnTo>
                <a:lnTo>
                  <a:pt x="596" y="751"/>
                </a:lnTo>
                <a:lnTo>
                  <a:pt x="594" y="753"/>
                </a:lnTo>
                <a:lnTo>
                  <a:pt x="592" y="757"/>
                </a:lnTo>
                <a:lnTo>
                  <a:pt x="589" y="759"/>
                </a:lnTo>
                <a:lnTo>
                  <a:pt x="586" y="761"/>
                </a:lnTo>
                <a:lnTo>
                  <a:pt x="580" y="762"/>
                </a:lnTo>
                <a:lnTo>
                  <a:pt x="575" y="764"/>
                </a:lnTo>
                <a:lnTo>
                  <a:pt x="570" y="766"/>
                </a:lnTo>
                <a:lnTo>
                  <a:pt x="565" y="768"/>
                </a:lnTo>
                <a:lnTo>
                  <a:pt x="559" y="768"/>
                </a:lnTo>
                <a:lnTo>
                  <a:pt x="547" y="770"/>
                </a:lnTo>
                <a:lnTo>
                  <a:pt x="532" y="770"/>
                </a:lnTo>
                <a:lnTo>
                  <a:pt x="517" y="768"/>
                </a:lnTo>
                <a:lnTo>
                  <a:pt x="502" y="766"/>
                </a:lnTo>
                <a:lnTo>
                  <a:pt x="488" y="764"/>
                </a:lnTo>
                <a:lnTo>
                  <a:pt x="482" y="762"/>
                </a:lnTo>
                <a:lnTo>
                  <a:pt x="477" y="759"/>
                </a:lnTo>
                <a:lnTo>
                  <a:pt x="472" y="757"/>
                </a:lnTo>
                <a:lnTo>
                  <a:pt x="467" y="755"/>
                </a:lnTo>
                <a:lnTo>
                  <a:pt x="461" y="753"/>
                </a:lnTo>
                <a:lnTo>
                  <a:pt x="458" y="750"/>
                </a:lnTo>
                <a:lnTo>
                  <a:pt x="455" y="748"/>
                </a:lnTo>
                <a:lnTo>
                  <a:pt x="451" y="744"/>
                </a:lnTo>
                <a:lnTo>
                  <a:pt x="450" y="742"/>
                </a:lnTo>
                <a:lnTo>
                  <a:pt x="448" y="739"/>
                </a:lnTo>
                <a:lnTo>
                  <a:pt x="448" y="737"/>
                </a:lnTo>
                <a:lnTo>
                  <a:pt x="448" y="733"/>
                </a:lnTo>
                <a:lnTo>
                  <a:pt x="450" y="729"/>
                </a:lnTo>
                <a:lnTo>
                  <a:pt x="453" y="726"/>
                </a:lnTo>
                <a:lnTo>
                  <a:pt x="458" y="722"/>
                </a:lnTo>
                <a:lnTo>
                  <a:pt x="463" y="720"/>
                </a:lnTo>
                <a:lnTo>
                  <a:pt x="455" y="722"/>
                </a:lnTo>
                <a:lnTo>
                  <a:pt x="446" y="724"/>
                </a:lnTo>
                <a:lnTo>
                  <a:pt x="438" y="724"/>
                </a:lnTo>
                <a:lnTo>
                  <a:pt x="428" y="726"/>
                </a:lnTo>
                <a:lnTo>
                  <a:pt x="420" y="726"/>
                </a:lnTo>
                <a:lnTo>
                  <a:pt x="411" y="724"/>
                </a:lnTo>
                <a:lnTo>
                  <a:pt x="403" y="724"/>
                </a:lnTo>
                <a:lnTo>
                  <a:pt x="394" y="722"/>
                </a:lnTo>
                <a:lnTo>
                  <a:pt x="388" y="720"/>
                </a:lnTo>
                <a:lnTo>
                  <a:pt x="379" y="718"/>
                </a:lnTo>
                <a:lnTo>
                  <a:pt x="373" y="715"/>
                </a:lnTo>
                <a:lnTo>
                  <a:pt x="366" y="711"/>
                </a:lnTo>
                <a:lnTo>
                  <a:pt x="359" y="707"/>
                </a:lnTo>
                <a:lnTo>
                  <a:pt x="353" y="704"/>
                </a:lnTo>
                <a:lnTo>
                  <a:pt x="347" y="698"/>
                </a:lnTo>
                <a:lnTo>
                  <a:pt x="344" y="693"/>
                </a:lnTo>
                <a:lnTo>
                  <a:pt x="341" y="689"/>
                </a:lnTo>
                <a:lnTo>
                  <a:pt x="337" y="683"/>
                </a:lnTo>
                <a:lnTo>
                  <a:pt x="336" y="678"/>
                </a:lnTo>
                <a:lnTo>
                  <a:pt x="336" y="672"/>
                </a:lnTo>
                <a:lnTo>
                  <a:pt x="334" y="667"/>
                </a:lnTo>
                <a:lnTo>
                  <a:pt x="334" y="663"/>
                </a:lnTo>
                <a:lnTo>
                  <a:pt x="336" y="658"/>
                </a:lnTo>
                <a:lnTo>
                  <a:pt x="337" y="652"/>
                </a:lnTo>
                <a:lnTo>
                  <a:pt x="329" y="656"/>
                </a:lnTo>
                <a:lnTo>
                  <a:pt x="321" y="660"/>
                </a:lnTo>
                <a:lnTo>
                  <a:pt x="312" y="661"/>
                </a:lnTo>
                <a:lnTo>
                  <a:pt x="302" y="665"/>
                </a:lnTo>
                <a:lnTo>
                  <a:pt x="292" y="667"/>
                </a:lnTo>
                <a:lnTo>
                  <a:pt x="284" y="667"/>
                </a:lnTo>
                <a:lnTo>
                  <a:pt x="274" y="669"/>
                </a:lnTo>
                <a:lnTo>
                  <a:pt x="264" y="669"/>
                </a:lnTo>
                <a:lnTo>
                  <a:pt x="254" y="669"/>
                </a:lnTo>
                <a:lnTo>
                  <a:pt x="244" y="667"/>
                </a:lnTo>
                <a:lnTo>
                  <a:pt x="235" y="667"/>
                </a:lnTo>
                <a:lnTo>
                  <a:pt x="225" y="665"/>
                </a:lnTo>
                <a:lnTo>
                  <a:pt x="215" y="661"/>
                </a:lnTo>
                <a:lnTo>
                  <a:pt x="207" y="660"/>
                </a:lnTo>
                <a:lnTo>
                  <a:pt x="198" y="656"/>
                </a:lnTo>
                <a:lnTo>
                  <a:pt x="190" y="652"/>
                </a:lnTo>
                <a:lnTo>
                  <a:pt x="178" y="647"/>
                </a:lnTo>
                <a:lnTo>
                  <a:pt x="166" y="643"/>
                </a:lnTo>
                <a:lnTo>
                  <a:pt x="156" y="638"/>
                </a:lnTo>
                <a:lnTo>
                  <a:pt x="148" y="632"/>
                </a:lnTo>
                <a:lnTo>
                  <a:pt x="140" y="627"/>
                </a:lnTo>
                <a:lnTo>
                  <a:pt x="131" y="621"/>
                </a:lnTo>
                <a:lnTo>
                  <a:pt x="125" y="616"/>
                </a:lnTo>
                <a:lnTo>
                  <a:pt x="119" y="608"/>
                </a:lnTo>
                <a:lnTo>
                  <a:pt x="114" y="603"/>
                </a:lnTo>
                <a:lnTo>
                  <a:pt x="109" y="595"/>
                </a:lnTo>
                <a:lnTo>
                  <a:pt x="108" y="590"/>
                </a:lnTo>
                <a:lnTo>
                  <a:pt x="104" y="583"/>
                </a:lnTo>
                <a:lnTo>
                  <a:pt x="104" y="577"/>
                </a:lnTo>
                <a:lnTo>
                  <a:pt x="104" y="570"/>
                </a:lnTo>
                <a:lnTo>
                  <a:pt x="106" y="564"/>
                </a:lnTo>
                <a:lnTo>
                  <a:pt x="108" y="557"/>
                </a:lnTo>
                <a:lnTo>
                  <a:pt x="99" y="559"/>
                </a:lnTo>
                <a:lnTo>
                  <a:pt x="91" y="559"/>
                </a:lnTo>
                <a:lnTo>
                  <a:pt x="83" y="559"/>
                </a:lnTo>
                <a:lnTo>
                  <a:pt x="74" y="559"/>
                </a:lnTo>
                <a:lnTo>
                  <a:pt x="66" y="559"/>
                </a:lnTo>
                <a:lnTo>
                  <a:pt x="59" y="557"/>
                </a:lnTo>
                <a:lnTo>
                  <a:pt x="51" y="555"/>
                </a:lnTo>
                <a:lnTo>
                  <a:pt x="44" y="553"/>
                </a:lnTo>
                <a:lnTo>
                  <a:pt x="37" y="549"/>
                </a:lnTo>
                <a:lnTo>
                  <a:pt x="31" y="546"/>
                </a:lnTo>
                <a:lnTo>
                  <a:pt x="24" y="542"/>
                </a:lnTo>
                <a:lnTo>
                  <a:pt x="19" y="538"/>
                </a:lnTo>
                <a:lnTo>
                  <a:pt x="14" y="535"/>
                </a:lnTo>
                <a:lnTo>
                  <a:pt x="11" y="529"/>
                </a:lnTo>
                <a:lnTo>
                  <a:pt x="7" y="526"/>
                </a:lnTo>
                <a:lnTo>
                  <a:pt x="4" y="520"/>
                </a:lnTo>
                <a:lnTo>
                  <a:pt x="2" y="516"/>
                </a:lnTo>
                <a:lnTo>
                  <a:pt x="2" y="511"/>
                </a:lnTo>
                <a:lnTo>
                  <a:pt x="0" y="507"/>
                </a:lnTo>
                <a:lnTo>
                  <a:pt x="0" y="504"/>
                </a:lnTo>
                <a:lnTo>
                  <a:pt x="0" y="500"/>
                </a:lnTo>
                <a:lnTo>
                  <a:pt x="2" y="496"/>
                </a:lnTo>
                <a:lnTo>
                  <a:pt x="4" y="489"/>
                </a:lnTo>
                <a:lnTo>
                  <a:pt x="9" y="482"/>
                </a:lnTo>
                <a:lnTo>
                  <a:pt x="14" y="474"/>
                </a:lnTo>
                <a:lnTo>
                  <a:pt x="22" y="469"/>
                </a:lnTo>
                <a:lnTo>
                  <a:pt x="31" y="463"/>
                </a:lnTo>
                <a:lnTo>
                  <a:pt x="26" y="459"/>
                </a:lnTo>
                <a:lnTo>
                  <a:pt x="21" y="456"/>
                </a:lnTo>
                <a:lnTo>
                  <a:pt x="17" y="452"/>
                </a:lnTo>
                <a:lnTo>
                  <a:pt x="14" y="448"/>
                </a:lnTo>
                <a:lnTo>
                  <a:pt x="12" y="445"/>
                </a:lnTo>
                <a:lnTo>
                  <a:pt x="12" y="441"/>
                </a:lnTo>
                <a:lnTo>
                  <a:pt x="11" y="437"/>
                </a:lnTo>
                <a:lnTo>
                  <a:pt x="11" y="436"/>
                </a:lnTo>
                <a:lnTo>
                  <a:pt x="12" y="432"/>
                </a:lnTo>
                <a:lnTo>
                  <a:pt x="14" y="428"/>
                </a:lnTo>
                <a:lnTo>
                  <a:pt x="16" y="425"/>
                </a:lnTo>
                <a:lnTo>
                  <a:pt x="19" y="423"/>
                </a:lnTo>
                <a:lnTo>
                  <a:pt x="24" y="419"/>
                </a:lnTo>
                <a:lnTo>
                  <a:pt x="27" y="417"/>
                </a:lnTo>
                <a:lnTo>
                  <a:pt x="34" y="414"/>
                </a:lnTo>
                <a:lnTo>
                  <a:pt x="39" y="412"/>
                </a:lnTo>
                <a:lnTo>
                  <a:pt x="41" y="412"/>
                </a:lnTo>
                <a:close/>
              </a:path>
            </a:pathLst>
          </a:custGeom>
          <a:solidFill>
            <a:schemeClr val="accent2"/>
          </a:solidFill>
          <a:ln>
            <a:noFill/>
          </a:ln>
        </p:spPr>
        <p:txBody>
          <a:bodyPr/>
          <a:lstStyle/>
          <a:p>
            <a:endParaRPr lang="zh-CN" altLang="en-US"/>
          </a:p>
        </p:txBody>
      </p:sp>
      <p:sp>
        <p:nvSpPr>
          <p:cNvPr id="25606" name="Freeform 8"/>
          <p:cNvSpPr/>
          <p:nvPr/>
        </p:nvSpPr>
        <p:spPr bwMode="auto">
          <a:xfrm>
            <a:off x="3722688" y="1987203"/>
            <a:ext cx="1490662" cy="650875"/>
          </a:xfrm>
          <a:custGeom>
            <a:avLst/>
            <a:gdLst>
              <a:gd name="T0" fmla="*/ 2147483646 w 1878"/>
              <a:gd name="T1" fmla="*/ 2147483646 h 821"/>
              <a:gd name="T2" fmla="*/ 2147483646 w 1878"/>
              <a:gd name="T3" fmla="*/ 2147483646 h 821"/>
              <a:gd name="T4" fmla="*/ 2147483646 w 1878"/>
              <a:gd name="T5" fmla="*/ 2147483646 h 821"/>
              <a:gd name="T6" fmla="*/ 2147483646 w 1878"/>
              <a:gd name="T7" fmla="*/ 2147483646 h 821"/>
              <a:gd name="T8" fmla="*/ 2147483646 w 1878"/>
              <a:gd name="T9" fmla="*/ 2147483646 h 821"/>
              <a:gd name="T10" fmla="*/ 2147483646 w 1878"/>
              <a:gd name="T11" fmla="*/ 2147483646 h 821"/>
              <a:gd name="T12" fmla="*/ 2147483646 w 1878"/>
              <a:gd name="T13" fmla="*/ 2147483646 h 821"/>
              <a:gd name="T14" fmla="*/ 2147483646 w 1878"/>
              <a:gd name="T15" fmla="*/ 2147483646 h 821"/>
              <a:gd name="T16" fmla="*/ 2147483646 w 1878"/>
              <a:gd name="T17" fmla="*/ 2147483646 h 821"/>
              <a:gd name="T18" fmla="*/ 2147483646 w 1878"/>
              <a:gd name="T19" fmla="*/ 2147483646 h 821"/>
              <a:gd name="T20" fmla="*/ 2147483646 w 1878"/>
              <a:gd name="T21" fmla="*/ 2147483646 h 821"/>
              <a:gd name="T22" fmla="*/ 2147483646 w 1878"/>
              <a:gd name="T23" fmla="*/ 2147483646 h 821"/>
              <a:gd name="T24" fmla="*/ 2147483646 w 1878"/>
              <a:gd name="T25" fmla="*/ 2147483646 h 821"/>
              <a:gd name="T26" fmla="*/ 2147483646 w 1878"/>
              <a:gd name="T27" fmla="*/ 2147483646 h 821"/>
              <a:gd name="T28" fmla="*/ 2147483646 w 1878"/>
              <a:gd name="T29" fmla="*/ 2147483646 h 821"/>
              <a:gd name="T30" fmla="*/ 2147483646 w 1878"/>
              <a:gd name="T31" fmla="*/ 2147483646 h 821"/>
              <a:gd name="T32" fmla="*/ 2147483646 w 1878"/>
              <a:gd name="T33" fmla="*/ 2147483646 h 821"/>
              <a:gd name="T34" fmla="*/ 2147483646 w 1878"/>
              <a:gd name="T35" fmla="*/ 2147483646 h 821"/>
              <a:gd name="T36" fmla="*/ 2147483646 w 1878"/>
              <a:gd name="T37" fmla="*/ 2147483646 h 821"/>
              <a:gd name="T38" fmla="*/ 2147483646 w 1878"/>
              <a:gd name="T39" fmla="*/ 2147483646 h 821"/>
              <a:gd name="T40" fmla="*/ 2147483646 w 1878"/>
              <a:gd name="T41" fmla="*/ 2147483646 h 821"/>
              <a:gd name="T42" fmla="*/ 2147483646 w 1878"/>
              <a:gd name="T43" fmla="*/ 2147483646 h 821"/>
              <a:gd name="T44" fmla="*/ 2147483646 w 1878"/>
              <a:gd name="T45" fmla="*/ 2147483646 h 821"/>
              <a:gd name="T46" fmla="*/ 2147483646 w 1878"/>
              <a:gd name="T47" fmla="*/ 2147483646 h 821"/>
              <a:gd name="T48" fmla="*/ 2147483646 w 1878"/>
              <a:gd name="T49" fmla="*/ 2147483646 h 821"/>
              <a:gd name="T50" fmla="*/ 2147483646 w 1878"/>
              <a:gd name="T51" fmla="*/ 2147483646 h 821"/>
              <a:gd name="T52" fmla="*/ 2147483646 w 1878"/>
              <a:gd name="T53" fmla="*/ 2147483646 h 821"/>
              <a:gd name="T54" fmla="*/ 2147483646 w 1878"/>
              <a:gd name="T55" fmla="*/ 2147483646 h 821"/>
              <a:gd name="T56" fmla="*/ 2147483646 w 1878"/>
              <a:gd name="T57" fmla="*/ 2147483646 h 821"/>
              <a:gd name="T58" fmla="*/ 2147483646 w 1878"/>
              <a:gd name="T59" fmla="*/ 2147483646 h 821"/>
              <a:gd name="T60" fmla="*/ 2147483646 w 1878"/>
              <a:gd name="T61" fmla="*/ 2147483646 h 821"/>
              <a:gd name="T62" fmla="*/ 2147483646 w 1878"/>
              <a:gd name="T63" fmla="*/ 2147483646 h 821"/>
              <a:gd name="T64" fmla="*/ 2147483646 w 1878"/>
              <a:gd name="T65" fmla="*/ 2147483646 h 821"/>
              <a:gd name="T66" fmla="*/ 2147483646 w 1878"/>
              <a:gd name="T67" fmla="*/ 2147483646 h 821"/>
              <a:gd name="T68" fmla="*/ 2147483646 w 1878"/>
              <a:gd name="T69" fmla="*/ 2147483646 h 821"/>
              <a:gd name="T70" fmla="*/ 2147483646 w 1878"/>
              <a:gd name="T71" fmla="*/ 2147483646 h 821"/>
              <a:gd name="T72" fmla="*/ 2147483646 w 1878"/>
              <a:gd name="T73" fmla="*/ 2147483646 h 821"/>
              <a:gd name="T74" fmla="*/ 2147483646 w 1878"/>
              <a:gd name="T75" fmla="*/ 2147483646 h 821"/>
              <a:gd name="T76" fmla="*/ 2147483646 w 1878"/>
              <a:gd name="T77" fmla="*/ 2147483646 h 821"/>
              <a:gd name="T78" fmla="*/ 2147483646 w 1878"/>
              <a:gd name="T79" fmla="*/ 2147483646 h 821"/>
              <a:gd name="T80" fmla="*/ 2147483646 w 1878"/>
              <a:gd name="T81" fmla="*/ 2147483646 h 821"/>
              <a:gd name="T82" fmla="*/ 2147483646 w 1878"/>
              <a:gd name="T83" fmla="*/ 2147483646 h 821"/>
              <a:gd name="T84" fmla="*/ 2147483646 w 1878"/>
              <a:gd name="T85" fmla="*/ 2147483646 h 821"/>
              <a:gd name="T86" fmla="*/ 2147483646 w 1878"/>
              <a:gd name="T87" fmla="*/ 2147483646 h 821"/>
              <a:gd name="T88" fmla="*/ 2147483646 w 1878"/>
              <a:gd name="T89" fmla="*/ 2147483646 h 821"/>
              <a:gd name="T90" fmla="*/ 2147483646 w 1878"/>
              <a:gd name="T91" fmla="*/ 2147483646 h 821"/>
              <a:gd name="T92" fmla="*/ 2147483646 w 1878"/>
              <a:gd name="T93" fmla="*/ 2147483646 h 821"/>
              <a:gd name="T94" fmla="*/ 2147483646 w 1878"/>
              <a:gd name="T95" fmla="*/ 2147483646 h 821"/>
              <a:gd name="T96" fmla="*/ 2147483646 w 1878"/>
              <a:gd name="T97" fmla="*/ 2147483646 h 821"/>
              <a:gd name="T98" fmla="*/ 2147483646 w 1878"/>
              <a:gd name="T99" fmla="*/ 2147483646 h 821"/>
              <a:gd name="T100" fmla="*/ 2147483646 w 1878"/>
              <a:gd name="T101" fmla="*/ 2147483646 h 821"/>
              <a:gd name="T102" fmla="*/ 2147483646 w 1878"/>
              <a:gd name="T103" fmla="*/ 2147483646 h 821"/>
              <a:gd name="T104" fmla="*/ 2147483646 w 1878"/>
              <a:gd name="T105" fmla="*/ 2147483646 h 821"/>
              <a:gd name="T106" fmla="*/ 2147483646 w 1878"/>
              <a:gd name="T107" fmla="*/ 2147483646 h 821"/>
              <a:gd name="T108" fmla="*/ 2147483646 w 1878"/>
              <a:gd name="T109" fmla="*/ 2147483646 h 821"/>
              <a:gd name="T110" fmla="*/ 2147483646 w 1878"/>
              <a:gd name="T111" fmla="*/ 2147483646 h 821"/>
              <a:gd name="T112" fmla="*/ 2147483646 w 1878"/>
              <a:gd name="T113" fmla="*/ 2147483646 h 821"/>
              <a:gd name="T114" fmla="*/ 2147483646 w 1878"/>
              <a:gd name="T115" fmla="*/ 2147483646 h 821"/>
              <a:gd name="T116" fmla="*/ 2147483646 w 1878"/>
              <a:gd name="T117" fmla="*/ 2147483646 h 821"/>
              <a:gd name="T118" fmla="*/ 0 w 1878"/>
              <a:gd name="T119" fmla="*/ 2147483646 h 821"/>
              <a:gd name="T120" fmla="*/ 2147483646 w 1878"/>
              <a:gd name="T121" fmla="*/ 2147483646 h 821"/>
              <a:gd name="T122" fmla="*/ 2147483646 w 1878"/>
              <a:gd name="T123" fmla="*/ 2147483646 h 821"/>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878"/>
              <a:gd name="T187" fmla="*/ 0 h 821"/>
              <a:gd name="T188" fmla="*/ 1878 w 1878"/>
              <a:gd name="T189" fmla="*/ 821 h 821"/>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878" h="821">
                <a:moveTo>
                  <a:pt x="41" y="412"/>
                </a:moveTo>
                <a:lnTo>
                  <a:pt x="34" y="408"/>
                </a:lnTo>
                <a:lnTo>
                  <a:pt x="29" y="406"/>
                </a:lnTo>
                <a:lnTo>
                  <a:pt x="24" y="403"/>
                </a:lnTo>
                <a:lnTo>
                  <a:pt x="19" y="397"/>
                </a:lnTo>
                <a:lnTo>
                  <a:pt x="14" y="393"/>
                </a:lnTo>
                <a:lnTo>
                  <a:pt x="11" y="390"/>
                </a:lnTo>
                <a:lnTo>
                  <a:pt x="9" y="384"/>
                </a:lnTo>
                <a:lnTo>
                  <a:pt x="5" y="381"/>
                </a:lnTo>
                <a:lnTo>
                  <a:pt x="5" y="375"/>
                </a:lnTo>
                <a:lnTo>
                  <a:pt x="4" y="371"/>
                </a:lnTo>
                <a:lnTo>
                  <a:pt x="4" y="366"/>
                </a:lnTo>
                <a:lnTo>
                  <a:pt x="5" y="360"/>
                </a:lnTo>
                <a:lnTo>
                  <a:pt x="5" y="357"/>
                </a:lnTo>
                <a:lnTo>
                  <a:pt x="9" y="351"/>
                </a:lnTo>
                <a:lnTo>
                  <a:pt x="12" y="346"/>
                </a:lnTo>
                <a:lnTo>
                  <a:pt x="16" y="342"/>
                </a:lnTo>
                <a:lnTo>
                  <a:pt x="21" y="336"/>
                </a:lnTo>
                <a:lnTo>
                  <a:pt x="26" y="333"/>
                </a:lnTo>
                <a:lnTo>
                  <a:pt x="31" y="329"/>
                </a:lnTo>
                <a:lnTo>
                  <a:pt x="37" y="325"/>
                </a:lnTo>
                <a:lnTo>
                  <a:pt x="44" y="324"/>
                </a:lnTo>
                <a:lnTo>
                  <a:pt x="52" y="322"/>
                </a:lnTo>
                <a:lnTo>
                  <a:pt x="59" y="320"/>
                </a:lnTo>
                <a:lnTo>
                  <a:pt x="68" y="318"/>
                </a:lnTo>
                <a:lnTo>
                  <a:pt x="62" y="313"/>
                </a:lnTo>
                <a:lnTo>
                  <a:pt x="59" y="305"/>
                </a:lnTo>
                <a:lnTo>
                  <a:pt x="56" y="300"/>
                </a:lnTo>
                <a:lnTo>
                  <a:pt x="54" y="292"/>
                </a:lnTo>
                <a:lnTo>
                  <a:pt x="52" y="285"/>
                </a:lnTo>
                <a:lnTo>
                  <a:pt x="52" y="280"/>
                </a:lnTo>
                <a:lnTo>
                  <a:pt x="54" y="272"/>
                </a:lnTo>
                <a:lnTo>
                  <a:pt x="56" y="267"/>
                </a:lnTo>
                <a:lnTo>
                  <a:pt x="57" y="259"/>
                </a:lnTo>
                <a:lnTo>
                  <a:pt x="62" y="254"/>
                </a:lnTo>
                <a:lnTo>
                  <a:pt x="66" y="248"/>
                </a:lnTo>
                <a:lnTo>
                  <a:pt x="73" y="243"/>
                </a:lnTo>
                <a:lnTo>
                  <a:pt x="79" y="237"/>
                </a:lnTo>
                <a:lnTo>
                  <a:pt x="86" y="232"/>
                </a:lnTo>
                <a:lnTo>
                  <a:pt x="94" y="228"/>
                </a:lnTo>
                <a:lnTo>
                  <a:pt x="103" y="223"/>
                </a:lnTo>
                <a:lnTo>
                  <a:pt x="118" y="219"/>
                </a:lnTo>
                <a:lnTo>
                  <a:pt x="135" y="215"/>
                </a:lnTo>
                <a:lnTo>
                  <a:pt x="151" y="213"/>
                </a:lnTo>
                <a:lnTo>
                  <a:pt x="168" y="213"/>
                </a:lnTo>
                <a:lnTo>
                  <a:pt x="166" y="206"/>
                </a:lnTo>
                <a:lnTo>
                  <a:pt x="165" y="197"/>
                </a:lnTo>
                <a:lnTo>
                  <a:pt x="165" y="190"/>
                </a:lnTo>
                <a:lnTo>
                  <a:pt x="166" y="182"/>
                </a:lnTo>
                <a:lnTo>
                  <a:pt x="168" y="175"/>
                </a:lnTo>
                <a:lnTo>
                  <a:pt x="171" y="168"/>
                </a:lnTo>
                <a:lnTo>
                  <a:pt x="176" y="160"/>
                </a:lnTo>
                <a:lnTo>
                  <a:pt x="183" y="153"/>
                </a:lnTo>
                <a:lnTo>
                  <a:pt x="188" y="147"/>
                </a:lnTo>
                <a:lnTo>
                  <a:pt x="197" y="142"/>
                </a:lnTo>
                <a:lnTo>
                  <a:pt x="205" y="136"/>
                </a:lnTo>
                <a:lnTo>
                  <a:pt x="213" y="131"/>
                </a:lnTo>
                <a:lnTo>
                  <a:pt x="223" y="127"/>
                </a:lnTo>
                <a:lnTo>
                  <a:pt x="235" y="123"/>
                </a:lnTo>
                <a:lnTo>
                  <a:pt x="245" y="120"/>
                </a:lnTo>
                <a:lnTo>
                  <a:pt x="257" y="118"/>
                </a:lnTo>
                <a:lnTo>
                  <a:pt x="269" y="116"/>
                </a:lnTo>
                <a:lnTo>
                  <a:pt x="279" y="116"/>
                </a:lnTo>
                <a:lnTo>
                  <a:pt x="289" y="116"/>
                </a:lnTo>
                <a:lnTo>
                  <a:pt x="299" y="116"/>
                </a:lnTo>
                <a:lnTo>
                  <a:pt x="309" y="118"/>
                </a:lnTo>
                <a:lnTo>
                  <a:pt x="321" y="118"/>
                </a:lnTo>
                <a:lnTo>
                  <a:pt x="329" y="122"/>
                </a:lnTo>
                <a:lnTo>
                  <a:pt x="339" y="123"/>
                </a:lnTo>
                <a:lnTo>
                  <a:pt x="336" y="118"/>
                </a:lnTo>
                <a:lnTo>
                  <a:pt x="334" y="112"/>
                </a:lnTo>
                <a:lnTo>
                  <a:pt x="332" y="109"/>
                </a:lnTo>
                <a:lnTo>
                  <a:pt x="332" y="103"/>
                </a:lnTo>
                <a:lnTo>
                  <a:pt x="332" y="98"/>
                </a:lnTo>
                <a:lnTo>
                  <a:pt x="334" y="92"/>
                </a:lnTo>
                <a:lnTo>
                  <a:pt x="336" y="87"/>
                </a:lnTo>
                <a:lnTo>
                  <a:pt x="337" y="83"/>
                </a:lnTo>
                <a:lnTo>
                  <a:pt x="341" y="78"/>
                </a:lnTo>
                <a:lnTo>
                  <a:pt x="346" y="74"/>
                </a:lnTo>
                <a:lnTo>
                  <a:pt x="349" y="68"/>
                </a:lnTo>
                <a:lnTo>
                  <a:pt x="356" y="65"/>
                </a:lnTo>
                <a:lnTo>
                  <a:pt x="361" y="61"/>
                </a:lnTo>
                <a:lnTo>
                  <a:pt x="368" y="57"/>
                </a:lnTo>
                <a:lnTo>
                  <a:pt x="374" y="56"/>
                </a:lnTo>
                <a:lnTo>
                  <a:pt x="383" y="52"/>
                </a:lnTo>
                <a:lnTo>
                  <a:pt x="389" y="50"/>
                </a:lnTo>
                <a:lnTo>
                  <a:pt x="398" y="48"/>
                </a:lnTo>
                <a:lnTo>
                  <a:pt x="404" y="48"/>
                </a:lnTo>
                <a:lnTo>
                  <a:pt x="413" y="48"/>
                </a:lnTo>
                <a:lnTo>
                  <a:pt x="421" y="48"/>
                </a:lnTo>
                <a:lnTo>
                  <a:pt x="428" y="48"/>
                </a:lnTo>
                <a:lnTo>
                  <a:pt x="443" y="50"/>
                </a:lnTo>
                <a:lnTo>
                  <a:pt x="456" y="56"/>
                </a:lnTo>
                <a:lnTo>
                  <a:pt x="463" y="57"/>
                </a:lnTo>
                <a:lnTo>
                  <a:pt x="470" y="61"/>
                </a:lnTo>
                <a:lnTo>
                  <a:pt x="475" y="65"/>
                </a:lnTo>
                <a:lnTo>
                  <a:pt x="480" y="68"/>
                </a:lnTo>
                <a:lnTo>
                  <a:pt x="485" y="72"/>
                </a:lnTo>
                <a:lnTo>
                  <a:pt x="490" y="78"/>
                </a:lnTo>
                <a:lnTo>
                  <a:pt x="490" y="72"/>
                </a:lnTo>
                <a:lnTo>
                  <a:pt x="493" y="65"/>
                </a:lnTo>
                <a:lnTo>
                  <a:pt x="497" y="59"/>
                </a:lnTo>
                <a:lnTo>
                  <a:pt x="500" y="56"/>
                </a:lnTo>
                <a:lnTo>
                  <a:pt x="505" y="50"/>
                </a:lnTo>
                <a:lnTo>
                  <a:pt x="510" y="46"/>
                </a:lnTo>
                <a:lnTo>
                  <a:pt x="517" y="41"/>
                </a:lnTo>
                <a:lnTo>
                  <a:pt x="524" y="37"/>
                </a:lnTo>
                <a:lnTo>
                  <a:pt x="530" y="35"/>
                </a:lnTo>
                <a:lnTo>
                  <a:pt x="539" y="32"/>
                </a:lnTo>
                <a:lnTo>
                  <a:pt x="547" y="30"/>
                </a:lnTo>
                <a:lnTo>
                  <a:pt x="555" y="28"/>
                </a:lnTo>
                <a:lnTo>
                  <a:pt x="564" y="26"/>
                </a:lnTo>
                <a:lnTo>
                  <a:pt x="572" y="26"/>
                </a:lnTo>
                <a:lnTo>
                  <a:pt x="580" y="24"/>
                </a:lnTo>
                <a:lnTo>
                  <a:pt x="591" y="26"/>
                </a:lnTo>
                <a:lnTo>
                  <a:pt x="599" y="26"/>
                </a:lnTo>
                <a:lnTo>
                  <a:pt x="607" y="28"/>
                </a:lnTo>
                <a:lnTo>
                  <a:pt x="616" y="30"/>
                </a:lnTo>
                <a:lnTo>
                  <a:pt x="622" y="32"/>
                </a:lnTo>
                <a:lnTo>
                  <a:pt x="631" y="35"/>
                </a:lnTo>
                <a:lnTo>
                  <a:pt x="637" y="39"/>
                </a:lnTo>
                <a:lnTo>
                  <a:pt x="643" y="43"/>
                </a:lnTo>
                <a:lnTo>
                  <a:pt x="649" y="46"/>
                </a:lnTo>
                <a:lnTo>
                  <a:pt x="661" y="37"/>
                </a:lnTo>
                <a:lnTo>
                  <a:pt x="674" y="30"/>
                </a:lnTo>
                <a:lnTo>
                  <a:pt x="688" y="23"/>
                </a:lnTo>
                <a:lnTo>
                  <a:pt x="703" y="17"/>
                </a:lnTo>
                <a:lnTo>
                  <a:pt x="718" y="12"/>
                </a:lnTo>
                <a:lnTo>
                  <a:pt x="735" y="8"/>
                </a:lnTo>
                <a:lnTo>
                  <a:pt x="751" y="4"/>
                </a:lnTo>
                <a:lnTo>
                  <a:pt x="768" y="2"/>
                </a:lnTo>
                <a:lnTo>
                  <a:pt x="785" y="2"/>
                </a:lnTo>
                <a:lnTo>
                  <a:pt x="802" y="2"/>
                </a:lnTo>
                <a:lnTo>
                  <a:pt x="819" y="4"/>
                </a:lnTo>
                <a:lnTo>
                  <a:pt x="835" y="6"/>
                </a:lnTo>
                <a:lnTo>
                  <a:pt x="852" y="10"/>
                </a:lnTo>
                <a:lnTo>
                  <a:pt x="869" y="15"/>
                </a:lnTo>
                <a:lnTo>
                  <a:pt x="884" y="21"/>
                </a:lnTo>
                <a:lnTo>
                  <a:pt x="899" y="26"/>
                </a:lnTo>
                <a:lnTo>
                  <a:pt x="901" y="23"/>
                </a:lnTo>
                <a:lnTo>
                  <a:pt x="902" y="21"/>
                </a:lnTo>
                <a:lnTo>
                  <a:pt x="906" y="17"/>
                </a:lnTo>
                <a:lnTo>
                  <a:pt x="907" y="13"/>
                </a:lnTo>
                <a:lnTo>
                  <a:pt x="914" y="10"/>
                </a:lnTo>
                <a:lnTo>
                  <a:pt x="922" y="4"/>
                </a:lnTo>
                <a:lnTo>
                  <a:pt x="933" y="2"/>
                </a:lnTo>
                <a:lnTo>
                  <a:pt x="943" y="0"/>
                </a:lnTo>
                <a:lnTo>
                  <a:pt x="953" y="0"/>
                </a:lnTo>
                <a:lnTo>
                  <a:pt x="964" y="0"/>
                </a:lnTo>
                <a:lnTo>
                  <a:pt x="971" y="2"/>
                </a:lnTo>
                <a:lnTo>
                  <a:pt x="978" y="4"/>
                </a:lnTo>
                <a:lnTo>
                  <a:pt x="985" y="8"/>
                </a:lnTo>
                <a:lnTo>
                  <a:pt x="990" y="10"/>
                </a:lnTo>
                <a:lnTo>
                  <a:pt x="995" y="13"/>
                </a:lnTo>
                <a:lnTo>
                  <a:pt x="1000" y="19"/>
                </a:lnTo>
                <a:lnTo>
                  <a:pt x="1001" y="23"/>
                </a:lnTo>
                <a:lnTo>
                  <a:pt x="1005" y="28"/>
                </a:lnTo>
                <a:lnTo>
                  <a:pt x="1005" y="24"/>
                </a:lnTo>
                <a:lnTo>
                  <a:pt x="1006" y="21"/>
                </a:lnTo>
                <a:lnTo>
                  <a:pt x="1008" y="19"/>
                </a:lnTo>
                <a:lnTo>
                  <a:pt x="1010" y="15"/>
                </a:lnTo>
                <a:lnTo>
                  <a:pt x="1013" y="13"/>
                </a:lnTo>
                <a:lnTo>
                  <a:pt x="1015" y="10"/>
                </a:lnTo>
                <a:lnTo>
                  <a:pt x="1023" y="6"/>
                </a:lnTo>
                <a:lnTo>
                  <a:pt x="1031" y="2"/>
                </a:lnTo>
                <a:lnTo>
                  <a:pt x="1042" y="0"/>
                </a:lnTo>
                <a:lnTo>
                  <a:pt x="1053" y="0"/>
                </a:lnTo>
                <a:lnTo>
                  <a:pt x="1065" y="0"/>
                </a:lnTo>
                <a:lnTo>
                  <a:pt x="1073" y="0"/>
                </a:lnTo>
                <a:lnTo>
                  <a:pt x="1082" y="4"/>
                </a:lnTo>
                <a:lnTo>
                  <a:pt x="1088" y="6"/>
                </a:lnTo>
                <a:lnTo>
                  <a:pt x="1095" y="10"/>
                </a:lnTo>
                <a:lnTo>
                  <a:pt x="1102" y="13"/>
                </a:lnTo>
                <a:lnTo>
                  <a:pt x="1107" y="17"/>
                </a:lnTo>
                <a:lnTo>
                  <a:pt x="1112" y="21"/>
                </a:lnTo>
                <a:lnTo>
                  <a:pt x="1115" y="26"/>
                </a:lnTo>
                <a:lnTo>
                  <a:pt x="1124" y="24"/>
                </a:lnTo>
                <a:lnTo>
                  <a:pt x="1132" y="21"/>
                </a:lnTo>
                <a:lnTo>
                  <a:pt x="1142" y="21"/>
                </a:lnTo>
                <a:lnTo>
                  <a:pt x="1152" y="21"/>
                </a:lnTo>
                <a:lnTo>
                  <a:pt x="1162" y="21"/>
                </a:lnTo>
                <a:lnTo>
                  <a:pt x="1172" y="23"/>
                </a:lnTo>
                <a:lnTo>
                  <a:pt x="1182" y="24"/>
                </a:lnTo>
                <a:lnTo>
                  <a:pt x="1192" y="28"/>
                </a:lnTo>
                <a:lnTo>
                  <a:pt x="1196" y="30"/>
                </a:lnTo>
                <a:lnTo>
                  <a:pt x="1199" y="32"/>
                </a:lnTo>
                <a:lnTo>
                  <a:pt x="1202" y="34"/>
                </a:lnTo>
                <a:lnTo>
                  <a:pt x="1206" y="35"/>
                </a:lnTo>
                <a:lnTo>
                  <a:pt x="1207" y="39"/>
                </a:lnTo>
                <a:lnTo>
                  <a:pt x="1209" y="41"/>
                </a:lnTo>
                <a:lnTo>
                  <a:pt x="1211" y="43"/>
                </a:lnTo>
                <a:lnTo>
                  <a:pt x="1211" y="46"/>
                </a:lnTo>
                <a:lnTo>
                  <a:pt x="1216" y="43"/>
                </a:lnTo>
                <a:lnTo>
                  <a:pt x="1219" y="39"/>
                </a:lnTo>
                <a:lnTo>
                  <a:pt x="1226" y="35"/>
                </a:lnTo>
                <a:lnTo>
                  <a:pt x="1231" y="32"/>
                </a:lnTo>
                <a:lnTo>
                  <a:pt x="1239" y="30"/>
                </a:lnTo>
                <a:lnTo>
                  <a:pt x="1246" y="28"/>
                </a:lnTo>
                <a:lnTo>
                  <a:pt x="1254" y="26"/>
                </a:lnTo>
                <a:lnTo>
                  <a:pt x="1263" y="24"/>
                </a:lnTo>
                <a:lnTo>
                  <a:pt x="1281" y="23"/>
                </a:lnTo>
                <a:lnTo>
                  <a:pt x="1300" y="23"/>
                </a:lnTo>
                <a:lnTo>
                  <a:pt x="1320" y="24"/>
                </a:lnTo>
                <a:lnTo>
                  <a:pt x="1330" y="26"/>
                </a:lnTo>
                <a:lnTo>
                  <a:pt x="1340" y="28"/>
                </a:lnTo>
                <a:lnTo>
                  <a:pt x="1355" y="32"/>
                </a:lnTo>
                <a:lnTo>
                  <a:pt x="1362" y="35"/>
                </a:lnTo>
                <a:lnTo>
                  <a:pt x="1368" y="37"/>
                </a:lnTo>
                <a:lnTo>
                  <a:pt x="1373" y="41"/>
                </a:lnTo>
                <a:lnTo>
                  <a:pt x="1380" y="43"/>
                </a:lnTo>
                <a:lnTo>
                  <a:pt x="1385" y="46"/>
                </a:lnTo>
                <a:lnTo>
                  <a:pt x="1389" y="50"/>
                </a:lnTo>
                <a:lnTo>
                  <a:pt x="1394" y="52"/>
                </a:lnTo>
                <a:lnTo>
                  <a:pt x="1397" y="56"/>
                </a:lnTo>
                <a:lnTo>
                  <a:pt x="1400" y="59"/>
                </a:lnTo>
                <a:lnTo>
                  <a:pt x="1402" y="63"/>
                </a:lnTo>
                <a:lnTo>
                  <a:pt x="1405" y="67"/>
                </a:lnTo>
                <a:lnTo>
                  <a:pt x="1405" y="70"/>
                </a:lnTo>
                <a:lnTo>
                  <a:pt x="1407" y="74"/>
                </a:lnTo>
                <a:lnTo>
                  <a:pt x="1407" y="78"/>
                </a:lnTo>
                <a:lnTo>
                  <a:pt x="1417" y="72"/>
                </a:lnTo>
                <a:lnTo>
                  <a:pt x="1427" y="68"/>
                </a:lnTo>
                <a:lnTo>
                  <a:pt x="1437" y="67"/>
                </a:lnTo>
                <a:lnTo>
                  <a:pt x="1447" y="65"/>
                </a:lnTo>
                <a:lnTo>
                  <a:pt x="1457" y="65"/>
                </a:lnTo>
                <a:lnTo>
                  <a:pt x="1467" y="65"/>
                </a:lnTo>
                <a:lnTo>
                  <a:pt x="1476" y="67"/>
                </a:lnTo>
                <a:lnTo>
                  <a:pt x="1482" y="70"/>
                </a:lnTo>
                <a:lnTo>
                  <a:pt x="1486" y="74"/>
                </a:lnTo>
                <a:lnTo>
                  <a:pt x="1489" y="78"/>
                </a:lnTo>
                <a:lnTo>
                  <a:pt x="1491" y="81"/>
                </a:lnTo>
                <a:lnTo>
                  <a:pt x="1491" y="87"/>
                </a:lnTo>
                <a:lnTo>
                  <a:pt x="1489" y="92"/>
                </a:lnTo>
                <a:lnTo>
                  <a:pt x="1486" y="98"/>
                </a:lnTo>
                <a:lnTo>
                  <a:pt x="1482" y="103"/>
                </a:lnTo>
                <a:lnTo>
                  <a:pt x="1476" y="107"/>
                </a:lnTo>
                <a:lnTo>
                  <a:pt x="1484" y="103"/>
                </a:lnTo>
                <a:lnTo>
                  <a:pt x="1492" y="100"/>
                </a:lnTo>
                <a:lnTo>
                  <a:pt x="1503" y="96"/>
                </a:lnTo>
                <a:lnTo>
                  <a:pt x="1511" y="94"/>
                </a:lnTo>
                <a:lnTo>
                  <a:pt x="1521" y="92"/>
                </a:lnTo>
                <a:lnTo>
                  <a:pt x="1531" y="92"/>
                </a:lnTo>
                <a:lnTo>
                  <a:pt x="1541" y="90"/>
                </a:lnTo>
                <a:lnTo>
                  <a:pt x="1551" y="90"/>
                </a:lnTo>
                <a:lnTo>
                  <a:pt x="1561" y="92"/>
                </a:lnTo>
                <a:lnTo>
                  <a:pt x="1570" y="94"/>
                </a:lnTo>
                <a:lnTo>
                  <a:pt x="1580" y="96"/>
                </a:lnTo>
                <a:lnTo>
                  <a:pt x="1590" y="98"/>
                </a:lnTo>
                <a:lnTo>
                  <a:pt x="1598" y="101"/>
                </a:lnTo>
                <a:lnTo>
                  <a:pt x="1606" y="105"/>
                </a:lnTo>
                <a:lnTo>
                  <a:pt x="1615" y="109"/>
                </a:lnTo>
                <a:lnTo>
                  <a:pt x="1622" y="114"/>
                </a:lnTo>
                <a:lnTo>
                  <a:pt x="1630" y="122"/>
                </a:lnTo>
                <a:lnTo>
                  <a:pt x="1637" y="129"/>
                </a:lnTo>
                <a:lnTo>
                  <a:pt x="1642" y="136"/>
                </a:lnTo>
                <a:lnTo>
                  <a:pt x="1643" y="142"/>
                </a:lnTo>
                <a:lnTo>
                  <a:pt x="1645" y="146"/>
                </a:lnTo>
                <a:lnTo>
                  <a:pt x="1647" y="149"/>
                </a:lnTo>
                <a:lnTo>
                  <a:pt x="1647" y="155"/>
                </a:lnTo>
                <a:lnTo>
                  <a:pt x="1647" y="158"/>
                </a:lnTo>
                <a:lnTo>
                  <a:pt x="1647" y="164"/>
                </a:lnTo>
                <a:lnTo>
                  <a:pt x="1647" y="168"/>
                </a:lnTo>
                <a:lnTo>
                  <a:pt x="1645" y="171"/>
                </a:lnTo>
                <a:lnTo>
                  <a:pt x="1643" y="177"/>
                </a:lnTo>
                <a:lnTo>
                  <a:pt x="1642" y="180"/>
                </a:lnTo>
                <a:lnTo>
                  <a:pt x="1650" y="184"/>
                </a:lnTo>
                <a:lnTo>
                  <a:pt x="1660" y="186"/>
                </a:lnTo>
                <a:lnTo>
                  <a:pt x="1668" y="190"/>
                </a:lnTo>
                <a:lnTo>
                  <a:pt x="1675" y="193"/>
                </a:lnTo>
                <a:lnTo>
                  <a:pt x="1682" y="197"/>
                </a:lnTo>
                <a:lnTo>
                  <a:pt x="1689" y="201"/>
                </a:lnTo>
                <a:lnTo>
                  <a:pt x="1694" y="204"/>
                </a:lnTo>
                <a:lnTo>
                  <a:pt x="1699" y="208"/>
                </a:lnTo>
                <a:lnTo>
                  <a:pt x="1704" y="212"/>
                </a:lnTo>
                <a:lnTo>
                  <a:pt x="1707" y="217"/>
                </a:lnTo>
                <a:lnTo>
                  <a:pt x="1709" y="221"/>
                </a:lnTo>
                <a:lnTo>
                  <a:pt x="1710" y="226"/>
                </a:lnTo>
                <a:lnTo>
                  <a:pt x="1712" y="230"/>
                </a:lnTo>
                <a:lnTo>
                  <a:pt x="1710" y="234"/>
                </a:lnTo>
                <a:lnTo>
                  <a:pt x="1710" y="239"/>
                </a:lnTo>
                <a:lnTo>
                  <a:pt x="1709" y="243"/>
                </a:lnTo>
                <a:lnTo>
                  <a:pt x="1722" y="243"/>
                </a:lnTo>
                <a:lnTo>
                  <a:pt x="1737" y="245"/>
                </a:lnTo>
                <a:lnTo>
                  <a:pt x="1751" y="247"/>
                </a:lnTo>
                <a:lnTo>
                  <a:pt x="1764" y="248"/>
                </a:lnTo>
                <a:lnTo>
                  <a:pt x="1776" y="252"/>
                </a:lnTo>
                <a:lnTo>
                  <a:pt x="1788" y="256"/>
                </a:lnTo>
                <a:lnTo>
                  <a:pt x="1799" y="259"/>
                </a:lnTo>
                <a:lnTo>
                  <a:pt x="1808" y="263"/>
                </a:lnTo>
                <a:lnTo>
                  <a:pt x="1818" y="267"/>
                </a:lnTo>
                <a:lnTo>
                  <a:pt x="1824" y="272"/>
                </a:lnTo>
                <a:lnTo>
                  <a:pt x="1831" y="278"/>
                </a:lnTo>
                <a:lnTo>
                  <a:pt x="1836" y="283"/>
                </a:lnTo>
                <a:lnTo>
                  <a:pt x="1841" y="289"/>
                </a:lnTo>
                <a:lnTo>
                  <a:pt x="1843" y="294"/>
                </a:lnTo>
                <a:lnTo>
                  <a:pt x="1845" y="302"/>
                </a:lnTo>
                <a:lnTo>
                  <a:pt x="1845" y="307"/>
                </a:lnTo>
                <a:lnTo>
                  <a:pt x="1843" y="313"/>
                </a:lnTo>
                <a:lnTo>
                  <a:pt x="1841" y="318"/>
                </a:lnTo>
                <a:lnTo>
                  <a:pt x="1838" y="324"/>
                </a:lnTo>
                <a:lnTo>
                  <a:pt x="1833" y="329"/>
                </a:lnTo>
                <a:lnTo>
                  <a:pt x="1828" y="335"/>
                </a:lnTo>
                <a:lnTo>
                  <a:pt x="1821" y="338"/>
                </a:lnTo>
                <a:lnTo>
                  <a:pt x="1814" y="344"/>
                </a:lnTo>
                <a:lnTo>
                  <a:pt x="1806" y="347"/>
                </a:lnTo>
                <a:lnTo>
                  <a:pt x="1814" y="349"/>
                </a:lnTo>
                <a:lnTo>
                  <a:pt x="1821" y="351"/>
                </a:lnTo>
                <a:lnTo>
                  <a:pt x="1828" y="353"/>
                </a:lnTo>
                <a:lnTo>
                  <a:pt x="1834" y="357"/>
                </a:lnTo>
                <a:lnTo>
                  <a:pt x="1839" y="359"/>
                </a:lnTo>
                <a:lnTo>
                  <a:pt x="1845" y="362"/>
                </a:lnTo>
                <a:lnTo>
                  <a:pt x="1848" y="364"/>
                </a:lnTo>
                <a:lnTo>
                  <a:pt x="1851" y="368"/>
                </a:lnTo>
                <a:lnTo>
                  <a:pt x="1855" y="371"/>
                </a:lnTo>
                <a:lnTo>
                  <a:pt x="1856" y="375"/>
                </a:lnTo>
                <a:lnTo>
                  <a:pt x="1858" y="377"/>
                </a:lnTo>
                <a:lnTo>
                  <a:pt x="1858" y="381"/>
                </a:lnTo>
                <a:lnTo>
                  <a:pt x="1856" y="384"/>
                </a:lnTo>
                <a:lnTo>
                  <a:pt x="1856" y="388"/>
                </a:lnTo>
                <a:lnTo>
                  <a:pt x="1853" y="392"/>
                </a:lnTo>
                <a:lnTo>
                  <a:pt x="1851" y="395"/>
                </a:lnTo>
                <a:lnTo>
                  <a:pt x="1845" y="401"/>
                </a:lnTo>
                <a:lnTo>
                  <a:pt x="1838" y="404"/>
                </a:lnTo>
                <a:lnTo>
                  <a:pt x="1829" y="408"/>
                </a:lnTo>
                <a:lnTo>
                  <a:pt x="1819" y="412"/>
                </a:lnTo>
                <a:lnTo>
                  <a:pt x="1828" y="410"/>
                </a:lnTo>
                <a:lnTo>
                  <a:pt x="1836" y="410"/>
                </a:lnTo>
                <a:lnTo>
                  <a:pt x="1843" y="410"/>
                </a:lnTo>
                <a:lnTo>
                  <a:pt x="1851" y="412"/>
                </a:lnTo>
                <a:lnTo>
                  <a:pt x="1858" y="414"/>
                </a:lnTo>
                <a:lnTo>
                  <a:pt x="1865" y="417"/>
                </a:lnTo>
                <a:lnTo>
                  <a:pt x="1870" y="421"/>
                </a:lnTo>
                <a:lnTo>
                  <a:pt x="1875" y="426"/>
                </a:lnTo>
                <a:lnTo>
                  <a:pt x="1876" y="428"/>
                </a:lnTo>
                <a:lnTo>
                  <a:pt x="1876" y="430"/>
                </a:lnTo>
                <a:lnTo>
                  <a:pt x="1878" y="434"/>
                </a:lnTo>
                <a:lnTo>
                  <a:pt x="1878" y="436"/>
                </a:lnTo>
                <a:lnTo>
                  <a:pt x="1878" y="441"/>
                </a:lnTo>
                <a:lnTo>
                  <a:pt x="1875" y="447"/>
                </a:lnTo>
                <a:lnTo>
                  <a:pt x="1871" y="452"/>
                </a:lnTo>
                <a:lnTo>
                  <a:pt x="1866" y="456"/>
                </a:lnTo>
                <a:lnTo>
                  <a:pt x="1861" y="459"/>
                </a:lnTo>
                <a:lnTo>
                  <a:pt x="1853" y="461"/>
                </a:lnTo>
                <a:lnTo>
                  <a:pt x="1843" y="463"/>
                </a:lnTo>
                <a:lnTo>
                  <a:pt x="1833" y="465"/>
                </a:lnTo>
                <a:lnTo>
                  <a:pt x="1821" y="463"/>
                </a:lnTo>
                <a:lnTo>
                  <a:pt x="1813" y="459"/>
                </a:lnTo>
                <a:lnTo>
                  <a:pt x="1818" y="463"/>
                </a:lnTo>
                <a:lnTo>
                  <a:pt x="1823" y="469"/>
                </a:lnTo>
                <a:lnTo>
                  <a:pt x="1828" y="474"/>
                </a:lnTo>
                <a:lnTo>
                  <a:pt x="1831" y="480"/>
                </a:lnTo>
                <a:lnTo>
                  <a:pt x="1833" y="485"/>
                </a:lnTo>
                <a:lnTo>
                  <a:pt x="1834" y="491"/>
                </a:lnTo>
                <a:lnTo>
                  <a:pt x="1834" y="496"/>
                </a:lnTo>
                <a:lnTo>
                  <a:pt x="1834" y="502"/>
                </a:lnTo>
                <a:lnTo>
                  <a:pt x="1834" y="507"/>
                </a:lnTo>
                <a:lnTo>
                  <a:pt x="1833" y="513"/>
                </a:lnTo>
                <a:lnTo>
                  <a:pt x="1829" y="518"/>
                </a:lnTo>
                <a:lnTo>
                  <a:pt x="1826" y="524"/>
                </a:lnTo>
                <a:lnTo>
                  <a:pt x="1821" y="529"/>
                </a:lnTo>
                <a:lnTo>
                  <a:pt x="1816" y="535"/>
                </a:lnTo>
                <a:lnTo>
                  <a:pt x="1811" y="538"/>
                </a:lnTo>
                <a:lnTo>
                  <a:pt x="1804" y="542"/>
                </a:lnTo>
                <a:lnTo>
                  <a:pt x="1793" y="548"/>
                </a:lnTo>
                <a:lnTo>
                  <a:pt x="1781" y="553"/>
                </a:lnTo>
                <a:lnTo>
                  <a:pt x="1767" y="555"/>
                </a:lnTo>
                <a:lnTo>
                  <a:pt x="1752" y="557"/>
                </a:lnTo>
                <a:lnTo>
                  <a:pt x="1764" y="560"/>
                </a:lnTo>
                <a:lnTo>
                  <a:pt x="1774" y="564"/>
                </a:lnTo>
                <a:lnTo>
                  <a:pt x="1777" y="566"/>
                </a:lnTo>
                <a:lnTo>
                  <a:pt x="1781" y="568"/>
                </a:lnTo>
                <a:lnTo>
                  <a:pt x="1784" y="570"/>
                </a:lnTo>
                <a:lnTo>
                  <a:pt x="1788" y="573"/>
                </a:lnTo>
                <a:lnTo>
                  <a:pt x="1789" y="575"/>
                </a:lnTo>
                <a:lnTo>
                  <a:pt x="1791" y="579"/>
                </a:lnTo>
                <a:lnTo>
                  <a:pt x="1793" y="581"/>
                </a:lnTo>
                <a:lnTo>
                  <a:pt x="1793" y="584"/>
                </a:lnTo>
                <a:lnTo>
                  <a:pt x="1793" y="588"/>
                </a:lnTo>
                <a:lnTo>
                  <a:pt x="1793" y="590"/>
                </a:lnTo>
                <a:lnTo>
                  <a:pt x="1791" y="594"/>
                </a:lnTo>
                <a:lnTo>
                  <a:pt x="1789" y="597"/>
                </a:lnTo>
                <a:lnTo>
                  <a:pt x="1788" y="599"/>
                </a:lnTo>
                <a:lnTo>
                  <a:pt x="1784" y="603"/>
                </a:lnTo>
                <a:lnTo>
                  <a:pt x="1781" y="605"/>
                </a:lnTo>
                <a:lnTo>
                  <a:pt x="1777" y="606"/>
                </a:lnTo>
                <a:lnTo>
                  <a:pt x="1769" y="612"/>
                </a:lnTo>
                <a:lnTo>
                  <a:pt x="1759" y="614"/>
                </a:lnTo>
                <a:lnTo>
                  <a:pt x="1749" y="617"/>
                </a:lnTo>
                <a:lnTo>
                  <a:pt x="1737" y="617"/>
                </a:lnTo>
                <a:lnTo>
                  <a:pt x="1725" y="617"/>
                </a:lnTo>
                <a:lnTo>
                  <a:pt x="1714" y="616"/>
                </a:lnTo>
                <a:lnTo>
                  <a:pt x="1702" y="614"/>
                </a:lnTo>
                <a:lnTo>
                  <a:pt x="1692" y="610"/>
                </a:lnTo>
                <a:lnTo>
                  <a:pt x="1695" y="617"/>
                </a:lnTo>
                <a:lnTo>
                  <a:pt x="1695" y="625"/>
                </a:lnTo>
                <a:lnTo>
                  <a:pt x="1695" y="634"/>
                </a:lnTo>
                <a:lnTo>
                  <a:pt x="1694" y="641"/>
                </a:lnTo>
                <a:lnTo>
                  <a:pt x="1692" y="649"/>
                </a:lnTo>
                <a:lnTo>
                  <a:pt x="1689" y="656"/>
                </a:lnTo>
                <a:lnTo>
                  <a:pt x="1684" y="663"/>
                </a:lnTo>
                <a:lnTo>
                  <a:pt x="1679" y="669"/>
                </a:lnTo>
                <a:lnTo>
                  <a:pt x="1672" y="676"/>
                </a:lnTo>
                <a:lnTo>
                  <a:pt x="1663" y="682"/>
                </a:lnTo>
                <a:lnTo>
                  <a:pt x="1655" y="687"/>
                </a:lnTo>
                <a:lnTo>
                  <a:pt x="1647" y="693"/>
                </a:lnTo>
                <a:lnTo>
                  <a:pt x="1637" y="696"/>
                </a:lnTo>
                <a:lnTo>
                  <a:pt x="1627" y="700"/>
                </a:lnTo>
                <a:lnTo>
                  <a:pt x="1615" y="704"/>
                </a:lnTo>
                <a:lnTo>
                  <a:pt x="1603" y="706"/>
                </a:lnTo>
                <a:lnTo>
                  <a:pt x="1593" y="707"/>
                </a:lnTo>
                <a:lnTo>
                  <a:pt x="1581" y="707"/>
                </a:lnTo>
                <a:lnTo>
                  <a:pt x="1571" y="707"/>
                </a:lnTo>
                <a:lnTo>
                  <a:pt x="1561" y="707"/>
                </a:lnTo>
                <a:lnTo>
                  <a:pt x="1551" y="706"/>
                </a:lnTo>
                <a:lnTo>
                  <a:pt x="1541" y="704"/>
                </a:lnTo>
                <a:lnTo>
                  <a:pt x="1531" y="702"/>
                </a:lnTo>
                <a:lnTo>
                  <a:pt x="1521" y="700"/>
                </a:lnTo>
                <a:lnTo>
                  <a:pt x="1524" y="704"/>
                </a:lnTo>
                <a:lnTo>
                  <a:pt x="1526" y="707"/>
                </a:lnTo>
                <a:lnTo>
                  <a:pt x="1528" y="711"/>
                </a:lnTo>
                <a:lnTo>
                  <a:pt x="1528" y="715"/>
                </a:lnTo>
                <a:lnTo>
                  <a:pt x="1526" y="720"/>
                </a:lnTo>
                <a:lnTo>
                  <a:pt x="1526" y="724"/>
                </a:lnTo>
                <a:lnTo>
                  <a:pt x="1523" y="728"/>
                </a:lnTo>
                <a:lnTo>
                  <a:pt x="1519" y="731"/>
                </a:lnTo>
                <a:lnTo>
                  <a:pt x="1516" y="735"/>
                </a:lnTo>
                <a:lnTo>
                  <a:pt x="1511" y="739"/>
                </a:lnTo>
                <a:lnTo>
                  <a:pt x="1506" y="740"/>
                </a:lnTo>
                <a:lnTo>
                  <a:pt x="1499" y="744"/>
                </a:lnTo>
                <a:lnTo>
                  <a:pt x="1492" y="746"/>
                </a:lnTo>
                <a:lnTo>
                  <a:pt x="1484" y="750"/>
                </a:lnTo>
                <a:lnTo>
                  <a:pt x="1476" y="751"/>
                </a:lnTo>
                <a:lnTo>
                  <a:pt x="1467" y="753"/>
                </a:lnTo>
                <a:lnTo>
                  <a:pt x="1456" y="755"/>
                </a:lnTo>
                <a:lnTo>
                  <a:pt x="1442" y="755"/>
                </a:lnTo>
                <a:lnTo>
                  <a:pt x="1430" y="755"/>
                </a:lnTo>
                <a:lnTo>
                  <a:pt x="1417" y="755"/>
                </a:lnTo>
                <a:lnTo>
                  <a:pt x="1405" y="753"/>
                </a:lnTo>
                <a:lnTo>
                  <a:pt x="1394" y="751"/>
                </a:lnTo>
                <a:lnTo>
                  <a:pt x="1382" y="750"/>
                </a:lnTo>
                <a:lnTo>
                  <a:pt x="1372" y="746"/>
                </a:lnTo>
                <a:lnTo>
                  <a:pt x="1372" y="751"/>
                </a:lnTo>
                <a:lnTo>
                  <a:pt x="1372" y="755"/>
                </a:lnTo>
                <a:lnTo>
                  <a:pt x="1372" y="761"/>
                </a:lnTo>
                <a:lnTo>
                  <a:pt x="1370" y="766"/>
                </a:lnTo>
                <a:lnTo>
                  <a:pt x="1368" y="770"/>
                </a:lnTo>
                <a:lnTo>
                  <a:pt x="1367" y="775"/>
                </a:lnTo>
                <a:lnTo>
                  <a:pt x="1363" y="779"/>
                </a:lnTo>
                <a:lnTo>
                  <a:pt x="1360" y="783"/>
                </a:lnTo>
                <a:lnTo>
                  <a:pt x="1355" y="786"/>
                </a:lnTo>
                <a:lnTo>
                  <a:pt x="1350" y="790"/>
                </a:lnTo>
                <a:lnTo>
                  <a:pt x="1345" y="794"/>
                </a:lnTo>
                <a:lnTo>
                  <a:pt x="1338" y="795"/>
                </a:lnTo>
                <a:lnTo>
                  <a:pt x="1333" y="799"/>
                </a:lnTo>
                <a:lnTo>
                  <a:pt x="1327" y="801"/>
                </a:lnTo>
                <a:lnTo>
                  <a:pt x="1318" y="803"/>
                </a:lnTo>
                <a:lnTo>
                  <a:pt x="1311" y="803"/>
                </a:lnTo>
                <a:lnTo>
                  <a:pt x="1298" y="805"/>
                </a:lnTo>
                <a:lnTo>
                  <a:pt x="1285" y="803"/>
                </a:lnTo>
                <a:lnTo>
                  <a:pt x="1271" y="801"/>
                </a:lnTo>
                <a:lnTo>
                  <a:pt x="1259" y="797"/>
                </a:lnTo>
                <a:lnTo>
                  <a:pt x="1249" y="794"/>
                </a:lnTo>
                <a:lnTo>
                  <a:pt x="1241" y="788"/>
                </a:lnTo>
                <a:lnTo>
                  <a:pt x="1236" y="784"/>
                </a:lnTo>
                <a:lnTo>
                  <a:pt x="1233" y="781"/>
                </a:lnTo>
                <a:lnTo>
                  <a:pt x="1229" y="777"/>
                </a:lnTo>
                <a:lnTo>
                  <a:pt x="1226" y="773"/>
                </a:lnTo>
                <a:lnTo>
                  <a:pt x="1228" y="777"/>
                </a:lnTo>
                <a:lnTo>
                  <a:pt x="1229" y="781"/>
                </a:lnTo>
                <a:lnTo>
                  <a:pt x="1229" y="784"/>
                </a:lnTo>
                <a:lnTo>
                  <a:pt x="1229" y="788"/>
                </a:lnTo>
                <a:lnTo>
                  <a:pt x="1228" y="792"/>
                </a:lnTo>
                <a:lnTo>
                  <a:pt x="1226" y="795"/>
                </a:lnTo>
                <a:lnTo>
                  <a:pt x="1223" y="799"/>
                </a:lnTo>
                <a:lnTo>
                  <a:pt x="1219" y="803"/>
                </a:lnTo>
                <a:lnTo>
                  <a:pt x="1216" y="805"/>
                </a:lnTo>
                <a:lnTo>
                  <a:pt x="1211" y="808"/>
                </a:lnTo>
                <a:lnTo>
                  <a:pt x="1206" y="810"/>
                </a:lnTo>
                <a:lnTo>
                  <a:pt x="1201" y="814"/>
                </a:lnTo>
                <a:lnTo>
                  <a:pt x="1194" y="816"/>
                </a:lnTo>
                <a:lnTo>
                  <a:pt x="1187" y="818"/>
                </a:lnTo>
                <a:lnTo>
                  <a:pt x="1181" y="819"/>
                </a:lnTo>
                <a:lnTo>
                  <a:pt x="1172" y="819"/>
                </a:lnTo>
                <a:lnTo>
                  <a:pt x="1157" y="821"/>
                </a:lnTo>
                <a:lnTo>
                  <a:pt x="1142" y="819"/>
                </a:lnTo>
                <a:lnTo>
                  <a:pt x="1127" y="818"/>
                </a:lnTo>
                <a:lnTo>
                  <a:pt x="1114" y="816"/>
                </a:lnTo>
                <a:lnTo>
                  <a:pt x="1102" y="810"/>
                </a:lnTo>
                <a:lnTo>
                  <a:pt x="1097" y="808"/>
                </a:lnTo>
                <a:lnTo>
                  <a:pt x="1092" y="805"/>
                </a:lnTo>
                <a:lnTo>
                  <a:pt x="1087" y="803"/>
                </a:lnTo>
                <a:lnTo>
                  <a:pt x="1083" y="799"/>
                </a:lnTo>
                <a:lnTo>
                  <a:pt x="1078" y="795"/>
                </a:lnTo>
                <a:lnTo>
                  <a:pt x="1077" y="792"/>
                </a:lnTo>
                <a:lnTo>
                  <a:pt x="1075" y="795"/>
                </a:lnTo>
                <a:lnTo>
                  <a:pt x="1073" y="797"/>
                </a:lnTo>
                <a:lnTo>
                  <a:pt x="1072" y="801"/>
                </a:lnTo>
                <a:lnTo>
                  <a:pt x="1068" y="803"/>
                </a:lnTo>
                <a:lnTo>
                  <a:pt x="1063" y="807"/>
                </a:lnTo>
                <a:lnTo>
                  <a:pt x="1060" y="808"/>
                </a:lnTo>
                <a:lnTo>
                  <a:pt x="1055" y="812"/>
                </a:lnTo>
                <a:lnTo>
                  <a:pt x="1050" y="814"/>
                </a:lnTo>
                <a:lnTo>
                  <a:pt x="1045" y="816"/>
                </a:lnTo>
                <a:lnTo>
                  <a:pt x="1038" y="818"/>
                </a:lnTo>
                <a:lnTo>
                  <a:pt x="1025" y="819"/>
                </a:lnTo>
                <a:lnTo>
                  <a:pt x="1011" y="821"/>
                </a:lnTo>
                <a:lnTo>
                  <a:pt x="996" y="821"/>
                </a:lnTo>
                <a:lnTo>
                  <a:pt x="985" y="819"/>
                </a:lnTo>
                <a:lnTo>
                  <a:pt x="973" y="818"/>
                </a:lnTo>
                <a:lnTo>
                  <a:pt x="963" y="816"/>
                </a:lnTo>
                <a:lnTo>
                  <a:pt x="954" y="814"/>
                </a:lnTo>
                <a:lnTo>
                  <a:pt x="946" y="810"/>
                </a:lnTo>
                <a:lnTo>
                  <a:pt x="939" y="807"/>
                </a:lnTo>
                <a:lnTo>
                  <a:pt x="934" y="801"/>
                </a:lnTo>
                <a:lnTo>
                  <a:pt x="933" y="799"/>
                </a:lnTo>
                <a:lnTo>
                  <a:pt x="931" y="797"/>
                </a:lnTo>
                <a:lnTo>
                  <a:pt x="926" y="801"/>
                </a:lnTo>
                <a:lnTo>
                  <a:pt x="921" y="805"/>
                </a:lnTo>
                <a:lnTo>
                  <a:pt x="916" y="807"/>
                </a:lnTo>
                <a:lnTo>
                  <a:pt x="909" y="810"/>
                </a:lnTo>
                <a:lnTo>
                  <a:pt x="902" y="814"/>
                </a:lnTo>
                <a:lnTo>
                  <a:pt x="894" y="816"/>
                </a:lnTo>
                <a:lnTo>
                  <a:pt x="887" y="818"/>
                </a:lnTo>
                <a:lnTo>
                  <a:pt x="879" y="819"/>
                </a:lnTo>
                <a:lnTo>
                  <a:pt x="860" y="821"/>
                </a:lnTo>
                <a:lnTo>
                  <a:pt x="842" y="821"/>
                </a:lnTo>
                <a:lnTo>
                  <a:pt x="824" y="821"/>
                </a:lnTo>
                <a:lnTo>
                  <a:pt x="805" y="819"/>
                </a:lnTo>
                <a:lnTo>
                  <a:pt x="795" y="816"/>
                </a:lnTo>
                <a:lnTo>
                  <a:pt x="785" y="814"/>
                </a:lnTo>
                <a:lnTo>
                  <a:pt x="777" y="810"/>
                </a:lnTo>
                <a:lnTo>
                  <a:pt x="768" y="807"/>
                </a:lnTo>
                <a:lnTo>
                  <a:pt x="762" y="803"/>
                </a:lnTo>
                <a:lnTo>
                  <a:pt x="757" y="799"/>
                </a:lnTo>
                <a:lnTo>
                  <a:pt x="751" y="794"/>
                </a:lnTo>
                <a:lnTo>
                  <a:pt x="748" y="788"/>
                </a:lnTo>
                <a:lnTo>
                  <a:pt x="743" y="792"/>
                </a:lnTo>
                <a:lnTo>
                  <a:pt x="736" y="794"/>
                </a:lnTo>
                <a:lnTo>
                  <a:pt x="730" y="795"/>
                </a:lnTo>
                <a:lnTo>
                  <a:pt x="723" y="795"/>
                </a:lnTo>
                <a:lnTo>
                  <a:pt x="708" y="797"/>
                </a:lnTo>
                <a:lnTo>
                  <a:pt x="691" y="799"/>
                </a:lnTo>
                <a:lnTo>
                  <a:pt x="674" y="797"/>
                </a:lnTo>
                <a:lnTo>
                  <a:pt x="659" y="795"/>
                </a:lnTo>
                <a:lnTo>
                  <a:pt x="643" y="790"/>
                </a:lnTo>
                <a:lnTo>
                  <a:pt x="629" y="786"/>
                </a:lnTo>
                <a:lnTo>
                  <a:pt x="621" y="781"/>
                </a:lnTo>
                <a:lnTo>
                  <a:pt x="614" y="777"/>
                </a:lnTo>
                <a:lnTo>
                  <a:pt x="607" y="773"/>
                </a:lnTo>
                <a:lnTo>
                  <a:pt x="602" y="768"/>
                </a:lnTo>
                <a:lnTo>
                  <a:pt x="599" y="762"/>
                </a:lnTo>
                <a:lnTo>
                  <a:pt x="597" y="759"/>
                </a:lnTo>
                <a:lnTo>
                  <a:pt x="596" y="753"/>
                </a:lnTo>
                <a:lnTo>
                  <a:pt x="597" y="748"/>
                </a:lnTo>
                <a:lnTo>
                  <a:pt x="596" y="751"/>
                </a:lnTo>
                <a:lnTo>
                  <a:pt x="594" y="753"/>
                </a:lnTo>
                <a:lnTo>
                  <a:pt x="592" y="757"/>
                </a:lnTo>
                <a:lnTo>
                  <a:pt x="589" y="759"/>
                </a:lnTo>
                <a:lnTo>
                  <a:pt x="586" y="761"/>
                </a:lnTo>
                <a:lnTo>
                  <a:pt x="580" y="762"/>
                </a:lnTo>
                <a:lnTo>
                  <a:pt x="575" y="764"/>
                </a:lnTo>
                <a:lnTo>
                  <a:pt x="570" y="766"/>
                </a:lnTo>
                <a:lnTo>
                  <a:pt x="565" y="768"/>
                </a:lnTo>
                <a:lnTo>
                  <a:pt x="559" y="768"/>
                </a:lnTo>
                <a:lnTo>
                  <a:pt x="547" y="770"/>
                </a:lnTo>
                <a:lnTo>
                  <a:pt x="532" y="770"/>
                </a:lnTo>
                <a:lnTo>
                  <a:pt x="517" y="768"/>
                </a:lnTo>
                <a:lnTo>
                  <a:pt x="502" y="766"/>
                </a:lnTo>
                <a:lnTo>
                  <a:pt x="488" y="764"/>
                </a:lnTo>
                <a:lnTo>
                  <a:pt x="482" y="762"/>
                </a:lnTo>
                <a:lnTo>
                  <a:pt x="477" y="759"/>
                </a:lnTo>
                <a:lnTo>
                  <a:pt x="472" y="757"/>
                </a:lnTo>
                <a:lnTo>
                  <a:pt x="467" y="755"/>
                </a:lnTo>
                <a:lnTo>
                  <a:pt x="461" y="753"/>
                </a:lnTo>
                <a:lnTo>
                  <a:pt x="458" y="750"/>
                </a:lnTo>
                <a:lnTo>
                  <a:pt x="455" y="748"/>
                </a:lnTo>
                <a:lnTo>
                  <a:pt x="451" y="744"/>
                </a:lnTo>
                <a:lnTo>
                  <a:pt x="450" y="742"/>
                </a:lnTo>
                <a:lnTo>
                  <a:pt x="448" y="739"/>
                </a:lnTo>
                <a:lnTo>
                  <a:pt x="448" y="737"/>
                </a:lnTo>
                <a:lnTo>
                  <a:pt x="448" y="733"/>
                </a:lnTo>
                <a:lnTo>
                  <a:pt x="450" y="729"/>
                </a:lnTo>
                <a:lnTo>
                  <a:pt x="453" y="726"/>
                </a:lnTo>
                <a:lnTo>
                  <a:pt x="458" y="722"/>
                </a:lnTo>
                <a:lnTo>
                  <a:pt x="463" y="720"/>
                </a:lnTo>
                <a:lnTo>
                  <a:pt x="455" y="722"/>
                </a:lnTo>
                <a:lnTo>
                  <a:pt x="446" y="724"/>
                </a:lnTo>
                <a:lnTo>
                  <a:pt x="438" y="724"/>
                </a:lnTo>
                <a:lnTo>
                  <a:pt x="428" y="726"/>
                </a:lnTo>
                <a:lnTo>
                  <a:pt x="420" y="726"/>
                </a:lnTo>
                <a:lnTo>
                  <a:pt x="411" y="724"/>
                </a:lnTo>
                <a:lnTo>
                  <a:pt x="403" y="724"/>
                </a:lnTo>
                <a:lnTo>
                  <a:pt x="394" y="722"/>
                </a:lnTo>
                <a:lnTo>
                  <a:pt x="388" y="720"/>
                </a:lnTo>
                <a:lnTo>
                  <a:pt x="379" y="718"/>
                </a:lnTo>
                <a:lnTo>
                  <a:pt x="373" y="715"/>
                </a:lnTo>
                <a:lnTo>
                  <a:pt x="366" y="711"/>
                </a:lnTo>
                <a:lnTo>
                  <a:pt x="359" y="707"/>
                </a:lnTo>
                <a:lnTo>
                  <a:pt x="353" y="704"/>
                </a:lnTo>
                <a:lnTo>
                  <a:pt x="347" y="698"/>
                </a:lnTo>
                <a:lnTo>
                  <a:pt x="344" y="693"/>
                </a:lnTo>
                <a:lnTo>
                  <a:pt x="341" y="689"/>
                </a:lnTo>
                <a:lnTo>
                  <a:pt x="337" y="683"/>
                </a:lnTo>
                <a:lnTo>
                  <a:pt x="336" y="678"/>
                </a:lnTo>
                <a:lnTo>
                  <a:pt x="336" y="672"/>
                </a:lnTo>
                <a:lnTo>
                  <a:pt x="334" y="667"/>
                </a:lnTo>
                <a:lnTo>
                  <a:pt x="334" y="663"/>
                </a:lnTo>
                <a:lnTo>
                  <a:pt x="336" y="658"/>
                </a:lnTo>
                <a:lnTo>
                  <a:pt x="337" y="652"/>
                </a:lnTo>
                <a:lnTo>
                  <a:pt x="329" y="656"/>
                </a:lnTo>
                <a:lnTo>
                  <a:pt x="321" y="660"/>
                </a:lnTo>
                <a:lnTo>
                  <a:pt x="312" y="661"/>
                </a:lnTo>
                <a:lnTo>
                  <a:pt x="302" y="665"/>
                </a:lnTo>
                <a:lnTo>
                  <a:pt x="292" y="667"/>
                </a:lnTo>
                <a:lnTo>
                  <a:pt x="284" y="667"/>
                </a:lnTo>
                <a:lnTo>
                  <a:pt x="274" y="669"/>
                </a:lnTo>
                <a:lnTo>
                  <a:pt x="264" y="669"/>
                </a:lnTo>
                <a:lnTo>
                  <a:pt x="254" y="669"/>
                </a:lnTo>
                <a:lnTo>
                  <a:pt x="244" y="667"/>
                </a:lnTo>
                <a:lnTo>
                  <a:pt x="235" y="667"/>
                </a:lnTo>
                <a:lnTo>
                  <a:pt x="225" y="665"/>
                </a:lnTo>
                <a:lnTo>
                  <a:pt x="215" y="661"/>
                </a:lnTo>
                <a:lnTo>
                  <a:pt x="207" y="660"/>
                </a:lnTo>
                <a:lnTo>
                  <a:pt x="198" y="656"/>
                </a:lnTo>
                <a:lnTo>
                  <a:pt x="190" y="652"/>
                </a:lnTo>
                <a:lnTo>
                  <a:pt x="178" y="647"/>
                </a:lnTo>
                <a:lnTo>
                  <a:pt x="166" y="643"/>
                </a:lnTo>
                <a:lnTo>
                  <a:pt x="156" y="638"/>
                </a:lnTo>
                <a:lnTo>
                  <a:pt x="148" y="632"/>
                </a:lnTo>
                <a:lnTo>
                  <a:pt x="140" y="627"/>
                </a:lnTo>
                <a:lnTo>
                  <a:pt x="131" y="621"/>
                </a:lnTo>
                <a:lnTo>
                  <a:pt x="125" y="616"/>
                </a:lnTo>
                <a:lnTo>
                  <a:pt x="119" y="608"/>
                </a:lnTo>
                <a:lnTo>
                  <a:pt x="114" y="603"/>
                </a:lnTo>
                <a:lnTo>
                  <a:pt x="109" y="595"/>
                </a:lnTo>
                <a:lnTo>
                  <a:pt x="108" y="590"/>
                </a:lnTo>
                <a:lnTo>
                  <a:pt x="104" y="583"/>
                </a:lnTo>
                <a:lnTo>
                  <a:pt x="104" y="577"/>
                </a:lnTo>
                <a:lnTo>
                  <a:pt x="104" y="570"/>
                </a:lnTo>
                <a:lnTo>
                  <a:pt x="106" y="564"/>
                </a:lnTo>
                <a:lnTo>
                  <a:pt x="108" y="557"/>
                </a:lnTo>
                <a:lnTo>
                  <a:pt x="99" y="559"/>
                </a:lnTo>
                <a:lnTo>
                  <a:pt x="91" y="559"/>
                </a:lnTo>
                <a:lnTo>
                  <a:pt x="83" y="559"/>
                </a:lnTo>
                <a:lnTo>
                  <a:pt x="74" y="559"/>
                </a:lnTo>
                <a:lnTo>
                  <a:pt x="66" y="559"/>
                </a:lnTo>
                <a:lnTo>
                  <a:pt x="59" y="557"/>
                </a:lnTo>
                <a:lnTo>
                  <a:pt x="51" y="555"/>
                </a:lnTo>
                <a:lnTo>
                  <a:pt x="44" y="553"/>
                </a:lnTo>
                <a:lnTo>
                  <a:pt x="37" y="549"/>
                </a:lnTo>
                <a:lnTo>
                  <a:pt x="31" y="546"/>
                </a:lnTo>
                <a:lnTo>
                  <a:pt x="24" y="542"/>
                </a:lnTo>
                <a:lnTo>
                  <a:pt x="19" y="538"/>
                </a:lnTo>
                <a:lnTo>
                  <a:pt x="14" y="535"/>
                </a:lnTo>
                <a:lnTo>
                  <a:pt x="11" y="529"/>
                </a:lnTo>
                <a:lnTo>
                  <a:pt x="7" y="526"/>
                </a:lnTo>
                <a:lnTo>
                  <a:pt x="4" y="520"/>
                </a:lnTo>
                <a:lnTo>
                  <a:pt x="2" y="516"/>
                </a:lnTo>
                <a:lnTo>
                  <a:pt x="2" y="511"/>
                </a:lnTo>
                <a:lnTo>
                  <a:pt x="0" y="507"/>
                </a:lnTo>
                <a:lnTo>
                  <a:pt x="0" y="504"/>
                </a:lnTo>
                <a:lnTo>
                  <a:pt x="0" y="500"/>
                </a:lnTo>
                <a:lnTo>
                  <a:pt x="2" y="496"/>
                </a:lnTo>
                <a:lnTo>
                  <a:pt x="4" y="489"/>
                </a:lnTo>
                <a:lnTo>
                  <a:pt x="9" y="482"/>
                </a:lnTo>
                <a:lnTo>
                  <a:pt x="14" y="474"/>
                </a:lnTo>
                <a:lnTo>
                  <a:pt x="22" y="469"/>
                </a:lnTo>
                <a:lnTo>
                  <a:pt x="31" y="463"/>
                </a:lnTo>
                <a:lnTo>
                  <a:pt x="26" y="459"/>
                </a:lnTo>
                <a:lnTo>
                  <a:pt x="21" y="456"/>
                </a:lnTo>
                <a:lnTo>
                  <a:pt x="17" y="452"/>
                </a:lnTo>
                <a:lnTo>
                  <a:pt x="14" y="448"/>
                </a:lnTo>
                <a:lnTo>
                  <a:pt x="12" y="445"/>
                </a:lnTo>
                <a:lnTo>
                  <a:pt x="12" y="441"/>
                </a:lnTo>
                <a:lnTo>
                  <a:pt x="11" y="437"/>
                </a:lnTo>
                <a:lnTo>
                  <a:pt x="11" y="436"/>
                </a:lnTo>
                <a:lnTo>
                  <a:pt x="12" y="432"/>
                </a:lnTo>
                <a:lnTo>
                  <a:pt x="14" y="428"/>
                </a:lnTo>
                <a:lnTo>
                  <a:pt x="16" y="425"/>
                </a:lnTo>
                <a:lnTo>
                  <a:pt x="19" y="423"/>
                </a:lnTo>
                <a:lnTo>
                  <a:pt x="24" y="419"/>
                </a:lnTo>
                <a:lnTo>
                  <a:pt x="27" y="417"/>
                </a:lnTo>
                <a:lnTo>
                  <a:pt x="34" y="414"/>
                </a:lnTo>
                <a:lnTo>
                  <a:pt x="39" y="412"/>
                </a:lnTo>
                <a:lnTo>
                  <a:pt x="41" y="412"/>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07" name="Rectangle 9"/>
          <p:cNvSpPr>
            <a:spLocks noChangeArrowheads="1"/>
          </p:cNvSpPr>
          <p:nvPr/>
        </p:nvSpPr>
        <p:spPr bwMode="auto">
          <a:xfrm>
            <a:off x="3824288" y="2096740"/>
            <a:ext cx="1363662"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FontTx/>
              <a:buNone/>
            </a:pPr>
            <a:r>
              <a:rPr kumimoji="1" lang="en-US" altLang="zh-CN" sz="1300" dirty="0">
                <a:solidFill>
                  <a:srgbClr val="000000"/>
                </a:solidFill>
                <a:latin typeface="Tahoma" panose="020B0604030504040204" pitchFamily="34" charset="0"/>
                <a:ea typeface="隶书" panose="02010509060101010101" pitchFamily="49" charset="-122"/>
              </a:rPr>
              <a:t>TASK_RUNNING</a:t>
            </a:r>
            <a:endParaRPr kumimoji="1" lang="en-US" altLang="zh-CN" sz="2400" dirty="0">
              <a:solidFill>
                <a:schemeClr val="tx1"/>
              </a:solidFill>
              <a:latin typeface="Times New Roman" panose="02020603050405020304" pitchFamily="18" charset="0"/>
              <a:ea typeface="隶书" panose="02010509060101010101" pitchFamily="49" charset="-122"/>
            </a:endParaRPr>
          </a:p>
        </p:txBody>
      </p:sp>
      <p:sp>
        <p:nvSpPr>
          <p:cNvPr id="25608" name="Rectangle 10"/>
          <p:cNvSpPr>
            <a:spLocks noChangeArrowheads="1"/>
          </p:cNvSpPr>
          <p:nvPr/>
        </p:nvSpPr>
        <p:spPr bwMode="auto">
          <a:xfrm>
            <a:off x="4340225" y="2318990"/>
            <a:ext cx="3302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FontTx/>
              <a:buNone/>
            </a:pPr>
            <a:r>
              <a:rPr kumimoji="1" lang="zh-CN" altLang="en-US" sz="1300">
                <a:solidFill>
                  <a:srgbClr val="000000"/>
                </a:solidFill>
                <a:latin typeface="宋体" panose="02010600030101010101" pitchFamily="2" charset="-122"/>
              </a:rPr>
              <a:t>就绪</a:t>
            </a:r>
            <a:endParaRPr kumimoji="1" lang="zh-CN" altLang="en-US" sz="2400">
              <a:solidFill>
                <a:schemeClr val="tx1"/>
              </a:solidFill>
              <a:latin typeface="Times New Roman" panose="02020603050405020304" pitchFamily="18" charset="0"/>
              <a:ea typeface="隶书" panose="02010509060101010101" pitchFamily="49" charset="-122"/>
            </a:endParaRPr>
          </a:p>
        </p:txBody>
      </p:sp>
      <p:sp>
        <p:nvSpPr>
          <p:cNvPr id="25609" name="Freeform 11"/>
          <p:cNvSpPr/>
          <p:nvPr/>
        </p:nvSpPr>
        <p:spPr bwMode="auto">
          <a:xfrm>
            <a:off x="5957888" y="2966690"/>
            <a:ext cx="2257425" cy="660400"/>
          </a:xfrm>
          <a:custGeom>
            <a:avLst/>
            <a:gdLst>
              <a:gd name="T0" fmla="*/ 2147483646 w 2843"/>
              <a:gd name="T1" fmla="*/ 2147483646 h 834"/>
              <a:gd name="T2" fmla="*/ 2147483646 w 2843"/>
              <a:gd name="T3" fmla="*/ 2147483646 h 834"/>
              <a:gd name="T4" fmla="*/ 2147483646 w 2843"/>
              <a:gd name="T5" fmla="*/ 2147483646 h 834"/>
              <a:gd name="T6" fmla="*/ 2147483646 w 2843"/>
              <a:gd name="T7" fmla="*/ 2147483646 h 834"/>
              <a:gd name="T8" fmla="*/ 2147483646 w 2843"/>
              <a:gd name="T9" fmla="*/ 2147483646 h 834"/>
              <a:gd name="T10" fmla="*/ 2147483646 w 2843"/>
              <a:gd name="T11" fmla="*/ 2147483646 h 834"/>
              <a:gd name="T12" fmla="*/ 2147483646 w 2843"/>
              <a:gd name="T13" fmla="*/ 2147483646 h 834"/>
              <a:gd name="T14" fmla="*/ 2147483646 w 2843"/>
              <a:gd name="T15" fmla="*/ 2147483646 h 834"/>
              <a:gd name="T16" fmla="*/ 2147483646 w 2843"/>
              <a:gd name="T17" fmla="*/ 2147483646 h 834"/>
              <a:gd name="T18" fmla="*/ 2147483646 w 2843"/>
              <a:gd name="T19" fmla="*/ 2147483646 h 834"/>
              <a:gd name="T20" fmla="*/ 2147483646 w 2843"/>
              <a:gd name="T21" fmla="*/ 2147483646 h 834"/>
              <a:gd name="T22" fmla="*/ 2147483646 w 2843"/>
              <a:gd name="T23" fmla="*/ 2147483646 h 834"/>
              <a:gd name="T24" fmla="*/ 2147483646 w 2843"/>
              <a:gd name="T25" fmla="*/ 2147483646 h 834"/>
              <a:gd name="T26" fmla="*/ 2147483646 w 2843"/>
              <a:gd name="T27" fmla="*/ 0 h 834"/>
              <a:gd name="T28" fmla="*/ 2147483646 w 2843"/>
              <a:gd name="T29" fmla="*/ 2147483646 h 834"/>
              <a:gd name="T30" fmla="*/ 2147483646 w 2843"/>
              <a:gd name="T31" fmla="*/ 2147483646 h 834"/>
              <a:gd name="T32" fmla="*/ 2147483646 w 2843"/>
              <a:gd name="T33" fmla="*/ 2147483646 h 834"/>
              <a:gd name="T34" fmla="*/ 2147483646 w 2843"/>
              <a:gd name="T35" fmla="*/ 2147483646 h 834"/>
              <a:gd name="T36" fmla="*/ 2147483646 w 2843"/>
              <a:gd name="T37" fmla="*/ 2147483646 h 834"/>
              <a:gd name="T38" fmla="*/ 2147483646 w 2843"/>
              <a:gd name="T39" fmla="*/ 2147483646 h 834"/>
              <a:gd name="T40" fmla="*/ 2147483646 w 2843"/>
              <a:gd name="T41" fmla="*/ 2147483646 h 834"/>
              <a:gd name="T42" fmla="*/ 2147483646 w 2843"/>
              <a:gd name="T43" fmla="*/ 2147483646 h 834"/>
              <a:gd name="T44" fmla="*/ 2147483646 w 2843"/>
              <a:gd name="T45" fmla="*/ 2147483646 h 834"/>
              <a:gd name="T46" fmla="*/ 2147483646 w 2843"/>
              <a:gd name="T47" fmla="*/ 2147483646 h 834"/>
              <a:gd name="T48" fmla="*/ 2147483646 w 2843"/>
              <a:gd name="T49" fmla="*/ 2147483646 h 834"/>
              <a:gd name="T50" fmla="*/ 2147483646 w 2843"/>
              <a:gd name="T51" fmla="*/ 2147483646 h 834"/>
              <a:gd name="T52" fmla="*/ 2147483646 w 2843"/>
              <a:gd name="T53" fmla="*/ 2147483646 h 834"/>
              <a:gd name="T54" fmla="*/ 2147483646 w 2843"/>
              <a:gd name="T55" fmla="*/ 2147483646 h 834"/>
              <a:gd name="T56" fmla="*/ 2147483646 w 2843"/>
              <a:gd name="T57" fmla="*/ 2147483646 h 834"/>
              <a:gd name="T58" fmla="*/ 2147483646 w 2843"/>
              <a:gd name="T59" fmla="*/ 2147483646 h 834"/>
              <a:gd name="T60" fmla="*/ 2147483646 w 2843"/>
              <a:gd name="T61" fmla="*/ 2147483646 h 834"/>
              <a:gd name="T62" fmla="*/ 2147483646 w 2843"/>
              <a:gd name="T63" fmla="*/ 2147483646 h 834"/>
              <a:gd name="T64" fmla="*/ 2147483646 w 2843"/>
              <a:gd name="T65" fmla="*/ 2147483646 h 834"/>
              <a:gd name="T66" fmla="*/ 2147483646 w 2843"/>
              <a:gd name="T67" fmla="*/ 2147483646 h 834"/>
              <a:gd name="T68" fmla="*/ 2147483646 w 2843"/>
              <a:gd name="T69" fmla="*/ 2147483646 h 834"/>
              <a:gd name="T70" fmla="*/ 2147483646 w 2843"/>
              <a:gd name="T71" fmla="*/ 2147483646 h 834"/>
              <a:gd name="T72" fmla="*/ 2147483646 w 2843"/>
              <a:gd name="T73" fmla="*/ 2147483646 h 834"/>
              <a:gd name="T74" fmla="*/ 2147483646 w 2843"/>
              <a:gd name="T75" fmla="*/ 2147483646 h 834"/>
              <a:gd name="T76" fmla="*/ 2147483646 w 2843"/>
              <a:gd name="T77" fmla="*/ 2147483646 h 834"/>
              <a:gd name="T78" fmla="*/ 2147483646 w 2843"/>
              <a:gd name="T79" fmla="*/ 2147483646 h 834"/>
              <a:gd name="T80" fmla="*/ 2147483646 w 2843"/>
              <a:gd name="T81" fmla="*/ 2147483646 h 834"/>
              <a:gd name="T82" fmla="*/ 2147483646 w 2843"/>
              <a:gd name="T83" fmla="*/ 2147483646 h 834"/>
              <a:gd name="T84" fmla="*/ 2147483646 w 2843"/>
              <a:gd name="T85" fmla="*/ 2147483646 h 834"/>
              <a:gd name="T86" fmla="*/ 2147483646 w 2843"/>
              <a:gd name="T87" fmla="*/ 2147483646 h 834"/>
              <a:gd name="T88" fmla="*/ 2147483646 w 2843"/>
              <a:gd name="T89" fmla="*/ 2147483646 h 834"/>
              <a:gd name="T90" fmla="*/ 2147483646 w 2843"/>
              <a:gd name="T91" fmla="*/ 2147483646 h 834"/>
              <a:gd name="T92" fmla="*/ 2147483646 w 2843"/>
              <a:gd name="T93" fmla="*/ 2147483646 h 834"/>
              <a:gd name="T94" fmla="*/ 2147483646 w 2843"/>
              <a:gd name="T95" fmla="*/ 2147483646 h 834"/>
              <a:gd name="T96" fmla="*/ 2147483646 w 2843"/>
              <a:gd name="T97" fmla="*/ 2147483646 h 834"/>
              <a:gd name="T98" fmla="*/ 2147483646 w 2843"/>
              <a:gd name="T99" fmla="*/ 2147483646 h 834"/>
              <a:gd name="T100" fmla="*/ 2147483646 w 2843"/>
              <a:gd name="T101" fmla="*/ 2147483646 h 834"/>
              <a:gd name="T102" fmla="*/ 2147483646 w 2843"/>
              <a:gd name="T103" fmla="*/ 2147483646 h 834"/>
              <a:gd name="T104" fmla="*/ 2147483646 w 2843"/>
              <a:gd name="T105" fmla="*/ 2147483646 h 834"/>
              <a:gd name="T106" fmla="*/ 2147483646 w 2843"/>
              <a:gd name="T107" fmla="*/ 2147483646 h 834"/>
              <a:gd name="T108" fmla="*/ 2147483646 w 2843"/>
              <a:gd name="T109" fmla="*/ 2147483646 h 834"/>
              <a:gd name="T110" fmla="*/ 2147483646 w 2843"/>
              <a:gd name="T111" fmla="*/ 2147483646 h 834"/>
              <a:gd name="T112" fmla="*/ 2147483646 w 2843"/>
              <a:gd name="T113" fmla="*/ 2147483646 h 834"/>
              <a:gd name="T114" fmla="*/ 2147483646 w 2843"/>
              <a:gd name="T115" fmla="*/ 2147483646 h 834"/>
              <a:gd name="T116" fmla="*/ 0 w 2843"/>
              <a:gd name="T117" fmla="*/ 2147483646 h 834"/>
              <a:gd name="T118" fmla="*/ 2147483646 w 2843"/>
              <a:gd name="T119" fmla="*/ 2147483646 h 834"/>
              <a:gd name="T120" fmla="*/ 2147483646 w 2843"/>
              <a:gd name="T121" fmla="*/ 2147483646 h 834"/>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43"/>
              <a:gd name="T184" fmla="*/ 0 h 834"/>
              <a:gd name="T185" fmla="*/ 2843 w 2843"/>
              <a:gd name="T186" fmla="*/ 834 h 834"/>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43" h="834">
                <a:moveTo>
                  <a:pt x="62" y="419"/>
                </a:moveTo>
                <a:lnTo>
                  <a:pt x="52" y="415"/>
                </a:lnTo>
                <a:lnTo>
                  <a:pt x="43" y="412"/>
                </a:lnTo>
                <a:lnTo>
                  <a:pt x="35" y="408"/>
                </a:lnTo>
                <a:lnTo>
                  <a:pt x="27" y="404"/>
                </a:lnTo>
                <a:lnTo>
                  <a:pt x="22" y="401"/>
                </a:lnTo>
                <a:lnTo>
                  <a:pt x="17" y="395"/>
                </a:lnTo>
                <a:lnTo>
                  <a:pt x="12" y="391"/>
                </a:lnTo>
                <a:lnTo>
                  <a:pt x="8" y="386"/>
                </a:lnTo>
                <a:lnTo>
                  <a:pt x="7" y="382"/>
                </a:lnTo>
                <a:lnTo>
                  <a:pt x="5" y="377"/>
                </a:lnTo>
                <a:lnTo>
                  <a:pt x="5" y="371"/>
                </a:lnTo>
                <a:lnTo>
                  <a:pt x="7" y="366"/>
                </a:lnTo>
                <a:lnTo>
                  <a:pt x="8" y="362"/>
                </a:lnTo>
                <a:lnTo>
                  <a:pt x="12" y="356"/>
                </a:lnTo>
                <a:lnTo>
                  <a:pt x="17" y="351"/>
                </a:lnTo>
                <a:lnTo>
                  <a:pt x="22" y="347"/>
                </a:lnTo>
                <a:lnTo>
                  <a:pt x="30" y="342"/>
                </a:lnTo>
                <a:lnTo>
                  <a:pt x="37" y="338"/>
                </a:lnTo>
                <a:lnTo>
                  <a:pt x="47" y="334"/>
                </a:lnTo>
                <a:lnTo>
                  <a:pt x="57" y="331"/>
                </a:lnTo>
                <a:lnTo>
                  <a:pt x="67" y="329"/>
                </a:lnTo>
                <a:lnTo>
                  <a:pt x="77" y="325"/>
                </a:lnTo>
                <a:lnTo>
                  <a:pt x="89" y="323"/>
                </a:lnTo>
                <a:lnTo>
                  <a:pt x="102" y="323"/>
                </a:lnTo>
                <a:lnTo>
                  <a:pt x="94" y="316"/>
                </a:lnTo>
                <a:lnTo>
                  <a:pt x="87" y="311"/>
                </a:lnTo>
                <a:lnTo>
                  <a:pt x="84" y="303"/>
                </a:lnTo>
                <a:lnTo>
                  <a:pt x="80" y="298"/>
                </a:lnTo>
                <a:lnTo>
                  <a:pt x="79" y="290"/>
                </a:lnTo>
                <a:lnTo>
                  <a:pt x="79" y="283"/>
                </a:lnTo>
                <a:lnTo>
                  <a:pt x="80" y="276"/>
                </a:lnTo>
                <a:lnTo>
                  <a:pt x="82" y="270"/>
                </a:lnTo>
                <a:lnTo>
                  <a:pt x="87" y="263"/>
                </a:lnTo>
                <a:lnTo>
                  <a:pt x="92" y="257"/>
                </a:lnTo>
                <a:lnTo>
                  <a:pt x="100" y="252"/>
                </a:lnTo>
                <a:lnTo>
                  <a:pt x="109" y="246"/>
                </a:lnTo>
                <a:lnTo>
                  <a:pt x="119" y="241"/>
                </a:lnTo>
                <a:lnTo>
                  <a:pt x="129" y="235"/>
                </a:lnTo>
                <a:lnTo>
                  <a:pt x="141" y="230"/>
                </a:lnTo>
                <a:lnTo>
                  <a:pt x="156" y="226"/>
                </a:lnTo>
                <a:lnTo>
                  <a:pt x="166" y="224"/>
                </a:lnTo>
                <a:lnTo>
                  <a:pt x="178" y="222"/>
                </a:lnTo>
                <a:lnTo>
                  <a:pt x="203" y="219"/>
                </a:lnTo>
                <a:lnTo>
                  <a:pt x="214" y="217"/>
                </a:lnTo>
                <a:lnTo>
                  <a:pt x="228" y="217"/>
                </a:lnTo>
                <a:lnTo>
                  <a:pt x="241" y="217"/>
                </a:lnTo>
                <a:lnTo>
                  <a:pt x="253" y="217"/>
                </a:lnTo>
                <a:lnTo>
                  <a:pt x="251" y="213"/>
                </a:lnTo>
                <a:lnTo>
                  <a:pt x="250" y="210"/>
                </a:lnTo>
                <a:lnTo>
                  <a:pt x="250" y="204"/>
                </a:lnTo>
                <a:lnTo>
                  <a:pt x="248" y="200"/>
                </a:lnTo>
                <a:lnTo>
                  <a:pt x="248" y="197"/>
                </a:lnTo>
                <a:lnTo>
                  <a:pt x="248" y="193"/>
                </a:lnTo>
                <a:lnTo>
                  <a:pt x="250" y="189"/>
                </a:lnTo>
                <a:lnTo>
                  <a:pt x="251" y="186"/>
                </a:lnTo>
                <a:lnTo>
                  <a:pt x="253" y="180"/>
                </a:lnTo>
                <a:lnTo>
                  <a:pt x="255" y="177"/>
                </a:lnTo>
                <a:lnTo>
                  <a:pt x="260" y="169"/>
                </a:lnTo>
                <a:lnTo>
                  <a:pt x="266" y="162"/>
                </a:lnTo>
                <a:lnTo>
                  <a:pt x="275" y="156"/>
                </a:lnTo>
                <a:lnTo>
                  <a:pt x="285" y="149"/>
                </a:lnTo>
                <a:lnTo>
                  <a:pt x="297" y="144"/>
                </a:lnTo>
                <a:lnTo>
                  <a:pt x="308" y="138"/>
                </a:lnTo>
                <a:lnTo>
                  <a:pt x="323" y="132"/>
                </a:lnTo>
                <a:lnTo>
                  <a:pt x="338" y="129"/>
                </a:lnTo>
                <a:lnTo>
                  <a:pt x="354" y="125"/>
                </a:lnTo>
                <a:lnTo>
                  <a:pt x="370" y="121"/>
                </a:lnTo>
                <a:lnTo>
                  <a:pt x="389" y="120"/>
                </a:lnTo>
                <a:lnTo>
                  <a:pt x="406" y="118"/>
                </a:lnTo>
                <a:lnTo>
                  <a:pt x="421" y="118"/>
                </a:lnTo>
                <a:lnTo>
                  <a:pt x="437" y="118"/>
                </a:lnTo>
                <a:lnTo>
                  <a:pt x="452" y="118"/>
                </a:lnTo>
                <a:lnTo>
                  <a:pt x="468" y="120"/>
                </a:lnTo>
                <a:lnTo>
                  <a:pt x="484" y="121"/>
                </a:lnTo>
                <a:lnTo>
                  <a:pt x="499" y="123"/>
                </a:lnTo>
                <a:lnTo>
                  <a:pt x="513" y="125"/>
                </a:lnTo>
                <a:lnTo>
                  <a:pt x="509" y="120"/>
                </a:lnTo>
                <a:lnTo>
                  <a:pt x="506" y="116"/>
                </a:lnTo>
                <a:lnTo>
                  <a:pt x="503" y="110"/>
                </a:lnTo>
                <a:lnTo>
                  <a:pt x="503" y="105"/>
                </a:lnTo>
                <a:lnTo>
                  <a:pt x="503" y="99"/>
                </a:lnTo>
                <a:lnTo>
                  <a:pt x="504" y="94"/>
                </a:lnTo>
                <a:lnTo>
                  <a:pt x="508" y="88"/>
                </a:lnTo>
                <a:lnTo>
                  <a:pt x="511" y="83"/>
                </a:lnTo>
                <a:lnTo>
                  <a:pt x="516" y="79"/>
                </a:lnTo>
                <a:lnTo>
                  <a:pt x="523" y="74"/>
                </a:lnTo>
                <a:lnTo>
                  <a:pt x="530" y="70"/>
                </a:lnTo>
                <a:lnTo>
                  <a:pt x="536" y="66"/>
                </a:lnTo>
                <a:lnTo>
                  <a:pt x="546" y="63"/>
                </a:lnTo>
                <a:lnTo>
                  <a:pt x="556" y="59"/>
                </a:lnTo>
                <a:lnTo>
                  <a:pt x="566" y="55"/>
                </a:lnTo>
                <a:lnTo>
                  <a:pt x="578" y="54"/>
                </a:lnTo>
                <a:lnTo>
                  <a:pt x="590" y="52"/>
                </a:lnTo>
                <a:lnTo>
                  <a:pt x="602" y="50"/>
                </a:lnTo>
                <a:lnTo>
                  <a:pt x="613" y="50"/>
                </a:lnTo>
                <a:lnTo>
                  <a:pt x="625" y="48"/>
                </a:lnTo>
                <a:lnTo>
                  <a:pt x="637" y="48"/>
                </a:lnTo>
                <a:lnTo>
                  <a:pt x="649" y="50"/>
                </a:lnTo>
                <a:lnTo>
                  <a:pt x="670" y="52"/>
                </a:lnTo>
                <a:lnTo>
                  <a:pt x="680" y="54"/>
                </a:lnTo>
                <a:lnTo>
                  <a:pt x="691" y="55"/>
                </a:lnTo>
                <a:lnTo>
                  <a:pt x="701" y="59"/>
                </a:lnTo>
                <a:lnTo>
                  <a:pt x="711" y="63"/>
                </a:lnTo>
                <a:lnTo>
                  <a:pt x="719" y="66"/>
                </a:lnTo>
                <a:lnTo>
                  <a:pt x="727" y="70"/>
                </a:lnTo>
                <a:lnTo>
                  <a:pt x="734" y="74"/>
                </a:lnTo>
                <a:lnTo>
                  <a:pt x="741" y="79"/>
                </a:lnTo>
                <a:lnTo>
                  <a:pt x="742" y="72"/>
                </a:lnTo>
                <a:lnTo>
                  <a:pt x="746" y="66"/>
                </a:lnTo>
                <a:lnTo>
                  <a:pt x="751" y="61"/>
                </a:lnTo>
                <a:lnTo>
                  <a:pt x="758" y="55"/>
                </a:lnTo>
                <a:lnTo>
                  <a:pt x="764" y="50"/>
                </a:lnTo>
                <a:lnTo>
                  <a:pt x="773" y="46"/>
                </a:lnTo>
                <a:lnTo>
                  <a:pt x="781" y="43"/>
                </a:lnTo>
                <a:lnTo>
                  <a:pt x="791" y="39"/>
                </a:lnTo>
                <a:lnTo>
                  <a:pt x="803" y="35"/>
                </a:lnTo>
                <a:lnTo>
                  <a:pt x="815" y="32"/>
                </a:lnTo>
                <a:lnTo>
                  <a:pt x="826" y="30"/>
                </a:lnTo>
                <a:lnTo>
                  <a:pt x="840" y="28"/>
                </a:lnTo>
                <a:lnTo>
                  <a:pt x="851" y="26"/>
                </a:lnTo>
                <a:lnTo>
                  <a:pt x="865" y="26"/>
                </a:lnTo>
                <a:lnTo>
                  <a:pt x="880" y="26"/>
                </a:lnTo>
                <a:lnTo>
                  <a:pt x="893" y="26"/>
                </a:lnTo>
                <a:lnTo>
                  <a:pt x="907" y="28"/>
                </a:lnTo>
                <a:lnTo>
                  <a:pt x="919" y="28"/>
                </a:lnTo>
                <a:lnTo>
                  <a:pt x="930" y="30"/>
                </a:lnTo>
                <a:lnTo>
                  <a:pt x="942" y="33"/>
                </a:lnTo>
                <a:lnTo>
                  <a:pt x="954" y="35"/>
                </a:lnTo>
                <a:lnTo>
                  <a:pt x="964" y="39"/>
                </a:lnTo>
                <a:lnTo>
                  <a:pt x="974" y="43"/>
                </a:lnTo>
                <a:lnTo>
                  <a:pt x="982" y="48"/>
                </a:lnTo>
                <a:lnTo>
                  <a:pt x="991" y="43"/>
                </a:lnTo>
                <a:lnTo>
                  <a:pt x="1001" y="39"/>
                </a:lnTo>
                <a:lnTo>
                  <a:pt x="1021" y="30"/>
                </a:lnTo>
                <a:lnTo>
                  <a:pt x="1041" y="22"/>
                </a:lnTo>
                <a:lnTo>
                  <a:pt x="1064" y="17"/>
                </a:lnTo>
                <a:lnTo>
                  <a:pt x="1088" y="11"/>
                </a:lnTo>
                <a:lnTo>
                  <a:pt x="1111" y="8"/>
                </a:lnTo>
                <a:lnTo>
                  <a:pt x="1136" y="6"/>
                </a:lnTo>
                <a:lnTo>
                  <a:pt x="1162" y="4"/>
                </a:lnTo>
                <a:lnTo>
                  <a:pt x="1188" y="2"/>
                </a:lnTo>
                <a:lnTo>
                  <a:pt x="1214" y="2"/>
                </a:lnTo>
                <a:lnTo>
                  <a:pt x="1239" y="4"/>
                </a:lnTo>
                <a:lnTo>
                  <a:pt x="1266" y="6"/>
                </a:lnTo>
                <a:lnTo>
                  <a:pt x="1291" y="9"/>
                </a:lnTo>
                <a:lnTo>
                  <a:pt x="1314" y="15"/>
                </a:lnTo>
                <a:lnTo>
                  <a:pt x="1338" y="20"/>
                </a:lnTo>
                <a:lnTo>
                  <a:pt x="1361" y="28"/>
                </a:lnTo>
                <a:lnTo>
                  <a:pt x="1363" y="24"/>
                </a:lnTo>
                <a:lnTo>
                  <a:pt x="1366" y="20"/>
                </a:lnTo>
                <a:lnTo>
                  <a:pt x="1369" y="17"/>
                </a:lnTo>
                <a:lnTo>
                  <a:pt x="1374" y="15"/>
                </a:lnTo>
                <a:lnTo>
                  <a:pt x="1380" y="11"/>
                </a:lnTo>
                <a:lnTo>
                  <a:pt x="1385" y="9"/>
                </a:lnTo>
                <a:lnTo>
                  <a:pt x="1390" y="8"/>
                </a:lnTo>
                <a:lnTo>
                  <a:pt x="1396" y="6"/>
                </a:lnTo>
                <a:lnTo>
                  <a:pt x="1411" y="2"/>
                </a:lnTo>
                <a:lnTo>
                  <a:pt x="1426" y="0"/>
                </a:lnTo>
                <a:lnTo>
                  <a:pt x="1442" y="0"/>
                </a:lnTo>
                <a:lnTo>
                  <a:pt x="1458" y="0"/>
                </a:lnTo>
                <a:lnTo>
                  <a:pt x="1470" y="2"/>
                </a:lnTo>
                <a:lnTo>
                  <a:pt x="1480" y="4"/>
                </a:lnTo>
                <a:lnTo>
                  <a:pt x="1490" y="8"/>
                </a:lnTo>
                <a:lnTo>
                  <a:pt x="1499" y="9"/>
                </a:lnTo>
                <a:lnTo>
                  <a:pt x="1505" y="15"/>
                </a:lnTo>
                <a:lnTo>
                  <a:pt x="1512" y="19"/>
                </a:lnTo>
                <a:lnTo>
                  <a:pt x="1517" y="24"/>
                </a:lnTo>
                <a:lnTo>
                  <a:pt x="1520" y="28"/>
                </a:lnTo>
                <a:lnTo>
                  <a:pt x="1520" y="24"/>
                </a:lnTo>
                <a:lnTo>
                  <a:pt x="1522" y="22"/>
                </a:lnTo>
                <a:lnTo>
                  <a:pt x="1525" y="19"/>
                </a:lnTo>
                <a:lnTo>
                  <a:pt x="1529" y="15"/>
                </a:lnTo>
                <a:lnTo>
                  <a:pt x="1532" y="13"/>
                </a:lnTo>
                <a:lnTo>
                  <a:pt x="1537" y="9"/>
                </a:lnTo>
                <a:lnTo>
                  <a:pt x="1542" y="8"/>
                </a:lnTo>
                <a:lnTo>
                  <a:pt x="1549" y="6"/>
                </a:lnTo>
                <a:lnTo>
                  <a:pt x="1554" y="4"/>
                </a:lnTo>
                <a:lnTo>
                  <a:pt x="1561" y="2"/>
                </a:lnTo>
                <a:lnTo>
                  <a:pt x="1569" y="2"/>
                </a:lnTo>
                <a:lnTo>
                  <a:pt x="1576" y="0"/>
                </a:lnTo>
                <a:lnTo>
                  <a:pt x="1592" y="0"/>
                </a:lnTo>
                <a:lnTo>
                  <a:pt x="1611" y="0"/>
                </a:lnTo>
                <a:lnTo>
                  <a:pt x="1624" y="0"/>
                </a:lnTo>
                <a:lnTo>
                  <a:pt x="1636" y="4"/>
                </a:lnTo>
                <a:lnTo>
                  <a:pt x="1648" y="6"/>
                </a:lnTo>
                <a:lnTo>
                  <a:pt x="1658" y="9"/>
                </a:lnTo>
                <a:lnTo>
                  <a:pt x="1668" y="13"/>
                </a:lnTo>
                <a:lnTo>
                  <a:pt x="1676" y="17"/>
                </a:lnTo>
                <a:lnTo>
                  <a:pt x="1683" y="22"/>
                </a:lnTo>
                <a:lnTo>
                  <a:pt x="1686" y="24"/>
                </a:lnTo>
                <a:lnTo>
                  <a:pt x="1688" y="28"/>
                </a:lnTo>
                <a:lnTo>
                  <a:pt x="1693" y="26"/>
                </a:lnTo>
                <a:lnTo>
                  <a:pt x="1700" y="24"/>
                </a:lnTo>
                <a:lnTo>
                  <a:pt x="1706" y="22"/>
                </a:lnTo>
                <a:lnTo>
                  <a:pt x="1713" y="22"/>
                </a:lnTo>
                <a:lnTo>
                  <a:pt x="1728" y="20"/>
                </a:lnTo>
                <a:lnTo>
                  <a:pt x="1743" y="20"/>
                </a:lnTo>
                <a:lnTo>
                  <a:pt x="1760" y="20"/>
                </a:lnTo>
                <a:lnTo>
                  <a:pt x="1775" y="22"/>
                </a:lnTo>
                <a:lnTo>
                  <a:pt x="1790" y="24"/>
                </a:lnTo>
                <a:lnTo>
                  <a:pt x="1804" y="28"/>
                </a:lnTo>
                <a:lnTo>
                  <a:pt x="1810" y="30"/>
                </a:lnTo>
                <a:lnTo>
                  <a:pt x="1815" y="32"/>
                </a:lnTo>
                <a:lnTo>
                  <a:pt x="1820" y="33"/>
                </a:lnTo>
                <a:lnTo>
                  <a:pt x="1825" y="37"/>
                </a:lnTo>
                <a:lnTo>
                  <a:pt x="1829" y="39"/>
                </a:lnTo>
                <a:lnTo>
                  <a:pt x="1830" y="43"/>
                </a:lnTo>
                <a:lnTo>
                  <a:pt x="1832" y="44"/>
                </a:lnTo>
                <a:lnTo>
                  <a:pt x="1834" y="48"/>
                </a:lnTo>
                <a:lnTo>
                  <a:pt x="1839" y="43"/>
                </a:lnTo>
                <a:lnTo>
                  <a:pt x="1847" y="39"/>
                </a:lnTo>
                <a:lnTo>
                  <a:pt x="1856" y="35"/>
                </a:lnTo>
                <a:lnTo>
                  <a:pt x="1864" y="33"/>
                </a:lnTo>
                <a:lnTo>
                  <a:pt x="1874" y="30"/>
                </a:lnTo>
                <a:lnTo>
                  <a:pt x="1886" y="28"/>
                </a:lnTo>
                <a:lnTo>
                  <a:pt x="1898" y="26"/>
                </a:lnTo>
                <a:lnTo>
                  <a:pt x="1911" y="24"/>
                </a:lnTo>
                <a:lnTo>
                  <a:pt x="1924" y="24"/>
                </a:lnTo>
                <a:lnTo>
                  <a:pt x="1938" y="24"/>
                </a:lnTo>
                <a:lnTo>
                  <a:pt x="1968" y="24"/>
                </a:lnTo>
                <a:lnTo>
                  <a:pt x="1998" y="26"/>
                </a:lnTo>
                <a:lnTo>
                  <a:pt x="2013" y="26"/>
                </a:lnTo>
                <a:lnTo>
                  <a:pt x="2028" y="30"/>
                </a:lnTo>
                <a:lnTo>
                  <a:pt x="2038" y="32"/>
                </a:lnTo>
                <a:lnTo>
                  <a:pt x="2050" y="33"/>
                </a:lnTo>
                <a:lnTo>
                  <a:pt x="2060" y="35"/>
                </a:lnTo>
                <a:lnTo>
                  <a:pt x="2070" y="37"/>
                </a:lnTo>
                <a:lnTo>
                  <a:pt x="2080" y="41"/>
                </a:lnTo>
                <a:lnTo>
                  <a:pt x="2089" y="44"/>
                </a:lnTo>
                <a:lnTo>
                  <a:pt x="2095" y="46"/>
                </a:lnTo>
                <a:lnTo>
                  <a:pt x="2104" y="50"/>
                </a:lnTo>
                <a:lnTo>
                  <a:pt x="2109" y="54"/>
                </a:lnTo>
                <a:lnTo>
                  <a:pt x="2115" y="57"/>
                </a:lnTo>
                <a:lnTo>
                  <a:pt x="2119" y="61"/>
                </a:lnTo>
                <a:lnTo>
                  <a:pt x="2124" y="65"/>
                </a:lnTo>
                <a:lnTo>
                  <a:pt x="2126" y="68"/>
                </a:lnTo>
                <a:lnTo>
                  <a:pt x="2127" y="72"/>
                </a:lnTo>
                <a:lnTo>
                  <a:pt x="2129" y="76"/>
                </a:lnTo>
                <a:lnTo>
                  <a:pt x="2129" y="79"/>
                </a:lnTo>
                <a:lnTo>
                  <a:pt x="2144" y="74"/>
                </a:lnTo>
                <a:lnTo>
                  <a:pt x="2159" y="70"/>
                </a:lnTo>
                <a:lnTo>
                  <a:pt x="2176" y="66"/>
                </a:lnTo>
                <a:lnTo>
                  <a:pt x="2191" y="66"/>
                </a:lnTo>
                <a:lnTo>
                  <a:pt x="2206" y="65"/>
                </a:lnTo>
                <a:lnTo>
                  <a:pt x="2221" y="66"/>
                </a:lnTo>
                <a:lnTo>
                  <a:pt x="2228" y="66"/>
                </a:lnTo>
                <a:lnTo>
                  <a:pt x="2233" y="68"/>
                </a:lnTo>
                <a:lnTo>
                  <a:pt x="2240" y="70"/>
                </a:lnTo>
                <a:lnTo>
                  <a:pt x="2245" y="72"/>
                </a:lnTo>
                <a:lnTo>
                  <a:pt x="2248" y="72"/>
                </a:lnTo>
                <a:lnTo>
                  <a:pt x="2250" y="74"/>
                </a:lnTo>
                <a:lnTo>
                  <a:pt x="2253" y="77"/>
                </a:lnTo>
                <a:lnTo>
                  <a:pt x="2255" y="79"/>
                </a:lnTo>
                <a:lnTo>
                  <a:pt x="2256" y="81"/>
                </a:lnTo>
                <a:lnTo>
                  <a:pt x="2256" y="83"/>
                </a:lnTo>
                <a:lnTo>
                  <a:pt x="2256" y="87"/>
                </a:lnTo>
                <a:lnTo>
                  <a:pt x="2256" y="88"/>
                </a:lnTo>
                <a:lnTo>
                  <a:pt x="2255" y="90"/>
                </a:lnTo>
                <a:lnTo>
                  <a:pt x="2255" y="94"/>
                </a:lnTo>
                <a:lnTo>
                  <a:pt x="2251" y="96"/>
                </a:lnTo>
                <a:lnTo>
                  <a:pt x="2250" y="99"/>
                </a:lnTo>
                <a:lnTo>
                  <a:pt x="2246" y="101"/>
                </a:lnTo>
                <a:lnTo>
                  <a:pt x="2243" y="103"/>
                </a:lnTo>
                <a:lnTo>
                  <a:pt x="2240" y="107"/>
                </a:lnTo>
                <a:lnTo>
                  <a:pt x="2234" y="109"/>
                </a:lnTo>
                <a:lnTo>
                  <a:pt x="2246" y="105"/>
                </a:lnTo>
                <a:lnTo>
                  <a:pt x="2260" y="101"/>
                </a:lnTo>
                <a:lnTo>
                  <a:pt x="2273" y="98"/>
                </a:lnTo>
                <a:lnTo>
                  <a:pt x="2288" y="96"/>
                </a:lnTo>
                <a:lnTo>
                  <a:pt x="2303" y="94"/>
                </a:lnTo>
                <a:lnTo>
                  <a:pt x="2318" y="92"/>
                </a:lnTo>
                <a:lnTo>
                  <a:pt x="2332" y="92"/>
                </a:lnTo>
                <a:lnTo>
                  <a:pt x="2347" y="92"/>
                </a:lnTo>
                <a:lnTo>
                  <a:pt x="2362" y="94"/>
                </a:lnTo>
                <a:lnTo>
                  <a:pt x="2377" y="94"/>
                </a:lnTo>
                <a:lnTo>
                  <a:pt x="2392" y="96"/>
                </a:lnTo>
                <a:lnTo>
                  <a:pt x="2405" y="99"/>
                </a:lnTo>
                <a:lnTo>
                  <a:pt x="2419" y="103"/>
                </a:lnTo>
                <a:lnTo>
                  <a:pt x="2432" y="107"/>
                </a:lnTo>
                <a:lnTo>
                  <a:pt x="2444" y="110"/>
                </a:lnTo>
                <a:lnTo>
                  <a:pt x="2454" y="116"/>
                </a:lnTo>
                <a:lnTo>
                  <a:pt x="2461" y="120"/>
                </a:lnTo>
                <a:lnTo>
                  <a:pt x="2468" y="123"/>
                </a:lnTo>
                <a:lnTo>
                  <a:pt x="2473" y="127"/>
                </a:lnTo>
                <a:lnTo>
                  <a:pt x="2478" y="131"/>
                </a:lnTo>
                <a:lnTo>
                  <a:pt x="2481" y="134"/>
                </a:lnTo>
                <a:lnTo>
                  <a:pt x="2486" y="140"/>
                </a:lnTo>
                <a:lnTo>
                  <a:pt x="2488" y="144"/>
                </a:lnTo>
                <a:lnTo>
                  <a:pt x="2491" y="147"/>
                </a:lnTo>
                <a:lnTo>
                  <a:pt x="2493" y="153"/>
                </a:lnTo>
                <a:lnTo>
                  <a:pt x="2493" y="156"/>
                </a:lnTo>
                <a:lnTo>
                  <a:pt x="2493" y="162"/>
                </a:lnTo>
                <a:lnTo>
                  <a:pt x="2493" y="166"/>
                </a:lnTo>
                <a:lnTo>
                  <a:pt x="2493" y="171"/>
                </a:lnTo>
                <a:lnTo>
                  <a:pt x="2491" y="175"/>
                </a:lnTo>
                <a:lnTo>
                  <a:pt x="2488" y="178"/>
                </a:lnTo>
                <a:lnTo>
                  <a:pt x="2484" y="184"/>
                </a:lnTo>
                <a:lnTo>
                  <a:pt x="2499" y="186"/>
                </a:lnTo>
                <a:lnTo>
                  <a:pt x="2513" y="189"/>
                </a:lnTo>
                <a:lnTo>
                  <a:pt x="2525" y="191"/>
                </a:lnTo>
                <a:lnTo>
                  <a:pt x="2536" y="195"/>
                </a:lnTo>
                <a:lnTo>
                  <a:pt x="2546" y="199"/>
                </a:lnTo>
                <a:lnTo>
                  <a:pt x="2556" y="202"/>
                </a:lnTo>
                <a:lnTo>
                  <a:pt x="2565" y="208"/>
                </a:lnTo>
                <a:lnTo>
                  <a:pt x="2571" y="211"/>
                </a:lnTo>
                <a:lnTo>
                  <a:pt x="2578" y="215"/>
                </a:lnTo>
                <a:lnTo>
                  <a:pt x="2583" y="221"/>
                </a:lnTo>
                <a:lnTo>
                  <a:pt x="2587" y="224"/>
                </a:lnTo>
                <a:lnTo>
                  <a:pt x="2590" y="228"/>
                </a:lnTo>
                <a:lnTo>
                  <a:pt x="2590" y="233"/>
                </a:lnTo>
                <a:lnTo>
                  <a:pt x="2590" y="237"/>
                </a:lnTo>
                <a:lnTo>
                  <a:pt x="2588" y="243"/>
                </a:lnTo>
                <a:lnTo>
                  <a:pt x="2585" y="246"/>
                </a:lnTo>
                <a:lnTo>
                  <a:pt x="2608" y="248"/>
                </a:lnTo>
                <a:lnTo>
                  <a:pt x="2630" y="248"/>
                </a:lnTo>
                <a:lnTo>
                  <a:pt x="2650" y="250"/>
                </a:lnTo>
                <a:lnTo>
                  <a:pt x="2670" y="252"/>
                </a:lnTo>
                <a:lnTo>
                  <a:pt x="2689" y="256"/>
                </a:lnTo>
                <a:lnTo>
                  <a:pt x="2707" y="259"/>
                </a:lnTo>
                <a:lnTo>
                  <a:pt x="2722" y="263"/>
                </a:lnTo>
                <a:lnTo>
                  <a:pt x="2737" y="267"/>
                </a:lnTo>
                <a:lnTo>
                  <a:pt x="2751" y="272"/>
                </a:lnTo>
                <a:lnTo>
                  <a:pt x="2758" y="274"/>
                </a:lnTo>
                <a:lnTo>
                  <a:pt x="2763" y="276"/>
                </a:lnTo>
                <a:lnTo>
                  <a:pt x="2768" y="279"/>
                </a:lnTo>
                <a:lnTo>
                  <a:pt x="2773" y="281"/>
                </a:lnTo>
                <a:lnTo>
                  <a:pt x="2776" y="285"/>
                </a:lnTo>
                <a:lnTo>
                  <a:pt x="2781" y="287"/>
                </a:lnTo>
                <a:lnTo>
                  <a:pt x="2784" y="290"/>
                </a:lnTo>
                <a:lnTo>
                  <a:pt x="2786" y="294"/>
                </a:lnTo>
                <a:lnTo>
                  <a:pt x="2789" y="296"/>
                </a:lnTo>
                <a:lnTo>
                  <a:pt x="2791" y="300"/>
                </a:lnTo>
                <a:lnTo>
                  <a:pt x="2793" y="303"/>
                </a:lnTo>
                <a:lnTo>
                  <a:pt x="2793" y="305"/>
                </a:lnTo>
                <a:lnTo>
                  <a:pt x="2793" y="309"/>
                </a:lnTo>
                <a:lnTo>
                  <a:pt x="2793" y="312"/>
                </a:lnTo>
                <a:lnTo>
                  <a:pt x="2791" y="318"/>
                </a:lnTo>
                <a:lnTo>
                  <a:pt x="2788" y="323"/>
                </a:lnTo>
                <a:lnTo>
                  <a:pt x="2783" y="329"/>
                </a:lnTo>
                <a:lnTo>
                  <a:pt x="2776" y="334"/>
                </a:lnTo>
                <a:lnTo>
                  <a:pt x="2768" y="338"/>
                </a:lnTo>
                <a:lnTo>
                  <a:pt x="2758" y="344"/>
                </a:lnTo>
                <a:lnTo>
                  <a:pt x="2747" y="349"/>
                </a:lnTo>
                <a:lnTo>
                  <a:pt x="2736" y="353"/>
                </a:lnTo>
                <a:lnTo>
                  <a:pt x="2746" y="355"/>
                </a:lnTo>
                <a:lnTo>
                  <a:pt x="2758" y="356"/>
                </a:lnTo>
                <a:lnTo>
                  <a:pt x="2768" y="358"/>
                </a:lnTo>
                <a:lnTo>
                  <a:pt x="2776" y="362"/>
                </a:lnTo>
                <a:lnTo>
                  <a:pt x="2784" y="364"/>
                </a:lnTo>
                <a:lnTo>
                  <a:pt x="2791" y="368"/>
                </a:lnTo>
                <a:lnTo>
                  <a:pt x="2798" y="369"/>
                </a:lnTo>
                <a:lnTo>
                  <a:pt x="2803" y="373"/>
                </a:lnTo>
                <a:lnTo>
                  <a:pt x="2806" y="377"/>
                </a:lnTo>
                <a:lnTo>
                  <a:pt x="2810" y="380"/>
                </a:lnTo>
                <a:lnTo>
                  <a:pt x="2811" y="384"/>
                </a:lnTo>
                <a:lnTo>
                  <a:pt x="2813" y="388"/>
                </a:lnTo>
                <a:lnTo>
                  <a:pt x="2811" y="391"/>
                </a:lnTo>
                <a:lnTo>
                  <a:pt x="2810" y="395"/>
                </a:lnTo>
                <a:lnTo>
                  <a:pt x="2806" y="399"/>
                </a:lnTo>
                <a:lnTo>
                  <a:pt x="2801" y="402"/>
                </a:lnTo>
                <a:lnTo>
                  <a:pt x="2798" y="404"/>
                </a:lnTo>
                <a:lnTo>
                  <a:pt x="2793" y="406"/>
                </a:lnTo>
                <a:lnTo>
                  <a:pt x="2788" y="408"/>
                </a:lnTo>
                <a:lnTo>
                  <a:pt x="2781" y="412"/>
                </a:lnTo>
                <a:lnTo>
                  <a:pt x="2776" y="413"/>
                </a:lnTo>
                <a:lnTo>
                  <a:pt x="2769" y="415"/>
                </a:lnTo>
                <a:lnTo>
                  <a:pt x="2761" y="417"/>
                </a:lnTo>
                <a:lnTo>
                  <a:pt x="2754" y="419"/>
                </a:lnTo>
                <a:lnTo>
                  <a:pt x="2766" y="417"/>
                </a:lnTo>
                <a:lnTo>
                  <a:pt x="2779" y="415"/>
                </a:lnTo>
                <a:lnTo>
                  <a:pt x="2791" y="415"/>
                </a:lnTo>
                <a:lnTo>
                  <a:pt x="2803" y="417"/>
                </a:lnTo>
                <a:lnTo>
                  <a:pt x="2813" y="419"/>
                </a:lnTo>
                <a:lnTo>
                  <a:pt x="2823" y="423"/>
                </a:lnTo>
                <a:lnTo>
                  <a:pt x="2828" y="424"/>
                </a:lnTo>
                <a:lnTo>
                  <a:pt x="2831" y="428"/>
                </a:lnTo>
                <a:lnTo>
                  <a:pt x="2835" y="430"/>
                </a:lnTo>
                <a:lnTo>
                  <a:pt x="2838" y="432"/>
                </a:lnTo>
                <a:lnTo>
                  <a:pt x="2840" y="435"/>
                </a:lnTo>
                <a:lnTo>
                  <a:pt x="2841" y="437"/>
                </a:lnTo>
                <a:lnTo>
                  <a:pt x="2843" y="441"/>
                </a:lnTo>
                <a:lnTo>
                  <a:pt x="2843" y="443"/>
                </a:lnTo>
                <a:lnTo>
                  <a:pt x="2843" y="446"/>
                </a:lnTo>
                <a:lnTo>
                  <a:pt x="2843" y="448"/>
                </a:lnTo>
                <a:lnTo>
                  <a:pt x="2841" y="452"/>
                </a:lnTo>
                <a:lnTo>
                  <a:pt x="2840" y="454"/>
                </a:lnTo>
                <a:lnTo>
                  <a:pt x="2836" y="456"/>
                </a:lnTo>
                <a:lnTo>
                  <a:pt x="2833" y="459"/>
                </a:lnTo>
                <a:lnTo>
                  <a:pt x="2830" y="461"/>
                </a:lnTo>
                <a:lnTo>
                  <a:pt x="2826" y="463"/>
                </a:lnTo>
                <a:lnTo>
                  <a:pt x="2821" y="465"/>
                </a:lnTo>
                <a:lnTo>
                  <a:pt x="2816" y="467"/>
                </a:lnTo>
                <a:lnTo>
                  <a:pt x="2811" y="468"/>
                </a:lnTo>
                <a:lnTo>
                  <a:pt x="2806" y="468"/>
                </a:lnTo>
                <a:lnTo>
                  <a:pt x="2798" y="470"/>
                </a:lnTo>
                <a:lnTo>
                  <a:pt x="2789" y="470"/>
                </a:lnTo>
                <a:lnTo>
                  <a:pt x="2781" y="472"/>
                </a:lnTo>
                <a:lnTo>
                  <a:pt x="2774" y="472"/>
                </a:lnTo>
                <a:lnTo>
                  <a:pt x="2758" y="470"/>
                </a:lnTo>
                <a:lnTo>
                  <a:pt x="2751" y="468"/>
                </a:lnTo>
                <a:lnTo>
                  <a:pt x="2744" y="467"/>
                </a:lnTo>
                <a:lnTo>
                  <a:pt x="2753" y="472"/>
                </a:lnTo>
                <a:lnTo>
                  <a:pt x="2759" y="476"/>
                </a:lnTo>
                <a:lnTo>
                  <a:pt x="2766" y="481"/>
                </a:lnTo>
                <a:lnTo>
                  <a:pt x="2771" y="487"/>
                </a:lnTo>
                <a:lnTo>
                  <a:pt x="2774" y="492"/>
                </a:lnTo>
                <a:lnTo>
                  <a:pt x="2776" y="498"/>
                </a:lnTo>
                <a:lnTo>
                  <a:pt x="2778" y="503"/>
                </a:lnTo>
                <a:lnTo>
                  <a:pt x="2778" y="511"/>
                </a:lnTo>
                <a:lnTo>
                  <a:pt x="2776" y="516"/>
                </a:lnTo>
                <a:lnTo>
                  <a:pt x="2773" y="522"/>
                </a:lnTo>
                <a:lnTo>
                  <a:pt x="2769" y="527"/>
                </a:lnTo>
                <a:lnTo>
                  <a:pt x="2764" y="533"/>
                </a:lnTo>
                <a:lnTo>
                  <a:pt x="2758" y="536"/>
                </a:lnTo>
                <a:lnTo>
                  <a:pt x="2751" y="542"/>
                </a:lnTo>
                <a:lnTo>
                  <a:pt x="2741" y="547"/>
                </a:lnTo>
                <a:lnTo>
                  <a:pt x="2732" y="551"/>
                </a:lnTo>
                <a:lnTo>
                  <a:pt x="2722" y="555"/>
                </a:lnTo>
                <a:lnTo>
                  <a:pt x="2714" y="557"/>
                </a:lnTo>
                <a:lnTo>
                  <a:pt x="2706" y="560"/>
                </a:lnTo>
                <a:lnTo>
                  <a:pt x="2696" y="562"/>
                </a:lnTo>
                <a:lnTo>
                  <a:pt x="2675" y="564"/>
                </a:lnTo>
                <a:lnTo>
                  <a:pt x="2654" y="566"/>
                </a:lnTo>
                <a:lnTo>
                  <a:pt x="2662" y="568"/>
                </a:lnTo>
                <a:lnTo>
                  <a:pt x="2670" y="569"/>
                </a:lnTo>
                <a:lnTo>
                  <a:pt x="2677" y="571"/>
                </a:lnTo>
                <a:lnTo>
                  <a:pt x="2684" y="573"/>
                </a:lnTo>
                <a:lnTo>
                  <a:pt x="2690" y="575"/>
                </a:lnTo>
                <a:lnTo>
                  <a:pt x="2696" y="577"/>
                </a:lnTo>
                <a:lnTo>
                  <a:pt x="2701" y="579"/>
                </a:lnTo>
                <a:lnTo>
                  <a:pt x="2706" y="582"/>
                </a:lnTo>
                <a:lnTo>
                  <a:pt x="2709" y="584"/>
                </a:lnTo>
                <a:lnTo>
                  <a:pt x="2711" y="588"/>
                </a:lnTo>
                <a:lnTo>
                  <a:pt x="2712" y="590"/>
                </a:lnTo>
                <a:lnTo>
                  <a:pt x="2714" y="593"/>
                </a:lnTo>
                <a:lnTo>
                  <a:pt x="2714" y="597"/>
                </a:lnTo>
                <a:lnTo>
                  <a:pt x="2714" y="599"/>
                </a:lnTo>
                <a:lnTo>
                  <a:pt x="2712" y="603"/>
                </a:lnTo>
                <a:lnTo>
                  <a:pt x="2709" y="606"/>
                </a:lnTo>
                <a:lnTo>
                  <a:pt x="2706" y="608"/>
                </a:lnTo>
                <a:lnTo>
                  <a:pt x="2701" y="612"/>
                </a:lnTo>
                <a:lnTo>
                  <a:pt x="2696" y="614"/>
                </a:lnTo>
                <a:lnTo>
                  <a:pt x="2690" y="617"/>
                </a:lnTo>
                <a:lnTo>
                  <a:pt x="2684" y="619"/>
                </a:lnTo>
                <a:lnTo>
                  <a:pt x="2677" y="621"/>
                </a:lnTo>
                <a:lnTo>
                  <a:pt x="2670" y="623"/>
                </a:lnTo>
                <a:lnTo>
                  <a:pt x="2662" y="625"/>
                </a:lnTo>
                <a:lnTo>
                  <a:pt x="2647" y="626"/>
                </a:lnTo>
                <a:lnTo>
                  <a:pt x="2628" y="626"/>
                </a:lnTo>
                <a:lnTo>
                  <a:pt x="2612" y="626"/>
                </a:lnTo>
                <a:lnTo>
                  <a:pt x="2593" y="626"/>
                </a:lnTo>
                <a:lnTo>
                  <a:pt x="2585" y="625"/>
                </a:lnTo>
                <a:lnTo>
                  <a:pt x="2576" y="623"/>
                </a:lnTo>
                <a:lnTo>
                  <a:pt x="2570" y="621"/>
                </a:lnTo>
                <a:lnTo>
                  <a:pt x="2561" y="619"/>
                </a:lnTo>
                <a:lnTo>
                  <a:pt x="2563" y="623"/>
                </a:lnTo>
                <a:lnTo>
                  <a:pt x="2565" y="626"/>
                </a:lnTo>
                <a:lnTo>
                  <a:pt x="2566" y="632"/>
                </a:lnTo>
                <a:lnTo>
                  <a:pt x="2566" y="636"/>
                </a:lnTo>
                <a:lnTo>
                  <a:pt x="2566" y="639"/>
                </a:lnTo>
                <a:lnTo>
                  <a:pt x="2566" y="643"/>
                </a:lnTo>
                <a:lnTo>
                  <a:pt x="2566" y="647"/>
                </a:lnTo>
                <a:lnTo>
                  <a:pt x="2565" y="652"/>
                </a:lnTo>
                <a:lnTo>
                  <a:pt x="2563" y="656"/>
                </a:lnTo>
                <a:lnTo>
                  <a:pt x="2561" y="659"/>
                </a:lnTo>
                <a:lnTo>
                  <a:pt x="2555" y="667"/>
                </a:lnTo>
                <a:lnTo>
                  <a:pt x="2548" y="674"/>
                </a:lnTo>
                <a:lnTo>
                  <a:pt x="2540" y="680"/>
                </a:lnTo>
                <a:lnTo>
                  <a:pt x="2530" y="687"/>
                </a:lnTo>
                <a:lnTo>
                  <a:pt x="2519" y="692"/>
                </a:lnTo>
                <a:lnTo>
                  <a:pt x="2506" y="698"/>
                </a:lnTo>
                <a:lnTo>
                  <a:pt x="2493" y="703"/>
                </a:lnTo>
                <a:lnTo>
                  <a:pt x="2478" y="707"/>
                </a:lnTo>
                <a:lnTo>
                  <a:pt x="2461" y="711"/>
                </a:lnTo>
                <a:lnTo>
                  <a:pt x="2444" y="715"/>
                </a:lnTo>
                <a:lnTo>
                  <a:pt x="2426" y="716"/>
                </a:lnTo>
                <a:lnTo>
                  <a:pt x="2411" y="718"/>
                </a:lnTo>
                <a:lnTo>
                  <a:pt x="2395" y="718"/>
                </a:lnTo>
                <a:lnTo>
                  <a:pt x="2379" y="718"/>
                </a:lnTo>
                <a:lnTo>
                  <a:pt x="2364" y="718"/>
                </a:lnTo>
                <a:lnTo>
                  <a:pt x="2347" y="716"/>
                </a:lnTo>
                <a:lnTo>
                  <a:pt x="2332" y="716"/>
                </a:lnTo>
                <a:lnTo>
                  <a:pt x="2317" y="713"/>
                </a:lnTo>
                <a:lnTo>
                  <a:pt x="2302" y="711"/>
                </a:lnTo>
                <a:lnTo>
                  <a:pt x="2307" y="715"/>
                </a:lnTo>
                <a:lnTo>
                  <a:pt x="2310" y="718"/>
                </a:lnTo>
                <a:lnTo>
                  <a:pt x="2312" y="722"/>
                </a:lnTo>
                <a:lnTo>
                  <a:pt x="2312" y="727"/>
                </a:lnTo>
                <a:lnTo>
                  <a:pt x="2312" y="731"/>
                </a:lnTo>
                <a:lnTo>
                  <a:pt x="2308" y="735"/>
                </a:lnTo>
                <a:lnTo>
                  <a:pt x="2305" y="738"/>
                </a:lnTo>
                <a:lnTo>
                  <a:pt x="2300" y="742"/>
                </a:lnTo>
                <a:lnTo>
                  <a:pt x="2295" y="746"/>
                </a:lnTo>
                <a:lnTo>
                  <a:pt x="2286" y="749"/>
                </a:lnTo>
                <a:lnTo>
                  <a:pt x="2278" y="753"/>
                </a:lnTo>
                <a:lnTo>
                  <a:pt x="2270" y="755"/>
                </a:lnTo>
                <a:lnTo>
                  <a:pt x="2258" y="759"/>
                </a:lnTo>
                <a:lnTo>
                  <a:pt x="2246" y="760"/>
                </a:lnTo>
                <a:lnTo>
                  <a:pt x="2234" y="762"/>
                </a:lnTo>
                <a:lnTo>
                  <a:pt x="2221" y="764"/>
                </a:lnTo>
                <a:lnTo>
                  <a:pt x="2203" y="766"/>
                </a:lnTo>
                <a:lnTo>
                  <a:pt x="2183" y="768"/>
                </a:lnTo>
                <a:lnTo>
                  <a:pt x="2164" y="768"/>
                </a:lnTo>
                <a:lnTo>
                  <a:pt x="2146" y="766"/>
                </a:lnTo>
                <a:lnTo>
                  <a:pt x="2126" y="766"/>
                </a:lnTo>
                <a:lnTo>
                  <a:pt x="2109" y="764"/>
                </a:lnTo>
                <a:lnTo>
                  <a:pt x="2092" y="760"/>
                </a:lnTo>
                <a:lnTo>
                  <a:pt x="2075" y="759"/>
                </a:lnTo>
                <a:lnTo>
                  <a:pt x="2077" y="762"/>
                </a:lnTo>
                <a:lnTo>
                  <a:pt x="2077" y="768"/>
                </a:lnTo>
                <a:lnTo>
                  <a:pt x="2077" y="773"/>
                </a:lnTo>
                <a:lnTo>
                  <a:pt x="2075" y="777"/>
                </a:lnTo>
                <a:lnTo>
                  <a:pt x="2072" y="782"/>
                </a:lnTo>
                <a:lnTo>
                  <a:pt x="2069" y="786"/>
                </a:lnTo>
                <a:lnTo>
                  <a:pt x="2064" y="792"/>
                </a:lnTo>
                <a:lnTo>
                  <a:pt x="2058" y="795"/>
                </a:lnTo>
                <a:lnTo>
                  <a:pt x="2052" y="799"/>
                </a:lnTo>
                <a:lnTo>
                  <a:pt x="2043" y="803"/>
                </a:lnTo>
                <a:lnTo>
                  <a:pt x="2035" y="806"/>
                </a:lnTo>
                <a:lnTo>
                  <a:pt x="2027" y="808"/>
                </a:lnTo>
                <a:lnTo>
                  <a:pt x="2017" y="812"/>
                </a:lnTo>
                <a:lnTo>
                  <a:pt x="2007" y="814"/>
                </a:lnTo>
                <a:lnTo>
                  <a:pt x="1996" y="815"/>
                </a:lnTo>
                <a:lnTo>
                  <a:pt x="1985" y="815"/>
                </a:lnTo>
                <a:lnTo>
                  <a:pt x="1965" y="817"/>
                </a:lnTo>
                <a:lnTo>
                  <a:pt x="1944" y="815"/>
                </a:lnTo>
                <a:lnTo>
                  <a:pt x="1926" y="814"/>
                </a:lnTo>
                <a:lnTo>
                  <a:pt x="1908" y="810"/>
                </a:lnTo>
                <a:lnTo>
                  <a:pt x="1899" y="808"/>
                </a:lnTo>
                <a:lnTo>
                  <a:pt x="1891" y="806"/>
                </a:lnTo>
                <a:lnTo>
                  <a:pt x="1884" y="803"/>
                </a:lnTo>
                <a:lnTo>
                  <a:pt x="1877" y="799"/>
                </a:lnTo>
                <a:lnTo>
                  <a:pt x="1871" y="797"/>
                </a:lnTo>
                <a:lnTo>
                  <a:pt x="1866" y="793"/>
                </a:lnTo>
                <a:lnTo>
                  <a:pt x="1861" y="790"/>
                </a:lnTo>
                <a:lnTo>
                  <a:pt x="1857" y="784"/>
                </a:lnTo>
                <a:lnTo>
                  <a:pt x="1859" y="788"/>
                </a:lnTo>
                <a:lnTo>
                  <a:pt x="1861" y="793"/>
                </a:lnTo>
                <a:lnTo>
                  <a:pt x="1861" y="797"/>
                </a:lnTo>
                <a:lnTo>
                  <a:pt x="1861" y="801"/>
                </a:lnTo>
                <a:lnTo>
                  <a:pt x="1859" y="804"/>
                </a:lnTo>
                <a:lnTo>
                  <a:pt x="1856" y="808"/>
                </a:lnTo>
                <a:lnTo>
                  <a:pt x="1851" y="812"/>
                </a:lnTo>
                <a:lnTo>
                  <a:pt x="1846" y="815"/>
                </a:lnTo>
                <a:lnTo>
                  <a:pt x="1841" y="817"/>
                </a:lnTo>
                <a:lnTo>
                  <a:pt x="1834" y="821"/>
                </a:lnTo>
                <a:lnTo>
                  <a:pt x="1825" y="823"/>
                </a:lnTo>
                <a:lnTo>
                  <a:pt x="1817" y="827"/>
                </a:lnTo>
                <a:lnTo>
                  <a:pt x="1807" y="828"/>
                </a:lnTo>
                <a:lnTo>
                  <a:pt x="1797" y="830"/>
                </a:lnTo>
                <a:lnTo>
                  <a:pt x="1787" y="832"/>
                </a:lnTo>
                <a:lnTo>
                  <a:pt x="1775" y="832"/>
                </a:lnTo>
                <a:lnTo>
                  <a:pt x="1752" y="834"/>
                </a:lnTo>
                <a:lnTo>
                  <a:pt x="1728" y="834"/>
                </a:lnTo>
                <a:lnTo>
                  <a:pt x="1706" y="832"/>
                </a:lnTo>
                <a:lnTo>
                  <a:pt x="1696" y="830"/>
                </a:lnTo>
                <a:lnTo>
                  <a:pt x="1686" y="828"/>
                </a:lnTo>
                <a:lnTo>
                  <a:pt x="1676" y="827"/>
                </a:lnTo>
                <a:lnTo>
                  <a:pt x="1668" y="823"/>
                </a:lnTo>
                <a:lnTo>
                  <a:pt x="1659" y="821"/>
                </a:lnTo>
                <a:lnTo>
                  <a:pt x="1651" y="817"/>
                </a:lnTo>
                <a:lnTo>
                  <a:pt x="1644" y="814"/>
                </a:lnTo>
                <a:lnTo>
                  <a:pt x="1638" y="812"/>
                </a:lnTo>
                <a:lnTo>
                  <a:pt x="1633" y="808"/>
                </a:lnTo>
                <a:lnTo>
                  <a:pt x="1629" y="804"/>
                </a:lnTo>
                <a:lnTo>
                  <a:pt x="1628" y="806"/>
                </a:lnTo>
                <a:lnTo>
                  <a:pt x="1624" y="810"/>
                </a:lnTo>
                <a:lnTo>
                  <a:pt x="1621" y="814"/>
                </a:lnTo>
                <a:lnTo>
                  <a:pt x="1616" y="815"/>
                </a:lnTo>
                <a:lnTo>
                  <a:pt x="1611" y="819"/>
                </a:lnTo>
                <a:lnTo>
                  <a:pt x="1604" y="821"/>
                </a:lnTo>
                <a:lnTo>
                  <a:pt x="1597" y="825"/>
                </a:lnTo>
                <a:lnTo>
                  <a:pt x="1589" y="827"/>
                </a:lnTo>
                <a:lnTo>
                  <a:pt x="1581" y="828"/>
                </a:lnTo>
                <a:lnTo>
                  <a:pt x="1571" y="830"/>
                </a:lnTo>
                <a:lnTo>
                  <a:pt x="1561" y="830"/>
                </a:lnTo>
                <a:lnTo>
                  <a:pt x="1551" y="832"/>
                </a:lnTo>
                <a:lnTo>
                  <a:pt x="1529" y="834"/>
                </a:lnTo>
                <a:lnTo>
                  <a:pt x="1507" y="834"/>
                </a:lnTo>
                <a:lnTo>
                  <a:pt x="1488" y="832"/>
                </a:lnTo>
                <a:lnTo>
                  <a:pt x="1473" y="830"/>
                </a:lnTo>
                <a:lnTo>
                  <a:pt x="1458" y="828"/>
                </a:lnTo>
                <a:lnTo>
                  <a:pt x="1443" y="827"/>
                </a:lnTo>
                <a:lnTo>
                  <a:pt x="1438" y="825"/>
                </a:lnTo>
                <a:lnTo>
                  <a:pt x="1431" y="823"/>
                </a:lnTo>
                <a:lnTo>
                  <a:pt x="1426" y="821"/>
                </a:lnTo>
                <a:lnTo>
                  <a:pt x="1421" y="819"/>
                </a:lnTo>
                <a:lnTo>
                  <a:pt x="1416" y="815"/>
                </a:lnTo>
                <a:lnTo>
                  <a:pt x="1413" y="814"/>
                </a:lnTo>
                <a:lnTo>
                  <a:pt x="1410" y="812"/>
                </a:lnTo>
                <a:lnTo>
                  <a:pt x="1408" y="810"/>
                </a:lnTo>
                <a:lnTo>
                  <a:pt x="1401" y="814"/>
                </a:lnTo>
                <a:lnTo>
                  <a:pt x="1393" y="817"/>
                </a:lnTo>
                <a:lnTo>
                  <a:pt x="1385" y="819"/>
                </a:lnTo>
                <a:lnTo>
                  <a:pt x="1376" y="823"/>
                </a:lnTo>
                <a:lnTo>
                  <a:pt x="1364" y="825"/>
                </a:lnTo>
                <a:lnTo>
                  <a:pt x="1354" y="828"/>
                </a:lnTo>
                <a:lnTo>
                  <a:pt x="1343" y="830"/>
                </a:lnTo>
                <a:lnTo>
                  <a:pt x="1329" y="832"/>
                </a:lnTo>
                <a:lnTo>
                  <a:pt x="1316" y="832"/>
                </a:lnTo>
                <a:lnTo>
                  <a:pt x="1302" y="834"/>
                </a:lnTo>
                <a:lnTo>
                  <a:pt x="1276" y="834"/>
                </a:lnTo>
                <a:lnTo>
                  <a:pt x="1247" y="834"/>
                </a:lnTo>
                <a:lnTo>
                  <a:pt x="1219" y="832"/>
                </a:lnTo>
                <a:lnTo>
                  <a:pt x="1204" y="828"/>
                </a:lnTo>
                <a:lnTo>
                  <a:pt x="1188" y="827"/>
                </a:lnTo>
                <a:lnTo>
                  <a:pt x="1175" y="823"/>
                </a:lnTo>
                <a:lnTo>
                  <a:pt x="1163" y="819"/>
                </a:lnTo>
                <a:lnTo>
                  <a:pt x="1158" y="817"/>
                </a:lnTo>
                <a:lnTo>
                  <a:pt x="1153" y="815"/>
                </a:lnTo>
                <a:lnTo>
                  <a:pt x="1148" y="814"/>
                </a:lnTo>
                <a:lnTo>
                  <a:pt x="1145" y="810"/>
                </a:lnTo>
                <a:lnTo>
                  <a:pt x="1141" y="808"/>
                </a:lnTo>
                <a:lnTo>
                  <a:pt x="1138" y="806"/>
                </a:lnTo>
                <a:lnTo>
                  <a:pt x="1135" y="803"/>
                </a:lnTo>
                <a:lnTo>
                  <a:pt x="1133" y="801"/>
                </a:lnTo>
                <a:lnTo>
                  <a:pt x="1125" y="803"/>
                </a:lnTo>
                <a:lnTo>
                  <a:pt x="1115" y="806"/>
                </a:lnTo>
                <a:lnTo>
                  <a:pt x="1105" y="808"/>
                </a:lnTo>
                <a:lnTo>
                  <a:pt x="1095" y="808"/>
                </a:lnTo>
                <a:lnTo>
                  <a:pt x="1083" y="810"/>
                </a:lnTo>
                <a:lnTo>
                  <a:pt x="1071" y="810"/>
                </a:lnTo>
                <a:lnTo>
                  <a:pt x="1046" y="810"/>
                </a:lnTo>
                <a:lnTo>
                  <a:pt x="1021" y="810"/>
                </a:lnTo>
                <a:lnTo>
                  <a:pt x="997" y="806"/>
                </a:lnTo>
                <a:lnTo>
                  <a:pt x="986" y="804"/>
                </a:lnTo>
                <a:lnTo>
                  <a:pt x="974" y="803"/>
                </a:lnTo>
                <a:lnTo>
                  <a:pt x="962" y="801"/>
                </a:lnTo>
                <a:lnTo>
                  <a:pt x="952" y="797"/>
                </a:lnTo>
                <a:lnTo>
                  <a:pt x="945" y="795"/>
                </a:lnTo>
                <a:lnTo>
                  <a:pt x="939" y="793"/>
                </a:lnTo>
                <a:lnTo>
                  <a:pt x="934" y="792"/>
                </a:lnTo>
                <a:lnTo>
                  <a:pt x="929" y="790"/>
                </a:lnTo>
                <a:lnTo>
                  <a:pt x="924" y="788"/>
                </a:lnTo>
                <a:lnTo>
                  <a:pt x="919" y="784"/>
                </a:lnTo>
                <a:lnTo>
                  <a:pt x="915" y="782"/>
                </a:lnTo>
                <a:lnTo>
                  <a:pt x="912" y="781"/>
                </a:lnTo>
                <a:lnTo>
                  <a:pt x="908" y="777"/>
                </a:lnTo>
                <a:lnTo>
                  <a:pt x="907" y="775"/>
                </a:lnTo>
                <a:lnTo>
                  <a:pt x="905" y="773"/>
                </a:lnTo>
                <a:lnTo>
                  <a:pt x="903" y="770"/>
                </a:lnTo>
                <a:lnTo>
                  <a:pt x="902" y="768"/>
                </a:lnTo>
                <a:lnTo>
                  <a:pt x="902" y="766"/>
                </a:lnTo>
                <a:lnTo>
                  <a:pt x="902" y="762"/>
                </a:lnTo>
                <a:lnTo>
                  <a:pt x="903" y="760"/>
                </a:lnTo>
                <a:lnTo>
                  <a:pt x="902" y="762"/>
                </a:lnTo>
                <a:lnTo>
                  <a:pt x="898" y="766"/>
                </a:lnTo>
                <a:lnTo>
                  <a:pt x="895" y="768"/>
                </a:lnTo>
                <a:lnTo>
                  <a:pt x="890" y="770"/>
                </a:lnTo>
                <a:lnTo>
                  <a:pt x="885" y="773"/>
                </a:lnTo>
                <a:lnTo>
                  <a:pt x="878" y="775"/>
                </a:lnTo>
                <a:lnTo>
                  <a:pt x="872" y="777"/>
                </a:lnTo>
                <a:lnTo>
                  <a:pt x="863" y="777"/>
                </a:lnTo>
                <a:lnTo>
                  <a:pt x="855" y="779"/>
                </a:lnTo>
                <a:lnTo>
                  <a:pt x="846" y="781"/>
                </a:lnTo>
                <a:lnTo>
                  <a:pt x="836" y="781"/>
                </a:lnTo>
                <a:lnTo>
                  <a:pt x="826" y="781"/>
                </a:lnTo>
                <a:lnTo>
                  <a:pt x="816" y="782"/>
                </a:lnTo>
                <a:lnTo>
                  <a:pt x="805" y="782"/>
                </a:lnTo>
                <a:lnTo>
                  <a:pt x="783" y="781"/>
                </a:lnTo>
                <a:lnTo>
                  <a:pt x="771" y="779"/>
                </a:lnTo>
                <a:lnTo>
                  <a:pt x="759" y="779"/>
                </a:lnTo>
                <a:lnTo>
                  <a:pt x="749" y="777"/>
                </a:lnTo>
                <a:lnTo>
                  <a:pt x="739" y="775"/>
                </a:lnTo>
                <a:lnTo>
                  <a:pt x="729" y="773"/>
                </a:lnTo>
                <a:lnTo>
                  <a:pt x="721" y="771"/>
                </a:lnTo>
                <a:lnTo>
                  <a:pt x="712" y="770"/>
                </a:lnTo>
                <a:lnTo>
                  <a:pt x="706" y="766"/>
                </a:lnTo>
                <a:lnTo>
                  <a:pt x="699" y="764"/>
                </a:lnTo>
                <a:lnTo>
                  <a:pt x="692" y="762"/>
                </a:lnTo>
                <a:lnTo>
                  <a:pt x="687" y="759"/>
                </a:lnTo>
                <a:lnTo>
                  <a:pt x="684" y="757"/>
                </a:lnTo>
                <a:lnTo>
                  <a:pt x="680" y="753"/>
                </a:lnTo>
                <a:lnTo>
                  <a:pt x="679" y="749"/>
                </a:lnTo>
                <a:lnTo>
                  <a:pt x="677" y="748"/>
                </a:lnTo>
                <a:lnTo>
                  <a:pt x="679" y="744"/>
                </a:lnTo>
                <a:lnTo>
                  <a:pt x="679" y="742"/>
                </a:lnTo>
                <a:lnTo>
                  <a:pt x="680" y="740"/>
                </a:lnTo>
                <a:lnTo>
                  <a:pt x="682" y="738"/>
                </a:lnTo>
                <a:lnTo>
                  <a:pt x="685" y="737"/>
                </a:lnTo>
                <a:lnTo>
                  <a:pt x="687" y="735"/>
                </a:lnTo>
                <a:lnTo>
                  <a:pt x="692" y="733"/>
                </a:lnTo>
                <a:lnTo>
                  <a:pt x="696" y="733"/>
                </a:lnTo>
                <a:lnTo>
                  <a:pt x="701" y="731"/>
                </a:lnTo>
                <a:lnTo>
                  <a:pt x="687" y="733"/>
                </a:lnTo>
                <a:lnTo>
                  <a:pt x="675" y="735"/>
                </a:lnTo>
                <a:lnTo>
                  <a:pt x="662" y="737"/>
                </a:lnTo>
                <a:lnTo>
                  <a:pt x="649" y="737"/>
                </a:lnTo>
                <a:lnTo>
                  <a:pt x="635" y="737"/>
                </a:lnTo>
                <a:lnTo>
                  <a:pt x="622" y="737"/>
                </a:lnTo>
                <a:lnTo>
                  <a:pt x="610" y="735"/>
                </a:lnTo>
                <a:lnTo>
                  <a:pt x="597" y="733"/>
                </a:lnTo>
                <a:lnTo>
                  <a:pt x="585" y="731"/>
                </a:lnTo>
                <a:lnTo>
                  <a:pt x="573" y="729"/>
                </a:lnTo>
                <a:lnTo>
                  <a:pt x="563" y="726"/>
                </a:lnTo>
                <a:lnTo>
                  <a:pt x="553" y="722"/>
                </a:lnTo>
                <a:lnTo>
                  <a:pt x="543" y="718"/>
                </a:lnTo>
                <a:lnTo>
                  <a:pt x="535" y="715"/>
                </a:lnTo>
                <a:lnTo>
                  <a:pt x="526" y="709"/>
                </a:lnTo>
                <a:lnTo>
                  <a:pt x="520" y="703"/>
                </a:lnTo>
                <a:lnTo>
                  <a:pt x="514" y="698"/>
                </a:lnTo>
                <a:lnTo>
                  <a:pt x="511" y="694"/>
                </a:lnTo>
                <a:lnTo>
                  <a:pt x="508" y="689"/>
                </a:lnTo>
                <a:lnTo>
                  <a:pt x="506" y="683"/>
                </a:lnTo>
                <a:lnTo>
                  <a:pt x="506" y="678"/>
                </a:lnTo>
                <a:lnTo>
                  <a:pt x="506" y="672"/>
                </a:lnTo>
                <a:lnTo>
                  <a:pt x="508" y="667"/>
                </a:lnTo>
                <a:lnTo>
                  <a:pt x="511" y="663"/>
                </a:lnTo>
                <a:lnTo>
                  <a:pt x="498" y="667"/>
                </a:lnTo>
                <a:lnTo>
                  <a:pt x="484" y="670"/>
                </a:lnTo>
                <a:lnTo>
                  <a:pt x="471" y="672"/>
                </a:lnTo>
                <a:lnTo>
                  <a:pt x="457" y="674"/>
                </a:lnTo>
                <a:lnTo>
                  <a:pt x="442" y="676"/>
                </a:lnTo>
                <a:lnTo>
                  <a:pt x="427" y="678"/>
                </a:lnTo>
                <a:lnTo>
                  <a:pt x="412" y="680"/>
                </a:lnTo>
                <a:lnTo>
                  <a:pt x="399" y="680"/>
                </a:lnTo>
                <a:lnTo>
                  <a:pt x="384" y="680"/>
                </a:lnTo>
                <a:lnTo>
                  <a:pt x="369" y="678"/>
                </a:lnTo>
                <a:lnTo>
                  <a:pt x="354" y="676"/>
                </a:lnTo>
                <a:lnTo>
                  <a:pt x="340" y="674"/>
                </a:lnTo>
                <a:lnTo>
                  <a:pt x="325" y="672"/>
                </a:lnTo>
                <a:lnTo>
                  <a:pt x="312" y="670"/>
                </a:lnTo>
                <a:lnTo>
                  <a:pt x="298" y="667"/>
                </a:lnTo>
                <a:lnTo>
                  <a:pt x="287" y="663"/>
                </a:lnTo>
                <a:lnTo>
                  <a:pt x="268" y="658"/>
                </a:lnTo>
                <a:lnTo>
                  <a:pt x="251" y="652"/>
                </a:lnTo>
                <a:lnTo>
                  <a:pt x="236" y="647"/>
                </a:lnTo>
                <a:lnTo>
                  <a:pt x="223" y="641"/>
                </a:lnTo>
                <a:lnTo>
                  <a:pt x="209" y="636"/>
                </a:lnTo>
                <a:lnTo>
                  <a:pt x="198" y="630"/>
                </a:lnTo>
                <a:lnTo>
                  <a:pt x="188" y="625"/>
                </a:lnTo>
                <a:lnTo>
                  <a:pt x="179" y="617"/>
                </a:lnTo>
                <a:lnTo>
                  <a:pt x="173" y="612"/>
                </a:lnTo>
                <a:lnTo>
                  <a:pt x="166" y="606"/>
                </a:lnTo>
                <a:lnTo>
                  <a:pt x="161" y="599"/>
                </a:lnTo>
                <a:lnTo>
                  <a:pt x="159" y="592"/>
                </a:lnTo>
                <a:lnTo>
                  <a:pt x="157" y="586"/>
                </a:lnTo>
                <a:lnTo>
                  <a:pt x="157" y="579"/>
                </a:lnTo>
                <a:lnTo>
                  <a:pt x="159" y="573"/>
                </a:lnTo>
                <a:lnTo>
                  <a:pt x="162" y="566"/>
                </a:lnTo>
                <a:lnTo>
                  <a:pt x="149" y="568"/>
                </a:lnTo>
                <a:lnTo>
                  <a:pt x="137" y="568"/>
                </a:lnTo>
                <a:lnTo>
                  <a:pt x="124" y="568"/>
                </a:lnTo>
                <a:lnTo>
                  <a:pt x="112" y="568"/>
                </a:lnTo>
                <a:lnTo>
                  <a:pt x="99" y="568"/>
                </a:lnTo>
                <a:lnTo>
                  <a:pt x="87" y="566"/>
                </a:lnTo>
                <a:lnTo>
                  <a:pt x="75" y="564"/>
                </a:lnTo>
                <a:lnTo>
                  <a:pt x="65" y="560"/>
                </a:lnTo>
                <a:lnTo>
                  <a:pt x="55" y="558"/>
                </a:lnTo>
                <a:lnTo>
                  <a:pt x="45" y="555"/>
                </a:lnTo>
                <a:lnTo>
                  <a:pt x="37" y="551"/>
                </a:lnTo>
                <a:lnTo>
                  <a:pt x="28" y="547"/>
                </a:lnTo>
                <a:lnTo>
                  <a:pt x="20" y="544"/>
                </a:lnTo>
                <a:lnTo>
                  <a:pt x="15" y="538"/>
                </a:lnTo>
                <a:lnTo>
                  <a:pt x="8" y="533"/>
                </a:lnTo>
                <a:lnTo>
                  <a:pt x="5" y="527"/>
                </a:lnTo>
                <a:lnTo>
                  <a:pt x="3" y="524"/>
                </a:lnTo>
                <a:lnTo>
                  <a:pt x="2" y="520"/>
                </a:lnTo>
                <a:lnTo>
                  <a:pt x="0" y="516"/>
                </a:lnTo>
                <a:lnTo>
                  <a:pt x="0" y="513"/>
                </a:lnTo>
                <a:lnTo>
                  <a:pt x="0" y="507"/>
                </a:lnTo>
                <a:lnTo>
                  <a:pt x="2" y="503"/>
                </a:lnTo>
                <a:lnTo>
                  <a:pt x="3" y="500"/>
                </a:lnTo>
                <a:lnTo>
                  <a:pt x="7" y="496"/>
                </a:lnTo>
                <a:lnTo>
                  <a:pt x="8" y="492"/>
                </a:lnTo>
                <a:lnTo>
                  <a:pt x="12" y="489"/>
                </a:lnTo>
                <a:lnTo>
                  <a:pt x="17" y="485"/>
                </a:lnTo>
                <a:lnTo>
                  <a:pt x="22" y="481"/>
                </a:lnTo>
                <a:lnTo>
                  <a:pt x="27" y="478"/>
                </a:lnTo>
                <a:lnTo>
                  <a:pt x="32" y="476"/>
                </a:lnTo>
                <a:lnTo>
                  <a:pt x="38" y="472"/>
                </a:lnTo>
                <a:lnTo>
                  <a:pt x="45" y="470"/>
                </a:lnTo>
                <a:lnTo>
                  <a:pt x="38" y="467"/>
                </a:lnTo>
                <a:lnTo>
                  <a:pt x="32" y="463"/>
                </a:lnTo>
                <a:lnTo>
                  <a:pt x="27" y="459"/>
                </a:lnTo>
                <a:lnTo>
                  <a:pt x="22" y="456"/>
                </a:lnTo>
                <a:lnTo>
                  <a:pt x="18" y="452"/>
                </a:lnTo>
                <a:lnTo>
                  <a:pt x="17" y="448"/>
                </a:lnTo>
                <a:lnTo>
                  <a:pt x="17" y="445"/>
                </a:lnTo>
                <a:lnTo>
                  <a:pt x="17" y="441"/>
                </a:lnTo>
                <a:lnTo>
                  <a:pt x="18" y="437"/>
                </a:lnTo>
                <a:lnTo>
                  <a:pt x="20" y="435"/>
                </a:lnTo>
                <a:lnTo>
                  <a:pt x="23" y="432"/>
                </a:lnTo>
                <a:lnTo>
                  <a:pt x="28" y="428"/>
                </a:lnTo>
                <a:lnTo>
                  <a:pt x="35" y="426"/>
                </a:lnTo>
                <a:lnTo>
                  <a:pt x="42" y="423"/>
                </a:lnTo>
                <a:lnTo>
                  <a:pt x="50" y="421"/>
                </a:lnTo>
                <a:lnTo>
                  <a:pt x="59" y="419"/>
                </a:lnTo>
                <a:lnTo>
                  <a:pt x="60" y="419"/>
                </a:lnTo>
                <a:lnTo>
                  <a:pt x="62" y="419"/>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5610" name="Freeform 12"/>
          <p:cNvSpPr/>
          <p:nvPr/>
        </p:nvSpPr>
        <p:spPr bwMode="auto">
          <a:xfrm>
            <a:off x="5957888" y="2966690"/>
            <a:ext cx="2257425" cy="660400"/>
          </a:xfrm>
          <a:custGeom>
            <a:avLst/>
            <a:gdLst>
              <a:gd name="T0" fmla="*/ 2147483646 w 2843"/>
              <a:gd name="T1" fmla="*/ 2147483646 h 834"/>
              <a:gd name="T2" fmla="*/ 2147483646 w 2843"/>
              <a:gd name="T3" fmla="*/ 2147483646 h 834"/>
              <a:gd name="T4" fmla="*/ 2147483646 w 2843"/>
              <a:gd name="T5" fmla="*/ 2147483646 h 834"/>
              <a:gd name="T6" fmla="*/ 2147483646 w 2843"/>
              <a:gd name="T7" fmla="*/ 2147483646 h 834"/>
              <a:gd name="T8" fmla="*/ 2147483646 w 2843"/>
              <a:gd name="T9" fmla="*/ 2147483646 h 834"/>
              <a:gd name="T10" fmla="*/ 2147483646 w 2843"/>
              <a:gd name="T11" fmla="*/ 2147483646 h 834"/>
              <a:gd name="T12" fmla="*/ 2147483646 w 2843"/>
              <a:gd name="T13" fmla="*/ 2147483646 h 834"/>
              <a:gd name="T14" fmla="*/ 2147483646 w 2843"/>
              <a:gd name="T15" fmla="*/ 2147483646 h 834"/>
              <a:gd name="T16" fmla="*/ 2147483646 w 2843"/>
              <a:gd name="T17" fmla="*/ 2147483646 h 834"/>
              <a:gd name="T18" fmla="*/ 2147483646 w 2843"/>
              <a:gd name="T19" fmla="*/ 2147483646 h 834"/>
              <a:gd name="T20" fmla="*/ 2147483646 w 2843"/>
              <a:gd name="T21" fmla="*/ 2147483646 h 834"/>
              <a:gd name="T22" fmla="*/ 2147483646 w 2843"/>
              <a:gd name="T23" fmla="*/ 2147483646 h 834"/>
              <a:gd name="T24" fmla="*/ 2147483646 w 2843"/>
              <a:gd name="T25" fmla="*/ 2147483646 h 834"/>
              <a:gd name="T26" fmla="*/ 2147483646 w 2843"/>
              <a:gd name="T27" fmla="*/ 0 h 834"/>
              <a:gd name="T28" fmla="*/ 2147483646 w 2843"/>
              <a:gd name="T29" fmla="*/ 2147483646 h 834"/>
              <a:gd name="T30" fmla="*/ 2147483646 w 2843"/>
              <a:gd name="T31" fmla="*/ 2147483646 h 834"/>
              <a:gd name="T32" fmla="*/ 2147483646 w 2843"/>
              <a:gd name="T33" fmla="*/ 2147483646 h 834"/>
              <a:gd name="T34" fmla="*/ 2147483646 w 2843"/>
              <a:gd name="T35" fmla="*/ 2147483646 h 834"/>
              <a:gd name="T36" fmla="*/ 2147483646 w 2843"/>
              <a:gd name="T37" fmla="*/ 2147483646 h 834"/>
              <a:gd name="T38" fmla="*/ 2147483646 w 2843"/>
              <a:gd name="T39" fmla="*/ 2147483646 h 834"/>
              <a:gd name="T40" fmla="*/ 2147483646 w 2843"/>
              <a:gd name="T41" fmla="*/ 2147483646 h 834"/>
              <a:gd name="T42" fmla="*/ 2147483646 w 2843"/>
              <a:gd name="T43" fmla="*/ 2147483646 h 834"/>
              <a:gd name="T44" fmla="*/ 2147483646 w 2843"/>
              <a:gd name="T45" fmla="*/ 2147483646 h 834"/>
              <a:gd name="T46" fmla="*/ 2147483646 w 2843"/>
              <a:gd name="T47" fmla="*/ 2147483646 h 834"/>
              <a:gd name="T48" fmla="*/ 2147483646 w 2843"/>
              <a:gd name="T49" fmla="*/ 2147483646 h 834"/>
              <a:gd name="T50" fmla="*/ 2147483646 w 2843"/>
              <a:gd name="T51" fmla="*/ 2147483646 h 834"/>
              <a:gd name="T52" fmla="*/ 2147483646 w 2843"/>
              <a:gd name="T53" fmla="*/ 2147483646 h 834"/>
              <a:gd name="T54" fmla="*/ 2147483646 w 2843"/>
              <a:gd name="T55" fmla="*/ 2147483646 h 834"/>
              <a:gd name="T56" fmla="*/ 2147483646 w 2843"/>
              <a:gd name="T57" fmla="*/ 2147483646 h 834"/>
              <a:gd name="T58" fmla="*/ 2147483646 w 2843"/>
              <a:gd name="T59" fmla="*/ 2147483646 h 834"/>
              <a:gd name="T60" fmla="*/ 2147483646 w 2843"/>
              <a:gd name="T61" fmla="*/ 2147483646 h 834"/>
              <a:gd name="T62" fmla="*/ 2147483646 w 2843"/>
              <a:gd name="T63" fmla="*/ 2147483646 h 834"/>
              <a:gd name="T64" fmla="*/ 2147483646 w 2843"/>
              <a:gd name="T65" fmla="*/ 2147483646 h 834"/>
              <a:gd name="T66" fmla="*/ 2147483646 w 2843"/>
              <a:gd name="T67" fmla="*/ 2147483646 h 834"/>
              <a:gd name="T68" fmla="*/ 2147483646 w 2843"/>
              <a:gd name="T69" fmla="*/ 2147483646 h 834"/>
              <a:gd name="T70" fmla="*/ 2147483646 w 2843"/>
              <a:gd name="T71" fmla="*/ 2147483646 h 834"/>
              <a:gd name="T72" fmla="*/ 2147483646 w 2843"/>
              <a:gd name="T73" fmla="*/ 2147483646 h 834"/>
              <a:gd name="T74" fmla="*/ 2147483646 w 2843"/>
              <a:gd name="T75" fmla="*/ 2147483646 h 834"/>
              <a:gd name="T76" fmla="*/ 2147483646 w 2843"/>
              <a:gd name="T77" fmla="*/ 2147483646 h 834"/>
              <a:gd name="T78" fmla="*/ 2147483646 w 2843"/>
              <a:gd name="T79" fmla="*/ 2147483646 h 834"/>
              <a:gd name="T80" fmla="*/ 2147483646 w 2843"/>
              <a:gd name="T81" fmla="*/ 2147483646 h 834"/>
              <a:gd name="T82" fmla="*/ 2147483646 w 2843"/>
              <a:gd name="T83" fmla="*/ 2147483646 h 834"/>
              <a:gd name="T84" fmla="*/ 2147483646 w 2843"/>
              <a:gd name="T85" fmla="*/ 2147483646 h 834"/>
              <a:gd name="T86" fmla="*/ 2147483646 w 2843"/>
              <a:gd name="T87" fmla="*/ 2147483646 h 834"/>
              <a:gd name="T88" fmla="*/ 2147483646 w 2843"/>
              <a:gd name="T89" fmla="*/ 2147483646 h 834"/>
              <a:gd name="T90" fmla="*/ 2147483646 w 2843"/>
              <a:gd name="T91" fmla="*/ 2147483646 h 834"/>
              <a:gd name="T92" fmla="*/ 2147483646 w 2843"/>
              <a:gd name="T93" fmla="*/ 2147483646 h 834"/>
              <a:gd name="T94" fmla="*/ 2147483646 w 2843"/>
              <a:gd name="T95" fmla="*/ 2147483646 h 834"/>
              <a:gd name="T96" fmla="*/ 2147483646 w 2843"/>
              <a:gd name="T97" fmla="*/ 2147483646 h 834"/>
              <a:gd name="T98" fmla="*/ 2147483646 w 2843"/>
              <a:gd name="T99" fmla="*/ 2147483646 h 834"/>
              <a:gd name="T100" fmla="*/ 2147483646 w 2843"/>
              <a:gd name="T101" fmla="*/ 2147483646 h 834"/>
              <a:gd name="T102" fmla="*/ 2147483646 w 2843"/>
              <a:gd name="T103" fmla="*/ 2147483646 h 834"/>
              <a:gd name="T104" fmla="*/ 2147483646 w 2843"/>
              <a:gd name="T105" fmla="*/ 2147483646 h 834"/>
              <a:gd name="T106" fmla="*/ 2147483646 w 2843"/>
              <a:gd name="T107" fmla="*/ 2147483646 h 834"/>
              <a:gd name="T108" fmla="*/ 2147483646 w 2843"/>
              <a:gd name="T109" fmla="*/ 2147483646 h 834"/>
              <a:gd name="T110" fmla="*/ 2147483646 w 2843"/>
              <a:gd name="T111" fmla="*/ 2147483646 h 834"/>
              <a:gd name="T112" fmla="*/ 2147483646 w 2843"/>
              <a:gd name="T113" fmla="*/ 2147483646 h 834"/>
              <a:gd name="T114" fmla="*/ 2147483646 w 2843"/>
              <a:gd name="T115" fmla="*/ 2147483646 h 834"/>
              <a:gd name="T116" fmla="*/ 0 w 2843"/>
              <a:gd name="T117" fmla="*/ 2147483646 h 834"/>
              <a:gd name="T118" fmla="*/ 2147483646 w 2843"/>
              <a:gd name="T119" fmla="*/ 2147483646 h 834"/>
              <a:gd name="T120" fmla="*/ 2147483646 w 2843"/>
              <a:gd name="T121" fmla="*/ 2147483646 h 834"/>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843"/>
              <a:gd name="T184" fmla="*/ 0 h 834"/>
              <a:gd name="T185" fmla="*/ 2843 w 2843"/>
              <a:gd name="T186" fmla="*/ 834 h 834"/>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843" h="834">
                <a:moveTo>
                  <a:pt x="62" y="419"/>
                </a:moveTo>
                <a:lnTo>
                  <a:pt x="52" y="415"/>
                </a:lnTo>
                <a:lnTo>
                  <a:pt x="43" y="412"/>
                </a:lnTo>
                <a:lnTo>
                  <a:pt x="35" y="408"/>
                </a:lnTo>
                <a:lnTo>
                  <a:pt x="27" y="404"/>
                </a:lnTo>
                <a:lnTo>
                  <a:pt x="22" y="401"/>
                </a:lnTo>
                <a:lnTo>
                  <a:pt x="17" y="395"/>
                </a:lnTo>
                <a:lnTo>
                  <a:pt x="12" y="391"/>
                </a:lnTo>
                <a:lnTo>
                  <a:pt x="8" y="386"/>
                </a:lnTo>
                <a:lnTo>
                  <a:pt x="7" y="382"/>
                </a:lnTo>
                <a:lnTo>
                  <a:pt x="5" y="377"/>
                </a:lnTo>
                <a:lnTo>
                  <a:pt x="5" y="371"/>
                </a:lnTo>
                <a:lnTo>
                  <a:pt x="7" y="366"/>
                </a:lnTo>
                <a:lnTo>
                  <a:pt x="8" y="362"/>
                </a:lnTo>
                <a:lnTo>
                  <a:pt x="12" y="356"/>
                </a:lnTo>
                <a:lnTo>
                  <a:pt x="17" y="351"/>
                </a:lnTo>
                <a:lnTo>
                  <a:pt x="22" y="347"/>
                </a:lnTo>
                <a:lnTo>
                  <a:pt x="30" y="342"/>
                </a:lnTo>
                <a:lnTo>
                  <a:pt x="37" y="338"/>
                </a:lnTo>
                <a:lnTo>
                  <a:pt x="47" y="334"/>
                </a:lnTo>
                <a:lnTo>
                  <a:pt x="57" y="331"/>
                </a:lnTo>
                <a:lnTo>
                  <a:pt x="67" y="329"/>
                </a:lnTo>
                <a:lnTo>
                  <a:pt x="77" y="325"/>
                </a:lnTo>
                <a:lnTo>
                  <a:pt x="89" y="323"/>
                </a:lnTo>
                <a:lnTo>
                  <a:pt x="102" y="323"/>
                </a:lnTo>
                <a:lnTo>
                  <a:pt x="94" y="316"/>
                </a:lnTo>
                <a:lnTo>
                  <a:pt x="87" y="311"/>
                </a:lnTo>
                <a:lnTo>
                  <a:pt x="84" y="303"/>
                </a:lnTo>
                <a:lnTo>
                  <a:pt x="80" y="298"/>
                </a:lnTo>
                <a:lnTo>
                  <a:pt x="79" y="290"/>
                </a:lnTo>
                <a:lnTo>
                  <a:pt x="79" y="283"/>
                </a:lnTo>
                <a:lnTo>
                  <a:pt x="80" y="276"/>
                </a:lnTo>
                <a:lnTo>
                  <a:pt x="82" y="270"/>
                </a:lnTo>
                <a:lnTo>
                  <a:pt x="87" y="263"/>
                </a:lnTo>
                <a:lnTo>
                  <a:pt x="92" y="257"/>
                </a:lnTo>
                <a:lnTo>
                  <a:pt x="100" y="252"/>
                </a:lnTo>
                <a:lnTo>
                  <a:pt x="109" y="246"/>
                </a:lnTo>
                <a:lnTo>
                  <a:pt x="119" y="241"/>
                </a:lnTo>
                <a:lnTo>
                  <a:pt x="129" y="235"/>
                </a:lnTo>
                <a:lnTo>
                  <a:pt x="141" y="230"/>
                </a:lnTo>
                <a:lnTo>
                  <a:pt x="156" y="226"/>
                </a:lnTo>
                <a:lnTo>
                  <a:pt x="166" y="224"/>
                </a:lnTo>
                <a:lnTo>
                  <a:pt x="178" y="222"/>
                </a:lnTo>
                <a:lnTo>
                  <a:pt x="203" y="219"/>
                </a:lnTo>
                <a:lnTo>
                  <a:pt x="214" y="217"/>
                </a:lnTo>
                <a:lnTo>
                  <a:pt x="228" y="217"/>
                </a:lnTo>
                <a:lnTo>
                  <a:pt x="241" y="217"/>
                </a:lnTo>
                <a:lnTo>
                  <a:pt x="253" y="217"/>
                </a:lnTo>
                <a:lnTo>
                  <a:pt x="251" y="213"/>
                </a:lnTo>
                <a:lnTo>
                  <a:pt x="250" y="210"/>
                </a:lnTo>
                <a:lnTo>
                  <a:pt x="250" y="204"/>
                </a:lnTo>
                <a:lnTo>
                  <a:pt x="248" y="200"/>
                </a:lnTo>
                <a:lnTo>
                  <a:pt x="248" y="197"/>
                </a:lnTo>
                <a:lnTo>
                  <a:pt x="248" y="193"/>
                </a:lnTo>
                <a:lnTo>
                  <a:pt x="250" y="189"/>
                </a:lnTo>
                <a:lnTo>
                  <a:pt x="251" y="186"/>
                </a:lnTo>
                <a:lnTo>
                  <a:pt x="253" y="180"/>
                </a:lnTo>
                <a:lnTo>
                  <a:pt x="255" y="177"/>
                </a:lnTo>
                <a:lnTo>
                  <a:pt x="260" y="169"/>
                </a:lnTo>
                <a:lnTo>
                  <a:pt x="266" y="162"/>
                </a:lnTo>
                <a:lnTo>
                  <a:pt x="275" y="156"/>
                </a:lnTo>
                <a:lnTo>
                  <a:pt x="285" y="149"/>
                </a:lnTo>
                <a:lnTo>
                  <a:pt x="297" y="144"/>
                </a:lnTo>
                <a:lnTo>
                  <a:pt x="308" y="138"/>
                </a:lnTo>
                <a:lnTo>
                  <a:pt x="323" y="132"/>
                </a:lnTo>
                <a:lnTo>
                  <a:pt x="338" y="129"/>
                </a:lnTo>
                <a:lnTo>
                  <a:pt x="354" y="125"/>
                </a:lnTo>
                <a:lnTo>
                  <a:pt x="370" y="121"/>
                </a:lnTo>
                <a:lnTo>
                  <a:pt x="389" y="120"/>
                </a:lnTo>
                <a:lnTo>
                  <a:pt x="406" y="118"/>
                </a:lnTo>
                <a:lnTo>
                  <a:pt x="421" y="118"/>
                </a:lnTo>
                <a:lnTo>
                  <a:pt x="437" y="118"/>
                </a:lnTo>
                <a:lnTo>
                  <a:pt x="452" y="118"/>
                </a:lnTo>
                <a:lnTo>
                  <a:pt x="468" y="120"/>
                </a:lnTo>
                <a:lnTo>
                  <a:pt x="484" y="121"/>
                </a:lnTo>
                <a:lnTo>
                  <a:pt x="499" y="123"/>
                </a:lnTo>
                <a:lnTo>
                  <a:pt x="513" y="125"/>
                </a:lnTo>
                <a:lnTo>
                  <a:pt x="509" y="120"/>
                </a:lnTo>
                <a:lnTo>
                  <a:pt x="506" y="116"/>
                </a:lnTo>
                <a:lnTo>
                  <a:pt x="503" y="110"/>
                </a:lnTo>
                <a:lnTo>
                  <a:pt x="503" y="105"/>
                </a:lnTo>
                <a:lnTo>
                  <a:pt x="503" y="99"/>
                </a:lnTo>
                <a:lnTo>
                  <a:pt x="504" y="94"/>
                </a:lnTo>
                <a:lnTo>
                  <a:pt x="508" y="88"/>
                </a:lnTo>
                <a:lnTo>
                  <a:pt x="511" y="83"/>
                </a:lnTo>
                <a:lnTo>
                  <a:pt x="516" y="79"/>
                </a:lnTo>
                <a:lnTo>
                  <a:pt x="523" y="74"/>
                </a:lnTo>
                <a:lnTo>
                  <a:pt x="530" y="70"/>
                </a:lnTo>
                <a:lnTo>
                  <a:pt x="536" y="66"/>
                </a:lnTo>
                <a:lnTo>
                  <a:pt x="546" y="63"/>
                </a:lnTo>
                <a:lnTo>
                  <a:pt x="556" y="59"/>
                </a:lnTo>
                <a:lnTo>
                  <a:pt x="566" y="55"/>
                </a:lnTo>
                <a:lnTo>
                  <a:pt x="578" y="54"/>
                </a:lnTo>
                <a:lnTo>
                  <a:pt x="590" y="52"/>
                </a:lnTo>
                <a:lnTo>
                  <a:pt x="602" y="50"/>
                </a:lnTo>
                <a:lnTo>
                  <a:pt x="613" y="50"/>
                </a:lnTo>
                <a:lnTo>
                  <a:pt x="625" y="48"/>
                </a:lnTo>
                <a:lnTo>
                  <a:pt x="637" y="48"/>
                </a:lnTo>
                <a:lnTo>
                  <a:pt x="649" y="50"/>
                </a:lnTo>
                <a:lnTo>
                  <a:pt x="670" y="52"/>
                </a:lnTo>
                <a:lnTo>
                  <a:pt x="680" y="54"/>
                </a:lnTo>
                <a:lnTo>
                  <a:pt x="691" y="55"/>
                </a:lnTo>
                <a:lnTo>
                  <a:pt x="701" y="59"/>
                </a:lnTo>
                <a:lnTo>
                  <a:pt x="711" y="63"/>
                </a:lnTo>
                <a:lnTo>
                  <a:pt x="719" y="66"/>
                </a:lnTo>
                <a:lnTo>
                  <a:pt x="727" y="70"/>
                </a:lnTo>
                <a:lnTo>
                  <a:pt x="734" y="74"/>
                </a:lnTo>
                <a:lnTo>
                  <a:pt x="741" y="79"/>
                </a:lnTo>
                <a:lnTo>
                  <a:pt x="742" y="72"/>
                </a:lnTo>
                <a:lnTo>
                  <a:pt x="746" y="66"/>
                </a:lnTo>
                <a:lnTo>
                  <a:pt x="751" y="61"/>
                </a:lnTo>
                <a:lnTo>
                  <a:pt x="758" y="55"/>
                </a:lnTo>
                <a:lnTo>
                  <a:pt x="764" y="50"/>
                </a:lnTo>
                <a:lnTo>
                  <a:pt x="773" y="46"/>
                </a:lnTo>
                <a:lnTo>
                  <a:pt x="781" y="43"/>
                </a:lnTo>
                <a:lnTo>
                  <a:pt x="791" y="39"/>
                </a:lnTo>
                <a:lnTo>
                  <a:pt x="803" y="35"/>
                </a:lnTo>
                <a:lnTo>
                  <a:pt x="815" y="32"/>
                </a:lnTo>
                <a:lnTo>
                  <a:pt x="826" y="30"/>
                </a:lnTo>
                <a:lnTo>
                  <a:pt x="840" y="28"/>
                </a:lnTo>
                <a:lnTo>
                  <a:pt x="851" y="26"/>
                </a:lnTo>
                <a:lnTo>
                  <a:pt x="865" y="26"/>
                </a:lnTo>
                <a:lnTo>
                  <a:pt x="880" y="26"/>
                </a:lnTo>
                <a:lnTo>
                  <a:pt x="893" y="26"/>
                </a:lnTo>
                <a:lnTo>
                  <a:pt x="907" y="28"/>
                </a:lnTo>
                <a:lnTo>
                  <a:pt x="919" y="28"/>
                </a:lnTo>
                <a:lnTo>
                  <a:pt x="930" y="30"/>
                </a:lnTo>
                <a:lnTo>
                  <a:pt x="942" y="33"/>
                </a:lnTo>
                <a:lnTo>
                  <a:pt x="954" y="35"/>
                </a:lnTo>
                <a:lnTo>
                  <a:pt x="964" y="39"/>
                </a:lnTo>
                <a:lnTo>
                  <a:pt x="974" y="43"/>
                </a:lnTo>
                <a:lnTo>
                  <a:pt x="982" y="48"/>
                </a:lnTo>
                <a:lnTo>
                  <a:pt x="991" y="43"/>
                </a:lnTo>
                <a:lnTo>
                  <a:pt x="1001" y="39"/>
                </a:lnTo>
                <a:lnTo>
                  <a:pt x="1021" y="30"/>
                </a:lnTo>
                <a:lnTo>
                  <a:pt x="1041" y="22"/>
                </a:lnTo>
                <a:lnTo>
                  <a:pt x="1064" y="17"/>
                </a:lnTo>
                <a:lnTo>
                  <a:pt x="1088" y="11"/>
                </a:lnTo>
                <a:lnTo>
                  <a:pt x="1111" y="8"/>
                </a:lnTo>
                <a:lnTo>
                  <a:pt x="1136" y="6"/>
                </a:lnTo>
                <a:lnTo>
                  <a:pt x="1162" y="4"/>
                </a:lnTo>
                <a:lnTo>
                  <a:pt x="1188" y="2"/>
                </a:lnTo>
                <a:lnTo>
                  <a:pt x="1214" y="2"/>
                </a:lnTo>
                <a:lnTo>
                  <a:pt x="1239" y="4"/>
                </a:lnTo>
                <a:lnTo>
                  <a:pt x="1266" y="6"/>
                </a:lnTo>
                <a:lnTo>
                  <a:pt x="1291" y="9"/>
                </a:lnTo>
                <a:lnTo>
                  <a:pt x="1314" y="15"/>
                </a:lnTo>
                <a:lnTo>
                  <a:pt x="1338" y="20"/>
                </a:lnTo>
                <a:lnTo>
                  <a:pt x="1361" y="28"/>
                </a:lnTo>
                <a:lnTo>
                  <a:pt x="1363" y="24"/>
                </a:lnTo>
                <a:lnTo>
                  <a:pt x="1366" y="20"/>
                </a:lnTo>
                <a:lnTo>
                  <a:pt x="1369" y="17"/>
                </a:lnTo>
                <a:lnTo>
                  <a:pt x="1374" y="15"/>
                </a:lnTo>
                <a:lnTo>
                  <a:pt x="1380" y="11"/>
                </a:lnTo>
                <a:lnTo>
                  <a:pt x="1385" y="9"/>
                </a:lnTo>
                <a:lnTo>
                  <a:pt x="1390" y="8"/>
                </a:lnTo>
                <a:lnTo>
                  <a:pt x="1396" y="6"/>
                </a:lnTo>
                <a:lnTo>
                  <a:pt x="1411" y="2"/>
                </a:lnTo>
                <a:lnTo>
                  <a:pt x="1426" y="0"/>
                </a:lnTo>
                <a:lnTo>
                  <a:pt x="1442" y="0"/>
                </a:lnTo>
                <a:lnTo>
                  <a:pt x="1458" y="0"/>
                </a:lnTo>
                <a:lnTo>
                  <a:pt x="1470" y="2"/>
                </a:lnTo>
                <a:lnTo>
                  <a:pt x="1480" y="4"/>
                </a:lnTo>
                <a:lnTo>
                  <a:pt x="1490" y="8"/>
                </a:lnTo>
                <a:lnTo>
                  <a:pt x="1499" y="9"/>
                </a:lnTo>
                <a:lnTo>
                  <a:pt x="1505" y="15"/>
                </a:lnTo>
                <a:lnTo>
                  <a:pt x="1512" y="19"/>
                </a:lnTo>
                <a:lnTo>
                  <a:pt x="1517" y="24"/>
                </a:lnTo>
                <a:lnTo>
                  <a:pt x="1520" y="28"/>
                </a:lnTo>
                <a:lnTo>
                  <a:pt x="1520" y="24"/>
                </a:lnTo>
                <a:lnTo>
                  <a:pt x="1522" y="22"/>
                </a:lnTo>
                <a:lnTo>
                  <a:pt x="1525" y="19"/>
                </a:lnTo>
                <a:lnTo>
                  <a:pt x="1529" y="15"/>
                </a:lnTo>
                <a:lnTo>
                  <a:pt x="1532" y="13"/>
                </a:lnTo>
                <a:lnTo>
                  <a:pt x="1537" y="9"/>
                </a:lnTo>
                <a:lnTo>
                  <a:pt x="1542" y="8"/>
                </a:lnTo>
                <a:lnTo>
                  <a:pt x="1549" y="6"/>
                </a:lnTo>
                <a:lnTo>
                  <a:pt x="1554" y="4"/>
                </a:lnTo>
                <a:lnTo>
                  <a:pt x="1561" y="2"/>
                </a:lnTo>
                <a:lnTo>
                  <a:pt x="1569" y="2"/>
                </a:lnTo>
                <a:lnTo>
                  <a:pt x="1576" y="0"/>
                </a:lnTo>
                <a:lnTo>
                  <a:pt x="1592" y="0"/>
                </a:lnTo>
                <a:lnTo>
                  <a:pt x="1611" y="0"/>
                </a:lnTo>
                <a:lnTo>
                  <a:pt x="1624" y="0"/>
                </a:lnTo>
                <a:lnTo>
                  <a:pt x="1636" y="4"/>
                </a:lnTo>
                <a:lnTo>
                  <a:pt x="1648" y="6"/>
                </a:lnTo>
                <a:lnTo>
                  <a:pt x="1658" y="9"/>
                </a:lnTo>
                <a:lnTo>
                  <a:pt x="1668" y="13"/>
                </a:lnTo>
                <a:lnTo>
                  <a:pt x="1676" y="17"/>
                </a:lnTo>
                <a:lnTo>
                  <a:pt x="1683" y="22"/>
                </a:lnTo>
                <a:lnTo>
                  <a:pt x="1686" y="24"/>
                </a:lnTo>
                <a:lnTo>
                  <a:pt x="1688" y="28"/>
                </a:lnTo>
                <a:lnTo>
                  <a:pt x="1693" y="26"/>
                </a:lnTo>
                <a:lnTo>
                  <a:pt x="1700" y="24"/>
                </a:lnTo>
                <a:lnTo>
                  <a:pt x="1706" y="22"/>
                </a:lnTo>
                <a:lnTo>
                  <a:pt x="1713" y="22"/>
                </a:lnTo>
                <a:lnTo>
                  <a:pt x="1728" y="20"/>
                </a:lnTo>
                <a:lnTo>
                  <a:pt x="1743" y="20"/>
                </a:lnTo>
                <a:lnTo>
                  <a:pt x="1760" y="20"/>
                </a:lnTo>
                <a:lnTo>
                  <a:pt x="1775" y="22"/>
                </a:lnTo>
                <a:lnTo>
                  <a:pt x="1790" y="24"/>
                </a:lnTo>
                <a:lnTo>
                  <a:pt x="1804" y="28"/>
                </a:lnTo>
                <a:lnTo>
                  <a:pt x="1810" y="30"/>
                </a:lnTo>
                <a:lnTo>
                  <a:pt x="1815" y="32"/>
                </a:lnTo>
                <a:lnTo>
                  <a:pt x="1820" y="33"/>
                </a:lnTo>
                <a:lnTo>
                  <a:pt x="1825" y="37"/>
                </a:lnTo>
                <a:lnTo>
                  <a:pt x="1829" y="39"/>
                </a:lnTo>
                <a:lnTo>
                  <a:pt x="1830" y="43"/>
                </a:lnTo>
                <a:lnTo>
                  <a:pt x="1832" y="44"/>
                </a:lnTo>
                <a:lnTo>
                  <a:pt x="1834" y="48"/>
                </a:lnTo>
                <a:lnTo>
                  <a:pt x="1839" y="43"/>
                </a:lnTo>
                <a:lnTo>
                  <a:pt x="1847" y="39"/>
                </a:lnTo>
                <a:lnTo>
                  <a:pt x="1856" y="35"/>
                </a:lnTo>
                <a:lnTo>
                  <a:pt x="1864" y="33"/>
                </a:lnTo>
                <a:lnTo>
                  <a:pt x="1874" y="30"/>
                </a:lnTo>
                <a:lnTo>
                  <a:pt x="1886" y="28"/>
                </a:lnTo>
                <a:lnTo>
                  <a:pt x="1898" y="26"/>
                </a:lnTo>
                <a:lnTo>
                  <a:pt x="1911" y="24"/>
                </a:lnTo>
                <a:lnTo>
                  <a:pt x="1924" y="24"/>
                </a:lnTo>
                <a:lnTo>
                  <a:pt x="1938" y="24"/>
                </a:lnTo>
                <a:lnTo>
                  <a:pt x="1968" y="24"/>
                </a:lnTo>
                <a:lnTo>
                  <a:pt x="1998" y="26"/>
                </a:lnTo>
                <a:lnTo>
                  <a:pt x="2013" y="26"/>
                </a:lnTo>
                <a:lnTo>
                  <a:pt x="2028" y="30"/>
                </a:lnTo>
                <a:lnTo>
                  <a:pt x="2038" y="32"/>
                </a:lnTo>
                <a:lnTo>
                  <a:pt x="2050" y="33"/>
                </a:lnTo>
                <a:lnTo>
                  <a:pt x="2060" y="35"/>
                </a:lnTo>
                <a:lnTo>
                  <a:pt x="2070" y="37"/>
                </a:lnTo>
                <a:lnTo>
                  <a:pt x="2080" y="41"/>
                </a:lnTo>
                <a:lnTo>
                  <a:pt x="2089" y="44"/>
                </a:lnTo>
                <a:lnTo>
                  <a:pt x="2095" y="46"/>
                </a:lnTo>
                <a:lnTo>
                  <a:pt x="2104" y="50"/>
                </a:lnTo>
                <a:lnTo>
                  <a:pt x="2109" y="54"/>
                </a:lnTo>
                <a:lnTo>
                  <a:pt x="2115" y="57"/>
                </a:lnTo>
                <a:lnTo>
                  <a:pt x="2119" y="61"/>
                </a:lnTo>
                <a:lnTo>
                  <a:pt x="2124" y="65"/>
                </a:lnTo>
                <a:lnTo>
                  <a:pt x="2126" y="68"/>
                </a:lnTo>
                <a:lnTo>
                  <a:pt x="2127" y="72"/>
                </a:lnTo>
                <a:lnTo>
                  <a:pt x="2129" y="76"/>
                </a:lnTo>
                <a:lnTo>
                  <a:pt x="2129" y="79"/>
                </a:lnTo>
                <a:lnTo>
                  <a:pt x="2144" y="74"/>
                </a:lnTo>
                <a:lnTo>
                  <a:pt x="2159" y="70"/>
                </a:lnTo>
                <a:lnTo>
                  <a:pt x="2176" y="66"/>
                </a:lnTo>
                <a:lnTo>
                  <a:pt x="2191" y="66"/>
                </a:lnTo>
                <a:lnTo>
                  <a:pt x="2206" y="65"/>
                </a:lnTo>
                <a:lnTo>
                  <a:pt x="2221" y="66"/>
                </a:lnTo>
                <a:lnTo>
                  <a:pt x="2228" y="66"/>
                </a:lnTo>
                <a:lnTo>
                  <a:pt x="2233" y="68"/>
                </a:lnTo>
                <a:lnTo>
                  <a:pt x="2240" y="70"/>
                </a:lnTo>
                <a:lnTo>
                  <a:pt x="2245" y="72"/>
                </a:lnTo>
                <a:lnTo>
                  <a:pt x="2248" y="72"/>
                </a:lnTo>
                <a:lnTo>
                  <a:pt x="2250" y="74"/>
                </a:lnTo>
                <a:lnTo>
                  <a:pt x="2253" y="77"/>
                </a:lnTo>
                <a:lnTo>
                  <a:pt x="2255" y="79"/>
                </a:lnTo>
                <a:lnTo>
                  <a:pt x="2256" y="81"/>
                </a:lnTo>
                <a:lnTo>
                  <a:pt x="2256" y="83"/>
                </a:lnTo>
                <a:lnTo>
                  <a:pt x="2256" y="87"/>
                </a:lnTo>
                <a:lnTo>
                  <a:pt x="2256" y="88"/>
                </a:lnTo>
                <a:lnTo>
                  <a:pt x="2255" y="90"/>
                </a:lnTo>
                <a:lnTo>
                  <a:pt x="2255" y="94"/>
                </a:lnTo>
                <a:lnTo>
                  <a:pt x="2251" y="96"/>
                </a:lnTo>
                <a:lnTo>
                  <a:pt x="2250" y="99"/>
                </a:lnTo>
                <a:lnTo>
                  <a:pt x="2246" y="101"/>
                </a:lnTo>
                <a:lnTo>
                  <a:pt x="2243" y="103"/>
                </a:lnTo>
                <a:lnTo>
                  <a:pt x="2240" y="107"/>
                </a:lnTo>
                <a:lnTo>
                  <a:pt x="2234" y="109"/>
                </a:lnTo>
                <a:lnTo>
                  <a:pt x="2246" y="105"/>
                </a:lnTo>
                <a:lnTo>
                  <a:pt x="2260" y="101"/>
                </a:lnTo>
                <a:lnTo>
                  <a:pt x="2273" y="98"/>
                </a:lnTo>
                <a:lnTo>
                  <a:pt x="2288" y="96"/>
                </a:lnTo>
                <a:lnTo>
                  <a:pt x="2303" y="94"/>
                </a:lnTo>
                <a:lnTo>
                  <a:pt x="2318" y="92"/>
                </a:lnTo>
                <a:lnTo>
                  <a:pt x="2332" y="92"/>
                </a:lnTo>
                <a:lnTo>
                  <a:pt x="2347" y="92"/>
                </a:lnTo>
                <a:lnTo>
                  <a:pt x="2362" y="94"/>
                </a:lnTo>
                <a:lnTo>
                  <a:pt x="2377" y="94"/>
                </a:lnTo>
                <a:lnTo>
                  <a:pt x="2392" y="96"/>
                </a:lnTo>
                <a:lnTo>
                  <a:pt x="2405" y="99"/>
                </a:lnTo>
                <a:lnTo>
                  <a:pt x="2419" y="103"/>
                </a:lnTo>
                <a:lnTo>
                  <a:pt x="2432" y="107"/>
                </a:lnTo>
                <a:lnTo>
                  <a:pt x="2444" y="110"/>
                </a:lnTo>
                <a:lnTo>
                  <a:pt x="2454" y="116"/>
                </a:lnTo>
                <a:lnTo>
                  <a:pt x="2461" y="120"/>
                </a:lnTo>
                <a:lnTo>
                  <a:pt x="2468" y="123"/>
                </a:lnTo>
                <a:lnTo>
                  <a:pt x="2473" y="127"/>
                </a:lnTo>
                <a:lnTo>
                  <a:pt x="2478" y="131"/>
                </a:lnTo>
                <a:lnTo>
                  <a:pt x="2481" y="134"/>
                </a:lnTo>
                <a:lnTo>
                  <a:pt x="2486" y="140"/>
                </a:lnTo>
                <a:lnTo>
                  <a:pt x="2488" y="144"/>
                </a:lnTo>
                <a:lnTo>
                  <a:pt x="2491" y="147"/>
                </a:lnTo>
                <a:lnTo>
                  <a:pt x="2493" y="153"/>
                </a:lnTo>
                <a:lnTo>
                  <a:pt x="2493" y="156"/>
                </a:lnTo>
                <a:lnTo>
                  <a:pt x="2493" y="162"/>
                </a:lnTo>
                <a:lnTo>
                  <a:pt x="2493" y="166"/>
                </a:lnTo>
                <a:lnTo>
                  <a:pt x="2493" y="171"/>
                </a:lnTo>
                <a:lnTo>
                  <a:pt x="2491" y="175"/>
                </a:lnTo>
                <a:lnTo>
                  <a:pt x="2488" y="178"/>
                </a:lnTo>
                <a:lnTo>
                  <a:pt x="2484" y="184"/>
                </a:lnTo>
                <a:lnTo>
                  <a:pt x="2499" y="186"/>
                </a:lnTo>
                <a:lnTo>
                  <a:pt x="2513" y="189"/>
                </a:lnTo>
                <a:lnTo>
                  <a:pt x="2525" y="191"/>
                </a:lnTo>
                <a:lnTo>
                  <a:pt x="2536" y="195"/>
                </a:lnTo>
                <a:lnTo>
                  <a:pt x="2546" y="199"/>
                </a:lnTo>
                <a:lnTo>
                  <a:pt x="2556" y="202"/>
                </a:lnTo>
                <a:lnTo>
                  <a:pt x="2565" y="208"/>
                </a:lnTo>
                <a:lnTo>
                  <a:pt x="2571" y="211"/>
                </a:lnTo>
                <a:lnTo>
                  <a:pt x="2578" y="215"/>
                </a:lnTo>
                <a:lnTo>
                  <a:pt x="2583" y="221"/>
                </a:lnTo>
                <a:lnTo>
                  <a:pt x="2587" y="224"/>
                </a:lnTo>
                <a:lnTo>
                  <a:pt x="2590" y="228"/>
                </a:lnTo>
                <a:lnTo>
                  <a:pt x="2590" y="233"/>
                </a:lnTo>
                <a:lnTo>
                  <a:pt x="2590" y="237"/>
                </a:lnTo>
                <a:lnTo>
                  <a:pt x="2588" y="243"/>
                </a:lnTo>
                <a:lnTo>
                  <a:pt x="2585" y="246"/>
                </a:lnTo>
                <a:lnTo>
                  <a:pt x="2608" y="248"/>
                </a:lnTo>
                <a:lnTo>
                  <a:pt x="2630" y="248"/>
                </a:lnTo>
                <a:lnTo>
                  <a:pt x="2650" y="250"/>
                </a:lnTo>
                <a:lnTo>
                  <a:pt x="2670" y="252"/>
                </a:lnTo>
                <a:lnTo>
                  <a:pt x="2689" y="256"/>
                </a:lnTo>
                <a:lnTo>
                  <a:pt x="2707" y="259"/>
                </a:lnTo>
                <a:lnTo>
                  <a:pt x="2722" y="263"/>
                </a:lnTo>
                <a:lnTo>
                  <a:pt x="2737" y="267"/>
                </a:lnTo>
                <a:lnTo>
                  <a:pt x="2751" y="272"/>
                </a:lnTo>
                <a:lnTo>
                  <a:pt x="2758" y="274"/>
                </a:lnTo>
                <a:lnTo>
                  <a:pt x="2763" y="276"/>
                </a:lnTo>
                <a:lnTo>
                  <a:pt x="2768" y="279"/>
                </a:lnTo>
                <a:lnTo>
                  <a:pt x="2773" y="281"/>
                </a:lnTo>
                <a:lnTo>
                  <a:pt x="2776" y="285"/>
                </a:lnTo>
                <a:lnTo>
                  <a:pt x="2781" y="287"/>
                </a:lnTo>
                <a:lnTo>
                  <a:pt x="2784" y="290"/>
                </a:lnTo>
                <a:lnTo>
                  <a:pt x="2786" y="294"/>
                </a:lnTo>
                <a:lnTo>
                  <a:pt x="2789" y="296"/>
                </a:lnTo>
                <a:lnTo>
                  <a:pt x="2791" y="300"/>
                </a:lnTo>
                <a:lnTo>
                  <a:pt x="2793" y="303"/>
                </a:lnTo>
                <a:lnTo>
                  <a:pt x="2793" y="305"/>
                </a:lnTo>
                <a:lnTo>
                  <a:pt x="2793" y="309"/>
                </a:lnTo>
                <a:lnTo>
                  <a:pt x="2793" y="312"/>
                </a:lnTo>
                <a:lnTo>
                  <a:pt x="2791" y="318"/>
                </a:lnTo>
                <a:lnTo>
                  <a:pt x="2788" y="323"/>
                </a:lnTo>
                <a:lnTo>
                  <a:pt x="2783" y="329"/>
                </a:lnTo>
                <a:lnTo>
                  <a:pt x="2776" y="334"/>
                </a:lnTo>
                <a:lnTo>
                  <a:pt x="2768" y="338"/>
                </a:lnTo>
                <a:lnTo>
                  <a:pt x="2758" y="344"/>
                </a:lnTo>
                <a:lnTo>
                  <a:pt x="2747" y="349"/>
                </a:lnTo>
                <a:lnTo>
                  <a:pt x="2736" y="353"/>
                </a:lnTo>
                <a:lnTo>
                  <a:pt x="2746" y="355"/>
                </a:lnTo>
                <a:lnTo>
                  <a:pt x="2758" y="356"/>
                </a:lnTo>
                <a:lnTo>
                  <a:pt x="2768" y="358"/>
                </a:lnTo>
                <a:lnTo>
                  <a:pt x="2776" y="362"/>
                </a:lnTo>
                <a:lnTo>
                  <a:pt x="2784" y="364"/>
                </a:lnTo>
                <a:lnTo>
                  <a:pt x="2791" y="368"/>
                </a:lnTo>
                <a:lnTo>
                  <a:pt x="2798" y="369"/>
                </a:lnTo>
                <a:lnTo>
                  <a:pt x="2803" y="373"/>
                </a:lnTo>
                <a:lnTo>
                  <a:pt x="2806" y="377"/>
                </a:lnTo>
                <a:lnTo>
                  <a:pt x="2810" y="380"/>
                </a:lnTo>
                <a:lnTo>
                  <a:pt x="2811" y="384"/>
                </a:lnTo>
                <a:lnTo>
                  <a:pt x="2813" y="388"/>
                </a:lnTo>
                <a:lnTo>
                  <a:pt x="2811" y="391"/>
                </a:lnTo>
                <a:lnTo>
                  <a:pt x="2810" y="395"/>
                </a:lnTo>
                <a:lnTo>
                  <a:pt x="2806" y="399"/>
                </a:lnTo>
                <a:lnTo>
                  <a:pt x="2801" y="402"/>
                </a:lnTo>
                <a:lnTo>
                  <a:pt x="2798" y="404"/>
                </a:lnTo>
                <a:lnTo>
                  <a:pt x="2793" y="406"/>
                </a:lnTo>
                <a:lnTo>
                  <a:pt x="2788" y="408"/>
                </a:lnTo>
                <a:lnTo>
                  <a:pt x="2781" y="412"/>
                </a:lnTo>
                <a:lnTo>
                  <a:pt x="2776" y="413"/>
                </a:lnTo>
                <a:lnTo>
                  <a:pt x="2769" y="415"/>
                </a:lnTo>
                <a:lnTo>
                  <a:pt x="2761" y="417"/>
                </a:lnTo>
                <a:lnTo>
                  <a:pt x="2754" y="419"/>
                </a:lnTo>
                <a:lnTo>
                  <a:pt x="2766" y="417"/>
                </a:lnTo>
                <a:lnTo>
                  <a:pt x="2779" y="415"/>
                </a:lnTo>
                <a:lnTo>
                  <a:pt x="2791" y="415"/>
                </a:lnTo>
                <a:lnTo>
                  <a:pt x="2803" y="417"/>
                </a:lnTo>
                <a:lnTo>
                  <a:pt x="2813" y="419"/>
                </a:lnTo>
                <a:lnTo>
                  <a:pt x="2823" y="423"/>
                </a:lnTo>
                <a:lnTo>
                  <a:pt x="2828" y="424"/>
                </a:lnTo>
                <a:lnTo>
                  <a:pt x="2831" y="428"/>
                </a:lnTo>
                <a:lnTo>
                  <a:pt x="2835" y="430"/>
                </a:lnTo>
                <a:lnTo>
                  <a:pt x="2838" y="432"/>
                </a:lnTo>
                <a:lnTo>
                  <a:pt x="2840" y="435"/>
                </a:lnTo>
                <a:lnTo>
                  <a:pt x="2841" y="437"/>
                </a:lnTo>
                <a:lnTo>
                  <a:pt x="2843" y="441"/>
                </a:lnTo>
                <a:lnTo>
                  <a:pt x="2843" y="443"/>
                </a:lnTo>
                <a:lnTo>
                  <a:pt x="2843" y="446"/>
                </a:lnTo>
                <a:lnTo>
                  <a:pt x="2843" y="448"/>
                </a:lnTo>
                <a:lnTo>
                  <a:pt x="2841" y="452"/>
                </a:lnTo>
                <a:lnTo>
                  <a:pt x="2840" y="454"/>
                </a:lnTo>
                <a:lnTo>
                  <a:pt x="2836" y="456"/>
                </a:lnTo>
                <a:lnTo>
                  <a:pt x="2833" y="459"/>
                </a:lnTo>
                <a:lnTo>
                  <a:pt x="2830" y="461"/>
                </a:lnTo>
                <a:lnTo>
                  <a:pt x="2826" y="463"/>
                </a:lnTo>
                <a:lnTo>
                  <a:pt x="2821" y="465"/>
                </a:lnTo>
                <a:lnTo>
                  <a:pt x="2816" y="467"/>
                </a:lnTo>
                <a:lnTo>
                  <a:pt x="2811" y="468"/>
                </a:lnTo>
                <a:lnTo>
                  <a:pt x="2806" y="468"/>
                </a:lnTo>
                <a:lnTo>
                  <a:pt x="2798" y="470"/>
                </a:lnTo>
                <a:lnTo>
                  <a:pt x="2789" y="470"/>
                </a:lnTo>
                <a:lnTo>
                  <a:pt x="2781" y="472"/>
                </a:lnTo>
                <a:lnTo>
                  <a:pt x="2774" y="472"/>
                </a:lnTo>
                <a:lnTo>
                  <a:pt x="2758" y="470"/>
                </a:lnTo>
                <a:lnTo>
                  <a:pt x="2751" y="468"/>
                </a:lnTo>
                <a:lnTo>
                  <a:pt x="2744" y="467"/>
                </a:lnTo>
                <a:lnTo>
                  <a:pt x="2753" y="472"/>
                </a:lnTo>
                <a:lnTo>
                  <a:pt x="2759" y="476"/>
                </a:lnTo>
                <a:lnTo>
                  <a:pt x="2766" y="481"/>
                </a:lnTo>
                <a:lnTo>
                  <a:pt x="2771" y="487"/>
                </a:lnTo>
                <a:lnTo>
                  <a:pt x="2774" y="492"/>
                </a:lnTo>
                <a:lnTo>
                  <a:pt x="2776" y="498"/>
                </a:lnTo>
                <a:lnTo>
                  <a:pt x="2778" y="503"/>
                </a:lnTo>
                <a:lnTo>
                  <a:pt x="2778" y="511"/>
                </a:lnTo>
                <a:lnTo>
                  <a:pt x="2776" y="516"/>
                </a:lnTo>
                <a:lnTo>
                  <a:pt x="2773" y="522"/>
                </a:lnTo>
                <a:lnTo>
                  <a:pt x="2769" y="527"/>
                </a:lnTo>
                <a:lnTo>
                  <a:pt x="2764" y="533"/>
                </a:lnTo>
                <a:lnTo>
                  <a:pt x="2758" y="536"/>
                </a:lnTo>
                <a:lnTo>
                  <a:pt x="2751" y="542"/>
                </a:lnTo>
                <a:lnTo>
                  <a:pt x="2741" y="547"/>
                </a:lnTo>
                <a:lnTo>
                  <a:pt x="2732" y="551"/>
                </a:lnTo>
                <a:lnTo>
                  <a:pt x="2722" y="555"/>
                </a:lnTo>
                <a:lnTo>
                  <a:pt x="2714" y="557"/>
                </a:lnTo>
                <a:lnTo>
                  <a:pt x="2706" y="560"/>
                </a:lnTo>
                <a:lnTo>
                  <a:pt x="2696" y="562"/>
                </a:lnTo>
                <a:lnTo>
                  <a:pt x="2675" y="564"/>
                </a:lnTo>
                <a:lnTo>
                  <a:pt x="2654" y="566"/>
                </a:lnTo>
                <a:lnTo>
                  <a:pt x="2662" y="568"/>
                </a:lnTo>
                <a:lnTo>
                  <a:pt x="2670" y="569"/>
                </a:lnTo>
                <a:lnTo>
                  <a:pt x="2677" y="571"/>
                </a:lnTo>
                <a:lnTo>
                  <a:pt x="2684" y="573"/>
                </a:lnTo>
                <a:lnTo>
                  <a:pt x="2690" y="575"/>
                </a:lnTo>
                <a:lnTo>
                  <a:pt x="2696" y="577"/>
                </a:lnTo>
                <a:lnTo>
                  <a:pt x="2701" y="579"/>
                </a:lnTo>
                <a:lnTo>
                  <a:pt x="2706" y="582"/>
                </a:lnTo>
                <a:lnTo>
                  <a:pt x="2709" y="584"/>
                </a:lnTo>
                <a:lnTo>
                  <a:pt x="2711" y="588"/>
                </a:lnTo>
                <a:lnTo>
                  <a:pt x="2712" y="590"/>
                </a:lnTo>
                <a:lnTo>
                  <a:pt x="2714" y="593"/>
                </a:lnTo>
                <a:lnTo>
                  <a:pt x="2714" y="597"/>
                </a:lnTo>
                <a:lnTo>
                  <a:pt x="2714" y="599"/>
                </a:lnTo>
                <a:lnTo>
                  <a:pt x="2712" y="603"/>
                </a:lnTo>
                <a:lnTo>
                  <a:pt x="2709" y="606"/>
                </a:lnTo>
                <a:lnTo>
                  <a:pt x="2706" y="608"/>
                </a:lnTo>
                <a:lnTo>
                  <a:pt x="2701" y="612"/>
                </a:lnTo>
                <a:lnTo>
                  <a:pt x="2696" y="614"/>
                </a:lnTo>
                <a:lnTo>
                  <a:pt x="2690" y="617"/>
                </a:lnTo>
                <a:lnTo>
                  <a:pt x="2684" y="619"/>
                </a:lnTo>
                <a:lnTo>
                  <a:pt x="2677" y="621"/>
                </a:lnTo>
                <a:lnTo>
                  <a:pt x="2670" y="623"/>
                </a:lnTo>
                <a:lnTo>
                  <a:pt x="2662" y="625"/>
                </a:lnTo>
                <a:lnTo>
                  <a:pt x="2647" y="626"/>
                </a:lnTo>
                <a:lnTo>
                  <a:pt x="2628" y="626"/>
                </a:lnTo>
                <a:lnTo>
                  <a:pt x="2612" y="626"/>
                </a:lnTo>
                <a:lnTo>
                  <a:pt x="2593" y="626"/>
                </a:lnTo>
                <a:lnTo>
                  <a:pt x="2585" y="625"/>
                </a:lnTo>
                <a:lnTo>
                  <a:pt x="2576" y="623"/>
                </a:lnTo>
                <a:lnTo>
                  <a:pt x="2570" y="621"/>
                </a:lnTo>
                <a:lnTo>
                  <a:pt x="2561" y="619"/>
                </a:lnTo>
                <a:lnTo>
                  <a:pt x="2563" y="623"/>
                </a:lnTo>
                <a:lnTo>
                  <a:pt x="2565" y="626"/>
                </a:lnTo>
                <a:lnTo>
                  <a:pt x="2566" y="632"/>
                </a:lnTo>
                <a:lnTo>
                  <a:pt x="2566" y="636"/>
                </a:lnTo>
                <a:lnTo>
                  <a:pt x="2566" y="639"/>
                </a:lnTo>
                <a:lnTo>
                  <a:pt x="2566" y="643"/>
                </a:lnTo>
                <a:lnTo>
                  <a:pt x="2566" y="647"/>
                </a:lnTo>
                <a:lnTo>
                  <a:pt x="2565" y="652"/>
                </a:lnTo>
                <a:lnTo>
                  <a:pt x="2563" y="656"/>
                </a:lnTo>
                <a:lnTo>
                  <a:pt x="2561" y="659"/>
                </a:lnTo>
                <a:lnTo>
                  <a:pt x="2555" y="667"/>
                </a:lnTo>
                <a:lnTo>
                  <a:pt x="2548" y="674"/>
                </a:lnTo>
                <a:lnTo>
                  <a:pt x="2540" y="680"/>
                </a:lnTo>
                <a:lnTo>
                  <a:pt x="2530" y="687"/>
                </a:lnTo>
                <a:lnTo>
                  <a:pt x="2519" y="692"/>
                </a:lnTo>
                <a:lnTo>
                  <a:pt x="2506" y="698"/>
                </a:lnTo>
                <a:lnTo>
                  <a:pt x="2493" y="703"/>
                </a:lnTo>
                <a:lnTo>
                  <a:pt x="2478" y="707"/>
                </a:lnTo>
                <a:lnTo>
                  <a:pt x="2461" y="711"/>
                </a:lnTo>
                <a:lnTo>
                  <a:pt x="2444" y="715"/>
                </a:lnTo>
                <a:lnTo>
                  <a:pt x="2426" y="716"/>
                </a:lnTo>
                <a:lnTo>
                  <a:pt x="2411" y="718"/>
                </a:lnTo>
                <a:lnTo>
                  <a:pt x="2395" y="718"/>
                </a:lnTo>
                <a:lnTo>
                  <a:pt x="2379" y="718"/>
                </a:lnTo>
                <a:lnTo>
                  <a:pt x="2364" y="718"/>
                </a:lnTo>
                <a:lnTo>
                  <a:pt x="2347" y="716"/>
                </a:lnTo>
                <a:lnTo>
                  <a:pt x="2332" y="716"/>
                </a:lnTo>
                <a:lnTo>
                  <a:pt x="2317" y="713"/>
                </a:lnTo>
                <a:lnTo>
                  <a:pt x="2302" y="711"/>
                </a:lnTo>
                <a:lnTo>
                  <a:pt x="2307" y="715"/>
                </a:lnTo>
                <a:lnTo>
                  <a:pt x="2310" y="718"/>
                </a:lnTo>
                <a:lnTo>
                  <a:pt x="2312" y="722"/>
                </a:lnTo>
                <a:lnTo>
                  <a:pt x="2312" y="727"/>
                </a:lnTo>
                <a:lnTo>
                  <a:pt x="2312" y="731"/>
                </a:lnTo>
                <a:lnTo>
                  <a:pt x="2308" y="735"/>
                </a:lnTo>
                <a:lnTo>
                  <a:pt x="2305" y="738"/>
                </a:lnTo>
                <a:lnTo>
                  <a:pt x="2300" y="742"/>
                </a:lnTo>
                <a:lnTo>
                  <a:pt x="2295" y="746"/>
                </a:lnTo>
                <a:lnTo>
                  <a:pt x="2286" y="749"/>
                </a:lnTo>
                <a:lnTo>
                  <a:pt x="2278" y="753"/>
                </a:lnTo>
                <a:lnTo>
                  <a:pt x="2270" y="755"/>
                </a:lnTo>
                <a:lnTo>
                  <a:pt x="2258" y="759"/>
                </a:lnTo>
                <a:lnTo>
                  <a:pt x="2246" y="760"/>
                </a:lnTo>
                <a:lnTo>
                  <a:pt x="2234" y="762"/>
                </a:lnTo>
                <a:lnTo>
                  <a:pt x="2221" y="764"/>
                </a:lnTo>
                <a:lnTo>
                  <a:pt x="2203" y="766"/>
                </a:lnTo>
                <a:lnTo>
                  <a:pt x="2183" y="768"/>
                </a:lnTo>
                <a:lnTo>
                  <a:pt x="2164" y="768"/>
                </a:lnTo>
                <a:lnTo>
                  <a:pt x="2146" y="766"/>
                </a:lnTo>
                <a:lnTo>
                  <a:pt x="2126" y="766"/>
                </a:lnTo>
                <a:lnTo>
                  <a:pt x="2109" y="764"/>
                </a:lnTo>
                <a:lnTo>
                  <a:pt x="2092" y="760"/>
                </a:lnTo>
                <a:lnTo>
                  <a:pt x="2075" y="759"/>
                </a:lnTo>
                <a:lnTo>
                  <a:pt x="2077" y="762"/>
                </a:lnTo>
                <a:lnTo>
                  <a:pt x="2077" y="768"/>
                </a:lnTo>
                <a:lnTo>
                  <a:pt x="2077" y="773"/>
                </a:lnTo>
                <a:lnTo>
                  <a:pt x="2075" y="777"/>
                </a:lnTo>
                <a:lnTo>
                  <a:pt x="2072" y="782"/>
                </a:lnTo>
                <a:lnTo>
                  <a:pt x="2069" y="786"/>
                </a:lnTo>
                <a:lnTo>
                  <a:pt x="2064" y="792"/>
                </a:lnTo>
                <a:lnTo>
                  <a:pt x="2058" y="795"/>
                </a:lnTo>
                <a:lnTo>
                  <a:pt x="2052" y="799"/>
                </a:lnTo>
                <a:lnTo>
                  <a:pt x="2043" y="803"/>
                </a:lnTo>
                <a:lnTo>
                  <a:pt x="2035" y="806"/>
                </a:lnTo>
                <a:lnTo>
                  <a:pt x="2027" y="808"/>
                </a:lnTo>
                <a:lnTo>
                  <a:pt x="2017" y="812"/>
                </a:lnTo>
                <a:lnTo>
                  <a:pt x="2007" y="814"/>
                </a:lnTo>
                <a:lnTo>
                  <a:pt x="1996" y="815"/>
                </a:lnTo>
                <a:lnTo>
                  <a:pt x="1985" y="815"/>
                </a:lnTo>
                <a:lnTo>
                  <a:pt x="1965" y="817"/>
                </a:lnTo>
                <a:lnTo>
                  <a:pt x="1944" y="815"/>
                </a:lnTo>
                <a:lnTo>
                  <a:pt x="1926" y="814"/>
                </a:lnTo>
                <a:lnTo>
                  <a:pt x="1908" y="810"/>
                </a:lnTo>
                <a:lnTo>
                  <a:pt x="1899" y="808"/>
                </a:lnTo>
                <a:lnTo>
                  <a:pt x="1891" y="806"/>
                </a:lnTo>
                <a:lnTo>
                  <a:pt x="1884" y="803"/>
                </a:lnTo>
                <a:lnTo>
                  <a:pt x="1877" y="799"/>
                </a:lnTo>
                <a:lnTo>
                  <a:pt x="1871" y="797"/>
                </a:lnTo>
                <a:lnTo>
                  <a:pt x="1866" y="793"/>
                </a:lnTo>
                <a:lnTo>
                  <a:pt x="1861" y="790"/>
                </a:lnTo>
                <a:lnTo>
                  <a:pt x="1857" y="784"/>
                </a:lnTo>
                <a:lnTo>
                  <a:pt x="1859" y="788"/>
                </a:lnTo>
                <a:lnTo>
                  <a:pt x="1861" y="793"/>
                </a:lnTo>
                <a:lnTo>
                  <a:pt x="1861" y="797"/>
                </a:lnTo>
                <a:lnTo>
                  <a:pt x="1861" y="801"/>
                </a:lnTo>
                <a:lnTo>
                  <a:pt x="1859" y="804"/>
                </a:lnTo>
                <a:lnTo>
                  <a:pt x="1856" y="808"/>
                </a:lnTo>
                <a:lnTo>
                  <a:pt x="1851" y="812"/>
                </a:lnTo>
                <a:lnTo>
                  <a:pt x="1846" y="815"/>
                </a:lnTo>
                <a:lnTo>
                  <a:pt x="1841" y="817"/>
                </a:lnTo>
                <a:lnTo>
                  <a:pt x="1834" y="821"/>
                </a:lnTo>
                <a:lnTo>
                  <a:pt x="1825" y="823"/>
                </a:lnTo>
                <a:lnTo>
                  <a:pt x="1817" y="827"/>
                </a:lnTo>
                <a:lnTo>
                  <a:pt x="1807" y="828"/>
                </a:lnTo>
                <a:lnTo>
                  <a:pt x="1797" y="830"/>
                </a:lnTo>
                <a:lnTo>
                  <a:pt x="1787" y="832"/>
                </a:lnTo>
                <a:lnTo>
                  <a:pt x="1775" y="832"/>
                </a:lnTo>
                <a:lnTo>
                  <a:pt x="1752" y="834"/>
                </a:lnTo>
                <a:lnTo>
                  <a:pt x="1728" y="834"/>
                </a:lnTo>
                <a:lnTo>
                  <a:pt x="1706" y="832"/>
                </a:lnTo>
                <a:lnTo>
                  <a:pt x="1696" y="830"/>
                </a:lnTo>
                <a:lnTo>
                  <a:pt x="1686" y="828"/>
                </a:lnTo>
                <a:lnTo>
                  <a:pt x="1676" y="827"/>
                </a:lnTo>
                <a:lnTo>
                  <a:pt x="1668" y="823"/>
                </a:lnTo>
                <a:lnTo>
                  <a:pt x="1659" y="821"/>
                </a:lnTo>
                <a:lnTo>
                  <a:pt x="1651" y="817"/>
                </a:lnTo>
                <a:lnTo>
                  <a:pt x="1644" y="814"/>
                </a:lnTo>
                <a:lnTo>
                  <a:pt x="1638" y="812"/>
                </a:lnTo>
                <a:lnTo>
                  <a:pt x="1633" y="808"/>
                </a:lnTo>
                <a:lnTo>
                  <a:pt x="1629" y="804"/>
                </a:lnTo>
                <a:lnTo>
                  <a:pt x="1628" y="806"/>
                </a:lnTo>
                <a:lnTo>
                  <a:pt x="1624" y="810"/>
                </a:lnTo>
                <a:lnTo>
                  <a:pt x="1621" y="814"/>
                </a:lnTo>
                <a:lnTo>
                  <a:pt x="1616" y="815"/>
                </a:lnTo>
                <a:lnTo>
                  <a:pt x="1611" y="819"/>
                </a:lnTo>
                <a:lnTo>
                  <a:pt x="1604" y="821"/>
                </a:lnTo>
                <a:lnTo>
                  <a:pt x="1597" y="825"/>
                </a:lnTo>
                <a:lnTo>
                  <a:pt x="1589" y="827"/>
                </a:lnTo>
                <a:lnTo>
                  <a:pt x="1581" y="828"/>
                </a:lnTo>
                <a:lnTo>
                  <a:pt x="1571" y="830"/>
                </a:lnTo>
                <a:lnTo>
                  <a:pt x="1561" y="830"/>
                </a:lnTo>
                <a:lnTo>
                  <a:pt x="1551" y="832"/>
                </a:lnTo>
                <a:lnTo>
                  <a:pt x="1529" y="834"/>
                </a:lnTo>
                <a:lnTo>
                  <a:pt x="1507" y="834"/>
                </a:lnTo>
                <a:lnTo>
                  <a:pt x="1488" y="832"/>
                </a:lnTo>
                <a:lnTo>
                  <a:pt x="1473" y="830"/>
                </a:lnTo>
                <a:lnTo>
                  <a:pt x="1458" y="828"/>
                </a:lnTo>
                <a:lnTo>
                  <a:pt x="1443" y="827"/>
                </a:lnTo>
                <a:lnTo>
                  <a:pt x="1438" y="825"/>
                </a:lnTo>
                <a:lnTo>
                  <a:pt x="1431" y="823"/>
                </a:lnTo>
                <a:lnTo>
                  <a:pt x="1426" y="821"/>
                </a:lnTo>
                <a:lnTo>
                  <a:pt x="1421" y="819"/>
                </a:lnTo>
                <a:lnTo>
                  <a:pt x="1416" y="815"/>
                </a:lnTo>
                <a:lnTo>
                  <a:pt x="1413" y="814"/>
                </a:lnTo>
                <a:lnTo>
                  <a:pt x="1410" y="812"/>
                </a:lnTo>
                <a:lnTo>
                  <a:pt x="1408" y="810"/>
                </a:lnTo>
                <a:lnTo>
                  <a:pt x="1401" y="814"/>
                </a:lnTo>
                <a:lnTo>
                  <a:pt x="1393" y="817"/>
                </a:lnTo>
                <a:lnTo>
                  <a:pt x="1385" y="819"/>
                </a:lnTo>
                <a:lnTo>
                  <a:pt x="1376" y="823"/>
                </a:lnTo>
                <a:lnTo>
                  <a:pt x="1364" y="825"/>
                </a:lnTo>
                <a:lnTo>
                  <a:pt x="1354" y="828"/>
                </a:lnTo>
                <a:lnTo>
                  <a:pt x="1343" y="830"/>
                </a:lnTo>
                <a:lnTo>
                  <a:pt x="1329" y="832"/>
                </a:lnTo>
                <a:lnTo>
                  <a:pt x="1316" y="832"/>
                </a:lnTo>
                <a:lnTo>
                  <a:pt x="1302" y="834"/>
                </a:lnTo>
                <a:lnTo>
                  <a:pt x="1276" y="834"/>
                </a:lnTo>
                <a:lnTo>
                  <a:pt x="1247" y="834"/>
                </a:lnTo>
                <a:lnTo>
                  <a:pt x="1219" y="832"/>
                </a:lnTo>
                <a:lnTo>
                  <a:pt x="1204" y="828"/>
                </a:lnTo>
                <a:lnTo>
                  <a:pt x="1188" y="827"/>
                </a:lnTo>
                <a:lnTo>
                  <a:pt x="1175" y="823"/>
                </a:lnTo>
                <a:lnTo>
                  <a:pt x="1163" y="819"/>
                </a:lnTo>
                <a:lnTo>
                  <a:pt x="1158" y="817"/>
                </a:lnTo>
                <a:lnTo>
                  <a:pt x="1153" y="815"/>
                </a:lnTo>
                <a:lnTo>
                  <a:pt x="1148" y="814"/>
                </a:lnTo>
                <a:lnTo>
                  <a:pt x="1145" y="810"/>
                </a:lnTo>
                <a:lnTo>
                  <a:pt x="1141" y="808"/>
                </a:lnTo>
                <a:lnTo>
                  <a:pt x="1138" y="806"/>
                </a:lnTo>
                <a:lnTo>
                  <a:pt x="1135" y="803"/>
                </a:lnTo>
                <a:lnTo>
                  <a:pt x="1133" y="801"/>
                </a:lnTo>
                <a:lnTo>
                  <a:pt x="1125" y="803"/>
                </a:lnTo>
                <a:lnTo>
                  <a:pt x="1115" y="806"/>
                </a:lnTo>
                <a:lnTo>
                  <a:pt x="1105" y="808"/>
                </a:lnTo>
                <a:lnTo>
                  <a:pt x="1095" y="808"/>
                </a:lnTo>
                <a:lnTo>
                  <a:pt x="1083" y="810"/>
                </a:lnTo>
                <a:lnTo>
                  <a:pt x="1071" y="810"/>
                </a:lnTo>
                <a:lnTo>
                  <a:pt x="1046" y="810"/>
                </a:lnTo>
                <a:lnTo>
                  <a:pt x="1021" y="810"/>
                </a:lnTo>
                <a:lnTo>
                  <a:pt x="997" y="806"/>
                </a:lnTo>
                <a:lnTo>
                  <a:pt x="986" y="804"/>
                </a:lnTo>
                <a:lnTo>
                  <a:pt x="974" y="803"/>
                </a:lnTo>
                <a:lnTo>
                  <a:pt x="962" y="801"/>
                </a:lnTo>
                <a:lnTo>
                  <a:pt x="952" y="797"/>
                </a:lnTo>
                <a:lnTo>
                  <a:pt x="945" y="795"/>
                </a:lnTo>
                <a:lnTo>
                  <a:pt x="939" y="793"/>
                </a:lnTo>
                <a:lnTo>
                  <a:pt x="934" y="792"/>
                </a:lnTo>
                <a:lnTo>
                  <a:pt x="929" y="790"/>
                </a:lnTo>
                <a:lnTo>
                  <a:pt x="924" y="788"/>
                </a:lnTo>
                <a:lnTo>
                  <a:pt x="919" y="784"/>
                </a:lnTo>
                <a:lnTo>
                  <a:pt x="915" y="782"/>
                </a:lnTo>
                <a:lnTo>
                  <a:pt x="912" y="781"/>
                </a:lnTo>
                <a:lnTo>
                  <a:pt x="908" y="777"/>
                </a:lnTo>
                <a:lnTo>
                  <a:pt x="907" y="775"/>
                </a:lnTo>
                <a:lnTo>
                  <a:pt x="905" y="773"/>
                </a:lnTo>
                <a:lnTo>
                  <a:pt x="903" y="770"/>
                </a:lnTo>
                <a:lnTo>
                  <a:pt x="902" y="768"/>
                </a:lnTo>
                <a:lnTo>
                  <a:pt x="902" y="766"/>
                </a:lnTo>
                <a:lnTo>
                  <a:pt x="902" y="762"/>
                </a:lnTo>
                <a:lnTo>
                  <a:pt x="903" y="760"/>
                </a:lnTo>
                <a:lnTo>
                  <a:pt x="902" y="762"/>
                </a:lnTo>
                <a:lnTo>
                  <a:pt x="898" y="766"/>
                </a:lnTo>
                <a:lnTo>
                  <a:pt x="895" y="768"/>
                </a:lnTo>
                <a:lnTo>
                  <a:pt x="890" y="770"/>
                </a:lnTo>
                <a:lnTo>
                  <a:pt x="885" y="773"/>
                </a:lnTo>
                <a:lnTo>
                  <a:pt x="878" y="775"/>
                </a:lnTo>
                <a:lnTo>
                  <a:pt x="872" y="777"/>
                </a:lnTo>
                <a:lnTo>
                  <a:pt x="863" y="777"/>
                </a:lnTo>
                <a:lnTo>
                  <a:pt x="855" y="779"/>
                </a:lnTo>
                <a:lnTo>
                  <a:pt x="846" y="781"/>
                </a:lnTo>
                <a:lnTo>
                  <a:pt x="836" y="781"/>
                </a:lnTo>
                <a:lnTo>
                  <a:pt x="826" y="781"/>
                </a:lnTo>
                <a:lnTo>
                  <a:pt x="816" y="782"/>
                </a:lnTo>
                <a:lnTo>
                  <a:pt x="805" y="782"/>
                </a:lnTo>
                <a:lnTo>
                  <a:pt x="783" y="781"/>
                </a:lnTo>
                <a:lnTo>
                  <a:pt x="771" y="779"/>
                </a:lnTo>
                <a:lnTo>
                  <a:pt x="759" y="779"/>
                </a:lnTo>
                <a:lnTo>
                  <a:pt x="749" y="777"/>
                </a:lnTo>
                <a:lnTo>
                  <a:pt x="739" y="775"/>
                </a:lnTo>
                <a:lnTo>
                  <a:pt x="729" y="773"/>
                </a:lnTo>
                <a:lnTo>
                  <a:pt x="721" y="771"/>
                </a:lnTo>
                <a:lnTo>
                  <a:pt x="712" y="770"/>
                </a:lnTo>
                <a:lnTo>
                  <a:pt x="706" y="766"/>
                </a:lnTo>
                <a:lnTo>
                  <a:pt x="699" y="764"/>
                </a:lnTo>
                <a:lnTo>
                  <a:pt x="692" y="762"/>
                </a:lnTo>
                <a:lnTo>
                  <a:pt x="687" y="759"/>
                </a:lnTo>
                <a:lnTo>
                  <a:pt x="684" y="757"/>
                </a:lnTo>
                <a:lnTo>
                  <a:pt x="680" y="753"/>
                </a:lnTo>
                <a:lnTo>
                  <a:pt x="679" y="749"/>
                </a:lnTo>
                <a:lnTo>
                  <a:pt x="677" y="748"/>
                </a:lnTo>
                <a:lnTo>
                  <a:pt x="679" y="744"/>
                </a:lnTo>
                <a:lnTo>
                  <a:pt x="679" y="742"/>
                </a:lnTo>
                <a:lnTo>
                  <a:pt x="680" y="740"/>
                </a:lnTo>
                <a:lnTo>
                  <a:pt x="682" y="738"/>
                </a:lnTo>
                <a:lnTo>
                  <a:pt x="685" y="737"/>
                </a:lnTo>
                <a:lnTo>
                  <a:pt x="687" y="735"/>
                </a:lnTo>
                <a:lnTo>
                  <a:pt x="692" y="733"/>
                </a:lnTo>
                <a:lnTo>
                  <a:pt x="696" y="733"/>
                </a:lnTo>
                <a:lnTo>
                  <a:pt x="701" y="731"/>
                </a:lnTo>
                <a:lnTo>
                  <a:pt x="687" y="733"/>
                </a:lnTo>
                <a:lnTo>
                  <a:pt x="675" y="735"/>
                </a:lnTo>
                <a:lnTo>
                  <a:pt x="662" y="737"/>
                </a:lnTo>
                <a:lnTo>
                  <a:pt x="649" y="737"/>
                </a:lnTo>
                <a:lnTo>
                  <a:pt x="635" y="737"/>
                </a:lnTo>
                <a:lnTo>
                  <a:pt x="622" y="737"/>
                </a:lnTo>
                <a:lnTo>
                  <a:pt x="610" y="735"/>
                </a:lnTo>
                <a:lnTo>
                  <a:pt x="597" y="733"/>
                </a:lnTo>
                <a:lnTo>
                  <a:pt x="585" y="731"/>
                </a:lnTo>
                <a:lnTo>
                  <a:pt x="573" y="729"/>
                </a:lnTo>
                <a:lnTo>
                  <a:pt x="563" y="726"/>
                </a:lnTo>
                <a:lnTo>
                  <a:pt x="553" y="722"/>
                </a:lnTo>
                <a:lnTo>
                  <a:pt x="543" y="718"/>
                </a:lnTo>
                <a:lnTo>
                  <a:pt x="535" y="715"/>
                </a:lnTo>
                <a:lnTo>
                  <a:pt x="526" y="709"/>
                </a:lnTo>
                <a:lnTo>
                  <a:pt x="520" y="703"/>
                </a:lnTo>
                <a:lnTo>
                  <a:pt x="514" y="698"/>
                </a:lnTo>
                <a:lnTo>
                  <a:pt x="511" y="694"/>
                </a:lnTo>
                <a:lnTo>
                  <a:pt x="508" y="689"/>
                </a:lnTo>
                <a:lnTo>
                  <a:pt x="506" y="683"/>
                </a:lnTo>
                <a:lnTo>
                  <a:pt x="506" y="678"/>
                </a:lnTo>
                <a:lnTo>
                  <a:pt x="506" y="672"/>
                </a:lnTo>
                <a:lnTo>
                  <a:pt x="508" y="667"/>
                </a:lnTo>
                <a:lnTo>
                  <a:pt x="511" y="663"/>
                </a:lnTo>
                <a:lnTo>
                  <a:pt x="498" y="667"/>
                </a:lnTo>
                <a:lnTo>
                  <a:pt x="484" y="670"/>
                </a:lnTo>
                <a:lnTo>
                  <a:pt x="471" y="672"/>
                </a:lnTo>
                <a:lnTo>
                  <a:pt x="457" y="674"/>
                </a:lnTo>
                <a:lnTo>
                  <a:pt x="442" y="676"/>
                </a:lnTo>
                <a:lnTo>
                  <a:pt x="427" y="678"/>
                </a:lnTo>
                <a:lnTo>
                  <a:pt x="412" y="680"/>
                </a:lnTo>
                <a:lnTo>
                  <a:pt x="399" y="680"/>
                </a:lnTo>
                <a:lnTo>
                  <a:pt x="384" y="680"/>
                </a:lnTo>
                <a:lnTo>
                  <a:pt x="369" y="678"/>
                </a:lnTo>
                <a:lnTo>
                  <a:pt x="354" y="676"/>
                </a:lnTo>
                <a:lnTo>
                  <a:pt x="340" y="674"/>
                </a:lnTo>
                <a:lnTo>
                  <a:pt x="325" y="672"/>
                </a:lnTo>
                <a:lnTo>
                  <a:pt x="312" y="670"/>
                </a:lnTo>
                <a:lnTo>
                  <a:pt x="298" y="667"/>
                </a:lnTo>
                <a:lnTo>
                  <a:pt x="287" y="663"/>
                </a:lnTo>
                <a:lnTo>
                  <a:pt x="268" y="658"/>
                </a:lnTo>
                <a:lnTo>
                  <a:pt x="251" y="652"/>
                </a:lnTo>
                <a:lnTo>
                  <a:pt x="236" y="647"/>
                </a:lnTo>
                <a:lnTo>
                  <a:pt x="223" y="641"/>
                </a:lnTo>
                <a:lnTo>
                  <a:pt x="209" y="636"/>
                </a:lnTo>
                <a:lnTo>
                  <a:pt x="198" y="630"/>
                </a:lnTo>
                <a:lnTo>
                  <a:pt x="188" y="625"/>
                </a:lnTo>
                <a:lnTo>
                  <a:pt x="179" y="617"/>
                </a:lnTo>
                <a:lnTo>
                  <a:pt x="173" y="612"/>
                </a:lnTo>
                <a:lnTo>
                  <a:pt x="166" y="606"/>
                </a:lnTo>
                <a:lnTo>
                  <a:pt x="161" y="599"/>
                </a:lnTo>
                <a:lnTo>
                  <a:pt x="159" y="592"/>
                </a:lnTo>
                <a:lnTo>
                  <a:pt x="157" y="586"/>
                </a:lnTo>
                <a:lnTo>
                  <a:pt x="157" y="579"/>
                </a:lnTo>
                <a:lnTo>
                  <a:pt x="159" y="573"/>
                </a:lnTo>
                <a:lnTo>
                  <a:pt x="162" y="566"/>
                </a:lnTo>
                <a:lnTo>
                  <a:pt x="149" y="568"/>
                </a:lnTo>
                <a:lnTo>
                  <a:pt x="137" y="568"/>
                </a:lnTo>
                <a:lnTo>
                  <a:pt x="124" y="568"/>
                </a:lnTo>
                <a:lnTo>
                  <a:pt x="112" y="568"/>
                </a:lnTo>
                <a:lnTo>
                  <a:pt x="99" y="568"/>
                </a:lnTo>
                <a:lnTo>
                  <a:pt x="87" y="566"/>
                </a:lnTo>
                <a:lnTo>
                  <a:pt x="75" y="564"/>
                </a:lnTo>
                <a:lnTo>
                  <a:pt x="65" y="560"/>
                </a:lnTo>
                <a:lnTo>
                  <a:pt x="55" y="558"/>
                </a:lnTo>
                <a:lnTo>
                  <a:pt x="45" y="555"/>
                </a:lnTo>
                <a:lnTo>
                  <a:pt x="37" y="551"/>
                </a:lnTo>
                <a:lnTo>
                  <a:pt x="28" y="547"/>
                </a:lnTo>
                <a:lnTo>
                  <a:pt x="20" y="544"/>
                </a:lnTo>
                <a:lnTo>
                  <a:pt x="15" y="538"/>
                </a:lnTo>
                <a:lnTo>
                  <a:pt x="8" y="533"/>
                </a:lnTo>
                <a:lnTo>
                  <a:pt x="5" y="527"/>
                </a:lnTo>
                <a:lnTo>
                  <a:pt x="3" y="524"/>
                </a:lnTo>
                <a:lnTo>
                  <a:pt x="2" y="520"/>
                </a:lnTo>
                <a:lnTo>
                  <a:pt x="0" y="516"/>
                </a:lnTo>
                <a:lnTo>
                  <a:pt x="0" y="513"/>
                </a:lnTo>
                <a:lnTo>
                  <a:pt x="0" y="507"/>
                </a:lnTo>
                <a:lnTo>
                  <a:pt x="2" y="503"/>
                </a:lnTo>
                <a:lnTo>
                  <a:pt x="3" y="500"/>
                </a:lnTo>
                <a:lnTo>
                  <a:pt x="7" y="496"/>
                </a:lnTo>
                <a:lnTo>
                  <a:pt x="8" y="492"/>
                </a:lnTo>
                <a:lnTo>
                  <a:pt x="12" y="489"/>
                </a:lnTo>
                <a:lnTo>
                  <a:pt x="17" y="485"/>
                </a:lnTo>
                <a:lnTo>
                  <a:pt x="22" y="481"/>
                </a:lnTo>
                <a:lnTo>
                  <a:pt x="27" y="478"/>
                </a:lnTo>
                <a:lnTo>
                  <a:pt x="32" y="476"/>
                </a:lnTo>
                <a:lnTo>
                  <a:pt x="38" y="472"/>
                </a:lnTo>
                <a:lnTo>
                  <a:pt x="45" y="470"/>
                </a:lnTo>
                <a:lnTo>
                  <a:pt x="38" y="467"/>
                </a:lnTo>
                <a:lnTo>
                  <a:pt x="32" y="463"/>
                </a:lnTo>
                <a:lnTo>
                  <a:pt x="27" y="459"/>
                </a:lnTo>
                <a:lnTo>
                  <a:pt x="22" y="456"/>
                </a:lnTo>
                <a:lnTo>
                  <a:pt x="18" y="452"/>
                </a:lnTo>
                <a:lnTo>
                  <a:pt x="17" y="448"/>
                </a:lnTo>
                <a:lnTo>
                  <a:pt x="17" y="445"/>
                </a:lnTo>
                <a:lnTo>
                  <a:pt x="17" y="441"/>
                </a:lnTo>
                <a:lnTo>
                  <a:pt x="18" y="437"/>
                </a:lnTo>
                <a:lnTo>
                  <a:pt x="20" y="435"/>
                </a:lnTo>
                <a:lnTo>
                  <a:pt x="23" y="432"/>
                </a:lnTo>
                <a:lnTo>
                  <a:pt x="28" y="428"/>
                </a:lnTo>
                <a:lnTo>
                  <a:pt x="35" y="426"/>
                </a:lnTo>
                <a:lnTo>
                  <a:pt x="42" y="423"/>
                </a:lnTo>
                <a:lnTo>
                  <a:pt x="50" y="421"/>
                </a:lnTo>
                <a:lnTo>
                  <a:pt x="59" y="419"/>
                </a:lnTo>
                <a:lnTo>
                  <a:pt x="60" y="419"/>
                </a:lnTo>
                <a:lnTo>
                  <a:pt x="62" y="419"/>
                </a:lnTo>
              </a:path>
            </a:pathLst>
          </a:custGeom>
          <a:solidFill>
            <a:schemeClr val="accent2"/>
          </a:solidFill>
          <a:ln w="19050">
            <a:solidFill>
              <a:srgbClr val="000000"/>
            </a:solidFill>
            <a:round/>
          </a:ln>
        </p:spPr>
        <p:txBody>
          <a:bodyPr/>
          <a:lstStyle/>
          <a:p>
            <a:endParaRPr lang="zh-CN" altLang="en-US"/>
          </a:p>
        </p:txBody>
      </p:sp>
      <p:sp>
        <p:nvSpPr>
          <p:cNvPr id="25611" name="Rectangle 13"/>
          <p:cNvSpPr>
            <a:spLocks noChangeArrowheads="1"/>
          </p:cNvSpPr>
          <p:nvPr/>
        </p:nvSpPr>
        <p:spPr bwMode="auto">
          <a:xfrm>
            <a:off x="6172200" y="3082578"/>
            <a:ext cx="1909763"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FontTx/>
              <a:buNone/>
            </a:pPr>
            <a:r>
              <a:rPr kumimoji="1" lang="en-US" altLang="zh-CN" sz="1300">
                <a:solidFill>
                  <a:srgbClr val="000000"/>
                </a:solidFill>
                <a:latin typeface="Tahoma" panose="020B0604030504040204" pitchFamily="34" charset="0"/>
                <a:ea typeface="隶书" panose="02010509060101010101" pitchFamily="49" charset="-122"/>
              </a:rPr>
              <a:t>TASK_INTERRUPTIBLE</a:t>
            </a:r>
            <a:endParaRPr kumimoji="1" lang="en-US" altLang="zh-CN" sz="2400">
              <a:solidFill>
                <a:schemeClr val="tx1"/>
              </a:solidFill>
              <a:latin typeface="Times New Roman" panose="02020603050405020304" pitchFamily="18" charset="0"/>
              <a:ea typeface="隶书" panose="02010509060101010101" pitchFamily="49" charset="-122"/>
            </a:endParaRPr>
          </a:p>
        </p:txBody>
      </p:sp>
      <p:sp>
        <p:nvSpPr>
          <p:cNvPr id="25612" name="Rectangle 14"/>
          <p:cNvSpPr>
            <a:spLocks noChangeArrowheads="1"/>
          </p:cNvSpPr>
          <p:nvPr/>
        </p:nvSpPr>
        <p:spPr bwMode="auto">
          <a:xfrm>
            <a:off x="6791325" y="3303240"/>
            <a:ext cx="6604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FontTx/>
              <a:buNone/>
            </a:pPr>
            <a:r>
              <a:rPr kumimoji="1" lang="zh-CN" altLang="en-US" sz="1300">
                <a:solidFill>
                  <a:srgbClr val="000000"/>
                </a:solidFill>
                <a:latin typeface="宋体" panose="02010600030101010101" pitchFamily="2" charset="-122"/>
              </a:rPr>
              <a:t>浅度睡眠</a:t>
            </a:r>
            <a:endParaRPr kumimoji="1" lang="zh-CN" altLang="en-US" sz="2400">
              <a:solidFill>
                <a:schemeClr val="tx1"/>
              </a:solidFill>
              <a:latin typeface="Times New Roman" panose="02020603050405020304" pitchFamily="18" charset="0"/>
              <a:ea typeface="隶书" panose="02010509060101010101" pitchFamily="49" charset="-122"/>
            </a:endParaRPr>
          </a:p>
        </p:txBody>
      </p:sp>
      <p:sp>
        <p:nvSpPr>
          <p:cNvPr id="25613" name="Freeform 15"/>
          <p:cNvSpPr/>
          <p:nvPr/>
        </p:nvSpPr>
        <p:spPr bwMode="auto">
          <a:xfrm>
            <a:off x="1216025" y="3477865"/>
            <a:ext cx="2533650" cy="792163"/>
          </a:xfrm>
          <a:custGeom>
            <a:avLst/>
            <a:gdLst>
              <a:gd name="T0" fmla="*/ 2147483646 w 3192"/>
              <a:gd name="T1" fmla="*/ 2147483646 h 999"/>
              <a:gd name="T2" fmla="*/ 2147483646 w 3192"/>
              <a:gd name="T3" fmla="*/ 2147483646 h 999"/>
              <a:gd name="T4" fmla="*/ 2147483646 w 3192"/>
              <a:gd name="T5" fmla="*/ 2147483646 h 999"/>
              <a:gd name="T6" fmla="*/ 2147483646 w 3192"/>
              <a:gd name="T7" fmla="*/ 2147483646 h 999"/>
              <a:gd name="T8" fmla="*/ 2147483646 w 3192"/>
              <a:gd name="T9" fmla="*/ 2147483646 h 999"/>
              <a:gd name="T10" fmla="*/ 2147483646 w 3192"/>
              <a:gd name="T11" fmla="*/ 2147483646 h 999"/>
              <a:gd name="T12" fmla="*/ 2147483646 w 3192"/>
              <a:gd name="T13" fmla="*/ 2147483646 h 999"/>
              <a:gd name="T14" fmla="*/ 2147483646 w 3192"/>
              <a:gd name="T15" fmla="*/ 2147483646 h 999"/>
              <a:gd name="T16" fmla="*/ 2147483646 w 3192"/>
              <a:gd name="T17" fmla="*/ 2147483646 h 999"/>
              <a:gd name="T18" fmla="*/ 2147483646 w 3192"/>
              <a:gd name="T19" fmla="*/ 2147483646 h 999"/>
              <a:gd name="T20" fmla="*/ 2147483646 w 3192"/>
              <a:gd name="T21" fmla="*/ 2147483646 h 999"/>
              <a:gd name="T22" fmla="*/ 2147483646 w 3192"/>
              <a:gd name="T23" fmla="*/ 2147483646 h 999"/>
              <a:gd name="T24" fmla="*/ 2147483646 w 3192"/>
              <a:gd name="T25" fmla="*/ 2147483646 h 999"/>
              <a:gd name="T26" fmla="*/ 2147483646 w 3192"/>
              <a:gd name="T27" fmla="*/ 2147483646 h 999"/>
              <a:gd name="T28" fmla="*/ 2147483646 w 3192"/>
              <a:gd name="T29" fmla="*/ 2147483646 h 999"/>
              <a:gd name="T30" fmla="*/ 2147483646 w 3192"/>
              <a:gd name="T31" fmla="*/ 2147483646 h 999"/>
              <a:gd name="T32" fmla="*/ 2147483646 w 3192"/>
              <a:gd name="T33" fmla="*/ 2147483646 h 999"/>
              <a:gd name="T34" fmla="*/ 2147483646 w 3192"/>
              <a:gd name="T35" fmla="*/ 2147483646 h 999"/>
              <a:gd name="T36" fmla="*/ 2147483646 w 3192"/>
              <a:gd name="T37" fmla="*/ 2147483646 h 999"/>
              <a:gd name="T38" fmla="*/ 2147483646 w 3192"/>
              <a:gd name="T39" fmla="*/ 2147483646 h 999"/>
              <a:gd name="T40" fmla="*/ 2147483646 w 3192"/>
              <a:gd name="T41" fmla="*/ 2147483646 h 999"/>
              <a:gd name="T42" fmla="*/ 2147483646 w 3192"/>
              <a:gd name="T43" fmla="*/ 2147483646 h 999"/>
              <a:gd name="T44" fmla="*/ 2147483646 w 3192"/>
              <a:gd name="T45" fmla="*/ 2147483646 h 999"/>
              <a:gd name="T46" fmla="*/ 2147483646 w 3192"/>
              <a:gd name="T47" fmla="*/ 2147483646 h 999"/>
              <a:gd name="T48" fmla="*/ 2147483646 w 3192"/>
              <a:gd name="T49" fmla="*/ 2147483646 h 999"/>
              <a:gd name="T50" fmla="*/ 2147483646 w 3192"/>
              <a:gd name="T51" fmla="*/ 2147483646 h 999"/>
              <a:gd name="T52" fmla="*/ 2147483646 w 3192"/>
              <a:gd name="T53" fmla="*/ 2147483646 h 999"/>
              <a:gd name="T54" fmla="*/ 2147483646 w 3192"/>
              <a:gd name="T55" fmla="*/ 2147483646 h 999"/>
              <a:gd name="T56" fmla="*/ 2147483646 w 3192"/>
              <a:gd name="T57" fmla="*/ 2147483646 h 999"/>
              <a:gd name="T58" fmla="*/ 2147483646 w 3192"/>
              <a:gd name="T59" fmla="*/ 2147483646 h 999"/>
              <a:gd name="T60" fmla="*/ 2147483646 w 3192"/>
              <a:gd name="T61" fmla="*/ 2147483646 h 999"/>
              <a:gd name="T62" fmla="*/ 2147483646 w 3192"/>
              <a:gd name="T63" fmla="*/ 2147483646 h 999"/>
              <a:gd name="T64" fmla="*/ 2147483646 w 3192"/>
              <a:gd name="T65" fmla="*/ 2147483646 h 999"/>
              <a:gd name="T66" fmla="*/ 2147483646 w 3192"/>
              <a:gd name="T67" fmla="*/ 2147483646 h 999"/>
              <a:gd name="T68" fmla="*/ 2147483646 w 3192"/>
              <a:gd name="T69" fmla="*/ 2147483646 h 999"/>
              <a:gd name="T70" fmla="*/ 2147483646 w 3192"/>
              <a:gd name="T71" fmla="*/ 2147483646 h 999"/>
              <a:gd name="T72" fmla="*/ 2147483646 w 3192"/>
              <a:gd name="T73" fmla="*/ 2147483646 h 999"/>
              <a:gd name="T74" fmla="*/ 2147483646 w 3192"/>
              <a:gd name="T75" fmla="*/ 2147483646 h 999"/>
              <a:gd name="T76" fmla="*/ 2147483646 w 3192"/>
              <a:gd name="T77" fmla="*/ 2147483646 h 999"/>
              <a:gd name="T78" fmla="*/ 2147483646 w 3192"/>
              <a:gd name="T79" fmla="*/ 2147483646 h 999"/>
              <a:gd name="T80" fmla="*/ 2147483646 w 3192"/>
              <a:gd name="T81" fmla="*/ 2147483646 h 999"/>
              <a:gd name="T82" fmla="*/ 2147483646 w 3192"/>
              <a:gd name="T83" fmla="*/ 2147483646 h 999"/>
              <a:gd name="T84" fmla="*/ 2147483646 w 3192"/>
              <a:gd name="T85" fmla="*/ 2147483646 h 999"/>
              <a:gd name="T86" fmla="*/ 2147483646 w 3192"/>
              <a:gd name="T87" fmla="*/ 2147483646 h 999"/>
              <a:gd name="T88" fmla="*/ 2147483646 w 3192"/>
              <a:gd name="T89" fmla="*/ 2147483646 h 999"/>
              <a:gd name="T90" fmla="*/ 2147483646 w 3192"/>
              <a:gd name="T91" fmla="*/ 2147483646 h 999"/>
              <a:gd name="T92" fmla="*/ 2147483646 w 3192"/>
              <a:gd name="T93" fmla="*/ 2147483646 h 999"/>
              <a:gd name="T94" fmla="*/ 2147483646 w 3192"/>
              <a:gd name="T95" fmla="*/ 2147483646 h 999"/>
              <a:gd name="T96" fmla="*/ 2147483646 w 3192"/>
              <a:gd name="T97" fmla="*/ 2147483646 h 999"/>
              <a:gd name="T98" fmla="*/ 2147483646 w 3192"/>
              <a:gd name="T99" fmla="*/ 2147483646 h 999"/>
              <a:gd name="T100" fmla="*/ 2147483646 w 3192"/>
              <a:gd name="T101" fmla="*/ 2147483646 h 999"/>
              <a:gd name="T102" fmla="*/ 2147483646 w 3192"/>
              <a:gd name="T103" fmla="*/ 2147483646 h 999"/>
              <a:gd name="T104" fmla="*/ 2147483646 w 3192"/>
              <a:gd name="T105" fmla="*/ 2147483646 h 999"/>
              <a:gd name="T106" fmla="*/ 2147483646 w 3192"/>
              <a:gd name="T107" fmla="*/ 2147483646 h 999"/>
              <a:gd name="T108" fmla="*/ 2147483646 w 3192"/>
              <a:gd name="T109" fmla="*/ 2147483646 h 999"/>
              <a:gd name="T110" fmla="*/ 2147483646 w 3192"/>
              <a:gd name="T111" fmla="*/ 2147483646 h 999"/>
              <a:gd name="T112" fmla="*/ 2147483646 w 3192"/>
              <a:gd name="T113" fmla="*/ 2147483646 h 999"/>
              <a:gd name="T114" fmla="*/ 2147483646 w 3192"/>
              <a:gd name="T115" fmla="*/ 2147483646 h 999"/>
              <a:gd name="T116" fmla="*/ 2147483646 w 3192"/>
              <a:gd name="T117" fmla="*/ 2147483646 h 999"/>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3192"/>
              <a:gd name="T178" fmla="*/ 0 h 999"/>
              <a:gd name="T179" fmla="*/ 3192 w 3192"/>
              <a:gd name="T180" fmla="*/ 999 h 999"/>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3192" h="999">
                <a:moveTo>
                  <a:pt x="69" y="501"/>
                </a:moveTo>
                <a:lnTo>
                  <a:pt x="59" y="497"/>
                </a:lnTo>
                <a:lnTo>
                  <a:pt x="49" y="494"/>
                </a:lnTo>
                <a:lnTo>
                  <a:pt x="39" y="490"/>
                </a:lnTo>
                <a:lnTo>
                  <a:pt x="30" y="484"/>
                </a:lnTo>
                <a:lnTo>
                  <a:pt x="24" y="479"/>
                </a:lnTo>
                <a:lnTo>
                  <a:pt x="19" y="473"/>
                </a:lnTo>
                <a:lnTo>
                  <a:pt x="14" y="468"/>
                </a:lnTo>
                <a:lnTo>
                  <a:pt x="10" y="462"/>
                </a:lnTo>
                <a:lnTo>
                  <a:pt x="7" y="457"/>
                </a:lnTo>
                <a:lnTo>
                  <a:pt x="7" y="451"/>
                </a:lnTo>
                <a:lnTo>
                  <a:pt x="7" y="446"/>
                </a:lnTo>
                <a:lnTo>
                  <a:pt x="7" y="439"/>
                </a:lnTo>
                <a:lnTo>
                  <a:pt x="10" y="433"/>
                </a:lnTo>
                <a:lnTo>
                  <a:pt x="14" y="428"/>
                </a:lnTo>
                <a:lnTo>
                  <a:pt x="19" y="422"/>
                </a:lnTo>
                <a:lnTo>
                  <a:pt x="25" y="417"/>
                </a:lnTo>
                <a:lnTo>
                  <a:pt x="34" y="411"/>
                </a:lnTo>
                <a:lnTo>
                  <a:pt x="42" y="406"/>
                </a:lnTo>
                <a:lnTo>
                  <a:pt x="52" y="402"/>
                </a:lnTo>
                <a:lnTo>
                  <a:pt x="64" y="398"/>
                </a:lnTo>
                <a:lnTo>
                  <a:pt x="76" y="394"/>
                </a:lnTo>
                <a:lnTo>
                  <a:pt x="87" y="391"/>
                </a:lnTo>
                <a:lnTo>
                  <a:pt x="101" y="389"/>
                </a:lnTo>
                <a:lnTo>
                  <a:pt x="114" y="387"/>
                </a:lnTo>
                <a:lnTo>
                  <a:pt x="111" y="383"/>
                </a:lnTo>
                <a:lnTo>
                  <a:pt x="106" y="380"/>
                </a:lnTo>
                <a:lnTo>
                  <a:pt x="102" y="376"/>
                </a:lnTo>
                <a:lnTo>
                  <a:pt x="99" y="372"/>
                </a:lnTo>
                <a:lnTo>
                  <a:pt x="96" y="369"/>
                </a:lnTo>
                <a:lnTo>
                  <a:pt x="94" y="365"/>
                </a:lnTo>
                <a:lnTo>
                  <a:pt x="92" y="360"/>
                </a:lnTo>
                <a:lnTo>
                  <a:pt x="91" y="356"/>
                </a:lnTo>
                <a:lnTo>
                  <a:pt x="89" y="352"/>
                </a:lnTo>
                <a:lnTo>
                  <a:pt x="89" y="349"/>
                </a:lnTo>
                <a:lnTo>
                  <a:pt x="89" y="345"/>
                </a:lnTo>
                <a:lnTo>
                  <a:pt x="89" y="339"/>
                </a:lnTo>
                <a:lnTo>
                  <a:pt x="91" y="332"/>
                </a:lnTo>
                <a:lnTo>
                  <a:pt x="94" y="325"/>
                </a:lnTo>
                <a:lnTo>
                  <a:pt x="97" y="317"/>
                </a:lnTo>
                <a:lnTo>
                  <a:pt x="104" y="308"/>
                </a:lnTo>
                <a:lnTo>
                  <a:pt x="112" y="303"/>
                </a:lnTo>
                <a:lnTo>
                  <a:pt x="122" y="295"/>
                </a:lnTo>
                <a:lnTo>
                  <a:pt x="133" y="288"/>
                </a:lnTo>
                <a:lnTo>
                  <a:pt x="146" y="282"/>
                </a:lnTo>
                <a:lnTo>
                  <a:pt x="159" y="277"/>
                </a:lnTo>
                <a:lnTo>
                  <a:pt x="174" y="273"/>
                </a:lnTo>
                <a:lnTo>
                  <a:pt x="186" y="270"/>
                </a:lnTo>
                <a:lnTo>
                  <a:pt x="200" y="266"/>
                </a:lnTo>
                <a:lnTo>
                  <a:pt x="213" y="264"/>
                </a:lnTo>
                <a:lnTo>
                  <a:pt x="228" y="262"/>
                </a:lnTo>
                <a:lnTo>
                  <a:pt x="241" y="260"/>
                </a:lnTo>
                <a:lnTo>
                  <a:pt x="257" y="260"/>
                </a:lnTo>
                <a:lnTo>
                  <a:pt x="270" y="260"/>
                </a:lnTo>
                <a:lnTo>
                  <a:pt x="285" y="260"/>
                </a:lnTo>
                <a:lnTo>
                  <a:pt x="282" y="255"/>
                </a:lnTo>
                <a:lnTo>
                  <a:pt x="280" y="251"/>
                </a:lnTo>
                <a:lnTo>
                  <a:pt x="280" y="246"/>
                </a:lnTo>
                <a:lnTo>
                  <a:pt x="278" y="242"/>
                </a:lnTo>
                <a:lnTo>
                  <a:pt x="278" y="237"/>
                </a:lnTo>
                <a:lnTo>
                  <a:pt x="280" y="231"/>
                </a:lnTo>
                <a:lnTo>
                  <a:pt x="280" y="227"/>
                </a:lnTo>
                <a:lnTo>
                  <a:pt x="282" y="222"/>
                </a:lnTo>
                <a:lnTo>
                  <a:pt x="283" y="218"/>
                </a:lnTo>
                <a:lnTo>
                  <a:pt x="285" y="213"/>
                </a:lnTo>
                <a:lnTo>
                  <a:pt x="288" y="209"/>
                </a:lnTo>
                <a:lnTo>
                  <a:pt x="292" y="204"/>
                </a:lnTo>
                <a:lnTo>
                  <a:pt x="295" y="200"/>
                </a:lnTo>
                <a:lnTo>
                  <a:pt x="300" y="196"/>
                </a:lnTo>
                <a:lnTo>
                  <a:pt x="304" y="193"/>
                </a:lnTo>
                <a:lnTo>
                  <a:pt x="309" y="187"/>
                </a:lnTo>
                <a:lnTo>
                  <a:pt x="320" y="180"/>
                </a:lnTo>
                <a:lnTo>
                  <a:pt x="334" y="172"/>
                </a:lnTo>
                <a:lnTo>
                  <a:pt x="347" y="167"/>
                </a:lnTo>
                <a:lnTo>
                  <a:pt x="362" y="161"/>
                </a:lnTo>
                <a:lnTo>
                  <a:pt x="379" y="156"/>
                </a:lnTo>
                <a:lnTo>
                  <a:pt x="397" y="150"/>
                </a:lnTo>
                <a:lnTo>
                  <a:pt x="418" y="147"/>
                </a:lnTo>
                <a:lnTo>
                  <a:pt x="438" y="145"/>
                </a:lnTo>
                <a:lnTo>
                  <a:pt x="454" y="143"/>
                </a:lnTo>
                <a:lnTo>
                  <a:pt x="473" y="141"/>
                </a:lnTo>
                <a:lnTo>
                  <a:pt x="490" y="141"/>
                </a:lnTo>
                <a:lnTo>
                  <a:pt x="508" y="143"/>
                </a:lnTo>
                <a:lnTo>
                  <a:pt x="526" y="143"/>
                </a:lnTo>
                <a:lnTo>
                  <a:pt x="543" y="145"/>
                </a:lnTo>
                <a:lnTo>
                  <a:pt x="560" y="148"/>
                </a:lnTo>
                <a:lnTo>
                  <a:pt x="577" y="152"/>
                </a:lnTo>
                <a:lnTo>
                  <a:pt x="572" y="145"/>
                </a:lnTo>
                <a:lnTo>
                  <a:pt x="568" y="139"/>
                </a:lnTo>
                <a:lnTo>
                  <a:pt x="565" y="132"/>
                </a:lnTo>
                <a:lnTo>
                  <a:pt x="565" y="126"/>
                </a:lnTo>
                <a:lnTo>
                  <a:pt x="565" y="119"/>
                </a:lnTo>
                <a:lnTo>
                  <a:pt x="567" y="114"/>
                </a:lnTo>
                <a:lnTo>
                  <a:pt x="570" y="108"/>
                </a:lnTo>
                <a:lnTo>
                  <a:pt x="573" y="101"/>
                </a:lnTo>
                <a:lnTo>
                  <a:pt x="580" y="95"/>
                </a:lnTo>
                <a:lnTo>
                  <a:pt x="587" y="90"/>
                </a:lnTo>
                <a:lnTo>
                  <a:pt x="594" y="84"/>
                </a:lnTo>
                <a:lnTo>
                  <a:pt x="604" y="81"/>
                </a:lnTo>
                <a:lnTo>
                  <a:pt x="614" y="75"/>
                </a:lnTo>
                <a:lnTo>
                  <a:pt x="624" y="71"/>
                </a:lnTo>
                <a:lnTo>
                  <a:pt x="635" y="68"/>
                </a:lnTo>
                <a:lnTo>
                  <a:pt x="649" y="66"/>
                </a:lnTo>
                <a:lnTo>
                  <a:pt x="662" y="62"/>
                </a:lnTo>
                <a:lnTo>
                  <a:pt x="674" y="60"/>
                </a:lnTo>
                <a:lnTo>
                  <a:pt x="687" y="60"/>
                </a:lnTo>
                <a:lnTo>
                  <a:pt x="701" y="58"/>
                </a:lnTo>
                <a:lnTo>
                  <a:pt x="714" y="60"/>
                </a:lnTo>
                <a:lnTo>
                  <a:pt x="728" y="60"/>
                </a:lnTo>
                <a:lnTo>
                  <a:pt x="739" y="62"/>
                </a:lnTo>
                <a:lnTo>
                  <a:pt x="753" y="64"/>
                </a:lnTo>
                <a:lnTo>
                  <a:pt x="765" y="66"/>
                </a:lnTo>
                <a:lnTo>
                  <a:pt x="776" y="68"/>
                </a:lnTo>
                <a:lnTo>
                  <a:pt x="788" y="71"/>
                </a:lnTo>
                <a:lnTo>
                  <a:pt x="798" y="75"/>
                </a:lnTo>
                <a:lnTo>
                  <a:pt x="806" y="79"/>
                </a:lnTo>
                <a:lnTo>
                  <a:pt x="817" y="84"/>
                </a:lnTo>
                <a:lnTo>
                  <a:pt x="823" y="90"/>
                </a:lnTo>
                <a:lnTo>
                  <a:pt x="832" y="95"/>
                </a:lnTo>
                <a:lnTo>
                  <a:pt x="833" y="88"/>
                </a:lnTo>
                <a:lnTo>
                  <a:pt x="838" y="81"/>
                </a:lnTo>
                <a:lnTo>
                  <a:pt x="843" y="75"/>
                </a:lnTo>
                <a:lnTo>
                  <a:pt x="850" y="68"/>
                </a:lnTo>
                <a:lnTo>
                  <a:pt x="858" y="62"/>
                </a:lnTo>
                <a:lnTo>
                  <a:pt x="867" y="57"/>
                </a:lnTo>
                <a:lnTo>
                  <a:pt x="879" y="51"/>
                </a:lnTo>
                <a:lnTo>
                  <a:pt x="889" y="47"/>
                </a:lnTo>
                <a:lnTo>
                  <a:pt x="902" y="44"/>
                </a:lnTo>
                <a:lnTo>
                  <a:pt x="914" y="40"/>
                </a:lnTo>
                <a:lnTo>
                  <a:pt x="927" y="36"/>
                </a:lnTo>
                <a:lnTo>
                  <a:pt x="942" y="35"/>
                </a:lnTo>
                <a:lnTo>
                  <a:pt x="957" y="33"/>
                </a:lnTo>
                <a:lnTo>
                  <a:pt x="972" y="33"/>
                </a:lnTo>
                <a:lnTo>
                  <a:pt x="988" y="31"/>
                </a:lnTo>
                <a:lnTo>
                  <a:pt x="1003" y="33"/>
                </a:lnTo>
                <a:lnTo>
                  <a:pt x="1018" y="33"/>
                </a:lnTo>
                <a:lnTo>
                  <a:pt x="1031" y="35"/>
                </a:lnTo>
                <a:lnTo>
                  <a:pt x="1045" y="38"/>
                </a:lnTo>
                <a:lnTo>
                  <a:pt x="1058" y="40"/>
                </a:lnTo>
                <a:lnTo>
                  <a:pt x="1070" y="44"/>
                </a:lnTo>
                <a:lnTo>
                  <a:pt x="1081" y="47"/>
                </a:lnTo>
                <a:lnTo>
                  <a:pt x="1093" y="53"/>
                </a:lnTo>
                <a:lnTo>
                  <a:pt x="1103" y="57"/>
                </a:lnTo>
                <a:lnTo>
                  <a:pt x="1113" y="51"/>
                </a:lnTo>
                <a:lnTo>
                  <a:pt x="1123" y="47"/>
                </a:lnTo>
                <a:lnTo>
                  <a:pt x="1133" y="42"/>
                </a:lnTo>
                <a:lnTo>
                  <a:pt x="1145" y="36"/>
                </a:lnTo>
                <a:lnTo>
                  <a:pt x="1169" y="29"/>
                </a:lnTo>
                <a:lnTo>
                  <a:pt x="1194" y="22"/>
                </a:lnTo>
                <a:lnTo>
                  <a:pt x="1221" y="16"/>
                </a:lnTo>
                <a:lnTo>
                  <a:pt x="1247" y="11"/>
                </a:lnTo>
                <a:lnTo>
                  <a:pt x="1276" y="7"/>
                </a:lnTo>
                <a:lnTo>
                  <a:pt x="1304" y="5"/>
                </a:lnTo>
                <a:lnTo>
                  <a:pt x="1333" y="3"/>
                </a:lnTo>
                <a:lnTo>
                  <a:pt x="1363" y="5"/>
                </a:lnTo>
                <a:lnTo>
                  <a:pt x="1392" y="5"/>
                </a:lnTo>
                <a:lnTo>
                  <a:pt x="1420" y="9"/>
                </a:lnTo>
                <a:lnTo>
                  <a:pt x="1449" y="13"/>
                </a:lnTo>
                <a:lnTo>
                  <a:pt x="1475" y="18"/>
                </a:lnTo>
                <a:lnTo>
                  <a:pt x="1502" y="25"/>
                </a:lnTo>
                <a:lnTo>
                  <a:pt x="1527" y="35"/>
                </a:lnTo>
                <a:lnTo>
                  <a:pt x="1531" y="29"/>
                </a:lnTo>
                <a:lnTo>
                  <a:pt x="1534" y="25"/>
                </a:lnTo>
                <a:lnTo>
                  <a:pt x="1537" y="22"/>
                </a:lnTo>
                <a:lnTo>
                  <a:pt x="1542" y="18"/>
                </a:lnTo>
                <a:lnTo>
                  <a:pt x="1547" y="14"/>
                </a:lnTo>
                <a:lnTo>
                  <a:pt x="1554" y="13"/>
                </a:lnTo>
                <a:lnTo>
                  <a:pt x="1561" y="9"/>
                </a:lnTo>
                <a:lnTo>
                  <a:pt x="1568" y="7"/>
                </a:lnTo>
                <a:lnTo>
                  <a:pt x="1576" y="5"/>
                </a:lnTo>
                <a:lnTo>
                  <a:pt x="1584" y="3"/>
                </a:lnTo>
                <a:lnTo>
                  <a:pt x="1601" y="2"/>
                </a:lnTo>
                <a:lnTo>
                  <a:pt x="1620" y="2"/>
                </a:lnTo>
                <a:lnTo>
                  <a:pt x="1638" y="2"/>
                </a:lnTo>
                <a:lnTo>
                  <a:pt x="1650" y="3"/>
                </a:lnTo>
                <a:lnTo>
                  <a:pt x="1661" y="7"/>
                </a:lnTo>
                <a:lnTo>
                  <a:pt x="1673" y="9"/>
                </a:lnTo>
                <a:lnTo>
                  <a:pt x="1682" y="14"/>
                </a:lnTo>
                <a:lnTo>
                  <a:pt x="1690" y="18"/>
                </a:lnTo>
                <a:lnTo>
                  <a:pt x="1697" y="24"/>
                </a:lnTo>
                <a:lnTo>
                  <a:pt x="1700" y="25"/>
                </a:lnTo>
                <a:lnTo>
                  <a:pt x="1703" y="29"/>
                </a:lnTo>
                <a:lnTo>
                  <a:pt x="1705" y="33"/>
                </a:lnTo>
                <a:lnTo>
                  <a:pt x="1707" y="35"/>
                </a:lnTo>
                <a:lnTo>
                  <a:pt x="1707" y="31"/>
                </a:lnTo>
                <a:lnTo>
                  <a:pt x="1708" y="27"/>
                </a:lnTo>
                <a:lnTo>
                  <a:pt x="1712" y="24"/>
                </a:lnTo>
                <a:lnTo>
                  <a:pt x="1715" y="20"/>
                </a:lnTo>
                <a:lnTo>
                  <a:pt x="1720" y="16"/>
                </a:lnTo>
                <a:lnTo>
                  <a:pt x="1725" y="13"/>
                </a:lnTo>
                <a:lnTo>
                  <a:pt x="1732" y="11"/>
                </a:lnTo>
                <a:lnTo>
                  <a:pt x="1739" y="9"/>
                </a:lnTo>
                <a:lnTo>
                  <a:pt x="1745" y="5"/>
                </a:lnTo>
                <a:lnTo>
                  <a:pt x="1754" y="3"/>
                </a:lnTo>
                <a:lnTo>
                  <a:pt x="1762" y="3"/>
                </a:lnTo>
                <a:lnTo>
                  <a:pt x="1770" y="2"/>
                </a:lnTo>
                <a:lnTo>
                  <a:pt x="1789" y="0"/>
                </a:lnTo>
                <a:lnTo>
                  <a:pt x="1809" y="2"/>
                </a:lnTo>
                <a:lnTo>
                  <a:pt x="1822" y="3"/>
                </a:lnTo>
                <a:lnTo>
                  <a:pt x="1837" y="5"/>
                </a:lnTo>
                <a:lnTo>
                  <a:pt x="1849" y="9"/>
                </a:lnTo>
                <a:lnTo>
                  <a:pt x="1863" y="13"/>
                </a:lnTo>
                <a:lnTo>
                  <a:pt x="1873" y="16"/>
                </a:lnTo>
                <a:lnTo>
                  <a:pt x="1883" y="22"/>
                </a:lnTo>
                <a:lnTo>
                  <a:pt x="1886" y="25"/>
                </a:lnTo>
                <a:lnTo>
                  <a:pt x="1889" y="27"/>
                </a:lnTo>
                <a:lnTo>
                  <a:pt x="1893" y="31"/>
                </a:lnTo>
                <a:lnTo>
                  <a:pt x="1896" y="33"/>
                </a:lnTo>
                <a:lnTo>
                  <a:pt x="1901" y="31"/>
                </a:lnTo>
                <a:lnTo>
                  <a:pt x="1908" y="29"/>
                </a:lnTo>
                <a:lnTo>
                  <a:pt x="1916" y="29"/>
                </a:lnTo>
                <a:lnTo>
                  <a:pt x="1923" y="27"/>
                </a:lnTo>
                <a:lnTo>
                  <a:pt x="1940" y="25"/>
                </a:lnTo>
                <a:lnTo>
                  <a:pt x="1958" y="25"/>
                </a:lnTo>
                <a:lnTo>
                  <a:pt x="1975" y="25"/>
                </a:lnTo>
                <a:lnTo>
                  <a:pt x="1993" y="27"/>
                </a:lnTo>
                <a:lnTo>
                  <a:pt x="2010" y="31"/>
                </a:lnTo>
                <a:lnTo>
                  <a:pt x="2017" y="33"/>
                </a:lnTo>
                <a:lnTo>
                  <a:pt x="2025" y="35"/>
                </a:lnTo>
                <a:lnTo>
                  <a:pt x="2032" y="36"/>
                </a:lnTo>
                <a:lnTo>
                  <a:pt x="2039" y="40"/>
                </a:lnTo>
                <a:lnTo>
                  <a:pt x="2045" y="42"/>
                </a:lnTo>
                <a:lnTo>
                  <a:pt x="2049" y="46"/>
                </a:lnTo>
                <a:lnTo>
                  <a:pt x="2054" y="47"/>
                </a:lnTo>
                <a:lnTo>
                  <a:pt x="2055" y="51"/>
                </a:lnTo>
                <a:lnTo>
                  <a:pt x="2057" y="55"/>
                </a:lnTo>
                <a:lnTo>
                  <a:pt x="2059" y="57"/>
                </a:lnTo>
                <a:lnTo>
                  <a:pt x="2065" y="53"/>
                </a:lnTo>
                <a:lnTo>
                  <a:pt x="2074" y="47"/>
                </a:lnTo>
                <a:lnTo>
                  <a:pt x="2082" y="44"/>
                </a:lnTo>
                <a:lnTo>
                  <a:pt x="2092" y="40"/>
                </a:lnTo>
                <a:lnTo>
                  <a:pt x="2104" y="38"/>
                </a:lnTo>
                <a:lnTo>
                  <a:pt x="2117" y="35"/>
                </a:lnTo>
                <a:lnTo>
                  <a:pt x="2131" y="33"/>
                </a:lnTo>
                <a:lnTo>
                  <a:pt x="2146" y="31"/>
                </a:lnTo>
                <a:lnTo>
                  <a:pt x="2161" y="29"/>
                </a:lnTo>
                <a:lnTo>
                  <a:pt x="2176" y="29"/>
                </a:lnTo>
                <a:lnTo>
                  <a:pt x="2193" y="29"/>
                </a:lnTo>
                <a:lnTo>
                  <a:pt x="2210" y="29"/>
                </a:lnTo>
                <a:lnTo>
                  <a:pt x="2226" y="31"/>
                </a:lnTo>
                <a:lnTo>
                  <a:pt x="2243" y="31"/>
                </a:lnTo>
                <a:lnTo>
                  <a:pt x="2260" y="33"/>
                </a:lnTo>
                <a:lnTo>
                  <a:pt x="2277" y="36"/>
                </a:lnTo>
                <a:lnTo>
                  <a:pt x="2288" y="38"/>
                </a:lnTo>
                <a:lnTo>
                  <a:pt x="2302" y="40"/>
                </a:lnTo>
                <a:lnTo>
                  <a:pt x="2314" y="44"/>
                </a:lnTo>
                <a:lnTo>
                  <a:pt x="2325" y="47"/>
                </a:lnTo>
                <a:lnTo>
                  <a:pt x="2335" y="49"/>
                </a:lnTo>
                <a:lnTo>
                  <a:pt x="2344" y="53"/>
                </a:lnTo>
                <a:lnTo>
                  <a:pt x="2354" y="57"/>
                </a:lnTo>
                <a:lnTo>
                  <a:pt x="2360" y="60"/>
                </a:lnTo>
                <a:lnTo>
                  <a:pt x="2369" y="66"/>
                </a:lnTo>
                <a:lnTo>
                  <a:pt x="2374" y="70"/>
                </a:lnTo>
                <a:lnTo>
                  <a:pt x="2379" y="73"/>
                </a:lnTo>
                <a:lnTo>
                  <a:pt x="2384" y="77"/>
                </a:lnTo>
                <a:lnTo>
                  <a:pt x="2387" y="82"/>
                </a:lnTo>
                <a:lnTo>
                  <a:pt x="2389" y="86"/>
                </a:lnTo>
                <a:lnTo>
                  <a:pt x="2391" y="92"/>
                </a:lnTo>
                <a:lnTo>
                  <a:pt x="2391" y="95"/>
                </a:lnTo>
                <a:lnTo>
                  <a:pt x="2407" y="90"/>
                </a:lnTo>
                <a:lnTo>
                  <a:pt x="2424" y="84"/>
                </a:lnTo>
                <a:lnTo>
                  <a:pt x="2443" y="82"/>
                </a:lnTo>
                <a:lnTo>
                  <a:pt x="2461" y="79"/>
                </a:lnTo>
                <a:lnTo>
                  <a:pt x="2478" y="79"/>
                </a:lnTo>
                <a:lnTo>
                  <a:pt x="2486" y="79"/>
                </a:lnTo>
                <a:lnTo>
                  <a:pt x="2493" y="81"/>
                </a:lnTo>
                <a:lnTo>
                  <a:pt x="2501" y="81"/>
                </a:lnTo>
                <a:lnTo>
                  <a:pt x="2508" y="82"/>
                </a:lnTo>
                <a:lnTo>
                  <a:pt x="2513" y="84"/>
                </a:lnTo>
                <a:lnTo>
                  <a:pt x="2520" y="86"/>
                </a:lnTo>
                <a:lnTo>
                  <a:pt x="2523" y="88"/>
                </a:lnTo>
                <a:lnTo>
                  <a:pt x="2526" y="90"/>
                </a:lnTo>
                <a:lnTo>
                  <a:pt x="2528" y="93"/>
                </a:lnTo>
                <a:lnTo>
                  <a:pt x="2531" y="95"/>
                </a:lnTo>
                <a:lnTo>
                  <a:pt x="2531" y="99"/>
                </a:lnTo>
                <a:lnTo>
                  <a:pt x="2533" y="101"/>
                </a:lnTo>
                <a:lnTo>
                  <a:pt x="2533" y="104"/>
                </a:lnTo>
                <a:lnTo>
                  <a:pt x="2533" y="106"/>
                </a:lnTo>
                <a:lnTo>
                  <a:pt x="2531" y="110"/>
                </a:lnTo>
                <a:lnTo>
                  <a:pt x="2530" y="114"/>
                </a:lnTo>
                <a:lnTo>
                  <a:pt x="2528" y="115"/>
                </a:lnTo>
                <a:lnTo>
                  <a:pt x="2525" y="119"/>
                </a:lnTo>
                <a:lnTo>
                  <a:pt x="2521" y="123"/>
                </a:lnTo>
                <a:lnTo>
                  <a:pt x="2518" y="126"/>
                </a:lnTo>
                <a:lnTo>
                  <a:pt x="2513" y="128"/>
                </a:lnTo>
                <a:lnTo>
                  <a:pt x="2508" y="132"/>
                </a:lnTo>
                <a:lnTo>
                  <a:pt x="2523" y="126"/>
                </a:lnTo>
                <a:lnTo>
                  <a:pt x="2537" y="123"/>
                </a:lnTo>
                <a:lnTo>
                  <a:pt x="2553" y="119"/>
                </a:lnTo>
                <a:lnTo>
                  <a:pt x="2568" y="115"/>
                </a:lnTo>
                <a:lnTo>
                  <a:pt x="2585" y="114"/>
                </a:lnTo>
                <a:lnTo>
                  <a:pt x="2602" y="112"/>
                </a:lnTo>
                <a:lnTo>
                  <a:pt x="2619" y="112"/>
                </a:lnTo>
                <a:lnTo>
                  <a:pt x="2635" y="112"/>
                </a:lnTo>
                <a:lnTo>
                  <a:pt x="2652" y="114"/>
                </a:lnTo>
                <a:lnTo>
                  <a:pt x="2669" y="114"/>
                </a:lnTo>
                <a:lnTo>
                  <a:pt x="2684" y="117"/>
                </a:lnTo>
                <a:lnTo>
                  <a:pt x="2701" y="119"/>
                </a:lnTo>
                <a:lnTo>
                  <a:pt x="2716" y="125"/>
                </a:lnTo>
                <a:lnTo>
                  <a:pt x="2729" y="128"/>
                </a:lnTo>
                <a:lnTo>
                  <a:pt x="2743" y="134"/>
                </a:lnTo>
                <a:lnTo>
                  <a:pt x="2756" y="139"/>
                </a:lnTo>
                <a:lnTo>
                  <a:pt x="2763" y="145"/>
                </a:lnTo>
                <a:lnTo>
                  <a:pt x="2770" y="148"/>
                </a:lnTo>
                <a:lnTo>
                  <a:pt x="2776" y="152"/>
                </a:lnTo>
                <a:lnTo>
                  <a:pt x="2781" y="158"/>
                </a:lnTo>
                <a:lnTo>
                  <a:pt x="2786" y="163"/>
                </a:lnTo>
                <a:lnTo>
                  <a:pt x="2790" y="167"/>
                </a:lnTo>
                <a:lnTo>
                  <a:pt x="2793" y="172"/>
                </a:lnTo>
                <a:lnTo>
                  <a:pt x="2796" y="178"/>
                </a:lnTo>
                <a:lnTo>
                  <a:pt x="2798" y="183"/>
                </a:lnTo>
                <a:lnTo>
                  <a:pt x="2800" y="189"/>
                </a:lnTo>
                <a:lnTo>
                  <a:pt x="2800" y="194"/>
                </a:lnTo>
                <a:lnTo>
                  <a:pt x="2798" y="200"/>
                </a:lnTo>
                <a:lnTo>
                  <a:pt x="2798" y="205"/>
                </a:lnTo>
                <a:lnTo>
                  <a:pt x="2796" y="211"/>
                </a:lnTo>
                <a:lnTo>
                  <a:pt x="2793" y="215"/>
                </a:lnTo>
                <a:lnTo>
                  <a:pt x="2790" y="220"/>
                </a:lnTo>
                <a:lnTo>
                  <a:pt x="2805" y="224"/>
                </a:lnTo>
                <a:lnTo>
                  <a:pt x="2820" y="227"/>
                </a:lnTo>
                <a:lnTo>
                  <a:pt x="2835" y="231"/>
                </a:lnTo>
                <a:lnTo>
                  <a:pt x="2848" y="235"/>
                </a:lnTo>
                <a:lnTo>
                  <a:pt x="2860" y="240"/>
                </a:lnTo>
                <a:lnTo>
                  <a:pt x="2870" y="244"/>
                </a:lnTo>
                <a:lnTo>
                  <a:pt x="2880" y="249"/>
                </a:lnTo>
                <a:lnTo>
                  <a:pt x="2889" y="253"/>
                </a:lnTo>
                <a:lnTo>
                  <a:pt x="2895" y="259"/>
                </a:lnTo>
                <a:lnTo>
                  <a:pt x="2900" y="264"/>
                </a:lnTo>
                <a:lnTo>
                  <a:pt x="2904" y="270"/>
                </a:lnTo>
                <a:lnTo>
                  <a:pt x="2907" y="275"/>
                </a:lnTo>
                <a:lnTo>
                  <a:pt x="2909" y="281"/>
                </a:lnTo>
                <a:lnTo>
                  <a:pt x="2909" y="286"/>
                </a:lnTo>
                <a:lnTo>
                  <a:pt x="2907" y="292"/>
                </a:lnTo>
                <a:lnTo>
                  <a:pt x="2904" y="297"/>
                </a:lnTo>
                <a:lnTo>
                  <a:pt x="2929" y="297"/>
                </a:lnTo>
                <a:lnTo>
                  <a:pt x="2952" y="299"/>
                </a:lnTo>
                <a:lnTo>
                  <a:pt x="2976" y="301"/>
                </a:lnTo>
                <a:lnTo>
                  <a:pt x="2998" y="303"/>
                </a:lnTo>
                <a:lnTo>
                  <a:pt x="3019" y="306"/>
                </a:lnTo>
                <a:lnTo>
                  <a:pt x="3039" y="310"/>
                </a:lnTo>
                <a:lnTo>
                  <a:pt x="3056" y="316"/>
                </a:lnTo>
                <a:lnTo>
                  <a:pt x="3065" y="317"/>
                </a:lnTo>
                <a:lnTo>
                  <a:pt x="3073" y="321"/>
                </a:lnTo>
                <a:lnTo>
                  <a:pt x="3081" y="323"/>
                </a:lnTo>
                <a:lnTo>
                  <a:pt x="3088" y="327"/>
                </a:lnTo>
                <a:lnTo>
                  <a:pt x="3095" y="328"/>
                </a:lnTo>
                <a:lnTo>
                  <a:pt x="3101" y="332"/>
                </a:lnTo>
                <a:lnTo>
                  <a:pt x="3106" y="336"/>
                </a:lnTo>
                <a:lnTo>
                  <a:pt x="3113" y="338"/>
                </a:lnTo>
                <a:lnTo>
                  <a:pt x="3118" y="341"/>
                </a:lnTo>
                <a:lnTo>
                  <a:pt x="3122" y="345"/>
                </a:lnTo>
                <a:lnTo>
                  <a:pt x="3125" y="349"/>
                </a:lnTo>
                <a:lnTo>
                  <a:pt x="3128" y="352"/>
                </a:lnTo>
                <a:lnTo>
                  <a:pt x="3132" y="356"/>
                </a:lnTo>
                <a:lnTo>
                  <a:pt x="3133" y="360"/>
                </a:lnTo>
                <a:lnTo>
                  <a:pt x="3135" y="363"/>
                </a:lnTo>
                <a:lnTo>
                  <a:pt x="3135" y="367"/>
                </a:lnTo>
                <a:lnTo>
                  <a:pt x="3137" y="371"/>
                </a:lnTo>
                <a:lnTo>
                  <a:pt x="3135" y="374"/>
                </a:lnTo>
                <a:lnTo>
                  <a:pt x="3135" y="378"/>
                </a:lnTo>
                <a:lnTo>
                  <a:pt x="3133" y="382"/>
                </a:lnTo>
                <a:lnTo>
                  <a:pt x="3132" y="385"/>
                </a:lnTo>
                <a:lnTo>
                  <a:pt x="3130" y="389"/>
                </a:lnTo>
                <a:lnTo>
                  <a:pt x="3127" y="391"/>
                </a:lnTo>
                <a:lnTo>
                  <a:pt x="3123" y="394"/>
                </a:lnTo>
                <a:lnTo>
                  <a:pt x="3120" y="398"/>
                </a:lnTo>
                <a:lnTo>
                  <a:pt x="3117" y="400"/>
                </a:lnTo>
                <a:lnTo>
                  <a:pt x="3106" y="407"/>
                </a:lnTo>
                <a:lnTo>
                  <a:pt x="3096" y="413"/>
                </a:lnTo>
                <a:lnTo>
                  <a:pt x="3085" y="418"/>
                </a:lnTo>
                <a:lnTo>
                  <a:pt x="3071" y="424"/>
                </a:lnTo>
                <a:lnTo>
                  <a:pt x="3083" y="426"/>
                </a:lnTo>
                <a:lnTo>
                  <a:pt x="3096" y="428"/>
                </a:lnTo>
                <a:lnTo>
                  <a:pt x="3106" y="429"/>
                </a:lnTo>
                <a:lnTo>
                  <a:pt x="3117" y="433"/>
                </a:lnTo>
                <a:lnTo>
                  <a:pt x="3127" y="437"/>
                </a:lnTo>
                <a:lnTo>
                  <a:pt x="3135" y="440"/>
                </a:lnTo>
                <a:lnTo>
                  <a:pt x="3142" y="444"/>
                </a:lnTo>
                <a:lnTo>
                  <a:pt x="3147" y="448"/>
                </a:lnTo>
                <a:lnTo>
                  <a:pt x="3152" y="451"/>
                </a:lnTo>
                <a:lnTo>
                  <a:pt x="3155" y="455"/>
                </a:lnTo>
                <a:lnTo>
                  <a:pt x="3157" y="461"/>
                </a:lnTo>
                <a:lnTo>
                  <a:pt x="3157" y="464"/>
                </a:lnTo>
                <a:lnTo>
                  <a:pt x="3157" y="468"/>
                </a:lnTo>
                <a:lnTo>
                  <a:pt x="3153" y="473"/>
                </a:lnTo>
                <a:lnTo>
                  <a:pt x="3150" y="477"/>
                </a:lnTo>
                <a:lnTo>
                  <a:pt x="3145" y="481"/>
                </a:lnTo>
                <a:lnTo>
                  <a:pt x="3140" y="484"/>
                </a:lnTo>
                <a:lnTo>
                  <a:pt x="3135" y="488"/>
                </a:lnTo>
                <a:lnTo>
                  <a:pt x="3130" y="490"/>
                </a:lnTo>
                <a:lnTo>
                  <a:pt x="3123" y="492"/>
                </a:lnTo>
                <a:lnTo>
                  <a:pt x="3117" y="495"/>
                </a:lnTo>
                <a:lnTo>
                  <a:pt x="3108" y="497"/>
                </a:lnTo>
                <a:lnTo>
                  <a:pt x="3100" y="499"/>
                </a:lnTo>
                <a:lnTo>
                  <a:pt x="3091" y="501"/>
                </a:lnTo>
                <a:lnTo>
                  <a:pt x="3105" y="499"/>
                </a:lnTo>
                <a:lnTo>
                  <a:pt x="3120" y="497"/>
                </a:lnTo>
                <a:lnTo>
                  <a:pt x="3133" y="499"/>
                </a:lnTo>
                <a:lnTo>
                  <a:pt x="3147" y="501"/>
                </a:lnTo>
                <a:lnTo>
                  <a:pt x="3158" y="503"/>
                </a:lnTo>
                <a:lnTo>
                  <a:pt x="3163" y="505"/>
                </a:lnTo>
                <a:lnTo>
                  <a:pt x="3170" y="506"/>
                </a:lnTo>
                <a:lnTo>
                  <a:pt x="3175" y="510"/>
                </a:lnTo>
                <a:lnTo>
                  <a:pt x="3179" y="512"/>
                </a:lnTo>
                <a:lnTo>
                  <a:pt x="3182" y="516"/>
                </a:lnTo>
                <a:lnTo>
                  <a:pt x="3185" y="518"/>
                </a:lnTo>
                <a:lnTo>
                  <a:pt x="3189" y="521"/>
                </a:lnTo>
                <a:lnTo>
                  <a:pt x="3190" y="525"/>
                </a:lnTo>
                <a:lnTo>
                  <a:pt x="3192" y="529"/>
                </a:lnTo>
                <a:lnTo>
                  <a:pt x="3192" y="530"/>
                </a:lnTo>
                <a:lnTo>
                  <a:pt x="3192" y="534"/>
                </a:lnTo>
                <a:lnTo>
                  <a:pt x="3190" y="538"/>
                </a:lnTo>
                <a:lnTo>
                  <a:pt x="3190" y="541"/>
                </a:lnTo>
                <a:lnTo>
                  <a:pt x="3187" y="543"/>
                </a:lnTo>
                <a:lnTo>
                  <a:pt x="3185" y="547"/>
                </a:lnTo>
                <a:lnTo>
                  <a:pt x="3182" y="549"/>
                </a:lnTo>
                <a:lnTo>
                  <a:pt x="3177" y="552"/>
                </a:lnTo>
                <a:lnTo>
                  <a:pt x="3174" y="554"/>
                </a:lnTo>
                <a:lnTo>
                  <a:pt x="3169" y="556"/>
                </a:lnTo>
                <a:lnTo>
                  <a:pt x="3162" y="558"/>
                </a:lnTo>
                <a:lnTo>
                  <a:pt x="3157" y="560"/>
                </a:lnTo>
                <a:lnTo>
                  <a:pt x="3150" y="562"/>
                </a:lnTo>
                <a:lnTo>
                  <a:pt x="3140" y="563"/>
                </a:lnTo>
                <a:lnTo>
                  <a:pt x="3132" y="565"/>
                </a:lnTo>
                <a:lnTo>
                  <a:pt x="3123" y="565"/>
                </a:lnTo>
                <a:lnTo>
                  <a:pt x="3113" y="565"/>
                </a:lnTo>
                <a:lnTo>
                  <a:pt x="3105" y="563"/>
                </a:lnTo>
                <a:lnTo>
                  <a:pt x="3096" y="563"/>
                </a:lnTo>
                <a:lnTo>
                  <a:pt x="3088" y="562"/>
                </a:lnTo>
                <a:lnTo>
                  <a:pt x="3080" y="560"/>
                </a:lnTo>
                <a:lnTo>
                  <a:pt x="3090" y="565"/>
                </a:lnTo>
                <a:lnTo>
                  <a:pt x="3098" y="571"/>
                </a:lnTo>
                <a:lnTo>
                  <a:pt x="3105" y="576"/>
                </a:lnTo>
                <a:lnTo>
                  <a:pt x="3110" y="584"/>
                </a:lnTo>
                <a:lnTo>
                  <a:pt x="3115" y="591"/>
                </a:lnTo>
                <a:lnTo>
                  <a:pt x="3117" y="596"/>
                </a:lnTo>
                <a:lnTo>
                  <a:pt x="3118" y="604"/>
                </a:lnTo>
                <a:lnTo>
                  <a:pt x="3118" y="611"/>
                </a:lnTo>
                <a:lnTo>
                  <a:pt x="3117" y="618"/>
                </a:lnTo>
                <a:lnTo>
                  <a:pt x="3113" y="624"/>
                </a:lnTo>
                <a:lnTo>
                  <a:pt x="3110" y="631"/>
                </a:lnTo>
                <a:lnTo>
                  <a:pt x="3103" y="637"/>
                </a:lnTo>
                <a:lnTo>
                  <a:pt x="3096" y="644"/>
                </a:lnTo>
                <a:lnTo>
                  <a:pt x="3088" y="650"/>
                </a:lnTo>
                <a:lnTo>
                  <a:pt x="3078" y="655"/>
                </a:lnTo>
                <a:lnTo>
                  <a:pt x="3066" y="661"/>
                </a:lnTo>
                <a:lnTo>
                  <a:pt x="3058" y="664"/>
                </a:lnTo>
                <a:lnTo>
                  <a:pt x="3048" y="666"/>
                </a:lnTo>
                <a:lnTo>
                  <a:pt x="3036" y="670"/>
                </a:lnTo>
                <a:lnTo>
                  <a:pt x="3026" y="672"/>
                </a:lnTo>
                <a:lnTo>
                  <a:pt x="3003" y="675"/>
                </a:lnTo>
                <a:lnTo>
                  <a:pt x="2979" y="677"/>
                </a:lnTo>
                <a:lnTo>
                  <a:pt x="2989" y="679"/>
                </a:lnTo>
                <a:lnTo>
                  <a:pt x="2998" y="681"/>
                </a:lnTo>
                <a:lnTo>
                  <a:pt x="3006" y="683"/>
                </a:lnTo>
                <a:lnTo>
                  <a:pt x="3014" y="685"/>
                </a:lnTo>
                <a:lnTo>
                  <a:pt x="3021" y="688"/>
                </a:lnTo>
                <a:lnTo>
                  <a:pt x="3028" y="690"/>
                </a:lnTo>
                <a:lnTo>
                  <a:pt x="3033" y="694"/>
                </a:lnTo>
                <a:lnTo>
                  <a:pt x="3038" y="697"/>
                </a:lnTo>
                <a:lnTo>
                  <a:pt x="3041" y="701"/>
                </a:lnTo>
                <a:lnTo>
                  <a:pt x="3044" y="703"/>
                </a:lnTo>
                <a:lnTo>
                  <a:pt x="3046" y="707"/>
                </a:lnTo>
                <a:lnTo>
                  <a:pt x="3046" y="710"/>
                </a:lnTo>
                <a:lnTo>
                  <a:pt x="3048" y="714"/>
                </a:lnTo>
                <a:lnTo>
                  <a:pt x="3046" y="718"/>
                </a:lnTo>
                <a:lnTo>
                  <a:pt x="3044" y="721"/>
                </a:lnTo>
                <a:lnTo>
                  <a:pt x="3041" y="725"/>
                </a:lnTo>
                <a:lnTo>
                  <a:pt x="3038" y="729"/>
                </a:lnTo>
                <a:lnTo>
                  <a:pt x="3033" y="732"/>
                </a:lnTo>
                <a:lnTo>
                  <a:pt x="3028" y="736"/>
                </a:lnTo>
                <a:lnTo>
                  <a:pt x="3021" y="738"/>
                </a:lnTo>
                <a:lnTo>
                  <a:pt x="3014" y="742"/>
                </a:lnTo>
                <a:lnTo>
                  <a:pt x="3006" y="743"/>
                </a:lnTo>
                <a:lnTo>
                  <a:pt x="2998" y="745"/>
                </a:lnTo>
                <a:lnTo>
                  <a:pt x="2989" y="747"/>
                </a:lnTo>
                <a:lnTo>
                  <a:pt x="2971" y="751"/>
                </a:lnTo>
                <a:lnTo>
                  <a:pt x="2952" y="751"/>
                </a:lnTo>
                <a:lnTo>
                  <a:pt x="2932" y="751"/>
                </a:lnTo>
                <a:lnTo>
                  <a:pt x="2912" y="749"/>
                </a:lnTo>
                <a:lnTo>
                  <a:pt x="2902" y="749"/>
                </a:lnTo>
                <a:lnTo>
                  <a:pt x="2894" y="747"/>
                </a:lnTo>
                <a:lnTo>
                  <a:pt x="2884" y="743"/>
                </a:lnTo>
                <a:lnTo>
                  <a:pt x="2877" y="742"/>
                </a:lnTo>
                <a:lnTo>
                  <a:pt x="2878" y="747"/>
                </a:lnTo>
                <a:lnTo>
                  <a:pt x="2880" y="751"/>
                </a:lnTo>
                <a:lnTo>
                  <a:pt x="2882" y="756"/>
                </a:lnTo>
                <a:lnTo>
                  <a:pt x="2882" y="762"/>
                </a:lnTo>
                <a:lnTo>
                  <a:pt x="2882" y="765"/>
                </a:lnTo>
                <a:lnTo>
                  <a:pt x="2882" y="771"/>
                </a:lnTo>
                <a:lnTo>
                  <a:pt x="2880" y="775"/>
                </a:lnTo>
                <a:lnTo>
                  <a:pt x="2878" y="780"/>
                </a:lnTo>
                <a:lnTo>
                  <a:pt x="2877" y="784"/>
                </a:lnTo>
                <a:lnTo>
                  <a:pt x="2875" y="789"/>
                </a:lnTo>
                <a:lnTo>
                  <a:pt x="2872" y="793"/>
                </a:lnTo>
                <a:lnTo>
                  <a:pt x="2868" y="798"/>
                </a:lnTo>
                <a:lnTo>
                  <a:pt x="2865" y="802"/>
                </a:lnTo>
                <a:lnTo>
                  <a:pt x="2862" y="806"/>
                </a:lnTo>
                <a:lnTo>
                  <a:pt x="2857" y="811"/>
                </a:lnTo>
                <a:lnTo>
                  <a:pt x="2852" y="815"/>
                </a:lnTo>
                <a:lnTo>
                  <a:pt x="2840" y="822"/>
                </a:lnTo>
                <a:lnTo>
                  <a:pt x="2828" y="830"/>
                </a:lnTo>
                <a:lnTo>
                  <a:pt x="2813" y="835"/>
                </a:lnTo>
                <a:lnTo>
                  <a:pt x="2798" y="842"/>
                </a:lnTo>
                <a:lnTo>
                  <a:pt x="2781" y="846"/>
                </a:lnTo>
                <a:lnTo>
                  <a:pt x="2763" y="852"/>
                </a:lnTo>
                <a:lnTo>
                  <a:pt x="2744" y="855"/>
                </a:lnTo>
                <a:lnTo>
                  <a:pt x="2724" y="857"/>
                </a:lnTo>
                <a:lnTo>
                  <a:pt x="2706" y="859"/>
                </a:lnTo>
                <a:lnTo>
                  <a:pt x="2689" y="861"/>
                </a:lnTo>
                <a:lnTo>
                  <a:pt x="2671" y="861"/>
                </a:lnTo>
                <a:lnTo>
                  <a:pt x="2652" y="859"/>
                </a:lnTo>
                <a:lnTo>
                  <a:pt x="2635" y="859"/>
                </a:lnTo>
                <a:lnTo>
                  <a:pt x="2619" y="857"/>
                </a:lnTo>
                <a:lnTo>
                  <a:pt x="2600" y="853"/>
                </a:lnTo>
                <a:lnTo>
                  <a:pt x="2585" y="850"/>
                </a:lnTo>
                <a:lnTo>
                  <a:pt x="2587" y="853"/>
                </a:lnTo>
                <a:lnTo>
                  <a:pt x="2590" y="855"/>
                </a:lnTo>
                <a:lnTo>
                  <a:pt x="2594" y="861"/>
                </a:lnTo>
                <a:lnTo>
                  <a:pt x="2595" y="865"/>
                </a:lnTo>
                <a:lnTo>
                  <a:pt x="2595" y="870"/>
                </a:lnTo>
                <a:lnTo>
                  <a:pt x="2595" y="876"/>
                </a:lnTo>
                <a:lnTo>
                  <a:pt x="2592" y="879"/>
                </a:lnTo>
                <a:lnTo>
                  <a:pt x="2588" y="885"/>
                </a:lnTo>
                <a:lnTo>
                  <a:pt x="2582" y="888"/>
                </a:lnTo>
                <a:lnTo>
                  <a:pt x="2575" y="894"/>
                </a:lnTo>
                <a:lnTo>
                  <a:pt x="2567" y="898"/>
                </a:lnTo>
                <a:lnTo>
                  <a:pt x="2558" y="901"/>
                </a:lnTo>
                <a:lnTo>
                  <a:pt x="2547" y="905"/>
                </a:lnTo>
                <a:lnTo>
                  <a:pt x="2535" y="909"/>
                </a:lnTo>
                <a:lnTo>
                  <a:pt x="2523" y="910"/>
                </a:lnTo>
                <a:lnTo>
                  <a:pt x="2508" y="912"/>
                </a:lnTo>
                <a:lnTo>
                  <a:pt x="2493" y="916"/>
                </a:lnTo>
                <a:lnTo>
                  <a:pt x="2473" y="918"/>
                </a:lnTo>
                <a:lnTo>
                  <a:pt x="2451" y="918"/>
                </a:lnTo>
                <a:lnTo>
                  <a:pt x="2429" y="920"/>
                </a:lnTo>
                <a:lnTo>
                  <a:pt x="2409" y="918"/>
                </a:lnTo>
                <a:lnTo>
                  <a:pt x="2387" y="916"/>
                </a:lnTo>
                <a:lnTo>
                  <a:pt x="2367" y="914"/>
                </a:lnTo>
                <a:lnTo>
                  <a:pt x="2349" y="910"/>
                </a:lnTo>
                <a:lnTo>
                  <a:pt x="2330" y="907"/>
                </a:lnTo>
                <a:lnTo>
                  <a:pt x="2332" y="912"/>
                </a:lnTo>
                <a:lnTo>
                  <a:pt x="2332" y="920"/>
                </a:lnTo>
                <a:lnTo>
                  <a:pt x="2332" y="925"/>
                </a:lnTo>
                <a:lnTo>
                  <a:pt x="2330" y="931"/>
                </a:lnTo>
                <a:lnTo>
                  <a:pt x="2327" y="936"/>
                </a:lnTo>
                <a:lnTo>
                  <a:pt x="2322" y="942"/>
                </a:lnTo>
                <a:lnTo>
                  <a:pt x="2317" y="947"/>
                </a:lnTo>
                <a:lnTo>
                  <a:pt x="2310" y="953"/>
                </a:lnTo>
                <a:lnTo>
                  <a:pt x="2303" y="956"/>
                </a:lnTo>
                <a:lnTo>
                  <a:pt x="2295" y="960"/>
                </a:lnTo>
                <a:lnTo>
                  <a:pt x="2285" y="965"/>
                </a:lnTo>
                <a:lnTo>
                  <a:pt x="2275" y="967"/>
                </a:lnTo>
                <a:lnTo>
                  <a:pt x="2265" y="971"/>
                </a:lnTo>
                <a:lnTo>
                  <a:pt x="2253" y="973"/>
                </a:lnTo>
                <a:lnTo>
                  <a:pt x="2241" y="975"/>
                </a:lnTo>
                <a:lnTo>
                  <a:pt x="2228" y="977"/>
                </a:lnTo>
                <a:lnTo>
                  <a:pt x="2216" y="978"/>
                </a:lnTo>
                <a:lnTo>
                  <a:pt x="2205" y="978"/>
                </a:lnTo>
                <a:lnTo>
                  <a:pt x="2195" y="978"/>
                </a:lnTo>
                <a:lnTo>
                  <a:pt x="2183" y="977"/>
                </a:lnTo>
                <a:lnTo>
                  <a:pt x="2161" y="975"/>
                </a:lnTo>
                <a:lnTo>
                  <a:pt x="2151" y="973"/>
                </a:lnTo>
                <a:lnTo>
                  <a:pt x="2141" y="971"/>
                </a:lnTo>
                <a:lnTo>
                  <a:pt x="2132" y="967"/>
                </a:lnTo>
                <a:lnTo>
                  <a:pt x="2124" y="964"/>
                </a:lnTo>
                <a:lnTo>
                  <a:pt x="2116" y="962"/>
                </a:lnTo>
                <a:lnTo>
                  <a:pt x="2107" y="958"/>
                </a:lnTo>
                <a:lnTo>
                  <a:pt x="2101" y="953"/>
                </a:lnTo>
                <a:lnTo>
                  <a:pt x="2094" y="949"/>
                </a:lnTo>
                <a:lnTo>
                  <a:pt x="2089" y="943"/>
                </a:lnTo>
                <a:lnTo>
                  <a:pt x="2084" y="940"/>
                </a:lnTo>
                <a:lnTo>
                  <a:pt x="2087" y="943"/>
                </a:lnTo>
                <a:lnTo>
                  <a:pt x="2089" y="949"/>
                </a:lnTo>
                <a:lnTo>
                  <a:pt x="2089" y="954"/>
                </a:lnTo>
                <a:lnTo>
                  <a:pt x="2089" y="958"/>
                </a:lnTo>
                <a:lnTo>
                  <a:pt x="2086" y="964"/>
                </a:lnTo>
                <a:lnTo>
                  <a:pt x="2082" y="967"/>
                </a:lnTo>
                <a:lnTo>
                  <a:pt x="2079" y="971"/>
                </a:lnTo>
                <a:lnTo>
                  <a:pt x="2072" y="975"/>
                </a:lnTo>
                <a:lnTo>
                  <a:pt x="2065" y="980"/>
                </a:lnTo>
                <a:lnTo>
                  <a:pt x="2059" y="982"/>
                </a:lnTo>
                <a:lnTo>
                  <a:pt x="2049" y="986"/>
                </a:lnTo>
                <a:lnTo>
                  <a:pt x="2040" y="989"/>
                </a:lnTo>
                <a:lnTo>
                  <a:pt x="2029" y="991"/>
                </a:lnTo>
                <a:lnTo>
                  <a:pt x="2018" y="993"/>
                </a:lnTo>
                <a:lnTo>
                  <a:pt x="2005" y="995"/>
                </a:lnTo>
                <a:lnTo>
                  <a:pt x="1993" y="997"/>
                </a:lnTo>
                <a:lnTo>
                  <a:pt x="1980" y="997"/>
                </a:lnTo>
                <a:lnTo>
                  <a:pt x="1967" y="999"/>
                </a:lnTo>
                <a:lnTo>
                  <a:pt x="1953" y="999"/>
                </a:lnTo>
                <a:lnTo>
                  <a:pt x="1941" y="997"/>
                </a:lnTo>
                <a:lnTo>
                  <a:pt x="1916" y="995"/>
                </a:lnTo>
                <a:lnTo>
                  <a:pt x="1905" y="993"/>
                </a:lnTo>
                <a:lnTo>
                  <a:pt x="1893" y="991"/>
                </a:lnTo>
                <a:lnTo>
                  <a:pt x="1883" y="989"/>
                </a:lnTo>
                <a:lnTo>
                  <a:pt x="1873" y="986"/>
                </a:lnTo>
                <a:lnTo>
                  <a:pt x="1863" y="982"/>
                </a:lnTo>
                <a:lnTo>
                  <a:pt x="1854" y="978"/>
                </a:lnTo>
                <a:lnTo>
                  <a:pt x="1846" y="975"/>
                </a:lnTo>
                <a:lnTo>
                  <a:pt x="1839" y="971"/>
                </a:lnTo>
                <a:lnTo>
                  <a:pt x="1834" y="967"/>
                </a:lnTo>
                <a:lnTo>
                  <a:pt x="1829" y="962"/>
                </a:lnTo>
                <a:lnTo>
                  <a:pt x="1827" y="965"/>
                </a:lnTo>
                <a:lnTo>
                  <a:pt x="1824" y="971"/>
                </a:lnTo>
                <a:lnTo>
                  <a:pt x="1819" y="975"/>
                </a:lnTo>
                <a:lnTo>
                  <a:pt x="1814" y="977"/>
                </a:lnTo>
                <a:lnTo>
                  <a:pt x="1809" y="980"/>
                </a:lnTo>
                <a:lnTo>
                  <a:pt x="1801" y="984"/>
                </a:lnTo>
                <a:lnTo>
                  <a:pt x="1792" y="986"/>
                </a:lnTo>
                <a:lnTo>
                  <a:pt x="1784" y="989"/>
                </a:lnTo>
                <a:lnTo>
                  <a:pt x="1774" y="991"/>
                </a:lnTo>
                <a:lnTo>
                  <a:pt x="1764" y="993"/>
                </a:lnTo>
                <a:lnTo>
                  <a:pt x="1754" y="995"/>
                </a:lnTo>
                <a:lnTo>
                  <a:pt x="1742" y="997"/>
                </a:lnTo>
                <a:lnTo>
                  <a:pt x="1730" y="997"/>
                </a:lnTo>
                <a:lnTo>
                  <a:pt x="1717" y="997"/>
                </a:lnTo>
                <a:lnTo>
                  <a:pt x="1692" y="999"/>
                </a:lnTo>
                <a:lnTo>
                  <a:pt x="1671" y="997"/>
                </a:lnTo>
                <a:lnTo>
                  <a:pt x="1653" y="995"/>
                </a:lnTo>
                <a:lnTo>
                  <a:pt x="1636" y="991"/>
                </a:lnTo>
                <a:lnTo>
                  <a:pt x="1628" y="991"/>
                </a:lnTo>
                <a:lnTo>
                  <a:pt x="1621" y="989"/>
                </a:lnTo>
                <a:lnTo>
                  <a:pt x="1614" y="986"/>
                </a:lnTo>
                <a:lnTo>
                  <a:pt x="1608" y="984"/>
                </a:lnTo>
                <a:lnTo>
                  <a:pt x="1601" y="982"/>
                </a:lnTo>
                <a:lnTo>
                  <a:pt x="1596" y="980"/>
                </a:lnTo>
                <a:lnTo>
                  <a:pt x="1591" y="977"/>
                </a:lnTo>
                <a:lnTo>
                  <a:pt x="1588" y="975"/>
                </a:lnTo>
                <a:lnTo>
                  <a:pt x="1583" y="971"/>
                </a:lnTo>
                <a:lnTo>
                  <a:pt x="1581" y="969"/>
                </a:lnTo>
                <a:lnTo>
                  <a:pt x="1573" y="973"/>
                </a:lnTo>
                <a:lnTo>
                  <a:pt x="1564" y="978"/>
                </a:lnTo>
                <a:lnTo>
                  <a:pt x="1556" y="982"/>
                </a:lnTo>
                <a:lnTo>
                  <a:pt x="1544" y="986"/>
                </a:lnTo>
                <a:lnTo>
                  <a:pt x="1532" y="988"/>
                </a:lnTo>
                <a:lnTo>
                  <a:pt x="1521" y="991"/>
                </a:lnTo>
                <a:lnTo>
                  <a:pt x="1507" y="993"/>
                </a:lnTo>
                <a:lnTo>
                  <a:pt x="1492" y="995"/>
                </a:lnTo>
                <a:lnTo>
                  <a:pt x="1479" y="997"/>
                </a:lnTo>
                <a:lnTo>
                  <a:pt x="1464" y="999"/>
                </a:lnTo>
                <a:lnTo>
                  <a:pt x="1447" y="999"/>
                </a:lnTo>
                <a:lnTo>
                  <a:pt x="1432" y="999"/>
                </a:lnTo>
                <a:lnTo>
                  <a:pt x="1417" y="999"/>
                </a:lnTo>
                <a:lnTo>
                  <a:pt x="1400" y="999"/>
                </a:lnTo>
                <a:lnTo>
                  <a:pt x="1385" y="997"/>
                </a:lnTo>
                <a:lnTo>
                  <a:pt x="1368" y="995"/>
                </a:lnTo>
                <a:lnTo>
                  <a:pt x="1351" y="993"/>
                </a:lnTo>
                <a:lnTo>
                  <a:pt x="1335" y="989"/>
                </a:lnTo>
                <a:lnTo>
                  <a:pt x="1326" y="988"/>
                </a:lnTo>
                <a:lnTo>
                  <a:pt x="1319" y="986"/>
                </a:lnTo>
                <a:lnTo>
                  <a:pt x="1313" y="984"/>
                </a:lnTo>
                <a:lnTo>
                  <a:pt x="1306" y="980"/>
                </a:lnTo>
                <a:lnTo>
                  <a:pt x="1299" y="978"/>
                </a:lnTo>
                <a:lnTo>
                  <a:pt x="1294" y="977"/>
                </a:lnTo>
                <a:lnTo>
                  <a:pt x="1289" y="973"/>
                </a:lnTo>
                <a:lnTo>
                  <a:pt x="1284" y="971"/>
                </a:lnTo>
                <a:lnTo>
                  <a:pt x="1281" y="967"/>
                </a:lnTo>
                <a:lnTo>
                  <a:pt x="1278" y="965"/>
                </a:lnTo>
                <a:lnTo>
                  <a:pt x="1274" y="962"/>
                </a:lnTo>
                <a:lnTo>
                  <a:pt x="1272" y="958"/>
                </a:lnTo>
                <a:lnTo>
                  <a:pt x="1262" y="962"/>
                </a:lnTo>
                <a:lnTo>
                  <a:pt x="1252" y="964"/>
                </a:lnTo>
                <a:lnTo>
                  <a:pt x="1241" y="967"/>
                </a:lnTo>
                <a:lnTo>
                  <a:pt x="1229" y="967"/>
                </a:lnTo>
                <a:lnTo>
                  <a:pt x="1215" y="969"/>
                </a:lnTo>
                <a:lnTo>
                  <a:pt x="1202" y="971"/>
                </a:lnTo>
                <a:lnTo>
                  <a:pt x="1175" y="971"/>
                </a:lnTo>
                <a:lnTo>
                  <a:pt x="1147" y="969"/>
                </a:lnTo>
                <a:lnTo>
                  <a:pt x="1120" y="965"/>
                </a:lnTo>
                <a:lnTo>
                  <a:pt x="1107" y="964"/>
                </a:lnTo>
                <a:lnTo>
                  <a:pt x="1093" y="962"/>
                </a:lnTo>
                <a:lnTo>
                  <a:pt x="1080" y="958"/>
                </a:lnTo>
                <a:lnTo>
                  <a:pt x="1068" y="954"/>
                </a:lnTo>
                <a:lnTo>
                  <a:pt x="1061" y="953"/>
                </a:lnTo>
                <a:lnTo>
                  <a:pt x="1055" y="951"/>
                </a:lnTo>
                <a:lnTo>
                  <a:pt x="1048" y="947"/>
                </a:lnTo>
                <a:lnTo>
                  <a:pt x="1041" y="945"/>
                </a:lnTo>
                <a:lnTo>
                  <a:pt x="1036" y="942"/>
                </a:lnTo>
                <a:lnTo>
                  <a:pt x="1031" y="940"/>
                </a:lnTo>
                <a:lnTo>
                  <a:pt x="1028" y="936"/>
                </a:lnTo>
                <a:lnTo>
                  <a:pt x="1024" y="934"/>
                </a:lnTo>
                <a:lnTo>
                  <a:pt x="1021" y="931"/>
                </a:lnTo>
                <a:lnTo>
                  <a:pt x="1018" y="929"/>
                </a:lnTo>
                <a:lnTo>
                  <a:pt x="1016" y="925"/>
                </a:lnTo>
                <a:lnTo>
                  <a:pt x="1014" y="921"/>
                </a:lnTo>
                <a:lnTo>
                  <a:pt x="1013" y="920"/>
                </a:lnTo>
                <a:lnTo>
                  <a:pt x="1013" y="916"/>
                </a:lnTo>
                <a:lnTo>
                  <a:pt x="1013" y="912"/>
                </a:lnTo>
                <a:lnTo>
                  <a:pt x="1014" y="910"/>
                </a:lnTo>
                <a:lnTo>
                  <a:pt x="1013" y="914"/>
                </a:lnTo>
                <a:lnTo>
                  <a:pt x="1009" y="916"/>
                </a:lnTo>
                <a:lnTo>
                  <a:pt x="1006" y="920"/>
                </a:lnTo>
                <a:lnTo>
                  <a:pt x="1001" y="923"/>
                </a:lnTo>
                <a:lnTo>
                  <a:pt x="994" y="925"/>
                </a:lnTo>
                <a:lnTo>
                  <a:pt x="988" y="927"/>
                </a:lnTo>
                <a:lnTo>
                  <a:pt x="979" y="929"/>
                </a:lnTo>
                <a:lnTo>
                  <a:pt x="971" y="931"/>
                </a:lnTo>
                <a:lnTo>
                  <a:pt x="961" y="932"/>
                </a:lnTo>
                <a:lnTo>
                  <a:pt x="951" y="934"/>
                </a:lnTo>
                <a:lnTo>
                  <a:pt x="939" y="934"/>
                </a:lnTo>
                <a:lnTo>
                  <a:pt x="927" y="936"/>
                </a:lnTo>
                <a:lnTo>
                  <a:pt x="915" y="936"/>
                </a:lnTo>
                <a:lnTo>
                  <a:pt x="904" y="936"/>
                </a:lnTo>
                <a:lnTo>
                  <a:pt x="879" y="934"/>
                </a:lnTo>
                <a:lnTo>
                  <a:pt x="865" y="934"/>
                </a:lnTo>
                <a:lnTo>
                  <a:pt x="853" y="932"/>
                </a:lnTo>
                <a:lnTo>
                  <a:pt x="840" y="931"/>
                </a:lnTo>
                <a:lnTo>
                  <a:pt x="830" y="929"/>
                </a:lnTo>
                <a:lnTo>
                  <a:pt x="818" y="925"/>
                </a:lnTo>
                <a:lnTo>
                  <a:pt x="810" y="923"/>
                </a:lnTo>
                <a:lnTo>
                  <a:pt x="800" y="921"/>
                </a:lnTo>
                <a:lnTo>
                  <a:pt x="791" y="918"/>
                </a:lnTo>
                <a:lnTo>
                  <a:pt x="785" y="914"/>
                </a:lnTo>
                <a:lnTo>
                  <a:pt x="778" y="912"/>
                </a:lnTo>
                <a:lnTo>
                  <a:pt x="771" y="909"/>
                </a:lnTo>
                <a:lnTo>
                  <a:pt x="768" y="905"/>
                </a:lnTo>
                <a:lnTo>
                  <a:pt x="765" y="901"/>
                </a:lnTo>
                <a:lnTo>
                  <a:pt x="761" y="898"/>
                </a:lnTo>
                <a:lnTo>
                  <a:pt x="761" y="896"/>
                </a:lnTo>
                <a:lnTo>
                  <a:pt x="761" y="892"/>
                </a:lnTo>
                <a:lnTo>
                  <a:pt x="763" y="888"/>
                </a:lnTo>
                <a:lnTo>
                  <a:pt x="765" y="887"/>
                </a:lnTo>
                <a:lnTo>
                  <a:pt x="766" y="885"/>
                </a:lnTo>
                <a:lnTo>
                  <a:pt x="770" y="883"/>
                </a:lnTo>
                <a:lnTo>
                  <a:pt x="773" y="881"/>
                </a:lnTo>
                <a:lnTo>
                  <a:pt x="776" y="877"/>
                </a:lnTo>
                <a:lnTo>
                  <a:pt x="781" y="876"/>
                </a:lnTo>
                <a:lnTo>
                  <a:pt x="786" y="876"/>
                </a:lnTo>
                <a:lnTo>
                  <a:pt x="771" y="877"/>
                </a:lnTo>
                <a:lnTo>
                  <a:pt x="758" y="879"/>
                </a:lnTo>
                <a:lnTo>
                  <a:pt x="743" y="881"/>
                </a:lnTo>
                <a:lnTo>
                  <a:pt x="728" y="881"/>
                </a:lnTo>
                <a:lnTo>
                  <a:pt x="714" y="881"/>
                </a:lnTo>
                <a:lnTo>
                  <a:pt x="699" y="881"/>
                </a:lnTo>
                <a:lnTo>
                  <a:pt x="684" y="879"/>
                </a:lnTo>
                <a:lnTo>
                  <a:pt x="671" y="877"/>
                </a:lnTo>
                <a:lnTo>
                  <a:pt x="657" y="876"/>
                </a:lnTo>
                <a:lnTo>
                  <a:pt x="644" y="872"/>
                </a:lnTo>
                <a:lnTo>
                  <a:pt x="632" y="868"/>
                </a:lnTo>
                <a:lnTo>
                  <a:pt x="620" y="865"/>
                </a:lnTo>
                <a:lnTo>
                  <a:pt x="610" y="859"/>
                </a:lnTo>
                <a:lnTo>
                  <a:pt x="600" y="855"/>
                </a:lnTo>
                <a:lnTo>
                  <a:pt x="592" y="848"/>
                </a:lnTo>
                <a:lnTo>
                  <a:pt x="583" y="842"/>
                </a:lnTo>
                <a:lnTo>
                  <a:pt x="578" y="837"/>
                </a:lnTo>
                <a:lnTo>
                  <a:pt x="573" y="831"/>
                </a:lnTo>
                <a:lnTo>
                  <a:pt x="570" y="824"/>
                </a:lnTo>
                <a:lnTo>
                  <a:pt x="568" y="819"/>
                </a:lnTo>
                <a:lnTo>
                  <a:pt x="568" y="811"/>
                </a:lnTo>
                <a:lnTo>
                  <a:pt x="568" y="806"/>
                </a:lnTo>
                <a:lnTo>
                  <a:pt x="570" y="800"/>
                </a:lnTo>
                <a:lnTo>
                  <a:pt x="573" y="793"/>
                </a:lnTo>
                <a:lnTo>
                  <a:pt x="558" y="798"/>
                </a:lnTo>
                <a:lnTo>
                  <a:pt x="543" y="802"/>
                </a:lnTo>
                <a:lnTo>
                  <a:pt x="528" y="806"/>
                </a:lnTo>
                <a:lnTo>
                  <a:pt x="513" y="808"/>
                </a:lnTo>
                <a:lnTo>
                  <a:pt x="496" y="809"/>
                </a:lnTo>
                <a:lnTo>
                  <a:pt x="480" y="811"/>
                </a:lnTo>
                <a:lnTo>
                  <a:pt x="464" y="813"/>
                </a:lnTo>
                <a:lnTo>
                  <a:pt x="448" y="813"/>
                </a:lnTo>
                <a:lnTo>
                  <a:pt x="431" y="813"/>
                </a:lnTo>
                <a:lnTo>
                  <a:pt x="414" y="811"/>
                </a:lnTo>
                <a:lnTo>
                  <a:pt x="397" y="809"/>
                </a:lnTo>
                <a:lnTo>
                  <a:pt x="381" y="808"/>
                </a:lnTo>
                <a:lnTo>
                  <a:pt x="366" y="806"/>
                </a:lnTo>
                <a:lnTo>
                  <a:pt x="350" y="802"/>
                </a:lnTo>
                <a:lnTo>
                  <a:pt x="335" y="798"/>
                </a:lnTo>
                <a:lnTo>
                  <a:pt x="322" y="793"/>
                </a:lnTo>
                <a:lnTo>
                  <a:pt x="302" y="787"/>
                </a:lnTo>
                <a:lnTo>
                  <a:pt x="283" y="782"/>
                </a:lnTo>
                <a:lnTo>
                  <a:pt x="265" y="775"/>
                </a:lnTo>
                <a:lnTo>
                  <a:pt x="250" y="769"/>
                </a:lnTo>
                <a:lnTo>
                  <a:pt x="235" y="762"/>
                </a:lnTo>
                <a:lnTo>
                  <a:pt x="223" y="754"/>
                </a:lnTo>
                <a:lnTo>
                  <a:pt x="211" y="747"/>
                </a:lnTo>
                <a:lnTo>
                  <a:pt x="201" y="740"/>
                </a:lnTo>
                <a:lnTo>
                  <a:pt x="193" y="732"/>
                </a:lnTo>
                <a:lnTo>
                  <a:pt x="186" y="725"/>
                </a:lnTo>
                <a:lnTo>
                  <a:pt x="181" y="718"/>
                </a:lnTo>
                <a:lnTo>
                  <a:pt x="179" y="714"/>
                </a:lnTo>
                <a:lnTo>
                  <a:pt x="178" y="708"/>
                </a:lnTo>
                <a:lnTo>
                  <a:pt x="176" y="705"/>
                </a:lnTo>
                <a:lnTo>
                  <a:pt x="176" y="701"/>
                </a:lnTo>
                <a:lnTo>
                  <a:pt x="176" y="697"/>
                </a:lnTo>
                <a:lnTo>
                  <a:pt x="176" y="694"/>
                </a:lnTo>
                <a:lnTo>
                  <a:pt x="178" y="690"/>
                </a:lnTo>
                <a:lnTo>
                  <a:pt x="178" y="686"/>
                </a:lnTo>
                <a:lnTo>
                  <a:pt x="179" y="683"/>
                </a:lnTo>
                <a:lnTo>
                  <a:pt x="181" y="677"/>
                </a:lnTo>
                <a:lnTo>
                  <a:pt x="168" y="679"/>
                </a:lnTo>
                <a:lnTo>
                  <a:pt x="153" y="681"/>
                </a:lnTo>
                <a:lnTo>
                  <a:pt x="139" y="681"/>
                </a:lnTo>
                <a:lnTo>
                  <a:pt x="126" y="681"/>
                </a:lnTo>
                <a:lnTo>
                  <a:pt x="112" y="679"/>
                </a:lnTo>
                <a:lnTo>
                  <a:pt x="99" y="677"/>
                </a:lnTo>
                <a:lnTo>
                  <a:pt x="86" y="675"/>
                </a:lnTo>
                <a:lnTo>
                  <a:pt x="74" y="672"/>
                </a:lnTo>
                <a:lnTo>
                  <a:pt x="62" y="668"/>
                </a:lnTo>
                <a:lnTo>
                  <a:pt x="50" y="664"/>
                </a:lnTo>
                <a:lnTo>
                  <a:pt x="40" y="661"/>
                </a:lnTo>
                <a:lnTo>
                  <a:pt x="32" y="655"/>
                </a:lnTo>
                <a:lnTo>
                  <a:pt x="24" y="650"/>
                </a:lnTo>
                <a:lnTo>
                  <a:pt x="17" y="644"/>
                </a:lnTo>
                <a:lnTo>
                  <a:pt x="10" y="639"/>
                </a:lnTo>
                <a:lnTo>
                  <a:pt x="5" y="631"/>
                </a:lnTo>
                <a:lnTo>
                  <a:pt x="3" y="628"/>
                </a:lnTo>
                <a:lnTo>
                  <a:pt x="2" y="622"/>
                </a:lnTo>
                <a:lnTo>
                  <a:pt x="0" y="618"/>
                </a:lnTo>
                <a:lnTo>
                  <a:pt x="0" y="613"/>
                </a:lnTo>
                <a:lnTo>
                  <a:pt x="0" y="607"/>
                </a:lnTo>
                <a:lnTo>
                  <a:pt x="2" y="604"/>
                </a:lnTo>
                <a:lnTo>
                  <a:pt x="3" y="598"/>
                </a:lnTo>
                <a:lnTo>
                  <a:pt x="7" y="595"/>
                </a:lnTo>
                <a:lnTo>
                  <a:pt x="10" y="589"/>
                </a:lnTo>
                <a:lnTo>
                  <a:pt x="14" y="585"/>
                </a:lnTo>
                <a:lnTo>
                  <a:pt x="19" y="582"/>
                </a:lnTo>
                <a:lnTo>
                  <a:pt x="24" y="578"/>
                </a:lnTo>
                <a:lnTo>
                  <a:pt x="30" y="573"/>
                </a:lnTo>
                <a:lnTo>
                  <a:pt x="37" y="569"/>
                </a:lnTo>
                <a:lnTo>
                  <a:pt x="44" y="567"/>
                </a:lnTo>
                <a:lnTo>
                  <a:pt x="50" y="563"/>
                </a:lnTo>
                <a:lnTo>
                  <a:pt x="42" y="560"/>
                </a:lnTo>
                <a:lnTo>
                  <a:pt x="35" y="554"/>
                </a:lnTo>
                <a:lnTo>
                  <a:pt x="29" y="551"/>
                </a:lnTo>
                <a:lnTo>
                  <a:pt x="24" y="547"/>
                </a:lnTo>
                <a:lnTo>
                  <a:pt x="20" y="541"/>
                </a:lnTo>
                <a:lnTo>
                  <a:pt x="19" y="538"/>
                </a:lnTo>
                <a:lnTo>
                  <a:pt x="17" y="534"/>
                </a:lnTo>
                <a:lnTo>
                  <a:pt x="19" y="529"/>
                </a:lnTo>
                <a:lnTo>
                  <a:pt x="20" y="525"/>
                </a:lnTo>
                <a:lnTo>
                  <a:pt x="22" y="521"/>
                </a:lnTo>
                <a:lnTo>
                  <a:pt x="27" y="518"/>
                </a:lnTo>
                <a:lnTo>
                  <a:pt x="32" y="514"/>
                </a:lnTo>
                <a:lnTo>
                  <a:pt x="39" y="510"/>
                </a:lnTo>
                <a:lnTo>
                  <a:pt x="47" y="506"/>
                </a:lnTo>
                <a:lnTo>
                  <a:pt x="55" y="505"/>
                </a:lnTo>
                <a:lnTo>
                  <a:pt x="65" y="501"/>
                </a:lnTo>
                <a:lnTo>
                  <a:pt x="69" y="501"/>
                </a:lnTo>
                <a:close/>
              </a:path>
            </a:pathLst>
          </a:custGeom>
          <a:solidFill>
            <a:schemeClr val="accent2"/>
          </a:solidFill>
          <a:ln>
            <a:noFill/>
          </a:ln>
        </p:spPr>
        <p:txBody>
          <a:bodyPr/>
          <a:lstStyle/>
          <a:p>
            <a:endParaRPr lang="zh-CN" altLang="en-US"/>
          </a:p>
        </p:txBody>
      </p:sp>
      <p:sp>
        <p:nvSpPr>
          <p:cNvPr id="25614" name="Freeform 16"/>
          <p:cNvSpPr/>
          <p:nvPr/>
        </p:nvSpPr>
        <p:spPr bwMode="auto">
          <a:xfrm>
            <a:off x="1216025" y="3477865"/>
            <a:ext cx="2533650" cy="792163"/>
          </a:xfrm>
          <a:custGeom>
            <a:avLst/>
            <a:gdLst>
              <a:gd name="T0" fmla="*/ 2147483646 w 3192"/>
              <a:gd name="T1" fmla="*/ 2147483646 h 999"/>
              <a:gd name="T2" fmla="*/ 2147483646 w 3192"/>
              <a:gd name="T3" fmla="*/ 2147483646 h 999"/>
              <a:gd name="T4" fmla="*/ 2147483646 w 3192"/>
              <a:gd name="T5" fmla="*/ 2147483646 h 999"/>
              <a:gd name="T6" fmla="*/ 2147483646 w 3192"/>
              <a:gd name="T7" fmla="*/ 2147483646 h 999"/>
              <a:gd name="T8" fmla="*/ 2147483646 w 3192"/>
              <a:gd name="T9" fmla="*/ 2147483646 h 999"/>
              <a:gd name="T10" fmla="*/ 2147483646 w 3192"/>
              <a:gd name="T11" fmla="*/ 2147483646 h 999"/>
              <a:gd name="T12" fmla="*/ 2147483646 w 3192"/>
              <a:gd name="T13" fmla="*/ 2147483646 h 999"/>
              <a:gd name="T14" fmla="*/ 2147483646 w 3192"/>
              <a:gd name="T15" fmla="*/ 2147483646 h 999"/>
              <a:gd name="T16" fmla="*/ 2147483646 w 3192"/>
              <a:gd name="T17" fmla="*/ 2147483646 h 999"/>
              <a:gd name="T18" fmla="*/ 2147483646 w 3192"/>
              <a:gd name="T19" fmla="*/ 2147483646 h 999"/>
              <a:gd name="T20" fmla="*/ 2147483646 w 3192"/>
              <a:gd name="T21" fmla="*/ 2147483646 h 999"/>
              <a:gd name="T22" fmla="*/ 2147483646 w 3192"/>
              <a:gd name="T23" fmla="*/ 2147483646 h 999"/>
              <a:gd name="T24" fmla="*/ 2147483646 w 3192"/>
              <a:gd name="T25" fmla="*/ 2147483646 h 999"/>
              <a:gd name="T26" fmla="*/ 2147483646 w 3192"/>
              <a:gd name="T27" fmla="*/ 2147483646 h 999"/>
              <a:gd name="T28" fmla="*/ 2147483646 w 3192"/>
              <a:gd name="T29" fmla="*/ 2147483646 h 999"/>
              <a:gd name="T30" fmla="*/ 2147483646 w 3192"/>
              <a:gd name="T31" fmla="*/ 2147483646 h 999"/>
              <a:gd name="T32" fmla="*/ 2147483646 w 3192"/>
              <a:gd name="T33" fmla="*/ 2147483646 h 999"/>
              <a:gd name="T34" fmla="*/ 2147483646 w 3192"/>
              <a:gd name="T35" fmla="*/ 2147483646 h 999"/>
              <a:gd name="T36" fmla="*/ 2147483646 w 3192"/>
              <a:gd name="T37" fmla="*/ 2147483646 h 999"/>
              <a:gd name="T38" fmla="*/ 2147483646 w 3192"/>
              <a:gd name="T39" fmla="*/ 2147483646 h 999"/>
              <a:gd name="T40" fmla="*/ 2147483646 w 3192"/>
              <a:gd name="T41" fmla="*/ 2147483646 h 999"/>
              <a:gd name="T42" fmla="*/ 2147483646 w 3192"/>
              <a:gd name="T43" fmla="*/ 2147483646 h 999"/>
              <a:gd name="T44" fmla="*/ 2147483646 w 3192"/>
              <a:gd name="T45" fmla="*/ 2147483646 h 999"/>
              <a:gd name="T46" fmla="*/ 2147483646 w 3192"/>
              <a:gd name="T47" fmla="*/ 2147483646 h 999"/>
              <a:gd name="T48" fmla="*/ 2147483646 w 3192"/>
              <a:gd name="T49" fmla="*/ 2147483646 h 999"/>
              <a:gd name="T50" fmla="*/ 2147483646 w 3192"/>
              <a:gd name="T51" fmla="*/ 2147483646 h 999"/>
              <a:gd name="T52" fmla="*/ 2147483646 w 3192"/>
              <a:gd name="T53" fmla="*/ 2147483646 h 999"/>
              <a:gd name="T54" fmla="*/ 2147483646 w 3192"/>
              <a:gd name="T55" fmla="*/ 2147483646 h 999"/>
              <a:gd name="T56" fmla="*/ 2147483646 w 3192"/>
              <a:gd name="T57" fmla="*/ 2147483646 h 999"/>
              <a:gd name="T58" fmla="*/ 2147483646 w 3192"/>
              <a:gd name="T59" fmla="*/ 2147483646 h 999"/>
              <a:gd name="T60" fmla="*/ 2147483646 w 3192"/>
              <a:gd name="T61" fmla="*/ 2147483646 h 999"/>
              <a:gd name="T62" fmla="*/ 2147483646 w 3192"/>
              <a:gd name="T63" fmla="*/ 2147483646 h 999"/>
              <a:gd name="T64" fmla="*/ 2147483646 w 3192"/>
              <a:gd name="T65" fmla="*/ 2147483646 h 999"/>
              <a:gd name="T66" fmla="*/ 2147483646 w 3192"/>
              <a:gd name="T67" fmla="*/ 2147483646 h 999"/>
              <a:gd name="T68" fmla="*/ 2147483646 w 3192"/>
              <a:gd name="T69" fmla="*/ 2147483646 h 999"/>
              <a:gd name="T70" fmla="*/ 2147483646 w 3192"/>
              <a:gd name="T71" fmla="*/ 2147483646 h 999"/>
              <a:gd name="T72" fmla="*/ 2147483646 w 3192"/>
              <a:gd name="T73" fmla="*/ 2147483646 h 999"/>
              <a:gd name="T74" fmla="*/ 2147483646 w 3192"/>
              <a:gd name="T75" fmla="*/ 2147483646 h 999"/>
              <a:gd name="T76" fmla="*/ 2147483646 w 3192"/>
              <a:gd name="T77" fmla="*/ 2147483646 h 999"/>
              <a:gd name="T78" fmla="*/ 2147483646 w 3192"/>
              <a:gd name="T79" fmla="*/ 2147483646 h 999"/>
              <a:gd name="T80" fmla="*/ 2147483646 w 3192"/>
              <a:gd name="T81" fmla="*/ 2147483646 h 999"/>
              <a:gd name="T82" fmla="*/ 2147483646 w 3192"/>
              <a:gd name="T83" fmla="*/ 2147483646 h 999"/>
              <a:gd name="T84" fmla="*/ 2147483646 w 3192"/>
              <a:gd name="T85" fmla="*/ 2147483646 h 999"/>
              <a:gd name="T86" fmla="*/ 2147483646 w 3192"/>
              <a:gd name="T87" fmla="*/ 2147483646 h 999"/>
              <a:gd name="T88" fmla="*/ 2147483646 w 3192"/>
              <a:gd name="T89" fmla="*/ 2147483646 h 999"/>
              <a:gd name="T90" fmla="*/ 2147483646 w 3192"/>
              <a:gd name="T91" fmla="*/ 2147483646 h 999"/>
              <a:gd name="T92" fmla="*/ 2147483646 w 3192"/>
              <a:gd name="T93" fmla="*/ 2147483646 h 999"/>
              <a:gd name="T94" fmla="*/ 2147483646 w 3192"/>
              <a:gd name="T95" fmla="*/ 2147483646 h 999"/>
              <a:gd name="T96" fmla="*/ 2147483646 w 3192"/>
              <a:gd name="T97" fmla="*/ 2147483646 h 999"/>
              <a:gd name="T98" fmla="*/ 2147483646 w 3192"/>
              <a:gd name="T99" fmla="*/ 2147483646 h 999"/>
              <a:gd name="T100" fmla="*/ 2147483646 w 3192"/>
              <a:gd name="T101" fmla="*/ 2147483646 h 999"/>
              <a:gd name="T102" fmla="*/ 2147483646 w 3192"/>
              <a:gd name="T103" fmla="*/ 2147483646 h 999"/>
              <a:gd name="T104" fmla="*/ 2147483646 w 3192"/>
              <a:gd name="T105" fmla="*/ 2147483646 h 999"/>
              <a:gd name="T106" fmla="*/ 2147483646 w 3192"/>
              <a:gd name="T107" fmla="*/ 2147483646 h 999"/>
              <a:gd name="T108" fmla="*/ 2147483646 w 3192"/>
              <a:gd name="T109" fmla="*/ 2147483646 h 999"/>
              <a:gd name="T110" fmla="*/ 2147483646 w 3192"/>
              <a:gd name="T111" fmla="*/ 2147483646 h 999"/>
              <a:gd name="T112" fmla="*/ 2147483646 w 3192"/>
              <a:gd name="T113" fmla="*/ 2147483646 h 999"/>
              <a:gd name="T114" fmla="*/ 2147483646 w 3192"/>
              <a:gd name="T115" fmla="*/ 2147483646 h 999"/>
              <a:gd name="T116" fmla="*/ 2147483646 w 3192"/>
              <a:gd name="T117" fmla="*/ 2147483646 h 999"/>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3192"/>
              <a:gd name="T178" fmla="*/ 0 h 999"/>
              <a:gd name="T179" fmla="*/ 3192 w 3192"/>
              <a:gd name="T180" fmla="*/ 999 h 999"/>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3192" h="999">
                <a:moveTo>
                  <a:pt x="69" y="501"/>
                </a:moveTo>
                <a:lnTo>
                  <a:pt x="59" y="497"/>
                </a:lnTo>
                <a:lnTo>
                  <a:pt x="49" y="494"/>
                </a:lnTo>
                <a:lnTo>
                  <a:pt x="39" y="490"/>
                </a:lnTo>
                <a:lnTo>
                  <a:pt x="30" y="484"/>
                </a:lnTo>
                <a:lnTo>
                  <a:pt x="24" y="479"/>
                </a:lnTo>
                <a:lnTo>
                  <a:pt x="19" y="473"/>
                </a:lnTo>
                <a:lnTo>
                  <a:pt x="14" y="468"/>
                </a:lnTo>
                <a:lnTo>
                  <a:pt x="10" y="462"/>
                </a:lnTo>
                <a:lnTo>
                  <a:pt x="7" y="457"/>
                </a:lnTo>
                <a:lnTo>
                  <a:pt x="7" y="451"/>
                </a:lnTo>
                <a:lnTo>
                  <a:pt x="7" y="446"/>
                </a:lnTo>
                <a:lnTo>
                  <a:pt x="7" y="439"/>
                </a:lnTo>
                <a:lnTo>
                  <a:pt x="10" y="433"/>
                </a:lnTo>
                <a:lnTo>
                  <a:pt x="14" y="428"/>
                </a:lnTo>
                <a:lnTo>
                  <a:pt x="19" y="422"/>
                </a:lnTo>
                <a:lnTo>
                  <a:pt x="25" y="417"/>
                </a:lnTo>
                <a:lnTo>
                  <a:pt x="34" y="411"/>
                </a:lnTo>
                <a:lnTo>
                  <a:pt x="42" y="406"/>
                </a:lnTo>
                <a:lnTo>
                  <a:pt x="52" y="402"/>
                </a:lnTo>
                <a:lnTo>
                  <a:pt x="64" y="398"/>
                </a:lnTo>
                <a:lnTo>
                  <a:pt x="76" y="394"/>
                </a:lnTo>
                <a:lnTo>
                  <a:pt x="87" y="391"/>
                </a:lnTo>
                <a:lnTo>
                  <a:pt x="101" y="389"/>
                </a:lnTo>
                <a:lnTo>
                  <a:pt x="114" y="387"/>
                </a:lnTo>
                <a:lnTo>
                  <a:pt x="111" y="383"/>
                </a:lnTo>
                <a:lnTo>
                  <a:pt x="106" y="380"/>
                </a:lnTo>
                <a:lnTo>
                  <a:pt x="102" y="376"/>
                </a:lnTo>
                <a:lnTo>
                  <a:pt x="99" y="372"/>
                </a:lnTo>
                <a:lnTo>
                  <a:pt x="96" y="369"/>
                </a:lnTo>
                <a:lnTo>
                  <a:pt x="94" y="365"/>
                </a:lnTo>
                <a:lnTo>
                  <a:pt x="92" y="360"/>
                </a:lnTo>
                <a:lnTo>
                  <a:pt x="91" y="356"/>
                </a:lnTo>
                <a:lnTo>
                  <a:pt x="89" y="352"/>
                </a:lnTo>
                <a:lnTo>
                  <a:pt x="89" y="349"/>
                </a:lnTo>
                <a:lnTo>
                  <a:pt x="89" y="345"/>
                </a:lnTo>
                <a:lnTo>
                  <a:pt x="89" y="339"/>
                </a:lnTo>
                <a:lnTo>
                  <a:pt x="91" y="332"/>
                </a:lnTo>
                <a:lnTo>
                  <a:pt x="94" y="325"/>
                </a:lnTo>
                <a:lnTo>
                  <a:pt x="97" y="317"/>
                </a:lnTo>
                <a:lnTo>
                  <a:pt x="104" y="308"/>
                </a:lnTo>
                <a:lnTo>
                  <a:pt x="112" y="303"/>
                </a:lnTo>
                <a:lnTo>
                  <a:pt x="122" y="295"/>
                </a:lnTo>
                <a:lnTo>
                  <a:pt x="133" y="288"/>
                </a:lnTo>
                <a:lnTo>
                  <a:pt x="146" y="282"/>
                </a:lnTo>
                <a:lnTo>
                  <a:pt x="159" y="277"/>
                </a:lnTo>
                <a:lnTo>
                  <a:pt x="174" y="273"/>
                </a:lnTo>
                <a:lnTo>
                  <a:pt x="186" y="270"/>
                </a:lnTo>
                <a:lnTo>
                  <a:pt x="200" y="266"/>
                </a:lnTo>
                <a:lnTo>
                  <a:pt x="213" y="264"/>
                </a:lnTo>
                <a:lnTo>
                  <a:pt x="228" y="262"/>
                </a:lnTo>
                <a:lnTo>
                  <a:pt x="241" y="260"/>
                </a:lnTo>
                <a:lnTo>
                  <a:pt x="257" y="260"/>
                </a:lnTo>
                <a:lnTo>
                  <a:pt x="270" y="260"/>
                </a:lnTo>
                <a:lnTo>
                  <a:pt x="285" y="260"/>
                </a:lnTo>
                <a:lnTo>
                  <a:pt x="282" y="255"/>
                </a:lnTo>
                <a:lnTo>
                  <a:pt x="280" y="251"/>
                </a:lnTo>
                <a:lnTo>
                  <a:pt x="280" y="246"/>
                </a:lnTo>
                <a:lnTo>
                  <a:pt x="278" y="242"/>
                </a:lnTo>
                <a:lnTo>
                  <a:pt x="278" y="237"/>
                </a:lnTo>
                <a:lnTo>
                  <a:pt x="280" y="231"/>
                </a:lnTo>
                <a:lnTo>
                  <a:pt x="280" y="227"/>
                </a:lnTo>
                <a:lnTo>
                  <a:pt x="282" y="222"/>
                </a:lnTo>
                <a:lnTo>
                  <a:pt x="283" y="218"/>
                </a:lnTo>
                <a:lnTo>
                  <a:pt x="285" y="213"/>
                </a:lnTo>
                <a:lnTo>
                  <a:pt x="288" y="209"/>
                </a:lnTo>
                <a:lnTo>
                  <a:pt x="292" y="204"/>
                </a:lnTo>
                <a:lnTo>
                  <a:pt x="295" y="200"/>
                </a:lnTo>
                <a:lnTo>
                  <a:pt x="300" y="196"/>
                </a:lnTo>
                <a:lnTo>
                  <a:pt x="304" y="193"/>
                </a:lnTo>
                <a:lnTo>
                  <a:pt x="309" y="187"/>
                </a:lnTo>
                <a:lnTo>
                  <a:pt x="320" y="180"/>
                </a:lnTo>
                <a:lnTo>
                  <a:pt x="334" y="172"/>
                </a:lnTo>
                <a:lnTo>
                  <a:pt x="347" y="167"/>
                </a:lnTo>
                <a:lnTo>
                  <a:pt x="362" y="161"/>
                </a:lnTo>
                <a:lnTo>
                  <a:pt x="379" y="156"/>
                </a:lnTo>
                <a:lnTo>
                  <a:pt x="397" y="150"/>
                </a:lnTo>
                <a:lnTo>
                  <a:pt x="418" y="147"/>
                </a:lnTo>
                <a:lnTo>
                  <a:pt x="438" y="145"/>
                </a:lnTo>
                <a:lnTo>
                  <a:pt x="454" y="143"/>
                </a:lnTo>
                <a:lnTo>
                  <a:pt x="473" y="141"/>
                </a:lnTo>
                <a:lnTo>
                  <a:pt x="490" y="141"/>
                </a:lnTo>
                <a:lnTo>
                  <a:pt x="508" y="143"/>
                </a:lnTo>
                <a:lnTo>
                  <a:pt x="526" y="143"/>
                </a:lnTo>
                <a:lnTo>
                  <a:pt x="543" y="145"/>
                </a:lnTo>
                <a:lnTo>
                  <a:pt x="560" y="148"/>
                </a:lnTo>
                <a:lnTo>
                  <a:pt x="577" y="152"/>
                </a:lnTo>
                <a:lnTo>
                  <a:pt x="572" y="145"/>
                </a:lnTo>
                <a:lnTo>
                  <a:pt x="568" y="139"/>
                </a:lnTo>
                <a:lnTo>
                  <a:pt x="565" y="132"/>
                </a:lnTo>
                <a:lnTo>
                  <a:pt x="565" y="126"/>
                </a:lnTo>
                <a:lnTo>
                  <a:pt x="565" y="119"/>
                </a:lnTo>
                <a:lnTo>
                  <a:pt x="567" y="114"/>
                </a:lnTo>
                <a:lnTo>
                  <a:pt x="570" y="108"/>
                </a:lnTo>
                <a:lnTo>
                  <a:pt x="573" y="101"/>
                </a:lnTo>
                <a:lnTo>
                  <a:pt x="580" y="95"/>
                </a:lnTo>
                <a:lnTo>
                  <a:pt x="587" y="90"/>
                </a:lnTo>
                <a:lnTo>
                  <a:pt x="594" y="84"/>
                </a:lnTo>
                <a:lnTo>
                  <a:pt x="604" y="81"/>
                </a:lnTo>
                <a:lnTo>
                  <a:pt x="614" y="75"/>
                </a:lnTo>
                <a:lnTo>
                  <a:pt x="624" y="71"/>
                </a:lnTo>
                <a:lnTo>
                  <a:pt x="635" y="68"/>
                </a:lnTo>
                <a:lnTo>
                  <a:pt x="649" y="66"/>
                </a:lnTo>
                <a:lnTo>
                  <a:pt x="662" y="62"/>
                </a:lnTo>
                <a:lnTo>
                  <a:pt x="674" y="60"/>
                </a:lnTo>
                <a:lnTo>
                  <a:pt x="687" y="60"/>
                </a:lnTo>
                <a:lnTo>
                  <a:pt x="701" y="58"/>
                </a:lnTo>
                <a:lnTo>
                  <a:pt x="714" y="60"/>
                </a:lnTo>
                <a:lnTo>
                  <a:pt x="728" y="60"/>
                </a:lnTo>
                <a:lnTo>
                  <a:pt x="739" y="62"/>
                </a:lnTo>
                <a:lnTo>
                  <a:pt x="753" y="64"/>
                </a:lnTo>
                <a:lnTo>
                  <a:pt x="765" y="66"/>
                </a:lnTo>
                <a:lnTo>
                  <a:pt x="776" y="68"/>
                </a:lnTo>
                <a:lnTo>
                  <a:pt x="788" y="71"/>
                </a:lnTo>
                <a:lnTo>
                  <a:pt x="798" y="75"/>
                </a:lnTo>
                <a:lnTo>
                  <a:pt x="806" y="79"/>
                </a:lnTo>
                <a:lnTo>
                  <a:pt x="817" y="84"/>
                </a:lnTo>
                <a:lnTo>
                  <a:pt x="823" y="90"/>
                </a:lnTo>
                <a:lnTo>
                  <a:pt x="832" y="95"/>
                </a:lnTo>
                <a:lnTo>
                  <a:pt x="833" y="88"/>
                </a:lnTo>
                <a:lnTo>
                  <a:pt x="838" y="81"/>
                </a:lnTo>
                <a:lnTo>
                  <a:pt x="843" y="75"/>
                </a:lnTo>
                <a:lnTo>
                  <a:pt x="850" y="68"/>
                </a:lnTo>
                <a:lnTo>
                  <a:pt x="858" y="62"/>
                </a:lnTo>
                <a:lnTo>
                  <a:pt x="867" y="57"/>
                </a:lnTo>
                <a:lnTo>
                  <a:pt x="879" y="51"/>
                </a:lnTo>
                <a:lnTo>
                  <a:pt x="889" y="47"/>
                </a:lnTo>
                <a:lnTo>
                  <a:pt x="902" y="44"/>
                </a:lnTo>
                <a:lnTo>
                  <a:pt x="914" y="40"/>
                </a:lnTo>
                <a:lnTo>
                  <a:pt x="927" y="36"/>
                </a:lnTo>
                <a:lnTo>
                  <a:pt x="942" y="35"/>
                </a:lnTo>
                <a:lnTo>
                  <a:pt x="957" y="33"/>
                </a:lnTo>
                <a:lnTo>
                  <a:pt x="972" y="33"/>
                </a:lnTo>
                <a:lnTo>
                  <a:pt x="988" y="31"/>
                </a:lnTo>
                <a:lnTo>
                  <a:pt x="1003" y="33"/>
                </a:lnTo>
                <a:lnTo>
                  <a:pt x="1018" y="33"/>
                </a:lnTo>
                <a:lnTo>
                  <a:pt x="1031" y="35"/>
                </a:lnTo>
                <a:lnTo>
                  <a:pt x="1045" y="38"/>
                </a:lnTo>
                <a:lnTo>
                  <a:pt x="1058" y="40"/>
                </a:lnTo>
                <a:lnTo>
                  <a:pt x="1070" y="44"/>
                </a:lnTo>
                <a:lnTo>
                  <a:pt x="1081" y="47"/>
                </a:lnTo>
                <a:lnTo>
                  <a:pt x="1093" y="53"/>
                </a:lnTo>
                <a:lnTo>
                  <a:pt x="1103" y="57"/>
                </a:lnTo>
                <a:lnTo>
                  <a:pt x="1113" y="51"/>
                </a:lnTo>
                <a:lnTo>
                  <a:pt x="1123" y="47"/>
                </a:lnTo>
                <a:lnTo>
                  <a:pt x="1133" y="42"/>
                </a:lnTo>
                <a:lnTo>
                  <a:pt x="1145" y="36"/>
                </a:lnTo>
                <a:lnTo>
                  <a:pt x="1169" y="29"/>
                </a:lnTo>
                <a:lnTo>
                  <a:pt x="1194" y="22"/>
                </a:lnTo>
                <a:lnTo>
                  <a:pt x="1221" y="16"/>
                </a:lnTo>
                <a:lnTo>
                  <a:pt x="1247" y="11"/>
                </a:lnTo>
                <a:lnTo>
                  <a:pt x="1276" y="7"/>
                </a:lnTo>
                <a:lnTo>
                  <a:pt x="1304" y="5"/>
                </a:lnTo>
                <a:lnTo>
                  <a:pt x="1333" y="3"/>
                </a:lnTo>
                <a:lnTo>
                  <a:pt x="1363" y="5"/>
                </a:lnTo>
                <a:lnTo>
                  <a:pt x="1392" y="5"/>
                </a:lnTo>
                <a:lnTo>
                  <a:pt x="1420" y="9"/>
                </a:lnTo>
                <a:lnTo>
                  <a:pt x="1449" y="13"/>
                </a:lnTo>
                <a:lnTo>
                  <a:pt x="1475" y="18"/>
                </a:lnTo>
                <a:lnTo>
                  <a:pt x="1502" y="25"/>
                </a:lnTo>
                <a:lnTo>
                  <a:pt x="1527" y="35"/>
                </a:lnTo>
                <a:lnTo>
                  <a:pt x="1531" y="29"/>
                </a:lnTo>
                <a:lnTo>
                  <a:pt x="1534" y="25"/>
                </a:lnTo>
                <a:lnTo>
                  <a:pt x="1537" y="22"/>
                </a:lnTo>
                <a:lnTo>
                  <a:pt x="1542" y="18"/>
                </a:lnTo>
                <a:lnTo>
                  <a:pt x="1547" y="14"/>
                </a:lnTo>
                <a:lnTo>
                  <a:pt x="1554" y="13"/>
                </a:lnTo>
                <a:lnTo>
                  <a:pt x="1561" y="9"/>
                </a:lnTo>
                <a:lnTo>
                  <a:pt x="1568" y="7"/>
                </a:lnTo>
                <a:lnTo>
                  <a:pt x="1576" y="5"/>
                </a:lnTo>
                <a:lnTo>
                  <a:pt x="1584" y="3"/>
                </a:lnTo>
                <a:lnTo>
                  <a:pt x="1601" y="2"/>
                </a:lnTo>
                <a:lnTo>
                  <a:pt x="1620" y="2"/>
                </a:lnTo>
                <a:lnTo>
                  <a:pt x="1638" y="2"/>
                </a:lnTo>
                <a:lnTo>
                  <a:pt x="1650" y="3"/>
                </a:lnTo>
                <a:lnTo>
                  <a:pt x="1661" y="7"/>
                </a:lnTo>
                <a:lnTo>
                  <a:pt x="1673" y="9"/>
                </a:lnTo>
                <a:lnTo>
                  <a:pt x="1682" y="14"/>
                </a:lnTo>
                <a:lnTo>
                  <a:pt x="1690" y="18"/>
                </a:lnTo>
                <a:lnTo>
                  <a:pt x="1697" y="24"/>
                </a:lnTo>
                <a:lnTo>
                  <a:pt x="1700" y="25"/>
                </a:lnTo>
                <a:lnTo>
                  <a:pt x="1703" y="29"/>
                </a:lnTo>
                <a:lnTo>
                  <a:pt x="1705" y="33"/>
                </a:lnTo>
                <a:lnTo>
                  <a:pt x="1707" y="35"/>
                </a:lnTo>
                <a:lnTo>
                  <a:pt x="1707" y="31"/>
                </a:lnTo>
                <a:lnTo>
                  <a:pt x="1708" y="27"/>
                </a:lnTo>
                <a:lnTo>
                  <a:pt x="1712" y="24"/>
                </a:lnTo>
                <a:lnTo>
                  <a:pt x="1715" y="20"/>
                </a:lnTo>
                <a:lnTo>
                  <a:pt x="1720" y="16"/>
                </a:lnTo>
                <a:lnTo>
                  <a:pt x="1725" y="13"/>
                </a:lnTo>
                <a:lnTo>
                  <a:pt x="1732" y="11"/>
                </a:lnTo>
                <a:lnTo>
                  <a:pt x="1739" y="9"/>
                </a:lnTo>
                <a:lnTo>
                  <a:pt x="1745" y="5"/>
                </a:lnTo>
                <a:lnTo>
                  <a:pt x="1754" y="3"/>
                </a:lnTo>
                <a:lnTo>
                  <a:pt x="1762" y="3"/>
                </a:lnTo>
                <a:lnTo>
                  <a:pt x="1770" y="2"/>
                </a:lnTo>
                <a:lnTo>
                  <a:pt x="1789" y="0"/>
                </a:lnTo>
                <a:lnTo>
                  <a:pt x="1809" y="2"/>
                </a:lnTo>
                <a:lnTo>
                  <a:pt x="1822" y="3"/>
                </a:lnTo>
                <a:lnTo>
                  <a:pt x="1837" y="5"/>
                </a:lnTo>
                <a:lnTo>
                  <a:pt x="1849" y="9"/>
                </a:lnTo>
                <a:lnTo>
                  <a:pt x="1863" y="13"/>
                </a:lnTo>
                <a:lnTo>
                  <a:pt x="1873" y="16"/>
                </a:lnTo>
                <a:lnTo>
                  <a:pt x="1883" y="22"/>
                </a:lnTo>
                <a:lnTo>
                  <a:pt x="1886" y="25"/>
                </a:lnTo>
                <a:lnTo>
                  <a:pt x="1889" y="27"/>
                </a:lnTo>
                <a:lnTo>
                  <a:pt x="1893" y="31"/>
                </a:lnTo>
                <a:lnTo>
                  <a:pt x="1896" y="33"/>
                </a:lnTo>
                <a:lnTo>
                  <a:pt x="1901" y="31"/>
                </a:lnTo>
                <a:lnTo>
                  <a:pt x="1908" y="29"/>
                </a:lnTo>
                <a:lnTo>
                  <a:pt x="1916" y="29"/>
                </a:lnTo>
                <a:lnTo>
                  <a:pt x="1923" y="27"/>
                </a:lnTo>
                <a:lnTo>
                  <a:pt x="1940" y="25"/>
                </a:lnTo>
                <a:lnTo>
                  <a:pt x="1958" y="25"/>
                </a:lnTo>
                <a:lnTo>
                  <a:pt x="1975" y="25"/>
                </a:lnTo>
                <a:lnTo>
                  <a:pt x="1993" y="27"/>
                </a:lnTo>
                <a:lnTo>
                  <a:pt x="2010" y="31"/>
                </a:lnTo>
                <a:lnTo>
                  <a:pt x="2017" y="33"/>
                </a:lnTo>
                <a:lnTo>
                  <a:pt x="2025" y="35"/>
                </a:lnTo>
                <a:lnTo>
                  <a:pt x="2032" y="36"/>
                </a:lnTo>
                <a:lnTo>
                  <a:pt x="2039" y="40"/>
                </a:lnTo>
                <a:lnTo>
                  <a:pt x="2045" y="42"/>
                </a:lnTo>
                <a:lnTo>
                  <a:pt x="2049" y="46"/>
                </a:lnTo>
                <a:lnTo>
                  <a:pt x="2054" y="47"/>
                </a:lnTo>
                <a:lnTo>
                  <a:pt x="2055" y="51"/>
                </a:lnTo>
                <a:lnTo>
                  <a:pt x="2057" y="55"/>
                </a:lnTo>
                <a:lnTo>
                  <a:pt x="2059" y="57"/>
                </a:lnTo>
                <a:lnTo>
                  <a:pt x="2065" y="53"/>
                </a:lnTo>
                <a:lnTo>
                  <a:pt x="2074" y="47"/>
                </a:lnTo>
                <a:lnTo>
                  <a:pt x="2082" y="44"/>
                </a:lnTo>
                <a:lnTo>
                  <a:pt x="2092" y="40"/>
                </a:lnTo>
                <a:lnTo>
                  <a:pt x="2104" y="38"/>
                </a:lnTo>
                <a:lnTo>
                  <a:pt x="2117" y="35"/>
                </a:lnTo>
                <a:lnTo>
                  <a:pt x="2131" y="33"/>
                </a:lnTo>
                <a:lnTo>
                  <a:pt x="2146" y="31"/>
                </a:lnTo>
                <a:lnTo>
                  <a:pt x="2161" y="29"/>
                </a:lnTo>
                <a:lnTo>
                  <a:pt x="2176" y="29"/>
                </a:lnTo>
                <a:lnTo>
                  <a:pt x="2193" y="29"/>
                </a:lnTo>
                <a:lnTo>
                  <a:pt x="2210" y="29"/>
                </a:lnTo>
                <a:lnTo>
                  <a:pt x="2226" y="31"/>
                </a:lnTo>
                <a:lnTo>
                  <a:pt x="2243" y="31"/>
                </a:lnTo>
                <a:lnTo>
                  <a:pt x="2260" y="33"/>
                </a:lnTo>
                <a:lnTo>
                  <a:pt x="2277" y="36"/>
                </a:lnTo>
                <a:lnTo>
                  <a:pt x="2288" y="38"/>
                </a:lnTo>
                <a:lnTo>
                  <a:pt x="2302" y="40"/>
                </a:lnTo>
                <a:lnTo>
                  <a:pt x="2314" y="44"/>
                </a:lnTo>
                <a:lnTo>
                  <a:pt x="2325" y="47"/>
                </a:lnTo>
                <a:lnTo>
                  <a:pt x="2335" y="49"/>
                </a:lnTo>
                <a:lnTo>
                  <a:pt x="2344" y="53"/>
                </a:lnTo>
                <a:lnTo>
                  <a:pt x="2354" y="57"/>
                </a:lnTo>
                <a:lnTo>
                  <a:pt x="2360" y="60"/>
                </a:lnTo>
                <a:lnTo>
                  <a:pt x="2369" y="66"/>
                </a:lnTo>
                <a:lnTo>
                  <a:pt x="2374" y="70"/>
                </a:lnTo>
                <a:lnTo>
                  <a:pt x="2379" y="73"/>
                </a:lnTo>
                <a:lnTo>
                  <a:pt x="2384" y="77"/>
                </a:lnTo>
                <a:lnTo>
                  <a:pt x="2387" y="82"/>
                </a:lnTo>
                <a:lnTo>
                  <a:pt x="2389" y="86"/>
                </a:lnTo>
                <a:lnTo>
                  <a:pt x="2391" y="92"/>
                </a:lnTo>
                <a:lnTo>
                  <a:pt x="2391" y="95"/>
                </a:lnTo>
                <a:lnTo>
                  <a:pt x="2407" y="90"/>
                </a:lnTo>
                <a:lnTo>
                  <a:pt x="2424" y="84"/>
                </a:lnTo>
                <a:lnTo>
                  <a:pt x="2443" y="82"/>
                </a:lnTo>
                <a:lnTo>
                  <a:pt x="2461" y="79"/>
                </a:lnTo>
                <a:lnTo>
                  <a:pt x="2478" y="79"/>
                </a:lnTo>
                <a:lnTo>
                  <a:pt x="2486" y="79"/>
                </a:lnTo>
                <a:lnTo>
                  <a:pt x="2493" y="81"/>
                </a:lnTo>
                <a:lnTo>
                  <a:pt x="2501" y="81"/>
                </a:lnTo>
                <a:lnTo>
                  <a:pt x="2508" y="82"/>
                </a:lnTo>
                <a:lnTo>
                  <a:pt x="2513" y="84"/>
                </a:lnTo>
                <a:lnTo>
                  <a:pt x="2520" y="86"/>
                </a:lnTo>
                <a:lnTo>
                  <a:pt x="2523" y="88"/>
                </a:lnTo>
                <a:lnTo>
                  <a:pt x="2526" y="90"/>
                </a:lnTo>
                <a:lnTo>
                  <a:pt x="2528" y="93"/>
                </a:lnTo>
                <a:lnTo>
                  <a:pt x="2531" y="95"/>
                </a:lnTo>
                <a:lnTo>
                  <a:pt x="2531" y="99"/>
                </a:lnTo>
                <a:lnTo>
                  <a:pt x="2533" y="101"/>
                </a:lnTo>
                <a:lnTo>
                  <a:pt x="2533" y="104"/>
                </a:lnTo>
                <a:lnTo>
                  <a:pt x="2533" y="106"/>
                </a:lnTo>
                <a:lnTo>
                  <a:pt x="2531" y="110"/>
                </a:lnTo>
                <a:lnTo>
                  <a:pt x="2530" y="114"/>
                </a:lnTo>
                <a:lnTo>
                  <a:pt x="2528" y="115"/>
                </a:lnTo>
                <a:lnTo>
                  <a:pt x="2525" y="119"/>
                </a:lnTo>
                <a:lnTo>
                  <a:pt x="2521" y="123"/>
                </a:lnTo>
                <a:lnTo>
                  <a:pt x="2518" y="126"/>
                </a:lnTo>
                <a:lnTo>
                  <a:pt x="2513" y="128"/>
                </a:lnTo>
                <a:lnTo>
                  <a:pt x="2508" y="132"/>
                </a:lnTo>
                <a:lnTo>
                  <a:pt x="2523" y="126"/>
                </a:lnTo>
                <a:lnTo>
                  <a:pt x="2537" y="123"/>
                </a:lnTo>
                <a:lnTo>
                  <a:pt x="2553" y="119"/>
                </a:lnTo>
                <a:lnTo>
                  <a:pt x="2568" y="115"/>
                </a:lnTo>
                <a:lnTo>
                  <a:pt x="2585" y="114"/>
                </a:lnTo>
                <a:lnTo>
                  <a:pt x="2602" y="112"/>
                </a:lnTo>
                <a:lnTo>
                  <a:pt x="2619" y="112"/>
                </a:lnTo>
                <a:lnTo>
                  <a:pt x="2635" y="112"/>
                </a:lnTo>
                <a:lnTo>
                  <a:pt x="2652" y="114"/>
                </a:lnTo>
                <a:lnTo>
                  <a:pt x="2669" y="114"/>
                </a:lnTo>
                <a:lnTo>
                  <a:pt x="2684" y="117"/>
                </a:lnTo>
                <a:lnTo>
                  <a:pt x="2701" y="119"/>
                </a:lnTo>
                <a:lnTo>
                  <a:pt x="2716" y="125"/>
                </a:lnTo>
                <a:lnTo>
                  <a:pt x="2729" y="128"/>
                </a:lnTo>
                <a:lnTo>
                  <a:pt x="2743" y="134"/>
                </a:lnTo>
                <a:lnTo>
                  <a:pt x="2756" y="139"/>
                </a:lnTo>
                <a:lnTo>
                  <a:pt x="2763" y="145"/>
                </a:lnTo>
                <a:lnTo>
                  <a:pt x="2770" y="148"/>
                </a:lnTo>
                <a:lnTo>
                  <a:pt x="2776" y="152"/>
                </a:lnTo>
                <a:lnTo>
                  <a:pt x="2781" y="158"/>
                </a:lnTo>
                <a:lnTo>
                  <a:pt x="2786" y="163"/>
                </a:lnTo>
                <a:lnTo>
                  <a:pt x="2790" y="167"/>
                </a:lnTo>
                <a:lnTo>
                  <a:pt x="2793" y="172"/>
                </a:lnTo>
                <a:lnTo>
                  <a:pt x="2796" y="178"/>
                </a:lnTo>
                <a:lnTo>
                  <a:pt x="2798" y="183"/>
                </a:lnTo>
                <a:lnTo>
                  <a:pt x="2800" y="189"/>
                </a:lnTo>
                <a:lnTo>
                  <a:pt x="2800" y="194"/>
                </a:lnTo>
                <a:lnTo>
                  <a:pt x="2798" y="200"/>
                </a:lnTo>
                <a:lnTo>
                  <a:pt x="2798" y="205"/>
                </a:lnTo>
                <a:lnTo>
                  <a:pt x="2796" y="211"/>
                </a:lnTo>
                <a:lnTo>
                  <a:pt x="2793" y="215"/>
                </a:lnTo>
                <a:lnTo>
                  <a:pt x="2790" y="220"/>
                </a:lnTo>
                <a:lnTo>
                  <a:pt x="2805" y="224"/>
                </a:lnTo>
                <a:lnTo>
                  <a:pt x="2820" y="227"/>
                </a:lnTo>
                <a:lnTo>
                  <a:pt x="2835" y="231"/>
                </a:lnTo>
                <a:lnTo>
                  <a:pt x="2848" y="235"/>
                </a:lnTo>
                <a:lnTo>
                  <a:pt x="2860" y="240"/>
                </a:lnTo>
                <a:lnTo>
                  <a:pt x="2870" y="244"/>
                </a:lnTo>
                <a:lnTo>
                  <a:pt x="2880" y="249"/>
                </a:lnTo>
                <a:lnTo>
                  <a:pt x="2889" y="253"/>
                </a:lnTo>
                <a:lnTo>
                  <a:pt x="2895" y="259"/>
                </a:lnTo>
                <a:lnTo>
                  <a:pt x="2900" y="264"/>
                </a:lnTo>
                <a:lnTo>
                  <a:pt x="2904" y="270"/>
                </a:lnTo>
                <a:lnTo>
                  <a:pt x="2907" y="275"/>
                </a:lnTo>
                <a:lnTo>
                  <a:pt x="2909" y="281"/>
                </a:lnTo>
                <a:lnTo>
                  <a:pt x="2909" y="286"/>
                </a:lnTo>
                <a:lnTo>
                  <a:pt x="2907" y="292"/>
                </a:lnTo>
                <a:lnTo>
                  <a:pt x="2904" y="297"/>
                </a:lnTo>
                <a:lnTo>
                  <a:pt x="2929" y="297"/>
                </a:lnTo>
                <a:lnTo>
                  <a:pt x="2952" y="299"/>
                </a:lnTo>
                <a:lnTo>
                  <a:pt x="2976" y="301"/>
                </a:lnTo>
                <a:lnTo>
                  <a:pt x="2998" y="303"/>
                </a:lnTo>
                <a:lnTo>
                  <a:pt x="3019" y="306"/>
                </a:lnTo>
                <a:lnTo>
                  <a:pt x="3039" y="310"/>
                </a:lnTo>
                <a:lnTo>
                  <a:pt x="3056" y="316"/>
                </a:lnTo>
                <a:lnTo>
                  <a:pt x="3065" y="317"/>
                </a:lnTo>
                <a:lnTo>
                  <a:pt x="3073" y="321"/>
                </a:lnTo>
                <a:lnTo>
                  <a:pt x="3081" y="323"/>
                </a:lnTo>
                <a:lnTo>
                  <a:pt x="3088" y="327"/>
                </a:lnTo>
                <a:lnTo>
                  <a:pt x="3095" y="328"/>
                </a:lnTo>
                <a:lnTo>
                  <a:pt x="3101" y="332"/>
                </a:lnTo>
                <a:lnTo>
                  <a:pt x="3106" y="336"/>
                </a:lnTo>
                <a:lnTo>
                  <a:pt x="3113" y="338"/>
                </a:lnTo>
                <a:lnTo>
                  <a:pt x="3118" y="341"/>
                </a:lnTo>
                <a:lnTo>
                  <a:pt x="3122" y="345"/>
                </a:lnTo>
                <a:lnTo>
                  <a:pt x="3125" y="349"/>
                </a:lnTo>
                <a:lnTo>
                  <a:pt x="3128" y="352"/>
                </a:lnTo>
                <a:lnTo>
                  <a:pt x="3132" y="356"/>
                </a:lnTo>
                <a:lnTo>
                  <a:pt x="3133" y="360"/>
                </a:lnTo>
                <a:lnTo>
                  <a:pt x="3135" y="363"/>
                </a:lnTo>
                <a:lnTo>
                  <a:pt x="3135" y="367"/>
                </a:lnTo>
                <a:lnTo>
                  <a:pt x="3137" y="371"/>
                </a:lnTo>
                <a:lnTo>
                  <a:pt x="3135" y="374"/>
                </a:lnTo>
                <a:lnTo>
                  <a:pt x="3135" y="378"/>
                </a:lnTo>
                <a:lnTo>
                  <a:pt x="3133" y="382"/>
                </a:lnTo>
                <a:lnTo>
                  <a:pt x="3132" y="385"/>
                </a:lnTo>
                <a:lnTo>
                  <a:pt x="3130" y="389"/>
                </a:lnTo>
                <a:lnTo>
                  <a:pt x="3127" y="391"/>
                </a:lnTo>
                <a:lnTo>
                  <a:pt x="3123" y="394"/>
                </a:lnTo>
                <a:lnTo>
                  <a:pt x="3120" y="398"/>
                </a:lnTo>
                <a:lnTo>
                  <a:pt x="3117" y="400"/>
                </a:lnTo>
                <a:lnTo>
                  <a:pt x="3106" y="407"/>
                </a:lnTo>
                <a:lnTo>
                  <a:pt x="3096" y="413"/>
                </a:lnTo>
                <a:lnTo>
                  <a:pt x="3085" y="418"/>
                </a:lnTo>
                <a:lnTo>
                  <a:pt x="3071" y="424"/>
                </a:lnTo>
                <a:lnTo>
                  <a:pt x="3083" y="426"/>
                </a:lnTo>
                <a:lnTo>
                  <a:pt x="3096" y="428"/>
                </a:lnTo>
                <a:lnTo>
                  <a:pt x="3106" y="429"/>
                </a:lnTo>
                <a:lnTo>
                  <a:pt x="3117" y="433"/>
                </a:lnTo>
                <a:lnTo>
                  <a:pt x="3127" y="437"/>
                </a:lnTo>
                <a:lnTo>
                  <a:pt x="3135" y="440"/>
                </a:lnTo>
                <a:lnTo>
                  <a:pt x="3142" y="444"/>
                </a:lnTo>
                <a:lnTo>
                  <a:pt x="3147" y="448"/>
                </a:lnTo>
                <a:lnTo>
                  <a:pt x="3152" y="451"/>
                </a:lnTo>
                <a:lnTo>
                  <a:pt x="3155" y="455"/>
                </a:lnTo>
                <a:lnTo>
                  <a:pt x="3157" y="461"/>
                </a:lnTo>
                <a:lnTo>
                  <a:pt x="3157" y="464"/>
                </a:lnTo>
                <a:lnTo>
                  <a:pt x="3157" y="468"/>
                </a:lnTo>
                <a:lnTo>
                  <a:pt x="3153" y="473"/>
                </a:lnTo>
                <a:lnTo>
                  <a:pt x="3150" y="477"/>
                </a:lnTo>
                <a:lnTo>
                  <a:pt x="3145" y="481"/>
                </a:lnTo>
                <a:lnTo>
                  <a:pt x="3140" y="484"/>
                </a:lnTo>
                <a:lnTo>
                  <a:pt x="3135" y="488"/>
                </a:lnTo>
                <a:lnTo>
                  <a:pt x="3130" y="490"/>
                </a:lnTo>
                <a:lnTo>
                  <a:pt x="3123" y="492"/>
                </a:lnTo>
                <a:lnTo>
                  <a:pt x="3117" y="495"/>
                </a:lnTo>
                <a:lnTo>
                  <a:pt x="3108" y="497"/>
                </a:lnTo>
                <a:lnTo>
                  <a:pt x="3100" y="499"/>
                </a:lnTo>
                <a:lnTo>
                  <a:pt x="3091" y="501"/>
                </a:lnTo>
                <a:lnTo>
                  <a:pt x="3105" y="499"/>
                </a:lnTo>
                <a:lnTo>
                  <a:pt x="3120" y="497"/>
                </a:lnTo>
                <a:lnTo>
                  <a:pt x="3133" y="499"/>
                </a:lnTo>
                <a:lnTo>
                  <a:pt x="3147" y="501"/>
                </a:lnTo>
                <a:lnTo>
                  <a:pt x="3158" y="503"/>
                </a:lnTo>
                <a:lnTo>
                  <a:pt x="3163" y="505"/>
                </a:lnTo>
                <a:lnTo>
                  <a:pt x="3170" y="506"/>
                </a:lnTo>
                <a:lnTo>
                  <a:pt x="3175" y="510"/>
                </a:lnTo>
                <a:lnTo>
                  <a:pt x="3179" y="512"/>
                </a:lnTo>
                <a:lnTo>
                  <a:pt x="3182" y="516"/>
                </a:lnTo>
                <a:lnTo>
                  <a:pt x="3185" y="518"/>
                </a:lnTo>
                <a:lnTo>
                  <a:pt x="3189" y="521"/>
                </a:lnTo>
                <a:lnTo>
                  <a:pt x="3190" y="525"/>
                </a:lnTo>
                <a:lnTo>
                  <a:pt x="3192" y="529"/>
                </a:lnTo>
                <a:lnTo>
                  <a:pt x="3192" y="530"/>
                </a:lnTo>
                <a:lnTo>
                  <a:pt x="3192" y="534"/>
                </a:lnTo>
                <a:lnTo>
                  <a:pt x="3190" y="538"/>
                </a:lnTo>
                <a:lnTo>
                  <a:pt x="3190" y="541"/>
                </a:lnTo>
                <a:lnTo>
                  <a:pt x="3187" y="543"/>
                </a:lnTo>
                <a:lnTo>
                  <a:pt x="3185" y="547"/>
                </a:lnTo>
                <a:lnTo>
                  <a:pt x="3182" y="549"/>
                </a:lnTo>
                <a:lnTo>
                  <a:pt x="3177" y="552"/>
                </a:lnTo>
                <a:lnTo>
                  <a:pt x="3174" y="554"/>
                </a:lnTo>
                <a:lnTo>
                  <a:pt x="3169" y="556"/>
                </a:lnTo>
                <a:lnTo>
                  <a:pt x="3162" y="558"/>
                </a:lnTo>
                <a:lnTo>
                  <a:pt x="3157" y="560"/>
                </a:lnTo>
                <a:lnTo>
                  <a:pt x="3150" y="562"/>
                </a:lnTo>
                <a:lnTo>
                  <a:pt x="3140" y="563"/>
                </a:lnTo>
                <a:lnTo>
                  <a:pt x="3132" y="565"/>
                </a:lnTo>
                <a:lnTo>
                  <a:pt x="3123" y="565"/>
                </a:lnTo>
                <a:lnTo>
                  <a:pt x="3113" y="565"/>
                </a:lnTo>
                <a:lnTo>
                  <a:pt x="3105" y="563"/>
                </a:lnTo>
                <a:lnTo>
                  <a:pt x="3096" y="563"/>
                </a:lnTo>
                <a:lnTo>
                  <a:pt x="3088" y="562"/>
                </a:lnTo>
                <a:lnTo>
                  <a:pt x="3080" y="560"/>
                </a:lnTo>
                <a:lnTo>
                  <a:pt x="3090" y="565"/>
                </a:lnTo>
                <a:lnTo>
                  <a:pt x="3098" y="571"/>
                </a:lnTo>
                <a:lnTo>
                  <a:pt x="3105" y="576"/>
                </a:lnTo>
                <a:lnTo>
                  <a:pt x="3110" y="584"/>
                </a:lnTo>
                <a:lnTo>
                  <a:pt x="3115" y="591"/>
                </a:lnTo>
                <a:lnTo>
                  <a:pt x="3117" y="596"/>
                </a:lnTo>
                <a:lnTo>
                  <a:pt x="3118" y="604"/>
                </a:lnTo>
                <a:lnTo>
                  <a:pt x="3118" y="611"/>
                </a:lnTo>
                <a:lnTo>
                  <a:pt x="3117" y="618"/>
                </a:lnTo>
                <a:lnTo>
                  <a:pt x="3113" y="624"/>
                </a:lnTo>
                <a:lnTo>
                  <a:pt x="3110" y="631"/>
                </a:lnTo>
                <a:lnTo>
                  <a:pt x="3103" y="637"/>
                </a:lnTo>
                <a:lnTo>
                  <a:pt x="3096" y="644"/>
                </a:lnTo>
                <a:lnTo>
                  <a:pt x="3088" y="650"/>
                </a:lnTo>
                <a:lnTo>
                  <a:pt x="3078" y="655"/>
                </a:lnTo>
                <a:lnTo>
                  <a:pt x="3066" y="661"/>
                </a:lnTo>
                <a:lnTo>
                  <a:pt x="3058" y="664"/>
                </a:lnTo>
                <a:lnTo>
                  <a:pt x="3048" y="666"/>
                </a:lnTo>
                <a:lnTo>
                  <a:pt x="3036" y="670"/>
                </a:lnTo>
                <a:lnTo>
                  <a:pt x="3026" y="672"/>
                </a:lnTo>
                <a:lnTo>
                  <a:pt x="3003" y="675"/>
                </a:lnTo>
                <a:lnTo>
                  <a:pt x="2979" y="677"/>
                </a:lnTo>
                <a:lnTo>
                  <a:pt x="2989" y="679"/>
                </a:lnTo>
                <a:lnTo>
                  <a:pt x="2998" y="681"/>
                </a:lnTo>
                <a:lnTo>
                  <a:pt x="3006" y="683"/>
                </a:lnTo>
                <a:lnTo>
                  <a:pt x="3014" y="685"/>
                </a:lnTo>
                <a:lnTo>
                  <a:pt x="3021" y="688"/>
                </a:lnTo>
                <a:lnTo>
                  <a:pt x="3028" y="690"/>
                </a:lnTo>
                <a:lnTo>
                  <a:pt x="3033" y="694"/>
                </a:lnTo>
                <a:lnTo>
                  <a:pt x="3038" y="697"/>
                </a:lnTo>
                <a:lnTo>
                  <a:pt x="3041" y="701"/>
                </a:lnTo>
                <a:lnTo>
                  <a:pt x="3044" y="703"/>
                </a:lnTo>
                <a:lnTo>
                  <a:pt x="3046" y="707"/>
                </a:lnTo>
                <a:lnTo>
                  <a:pt x="3046" y="710"/>
                </a:lnTo>
                <a:lnTo>
                  <a:pt x="3048" y="714"/>
                </a:lnTo>
                <a:lnTo>
                  <a:pt x="3046" y="718"/>
                </a:lnTo>
                <a:lnTo>
                  <a:pt x="3044" y="721"/>
                </a:lnTo>
                <a:lnTo>
                  <a:pt x="3041" y="725"/>
                </a:lnTo>
                <a:lnTo>
                  <a:pt x="3038" y="729"/>
                </a:lnTo>
                <a:lnTo>
                  <a:pt x="3033" y="732"/>
                </a:lnTo>
                <a:lnTo>
                  <a:pt x="3028" y="736"/>
                </a:lnTo>
                <a:lnTo>
                  <a:pt x="3021" y="738"/>
                </a:lnTo>
                <a:lnTo>
                  <a:pt x="3014" y="742"/>
                </a:lnTo>
                <a:lnTo>
                  <a:pt x="3006" y="743"/>
                </a:lnTo>
                <a:lnTo>
                  <a:pt x="2998" y="745"/>
                </a:lnTo>
                <a:lnTo>
                  <a:pt x="2989" y="747"/>
                </a:lnTo>
                <a:lnTo>
                  <a:pt x="2971" y="751"/>
                </a:lnTo>
                <a:lnTo>
                  <a:pt x="2952" y="751"/>
                </a:lnTo>
                <a:lnTo>
                  <a:pt x="2932" y="751"/>
                </a:lnTo>
                <a:lnTo>
                  <a:pt x="2912" y="749"/>
                </a:lnTo>
                <a:lnTo>
                  <a:pt x="2902" y="749"/>
                </a:lnTo>
                <a:lnTo>
                  <a:pt x="2894" y="747"/>
                </a:lnTo>
                <a:lnTo>
                  <a:pt x="2884" y="743"/>
                </a:lnTo>
                <a:lnTo>
                  <a:pt x="2877" y="742"/>
                </a:lnTo>
                <a:lnTo>
                  <a:pt x="2878" y="747"/>
                </a:lnTo>
                <a:lnTo>
                  <a:pt x="2880" y="751"/>
                </a:lnTo>
                <a:lnTo>
                  <a:pt x="2882" y="756"/>
                </a:lnTo>
                <a:lnTo>
                  <a:pt x="2882" y="762"/>
                </a:lnTo>
                <a:lnTo>
                  <a:pt x="2882" y="765"/>
                </a:lnTo>
                <a:lnTo>
                  <a:pt x="2882" y="771"/>
                </a:lnTo>
                <a:lnTo>
                  <a:pt x="2880" y="775"/>
                </a:lnTo>
                <a:lnTo>
                  <a:pt x="2878" y="780"/>
                </a:lnTo>
                <a:lnTo>
                  <a:pt x="2877" y="784"/>
                </a:lnTo>
                <a:lnTo>
                  <a:pt x="2875" y="789"/>
                </a:lnTo>
                <a:lnTo>
                  <a:pt x="2872" y="793"/>
                </a:lnTo>
                <a:lnTo>
                  <a:pt x="2868" y="798"/>
                </a:lnTo>
                <a:lnTo>
                  <a:pt x="2865" y="802"/>
                </a:lnTo>
                <a:lnTo>
                  <a:pt x="2862" y="806"/>
                </a:lnTo>
                <a:lnTo>
                  <a:pt x="2857" y="811"/>
                </a:lnTo>
                <a:lnTo>
                  <a:pt x="2852" y="815"/>
                </a:lnTo>
                <a:lnTo>
                  <a:pt x="2840" y="822"/>
                </a:lnTo>
                <a:lnTo>
                  <a:pt x="2828" y="830"/>
                </a:lnTo>
                <a:lnTo>
                  <a:pt x="2813" y="835"/>
                </a:lnTo>
                <a:lnTo>
                  <a:pt x="2798" y="842"/>
                </a:lnTo>
                <a:lnTo>
                  <a:pt x="2781" y="846"/>
                </a:lnTo>
                <a:lnTo>
                  <a:pt x="2763" y="852"/>
                </a:lnTo>
                <a:lnTo>
                  <a:pt x="2744" y="855"/>
                </a:lnTo>
                <a:lnTo>
                  <a:pt x="2724" y="857"/>
                </a:lnTo>
                <a:lnTo>
                  <a:pt x="2706" y="859"/>
                </a:lnTo>
                <a:lnTo>
                  <a:pt x="2689" y="861"/>
                </a:lnTo>
                <a:lnTo>
                  <a:pt x="2671" y="861"/>
                </a:lnTo>
                <a:lnTo>
                  <a:pt x="2652" y="859"/>
                </a:lnTo>
                <a:lnTo>
                  <a:pt x="2635" y="859"/>
                </a:lnTo>
                <a:lnTo>
                  <a:pt x="2619" y="857"/>
                </a:lnTo>
                <a:lnTo>
                  <a:pt x="2600" y="853"/>
                </a:lnTo>
                <a:lnTo>
                  <a:pt x="2585" y="850"/>
                </a:lnTo>
                <a:lnTo>
                  <a:pt x="2587" y="853"/>
                </a:lnTo>
                <a:lnTo>
                  <a:pt x="2590" y="855"/>
                </a:lnTo>
                <a:lnTo>
                  <a:pt x="2594" y="861"/>
                </a:lnTo>
                <a:lnTo>
                  <a:pt x="2595" y="865"/>
                </a:lnTo>
                <a:lnTo>
                  <a:pt x="2595" y="870"/>
                </a:lnTo>
                <a:lnTo>
                  <a:pt x="2595" y="876"/>
                </a:lnTo>
                <a:lnTo>
                  <a:pt x="2592" y="879"/>
                </a:lnTo>
                <a:lnTo>
                  <a:pt x="2588" y="885"/>
                </a:lnTo>
                <a:lnTo>
                  <a:pt x="2582" y="888"/>
                </a:lnTo>
                <a:lnTo>
                  <a:pt x="2575" y="894"/>
                </a:lnTo>
                <a:lnTo>
                  <a:pt x="2567" y="898"/>
                </a:lnTo>
                <a:lnTo>
                  <a:pt x="2558" y="901"/>
                </a:lnTo>
                <a:lnTo>
                  <a:pt x="2547" y="905"/>
                </a:lnTo>
                <a:lnTo>
                  <a:pt x="2535" y="909"/>
                </a:lnTo>
                <a:lnTo>
                  <a:pt x="2523" y="910"/>
                </a:lnTo>
                <a:lnTo>
                  <a:pt x="2508" y="912"/>
                </a:lnTo>
                <a:lnTo>
                  <a:pt x="2493" y="916"/>
                </a:lnTo>
                <a:lnTo>
                  <a:pt x="2473" y="918"/>
                </a:lnTo>
                <a:lnTo>
                  <a:pt x="2451" y="918"/>
                </a:lnTo>
                <a:lnTo>
                  <a:pt x="2429" y="920"/>
                </a:lnTo>
                <a:lnTo>
                  <a:pt x="2409" y="918"/>
                </a:lnTo>
                <a:lnTo>
                  <a:pt x="2387" y="916"/>
                </a:lnTo>
                <a:lnTo>
                  <a:pt x="2367" y="914"/>
                </a:lnTo>
                <a:lnTo>
                  <a:pt x="2349" y="910"/>
                </a:lnTo>
                <a:lnTo>
                  <a:pt x="2330" y="907"/>
                </a:lnTo>
                <a:lnTo>
                  <a:pt x="2332" y="912"/>
                </a:lnTo>
                <a:lnTo>
                  <a:pt x="2332" y="920"/>
                </a:lnTo>
                <a:lnTo>
                  <a:pt x="2332" y="925"/>
                </a:lnTo>
                <a:lnTo>
                  <a:pt x="2330" y="931"/>
                </a:lnTo>
                <a:lnTo>
                  <a:pt x="2327" y="936"/>
                </a:lnTo>
                <a:lnTo>
                  <a:pt x="2322" y="942"/>
                </a:lnTo>
                <a:lnTo>
                  <a:pt x="2317" y="947"/>
                </a:lnTo>
                <a:lnTo>
                  <a:pt x="2310" y="953"/>
                </a:lnTo>
                <a:lnTo>
                  <a:pt x="2303" y="956"/>
                </a:lnTo>
                <a:lnTo>
                  <a:pt x="2295" y="960"/>
                </a:lnTo>
                <a:lnTo>
                  <a:pt x="2285" y="965"/>
                </a:lnTo>
                <a:lnTo>
                  <a:pt x="2275" y="967"/>
                </a:lnTo>
                <a:lnTo>
                  <a:pt x="2265" y="971"/>
                </a:lnTo>
                <a:lnTo>
                  <a:pt x="2253" y="973"/>
                </a:lnTo>
                <a:lnTo>
                  <a:pt x="2241" y="975"/>
                </a:lnTo>
                <a:lnTo>
                  <a:pt x="2228" y="977"/>
                </a:lnTo>
                <a:lnTo>
                  <a:pt x="2216" y="978"/>
                </a:lnTo>
                <a:lnTo>
                  <a:pt x="2205" y="978"/>
                </a:lnTo>
                <a:lnTo>
                  <a:pt x="2195" y="978"/>
                </a:lnTo>
                <a:lnTo>
                  <a:pt x="2183" y="977"/>
                </a:lnTo>
                <a:lnTo>
                  <a:pt x="2161" y="975"/>
                </a:lnTo>
                <a:lnTo>
                  <a:pt x="2151" y="973"/>
                </a:lnTo>
                <a:lnTo>
                  <a:pt x="2141" y="971"/>
                </a:lnTo>
                <a:lnTo>
                  <a:pt x="2132" y="967"/>
                </a:lnTo>
                <a:lnTo>
                  <a:pt x="2124" y="964"/>
                </a:lnTo>
                <a:lnTo>
                  <a:pt x="2116" y="962"/>
                </a:lnTo>
                <a:lnTo>
                  <a:pt x="2107" y="958"/>
                </a:lnTo>
                <a:lnTo>
                  <a:pt x="2101" y="953"/>
                </a:lnTo>
                <a:lnTo>
                  <a:pt x="2094" y="949"/>
                </a:lnTo>
                <a:lnTo>
                  <a:pt x="2089" y="943"/>
                </a:lnTo>
                <a:lnTo>
                  <a:pt x="2084" y="940"/>
                </a:lnTo>
                <a:lnTo>
                  <a:pt x="2087" y="943"/>
                </a:lnTo>
                <a:lnTo>
                  <a:pt x="2089" y="949"/>
                </a:lnTo>
                <a:lnTo>
                  <a:pt x="2089" y="954"/>
                </a:lnTo>
                <a:lnTo>
                  <a:pt x="2089" y="958"/>
                </a:lnTo>
                <a:lnTo>
                  <a:pt x="2086" y="964"/>
                </a:lnTo>
                <a:lnTo>
                  <a:pt x="2082" y="967"/>
                </a:lnTo>
                <a:lnTo>
                  <a:pt x="2079" y="971"/>
                </a:lnTo>
                <a:lnTo>
                  <a:pt x="2072" y="975"/>
                </a:lnTo>
                <a:lnTo>
                  <a:pt x="2065" y="980"/>
                </a:lnTo>
                <a:lnTo>
                  <a:pt x="2059" y="982"/>
                </a:lnTo>
                <a:lnTo>
                  <a:pt x="2049" y="986"/>
                </a:lnTo>
                <a:lnTo>
                  <a:pt x="2040" y="989"/>
                </a:lnTo>
                <a:lnTo>
                  <a:pt x="2029" y="991"/>
                </a:lnTo>
                <a:lnTo>
                  <a:pt x="2018" y="993"/>
                </a:lnTo>
                <a:lnTo>
                  <a:pt x="2005" y="995"/>
                </a:lnTo>
                <a:lnTo>
                  <a:pt x="1993" y="997"/>
                </a:lnTo>
                <a:lnTo>
                  <a:pt x="1980" y="997"/>
                </a:lnTo>
                <a:lnTo>
                  <a:pt x="1967" y="999"/>
                </a:lnTo>
                <a:lnTo>
                  <a:pt x="1953" y="999"/>
                </a:lnTo>
                <a:lnTo>
                  <a:pt x="1941" y="997"/>
                </a:lnTo>
                <a:lnTo>
                  <a:pt x="1916" y="995"/>
                </a:lnTo>
                <a:lnTo>
                  <a:pt x="1905" y="993"/>
                </a:lnTo>
                <a:lnTo>
                  <a:pt x="1893" y="991"/>
                </a:lnTo>
                <a:lnTo>
                  <a:pt x="1883" y="989"/>
                </a:lnTo>
                <a:lnTo>
                  <a:pt x="1873" y="986"/>
                </a:lnTo>
                <a:lnTo>
                  <a:pt x="1863" y="982"/>
                </a:lnTo>
                <a:lnTo>
                  <a:pt x="1854" y="978"/>
                </a:lnTo>
                <a:lnTo>
                  <a:pt x="1846" y="975"/>
                </a:lnTo>
                <a:lnTo>
                  <a:pt x="1839" y="971"/>
                </a:lnTo>
                <a:lnTo>
                  <a:pt x="1834" y="967"/>
                </a:lnTo>
                <a:lnTo>
                  <a:pt x="1829" y="962"/>
                </a:lnTo>
                <a:lnTo>
                  <a:pt x="1827" y="965"/>
                </a:lnTo>
                <a:lnTo>
                  <a:pt x="1824" y="971"/>
                </a:lnTo>
                <a:lnTo>
                  <a:pt x="1819" y="975"/>
                </a:lnTo>
                <a:lnTo>
                  <a:pt x="1814" y="977"/>
                </a:lnTo>
                <a:lnTo>
                  <a:pt x="1809" y="980"/>
                </a:lnTo>
                <a:lnTo>
                  <a:pt x="1801" y="984"/>
                </a:lnTo>
                <a:lnTo>
                  <a:pt x="1792" y="986"/>
                </a:lnTo>
                <a:lnTo>
                  <a:pt x="1784" y="989"/>
                </a:lnTo>
                <a:lnTo>
                  <a:pt x="1774" y="991"/>
                </a:lnTo>
                <a:lnTo>
                  <a:pt x="1764" y="993"/>
                </a:lnTo>
                <a:lnTo>
                  <a:pt x="1754" y="995"/>
                </a:lnTo>
                <a:lnTo>
                  <a:pt x="1742" y="997"/>
                </a:lnTo>
                <a:lnTo>
                  <a:pt x="1730" y="997"/>
                </a:lnTo>
                <a:lnTo>
                  <a:pt x="1717" y="997"/>
                </a:lnTo>
                <a:lnTo>
                  <a:pt x="1692" y="999"/>
                </a:lnTo>
                <a:lnTo>
                  <a:pt x="1671" y="997"/>
                </a:lnTo>
                <a:lnTo>
                  <a:pt x="1653" y="995"/>
                </a:lnTo>
                <a:lnTo>
                  <a:pt x="1636" y="991"/>
                </a:lnTo>
                <a:lnTo>
                  <a:pt x="1628" y="991"/>
                </a:lnTo>
                <a:lnTo>
                  <a:pt x="1621" y="989"/>
                </a:lnTo>
                <a:lnTo>
                  <a:pt x="1614" y="986"/>
                </a:lnTo>
                <a:lnTo>
                  <a:pt x="1608" y="984"/>
                </a:lnTo>
                <a:lnTo>
                  <a:pt x="1601" y="982"/>
                </a:lnTo>
                <a:lnTo>
                  <a:pt x="1596" y="980"/>
                </a:lnTo>
                <a:lnTo>
                  <a:pt x="1591" y="977"/>
                </a:lnTo>
                <a:lnTo>
                  <a:pt x="1588" y="975"/>
                </a:lnTo>
                <a:lnTo>
                  <a:pt x="1583" y="971"/>
                </a:lnTo>
                <a:lnTo>
                  <a:pt x="1581" y="969"/>
                </a:lnTo>
                <a:lnTo>
                  <a:pt x="1573" y="973"/>
                </a:lnTo>
                <a:lnTo>
                  <a:pt x="1564" y="978"/>
                </a:lnTo>
                <a:lnTo>
                  <a:pt x="1556" y="982"/>
                </a:lnTo>
                <a:lnTo>
                  <a:pt x="1544" y="986"/>
                </a:lnTo>
                <a:lnTo>
                  <a:pt x="1532" y="988"/>
                </a:lnTo>
                <a:lnTo>
                  <a:pt x="1521" y="991"/>
                </a:lnTo>
                <a:lnTo>
                  <a:pt x="1507" y="993"/>
                </a:lnTo>
                <a:lnTo>
                  <a:pt x="1492" y="995"/>
                </a:lnTo>
                <a:lnTo>
                  <a:pt x="1479" y="997"/>
                </a:lnTo>
                <a:lnTo>
                  <a:pt x="1464" y="999"/>
                </a:lnTo>
                <a:lnTo>
                  <a:pt x="1447" y="999"/>
                </a:lnTo>
                <a:lnTo>
                  <a:pt x="1432" y="999"/>
                </a:lnTo>
                <a:lnTo>
                  <a:pt x="1417" y="999"/>
                </a:lnTo>
                <a:lnTo>
                  <a:pt x="1400" y="999"/>
                </a:lnTo>
                <a:lnTo>
                  <a:pt x="1385" y="997"/>
                </a:lnTo>
                <a:lnTo>
                  <a:pt x="1368" y="995"/>
                </a:lnTo>
                <a:lnTo>
                  <a:pt x="1351" y="993"/>
                </a:lnTo>
                <a:lnTo>
                  <a:pt x="1335" y="989"/>
                </a:lnTo>
                <a:lnTo>
                  <a:pt x="1326" y="988"/>
                </a:lnTo>
                <a:lnTo>
                  <a:pt x="1319" y="986"/>
                </a:lnTo>
                <a:lnTo>
                  <a:pt x="1313" y="984"/>
                </a:lnTo>
                <a:lnTo>
                  <a:pt x="1306" y="980"/>
                </a:lnTo>
                <a:lnTo>
                  <a:pt x="1299" y="978"/>
                </a:lnTo>
                <a:lnTo>
                  <a:pt x="1294" y="977"/>
                </a:lnTo>
                <a:lnTo>
                  <a:pt x="1289" y="973"/>
                </a:lnTo>
                <a:lnTo>
                  <a:pt x="1284" y="971"/>
                </a:lnTo>
                <a:lnTo>
                  <a:pt x="1281" y="967"/>
                </a:lnTo>
                <a:lnTo>
                  <a:pt x="1278" y="965"/>
                </a:lnTo>
                <a:lnTo>
                  <a:pt x="1274" y="962"/>
                </a:lnTo>
                <a:lnTo>
                  <a:pt x="1272" y="958"/>
                </a:lnTo>
                <a:lnTo>
                  <a:pt x="1262" y="962"/>
                </a:lnTo>
                <a:lnTo>
                  <a:pt x="1252" y="964"/>
                </a:lnTo>
                <a:lnTo>
                  <a:pt x="1241" y="967"/>
                </a:lnTo>
                <a:lnTo>
                  <a:pt x="1229" y="967"/>
                </a:lnTo>
                <a:lnTo>
                  <a:pt x="1215" y="969"/>
                </a:lnTo>
                <a:lnTo>
                  <a:pt x="1202" y="971"/>
                </a:lnTo>
                <a:lnTo>
                  <a:pt x="1175" y="971"/>
                </a:lnTo>
                <a:lnTo>
                  <a:pt x="1147" y="969"/>
                </a:lnTo>
                <a:lnTo>
                  <a:pt x="1120" y="965"/>
                </a:lnTo>
                <a:lnTo>
                  <a:pt x="1107" y="964"/>
                </a:lnTo>
                <a:lnTo>
                  <a:pt x="1093" y="962"/>
                </a:lnTo>
                <a:lnTo>
                  <a:pt x="1080" y="958"/>
                </a:lnTo>
                <a:lnTo>
                  <a:pt x="1068" y="954"/>
                </a:lnTo>
                <a:lnTo>
                  <a:pt x="1061" y="953"/>
                </a:lnTo>
                <a:lnTo>
                  <a:pt x="1055" y="951"/>
                </a:lnTo>
                <a:lnTo>
                  <a:pt x="1048" y="947"/>
                </a:lnTo>
                <a:lnTo>
                  <a:pt x="1041" y="945"/>
                </a:lnTo>
                <a:lnTo>
                  <a:pt x="1036" y="942"/>
                </a:lnTo>
                <a:lnTo>
                  <a:pt x="1031" y="940"/>
                </a:lnTo>
                <a:lnTo>
                  <a:pt x="1028" y="936"/>
                </a:lnTo>
                <a:lnTo>
                  <a:pt x="1024" y="934"/>
                </a:lnTo>
                <a:lnTo>
                  <a:pt x="1021" y="931"/>
                </a:lnTo>
                <a:lnTo>
                  <a:pt x="1018" y="929"/>
                </a:lnTo>
                <a:lnTo>
                  <a:pt x="1016" y="925"/>
                </a:lnTo>
                <a:lnTo>
                  <a:pt x="1014" y="921"/>
                </a:lnTo>
                <a:lnTo>
                  <a:pt x="1013" y="920"/>
                </a:lnTo>
                <a:lnTo>
                  <a:pt x="1013" y="916"/>
                </a:lnTo>
                <a:lnTo>
                  <a:pt x="1013" y="912"/>
                </a:lnTo>
                <a:lnTo>
                  <a:pt x="1014" y="910"/>
                </a:lnTo>
                <a:lnTo>
                  <a:pt x="1013" y="914"/>
                </a:lnTo>
                <a:lnTo>
                  <a:pt x="1009" y="916"/>
                </a:lnTo>
                <a:lnTo>
                  <a:pt x="1006" y="920"/>
                </a:lnTo>
                <a:lnTo>
                  <a:pt x="1001" y="923"/>
                </a:lnTo>
                <a:lnTo>
                  <a:pt x="994" y="925"/>
                </a:lnTo>
                <a:lnTo>
                  <a:pt x="988" y="927"/>
                </a:lnTo>
                <a:lnTo>
                  <a:pt x="979" y="929"/>
                </a:lnTo>
                <a:lnTo>
                  <a:pt x="971" y="931"/>
                </a:lnTo>
                <a:lnTo>
                  <a:pt x="961" y="932"/>
                </a:lnTo>
                <a:lnTo>
                  <a:pt x="951" y="934"/>
                </a:lnTo>
                <a:lnTo>
                  <a:pt x="939" y="934"/>
                </a:lnTo>
                <a:lnTo>
                  <a:pt x="927" y="936"/>
                </a:lnTo>
                <a:lnTo>
                  <a:pt x="915" y="936"/>
                </a:lnTo>
                <a:lnTo>
                  <a:pt x="904" y="936"/>
                </a:lnTo>
                <a:lnTo>
                  <a:pt x="879" y="934"/>
                </a:lnTo>
                <a:lnTo>
                  <a:pt x="865" y="934"/>
                </a:lnTo>
                <a:lnTo>
                  <a:pt x="853" y="932"/>
                </a:lnTo>
                <a:lnTo>
                  <a:pt x="840" y="931"/>
                </a:lnTo>
                <a:lnTo>
                  <a:pt x="830" y="929"/>
                </a:lnTo>
                <a:lnTo>
                  <a:pt x="818" y="925"/>
                </a:lnTo>
                <a:lnTo>
                  <a:pt x="810" y="923"/>
                </a:lnTo>
                <a:lnTo>
                  <a:pt x="800" y="921"/>
                </a:lnTo>
                <a:lnTo>
                  <a:pt x="791" y="918"/>
                </a:lnTo>
                <a:lnTo>
                  <a:pt x="785" y="914"/>
                </a:lnTo>
                <a:lnTo>
                  <a:pt x="778" y="912"/>
                </a:lnTo>
                <a:lnTo>
                  <a:pt x="771" y="909"/>
                </a:lnTo>
                <a:lnTo>
                  <a:pt x="768" y="905"/>
                </a:lnTo>
                <a:lnTo>
                  <a:pt x="765" y="901"/>
                </a:lnTo>
                <a:lnTo>
                  <a:pt x="761" y="898"/>
                </a:lnTo>
                <a:lnTo>
                  <a:pt x="761" y="896"/>
                </a:lnTo>
                <a:lnTo>
                  <a:pt x="761" y="892"/>
                </a:lnTo>
                <a:lnTo>
                  <a:pt x="763" y="888"/>
                </a:lnTo>
                <a:lnTo>
                  <a:pt x="765" y="887"/>
                </a:lnTo>
                <a:lnTo>
                  <a:pt x="766" y="885"/>
                </a:lnTo>
                <a:lnTo>
                  <a:pt x="770" y="883"/>
                </a:lnTo>
                <a:lnTo>
                  <a:pt x="773" y="881"/>
                </a:lnTo>
                <a:lnTo>
                  <a:pt x="776" y="877"/>
                </a:lnTo>
                <a:lnTo>
                  <a:pt x="781" y="876"/>
                </a:lnTo>
                <a:lnTo>
                  <a:pt x="786" y="876"/>
                </a:lnTo>
                <a:lnTo>
                  <a:pt x="771" y="877"/>
                </a:lnTo>
                <a:lnTo>
                  <a:pt x="758" y="879"/>
                </a:lnTo>
                <a:lnTo>
                  <a:pt x="743" y="881"/>
                </a:lnTo>
                <a:lnTo>
                  <a:pt x="728" y="881"/>
                </a:lnTo>
                <a:lnTo>
                  <a:pt x="714" y="881"/>
                </a:lnTo>
                <a:lnTo>
                  <a:pt x="699" y="881"/>
                </a:lnTo>
                <a:lnTo>
                  <a:pt x="684" y="879"/>
                </a:lnTo>
                <a:lnTo>
                  <a:pt x="671" y="877"/>
                </a:lnTo>
                <a:lnTo>
                  <a:pt x="657" y="876"/>
                </a:lnTo>
                <a:lnTo>
                  <a:pt x="644" y="872"/>
                </a:lnTo>
                <a:lnTo>
                  <a:pt x="632" y="868"/>
                </a:lnTo>
                <a:lnTo>
                  <a:pt x="620" y="865"/>
                </a:lnTo>
                <a:lnTo>
                  <a:pt x="610" y="859"/>
                </a:lnTo>
                <a:lnTo>
                  <a:pt x="600" y="855"/>
                </a:lnTo>
                <a:lnTo>
                  <a:pt x="592" y="848"/>
                </a:lnTo>
                <a:lnTo>
                  <a:pt x="583" y="842"/>
                </a:lnTo>
                <a:lnTo>
                  <a:pt x="578" y="837"/>
                </a:lnTo>
                <a:lnTo>
                  <a:pt x="573" y="831"/>
                </a:lnTo>
                <a:lnTo>
                  <a:pt x="570" y="824"/>
                </a:lnTo>
                <a:lnTo>
                  <a:pt x="568" y="819"/>
                </a:lnTo>
                <a:lnTo>
                  <a:pt x="568" y="811"/>
                </a:lnTo>
                <a:lnTo>
                  <a:pt x="568" y="806"/>
                </a:lnTo>
                <a:lnTo>
                  <a:pt x="570" y="800"/>
                </a:lnTo>
                <a:lnTo>
                  <a:pt x="573" y="793"/>
                </a:lnTo>
                <a:lnTo>
                  <a:pt x="558" y="798"/>
                </a:lnTo>
                <a:lnTo>
                  <a:pt x="543" y="802"/>
                </a:lnTo>
                <a:lnTo>
                  <a:pt x="528" y="806"/>
                </a:lnTo>
                <a:lnTo>
                  <a:pt x="513" y="808"/>
                </a:lnTo>
                <a:lnTo>
                  <a:pt x="496" y="809"/>
                </a:lnTo>
                <a:lnTo>
                  <a:pt x="480" y="811"/>
                </a:lnTo>
                <a:lnTo>
                  <a:pt x="464" y="813"/>
                </a:lnTo>
                <a:lnTo>
                  <a:pt x="448" y="813"/>
                </a:lnTo>
                <a:lnTo>
                  <a:pt x="431" y="813"/>
                </a:lnTo>
                <a:lnTo>
                  <a:pt x="414" y="811"/>
                </a:lnTo>
                <a:lnTo>
                  <a:pt x="397" y="809"/>
                </a:lnTo>
                <a:lnTo>
                  <a:pt x="381" y="808"/>
                </a:lnTo>
                <a:lnTo>
                  <a:pt x="366" y="806"/>
                </a:lnTo>
                <a:lnTo>
                  <a:pt x="350" y="802"/>
                </a:lnTo>
                <a:lnTo>
                  <a:pt x="335" y="798"/>
                </a:lnTo>
                <a:lnTo>
                  <a:pt x="322" y="793"/>
                </a:lnTo>
                <a:lnTo>
                  <a:pt x="302" y="787"/>
                </a:lnTo>
                <a:lnTo>
                  <a:pt x="283" y="782"/>
                </a:lnTo>
                <a:lnTo>
                  <a:pt x="265" y="775"/>
                </a:lnTo>
                <a:lnTo>
                  <a:pt x="250" y="769"/>
                </a:lnTo>
                <a:lnTo>
                  <a:pt x="235" y="762"/>
                </a:lnTo>
                <a:lnTo>
                  <a:pt x="223" y="754"/>
                </a:lnTo>
                <a:lnTo>
                  <a:pt x="211" y="747"/>
                </a:lnTo>
                <a:lnTo>
                  <a:pt x="201" y="740"/>
                </a:lnTo>
                <a:lnTo>
                  <a:pt x="193" y="732"/>
                </a:lnTo>
                <a:lnTo>
                  <a:pt x="186" y="725"/>
                </a:lnTo>
                <a:lnTo>
                  <a:pt x="181" y="718"/>
                </a:lnTo>
                <a:lnTo>
                  <a:pt x="179" y="714"/>
                </a:lnTo>
                <a:lnTo>
                  <a:pt x="178" y="708"/>
                </a:lnTo>
                <a:lnTo>
                  <a:pt x="176" y="705"/>
                </a:lnTo>
                <a:lnTo>
                  <a:pt x="176" y="701"/>
                </a:lnTo>
                <a:lnTo>
                  <a:pt x="176" y="697"/>
                </a:lnTo>
                <a:lnTo>
                  <a:pt x="176" y="694"/>
                </a:lnTo>
                <a:lnTo>
                  <a:pt x="178" y="690"/>
                </a:lnTo>
                <a:lnTo>
                  <a:pt x="178" y="686"/>
                </a:lnTo>
                <a:lnTo>
                  <a:pt x="179" y="683"/>
                </a:lnTo>
                <a:lnTo>
                  <a:pt x="181" y="677"/>
                </a:lnTo>
                <a:lnTo>
                  <a:pt x="168" y="679"/>
                </a:lnTo>
                <a:lnTo>
                  <a:pt x="153" y="681"/>
                </a:lnTo>
                <a:lnTo>
                  <a:pt x="139" y="681"/>
                </a:lnTo>
                <a:lnTo>
                  <a:pt x="126" y="681"/>
                </a:lnTo>
                <a:lnTo>
                  <a:pt x="112" y="679"/>
                </a:lnTo>
                <a:lnTo>
                  <a:pt x="99" y="677"/>
                </a:lnTo>
                <a:lnTo>
                  <a:pt x="86" y="675"/>
                </a:lnTo>
                <a:lnTo>
                  <a:pt x="74" y="672"/>
                </a:lnTo>
                <a:lnTo>
                  <a:pt x="62" y="668"/>
                </a:lnTo>
                <a:lnTo>
                  <a:pt x="50" y="664"/>
                </a:lnTo>
                <a:lnTo>
                  <a:pt x="40" y="661"/>
                </a:lnTo>
                <a:lnTo>
                  <a:pt x="32" y="655"/>
                </a:lnTo>
                <a:lnTo>
                  <a:pt x="24" y="650"/>
                </a:lnTo>
                <a:lnTo>
                  <a:pt x="17" y="644"/>
                </a:lnTo>
                <a:lnTo>
                  <a:pt x="10" y="639"/>
                </a:lnTo>
                <a:lnTo>
                  <a:pt x="5" y="631"/>
                </a:lnTo>
                <a:lnTo>
                  <a:pt x="3" y="628"/>
                </a:lnTo>
                <a:lnTo>
                  <a:pt x="2" y="622"/>
                </a:lnTo>
                <a:lnTo>
                  <a:pt x="0" y="618"/>
                </a:lnTo>
                <a:lnTo>
                  <a:pt x="0" y="613"/>
                </a:lnTo>
                <a:lnTo>
                  <a:pt x="0" y="607"/>
                </a:lnTo>
                <a:lnTo>
                  <a:pt x="2" y="604"/>
                </a:lnTo>
                <a:lnTo>
                  <a:pt x="3" y="598"/>
                </a:lnTo>
                <a:lnTo>
                  <a:pt x="7" y="595"/>
                </a:lnTo>
                <a:lnTo>
                  <a:pt x="10" y="589"/>
                </a:lnTo>
                <a:lnTo>
                  <a:pt x="14" y="585"/>
                </a:lnTo>
                <a:lnTo>
                  <a:pt x="19" y="582"/>
                </a:lnTo>
                <a:lnTo>
                  <a:pt x="24" y="578"/>
                </a:lnTo>
                <a:lnTo>
                  <a:pt x="30" y="573"/>
                </a:lnTo>
                <a:lnTo>
                  <a:pt x="37" y="569"/>
                </a:lnTo>
                <a:lnTo>
                  <a:pt x="44" y="567"/>
                </a:lnTo>
                <a:lnTo>
                  <a:pt x="50" y="563"/>
                </a:lnTo>
                <a:lnTo>
                  <a:pt x="42" y="560"/>
                </a:lnTo>
                <a:lnTo>
                  <a:pt x="35" y="554"/>
                </a:lnTo>
                <a:lnTo>
                  <a:pt x="29" y="551"/>
                </a:lnTo>
                <a:lnTo>
                  <a:pt x="24" y="547"/>
                </a:lnTo>
                <a:lnTo>
                  <a:pt x="20" y="541"/>
                </a:lnTo>
                <a:lnTo>
                  <a:pt x="19" y="538"/>
                </a:lnTo>
                <a:lnTo>
                  <a:pt x="17" y="534"/>
                </a:lnTo>
                <a:lnTo>
                  <a:pt x="19" y="529"/>
                </a:lnTo>
                <a:lnTo>
                  <a:pt x="20" y="525"/>
                </a:lnTo>
                <a:lnTo>
                  <a:pt x="22" y="521"/>
                </a:lnTo>
                <a:lnTo>
                  <a:pt x="27" y="518"/>
                </a:lnTo>
                <a:lnTo>
                  <a:pt x="32" y="514"/>
                </a:lnTo>
                <a:lnTo>
                  <a:pt x="39" y="510"/>
                </a:lnTo>
                <a:lnTo>
                  <a:pt x="47" y="506"/>
                </a:lnTo>
                <a:lnTo>
                  <a:pt x="55" y="505"/>
                </a:lnTo>
                <a:lnTo>
                  <a:pt x="65" y="501"/>
                </a:lnTo>
                <a:lnTo>
                  <a:pt x="69" y="501"/>
                </a:lnTo>
              </a:path>
            </a:pathLst>
          </a:custGeom>
          <a:noFill/>
          <a:ln w="19050">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15" name="Rectangle 17"/>
          <p:cNvSpPr>
            <a:spLocks noChangeArrowheads="1"/>
          </p:cNvSpPr>
          <p:nvPr/>
        </p:nvSpPr>
        <p:spPr bwMode="auto">
          <a:xfrm>
            <a:off x="1443038" y="3660428"/>
            <a:ext cx="215900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FontTx/>
              <a:buNone/>
            </a:pPr>
            <a:r>
              <a:rPr kumimoji="1" lang="en-US" altLang="zh-CN" sz="1300">
                <a:solidFill>
                  <a:srgbClr val="000000"/>
                </a:solidFill>
                <a:latin typeface="Tahoma" panose="020B0604030504040204" pitchFamily="34" charset="0"/>
                <a:ea typeface="隶书" panose="02010509060101010101" pitchFamily="49" charset="-122"/>
              </a:rPr>
              <a:t>TASK_UNINTERRUPTIBLE</a:t>
            </a:r>
            <a:endParaRPr kumimoji="1" lang="en-US" altLang="zh-CN" sz="2400">
              <a:solidFill>
                <a:schemeClr val="tx1"/>
              </a:solidFill>
              <a:latin typeface="Times New Roman" panose="02020603050405020304" pitchFamily="18" charset="0"/>
              <a:ea typeface="隶书" panose="02010509060101010101" pitchFamily="49" charset="-122"/>
            </a:endParaRPr>
          </a:p>
        </p:txBody>
      </p:sp>
      <p:sp>
        <p:nvSpPr>
          <p:cNvPr id="25616" name="Rectangle 18"/>
          <p:cNvSpPr>
            <a:spLocks noChangeArrowheads="1"/>
          </p:cNvSpPr>
          <p:nvPr/>
        </p:nvSpPr>
        <p:spPr bwMode="auto">
          <a:xfrm>
            <a:off x="2187575" y="3881090"/>
            <a:ext cx="6604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FontTx/>
              <a:buNone/>
            </a:pPr>
            <a:r>
              <a:rPr kumimoji="1" lang="zh-CN" altLang="en-US" sz="1300" dirty="0">
                <a:solidFill>
                  <a:srgbClr val="000000"/>
                </a:solidFill>
                <a:latin typeface="宋体" panose="02010600030101010101" pitchFamily="2" charset="-122"/>
              </a:rPr>
              <a:t>深度睡眠</a:t>
            </a:r>
            <a:endParaRPr kumimoji="1" lang="zh-CN" altLang="en-US" sz="2400" dirty="0">
              <a:solidFill>
                <a:schemeClr val="tx1"/>
              </a:solidFill>
              <a:latin typeface="Times New Roman" panose="02020603050405020304" pitchFamily="18" charset="0"/>
              <a:ea typeface="隶书" panose="02010509060101010101" pitchFamily="49" charset="-122"/>
            </a:endParaRPr>
          </a:p>
        </p:txBody>
      </p:sp>
      <p:sp>
        <p:nvSpPr>
          <p:cNvPr id="25617" name="Freeform 19"/>
          <p:cNvSpPr/>
          <p:nvPr/>
        </p:nvSpPr>
        <p:spPr bwMode="auto">
          <a:xfrm>
            <a:off x="1487488" y="5809903"/>
            <a:ext cx="1703387" cy="746125"/>
          </a:xfrm>
          <a:custGeom>
            <a:avLst/>
            <a:gdLst>
              <a:gd name="T0" fmla="*/ 2147483646 w 2146"/>
              <a:gd name="T1" fmla="*/ 2147483646 h 940"/>
              <a:gd name="T2" fmla="*/ 2147483646 w 2146"/>
              <a:gd name="T3" fmla="*/ 2147483646 h 940"/>
              <a:gd name="T4" fmla="*/ 2147483646 w 2146"/>
              <a:gd name="T5" fmla="*/ 2147483646 h 940"/>
              <a:gd name="T6" fmla="*/ 2147483646 w 2146"/>
              <a:gd name="T7" fmla="*/ 2147483646 h 940"/>
              <a:gd name="T8" fmla="*/ 2147483646 w 2146"/>
              <a:gd name="T9" fmla="*/ 2147483646 h 940"/>
              <a:gd name="T10" fmla="*/ 2147483646 w 2146"/>
              <a:gd name="T11" fmla="*/ 2147483646 h 940"/>
              <a:gd name="T12" fmla="*/ 2147483646 w 2146"/>
              <a:gd name="T13" fmla="*/ 2147483646 h 940"/>
              <a:gd name="T14" fmla="*/ 2147483646 w 2146"/>
              <a:gd name="T15" fmla="*/ 2147483646 h 940"/>
              <a:gd name="T16" fmla="*/ 2147483646 w 2146"/>
              <a:gd name="T17" fmla="*/ 2147483646 h 940"/>
              <a:gd name="T18" fmla="*/ 2147483646 w 2146"/>
              <a:gd name="T19" fmla="*/ 2147483646 h 940"/>
              <a:gd name="T20" fmla="*/ 2147483646 w 2146"/>
              <a:gd name="T21" fmla="*/ 2147483646 h 940"/>
              <a:gd name="T22" fmla="*/ 2147483646 w 2146"/>
              <a:gd name="T23" fmla="*/ 2147483646 h 940"/>
              <a:gd name="T24" fmla="*/ 2147483646 w 2146"/>
              <a:gd name="T25" fmla="*/ 2147483646 h 940"/>
              <a:gd name="T26" fmla="*/ 2147483646 w 2146"/>
              <a:gd name="T27" fmla="*/ 2147483646 h 940"/>
              <a:gd name="T28" fmla="*/ 2147483646 w 2146"/>
              <a:gd name="T29" fmla="*/ 2147483646 h 940"/>
              <a:gd name="T30" fmla="*/ 2147483646 w 2146"/>
              <a:gd name="T31" fmla="*/ 2147483646 h 940"/>
              <a:gd name="T32" fmla="*/ 2147483646 w 2146"/>
              <a:gd name="T33" fmla="*/ 2147483646 h 940"/>
              <a:gd name="T34" fmla="*/ 2147483646 w 2146"/>
              <a:gd name="T35" fmla="*/ 2147483646 h 940"/>
              <a:gd name="T36" fmla="*/ 2147483646 w 2146"/>
              <a:gd name="T37" fmla="*/ 2147483646 h 940"/>
              <a:gd name="T38" fmla="*/ 2147483646 w 2146"/>
              <a:gd name="T39" fmla="*/ 2147483646 h 940"/>
              <a:gd name="T40" fmla="*/ 2147483646 w 2146"/>
              <a:gd name="T41" fmla="*/ 2147483646 h 940"/>
              <a:gd name="T42" fmla="*/ 2147483646 w 2146"/>
              <a:gd name="T43" fmla="*/ 2147483646 h 940"/>
              <a:gd name="T44" fmla="*/ 2147483646 w 2146"/>
              <a:gd name="T45" fmla="*/ 2147483646 h 940"/>
              <a:gd name="T46" fmla="*/ 2147483646 w 2146"/>
              <a:gd name="T47" fmla="*/ 2147483646 h 940"/>
              <a:gd name="T48" fmla="*/ 2147483646 w 2146"/>
              <a:gd name="T49" fmla="*/ 2147483646 h 940"/>
              <a:gd name="T50" fmla="*/ 2147483646 w 2146"/>
              <a:gd name="T51" fmla="*/ 2147483646 h 940"/>
              <a:gd name="T52" fmla="*/ 2147483646 w 2146"/>
              <a:gd name="T53" fmla="*/ 2147483646 h 940"/>
              <a:gd name="T54" fmla="*/ 2147483646 w 2146"/>
              <a:gd name="T55" fmla="*/ 2147483646 h 940"/>
              <a:gd name="T56" fmla="*/ 2147483646 w 2146"/>
              <a:gd name="T57" fmla="*/ 2147483646 h 940"/>
              <a:gd name="T58" fmla="*/ 2147483646 w 2146"/>
              <a:gd name="T59" fmla="*/ 2147483646 h 940"/>
              <a:gd name="T60" fmla="*/ 2147483646 w 2146"/>
              <a:gd name="T61" fmla="*/ 2147483646 h 940"/>
              <a:gd name="T62" fmla="*/ 2147483646 w 2146"/>
              <a:gd name="T63" fmla="*/ 2147483646 h 940"/>
              <a:gd name="T64" fmla="*/ 2147483646 w 2146"/>
              <a:gd name="T65" fmla="*/ 2147483646 h 940"/>
              <a:gd name="T66" fmla="*/ 2147483646 w 2146"/>
              <a:gd name="T67" fmla="*/ 2147483646 h 940"/>
              <a:gd name="T68" fmla="*/ 2147483646 w 2146"/>
              <a:gd name="T69" fmla="*/ 2147483646 h 940"/>
              <a:gd name="T70" fmla="*/ 2147483646 w 2146"/>
              <a:gd name="T71" fmla="*/ 2147483646 h 940"/>
              <a:gd name="T72" fmla="*/ 2147483646 w 2146"/>
              <a:gd name="T73" fmla="*/ 2147483646 h 940"/>
              <a:gd name="T74" fmla="*/ 2147483646 w 2146"/>
              <a:gd name="T75" fmla="*/ 2147483646 h 940"/>
              <a:gd name="T76" fmla="*/ 2147483646 w 2146"/>
              <a:gd name="T77" fmla="*/ 2147483646 h 940"/>
              <a:gd name="T78" fmla="*/ 2147483646 w 2146"/>
              <a:gd name="T79" fmla="*/ 2147483646 h 940"/>
              <a:gd name="T80" fmla="*/ 2147483646 w 2146"/>
              <a:gd name="T81" fmla="*/ 2147483646 h 940"/>
              <a:gd name="T82" fmla="*/ 2147483646 w 2146"/>
              <a:gd name="T83" fmla="*/ 2147483646 h 940"/>
              <a:gd name="T84" fmla="*/ 2147483646 w 2146"/>
              <a:gd name="T85" fmla="*/ 2147483646 h 940"/>
              <a:gd name="T86" fmla="*/ 2147483646 w 2146"/>
              <a:gd name="T87" fmla="*/ 2147483646 h 940"/>
              <a:gd name="T88" fmla="*/ 2147483646 w 2146"/>
              <a:gd name="T89" fmla="*/ 2147483646 h 940"/>
              <a:gd name="T90" fmla="*/ 2147483646 w 2146"/>
              <a:gd name="T91" fmla="*/ 2147483646 h 940"/>
              <a:gd name="T92" fmla="*/ 2147483646 w 2146"/>
              <a:gd name="T93" fmla="*/ 2147483646 h 940"/>
              <a:gd name="T94" fmla="*/ 2147483646 w 2146"/>
              <a:gd name="T95" fmla="*/ 2147483646 h 940"/>
              <a:gd name="T96" fmla="*/ 2147483646 w 2146"/>
              <a:gd name="T97" fmla="*/ 2147483646 h 940"/>
              <a:gd name="T98" fmla="*/ 2147483646 w 2146"/>
              <a:gd name="T99" fmla="*/ 2147483646 h 940"/>
              <a:gd name="T100" fmla="*/ 2147483646 w 2146"/>
              <a:gd name="T101" fmla="*/ 2147483646 h 940"/>
              <a:gd name="T102" fmla="*/ 2147483646 w 2146"/>
              <a:gd name="T103" fmla="*/ 2147483646 h 940"/>
              <a:gd name="T104" fmla="*/ 2147483646 w 2146"/>
              <a:gd name="T105" fmla="*/ 2147483646 h 940"/>
              <a:gd name="T106" fmla="*/ 2147483646 w 2146"/>
              <a:gd name="T107" fmla="*/ 2147483646 h 940"/>
              <a:gd name="T108" fmla="*/ 2147483646 w 2146"/>
              <a:gd name="T109" fmla="*/ 2147483646 h 940"/>
              <a:gd name="T110" fmla="*/ 2147483646 w 2146"/>
              <a:gd name="T111" fmla="*/ 2147483646 h 940"/>
              <a:gd name="T112" fmla="*/ 2147483646 w 2146"/>
              <a:gd name="T113" fmla="*/ 2147483646 h 940"/>
              <a:gd name="T114" fmla="*/ 2147483646 w 2146"/>
              <a:gd name="T115" fmla="*/ 2147483646 h 940"/>
              <a:gd name="T116" fmla="*/ 2147483646 w 2146"/>
              <a:gd name="T117" fmla="*/ 2147483646 h 940"/>
              <a:gd name="T118" fmla="*/ 2147483646 w 2146"/>
              <a:gd name="T119" fmla="*/ 2147483646 h 940"/>
              <a:gd name="T120" fmla="*/ 2147483646 w 2146"/>
              <a:gd name="T121" fmla="*/ 2147483646 h 94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146"/>
              <a:gd name="T184" fmla="*/ 0 h 940"/>
              <a:gd name="T185" fmla="*/ 2146 w 2146"/>
              <a:gd name="T186" fmla="*/ 940 h 94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146" h="940">
                <a:moveTo>
                  <a:pt x="47" y="472"/>
                </a:moveTo>
                <a:lnTo>
                  <a:pt x="39" y="469"/>
                </a:lnTo>
                <a:lnTo>
                  <a:pt x="32" y="465"/>
                </a:lnTo>
                <a:lnTo>
                  <a:pt x="27" y="461"/>
                </a:lnTo>
                <a:lnTo>
                  <a:pt x="20" y="456"/>
                </a:lnTo>
                <a:lnTo>
                  <a:pt x="17" y="452"/>
                </a:lnTo>
                <a:lnTo>
                  <a:pt x="12" y="447"/>
                </a:lnTo>
                <a:lnTo>
                  <a:pt x="8" y="441"/>
                </a:lnTo>
                <a:lnTo>
                  <a:pt x="7" y="436"/>
                </a:lnTo>
                <a:lnTo>
                  <a:pt x="5" y="430"/>
                </a:lnTo>
                <a:lnTo>
                  <a:pt x="3" y="425"/>
                </a:lnTo>
                <a:lnTo>
                  <a:pt x="3" y="419"/>
                </a:lnTo>
                <a:lnTo>
                  <a:pt x="5" y="414"/>
                </a:lnTo>
                <a:lnTo>
                  <a:pt x="7" y="408"/>
                </a:lnTo>
                <a:lnTo>
                  <a:pt x="8" y="402"/>
                </a:lnTo>
                <a:lnTo>
                  <a:pt x="12" y="397"/>
                </a:lnTo>
                <a:lnTo>
                  <a:pt x="17" y="393"/>
                </a:lnTo>
                <a:lnTo>
                  <a:pt x="22" y="388"/>
                </a:lnTo>
                <a:lnTo>
                  <a:pt x="29" y="382"/>
                </a:lnTo>
                <a:lnTo>
                  <a:pt x="35" y="379"/>
                </a:lnTo>
                <a:lnTo>
                  <a:pt x="42" y="375"/>
                </a:lnTo>
                <a:lnTo>
                  <a:pt x="50" y="371"/>
                </a:lnTo>
                <a:lnTo>
                  <a:pt x="59" y="369"/>
                </a:lnTo>
                <a:lnTo>
                  <a:pt x="67" y="368"/>
                </a:lnTo>
                <a:lnTo>
                  <a:pt x="77" y="366"/>
                </a:lnTo>
                <a:lnTo>
                  <a:pt x="70" y="358"/>
                </a:lnTo>
                <a:lnTo>
                  <a:pt x="67" y="351"/>
                </a:lnTo>
                <a:lnTo>
                  <a:pt x="62" y="344"/>
                </a:lnTo>
                <a:lnTo>
                  <a:pt x="60" y="336"/>
                </a:lnTo>
                <a:lnTo>
                  <a:pt x="59" y="329"/>
                </a:lnTo>
                <a:lnTo>
                  <a:pt x="59" y="322"/>
                </a:lnTo>
                <a:lnTo>
                  <a:pt x="60" y="313"/>
                </a:lnTo>
                <a:lnTo>
                  <a:pt x="62" y="305"/>
                </a:lnTo>
                <a:lnTo>
                  <a:pt x="65" y="298"/>
                </a:lnTo>
                <a:lnTo>
                  <a:pt x="70" y="292"/>
                </a:lnTo>
                <a:lnTo>
                  <a:pt x="76" y="285"/>
                </a:lnTo>
                <a:lnTo>
                  <a:pt x="82" y="278"/>
                </a:lnTo>
                <a:lnTo>
                  <a:pt x="89" y="272"/>
                </a:lnTo>
                <a:lnTo>
                  <a:pt x="97" y="267"/>
                </a:lnTo>
                <a:lnTo>
                  <a:pt x="107" y="261"/>
                </a:lnTo>
                <a:lnTo>
                  <a:pt x="117" y="257"/>
                </a:lnTo>
                <a:lnTo>
                  <a:pt x="126" y="254"/>
                </a:lnTo>
                <a:lnTo>
                  <a:pt x="134" y="252"/>
                </a:lnTo>
                <a:lnTo>
                  <a:pt x="144" y="248"/>
                </a:lnTo>
                <a:lnTo>
                  <a:pt x="153" y="248"/>
                </a:lnTo>
                <a:lnTo>
                  <a:pt x="163" y="246"/>
                </a:lnTo>
                <a:lnTo>
                  <a:pt x="173" y="246"/>
                </a:lnTo>
                <a:lnTo>
                  <a:pt x="181" y="245"/>
                </a:lnTo>
                <a:lnTo>
                  <a:pt x="191" y="246"/>
                </a:lnTo>
                <a:lnTo>
                  <a:pt x="190" y="237"/>
                </a:lnTo>
                <a:lnTo>
                  <a:pt x="188" y="228"/>
                </a:lnTo>
                <a:lnTo>
                  <a:pt x="188" y="219"/>
                </a:lnTo>
                <a:lnTo>
                  <a:pt x="190" y="210"/>
                </a:lnTo>
                <a:lnTo>
                  <a:pt x="193" y="201"/>
                </a:lnTo>
                <a:lnTo>
                  <a:pt x="196" y="193"/>
                </a:lnTo>
                <a:lnTo>
                  <a:pt x="201" y="184"/>
                </a:lnTo>
                <a:lnTo>
                  <a:pt x="208" y="177"/>
                </a:lnTo>
                <a:lnTo>
                  <a:pt x="216" y="169"/>
                </a:lnTo>
                <a:lnTo>
                  <a:pt x="225" y="164"/>
                </a:lnTo>
                <a:lnTo>
                  <a:pt x="233" y="156"/>
                </a:lnTo>
                <a:lnTo>
                  <a:pt x="245" y="151"/>
                </a:lnTo>
                <a:lnTo>
                  <a:pt x="255" y="147"/>
                </a:lnTo>
                <a:lnTo>
                  <a:pt x="267" y="142"/>
                </a:lnTo>
                <a:lnTo>
                  <a:pt x="280" y="140"/>
                </a:lnTo>
                <a:lnTo>
                  <a:pt x="293" y="136"/>
                </a:lnTo>
                <a:lnTo>
                  <a:pt x="305" y="134"/>
                </a:lnTo>
                <a:lnTo>
                  <a:pt x="317" y="134"/>
                </a:lnTo>
                <a:lnTo>
                  <a:pt x="330" y="134"/>
                </a:lnTo>
                <a:lnTo>
                  <a:pt x="342" y="134"/>
                </a:lnTo>
                <a:lnTo>
                  <a:pt x="354" y="136"/>
                </a:lnTo>
                <a:lnTo>
                  <a:pt x="366" y="138"/>
                </a:lnTo>
                <a:lnTo>
                  <a:pt x="377" y="140"/>
                </a:lnTo>
                <a:lnTo>
                  <a:pt x="387" y="144"/>
                </a:lnTo>
                <a:lnTo>
                  <a:pt x="384" y="138"/>
                </a:lnTo>
                <a:lnTo>
                  <a:pt x="382" y="131"/>
                </a:lnTo>
                <a:lnTo>
                  <a:pt x="381" y="125"/>
                </a:lnTo>
                <a:lnTo>
                  <a:pt x="379" y="120"/>
                </a:lnTo>
                <a:lnTo>
                  <a:pt x="381" y="112"/>
                </a:lnTo>
                <a:lnTo>
                  <a:pt x="381" y="107"/>
                </a:lnTo>
                <a:lnTo>
                  <a:pt x="384" y="101"/>
                </a:lnTo>
                <a:lnTo>
                  <a:pt x="386" y="96"/>
                </a:lnTo>
                <a:lnTo>
                  <a:pt x="389" y="90"/>
                </a:lnTo>
                <a:lnTo>
                  <a:pt x="394" y="85"/>
                </a:lnTo>
                <a:lnTo>
                  <a:pt x="399" y="81"/>
                </a:lnTo>
                <a:lnTo>
                  <a:pt x="406" y="76"/>
                </a:lnTo>
                <a:lnTo>
                  <a:pt x="412" y="72"/>
                </a:lnTo>
                <a:lnTo>
                  <a:pt x="419" y="68"/>
                </a:lnTo>
                <a:lnTo>
                  <a:pt x="428" y="65"/>
                </a:lnTo>
                <a:lnTo>
                  <a:pt x="436" y="61"/>
                </a:lnTo>
                <a:lnTo>
                  <a:pt x="444" y="59"/>
                </a:lnTo>
                <a:lnTo>
                  <a:pt x="454" y="57"/>
                </a:lnTo>
                <a:lnTo>
                  <a:pt x="463" y="57"/>
                </a:lnTo>
                <a:lnTo>
                  <a:pt x="471" y="57"/>
                </a:lnTo>
                <a:lnTo>
                  <a:pt x="480" y="57"/>
                </a:lnTo>
                <a:lnTo>
                  <a:pt x="490" y="57"/>
                </a:lnTo>
                <a:lnTo>
                  <a:pt x="498" y="59"/>
                </a:lnTo>
                <a:lnTo>
                  <a:pt x="506" y="61"/>
                </a:lnTo>
                <a:lnTo>
                  <a:pt x="515" y="63"/>
                </a:lnTo>
                <a:lnTo>
                  <a:pt x="521" y="65"/>
                </a:lnTo>
                <a:lnTo>
                  <a:pt x="530" y="68"/>
                </a:lnTo>
                <a:lnTo>
                  <a:pt x="537" y="72"/>
                </a:lnTo>
                <a:lnTo>
                  <a:pt x="543" y="76"/>
                </a:lnTo>
                <a:lnTo>
                  <a:pt x="548" y="79"/>
                </a:lnTo>
                <a:lnTo>
                  <a:pt x="553" y="85"/>
                </a:lnTo>
                <a:lnTo>
                  <a:pt x="558" y="90"/>
                </a:lnTo>
                <a:lnTo>
                  <a:pt x="560" y="83"/>
                </a:lnTo>
                <a:lnTo>
                  <a:pt x="563" y="78"/>
                </a:lnTo>
                <a:lnTo>
                  <a:pt x="567" y="70"/>
                </a:lnTo>
                <a:lnTo>
                  <a:pt x="572" y="65"/>
                </a:lnTo>
                <a:lnTo>
                  <a:pt x="577" y="59"/>
                </a:lnTo>
                <a:lnTo>
                  <a:pt x="583" y="54"/>
                </a:lnTo>
                <a:lnTo>
                  <a:pt x="590" y="50"/>
                </a:lnTo>
                <a:lnTo>
                  <a:pt x="599" y="44"/>
                </a:lnTo>
                <a:lnTo>
                  <a:pt x="605" y="41"/>
                </a:lnTo>
                <a:lnTo>
                  <a:pt x="615" y="37"/>
                </a:lnTo>
                <a:lnTo>
                  <a:pt x="624" y="35"/>
                </a:lnTo>
                <a:lnTo>
                  <a:pt x="634" y="33"/>
                </a:lnTo>
                <a:lnTo>
                  <a:pt x="644" y="32"/>
                </a:lnTo>
                <a:lnTo>
                  <a:pt x="654" y="30"/>
                </a:lnTo>
                <a:lnTo>
                  <a:pt x="664" y="30"/>
                </a:lnTo>
                <a:lnTo>
                  <a:pt x="674" y="32"/>
                </a:lnTo>
                <a:lnTo>
                  <a:pt x="684" y="32"/>
                </a:lnTo>
                <a:lnTo>
                  <a:pt x="694" y="33"/>
                </a:lnTo>
                <a:lnTo>
                  <a:pt x="703" y="35"/>
                </a:lnTo>
                <a:lnTo>
                  <a:pt x="711" y="39"/>
                </a:lnTo>
                <a:lnTo>
                  <a:pt x="719" y="43"/>
                </a:lnTo>
                <a:lnTo>
                  <a:pt x="728" y="46"/>
                </a:lnTo>
                <a:lnTo>
                  <a:pt x="734" y="50"/>
                </a:lnTo>
                <a:lnTo>
                  <a:pt x="741" y="55"/>
                </a:lnTo>
                <a:lnTo>
                  <a:pt x="754" y="44"/>
                </a:lnTo>
                <a:lnTo>
                  <a:pt x="770" y="35"/>
                </a:lnTo>
                <a:lnTo>
                  <a:pt x="786" y="28"/>
                </a:lnTo>
                <a:lnTo>
                  <a:pt x="803" y="21"/>
                </a:lnTo>
                <a:lnTo>
                  <a:pt x="822" y="15"/>
                </a:lnTo>
                <a:lnTo>
                  <a:pt x="838" y="11"/>
                </a:lnTo>
                <a:lnTo>
                  <a:pt x="858" y="8"/>
                </a:lnTo>
                <a:lnTo>
                  <a:pt x="877" y="6"/>
                </a:lnTo>
                <a:lnTo>
                  <a:pt x="897" y="4"/>
                </a:lnTo>
                <a:lnTo>
                  <a:pt x="915" y="4"/>
                </a:lnTo>
                <a:lnTo>
                  <a:pt x="936" y="6"/>
                </a:lnTo>
                <a:lnTo>
                  <a:pt x="954" y="10"/>
                </a:lnTo>
                <a:lnTo>
                  <a:pt x="974" y="13"/>
                </a:lnTo>
                <a:lnTo>
                  <a:pt x="993" y="19"/>
                </a:lnTo>
                <a:lnTo>
                  <a:pt x="1009" y="24"/>
                </a:lnTo>
                <a:lnTo>
                  <a:pt x="1028" y="32"/>
                </a:lnTo>
                <a:lnTo>
                  <a:pt x="1029" y="28"/>
                </a:lnTo>
                <a:lnTo>
                  <a:pt x="1031" y="24"/>
                </a:lnTo>
                <a:lnTo>
                  <a:pt x="1034" y="21"/>
                </a:lnTo>
                <a:lnTo>
                  <a:pt x="1038" y="19"/>
                </a:lnTo>
                <a:lnTo>
                  <a:pt x="1041" y="15"/>
                </a:lnTo>
                <a:lnTo>
                  <a:pt x="1044" y="11"/>
                </a:lnTo>
                <a:lnTo>
                  <a:pt x="1055" y="8"/>
                </a:lnTo>
                <a:lnTo>
                  <a:pt x="1065" y="4"/>
                </a:lnTo>
                <a:lnTo>
                  <a:pt x="1076" y="2"/>
                </a:lnTo>
                <a:lnTo>
                  <a:pt x="1088" y="2"/>
                </a:lnTo>
                <a:lnTo>
                  <a:pt x="1101" y="2"/>
                </a:lnTo>
                <a:lnTo>
                  <a:pt x="1110" y="4"/>
                </a:lnTo>
                <a:lnTo>
                  <a:pt x="1117" y="6"/>
                </a:lnTo>
                <a:lnTo>
                  <a:pt x="1125" y="10"/>
                </a:lnTo>
                <a:lnTo>
                  <a:pt x="1132" y="13"/>
                </a:lnTo>
                <a:lnTo>
                  <a:pt x="1137" y="19"/>
                </a:lnTo>
                <a:lnTo>
                  <a:pt x="1142" y="22"/>
                </a:lnTo>
                <a:lnTo>
                  <a:pt x="1145" y="28"/>
                </a:lnTo>
                <a:lnTo>
                  <a:pt x="1147" y="33"/>
                </a:lnTo>
                <a:lnTo>
                  <a:pt x="1148" y="30"/>
                </a:lnTo>
                <a:lnTo>
                  <a:pt x="1148" y="26"/>
                </a:lnTo>
                <a:lnTo>
                  <a:pt x="1152" y="22"/>
                </a:lnTo>
                <a:lnTo>
                  <a:pt x="1153" y="19"/>
                </a:lnTo>
                <a:lnTo>
                  <a:pt x="1157" y="17"/>
                </a:lnTo>
                <a:lnTo>
                  <a:pt x="1160" y="13"/>
                </a:lnTo>
                <a:lnTo>
                  <a:pt x="1164" y="11"/>
                </a:lnTo>
                <a:lnTo>
                  <a:pt x="1169" y="8"/>
                </a:lnTo>
                <a:lnTo>
                  <a:pt x="1179" y="4"/>
                </a:lnTo>
                <a:lnTo>
                  <a:pt x="1190" y="2"/>
                </a:lnTo>
                <a:lnTo>
                  <a:pt x="1202" y="0"/>
                </a:lnTo>
                <a:lnTo>
                  <a:pt x="1215" y="2"/>
                </a:lnTo>
                <a:lnTo>
                  <a:pt x="1226" y="4"/>
                </a:lnTo>
                <a:lnTo>
                  <a:pt x="1236" y="6"/>
                </a:lnTo>
                <a:lnTo>
                  <a:pt x="1244" y="8"/>
                </a:lnTo>
                <a:lnTo>
                  <a:pt x="1252" y="11"/>
                </a:lnTo>
                <a:lnTo>
                  <a:pt x="1259" y="17"/>
                </a:lnTo>
                <a:lnTo>
                  <a:pt x="1266" y="21"/>
                </a:lnTo>
                <a:lnTo>
                  <a:pt x="1271" y="26"/>
                </a:lnTo>
                <a:lnTo>
                  <a:pt x="1274" y="32"/>
                </a:lnTo>
                <a:lnTo>
                  <a:pt x="1283" y="28"/>
                </a:lnTo>
                <a:lnTo>
                  <a:pt x="1293" y="26"/>
                </a:lnTo>
                <a:lnTo>
                  <a:pt x="1304" y="24"/>
                </a:lnTo>
                <a:lnTo>
                  <a:pt x="1316" y="24"/>
                </a:lnTo>
                <a:lnTo>
                  <a:pt x="1328" y="26"/>
                </a:lnTo>
                <a:lnTo>
                  <a:pt x="1340" y="26"/>
                </a:lnTo>
                <a:lnTo>
                  <a:pt x="1351" y="30"/>
                </a:lnTo>
                <a:lnTo>
                  <a:pt x="1361" y="33"/>
                </a:lnTo>
                <a:lnTo>
                  <a:pt x="1366" y="35"/>
                </a:lnTo>
                <a:lnTo>
                  <a:pt x="1371" y="37"/>
                </a:lnTo>
                <a:lnTo>
                  <a:pt x="1375" y="41"/>
                </a:lnTo>
                <a:lnTo>
                  <a:pt x="1378" y="43"/>
                </a:lnTo>
                <a:lnTo>
                  <a:pt x="1380" y="46"/>
                </a:lnTo>
                <a:lnTo>
                  <a:pt x="1381" y="48"/>
                </a:lnTo>
                <a:lnTo>
                  <a:pt x="1383" y="52"/>
                </a:lnTo>
                <a:lnTo>
                  <a:pt x="1383" y="55"/>
                </a:lnTo>
                <a:lnTo>
                  <a:pt x="1388" y="50"/>
                </a:lnTo>
                <a:lnTo>
                  <a:pt x="1393" y="46"/>
                </a:lnTo>
                <a:lnTo>
                  <a:pt x="1400" y="43"/>
                </a:lnTo>
                <a:lnTo>
                  <a:pt x="1407" y="39"/>
                </a:lnTo>
                <a:lnTo>
                  <a:pt x="1415" y="37"/>
                </a:lnTo>
                <a:lnTo>
                  <a:pt x="1423" y="33"/>
                </a:lnTo>
                <a:lnTo>
                  <a:pt x="1433" y="32"/>
                </a:lnTo>
                <a:lnTo>
                  <a:pt x="1442" y="30"/>
                </a:lnTo>
                <a:lnTo>
                  <a:pt x="1452" y="30"/>
                </a:lnTo>
                <a:lnTo>
                  <a:pt x="1464" y="28"/>
                </a:lnTo>
                <a:lnTo>
                  <a:pt x="1474" y="28"/>
                </a:lnTo>
                <a:lnTo>
                  <a:pt x="1485" y="28"/>
                </a:lnTo>
                <a:lnTo>
                  <a:pt x="1497" y="30"/>
                </a:lnTo>
                <a:lnTo>
                  <a:pt x="1507" y="30"/>
                </a:lnTo>
                <a:lnTo>
                  <a:pt x="1519" y="32"/>
                </a:lnTo>
                <a:lnTo>
                  <a:pt x="1531" y="35"/>
                </a:lnTo>
                <a:lnTo>
                  <a:pt x="1539" y="37"/>
                </a:lnTo>
                <a:lnTo>
                  <a:pt x="1547" y="39"/>
                </a:lnTo>
                <a:lnTo>
                  <a:pt x="1556" y="43"/>
                </a:lnTo>
                <a:lnTo>
                  <a:pt x="1563" y="44"/>
                </a:lnTo>
                <a:lnTo>
                  <a:pt x="1569" y="48"/>
                </a:lnTo>
                <a:lnTo>
                  <a:pt x="1576" y="52"/>
                </a:lnTo>
                <a:lnTo>
                  <a:pt x="1583" y="55"/>
                </a:lnTo>
                <a:lnTo>
                  <a:pt x="1588" y="57"/>
                </a:lnTo>
                <a:lnTo>
                  <a:pt x="1593" y="63"/>
                </a:lnTo>
                <a:lnTo>
                  <a:pt x="1596" y="66"/>
                </a:lnTo>
                <a:lnTo>
                  <a:pt x="1599" y="70"/>
                </a:lnTo>
                <a:lnTo>
                  <a:pt x="1603" y="74"/>
                </a:lnTo>
                <a:lnTo>
                  <a:pt x="1604" y="78"/>
                </a:lnTo>
                <a:lnTo>
                  <a:pt x="1606" y="81"/>
                </a:lnTo>
                <a:lnTo>
                  <a:pt x="1608" y="87"/>
                </a:lnTo>
                <a:lnTo>
                  <a:pt x="1608" y="90"/>
                </a:lnTo>
                <a:lnTo>
                  <a:pt x="1618" y="85"/>
                </a:lnTo>
                <a:lnTo>
                  <a:pt x="1630" y="81"/>
                </a:lnTo>
                <a:lnTo>
                  <a:pt x="1643" y="78"/>
                </a:lnTo>
                <a:lnTo>
                  <a:pt x="1655" y="76"/>
                </a:lnTo>
                <a:lnTo>
                  <a:pt x="1666" y="76"/>
                </a:lnTo>
                <a:lnTo>
                  <a:pt x="1676" y="76"/>
                </a:lnTo>
                <a:lnTo>
                  <a:pt x="1685" y="78"/>
                </a:lnTo>
                <a:lnTo>
                  <a:pt x="1690" y="79"/>
                </a:lnTo>
                <a:lnTo>
                  <a:pt x="1693" y="81"/>
                </a:lnTo>
                <a:lnTo>
                  <a:pt x="1697" y="83"/>
                </a:lnTo>
                <a:lnTo>
                  <a:pt x="1698" y="87"/>
                </a:lnTo>
                <a:lnTo>
                  <a:pt x="1700" y="89"/>
                </a:lnTo>
                <a:lnTo>
                  <a:pt x="1702" y="90"/>
                </a:lnTo>
                <a:lnTo>
                  <a:pt x="1703" y="96"/>
                </a:lnTo>
                <a:lnTo>
                  <a:pt x="1703" y="101"/>
                </a:lnTo>
                <a:lnTo>
                  <a:pt x="1702" y="107"/>
                </a:lnTo>
                <a:lnTo>
                  <a:pt x="1698" y="112"/>
                </a:lnTo>
                <a:lnTo>
                  <a:pt x="1693" y="120"/>
                </a:lnTo>
                <a:lnTo>
                  <a:pt x="1687" y="125"/>
                </a:lnTo>
                <a:lnTo>
                  <a:pt x="1697" y="120"/>
                </a:lnTo>
                <a:lnTo>
                  <a:pt x="1707" y="116"/>
                </a:lnTo>
                <a:lnTo>
                  <a:pt x="1717" y="112"/>
                </a:lnTo>
                <a:lnTo>
                  <a:pt x="1727" y="111"/>
                </a:lnTo>
                <a:lnTo>
                  <a:pt x="1739" y="107"/>
                </a:lnTo>
                <a:lnTo>
                  <a:pt x="1749" y="107"/>
                </a:lnTo>
                <a:lnTo>
                  <a:pt x="1760" y="105"/>
                </a:lnTo>
                <a:lnTo>
                  <a:pt x="1772" y="105"/>
                </a:lnTo>
                <a:lnTo>
                  <a:pt x="1784" y="107"/>
                </a:lnTo>
                <a:lnTo>
                  <a:pt x="1794" y="109"/>
                </a:lnTo>
                <a:lnTo>
                  <a:pt x="1806" y="111"/>
                </a:lnTo>
                <a:lnTo>
                  <a:pt x="1816" y="114"/>
                </a:lnTo>
                <a:lnTo>
                  <a:pt x="1826" y="118"/>
                </a:lnTo>
                <a:lnTo>
                  <a:pt x="1836" y="122"/>
                </a:lnTo>
                <a:lnTo>
                  <a:pt x="1844" y="127"/>
                </a:lnTo>
                <a:lnTo>
                  <a:pt x="1853" y="133"/>
                </a:lnTo>
                <a:lnTo>
                  <a:pt x="1858" y="136"/>
                </a:lnTo>
                <a:lnTo>
                  <a:pt x="1863" y="140"/>
                </a:lnTo>
                <a:lnTo>
                  <a:pt x="1866" y="145"/>
                </a:lnTo>
                <a:lnTo>
                  <a:pt x="1869" y="149"/>
                </a:lnTo>
                <a:lnTo>
                  <a:pt x="1873" y="155"/>
                </a:lnTo>
                <a:lnTo>
                  <a:pt x="1876" y="158"/>
                </a:lnTo>
                <a:lnTo>
                  <a:pt x="1878" y="164"/>
                </a:lnTo>
                <a:lnTo>
                  <a:pt x="1879" y="167"/>
                </a:lnTo>
                <a:lnTo>
                  <a:pt x="1881" y="173"/>
                </a:lnTo>
                <a:lnTo>
                  <a:pt x="1881" y="178"/>
                </a:lnTo>
                <a:lnTo>
                  <a:pt x="1883" y="184"/>
                </a:lnTo>
                <a:lnTo>
                  <a:pt x="1881" y="188"/>
                </a:lnTo>
                <a:lnTo>
                  <a:pt x="1881" y="193"/>
                </a:lnTo>
                <a:lnTo>
                  <a:pt x="1879" y="199"/>
                </a:lnTo>
                <a:lnTo>
                  <a:pt x="1878" y="202"/>
                </a:lnTo>
                <a:lnTo>
                  <a:pt x="1876" y="208"/>
                </a:lnTo>
                <a:lnTo>
                  <a:pt x="1886" y="212"/>
                </a:lnTo>
                <a:lnTo>
                  <a:pt x="1896" y="215"/>
                </a:lnTo>
                <a:lnTo>
                  <a:pt x="1906" y="217"/>
                </a:lnTo>
                <a:lnTo>
                  <a:pt x="1915" y="223"/>
                </a:lnTo>
                <a:lnTo>
                  <a:pt x="1923" y="226"/>
                </a:lnTo>
                <a:lnTo>
                  <a:pt x="1930" y="230"/>
                </a:lnTo>
                <a:lnTo>
                  <a:pt x="1936" y="235"/>
                </a:lnTo>
                <a:lnTo>
                  <a:pt x="1941" y="239"/>
                </a:lnTo>
                <a:lnTo>
                  <a:pt x="1946" y="245"/>
                </a:lnTo>
                <a:lnTo>
                  <a:pt x="1950" y="250"/>
                </a:lnTo>
                <a:lnTo>
                  <a:pt x="1953" y="254"/>
                </a:lnTo>
                <a:lnTo>
                  <a:pt x="1955" y="259"/>
                </a:lnTo>
                <a:lnTo>
                  <a:pt x="1955" y="265"/>
                </a:lnTo>
                <a:lnTo>
                  <a:pt x="1955" y="270"/>
                </a:lnTo>
                <a:lnTo>
                  <a:pt x="1953" y="274"/>
                </a:lnTo>
                <a:lnTo>
                  <a:pt x="1951" y="279"/>
                </a:lnTo>
                <a:lnTo>
                  <a:pt x="1968" y="279"/>
                </a:lnTo>
                <a:lnTo>
                  <a:pt x="1985" y="281"/>
                </a:lnTo>
                <a:lnTo>
                  <a:pt x="2000" y="283"/>
                </a:lnTo>
                <a:lnTo>
                  <a:pt x="2015" y="287"/>
                </a:lnTo>
                <a:lnTo>
                  <a:pt x="2030" y="289"/>
                </a:lnTo>
                <a:lnTo>
                  <a:pt x="2044" y="292"/>
                </a:lnTo>
                <a:lnTo>
                  <a:pt x="2055" y="298"/>
                </a:lnTo>
                <a:lnTo>
                  <a:pt x="2067" y="302"/>
                </a:lnTo>
                <a:lnTo>
                  <a:pt x="2075" y="307"/>
                </a:lnTo>
                <a:lnTo>
                  <a:pt x="2086" y="313"/>
                </a:lnTo>
                <a:lnTo>
                  <a:pt x="2092" y="320"/>
                </a:lnTo>
                <a:lnTo>
                  <a:pt x="2099" y="325"/>
                </a:lnTo>
                <a:lnTo>
                  <a:pt x="2104" y="333"/>
                </a:lnTo>
                <a:lnTo>
                  <a:pt x="2107" y="338"/>
                </a:lnTo>
                <a:lnTo>
                  <a:pt x="2107" y="342"/>
                </a:lnTo>
                <a:lnTo>
                  <a:pt x="2107" y="346"/>
                </a:lnTo>
                <a:lnTo>
                  <a:pt x="2109" y="349"/>
                </a:lnTo>
                <a:lnTo>
                  <a:pt x="2107" y="353"/>
                </a:lnTo>
                <a:lnTo>
                  <a:pt x="2107" y="360"/>
                </a:lnTo>
                <a:lnTo>
                  <a:pt x="2104" y="366"/>
                </a:lnTo>
                <a:lnTo>
                  <a:pt x="2101" y="371"/>
                </a:lnTo>
                <a:lnTo>
                  <a:pt x="2096" y="379"/>
                </a:lnTo>
                <a:lnTo>
                  <a:pt x="2089" y="384"/>
                </a:lnTo>
                <a:lnTo>
                  <a:pt x="2082" y="390"/>
                </a:lnTo>
                <a:lnTo>
                  <a:pt x="2074" y="393"/>
                </a:lnTo>
                <a:lnTo>
                  <a:pt x="2064" y="399"/>
                </a:lnTo>
                <a:lnTo>
                  <a:pt x="2074" y="401"/>
                </a:lnTo>
                <a:lnTo>
                  <a:pt x="2081" y="402"/>
                </a:lnTo>
                <a:lnTo>
                  <a:pt x="2089" y="406"/>
                </a:lnTo>
                <a:lnTo>
                  <a:pt x="2096" y="408"/>
                </a:lnTo>
                <a:lnTo>
                  <a:pt x="2102" y="412"/>
                </a:lnTo>
                <a:lnTo>
                  <a:pt x="2107" y="415"/>
                </a:lnTo>
                <a:lnTo>
                  <a:pt x="2112" y="419"/>
                </a:lnTo>
                <a:lnTo>
                  <a:pt x="2116" y="423"/>
                </a:lnTo>
                <a:lnTo>
                  <a:pt x="2119" y="426"/>
                </a:lnTo>
                <a:lnTo>
                  <a:pt x="2121" y="430"/>
                </a:lnTo>
                <a:lnTo>
                  <a:pt x="2122" y="434"/>
                </a:lnTo>
                <a:lnTo>
                  <a:pt x="2122" y="437"/>
                </a:lnTo>
                <a:lnTo>
                  <a:pt x="2122" y="441"/>
                </a:lnTo>
                <a:lnTo>
                  <a:pt x="2121" y="447"/>
                </a:lnTo>
                <a:lnTo>
                  <a:pt x="2117" y="450"/>
                </a:lnTo>
                <a:lnTo>
                  <a:pt x="2114" y="454"/>
                </a:lnTo>
                <a:lnTo>
                  <a:pt x="2111" y="456"/>
                </a:lnTo>
                <a:lnTo>
                  <a:pt x="2107" y="459"/>
                </a:lnTo>
                <a:lnTo>
                  <a:pt x="2104" y="461"/>
                </a:lnTo>
                <a:lnTo>
                  <a:pt x="2099" y="465"/>
                </a:lnTo>
                <a:lnTo>
                  <a:pt x="2091" y="469"/>
                </a:lnTo>
                <a:lnTo>
                  <a:pt x="2079" y="472"/>
                </a:lnTo>
                <a:lnTo>
                  <a:pt x="2087" y="470"/>
                </a:lnTo>
                <a:lnTo>
                  <a:pt x="2097" y="470"/>
                </a:lnTo>
                <a:lnTo>
                  <a:pt x="2106" y="470"/>
                </a:lnTo>
                <a:lnTo>
                  <a:pt x="2116" y="472"/>
                </a:lnTo>
                <a:lnTo>
                  <a:pt x="2124" y="474"/>
                </a:lnTo>
                <a:lnTo>
                  <a:pt x="2131" y="478"/>
                </a:lnTo>
                <a:lnTo>
                  <a:pt x="2138" y="483"/>
                </a:lnTo>
                <a:lnTo>
                  <a:pt x="2143" y="489"/>
                </a:lnTo>
                <a:lnTo>
                  <a:pt x="2144" y="491"/>
                </a:lnTo>
                <a:lnTo>
                  <a:pt x="2144" y="494"/>
                </a:lnTo>
                <a:lnTo>
                  <a:pt x="2146" y="498"/>
                </a:lnTo>
                <a:lnTo>
                  <a:pt x="2146" y="500"/>
                </a:lnTo>
                <a:lnTo>
                  <a:pt x="2146" y="503"/>
                </a:lnTo>
                <a:lnTo>
                  <a:pt x="2146" y="507"/>
                </a:lnTo>
                <a:lnTo>
                  <a:pt x="2144" y="509"/>
                </a:lnTo>
                <a:lnTo>
                  <a:pt x="2143" y="513"/>
                </a:lnTo>
                <a:lnTo>
                  <a:pt x="2139" y="518"/>
                </a:lnTo>
                <a:lnTo>
                  <a:pt x="2132" y="522"/>
                </a:lnTo>
                <a:lnTo>
                  <a:pt x="2126" y="527"/>
                </a:lnTo>
                <a:lnTo>
                  <a:pt x="2117" y="529"/>
                </a:lnTo>
                <a:lnTo>
                  <a:pt x="2112" y="531"/>
                </a:lnTo>
                <a:lnTo>
                  <a:pt x="2106" y="533"/>
                </a:lnTo>
                <a:lnTo>
                  <a:pt x="2099" y="533"/>
                </a:lnTo>
                <a:lnTo>
                  <a:pt x="2094" y="533"/>
                </a:lnTo>
                <a:lnTo>
                  <a:pt x="2087" y="531"/>
                </a:lnTo>
                <a:lnTo>
                  <a:pt x="2082" y="531"/>
                </a:lnTo>
                <a:lnTo>
                  <a:pt x="2075" y="529"/>
                </a:lnTo>
                <a:lnTo>
                  <a:pt x="2070" y="527"/>
                </a:lnTo>
                <a:lnTo>
                  <a:pt x="2077" y="533"/>
                </a:lnTo>
                <a:lnTo>
                  <a:pt x="2082" y="538"/>
                </a:lnTo>
                <a:lnTo>
                  <a:pt x="2087" y="544"/>
                </a:lnTo>
                <a:lnTo>
                  <a:pt x="2091" y="549"/>
                </a:lnTo>
                <a:lnTo>
                  <a:pt x="2094" y="557"/>
                </a:lnTo>
                <a:lnTo>
                  <a:pt x="2096" y="562"/>
                </a:lnTo>
                <a:lnTo>
                  <a:pt x="2097" y="570"/>
                </a:lnTo>
                <a:lnTo>
                  <a:pt x="2096" y="575"/>
                </a:lnTo>
                <a:lnTo>
                  <a:pt x="2096" y="582"/>
                </a:lnTo>
                <a:lnTo>
                  <a:pt x="2094" y="588"/>
                </a:lnTo>
                <a:lnTo>
                  <a:pt x="2091" y="595"/>
                </a:lnTo>
                <a:lnTo>
                  <a:pt x="2087" y="601"/>
                </a:lnTo>
                <a:lnTo>
                  <a:pt x="2082" y="606"/>
                </a:lnTo>
                <a:lnTo>
                  <a:pt x="2075" y="612"/>
                </a:lnTo>
                <a:lnTo>
                  <a:pt x="2069" y="617"/>
                </a:lnTo>
                <a:lnTo>
                  <a:pt x="2062" y="623"/>
                </a:lnTo>
                <a:lnTo>
                  <a:pt x="2049" y="628"/>
                </a:lnTo>
                <a:lnTo>
                  <a:pt x="2034" y="634"/>
                </a:lnTo>
                <a:lnTo>
                  <a:pt x="2018" y="637"/>
                </a:lnTo>
                <a:lnTo>
                  <a:pt x="2003" y="639"/>
                </a:lnTo>
                <a:lnTo>
                  <a:pt x="2010" y="639"/>
                </a:lnTo>
                <a:lnTo>
                  <a:pt x="2015" y="641"/>
                </a:lnTo>
                <a:lnTo>
                  <a:pt x="2020" y="643"/>
                </a:lnTo>
                <a:lnTo>
                  <a:pt x="2027" y="647"/>
                </a:lnTo>
                <a:lnTo>
                  <a:pt x="2030" y="649"/>
                </a:lnTo>
                <a:lnTo>
                  <a:pt x="2035" y="650"/>
                </a:lnTo>
                <a:lnTo>
                  <a:pt x="2039" y="654"/>
                </a:lnTo>
                <a:lnTo>
                  <a:pt x="2042" y="656"/>
                </a:lnTo>
                <a:lnTo>
                  <a:pt x="2044" y="660"/>
                </a:lnTo>
                <a:lnTo>
                  <a:pt x="2047" y="663"/>
                </a:lnTo>
                <a:lnTo>
                  <a:pt x="2047" y="667"/>
                </a:lnTo>
                <a:lnTo>
                  <a:pt x="2049" y="671"/>
                </a:lnTo>
                <a:lnTo>
                  <a:pt x="2049" y="672"/>
                </a:lnTo>
                <a:lnTo>
                  <a:pt x="2049" y="676"/>
                </a:lnTo>
                <a:lnTo>
                  <a:pt x="2047" y="680"/>
                </a:lnTo>
                <a:lnTo>
                  <a:pt x="2045" y="683"/>
                </a:lnTo>
                <a:lnTo>
                  <a:pt x="2042" y="687"/>
                </a:lnTo>
                <a:lnTo>
                  <a:pt x="2039" y="691"/>
                </a:lnTo>
                <a:lnTo>
                  <a:pt x="2035" y="693"/>
                </a:lnTo>
                <a:lnTo>
                  <a:pt x="2030" y="696"/>
                </a:lnTo>
                <a:lnTo>
                  <a:pt x="2027" y="698"/>
                </a:lnTo>
                <a:lnTo>
                  <a:pt x="2020" y="700"/>
                </a:lnTo>
                <a:lnTo>
                  <a:pt x="2010" y="704"/>
                </a:lnTo>
                <a:lnTo>
                  <a:pt x="1997" y="707"/>
                </a:lnTo>
                <a:lnTo>
                  <a:pt x="1985" y="707"/>
                </a:lnTo>
                <a:lnTo>
                  <a:pt x="1972" y="707"/>
                </a:lnTo>
                <a:lnTo>
                  <a:pt x="1958" y="705"/>
                </a:lnTo>
                <a:lnTo>
                  <a:pt x="1945" y="704"/>
                </a:lnTo>
                <a:lnTo>
                  <a:pt x="1940" y="702"/>
                </a:lnTo>
                <a:lnTo>
                  <a:pt x="1933" y="698"/>
                </a:lnTo>
                <a:lnTo>
                  <a:pt x="1936" y="707"/>
                </a:lnTo>
                <a:lnTo>
                  <a:pt x="1938" y="716"/>
                </a:lnTo>
                <a:lnTo>
                  <a:pt x="1938" y="726"/>
                </a:lnTo>
                <a:lnTo>
                  <a:pt x="1936" y="735"/>
                </a:lnTo>
                <a:lnTo>
                  <a:pt x="1933" y="744"/>
                </a:lnTo>
                <a:lnTo>
                  <a:pt x="1930" y="751"/>
                </a:lnTo>
                <a:lnTo>
                  <a:pt x="1923" y="759"/>
                </a:lnTo>
                <a:lnTo>
                  <a:pt x="1918" y="768"/>
                </a:lnTo>
                <a:lnTo>
                  <a:pt x="1910" y="775"/>
                </a:lnTo>
                <a:lnTo>
                  <a:pt x="1901" y="781"/>
                </a:lnTo>
                <a:lnTo>
                  <a:pt x="1891" y="788"/>
                </a:lnTo>
                <a:lnTo>
                  <a:pt x="1881" y="794"/>
                </a:lnTo>
                <a:lnTo>
                  <a:pt x="1869" y="797"/>
                </a:lnTo>
                <a:lnTo>
                  <a:pt x="1858" y="803"/>
                </a:lnTo>
                <a:lnTo>
                  <a:pt x="1846" y="805"/>
                </a:lnTo>
                <a:lnTo>
                  <a:pt x="1831" y="808"/>
                </a:lnTo>
                <a:lnTo>
                  <a:pt x="1819" y="810"/>
                </a:lnTo>
                <a:lnTo>
                  <a:pt x="1807" y="810"/>
                </a:lnTo>
                <a:lnTo>
                  <a:pt x="1796" y="810"/>
                </a:lnTo>
                <a:lnTo>
                  <a:pt x="1784" y="810"/>
                </a:lnTo>
                <a:lnTo>
                  <a:pt x="1772" y="808"/>
                </a:lnTo>
                <a:lnTo>
                  <a:pt x="1760" y="806"/>
                </a:lnTo>
                <a:lnTo>
                  <a:pt x="1749" y="805"/>
                </a:lnTo>
                <a:lnTo>
                  <a:pt x="1737" y="801"/>
                </a:lnTo>
                <a:lnTo>
                  <a:pt x="1742" y="806"/>
                </a:lnTo>
                <a:lnTo>
                  <a:pt x="1744" y="810"/>
                </a:lnTo>
                <a:lnTo>
                  <a:pt x="1745" y="816"/>
                </a:lnTo>
                <a:lnTo>
                  <a:pt x="1745" y="819"/>
                </a:lnTo>
                <a:lnTo>
                  <a:pt x="1744" y="825"/>
                </a:lnTo>
                <a:lnTo>
                  <a:pt x="1742" y="828"/>
                </a:lnTo>
                <a:lnTo>
                  <a:pt x="1740" y="832"/>
                </a:lnTo>
                <a:lnTo>
                  <a:pt x="1737" y="838"/>
                </a:lnTo>
                <a:lnTo>
                  <a:pt x="1732" y="841"/>
                </a:lnTo>
                <a:lnTo>
                  <a:pt x="1727" y="845"/>
                </a:lnTo>
                <a:lnTo>
                  <a:pt x="1720" y="849"/>
                </a:lnTo>
                <a:lnTo>
                  <a:pt x="1713" y="852"/>
                </a:lnTo>
                <a:lnTo>
                  <a:pt x="1705" y="856"/>
                </a:lnTo>
                <a:lnTo>
                  <a:pt x="1697" y="858"/>
                </a:lnTo>
                <a:lnTo>
                  <a:pt x="1687" y="860"/>
                </a:lnTo>
                <a:lnTo>
                  <a:pt x="1676" y="861"/>
                </a:lnTo>
                <a:lnTo>
                  <a:pt x="1663" y="863"/>
                </a:lnTo>
                <a:lnTo>
                  <a:pt x="1648" y="865"/>
                </a:lnTo>
                <a:lnTo>
                  <a:pt x="1633" y="865"/>
                </a:lnTo>
                <a:lnTo>
                  <a:pt x="1619" y="865"/>
                </a:lnTo>
                <a:lnTo>
                  <a:pt x="1604" y="863"/>
                </a:lnTo>
                <a:lnTo>
                  <a:pt x="1591" y="861"/>
                </a:lnTo>
                <a:lnTo>
                  <a:pt x="1579" y="858"/>
                </a:lnTo>
                <a:lnTo>
                  <a:pt x="1568" y="854"/>
                </a:lnTo>
                <a:lnTo>
                  <a:pt x="1568" y="860"/>
                </a:lnTo>
                <a:lnTo>
                  <a:pt x="1568" y="865"/>
                </a:lnTo>
                <a:lnTo>
                  <a:pt x="1568" y="871"/>
                </a:lnTo>
                <a:lnTo>
                  <a:pt x="1566" y="876"/>
                </a:lnTo>
                <a:lnTo>
                  <a:pt x="1564" y="882"/>
                </a:lnTo>
                <a:lnTo>
                  <a:pt x="1561" y="887"/>
                </a:lnTo>
                <a:lnTo>
                  <a:pt x="1557" y="893"/>
                </a:lnTo>
                <a:lnTo>
                  <a:pt x="1552" y="896"/>
                </a:lnTo>
                <a:lnTo>
                  <a:pt x="1547" y="900"/>
                </a:lnTo>
                <a:lnTo>
                  <a:pt x="1542" y="906"/>
                </a:lnTo>
                <a:lnTo>
                  <a:pt x="1536" y="909"/>
                </a:lnTo>
                <a:lnTo>
                  <a:pt x="1529" y="911"/>
                </a:lnTo>
                <a:lnTo>
                  <a:pt x="1522" y="915"/>
                </a:lnTo>
                <a:lnTo>
                  <a:pt x="1516" y="917"/>
                </a:lnTo>
                <a:lnTo>
                  <a:pt x="1507" y="918"/>
                </a:lnTo>
                <a:lnTo>
                  <a:pt x="1499" y="920"/>
                </a:lnTo>
                <a:lnTo>
                  <a:pt x="1490" y="920"/>
                </a:lnTo>
                <a:lnTo>
                  <a:pt x="1482" y="920"/>
                </a:lnTo>
                <a:lnTo>
                  <a:pt x="1467" y="920"/>
                </a:lnTo>
                <a:lnTo>
                  <a:pt x="1454" y="918"/>
                </a:lnTo>
                <a:lnTo>
                  <a:pt x="1440" y="915"/>
                </a:lnTo>
                <a:lnTo>
                  <a:pt x="1427" y="909"/>
                </a:lnTo>
                <a:lnTo>
                  <a:pt x="1422" y="906"/>
                </a:lnTo>
                <a:lnTo>
                  <a:pt x="1417" y="902"/>
                </a:lnTo>
                <a:lnTo>
                  <a:pt x="1412" y="898"/>
                </a:lnTo>
                <a:lnTo>
                  <a:pt x="1408" y="895"/>
                </a:lnTo>
                <a:lnTo>
                  <a:pt x="1405" y="889"/>
                </a:lnTo>
                <a:lnTo>
                  <a:pt x="1402" y="885"/>
                </a:lnTo>
                <a:lnTo>
                  <a:pt x="1403" y="889"/>
                </a:lnTo>
                <a:lnTo>
                  <a:pt x="1405" y="895"/>
                </a:lnTo>
                <a:lnTo>
                  <a:pt x="1405" y="898"/>
                </a:lnTo>
                <a:lnTo>
                  <a:pt x="1403" y="902"/>
                </a:lnTo>
                <a:lnTo>
                  <a:pt x="1403" y="907"/>
                </a:lnTo>
                <a:lnTo>
                  <a:pt x="1400" y="911"/>
                </a:lnTo>
                <a:lnTo>
                  <a:pt x="1397" y="915"/>
                </a:lnTo>
                <a:lnTo>
                  <a:pt x="1393" y="918"/>
                </a:lnTo>
                <a:lnTo>
                  <a:pt x="1388" y="922"/>
                </a:lnTo>
                <a:lnTo>
                  <a:pt x="1383" y="926"/>
                </a:lnTo>
                <a:lnTo>
                  <a:pt x="1378" y="929"/>
                </a:lnTo>
                <a:lnTo>
                  <a:pt x="1371" y="931"/>
                </a:lnTo>
                <a:lnTo>
                  <a:pt x="1365" y="933"/>
                </a:lnTo>
                <a:lnTo>
                  <a:pt x="1356" y="935"/>
                </a:lnTo>
                <a:lnTo>
                  <a:pt x="1348" y="937"/>
                </a:lnTo>
                <a:lnTo>
                  <a:pt x="1340" y="939"/>
                </a:lnTo>
                <a:lnTo>
                  <a:pt x="1331" y="939"/>
                </a:lnTo>
                <a:lnTo>
                  <a:pt x="1323" y="940"/>
                </a:lnTo>
                <a:lnTo>
                  <a:pt x="1304" y="939"/>
                </a:lnTo>
                <a:lnTo>
                  <a:pt x="1289" y="937"/>
                </a:lnTo>
                <a:lnTo>
                  <a:pt x="1272" y="933"/>
                </a:lnTo>
                <a:lnTo>
                  <a:pt x="1266" y="931"/>
                </a:lnTo>
                <a:lnTo>
                  <a:pt x="1259" y="928"/>
                </a:lnTo>
                <a:lnTo>
                  <a:pt x="1252" y="926"/>
                </a:lnTo>
                <a:lnTo>
                  <a:pt x="1247" y="922"/>
                </a:lnTo>
                <a:lnTo>
                  <a:pt x="1241" y="918"/>
                </a:lnTo>
                <a:lnTo>
                  <a:pt x="1237" y="915"/>
                </a:lnTo>
                <a:lnTo>
                  <a:pt x="1232" y="911"/>
                </a:lnTo>
                <a:lnTo>
                  <a:pt x="1229" y="906"/>
                </a:lnTo>
                <a:lnTo>
                  <a:pt x="1229" y="909"/>
                </a:lnTo>
                <a:lnTo>
                  <a:pt x="1226" y="913"/>
                </a:lnTo>
                <a:lnTo>
                  <a:pt x="1224" y="917"/>
                </a:lnTo>
                <a:lnTo>
                  <a:pt x="1221" y="920"/>
                </a:lnTo>
                <a:lnTo>
                  <a:pt x="1215" y="924"/>
                </a:lnTo>
                <a:lnTo>
                  <a:pt x="1210" y="926"/>
                </a:lnTo>
                <a:lnTo>
                  <a:pt x="1205" y="929"/>
                </a:lnTo>
                <a:lnTo>
                  <a:pt x="1199" y="931"/>
                </a:lnTo>
                <a:lnTo>
                  <a:pt x="1192" y="933"/>
                </a:lnTo>
                <a:lnTo>
                  <a:pt x="1185" y="935"/>
                </a:lnTo>
                <a:lnTo>
                  <a:pt x="1170" y="939"/>
                </a:lnTo>
                <a:lnTo>
                  <a:pt x="1155" y="940"/>
                </a:lnTo>
                <a:lnTo>
                  <a:pt x="1137" y="940"/>
                </a:lnTo>
                <a:lnTo>
                  <a:pt x="1123" y="939"/>
                </a:lnTo>
                <a:lnTo>
                  <a:pt x="1112" y="937"/>
                </a:lnTo>
                <a:lnTo>
                  <a:pt x="1100" y="935"/>
                </a:lnTo>
                <a:lnTo>
                  <a:pt x="1090" y="931"/>
                </a:lnTo>
                <a:lnTo>
                  <a:pt x="1081" y="928"/>
                </a:lnTo>
                <a:lnTo>
                  <a:pt x="1073" y="922"/>
                </a:lnTo>
                <a:lnTo>
                  <a:pt x="1070" y="920"/>
                </a:lnTo>
                <a:lnTo>
                  <a:pt x="1066" y="918"/>
                </a:lnTo>
                <a:lnTo>
                  <a:pt x="1065" y="915"/>
                </a:lnTo>
                <a:lnTo>
                  <a:pt x="1063" y="913"/>
                </a:lnTo>
                <a:lnTo>
                  <a:pt x="1058" y="917"/>
                </a:lnTo>
                <a:lnTo>
                  <a:pt x="1053" y="920"/>
                </a:lnTo>
                <a:lnTo>
                  <a:pt x="1046" y="924"/>
                </a:lnTo>
                <a:lnTo>
                  <a:pt x="1038" y="928"/>
                </a:lnTo>
                <a:lnTo>
                  <a:pt x="1031" y="931"/>
                </a:lnTo>
                <a:lnTo>
                  <a:pt x="1023" y="933"/>
                </a:lnTo>
                <a:lnTo>
                  <a:pt x="1013" y="935"/>
                </a:lnTo>
                <a:lnTo>
                  <a:pt x="1004" y="939"/>
                </a:lnTo>
                <a:lnTo>
                  <a:pt x="984" y="940"/>
                </a:lnTo>
                <a:lnTo>
                  <a:pt x="962" y="940"/>
                </a:lnTo>
                <a:lnTo>
                  <a:pt x="952" y="940"/>
                </a:lnTo>
                <a:lnTo>
                  <a:pt x="941" y="940"/>
                </a:lnTo>
                <a:lnTo>
                  <a:pt x="930" y="939"/>
                </a:lnTo>
                <a:lnTo>
                  <a:pt x="920" y="937"/>
                </a:lnTo>
                <a:lnTo>
                  <a:pt x="909" y="935"/>
                </a:lnTo>
                <a:lnTo>
                  <a:pt x="897" y="931"/>
                </a:lnTo>
                <a:lnTo>
                  <a:pt x="887" y="928"/>
                </a:lnTo>
                <a:lnTo>
                  <a:pt x="879" y="924"/>
                </a:lnTo>
                <a:lnTo>
                  <a:pt x="870" y="918"/>
                </a:lnTo>
                <a:lnTo>
                  <a:pt x="863" y="915"/>
                </a:lnTo>
                <a:lnTo>
                  <a:pt x="858" y="909"/>
                </a:lnTo>
                <a:lnTo>
                  <a:pt x="855" y="904"/>
                </a:lnTo>
                <a:lnTo>
                  <a:pt x="848" y="906"/>
                </a:lnTo>
                <a:lnTo>
                  <a:pt x="842" y="909"/>
                </a:lnTo>
                <a:lnTo>
                  <a:pt x="833" y="911"/>
                </a:lnTo>
                <a:lnTo>
                  <a:pt x="827" y="911"/>
                </a:lnTo>
                <a:lnTo>
                  <a:pt x="808" y="915"/>
                </a:lnTo>
                <a:lnTo>
                  <a:pt x="790" y="915"/>
                </a:lnTo>
                <a:lnTo>
                  <a:pt x="771" y="913"/>
                </a:lnTo>
                <a:lnTo>
                  <a:pt x="753" y="909"/>
                </a:lnTo>
                <a:lnTo>
                  <a:pt x="734" y="906"/>
                </a:lnTo>
                <a:lnTo>
                  <a:pt x="726" y="904"/>
                </a:lnTo>
                <a:lnTo>
                  <a:pt x="718" y="900"/>
                </a:lnTo>
                <a:lnTo>
                  <a:pt x="709" y="895"/>
                </a:lnTo>
                <a:lnTo>
                  <a:pt x="701" y="891"/>
                </a:lnTo>
                <a:lnTo>
                  <a:pt x="694" y="885"/>
                </a:lnTo>
                <a:lnTo>
                  <a:pt x="687" y="880"/>
                </a:lnTo>
                <a:lnTo>
                  <a:pt x="684" y="874"/>
                </a:lnTo>
                <a:lnTo>
                  <a:pt x="682" y="869"/>
                </a:lnTo>
                <a:lnTo>
                  <a:pt x="681" y="863"/>
                </a:lnTo>
                <a:lnTo>
                  <a:pt x="681" y="860"/>
                </a:lnTo>
                <a:lnTo>
                  <a:pt x="682" y="858"/>
                </a:lnTo>
                <a:lnTo>
                  <a:pt x="681" y="861"/>
                </a:lnTo>
                <a:lnTo>
                  <a:pt x="679" y="863"/>
                </a:lnTo>
                <a:lnTo>
                  <a:pt x="676" y="867"/>
                </a:lnTo>
                <a:lnTo>
                  <a:pt x="672" y="869"/>
                </a:lnTo>
                <a:lnTo>
                  <a:pt x="669" y="871"/>
                </a:lnTo>
                <a:lnTo>
                  <a:pt x="664" y="874"/>
                </a:lnTo>
                <a:lnTo>
                  <a:pt x="659" y="876"/>
                </a:lnTo>
                <a:lnTo>
                  <a:pt x="652" y="878"/>
                </a:lnTo>
                <a:lnTo>
                  <a:pt x="646" y="878"/>
                </a:lnTo>
                <a:lnTo>
                  <a:pt x="639" y="880"/>
                </a:lnTo>
                <a:lnTo>
                  <a:pt x="624" y="882"/>
                </a:lnTo>
                <a:lnTo>
                  <a:pt x="607" y="882"/>
                </a:lnTo>
                <a:lnTo>
                  <a:pt x="590" y="880"/>
                </a:lnTo>
                <a:lnTo>
                  <a:pt x="573" y="878"/>
                </a:lnTo>
                <a:lnTo>
                  <a:pt x="565" y="876"/>
                </a:lnTo>
                <a:lnTo>
                  <a:pt x="558" y="874"/>
                </a:lnTo>
                <a:lnTo>
                  <a:pt x="550" y="873"/>
                </a:lnTo>
                <a:lnTo>
                  <a:pt x="543" y="871"/>
                </a:lnTo>
                <a:lnTo>
                  <a:pt x="538" y="867"/>
                </a:lnTo>
                <a:lnTo>
                  <a:pt x="532" y="865"/>
                </a:lnTo>
                <a:lnTo>
                  <a:pt x="526" y="861"/>
                </a:lnTo>
                <a:lnTo>
                  <a:pt x="523" y="860"/>
                </a:lnTo>
                <a:lnTo>
                  <a:pt x="520" y="856"/>
                </a:lnTo>
                <a:lnTo>
                  <a:pt x="516" y="852"/>
                </a:lnTo>
                <a:lnTo>
                  <a:pt x="513" y="849"/>
                </a:lnTo>
                <a:lnTo>
                  <a:pt x="513" y="847"/>
                </a:lnTo>
                <a:lnTo>
                  <a:pt x="511" y="843"/>
                </a:lnTo>
                <a:lnTo>
                  <a:pt x="511" y="839"/>
                </a:lnTo>
                <a:lnTo>
                  <a:pt x="513" y="838"/>
                </a:lnTo>
                <a:lnTo>
                  <a:pt x="513" y="836"/>
                </a:lnTo>
                <a:lnTo>
                  <a:pt x="516" y="830"/>
                </a:lnTo>
                <a:lnTo>
                  <a:pt x="521" y="827"/>
                </a:lnTo>
                <a:lnTo>
                  <a:pt x="528" y="825"/>
                </a:lnTo>
                <a:lnTo>
                  <a:pt x="520" y="827"/>
                </a:lnTo>
                <a:lnTo>
                  <a:pt x="510" y="828"/>
                </a:lnTo>
                <a:lnTo>
                  <a:pt x="500" y="830"/>
                </a:lnTo>
                <a:lnTo>
                  <a:pt x="490" y="830"/>
                </a:lnTo>
                <a:lnTo>
                  <a:pt x="480" y="830"/>
                </a:lnTo>
                <a:lnTo>
                  <a:pt x="469" y="830"/>
                </a:lnTo>
                <a:lnTo>
                  <a:pt x="461" y="828"/>
                </a:lnTo>
                <a:lnTo>
                  <a:pt x="451" y="827"/>
                </a:lnTo>
                <a:lnTo>
                  <a:pt x="443" y="825"/>
                </a:lnTo>
                <a:lnTo>
                  <a:pt x="433" y="821"/>
                </a:lnTo>
                <a:lnTo>
                  <a:pt x="424" y="819"/>
                </a:lnTo>
                <a:lnTo>
                  <a:pt x="418" y="814"/>
                </a:lnTo>
                <a:lnTo>
                  <a:pt x="409" y="810"/>
                </a:lnTo>
                <a:lnTo>
                  <a:pt x="404" y="805"/>
                </a:lnTo>
                <a:lnTo>
                  <a:pt x="397" y="799"/>
                </a:lnTo>
                <a:lnTo>
                  <a:pt x="392" y="794"/>
                </a:lnTo>
                <a:lnTo>
                  <a:pt x="389" y="788"/>
                </a:lnTo>
                <a:lnTo>
                  <a:pt x="386" y="783"/>
                </a:lnTo>
                <a:lnTo>
                  <a:pt x="384" y="777"/>
                </a:lnTo>
                <a:lnTo>
                  <a:pt x="382" y="772"/>
                </a:lnTo>
                <a:lnTo>
                  <a:pt x="382" y="764"/>
                </a:lnTo>
                <a:lnTo>
                  <a:pt x="382" y="759"/>
                </a:lnTo>
                <a:lnTo>
                  <a:pt x="384" y="753"/>
                </a:lnTo>
                <a:lnTo>
                  <a:pt x="386" y="748"/>
                </a:lnTo>
                <a:lnTo>
                  <a:pt x="376" y="751"/>
                </a:lnTo>
                <a:lnTo>
                  <a:pt x="366" y="755"/>
                </a:lnTo>
                <a:lnTo>
                  <a:pt x="355" y="759"/>
                </a:lnTo>
                <a:lnTo>
                  <a:pt x="345" y="761"/>
                </a:lnTo>
                <a:lnTo>
                  <a:pt x="334" y="764"/>
                </a:lnTo>
                <a:lnTo>
                  <a:pt x="324" y="764"/>
                </a:lnTo>
                <a:lnTo>
                  <a:pt x="312" y="766"/>
                </a:lnTo>
                <a:lnTo>
                  <a:pt x="300" y="766"/>
                </a:lnTo>
                <a:lnTo>
                  <a:pt x="290" y="766"/>
                </a:lnTo>
                <a:lnTo>
                  <a:pt x="278" y="764"/>
                </a:lnTo>
                <a:lnTo>
                  <a:pt x="267" y="764"/>
                </a:lnTo>
                <a:lnTo>
                  <a:pt x="257" y="761"/>
                </a:lnTo>
                <a:lnTo>
                  <a:pt x="247" y="759"/>
                </a:lnTo>
                <a:lnTo>
                  <a:pt x="235" y="755"/>
                </a:lnTo>
                <a:lnTo>
                  <a:pt x="226" y="751"/>
                </a:lnTo>
                <a:lnTo>
                  <a:pt x="216" y="748"/>
                </a:lnTo>
                <a:lnTo>
                  <a:pt x="203" y="742"/>
                </a:lnTo>
                <a:lnTo>
                  <a:pt x="190" y="737"/>
                </a:lnTo>
                <a:lnTo>
                  <a:pt x="178" y="731"/>
                </a:lnTo>
                <a:lnTo>
                  <a:pt x="168" y="724"/>
                </a:lnTo>
                <a:lnTo>
                  <a:pt x="158" y="718"/>
                </a:lnTo>
                <a:lnTo>
                  <a:pt x="149" y="711"/>
                </a:lnTo>
                <a:lnTo>
                  <a:pt x="143" y="704"/>
                </a:lnTo>
                <a:lnTo>
                  <a:pt x="136" y="698"/>
                </a:lnTo>
                <a:lnTo>
                  <a:pt x="129" y="691"/>
                </a:lnTo>
                <a:lnTo>
                  <a:pt x="126" y="683"/>
                </a:lnTo>
                <a:lnTo>
                  <a:pt x="122" y="676"/>
                </a:lnTo>
                <a:lnTo>
                  <a:pt x="119" y="669"/>
                </a:lnTo>
                <a:lnTo>
                  <a:pt x="119" y="661"/>
                </a:lnTo>
                <a:lnTo>
                  <a:pt x="119" y="654"/>
                </a:lnTo>
                <a:lnTo>
                  <a:pt x="119" y="647"/>
                </a:lnTo>
                <a:lnTo>
                  <a:pt x="122" y="639"/>
                </a:lnTo>
                <a:lnTo>
                  <a:pt x="112" y="641"/>
                </a:lnTo>
                <a:lnTo>
                  <a:pt x="102" y="641"/>
                </a:lnTo>
                <a:lnTo>
                  <a:pt x="94" y="641"/>
                </a:lnTo>
                <a:lnTo>
                  <a:pt x="84" y="641"/>
                </a:lnTo>
                <a:lnTo>
                  <a:pt x="76" y="639"/>
                </a:lnTo>
                <a:lnTo>
                  <a:pt x="65" y="637"/>
                </a:lnTo>
                <a:lnTo>
                  <a:pt x="57" y="636"/>
                </a:lnTo>
                <a:lnTo>
                  <a:pt x="49" y="634"/>
                </a:lnTo>
                <a:lnTo>
                  <a:pt x="42" y="630"/>
                </a:lnTo>
                <a:lnTo>
                  <a:pt x="34" y="626"/>
                </a:lnTo>
                <a:lnTo>
                  <a:pt x="27" y="623"/>
                </a:lnTo>
                <a:lnTo>
                  <a:pt x="22" y="617"/>
                </a:lnTo>
                <a:lnTo>
                  <a:pt x="15" y="612"/>
                </a:lnTo>
                <a:lnTo>
                  <a:pt x="12" y="608"/>
                </a:lnTo>
                <a:lnTo>
                  <a:pt x="7" y="601"/>
                </a:lnTo>
                <a:lnTo>
                  <a:pt x="3" y="595"/>
                </a:lnTo>
                <a:lnTo>
                  <a:pt x="2" y="592"/>
                </a:lnTo>
                <a:lnTo>
                  <a:pt x="2" y="586"/>
                </a:lnTo>
                <a:lnTo>
                  <a:pt x="0" y="582"/>
                </a:lnTo>
                <a:lnTo>
                  <a:pt x="0" y="577"/>
                </a:lnTo>
                <a:lnTo>
                  <a:pt x="0" y="573"/>
                </a:lnTo>
                <a:lnTo>
                  <a:pt x="2" y="570"/>
                </a:lnTo>
                <a:lnTo>
                  <a:pt x="3" y="564"/>
                </a:lnTo>
                <a:lnTo>
                  <a:pt x="5" y="560"/>
                </a:lnTo>
                <a:lnTo>
                  <a:pt x="7" y="557"/>
                </a:lnTo>
                <a:lnTo>
                  <a:pt x="10" y="551"/>
                </a:lnTo>
                <a:lnTo>
                  <a:pt x="12" y="548"/>
                </a:lnTo>
                <a:lnTo>
                  <a:pt x="17" y="544"/>
                </a:lnTo>
                <a:lnTo>
                  <a:pt x="20" y="540"/>
                </a:lnTo>
                <a:lnTo>
                  <a:pt x="25" y="537"/>
                </a:lnTo>
                <a:lnTo>
                  <a:pt x="35" y="531"/>
                </a:lnTo>
                <a:lnTo>
                  <a:pt x="29" y="527"/>
                </a:lnTo>
                <a:lnTo>
                  <a:pt x="24" y="524"/>
                </a:lnTo>
                <a:lnTo>
                  <a:pt x="20" y="518"/>
                </a:lnTo>
                <a:lnTo>
                  <a:pt x="17" y="514"/>
                </a:lnTo>
                <a:lnTo>
                  <a:pt x="13" y="511"/>
                </a:lnTo>
                <a:lnTo>
                  <a:pt x="12" y="507"/>
                </a:lnTo>
                <a:lnTo>
                  <a:pt x="12" y="503"/>
                </a:lnTo>
                <a:lnTo>
                  <a:pt x="12" y="498"/>
                </a:lnTo>
                <a:lnTo>
                  <a:pt x="13" y="494"/>
                </a:lnTo>
                <a:lnTo>
                  <a:pt x="15" y="491"/>
                </a:lnTo>
                <a:lnTo>
                  <a:pt x="19" y="487"/>
                </a:lnTo>
                <a:lnTo>
                  <a:pt x="22" y="485"/>
                </a:lnTo>
                <a:lnTo>
                  <a:pt x="27" y="481"/>
                </a:lnTo>
                <a:lnTo>
                  <a:pt x="32" y="478"/>
                </a:lnTo>
                <a:lnTo>
                  <a:pt x="37" y="476"/>
                </a:lnTo>
                <a:lnTo>
                  <a:pt x="45" y="472"/>
                </a:lnTo>
                <a:lnTo>
                  <a:pt x="47" y="472"/>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5618" name="Freeform 20"/>
          <p:cNvSpPr/>
          <p:nvPr/>
        </p:nvSpPr>
        <p:spPr bwMode="auto">
          <a:xfrm>
            <a:off x="1487488" y="5809903"/>
            <a:ext cx="1703387" cy="746125"/>
          </a:xfrm>
          <a:custGeom>
            <a:avLst/>
            <a:gdLst>
              <a:gd name="T0" fmla="*/ 2147483646 w 2146"/>
              <a:gd name="T1" fmla="*/ 2147483646 h 940"/>
              <a:gd name="T2" fmla="*/ 2147483646 w 2146"/>
              <a:gd name="T3" fmla="*/ 2147483646 h 940"/>
              <a:gd name="T4" fmla="*/ 2147483646 w 2146"/>
              <a:gd name="T5" fmla="*/ 2147483646 h 940"/>
              <a:gd name="T6" fmla="*/ 2147483646 w 2146"/>
              <a:gd name="T7" fmla="*/ 2147483646 h 940"/>
              <a:gd name="T8" fmla="*/ 2147483646 w 2146"/>
              <a:gd name="T9" fmla="*/ 2147483646 h 940"/>
              <a:gd name="T10" fmla="*/ 2147483646 w 2146"/>
              <a:gd name="T11" fmla="*/ 2147483646 h 940"/>
              <a:gd name="T12" fmla="*/ 2147483646 w 2146"/>
              <a:gd name="T13" fmla="*/ 2147483646 h 940"/>
              <a:gd name="T14" fmla="*/ 2147483646 w 2146"/>
              <a:gd name="T15" fmla="*/ 2147483646 h 940"/>
              <a:gd name="T16" fmla="*/ 2147483646 w 2146"/>
              <a:gd name="T17" fmla="*/ 2147483646 h 940"/>
              <a:gd name="T18" fmla="*/ 2147483646 w 2146"/>
              <a:gd name="T19" fmla="*/ 2147483646 h 940"/>
              <a:gd name="T20" fmla="*/ 2147483646 w 2146"/>
              <a:gd name="T21" fmla="*/ 2147483646 h 940"/>
              <a:gd name="T22" fmla="*/ 2147483646 w 2146"/>
              <a:gd name="T23" fmla="*/ 2147483646 h 940"/>
              <a:gd name="T24" fmla="*/ 2147483646 w 2146"/>
              <a:gd name="T25" fmla="*/ 2147483646 h 940"/>
              <a:gd name="T26" fmla="*/ 2147483646 w 2146"/>
              <a:gd name="T27" fmla="*/ 2147483646 h 940"/>
              <a:gd name="T28" fmla="*/ 2147483646 w 2146"/>
              <a:gd name="T29" fmla="*/ 2147483646 h 940"/>
              <a:gd name="T30" fmla="*/ 2147483646 w 2146"/>
              <a:gd name="T31" fmla="*/ 2147483646 h 940"/>
              <a:gd name="T32" fmla="*/ 2147483646 w 2146"/>
              <a:gd name="T33" fmla="*/ 2147483646 h 940"/>
              <a:gd name="T34" fmla="*/ 2147483646 w 2146"/>
              <a:gd name="T35" fmla="*/ 2147483646 h 940"/>
              <a:gd name="T36" fmla="*/ 2147483646 w 2146"/>
              <a:gd name="T37" fmla="*/ 2147483646 h 940"/>
              <a:gd name="T38" fmla="*/ 2147483646 w 2146"/>
              <a:gd name="T39" fmla="*/ 2147483646 h 940"/>
              <a:gd name="T40" fmla="*/ 2147483646 w 2146"/>
              <a:gd name="T41" fmla="*/ 2147483646 h 940"/>
              <a:gd name="T42" fmla="*/ 2147483646 w 2146"/>
              <a:gd name="T43" fmla="*/ 2147483646 h 940"/>
              <a:gd name="T44" fmla="*/ 2147483646 w 2146"/>
              <a:gd name="T45" fmla="*/ 2147483646 h 940"/>
              <a:gd name="T46" fmla="*/ 2147483646 w 2146"/>
              <a:gd name="T47" fmla="*/ 2147483646 h 940"/>
              <a:gd name="T48" fmla="*/ 2147483646 w 2146"/>
              <a:gd name="T49" fmla="*/ 2147483646 h 940"/>
              <a:gd name="T50" fmla="*/ 2147483646 w 2146"/>
              <a:gd name="T51" fmla="*/ 2147483646 h 940"/>
              <a:gd name="T52" fmla="*/ 2147483646 w 2146"/>
              <a:gd name="T53" fmla="*/ 2147483646 h 940"/>
              <a:gd name="T54" fmla="*/ 2147483646 w 2146"/>
              <a:gd name="T55" fmla="*/ 2147483646 h 940"/>
              <a:gd name="T56" fmla="*/ 2147483646 w 2146"/>
              <a:gd name="T57" fmla="*/ 2147483646 h 940"/>
              <a:gd name="T58" fmla="*/ 2147483646 w 2146"/>
              <a:gd name="T59" fmla="*/ 2147483646 h 940"/>
              <a:gd name="T60" fmla="*/ 2147483646 w 2146"/>
              <a:gd name="T61" fmla="*/ 2147483646 h 940"/>
              <a:gd name="T62" fmla="*/ 2147483646 w 2146"/>
              <a:gd name="T63" fmla="*/ 2147483646 h 940"/>
              <a:gd name="T64" fmla="*/ 2147483646 w 2146"/>
              <a:gd name="T65" fmla="*/ 2147483646 h 940"/>
              <a:gd name="T66" fmla="*/ 2147483646 w 2146"/>
              <a:gd name="T67" fmla="*/ 2147483646 h 940"/>
              <a:gd name="T68" fmla="*/ 2147483646 w 2146"/>
              <a:gd name="T69" fmla="*/ 2147483646 h 940"/>
              <a:gd name="T70" fmla="*/ 2147483646 w 2146"/>
              <a:gd name="T71" fmla="*/ 2147483646 h 940"/>
              <a:gd name="T72" fmla="*/ 2147483646 w 2146"/>
              <a:gd name="T73" fmla="*/ 2147483646 h 940"/>
              <a:gd name="T74" fmla="*/ 2147483646 w 2146"/>
              <a:gd name="T75" fmla="*/ 2147483646 h 940"/>
              <a:gd name="T76" fmla="*/ 2147483646 w 2146"/>
              <a:gd name="T77" fmla="*/ 2147483646 h 940"/>
              <a:gd name="T78" fmla="*/ 2147483646 w 2146"/>
              <a:gd name="T79" fmla="*/ 2147483646 h 940"/>
              <a:gd name="T80" fmla="*/ 2147483646 w 2146"/>
              <a:gd name="T81" fmla="*/ 2147483646 h 940"/>
              <a:gd name="T82" fmla="*/ 2147483646 w 2146"/>
              <a:gd name="T83" fmla="*/ 2147483646 h 940"/>
              <a:gd name="T84" fmla="*/ 2147483646 w 2146"/>
              <a:gd name="T85" fmla="*/ 2147483646 h 940"/>
              <a:gd name="T86" fmla="*/ 2147483646 w 2146"/>
              <a:gd name="T87" fmla="*/ 2147483646 h 940"/>
              <a:gd name="T88" fmla="*/ 2147483646 w 2146"/>
              <a:gd name="T89" fmla="*/ 2147483646 h 940"/>
              <a:gd name="T90" fmla="*/ 2147483646 w 2146"/>
              <a:gd name="T91" fmla="*/ 2147483646 h 940"/>
              <a:gd name="T92" fmla="*/ 2147483646 w 2146"/>
              <a:gd name="T93" fmla="*/ 2147483646 h 940"/>
              <a:gd name="T94" fmla="*/ 2147483646 w 2146"/>
              <a:gd name="T95" fmla="*/ 2147483646 h 940"/>
              <a:gd name="T96" fmla="*/ 2147483646 w 2146"/>
              <a:gd name="T97" fmla="*/ 2147483646 h 940"/>
              <a:gd name="T98" fmla="*/ 2147483646 w 2146"/>
              <a:gd name="T99" fmla="*/ 2147483646 h 940"/>
              <a:gd name="T100" fmla="*/ 2147483646 w 2146"/>
              <a:gd name="T101" fmla="*/ 2147483646 h 940"/>
              <a:gd name="T102" fmla="*/ 2147483646 w 2146"/>
              <a:gd name="T103" fmla="*/ 2147483646 h 940"/>
              <a:gd name="T104" fmla="*/ 2147483646 w 2146"/>
              <a:gd name="T105" fmla="*/ 2147483646 h 940"/>
              <a:gd name="T106" fmla="*/ 2147483646 w 2146"/>
              <a:gd name="T107" fmla="*/ 2147483646 h 940"/>
              <a:gd name="T108" fmla="*/ 2147483646 w 2146"/>
              <a:gd name="T109" fmla="*/ 2147483646 h 940"/>
              <a:gd name="T110" fmla="*/ 2147483646 w 2146"/>
              <a:gd name="T111" fmla="*/ 2147483646 h 940"/>
              <a:gd name="T112" fmla="*/ 2147483646 w 2146"/>
              <a:gd name="T113" fmla="*/ 2147483646 h 940"/>
              <a:gd name="T114" fmla="*/ 2147483646 w 2146"/>
              <a:gd name="T115" fmla="*/ 2147483646 h 940"/>
              <a:gd name="T116" fmla="*/ 2147483646 w 2146"/>
              <a:gd name="T117" fmla="*/ 2147483646 h 940"/>
              <a:gd name="T118" fmla="*/ 2147483646 w 2146"/>
              <a:gd name="T119" fmla="*/ 2147483646 h 940"/>
              <a:gd name="T120" fmla="*/ 2147483646 w 2146"/>
              <a:gd name="T121" fmla="*/ 2147483646 h 94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146"/>
              <a:gd name="T184" fmla="*/ 0 h 940"/>
              <a:gd name="T185" fmla="*/ 2146 w 2146"/>
              <a:gd name="T186" fmla="*/ 940 h 94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146" h="940">
                <a:moveTo>
                  <a:pt x="47" y="472"/>
                </a:moveTo>
                <a:lnTo>
                  <a:pt x="39" y="469"/>
                </a:lnTo>
                <a:lnTo>
                  <a:pt x="32" y="465"/>
                </a:lnTo>
                <a:lnTo>
                  <a:pt x="27" y="461"/>
                </a:lnTo>
                <a:lnTo>
                  <a:pt x="20" y="456"/>
                </a:lnTo>
                <a:lnTo>
                  <a:pt x="17" y="452"/>
                </a:lnTo>
                <a:lnTo>
                  <a:pt x="12" y="447"/>
                </a:lnTo>
                <a:lnTo>
                  <a:pt x="8" y="441"/>
                </a:lnTo>
                <a:lnTo>
                  <a:pt x="7" y="436"/>
                </a:lnTo>
                <a:lnTo>
                  <a:pt x="5" y="430"/>
                </a:lnTo>
                <a:lnTo>
                  <a:pt x="3" y="425"/>
                </a:lnTo>
                <a:lnTo>
                  <a:pt x="3" y="419"/>
                </a:lnTo>
                <a:lnTo>
                  <a:pt x="5" y="414"/>
                </a:lnTo>
                <a:lnTo>
                  <a:pt x="7" y="408"/>
                </a:lnTo>
                <a:lnTo>
                  <a:pt x="8" y="402"/>
                </a:lnTo>
                <a:lnTo>
                  <a:pt x="12" y="397"/>
                </a:lnTo>
                <a:lnTo>
                  <a:pt x="17" y="393"/>
                </a:lnTo>
                <a:lnTo>
                  <a:pt x="22" y="388"/>
                </a:lnTo>
                <a:lnTo>
                  <a:pt x="29" y="382"/>
                </a:lnTo>
                <a:lnTo>
                  <a:pt x="35" y="379"/>
                </a:lnTo>
                <a:lnTo>
                  <a:pt x="42" y="375"/>
                </a:lnTo>
                <a:lnTo>
                  <a:pt x="50" y="371"/>
                </a:lnTo>
                <a:lnTo>
                  <a:pt x="59" y="369"/>
                </a:lnTo>
                <a:lnTo>
                  <a:pt x="67" y="368"/>
                </a:lnTo>
                <a:lnTo>
                  <a:pt x="77" y="366"/>
                </a:lnTo>
                <a:lnTo>
                  <a:pt x="70" y="358"/>
                </a:lnTo>
                <a:lnTo>
                  <a:pt x="67" y="351"/>
                </a:lnTo>
                <a:lnTo>
                  <a:pt x="62" y="344"/>
                </a:lnTo>
                <a:lnTo>
                  <a:pt x="60" y="336"/>
                </a:lnTo>
                <a:lnTo>
                  <a:pt x="59" y="329"/>
                </a:lnTo>
                <a:lnTo>
                  <a:pt x="59" y="322"/>
                </a:lnTo>
                <a:lnTo>
                  <a:pt x="60" y="313"/>
                </a:lnTo>
                <a:lnTo>
                  <a:pt x="62" y="305"/>
                </a:lnTo>
                <a:lnTo>
                  <a:pt x="65" y="298"/>
                </a:lnTo>
                <a:lnTo>
                  <a:pt x="70" y="292"/>
                </a:lnTo>
                <a:lnTo>
                  <a:pt x="76" y="285"/>
                </a:lnTo>
                <a:lnTo>
                  <a:pt x="82" y="278"/>
                </a:lnTo>
                <a:lnTo>
                  <a:pt x="89" y="272"/>
                </a:lnTo>
                <a:lnTo>
                  <a:pt x="97" y="267"/>
                </a:lnTo>
                <a:lnTo>
                  <a:pt x="107" y="261"/>
                </a:lnTo>
                <a:lnTo>
                  <a:pt x="117" y="257"/>
                </a:lnTo>
                <a:lnTo>
                  <a:pt x="126" y="254"/>
                </a:lnTo>
                <a:lnTo>
                  <a:pt x="134" y="252"/>
                </a:lnTo>
                <a:lnTo>
                  <a:pt x="144" y="248"/>
                </a:lnTo>
                <a:lnTo>
                  <a:pt x="153" y="248"/>
                </a:lnTo>
                <a:lnTo>
                  <a:pt x="163" y="246"/>
                </a:lnTo>
                <a:lnTo>
                  <a:pt x="173" y="246"/>
                </a:lnTo>
                <a:lnTo>
                  <a:pt x="181" y="245"/>
                </a:lnTo>
                <a:lnTo>
                  <a:pt x="191" y="246"/>
                </a:lnTo>
                <a:lnTo>
                  <a:pt x="190" y="237"/>
                </a:lnTo>
                <a:lnTo>
                  <a:pt x="188" y="228"/>
                </a:lnTo>
                <a:lnTo>
                  <a:pt x="188" y="219"/>
                </a:lnTo>
                <a:lnTo>
                  <a:pt x="190" y="210"/>
                </a:lnTo>
                <a:lnTo>
                  <a:pt x="193" y="201"/>
                </a:lnTo>
                <a:lnTo>
                  <a:pt x="196" y="193"/>
                </a:lnTo>
                <a:lnTo>
                  <a:pt x="201" y="184"/>
                </a:lnTo>
                <a:lnTo>
                  <a:pt x="208" y="177"/>
                </a:lnTo>
                <a:lnTo>
                  <a:pt x="216" y="169"/>
                </a:lnTo>
                <a:lnTo>
                  <a:pt x="225" y="164"/>
                </a:lnTo>
                <a:lnTo>
                  <a:pt x="233" y="156"/>
                </a:lnTo>
                <a:lnTo>
                  <a:pt x="245" y="151"/>
                </a:lnTo>
                <a:lnTo>
                  <a:pt x="255" y="147"/>
                </a:lnTo>
                <a:lnTo>
                  <a:pt x="267" y="142"/>
                </a:lnTo>
                <a:lnTo>
                  <a:pt x="280" y="140"/>
                </a:lnTo>
                <a:lnTo>
                  <a:pt x="293" y="136"/>
                </a:lnTo>
                <a:lnTo>
                  <a:pt x="305" y="134"/>
                </a:lnTo>
                <a:lnTo>
                  <a:pt x="317" y="134"/>
                </a:lnTo>
                <a:lnTo>
                  <a:pt x="330" y="134"/>
                </a:lnTo>
                <a:lnTo>
                  <a:pt x="342" y="134"/>
                </a:lnTo>
                <a:lnTo>
                  <a:pt x="354" y="136"/>
                </a:lnTo>
                <a:lnTo>
                  <a:pt x="366" y="138"/>
                </a:lnTo>
                <a:lnTo>
                  <a:pt x="377" y="140"/>
                </a:lnTo>
                <a:lnTo>
                  <a:pt x="387" y="144"/>
                </a:lnTo>
                <a:lnTo>
                  <a:pt x="384" y="138"/>
                </a:lnTo>
                <a:lnTo>
                  <a:pt x="382" y="131"/>
                </a:lnTo>
                <a:lnTo>
                  <a:pt x="381" y="125"/>
                </a:lnTo>
                <a:lnTo>
                  <a:pt x="379" y="120"/>
                </a:lnTo>
                <a:lnTo>
                  <a:pt x="381" y="112"/>
                </a:lnTo>
                <a:lnTo>
                  <a:pt x="381" y="107"/>
                </a:lnTo>
                <a:lnTo>
                  <a:pt x="384" y="101"/>
                </a:lnTo>
                <a:lnTo>
                  <a:pt x="386" y="96"/>
                </a:lnTo>
                <a:lnTo>
                  <a:pt x="389" y="90"/>
                </a:lnTo>
                <a:lnTo>
                  <a:pt x="394" y="85"/>
                </a:lnTo>
                <a:lnTo>
                  <a:pt x="399" y="81"/>
                </a:lnTo>
                <a:lnTo>
                  <a:pt x="406" y="76"/>
                </a:lnTo>
                <a:lnTo>
                  <a:pt x="412" y="72"/>
                </a:lnTo>
                <a:lnTo>
                  <a:pt x="419" y="68"/>
                </a:lnTo>
                <a:lnTo>
                  <a:pt x="428" y="65"/>
                </a:lnTo>
                <a:lnTo>
                  <a:pt x="436" y="61"/>
                </a:lnTo>
                <a:lnTo>
                  <a:pt x="444" y="59"/>
                </a:lnTo>
                <a:lnTo>
                  <a:pt x="454" y="57"/>
                </a:lnTo>
                <a:lnTo>
                  <a:pt x="463" y="57"/>
                </a:lnTo>
                <a:lnTo>
                  <a:pt x="471" y="57"/>
                </a:lnTo>
                <a:lnTo>
                  <a:pt x="480" y="57"/>
                </a:lnTo>
                <a:lnTo>
                  <a:pt x="490" y="57"/>
                </a:lnTo>
                <a:lnTo>
                  <a:pt x="498" y="59"/>
                </a:lnTo>
                <a:lnTo>
                  <a:pt x="506" y="61"/>
                </a:lnTo>
                <a:lnTo>
                  <a:pt x="515" y="63"/>
                </a:lnTo>
                <a:lnTo>
                  <a:pt x="521" y="65"/>
                </a:lnTo>
                <a:lnTo>
                  <a:pt x="530" y="68"/>
                </a:lnTo>
                <a:lnTo>
                  <a:pt x="537" y="72"/>
                </a:lnTo>
                <a:lnTo>
                  <a:pt x="543" y="76"/>
                </a:lnTo>
                <a:lnTo>
                  <a:pt x="548" y="79"/>
                </a:lnTo>
                <a:lnTo>
                  <a:pt x="553" y="85"/>
                </a:lnTo>
                <a:lnTo>
                  <a:pt x="558" y="90"/>
                </a:lnTo>
                <a:lnTo>
                  <a:pt x="560" y="83"/>
                </a:lnTo>
                <a:lnTo>
                  <a:pt x="563" y="78"/>
                </a:lnTo>
                <a:lnTo>
                  <a:pt x="567" y="70"/>
                </a:lnTo>
                <a:lnTo>
                  <a:pt x="572" y="65"/>
                </a:lnTo>
                <a:lnTo>
                  <a:pt x="577" y="59"/>
                </a:lnTo>
                <a:lnTo>
                  <a:pt x="583" y="54"/>
                </a:lnTo>
                <a:lnTo>
                  <a:pt x="590" y="50"/>
                </a:lnTo>
                <a:lnTo>
                  <a:pt x="599" y="44"/>
                </a:lnTo>
                <a:lnTo>
                  <a:pt x="605" y="41"/>
                </a:lnTo>
                <a:lnTo>
                  <a:pt x="615" y="37"/>
                </a:lnTo>
                <a:lnTo>
                  <a:pt x="624" y="35"/>
                </a:lnTo>
                <a:lnTo>
                  <a:pt x="634" y="33"/>
                </a:lnTo>
                <a:lnTo>
                  <a:pt x="644" y="32"/>
                </a:lnTo>
                <a:lnTo>
                  <a:pt x="654" y="30"/>
                </a:lnTo>
                <a:lnTo>
                  <a:pt x="664" y="30"/>
                </a:lnTo>
                <a:lnTo>
                  <a:pt x="674" y="32"/>
                </a:lnTo>
                <a:lnTo>
                  <a:pt x="684" y="32"/>
                </a:lnTo>
                <a:lnTo>
                  <a:pt x="694" y="33"/>
                </a:lnTo>
                <a:lnTo>
                  <a:pt x="703" y="35"/>
                </a:lnTo>
                <a:lnTo>
                  <a:pt x="711" y="39"/>
                </a:lnTo>
                <a:lnTo>
                  <a:pt x="719" y="43"/>
                </a:lnTo>
                <a:lnTo>
                  <a:pt x="728" y="46"/>
                </a:lnTo>
                <a:lnTo>
                  <a:pt x="734" y="50"/>
                </a:lnTo>
                <a:lnTo>
                  <a:pt x="741" y="55"/>
                </a:lnTo>
                <a:lnTo>
                  <a:pt x="754" y="44"/>
                </a:lnTo>
                <a:lnTo>
                  <a:pt x="770" y="35"/>
                </a:lnTo>
                <a:lnTo>
                  <a:pt x="786" y="28"/>
                </a:lnTo>
                <a:lnTo>
                  <a:pt x="803" y="21"/>
                </a:lnTo>
                <a:lnTo>
                  <a:pt x="822" y="15"/>
                </a:lnTo>
                <a:lnTo>
                  <a:pt x="838" y="11"/>
                </a:lnTo>
                <a:lnTo>
                  <a:pt x="858" y="8"/>
                </a:lnTo>
                <a:lnTo>
                  <a:pt x="877" y="6"/>
                </a:lnTo>
                <a:lnTo>
                  <a:pt x="897" y="4"/>
                </a:lnTo>
                <a:lnTo>
                  <a:pt x="915" y="4"/>
                </a:lnTo>
                <a:lnTo>
                  <a:pt x="936" y="6"/>
                </a:lnTo>
                <a:lnTo>
                  <a:pt x="954" y="10"/>
                </a:lnTo>
                <a:lnTo>
                  <a:pt x="974" y="13"/>
                </a:lnTo>
                <a:lnTo>
                  <a:pt x="993" y="19"/>
                </a:lnTo>
                <a:lnTo>
                  <a:pt x="1009" y="24"/>
                </a:lnTo>
                <a:lnTo>
                  <a:pt x="1028" y="32"/>
                </a:lnTo>
                <a:lnTo>
                  <a:pt x="1029" y="28"/>
                </a:lnTo>
                <a:lnTo>
                  <a:pt x="1031" y="24"/>
                </a:lnTo>
                <a:lnTo>
                  <a:pt x="1034" y="21"/>
                </a:lnTo>
                <a:lnTo>
                  <a:pt x="1038" y="19"/>
                </a:lnTo>
                <a:lnTo>
                  <a:pt x="1041" y="15"/>
                </a:lnTo>
                <a:lnTo>
                  <a:pt x="1044" y="11"/>
                </a:lnTo>
                <a:lnTo>
                  <a:pt x="1055" y="8"/>
                </a:lnTo>
                <a:lnTo>
                  <a:pt x="1065" y="4"/>
                </a:lnTo>
                <a:lnTo>
                  <a:pt x="1076" y="2"/>
                </a:lnTo>
                <a:lnTo>
                  <a:pt x="1088" y="2"/>
                </a:lnTo>
                <a:lnTo>
                  <a:pt x="1101" y="2"/>
                </a:lnTo>
                <a:lnTo>
                  <a:pt x="1110" y="4"/>
                </a:lnTo>
                <a:lnTo>
                  <a:pt x="1117" y="6"/>
                </a:lnTo>
                <a:lnTo>
                  <a:pt x="1125" y="10"/>
                </a:lnTo>
                <a:lnTo>
                  <a:pt x="1132" y="13"/>
                </a:lnTo>
                <a:lnTo>
                  <a:pt x="1137" y="19"/>
                </a:lnTo>
                <a:lnTo>
                  <a:pt x="1142" y="22"/>
                </a:lnTo>
                <a:lnTo>
                  <a:pt x="1145" y="28"/>
                </a:lnTo>
                <a:lnTo>
                  <a:pt x="1147" y="33"/>
                </a:lnTo>
                <a:lnTo>
                  <a:pt x="1148" y="30"/>
                </a:lnTo>
                <a:lnTo>
                  <a:pt x="1148" y="26"/>
                </a:lnTo>
                <a:lnTo>
                  <a:pt x="1152" y="22"/>
                </a:lnTo>
                <a:lnTo>
                  <a:pt x="1153" y="19"/>
                </a:lnTo>
                <a:lnTo>
                  <a:pt x="1157" y="17"/>
                </a:lnTo>
                <a:lnTo>
                  <a:pt x="1160" y="13"/>
                </a:lnTo>
                <a:lnTo>
                  <a:pt x="1164" y="11"/>
                </a:lnTo>
                <a:lnTo>
                  <a:pt x="1169" y="8"/>
                </a:lnTo>
                <a:lnTo>
                  <a:pt x="1179" y="4"/>
                </a:lnTo>
                <a:lnTo>
                  <a:pt x="1190" y="2"/>
                </a:lnTo>
                <a:lnTo>
                  <a:pt x="1202" y="0"/>
                </a:lnTo>
                <a:lnTo>
                  <a:pt x="1215" y="2"/>
                </a:lnTo>
                <a:lnTo>
                  <a:pt x="1226" y="4"/>
                </a:lnTo>
                <a:lnTo>
                  <a:pt x="1236" y="6"/>
                </a:lnTo>
                <a:lnTo>
                  <a:pt x="1244" y="8"/>
                </a:lnTo>
                <a:lnTo>
                  <a:pt x="1252" y="11"/>
                </a:lnTo>
                <a:lnTo>
                  <a:pt x="1259" y="17"/>
                </a:lnTo>
                <a:lnTo>
                  <a:pt x="1266" y="21"/>
                </a:lnTo>
                <a:lnTo>
                  <a:pt x="1271" y="26"/>
                </a:lnTo>
                <a:lnTo>
                  <a:pt x="1274" y="32"/>
                </a:lnTo>
                <a:lnTo>
                  <a:pt x="1283" y="28"/>
                </a:lnTo>
                <a:lnTo>
                  <a:pt x="1293" y="26"/>
                </a:lnTo>
                <a:lnTo>
                  <a:pt x="1304" y="24"/>
                </a:lnTo>
                <a:lnTo>
                  <a:pt x="1316" y="24"/>
                </a:lnTo>
                <a:lnTo>
                  <a:pt x="1328" y="26"/>
                </a:lnTo>
                <a:lnTo>
                  <a:pt x="1340" y="26"/>
                </a:lnTo>
                <a:lnTo>
                  <a:pt x="1351" y="30"/>
                </a:lnTo>
                <a:lnTo>
                  <a:pt x="1361" y="33"/>
                </a:lnTo>
                <a:lnTo>
                  <a:pt x="1366" y="35"/>
                </a:lnTo>
                <a:lnTo>
                  <a:pt x="1371" y="37"/>
                </a:lnTo>
                <a:lnTo>
                  <a:pt x="1375" y="41"/>
                </a:lnTo>
                <a:lnTo>
                  <a:pt x="1378" y="43"/>
                </a:lnTo>
                <a:lnTo>
                  <a:pt x="1380" y="46"/>
                </a:lnTo>
                <a:lnTo>
                  <a:pt x="1381" y="48"/>
                </a:lnTo>
                <a:lnTo>
                  <a:pt x="1383" y="52"/>
                </a:lnTo>
                <a:lnTo>
                  <a:pt x="1383" y="55"/>
                </a:lnTo>
                <a:lnTo>
                  <a:pt x="1388" y="50"/>
                </a:lnTo>
                <a:lnTo>
                  <a:pt x="1393" y="46"/>
                </a:lnTo>
                <a:lnTo>
                  <a:pt x="1400" y="43"/>
                </a:lnTo>
                <a:lnTo>
                  <a:pt x="1407" y="39"/>
                </a:lnTo>
                <a:lnTo>
                  <a:pt x="1415" y="37"/>
                </a:lnTo>
                <a:lnTo>
                  <a:pt x="1423" y="33"/>
                </a:lnTo>
                <a:lnTo>
                  <a:pt x="1433" y="32"/>
                </a:lnTo>
                <a:lnTo>
                  <a:pt x="1442" y="30"/>
                </a:lnTo>
                <a:lnTo>
                  <a:pt x="1452" y="30"/>
                </a:lnTo>
                <a:lnTo>
                  <a:pt x="1464" y="28"/>
                </a:lnTo>
                <a:lnTo>
                  <a:pt x="1474" y="28"/>
                </a:lnTo>
                <a:lnTo>
                  <a:pt x="1485" y="28"/>
                </a:lnTo>
                <a:lnTo>
                  <a:pt x="1497" y="30"/>
                </a:lnTo>
                <a:lnTo>
                  <a:pt x="1507" y="30"/>
                </a:lnTo>
                <a:lnTo>
                  <a:pt x="1519" y="32"/>
                </a:lnTo>
                <a:lnTo>
                  <a:pt x="1531" y="35"/>
                </a:lnTo>
                <a:lnTo>
                  <a:pt x="1539" y="37"/>
                </a:lnTo>
                <a:lnTo>
                  <a:pt x="1547" y="39"/>
                </a:lnTo>
                <a:lnTo>
                  <a:pt x="1556" y="43"/>
                </a:lnTo>
                <a:lnTo>
                  <a:pt x="1563" y="44"/>
                </a:lnTo>
                <a:lnTo>
                  <a:pt x="1569" y="48"/>
                </a:lnTo>
                <a:lnTo>
                  <a:pt x="1576" y="52"/>
                </a:lnTo>
                <a:lnTo>
                  <a:pt x="1583" y="55"/>
                </a:lnTo>
                <a:lnTo>
                  <a:pt x="1588" y="57"/>
                </a:lnTo>
                <a:lnTo>
                  <a:pt x="1593" y="63"/>
                </a:lnTo>
                <a:lnTo>
                  <a:pt x="1596" y="66"/>
                </a:lnTo>
                <a:lnTo>
                  <a:pt x="1599" y="70"/>
                </a:lnTo>
                <a:lnTo>
                  <a:pt x="1603" y="74"/>
                </a:lnTo>
                <a:lnTo>
                  <a:pt x="1604" y="78"/>
                </a:lnTo>
                <a:lnTo>
                  <a:pt x="1606" y="81"/>
                </a:lnTo>
                <a:lnTo>
                  <a:pt x="1608" y="87"/>
                </a:lnTo>
                <a:lnTo>
                  <a:pt x="1608" y="90"/>
                </a:lnTo>
                <a:lnTo>
                  <a:pt x="1618" y="85"/>
                </a:lnTo>
                <a:lnTo>
                  <a:pt x="1630" y="81"/>
                </a:lnTo>
                <a:lnTo>
                  <a:pt x="1643" y="78"/>
                </a:lnTo>
                <a:lnTo>
                  <a:pt x="1655" y="76"/>
                </a:lnTo>
                <a:lnTo>
                  <a:pt x="1666" y="76"/>
                </a:lnTo>
                <a:lnTo>
                  <a:pt x="1676" y="76"/>
                </a:lnTo>
                <a:lnTo>
                  <a:pt x="1685" y="78"/>
                </a:lnTo>
                <a:lnTo>
                  <a:pt x="1690" y="79"/>
                </a:lnTo>
                <a:lnTo>
                  <a:pt x="1693" y="81"/>
                </a:lnTo>
                <a:lnTo>
                  <a:pt x="1697" y="83"/>
                </a:lnTo>
                <a:lnTo>
                  <a:pt x="1698" y="87"/>
                </a:lnTo>
                <a:lnTo>
                  <a:pt x="1700" y="89"/>
                </a:lnTo>
                <a:lnTo>
                  <a:pt x="1702" y="90"/>
                </a:lnTo>
                <a:lnTo>
                  <a:pt x="1703" y="96"/>
                </a:lnTo>
                <a:lnTo>
                  <a:pt x="1703" y="101"/>
                </a:lnTo>
                <a:lnTo>
                  <a:pt x="1702" y="107"/>
                </a:lnTo>
                <a:lnTo>
                  <a:pt x="1698" y="112"/>
                </a:lnTo>
                <a:lnTo>
                  <a:pt x="1693" y="120"/>
                </a:lnTo>
                <a:lnTo>
                  <a:pt x="1687" y="125"/>
                </a:lnTo>
                <a:lnTo>
                  <a:pt x="1697" y="120"/>
                </a:lnTo>
                <a:lnTo>
                  <a:pt x="1707" y="116"/>
                </a:lnTo>
                <a:lnTo>
                  <a:pt x="1717" y="112"/>
                </a:lnTo>
                <a:lnTo>
                  <a:pt x="1727" y="111"/>
                </a:lnTo>
                <a:lnTo>
                  <a:pt x="1739" y="107"/>
                </a:lnTo>
                <a:lnTo>
                  <a:pt x="1749" y="107"/>
                </a:lnTo>
                <a:lnTo>
                  <a:pt x="1760" y="105"/>
                </a:lnTo>
                <a:lnTo>
                  <a:pt x="1772" y="105"/>
                </a:lnTo>
                <a:lnTo>
                  <a:pt x="1784" y="107"/>
                </a:lnTo>
                <a:lnTo>
                  <a:pt x="1794" y="109"/>
                </a:lnTo>
                <a:lnTo>
                  <a:pt x="1806" y="111"/>
                </a:lnTo>
                <a:lnTo>
                  <a:pt x="1816" y="114"/>
                </a:lnTo>
                <a:lnTo>
                  <a:pt x="1826" y="118"/>
                </a:lnTo>
                <a:lnTo>
                  <a:pt x="1836" y="122"/>
                </a:lnTo>
                <a:lnTo>
                  <a:pt x="1844" y="127"/>
                </a:lnTo>
                <a:lnTo>
                  <a:pt x="1853" y="133"/>
                </a:lnTo>
                <a:lnTo>
                  <a:pt x="1858" y="136"/>
                </a:lnTo>
                <a:lnTo>
                  <a:pt x="1863" y="140"/>
                </a:lnTo>
                <a:lnTo>
                  <a:pt x="1866" y="145"/>
                </a:lnTo>
                <a:lnTo>
                  <a:pt x="1869" y="149"/>
                </a:lnTo>
                <a:lnTo>
                  <a:pt x="1873" y="155"/>
                </a:lnTo>
                <a:lnTo>
                  <a:pt x="1876" y="158"/>
                </a:lnTo>
                <a:lnTo>
                  <a:pt x="1878" y="164"/>
                </a:lnTo>
                <a:lnTo>
                  <a:pt x="1879" y="167"/>
                </a:lnTo>
                <a:lnTo>
                  <a:pt x="1881" y="173"/>
                </a:lnTo>
                <a:lnTo>
                  <a:pt x="1881" y="178"/>
                </a:lnTo>
                <a:lnTo>
                  <a:pt x="1883" y="184"/>
                </a:lnTo>
                <a:lnTo>
                  <a:pt x="1881" y="188"/>
                </a:lnTo>
                <a:lnTo>
                  <a:pt x="1881" y="193"/>
                </a:lnTo>
                <a:lnTo>
                  <a:pt x="1879" y="199"/>
                </a:lnTo>
                <a:lnTo>
                  <a:pt x="1878" y="202"/>
                </a:lnTo>
                <a:lnTo>
                  <a:pt x="1876" y="208"/>
                </a:lnTo>
                <a:lnTo>
                  <a:pt x="1886" y="212"/>
                </a:lnTo>
                <a:lnTo>
                  <a:pt x="1896" y="215"/>
                </a:lnTo>
                <a:lnTo>
                  <a:pt x="1906" y="217"/>
                </a:lnTo>
                <a:lnTo>
                  <a:pt x="1915" y="223"/>
                </a:lnTo>
                <a:lnTo>
                  <a:pt x="1923" y="226"/>
                </a:lnTo>
                <a:lnTo>
                  <a:pt x="1930" y="230"/>
                </a:lnTo>
                <a:lnTo>
                  <a:pt x="1936" y="235"/>
                </a:lnTo>
                <a:lnTo>
                  <a:pt x="1941" y="239"/>
                </a:lnTo>
                <a:lnTo>
                  <a:pt x="1946" y="245"/>
                </a:lnTo>
                <a:lnTo>
                  <a:pt x="1950" y="250"/>
                </a:lnTo>
                <a:lnTo>
                  <a:pt x="1953" y="254"/>
                </a:lnTo>
                <a:lnTo>
                  <a:pt x="1955" y="259"/>
                </a:lnTo>
                <a:lnTo>
                  <a:pt x="1955" y="265"/>
                </a:lnTo>
                <a:lnTo>
                  <a:pt x="1955" y="270"/>
                </a:lnTo>
                <a:lnTo>
                  <a:pt x="1953" y="274"/>
                </a:lnTo>
                <a:lnTo>
                  <a:pt x="1951" y="279"/>
                </a:lnTo>
                <a:lnTo>
                  <a:pt x="1968" y="279"/>
                </a:lnTo>
                <a:lnTo>
                  <a:pt x="1985" y="281"/>
                </a:lnTo>
                <a:lnTo>
                  <a:pt x="2000" y="283"/>
                </a:lnTo>
                <a:lnTo>
                  <a:pt x="2015" y="287"/>
                </a:lnTo>
                <a:lnTo>
                  <a:pt x="2030" y="289"/>
                </a:lnTo>
                <a:lnTo>
                  <a:pt x="2044" y="292"/>
                </a:lnTo>
                <a:lnTo>
                  <a:pt x="2055" y="298"/>
                </a:lnTo>
                <a:lnTo>
                  <a:pt x="2067" y="302"/>
                </a:lnTo>
                <a:lnTo>
                  <a:pt x="2075" y="307"/>
                </a:lnTo>
                <a:lnTo>
                  <a:pt x="2086" y="313"/>
                </a:lnTo>
                <a:lnTo>
                  <a:pt x="2092" y="320"/>
                </a:lnTo>
                <a:lnTo>
                  <a:pt x="2099" y="325"/>
                </a:lnTo>
                <a:lnTo>
                  <a:pt x="2104" y="333"/>
                </a:lnTo>
                <a:lnTo>
                  <a:pt x="2107" y="338"/>
                </a:lnTo>
                <a:lnTo>
                  <a:pt x="2107" y="342"/>
                </a:lnTo>
                <a:lnTo>
                  <a:pt x="2107" y="346"/>
                </a:lnTo>
                <a:lnTo>
                  <a:pt x="2109" y="349"/>
                </a:lnTo>
                <a:lnTo>
                  <a:pt x="2107" y="353"/>
                </a:lnTo>
                <a:lnTo>
                  <a:pt x="2107" y="360"/>
                </a:lnTo>
                <a:lnTo>
                  <a:pt x="2104" y="366"/>
                </a:lnTo>
                <a:lnTo>
                  <a:pt x="2101" y="371"/>
                </a:lnTo>
                <a:lnTo>
                  <a:pt x="2096" y="379"/>
                </a:lnTo>
                <a:lnTo>
                  <a:pt x="2089" y="384"/>
                </a:lnTo>
                <a:lnTo>
                  <a:pt x="2082" y="390"/>
                </a:lnTo>
                <a:lnTo>
                  <a:pt x="2074" y="393"/>
                </a:lnTo>
                <a:lnTo>
                  <a:pt x="2064" y="399"/>
                </a:lnTo>
                <a:lnTo>
                  <a:pt x="2074" y="401"/>
                </a:lnTo>
                <a:lnTo>
                  <a:pt x="2081" y="402"/>
                </a:lnTo>
                <a:lnTo>
                  <a:pt x="2089" y="406"/>
                </a:lnTo>
                <a:lnTo>
                  <a:pt x="2096" y="408"/>
                </a:lnTo>
                <a:lnTo>
                  <a:pt x="2102" y="412"/>
                </a:lnTo>
                <a:lnTo>
                  <a:pt x="2107" y="415"/>
                </a:lnTo>
                <a:lnTo>
                  <a:pt x="2112" y="419"/>
                </a:lnTo>
                <a:lnTo>
                  <a:pt x="2116" y="423"/>
                </a:lnTo>
                <a:lnTo>
                  <a:pt x="2119" y="426"/>
                </a:lnTo>
                <a:lnTo>
                  <a:pt x="2121" y="430"/>
                </a:lnTo>
                <a:lnTo>
                  <a:pt x="2122" y="434"/>
                </a:lnTo>
                <a:lnTo>
                  <a:pt x="2122" y="437"/>
                </a:lnTo>
                <a:lnTo>
                  <a:pt x="2122" y="441"/>
                </a:lnTo>
                <a:lnTo>
                  <a:pt x="2121" y="447"/>
                </a:lnTo>
                <a:lnTo>
                  <a:pt x="2117" y="450"/>
                </a:lnTo>
                <a:lnTo>
                  <a:pt x="2114" y="454"/>
                </a:lnTo>
                <a:lnTo>
                  <a:pt x="2111" y="456"/>
                </a:lnTo>
                <a:lnTo>
                  <a:pt x="2107" y="459"/>
                </a:lnTo>
                <a:lnTo>
                  <a:pt x="2104" y="461"/>
                </a:lnTo>
                <a:lnTo>
                  <a:pt x="2099" y="465"/>
                </a:lnTo>
                <a:lnTo>
                  <a:pt x="2091" y="469"/>
                </a:lnTo>
                <a:lnTo>
                  <a:pt x="2079" y="472"/>
                </a:lnTo>
                <a:lnTo>
                  <a:pt x="2087" y="470"/>
                </a:lnTo>
                <a:lnTo>
                  <a:pt x="2097" y="470"/>
                </a:lnTo>
                <a:lnTo>
                  <a:pt x="2106" y="470"/>
                </a:lnTo>
                <a:lnTo>
                  <a:pt x="2116" y="472"/>
                </a:lnTo>
                <a:lnTo>
                  <a:pt x="2124" y="474"/>
                </a:lnTo>
                <a:lnTo>
                  <a:pt x="2131" y="478"/>
                </a:lnTo>
                <a:lnTo>
                  <a:pt x="2138" y="483"/>
                </a:lnTo>
                <a:lnTo>
                  <a:pt x="2143" y="489"/>
                </a:lnTo>
                <a:lnTo>
                  <a:pt x="2144" y="491"/>
                </a:lnTo>
                <a:lnTo>
                  <a:pt x="2144" y="494"/>
                </a:lnTo>
                <a:lnTo>
                  <a:pt x="2146" y="498"/>
                </a:lnTo>
                <a:lnTo>
                  <a:pt x="2146" y="500"/>
                </a:lnTo>
                <a:lnTo>
                  <a:pt x="2146" y="503"/>
                </a:lnTo>
                <a:lnTo>
                  <a:pt x="2146" y="507"/>
                </a:lnTo>
                <a:lnTo>
                  <a:pt x="2144" y="509"/>
                </a:lnTo>
                <a:lnTo>
                  <a:pt x="2143" y="513"/>
                </a:lnTo>
                <a:lnTo>
                  <a:pt x="2139" y="518"/>
                </a:lnTo>
                <a:lnTo>
                  <a:pt x="2132" y="522"/>
                </a:lnTo>
                <a:lnTo>
                  <a:pt x="2126" y="527"/>
                </a:lnTo>
                <a:lnTo>
                  <a:pt x="2117" y="529"/>
                </a:lnTo>
                <a:lnTo>
                  <a:pt x="2112" y="531"/>
                </a:lnTo>
                <a:lnTo>
                  <a:pt x="2106" y="533"/>
                </a:lnTo>
                <a:lnTo>
                  <a:pt x="2099" y="533"/>
                </a:lnTo>
                <a:lnTo>
                  <a:pt x="2094" y="533"/>
                </a:lnTo>
                <a:lnTo>
                  <a:pt x="2087" y="531"/>
                </a:lnTo>
                <a:lnTo>
                  <a:pt x="2082" y="531"/>
                </a:lnTo>
                <a:lnTo>
                  <a:pt x="2075" y="529"/>
                </a:lnTo>
                <a:lnTo>
                  <a:pt x="2070" y="527"/>
                </a:lnTo>
                <a:lnTo>
                  <a:pt x="2077" y="533"/>
                </a:lnTo>
                <a:lnTo>
                  <a:pt x="2082" y="538"/>
                </a:lnTo>
                <a:lnTo>
                  <a:pt x="2087" y="544"/>
                </a:lnTo>
                <a:lnTo>
                  <a:pt x="2091" y="549"/>
                </a:lnTo>
                <a:lnTo>
                  <a:pt x="2094" y="557"/>
                </a:lnTo>
                <a:lnTo>
                  <a:pt x="2096" y="562"/>
                </a:lnTo>
                <a:lnTo>
                  <a:pt x="2097" y="570"/>
                </a:lnTo>
                <a:lnTo>
                  <a:pt x="2096" y="575"/>
                </a:lnTo>
                <a:lnTo>
                  <a:pt x="2096" y="582"/>
                </a:lnTo>
                <a:lnTo>
                  <a:pt x="2094" y="588"/>
                </a:lnTo>
                <a:lnTo>
                  <a:pt x="2091" y="595"/>
                </a:lnTo>
                <a:lnTo>
                  <a:pt x="2087" y="601"/>
                </a:lnTo>
                <a:lnTo>
                  <a:pt x="2082" y="606"/>
                </a:lnTo>
                <a:lnTo>
                  <a:pt x="2075" y="612"/>
                </a:lnTo>
                <a:lnTo>
                  <a:pt x="2069" y="617"/>
                </a:lnTo>
                <a:lnTo>
                  <a:pt x="2062" y="623"/>
                </a:lnTo>
                <a:lnTo>
                  <a:pt x="2049" y="628"/>
                </a:lnTo>
                <a:lnTo>
                  <a:pt x="2034" y="634"/>
                </a:lnTo>
                <a:lnTo>
                  <a:pt x="2018" y="637"/>
                </a:lnTo>
                <a:lnTo>
                  <a:pt x="2003" y="639"/>
                </a:lnTo>
                <a:lnTo>
                  <a:pt x="2010" y="639"/>
                </a:lnTo>
                <a:lnTo>
                  <a:pt x="2015" y="641"/>
                </a:lnTo>
                <a:lnTo>
                  <a:pt x="2020" y="643"/>
                </a:lnTo>
                <a:lnTo>
                  <a:pt x="2027" y="647"/>
                </a:lnTo>
                <a:lnTo>
                  <a:pt x="2030" y="649"/>
                </a:lnTo>
                <a:lnTo>
                  <a:pt x="2035" y="650"/>
                </a:lnTo>
                <a:lnTo>
                  <a:pt x="2039" y="654"/>
                </a:lnTo>
                <a:lnTo>
                  <a:pt x="2042" y="656"/>
                </a:lnTo>
                <a:lnTo>
                  <a:pt x="2044" y="660"/>
                </a:lnTo>
                <a:lnTo>
                  <a:pt x="2047" y="663"/>
                </a:lnTo>
                <a:lnTo>
                  <a:pt x="2047" y="667"/>
                </a:lnTo>
                <a:lnTo>
                  <a:pt x="2049" y="671"/>
                </a:lnTo>
                <a:lnTo>
                  <a:pt x="2049" y="672"/>
                </a:lnTo>
                <a:lnTo>
                  <a:pt x="2049" y="676"/>
                </a:lnTo>
                <a:lnTo>
                  <a:pt x="2047" y="680"/>
                </a:lnTo>
                <a:lnTo>
                  <a:pt x="2045" y="683"/>
                </a:lnTo>
                <a:lnTo>
                  <a:pt x="2042" y="687"/>
                </a:lnTo>
                <a:lnTo>
                  <a:pt x="2039" y="691"/>
                </a:lnTo>
                <a:lnTo>
                  <a:pt x="2035" y="693"/>
                </a:lnTo>
                <a:lnTo>
                  <a:pt x="2030" y="696"/>
                </a:lnTo>
                <a:lnTo>
                  <a:pt x="2027" y="698"/>
                </a:lnTo>
                <a:lnTo>
                  <a:pt x="2020" y="700"/>
                </a:lnTo>
                <a:lnTo>
                  <a:pt x="2010" y="704"/>
                </a:lnTo>
                <a:lnTo>
                  <a:pt x="1997" y="707"/>
                </a:lnTo>
                <a:lnTo>
                  <a:pt x="1985" y="707"/>
                </a:lnTo>
                <a:lnTo>
                  <a:pt x="1972" y="707"/>
                </a:lnTo>
                <a:lnTo>
                  <a:pt x="1958" y="705"/>
                </a:lnTo>
                <a:lnTo>
                  <a:pt x="1945" y="704"/>
                </a:lnTo>
                <a:lnTo>
                  <a:pt x="1940" y="702"/>
                </a:lnTo>
                <a:lnTo>
                  <a:pt x="1933" y="698"/>
                </a:lnTo>
                <a:lnTo>
                  <a:pt x="1936" y="707"/>
                </a:lnTo>
                <a:lnTo>
                  <a:pt x="1938" y="716"/>
                </a:lnTo>
                <a:lnTo>
                  <a:pt x="1938" y="726"/>
                </a:lnTo>
                <a:lnTo>
                  <a:pt x="1936" y="735"/>
                </a:lnTo>
                <a:lnTo>
                  <a:pt x="1933" y="744"/>
                </a:lnTo>
                <a:lnTo>
                  <a:pt x="1930" y="751"/>
                </a:lnTo>
                <a:lnTo>
                  <a:pt x="1923" y="759"/>
                </a:lnTo>
                <a:lnTo>
                  <a:pt x="1918" y="768"/>
                </a:lnTo>
                <a:lnTo>
                  <a:pt x="1910" y="775"/>
                </a:lnTo>
                <a:lnTo>
                  <a:pt x="1901" y="781"/>
                </a:lnTo>
                <a:lnTo>
                  <a:pt x="1891" y="788"/>
                </a:lnTo>
                <a:lnTo>
                  <a:pt x="1881" y="794"/>
                </a:lnTo>
                <a:lnTo>
                  <a:pt x="1869" y="797"/>
                </a:lnTo>
                <a:lnTo>
                  <a:pt x="1858" y="803"/>
                </a:lnTo>
                <a:lnTo>
                  <a:pt x="1846" y="805"/>
                </a:lnTo>
                <a:lnTo>
                  <a:pt x="1831" y="808"/>
                </a:lnTo>
                <a:lnTo>
                  <a:pt x="1819" y="810"/>
                </a:lnTo>
                <a:lnTo>
                  <a:pt x="1807" y="810"/>
                </a:lnTo>
                <a:lnTo>
                  <a:pt x="1796" y="810"/>
                </a:lnTo>
                <a:lnTo>
                  <a:pt x="1784" y="810"/>
                </a:lnTo>
                <a:lnTo>
                  <a:pt x="1772" y="808"/>
                </a:lnTo>
                <a:lnTo>
                  <a:pt x="1760" y="806"/>
                </a:lnTo>
                <a:lnTo>
                  <a:pt x="1749" y="805"/>
                </a:lnTo>
                <a:lnTo>
                  <a:pt x="1737" y="801"/>
                </a:lnTo>
                <a:lnTo>
                  <a:pt x="1742" y="806"/>
                </a:lnTo>
                <a:lnTo>
                  <a:pt x="1744" y="810"/>
                </a:lnTo>
                <a:lnTo>
                  <a:pt x="1745" y="816"/>
                </a:lnTo>
                <a:lnTo>
                  <a:pt x="1745" y="819"/>
                </a:lnTo>
                <a:lnTo>
                  <a:pt x="1744" y="825"/>
                </a:lnTo>
                <a:lnTo>
                  <a:pt x="1742" y="828"/>
                </a:lnTo>
                <a:lnTo>
                  <a:pt x="1740" y="832"/>
                </a:lnTo>
                <a:lnTo>
                  <a:pt x="1737" y="838"/>
                </a:lnTo>
                <a:lnTo>
                  <a:pt x="1732" y="841"/>
                </a:lnTo>
                <a:lnTo>
                  <a:pt x="1727" y="845"/>
                </a:lnTo>
                <a:lnTo>
                  <a:pt x="1720" y="849"/>
                </a:lnTo>
                <a:lnTo>
                  <a:pt x="1713" y="852"/>
                </a:lnTo>
                <a:lnTo>
                  <a:pt x="1705" y="856"/>
                </a:lnTo>
                <a:lnTo>
                  <a:pt x="1697" y="858"/>
                </a:lnTo>
                <a:lnTo>
                  <a:pt x="1687" y="860"/>
                </a:lnTo>
                <a:lnTo>
                  <a:pt x="1676" y="861"/>
                </a:lnTo>
                <a:lnTo>
                  <a:pt x="1663" y="863"/>
                </a:lnTo>
                <a:lnTo>
                  <a:pt x="1648" y="865"/>
                </a:lnTo>
                <a:lnTo>
                  <a:pt x="1633" y="865"/>
                </a:lnTo>
                <a:lnTo>
                  <a:pt x="1619" y="865"/>
                </a:lnTo>
                <a:lnTo>
                  <a:pt x="1604" y="863"/>
                </a:lnTo>
                <a:lnTo>
                  <a:pt x="1591" y="861"/>
                </a:lnTo>
                <a:lnTo>
                  <a:pt x="1579" y="858"/>
                </a:lnTo>
                <a:lnTo>
                  <a:pt x="1568" y="854"/>
                </a:lnTo>
                <a:lnTo>
                  <a:pt x="1568" y="860"/>
                </a:lnTo>
                <a:lnTo>
                  <a:pt x="1568" y="865"/>
                </a:lnTo>
                <a:lnTo>
                  <a:pt x="1568" y="871"/>
                </a:lnTo>
                <a:lnTo>
                  <a:pt x="1566" y="876"/>
                </a:lnTo>
                <a:lnTo>
                  <a:pt x="1564" y="882"/>
                </a:lnTo>
                <a:lnTo>
                  <a:pt x="1561" y="887"/>
                </a:lnTo>
                <a:lnTo>
                  <a:pt x="1557" y="893"/>
                </a:lnTo>
                <a:lnTo>
                  <a:pt x="1552" y="896"/>
                </a:lnTo>
                <a:lnTo>
                  <a:pt x="1547" y="900"/>
                </a:lnTo>
                <a:lnTo>
                  <a:pt x="1542" y="906"/>
                </a:lnTo>
                <a:lnTo>
                  <a:pt x="1536" y="909"/>
                </a:lnTo>
                <a:lnTo>
                  <a:pt x="1529" y="911"/>
                </a:lnTo>
                <a:lnTo>
                  <a:pt x="1522" y="915"/>
                </a:lnTo>
                <a:lnTo>
                  <a:pt x="1516" y="917"/>
                </a:lnTo>
                <a:lnTo>
                  <a:pt x="1507" y="918"/>
                </a:lnTo>
                <a:lnTo>
                  <a:pt x="1499" y="920"/>
                </a:lnTo>
                <a:lnTo>
                  <a:pt x="1490" y="920"/>
                </a:lnTo>
                <a:lnTo>
                  <a:pt x="1482" y="920"/>
                </a:lnTo>
                <a:lnTo>
                  <a:pt x="1467" y="920"/>
                </a:lnTo>
                <a:lnTo>
                  <a:pt x="1454" y="918"/>
                </a:lnTo>
                <a:lnTo>
                  <a:pt x="1440" y="915"/>
                </a:lnTo>
                <a:lnTo>
                  <a:pt x="1427" y="909"/>
                </a:lnTo>
                <a:lnTo>
                  <a:pt x="1422" y="906"/>
                </a:lnTo>
                <a:lnTo>
                  <a:pt x="1417" y="902"/>
                </a:lnTo>
                <a:lnTo>
                  <a:pt x="1412" y="898"/>
                </a:lnTo>
                <a:lnTo>
                  <a:pt x="1408" y="895"/>
                </a:lnTo>
                <a:lnTo>
                  <a:pt x="1405" y="889"/>
                </a:lnTo>
                <a:lnTo>
                  <a:pt x="1402" y="885"/>
                </a:lnTo>
                <a:lnTo>
                  <a:pt x="1403" y="889"/>
                </a:lnTo>
                <a:lnTo>
                  <a:pt x="1405" y="895"/>
                </a:lnTo>
                <a:lnTo>
                  <a:pt x="1405" y="898"/>
                </a:lnTo>
                <a:lnTo>
                  <a:pt x="1403" y="902"/>
                </a:lnTo>
                <a:lnTo>
                  <a:pt x="1403" y="907"/>
                </a:lnTo>
                <a:lnTo>
                  <a:pt x="1400" y="911"/>
                </a:lnTo>
                <a:lnTo>
                  <a:pt x="1397" y="915"/>
                </a:lnTo>
                <a:lnTo>
                  <a:pt x="1393" y="918"/>
                </a:lnTo>
                <a:lnTo>
                  <a:pt x="1388" y="922"/>
                </a:lnTo>
                <a:lnTo>
                  <a:pt x="1383" y="926"/>
                </a:lnTo>
                <a:lnTo>
                  <a:pt x="1378" y="929"/>
                </a:lnTo>
                <a:lnTo>
                  <a:pt x="1371" y="931"/>
                </a:lnTo>
                <a:lnTo>
                  <a:pt x="1365" y="933"/>
                </a:lnTo>
                <a:lnTo>
                  <a:pt x="1356" y="935"/>
                </a:lnTo>
                <a:lnTo>
                  <a:pt x="1348" y="937"/>
                </a:lnTo>
                <a:lnTo>
                  <a:pt x="1340" y="939"/>
                </a:lnTo>
                <a:lnTo>
                  <a:pt x="1331" y="939"/>
                </a:lnTo>
                <a:lnTo>
                  <a:pt x="1323" y="940"/>
                </a:lnTo>
                <a:lnTo>
                  <a:pt x="1304" y="939"/>
                </a:lnTo>
                <a:lnTo>
                  <a:pt x="1289" y="937"/>
                </a:lnTo>
                <a:lnTo>
                  <a:pt x="1272" y="933"/>
                </a:lnTo>
                <a:lnTo>
                  <a:pt x="1266" y="931"/>
                </a:lnTo>
                <a:lnTo>
                  <a:pt x="1259" y="928"/>
                </a:lnTo>
                <a:lnTo>
                  <a:pt x="1252" y="926"/>
                </a:lnTo>
                <a:lnTo>
                  <a:pt x="1247" y="922"/>
                </a:lnTo>
                <a:lnTo>
                  <a:pt x="1241" y="918"/>
                </a:lnTo>
                <a:lnTo>
                  <a:pt x="1237" y="915"/>
                </a:lnTo>
                <a:lnTo>
                  <a:pt x="1232" y="911"/>
                </a:lnTo>
                <a:lnTo>
                  <a:pt x="1229" y="906"/>
                </a:lnTo>
                <a:lnTo>
                  <a:pt x="1229" y="909"/>
                </a:lnTo>
                <a:lnTo>
                  <a:pt x="1226" y="913"/>
                </a:lnTo>
                <a:lnTo>
                  <a:pt x="1224" y="917"/>
                </a:lnTo>
                <a:lnTo>
                  <a:pt x="1221" y="920"/>
                </a:lnTo>
                <a:lnTo>
                  <a:pt x="1215" y="924"/>
                </a:lnTo>
                <a:lnTo>
                  <a:pt x="1210" y="926"/>
                </a:lnTo>
                <a:lnTo>
                  <a:pt x="1205" y="929"/>
                </a:lnTo>
                <a:lnTo>
                  <a:pt x="1199" y="931"/>
                </a:lnTo>
                <a:lnTo>
                  <a:pt x="1192" y="933"/>
                </a:lnTo>
                <a:lnTo>
                  <a:pt x="1185" y="935"/>
                </a:lnTo>
                <a:lnTo>
                  <a:pt x="1170" y="939"/>
                </a:lnTo>
                <a:lnTo>
                  <a:pt x="1155" y="940"/>
                </a:lnTo>
                <a:lnTo>
                  <a:pt x="1137" y="940"/>
                </a:lnTo>
                <a:lnTo>
                  <a:pt x="1123" y="939"/>
                </a:lnTo>
                <a:lnTo>
                  <a:pt x="1112" y="937"/>
                </a:lnTo>
                <a:lnTo>
                  <a:pt x="1100" y="935"/>
                </a:lnTo>
                <a:lnTo>
                  <a:pt x="1090" y="931"/>
                </a:lnTo>
                <a:lnTo>
                  <a:pt x="1081" y="928"/>
                </a:lnTo>
                <a:lnTo>
                  <a:pt x="1073" y="922"/>
                </a:lnTo>
                <a:lnTo>
                  <a:pt x="1070" y="920"/>
                </a:lnTo>
                <a:lnTo>
                  <a:pt x="1066" y="918"/>
                </a:lnTo>
                <a:lnTo>
                  <a:pt x="1065" y="915"/>
                </a:lnTo>
                <a:lnTo>
                  <a:pt x="1063" y="913"/>
                </a:lnTo>
                <a:lnTo>
                  <a:pt x="1058" y="917"/>
                </a:lnTo>
                <a:lnTo>
                  <a:pt x="1053" y="920"/>
                </a:lnTo>
                <a:lnTo>
                  <a:pt x="1046" y="924"/>
                </a:lnTo>
                <a:lnTo>
                  <a:pt x="1038" y="928"/>
                </a:lnTo>
                <a:lnTo>
                  <a:pt x="1031" y="931"/>
                </a:lnTo>
                <a:lnTo>
                  <a:pt x="1023" y="933"/>
                </a:lnTo>
                <a:lnTo>
                  <a:pt x="1013" y="935"/>
                </a:lnTo>
                <a:lnTo>
                  <a:pt x="1004" y="939"/>
                </a:lnTo>
                <a:lnTo>
                  <a:pt x="984" y="940"/>
                </a:lnTo>
                <a:lnTo>
                  <a:pt x="962" y="940"/>
                </a:lnTo>
                <a:lnTo>
                  <a:pt x="952" y="940"/>
                </a:lnTo>
                <a:lnTo>
                  <a:pt x="941" y="940"/>
                </a:lnTo>
                <a:lnTo>
                  <a:pt x="930" y="939"/>
                </a:lnTo>
                <a:lnTo>
                  <a:pt x="920" y="937"/>
                </a:lnTo>
                <a:lnTo>
                  <a:pt x="909" y="935"/>
                </a:lnTo>
                <a:lnTo>
                  <a:pt x="897" y="931"/>
                </a:lnTo>
                <a:lnTo>
                  <a:pt x="887" y="928"/>
                </a:lnTo>
                <a:lnTo>
                  <a:pt x="879" y="924"/>
                </a:lnTo>
                <a:lnTo>
                  <a:pt x="870" y="918"/>
                </a:lnTo>
                <a:lnTo>
                  <a:pt x="863" y="915"/>
                </a:lnTo>
                <a:lnTo>
                  <a:pt x="858" y="909"/>
                </a:lnTo>
                <a:lnTo>
                  <a:pt x="855" y="904"/>
                </a:lnTo>
                <a:lnTo>
                  <a:pt x="848" y="906"/>
                </a:lnTo>
                <a:lnTo>
                  <a:pt x="842" y="909"/>
                </a:lnTo>
                <a:lnTo>
                  <a:pt x="833" y="911"/>
                </a:lnTo>
                <a:lnTo>
                  <a:pt x="827" y="911"/>
                </a:lnTo>
                <a:lnTo>
                  <a:pt x="808" y="915"/>
                </a:lnTo>
                <a:lnTo>
                  <a:pt x="790" y="915"/>
                </a:lnTo>
                <a:lnTo>
                  <a:pt x="771" y="913"/>
                </a:lnTo>
                <a:lnTo>
                  <a:pt x="753" y="909"/>
                </a:lnTo>
                <a:lnTo>
                  <a:pt x="734" y="906"/>
                </a:lnTo>
                <a:lnTo>
                  <a:pt x="726" y="904"/>
                </a:lnTo>
                <a:lnTo>
                  <a:pt x="718" y="900"/>
                </a:lnTo>
                <a:lnTo>
                  <a:pt x="709" y="895"/>
                </a:lnTo>
                <a:lnTo>
                  <a:pt x="701" y="891"/>
                </a:lnTo>
                <a:lnTo>
                  <a:pt x="694" y="885"/>
                </a:lnTo>
                <a:lnTo>
                  <a:pt x="687" y="880"/>
                </a:lnTo>
                <a:lnTo>
                  <a:pt x="684" y="874"/>
                </a:lnTo>
                <a:lnTo>
                  <a:pt x="682" y="869"/>
                </a:lnTo>
                <a:lnTo>
                  <a:pt x="681" y="863"/>
                </a:lnTo>
                <a:lnTo>
                  <a:pt x="681" y="860"/>
                </a:lnTo>
                <a:lnTo>
                  <a:pt x="682" y="858"/>
                </a:lnTo>
                <a:lnTo>
                  <a:pt x="681" y="861"/>
                </a:lnTo>
                <a:lnTo>
                  <a:pt x="679" y="863"/>
                </a:lnTo>
                <a:lnTo>
                  <a:pt x="676" y="867"/>
                </a:lnTo>
                <a:lnTo>
                  <a:pt x="672" y="869"/>
                </a:lnTo>
                <a:lnTo>
                  <a:pt x="669" y="871"/>
                </a:lnTo>
                <a:lnTo>
                  <a:pt x="664" y="874"/>
                </a:lnTo>
                <a:lnTo>
                  <a:pt x="659" y="876"/>
                </a:lnTo>
                <a:lnTo>
                  <a:pt x="652" y="878"/>
                </a:lnTo>
                <a:lnTo>
                  <a:pt x="646" y="878"/>
                </a:lnTo>
                <a:lnTo>
                  <a:pt x="639" y="880"/>
                </a:lnTo>
                <a:lnTo>
                  <a:pt x="624" y="882"/>
                </a:lnTo>
                <a:lnTo>
                  <a:pt x="607" y="882"/>
                </a:lnTo>
                <a:lnTo>
                  <a:pt x="590" y="880"/>
                </a:lnTo>
                <a:lnTo>
                  <a:pt x="573" y="878"/>
                </a:lnTo>
                <a:lnTo>
                  <a:pt x="565" y="876"/>
                </a:lnTo>
                <a:lnTo>
                  <a:pt x="558" y="874"/>
                </a:lnTo>
                <a:lnTo>
                  <a:pt x="550" y="873"/>
                </a:lnTo>
                <a:lnTo>
                  <a:pt x="543" y="871"/>
                </a:lnTo>
                <a:lnTo>
                  <a:pt x="538" y="867"/>
                </a:lnTo>
                <a:lnTo>
                  <a:pt x="532" y="865"/>
                </a:lnTo>
                <a:lnTo>
                  <a:pt x="526" y="861"/>
                </a:lnTo>
                <a:lnTo>
                  <a:pt x="523" y="860"/>
                </a:lnTo>
                <a:lnTo>
                  <a:pt x="520" y="856"/>
                </a:lnTo>
                <a:lnTo>
                  <a:pt x="516" y="852"/>
                </a:lnTo>
                <a:lnTo>
                  <a:pt x="513" y="849"/>
                </a:lnTo>
                <a:lnTo>
                  <a:pt x="513" y="847"/>
                </a:lnTo>
                <a:lnTo>
                  <a:pt x="511" y="843"/>
                </a:lnTo>
                <a:lnTo>
                  <a:pt x="511" y="839"/>
                </a:lnTo>
                <a:lnTo>
                  <a:pt x="513" y="838"/>
                </a:lnTo>
                <a:lnTo>
                  <a:pt x="513" y="836"/>
                </a:lnTo>
                <a:lnTo>
                  <a:pt x="516" y="830"/>
                </a:lnTo>
                <a:lnTo>
                  <a:pt x="521" y="827"/>
                </a:lnTo>
                <a:lnTo>
                  <a:pt x="528" y="825"/>
                </a:lnTo>
                <a:lnTo>
                  <a:pt x="520" y="827"/>
                </a:lnTo>
                <a:lnTo>
                  <a:pt x="510" y="828"/>
                </a:lnTo>
                <a:lnTo>
                  <a:pt x="500" y="830"/>
                </a:lnTo>
                <a:lnTo>
                  <a:pt x="490" y="830"/>
                </a:lnTo>
                <a:lnTo>
                  <a:pt x="480" y="830"/>
                </a:lnTo>
                <a:lnTo>
                  <a:pt x="469" y="830"/>
                </a:lnTo>
                <a:lnTo>
                  <a:pt x="461" y="828"/>
                </a:lnTo>
                <a:lnTo>
                  <a:pt x="451" y="827"/>
                </a:lnTo>
                <a:lnTo>
                  <a:pt x="443" y="825"/>
                </a:lnTo>
                <a:lnTo>
                  <a:pt x="433" y="821"/>
                </a:lnTo>
                <a:lnTo>
                  <a:pt x="424" y="819"/>
                </a:lnTo>
                <a:lnTo>
                  <a:pt x="418" y="814"/>
                </a:lnTo>
                <a:lnTo>
                  <a:pt x="409" y="810"/>
                </a:lnTo>
                <a:lnTo>
                  <a:pt x="404" y="805"/>
                </a:lnTo>
                <a:lnTo>
                  <a:pt x="397" y="799"/>
                </a:lnTo>
                <a:lnTo>
                  <a:pt x="392" y="794"/>
                </a:lnTo>
                <a:lnTo>
                  <a:pt x="389" y="788"/>
                </a:lnTo>
                <a:lnTo>
                  <a:pt x="386" y="783"/>
                </a:lnTo>
                <a:lnTo>
                  <a:pt x="384" y="777"/>
                </a:lnTo>
                <a:lnTo>
                  <a:pt x="382" y="772"/>
                </a:lnTo>
                <a:lnTo>
                  <a:pt x="382" y="764"/>
                </a:lnTo>
                <a:lnTo>
                  <a:pt x="382" y="759"/>
                </a:lnTo>
                <a:lnTo>
                  <a:pt x="384" y="753"/>
                </a:lnTo>
                <a:lnTo>
                  <a:pt x="386" y="748"/>
                </a:lnTo>
                <a:lnTo>
                  <a:pt x="376" y="751"/>
                </a:lnTo>
                <a:lnTo>
                  <a:pt x="366" y="755"/>
                </a:lnTo>
                <a:lnTo>
                  <a:pt x="355" y="759"/>
                </a:lnTo>
                <a:lnTo>
                  <a:pt x="345" y="761"/>
                </a:lnTo>
                <a:lnTo>
                  <a:pt x="334" y="764"/>
                </a:lnTo>
                <a:lnTo>
                  <a:pt x="324" y="764"/>
                </a:lnTo>
                <a:lnTo>
                  <a:pt x="312" y="766"/>
                </a:lnTo>
                <a:lnTo>
                  <a:pt x="300" y="766"/>
                </a:lnTo>
                <a:lnTo>
                  <a:pt x="290" y="766"/>
                </a:lnTo>
                <a:lnTo>
                  <a:pt x="278" y="764"/>
                </a:lnTo>
                <a:lnTo>
                  <a:pt x="267" y="764"/>
                </a:lnTo>
                <a:lnTo>
                  <a:pt x="257" y="761"/>
                </a:lnTo>
                <a:lnTo>
                  <a:pt x="247" y="759"/>
                </a:lnTo>
                <a:lnTo>
                  <a:pt x="235" y="755"/>
                </a:lnTo>
                <a:lnTo>
                  <a:pt x="226" y="751"/>
                </a:lnTo>
                <a:lnTo>
                  <a:pt x="216" y="748"/>
                </a:lnTo>
                <a:lnTo>
                  <a:pt x="203" y="742"/>
                </a:lnTo>
                <a:lnTo>
                  <a:pt x="190" y="737"/>
                </a:lnTo>
                <a:lnTo>
                  <a:pt x="178" y="731"/>
                </a:lnTo>
                <a:lnTo>
                  <a:pt x="168" y="724"/>
                </a:lnTo>
                <a:lnTo>
                  <a:pt x="158" y="718"/>
                </a:lnTo>
                <a:lnTo>
                  <a:pt x="149" y="711"/>
                </a:lnTo>
                <a:lnTo>
                  <a:pt x="143" y="704"/>
                </a:lnTo>
                <a:lnTo>
                  <a:pt x="136" y="698"/>
                </a:lnTo>
                <a:lnTo>
                  <a:pt x="129" y="691"/>
                </a:lnTo>
                <a:lnTo>
                  <a:pt x="126" y="683"/>
                </a:lnTo>
                <a:lnTo>
                  <a:pt x="122" y="676"/>
                </a:lnTo>
                <a:lnTo>
                  <a:pt x="119" y="669"/>
                </a:lnTo>
                <a:lnTo>
                  <a:pt x="119" y="661"/>
                </a:lnTo>
                <a:lnTo>
                  <a:pt x="119" y="654"/>
                </a:lnTo>
                <a:lnTo>
                  <a:pt x="119" y="647"/>
                </a:lnTo>
                <a:lnTo>
                  <a:pt x="122" y="639"/>
                </a:lnTo>
                <a:lnTo>
                  <a:pt x="112" y="641"/>
                </a:lnTo>
                <a:lnTo>
                  <a:pt x="102" y="641"/>
                </a:lnTo>
                <a:lnTo>
                  <a:pt x="94" y="641"/>
                </a:lnTo>
                <a:lnTo>
                  <a:pt x="84" y="641"/>
                </a:lnTo>
                <a:lnTo>
                  <a:pt x="76" y="639"/>
                </a:lnTo>
                <a:lnTo>
                  <a:pt x="65" y="637"/>
                </a:lnTo>
                <a:lnTo>
                  <a:pt x="57" y="636"/>
                </a:lnTo>
                <a:lnTo>
                  <a:pt x="49" y="634"/>
                </a:lnTo>
                <a:lnTo>
                  <a:pt x="42" y="630"/>
                </a:lnTo>
                <a:lnTo>
                  <a:pt x="34" y="626"/>
                </a:lnTo>
                <a:lnTo>
                  <a:pt x="27" y="623"/>
                </a:lnTo>
                <a:lnTo>
                  <a:pt x="22" y="617"/>
                </a:lnTo>
                <a:lnTo>
                  <a:pt x="15" y="612"/>
                </a:lnTo>
                <a:lnTo>
                  <a:pt x="12" y="608"/>
                </a:lnTo>
                <a:lnTo>
                  <a:pt x="7" y="601"/>
                </a:lnTo>
                <a:lnTo>
                  <a:pt x="3" y="595"/>
                </a:lnTo>
                <a:lnTo>
                  <a:pt x="2" y="592"/>
                </a:lnTo>
                <a:lnTo>
                  <a:pt x="2" y="586"/>
                </a:lnTo>
                <a:lnTo>
                  <a:pt x="0" y="582"/>
                </a:lnTo>
                <a:lnTo>
                  <a:pt x="0" y="577"/>
                </a:lnTo>
                <a:lnTo>
                  <a:pt x="0" y="573"/>
                </a:lnTo>
                <a:lnTo>
                  <a:pt x="2" y="570"/>
                </a:lnTo>
                <a:lnTo>
                  <a:pt x="3" y="564"/>
                </a:lnTo>
                <a:lnTo>
                  <a:pt x="5" y="560"/>
                </a:lnTo>
                <a:lnTo>
                  <a:pt x="7" y="557"/>
                </a:lnTo>
                <a:lnTo>
                  <a:pt x="10" y="551"/>
                </a:lnTo>
                <a:lnTo>
                  <a:pt x="12" y="548"/>
                </a:lnTo>
                <a:lnTo>
                  <a:pt x="17" y="544"/>
                </a:lnTo>
                <a:lnTo>
                  <a:pt x="20" y="540"/>
                </a:lnTo>
                <a:lnTo>
                  <a:pt x="25" y="537"/>
                </a:lnTo>
                <a:lnTo>
                  <a:pt x="35" y="531"/>
                </a:lnTo>
                <a:lnTo>
                  <a:pt x="29" y="527"/>
                </a:lnTo>
                <a:lnTo>
                  <a:pt x="24" y="524"/>
                </a:lnTo>
                <a:lnTo>
                  <a:pt x="20" y="518"/>
                </a:lnTo>
                <a:lnTo>
                  <a:pt x="17" y="514"/>
                </a:lnTo>
                <a:lnTo>
                  <a:pt x="13" y="511"/>
                </a:lnTo>
                <a:lnTo>
                  <a:pt x="12" y="507"/>
                </a:lnTo>
                <a:lnTo>
                  <a:pt x="12" y="503"/>
                </a:lnTo>
                <a:lnTo>
                  <a:pt x="12" y="498"/>
                </a:lnTo>
                <a:lnTo>
                  <a:pt x="13" y="494"/>
                </a:lnTo>
                <a:lnTo>
                  <a:pt x="15" y="491"/>
                </a:lnTo>
                <a:lnTo>
                  <a:pt x="19" y="487"/>
                </a:lnTo>
                <a:lnTo>
                  <a:pt x="22" y="485"/>
                </a:lnTo>
                <a:lnTo>
                  <a:pt x="27" y="481"/>
                </a:lnTo>
                <a:lnTo>
                  <a:pt x="32" y="478"/>
                </a:lnTo>
                <a:lnTo>
                  <a:pt x="37" y="476"/>
                </a:lnTo>
                <a:lnTo>
                  <a:pt x="45" y="472"/>
                </a:lnTo>
                <a:lnTo>
                  <a:pt x="47" y="472"/>
                </a:lnTo>
              </a:path>
            </a:pathLst>
          </a:custGeom>
          <a:solidFill>
            <a:schemeClr val="accent2"/>
          </a:solidFill>
          <a:ln w="19050">
            <a:solidFill>
              <a:srgbClr val="000000"/>
            </a:solidFill>
            <a:round/>
          </a:ln>
        </p:spPr>
        <p:txBody>
          <a:bodyPr/>
          <a:lstStyle/>
          <a:p>
            <a:endParaRPr lang="zh-CN" altLang="en-US"/>
          </a:p>
        </p:txBody>
      </p:sp>
      <p:sp>
        <p:nvSpPr>
          <p:cNvPr id="25619" name="Rectangle 21"/>
          <p:cNvSpPr>
            <a:spLocks noChangeArrowheads="1"/>
          </p:cNvSpPr>
          <p:nvPr/>
        </p:nvSpPr>
        <p:spPr bwMode="auto">
          <a:xfrm>
            <a:off x="1720850" y="5968653"/>
            <a:ext cx="131445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FontTx/>
              <a:buNone/>
            </a:pPr>
            <a:r>
              <a:rPr kumimoji="1" lang="en-US" altLang="zh-CN" sz="1300">
                <a:solidFill>
                  <a:srgbClr val="000000"/>
                </a:solidFill>
                <a:latin typeface="Tahoma" panose="020B0604030504040204" pitchFamily="34" charset="0"/>
                <a:ea typeface="隶书" panose="02010509060101010101" pitchFamily="49" charset="-122"/>
              </a:rPr>
              <a:t>TASK_STOPPED</a:t>
            </a:r>
            <a:endParaRPr kumimoji="1" lang="en-US" altLang="zh-CN" sz="2400">
              <a:solidFill>
                <a:schemeClr val="tx1"/>
              </a:solidFill>
              <a:latin typeface="Times New Roman" panose="02020603050405020304" pitchFamily="18" charset="0"/>
              <a:ea typeface="隶书" panose="02010509060101010101" pitchFamily="49" charset="-122"/>
            </a:endParaRPr>
          </a:p>
        </p:txBody>
      </p:sp>
      <p:sp>
        <p:nvSpPr>
          <p:cNvPr id="25620" name="Rectangle 22"/>
          <p:cNvSpPr>
            <a:spLocks noChangeArrowheads="1"/>
          </p:cNvSpPr>
          <p:nvPr/>
        </p:nvSpPr>
        <p:spPr bwMode="auto">
          <a:xfrm>
            <a:off x="2211388" y="6189315"/>
            <a:ext cx="3302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FontTx/>
              <a:buNone/>
            </a:pPr>
            <a:r>
              <a:rPr kumimoji="1" lang="zh-CN" altLang="en-US" sz="1300">
                <a:solidFill>
                  <a:srgbClr val="000000"/>
                </a:solidFill>
                <a:latin typeface="宋体" panose="02010600030101010101" pitchFamily="2" charset="-122"/>
              </a:rPr>
              <a:t>暂停</a:t>
            </a:r>
            <a:endParaRPr kumimoji="1" lang="zh-CN" altLang="en-US" sz="2400">
              <a:solidFill>
                <a:schemeClr val="tx1"/>
              </a:solidFill>
              <a:latin typeface="Times New Roman" panose="02020603050405020304" pitchFamily="18" charset="0"/>
              <a:ea typeface="隶书" panose="02010509060101010101" pitchFamily="49" charset="-122"/>
            </a:endParaRPr>
          </a:p>
        </p:txBody>
      </p:sp>
      <p:sp>
        <p:nvSpPr>
          <p:cNvPr id="25621" name="Freeform 23"/>
          <p:cNvSpPr/>
          <p:nvPr/>
        </p:nvSpPr>
        <p:spPr bwMode="auto">
          <a:xfrm>
            <a:off x="6303963" y="5879753"/>
            <a:ext cx="1438275" cy="630237"/>
          </a:xfrm>
          <a:custGeom>
            <a:avLst/>
            <a:gdLst>
              <a:gd name="T0" fmla="*/ 2147483646 w 1810"/>
              <a:gd name="T1" fmla="*/ 2147483646 h 795"/>
              <a:gd name="T2" fmla="*/ 2147483646 w 1810"/>
              <a:gd name="T3" fmla="*/ 2147483646 h 795"/>
              <a:gd name="T4" fmla="*/ 2147483646 w 1810"/>
              <a:gd name="T5" fmla="*/ 2147483646 h 795"/>
              <a:gd name="T6" fmla="*/ 2147483646 w 1810"/>
              <a:gd name="T7" fmla="*/ 2147483646 h 795"/>
              <a:gd name="T8" fmla="*/ 2147483646 w 1810"/>
              <a:gd name="T9" fmla="*/ 2147483646 h 795"/>
              <a:gd name="T10" fmla="*/ 2147483646 w 1810"/>
              <a:gd name="T11" fmla="*/ 2147483646 h 795"/>
              <a:gd name="T12" fmla="*/ 2147483646 w 1810"/>
              <a:gd name="T13" fmla="*/ 2147483646 h 795"/>
              <a:gd name="T14" fmla="*/ 2147483646 w 1810"/>
              <a:gd name="T15" fmla="*/ 2147483646 h 795"/>
              <a:gd name="T16" fmla="*/ 2147483646 w 1810"/>
              <a:gd name="T17" fmla="*/ 2147483646 h 795"/>
              <a:gd name="T18" fmla="*/ 2147483646 w 1810"/>
              <a:gd name="T19" fmla="*/ 2147483646 h 795"/>
              <a:gd name="T20" fmla="*/ 2147483646 w 1810"/>
              <a:gd name="T21" fmla="*/ 2147483646 h 795"/>
              <a:gd name="T22" fmla="*/ 2147483646 w 1810"/>
              <a:gd name="T23" fmla="*/ 2147483646 h 795"/>
              <a:gd name="T24" fmla="*/ 2147483646 w 1810"/>
              <a:gd name="T25" fmla="*/ 2147483646 h 795"/>
              <a:gd name="T26" fmla="*/ 2147483646 w 1810"/>
              <a:gd name="T27" fmla="*/ 2147483646 h 795"/>
              <a:gd name="T28" fmla="*/ 2147483646 w 1810"/>
              <a:gd name="T29" fmla="*/ 2147483646 h 795"/>
              <a:gd name="T30" fmla="*/ 2147483646 w 1810"/>
              <a:gd name="T31" fmla="*/ 2147483646 h 795"/>
              <a:gd name="T32" fmla="*/ 2147483646 w 1810"/>
              <a:gd name="T33" fmla="*/ 2147483646 h 795"/>
              <a:gd name="T34" fmla="*/ 2147483646 w 1810"/>
              <a:gd name="T35" fmla="*/ 2147483646 h 795"/>
              <a:gd name="T36" fmla="*/ 2147483646 w 1810"/>
              <a:gd name="T37" fmla="*/ 2147483646 h 795"/>
              <a:gd name="T38" fmla="*/ 2147483646 w 1810"/>
              <a:gd name="T39" fmla="*/ 2147483646 h 795"/>
              <a:gd name="T40" fmla="*/ 2147483646 w 1810"/>
              <a:gd name="T41" fmla="*/ 2147483646 h 795"/>
              <a:gd name="T42" fmla="*/ 2147483646 w 1810"/>
              <a:gd name="T43" fmla="*/ 2147483646 h 795"/>
              <a:gd name="T44" fmla="*/ 2147483646 w 1810"/>
              <a:gd name="T45" fmla="*/ 2147483646 h 795"/>
              <a:gd name="T46" fmla="*/ 2147483646 w 1810"/>
              <a:gd name="T47" fmla="*/ 2147483646 h 795"/>
              <a:gd name="T48" fmla="*/ 2147483646 w 1810"/>
              <a:gd name="T49" fmla="*/ 2147483646 h 795"/>
              <a:gd name="T50" fmla="*/ 2147483646 w 1810"/>
              <a:gd name="T51" fmla="*/ 2147483646 h 795"/>
              <a:gd name="T52" fmla="*/ 2147483646 w 1810"/>
              <a:gd name="T53" fmla="*/ 2147483646 h 795"/>
              <a:gd name="T54" fmla="*/ 2147483646 w 1810"/>
              <a:gd name="T55" fmla="*/ 2147483646 h 795"/>
              <a:gd name="T56" fmla="*/ 2147483646 w 1810"/>
              <a:gd name="T57" fmla="*/ 2147483646 h 795"/>
              <a:gd name="T58" fmla="*/ 2147483646 w 1810"/>
              <a:gd name="T59" fmla="*/ 2147483646 h 795"/>
              <a:gd name="T60" fmla="*/ 2147483646 w 1810"/>
              <a:gd name="T61" fmla="*/ 2147483646 h 795"/>
              <a:gd name="T62" fmla="*/ 2147483646 w 1810"/>
              <a:gd name="T63" fmla="*/ 2147483646 h 795"/>
              <a:gd name="T64" fmla="*/ 2147483646 w 1810"/>
              <a:gd name="T65" fmla="*/ 2147483646 h 795"/>
              <a:gd name="T66" fmla="*/ 2147483646 w 1810"/>
              <a:gd name="T67" fmla="*/ 2147483646 h 795"/>
              <a:gd name="T68" fmla="*/ 2147483646 w 1810"/>
              <a:gd name="T69" fmla="*/ 2147483646 h 795"/>
              <a:gd name="T70" fmla="*/ 2147483646 w 1810"/>
              <a:gd name="T71" fmla="*/ 2147483646 h 795"/>
              <a:gd name="T72" fmla="*/ 2147483646 w 1810"/>
              <a:gd name="T73" fmla="*/ 2147483646 h 795"/>
              <a:gd name="T74" fmla="*/ 2147483646 w 1810"/>
              <a:gd name="T75" fmla="*/ 2147483646 h 795"/>
              <a:gd name="T76" fmla="*/ 2147483646 w 1810"/>
              <a:gd name="T77" fmla="*/ 2147483646 h 795"/>
              <a:gd name="T78" fmla="*/ 2147483646 w 1810"/>
              <a:gd name="T79" fmla="*/ 2147483646 h 795"/>
              <a:gd name="T80" fmla="*/ 2147483646 w 1810"/>
              <a:gd name="T81" fmla="*/ 2147483646 h 795"/>
              <a:gd name="T82" fmla="*/ 2147483646 w 1810"/>
              <a:gd name="T83" fmla="*/ 2147483646 h 795"/>
              <a:gd name="T84" fmla="*/ 2147483646 w 1810"/>
              <a:gd name="T85" fmla="*/ 2147483646 h 795"/>
              <a:gd name="T86" fmla="*/ 2147483646 w 1810"/>
              <a:gd name="T87" fmla="*/ 2147483646 h 795"/>
              <a:gd name="T88" fmla="*/ 2147483646 w 1810"/>
              <a:gd name="T89" fmla="*/ 2147483646 h 795"/>
              <a:gd name="T90" fmla="*/ 2147483646 w 1810"/>
              <a:gd name="T91" fmla="*/ 2147483646 h 795"/>
              <a:gd name="T92" fmla="*/ 2147483646 w 1810"/>
              <a:gd name="T93" fmla="*/ 2147483646 h 795"/>
              <a:gd name="T94" fmla="*/ 2147483646 w 1810"/>
              <a:gd name="T95" fmla="*/ 2147483646 h 795"/>
              <a:gd name="T96" fmla="*/ 2147483646 w 1810"/>
              <a:gd name="T97" fmla="*/ 2147483646 h 795"/>
              <a:gd name="T98" fmla="*/ 2147483646 w 1810"/>
              <a:gd name="T99" fmla="*/ 2147483646 h 795"/>
              <a:gd name="T100" fmla="*/ 2147483646 w 1810"/>
              <a:gd name="T101" fmla="*/ 2147483646 h 795"/>
              <a:gd name="T102" fmla="*/ 2147483646 w 1810"/>
              <a:gd name="T103" fmla="*/ 2147483646 h 795"/>
              <a:gd name="T104" fmla="*/ 2147483646 w 1810"/>
              <a:gd name="T105" fmla="*/ 2147483646 h 795"/>
              <a:gd name="T106" fmla="*/ 2147483646 w 1810"/>
              <a:gd name="T107" fmla="*/ 2147483646 h 795"/>
              <a:gd name="T108" fmla="*/ 2147483646 w 1810"/>
              <a:gd name="T109" fmla="*/ 2147483646 h 795"/>
              <a:gd name="T110" fmla="*/ 2147483646 w 1810"/>
              <a:gd name="T111" fmla="*/ 2147483646 h 795"/>
              <a:gd name="T112" fmla="*/ 2147483646 w 1810"/>
              <a:gd name="T113" fmla="*/ 2147483646 h 795"/>
              <a:gd name="T114" fmla="*/ 2147483646 w 1810"/>
              <a:gd name="T115" fmla="*/ 2147483646 h 795"/>
              <a:gd name="T116" fmla="*/ 2147483646 w 1810"/>
              <a:gd name="T117" fmla="*/ 2147483646 h 795"/>
              <a:gd name="T118" fmla="*/ 2147483646 w 1810"/>
              <a:gd name="T119" fmla="*/ 2147483646 h 795"/>
              <a:gd name="T120" fmla="*/ 2147483646 w 1810"/>
              <a:gd name="T121" fmla="*/ 2147483646 h 795"/>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810"/>
              <a:gd name="T184" fmla="*/ 0 h 795"/>
              <a:gd name="T185" fmla="*/ 1810 w 1810"/>
              <a:gd name="T186" fmla="*/ 795 h 795"/>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810" h="795">
                <a:moveTo>
                  <a:pt x="40" y="398"/>
                </a:moveTo>
                <a:lnTo>
                  <a:pt x="33" y="394"/>
                </a:lnTo>
                <a:lnTo>
                  <a:pt x="27" y="392"/>
                </a:lnTo>
                <a:lnTo>
                  <a:pt x="21" y="389"/>
                </a:lnTo>
                <a:lnTo>
                  <a:pt x="18" y="385"/>
                </a:lnTo>
                <a:lnTo>
                  <a:pt x="13" y="381"/>
                </a:lnTo>
                <a:lnTo>
                  <a:pt x="10" y="376"/>
                </a:lnTo>
                <a:lnTo>
                  <a:pt x="8" y="372"/>
                </a:lnTo>
                <a:lnTo>
                  <a:pt x="5" y="369"/>
                </a:lnTo>
                <a:lnTo>
                  <a:pt x="5" y="363"/>
                </a:lnTo>
                <a:lnTo>
                  <a:pt x="3" y="358"/>
                </a:lnTo>
                <a:lnTo>
                  <a:pt x="3" y="354"/>
                </a:lnTo>
                <a:lnTo>
                  <a:pt x="5" y="348"/>
                </a:lnTo>
                <a:lnTo>
                  <a:pt x="5" y="345"/>
                </a:lnTo>
                <a:lnTo>
                  <a:pt x="8" y="339"/>
                </a:lnTo>
                <a:lnTo>
                  <a:pt x="10" y="336"/>
                </a:lnTo>
                <a:lnTo>
                  <a:pt x="15" y="330"/>
                </a:lnTo>
                <a:lnTo>
                  <a:pt x="18" y="326"/>
                </a:lnTo>
                <a:lnTo>
                  <a:pt x="23" y="323"/>
                </a:lnTo>
                <a:lnTo>
                  <a:pt x="30" y="319"/>
                </a:lnTo>
                <a:lnTo>
                  <a:pt x="35" y="315"/>
                </a:lnTo>
                <a:lnTo>
                  <a:pt x="42" y="313"/>
                </a:lnTo>
                <a:lnTo>
                  <a:pt x="50" y="312"/>
                </a:lnTo>
                <a:lnTo>
                  <a:pt x="57" y="310"/>
                </a:lnTo>
                <a:lnTo>
                  <a:pt x="65" y="308"/>
                </a:lnTo>
                <a:lnTo>
                  <a:pt x="60" y="302"/>
                </a:lnTo>
                <a:lnTo>
                  <a:pt x="55" y="295"/>
                </a:lnTo>
                <a:lnTo>
                  <a:pt x="53" y="290"/>
                </a:lnTo>
                <a:lnTo>
                  <a:pt x="52" y="282"/>
                </a:lnTo>
                <a:lnTo>
                  <a:pt x="50" y="277"/>
                </a:lnTo>
                <a:lnTo>
                  <a:pt x="50" y="269"/>
                </a:lnTo>
                <a:lnTo>
                  <a:pt x="50" y="264"/>
                </a:lnTo>
                <a:lnTo>
                  <a:pt x="53" y="257"/>
                </a:lnTo>
                <a:lnTo>
                  <a:pt x="55" y="251"/>
                </a:lnTo>
                <a:lnTo>
                  <a:pt x="58" y="246"/>
                </a:lnTo>
                <a:lnTo>
                  <a:pt x="63" y="240"/>
                </a:lnTo>
                <a:lnTo>
                  <a:pt x="68" y="235"/>
                </a:lnTo>
                <a:lnTo>
                  <a:pt x="75" y="229"/>
                </a:lnTo>
                <a:lnTo>
                  <a:pt x="82" y="224"/>
                </a:lnTo>
                <a:lnTo>
                  <a:pt x="90" y="220"/>
                </a:lnTo>
                <a:lnTo>
                  <a:pt x="99" y="216"/>
                </a:lnTo>
                <a:lnTo>
                  <a:pt x="114" y="211"/>
                </a:lnTo>
                <a:lnTo>
                  <a:pt x="129" y="209"/>
                </a:lnTo>
                <a:lnTo>
                  <a:pt x="146" y="207"/>
                </a:lnTo>
                <a:lnTo>
                  <a:pt x="162" y="207"/>
                </a:lnTo>
                <a:lnTo>
                  <a:pt x="159" y="200"/>
                </a:lnTo>
                <a:lnTo>
                  <a:pt x="159" y="192"/>
                </a:lnTo>
                <a:lnTo>
                  <a:pt x="159" y="183"/>
                </a:lnTo>
                <a:lnTo>
                  <a:pt x="159" y="176"/>
                </a:lnTo>
                <a:lnTo>
                  <a:pt x="162" y="168"/>
                </a:lnTo>
                <a:lnTo>
                  <a:pt x="166" y="163"/>
                </a:lnTo>
                <a:lnTo>
                  <a:pt x="171" y="156"/>
                </a:lnTo>
                <a:lnTo>
                  <a:pt x="176" y="148"/>
                </a:lnTo>
                <a:lnTo>
                  <a:pt x="182" y="143"/>
                </a:lnTo>
                <a:lnTo>
                  <a:pt x="189" y="137"/>
                </a:lnTo>
                <a:lnTo>
                  <a:pt x="198" y="132"/>
                </a:lnTo>
                <a:lnTo>
                  <a:pt x="206" y="128"/>
                </a:lnTo>
                <a:lnTo>
                  <a:pt x="216" y="123"/>
                </a:lnTo>
                <a:lnTo>
                  <a:pt x="226" y="121"/>
                </a:lnTo>
                <a:lnTo>
                  <a:pt x="236" y="117"/>
                </a:lnTo>
                <a:lnTo>
                  <a:pt x="248" y="115"/>
                </a:lnTo>
                <a:lnTo>
                  <a:pt x="258" y="113"/>
                </a:lnTo>
                <a:lnTo>
                  <a:pt x="268" y="113"/>
                </a:lnTo>
                <a:lnTo>
                  <a:pt x="278" y="113"/>
                </a:lnTo>
                <a:lnTo>
                  <a:pt x="288" y="113"/>
                </a:lnTo>
                <a:lnTo>
                  <a:pt x="298" y="113"/>
                </a:lnTo>
                <a:lnTo>
                  <a:pt x="308" y="115"/>
                </a:lnTo>
                <a:lnTo>
                  <a:pt x="318" y="117"/>
                </a:lnTo>
                <a:lnTo>
                  <a:pt x="327" y="121"/>
                </a:lnTo>
                <a:lnTo>
                  <a:pt x="325" y="115"/>
                </a:lnTo>
                <a:lnTo>
                  <a:pt x="322" y="110"/>
                </a:lnTo>
                <a:lnTo>
                  <a:pt x="320" y="106"/>
                </a:lnTo>
                <a:lnTo>
                  <a:pt x="320" y="101"/>
                </a:lnTo>
                <a:lnTo>
                  <a:pt x="320" y="95"/>
                </a:lnTo>
                <a:lnTo>
                  <a:pt x="322" y="89"/>
                </a:lnTo>
                <a:lnTo>
                  <a:pt x="323" y="86"/>
                </a:lnTo>
                <a:lnTo>
                  <a:pt x="325" y="80"/>
                </a:lnTo>
                <a:lnTo>
                  <a:pt x="328" y="77"/>
                </a:lnTo>
                <a:lnTo>
                  <a:pt x="332" y="71"/>
                </a:lnTo>
                <a:lnTo>
                  <a:pt x="337" y="67"/>
                </a:lnTo>
                <a:lnTo>
                  <a:pt x="342" y="64"/>
                </a:lnTo>
                <a:lnTo>
                  <a:pt x="347" y="60"/>
                </a:lnTo>
                <a:lnTo>
                  <a:pt x="353" y="56"/>
                </a:lnTo>
                <a:lnTo>
                  <a:pt x="360" y="55"/>
                </a:lnTo>
                <a:lnTo>
                  <a:pt x="369" y="51"/>
                </a:lnTo>
                <a:lnTo>
                  <a:pt x="375" y="49"/>
                </a:lnTo>
                <a:lnTo>
                  <a:pt x="382" y="49"/>
                </a:lnTo>
                <a:lnTo>
                  <a:pt x="390" y="47"/>
                </a:lnTo>
                <a:lnTo>
                  <a:pt x="397" y="47"/>
                </a:lnTo>
                <a:lnTo>
                  <a:pt x="405" y="47"/>
                </a:lnTo>
                <a:lnTo>
                  <a:pt x="412" y="47"/>
                </a:lnTo>
                <a:lnTo>
                  <a:pt x="427" y="51"/>
                </a:lnTo>
                <a:lnTo>
                  <a:pt x="441" y="55"/>
                </a:lnTo>
                <a:lnTo>
                  <a:pt x="447" y="56"/>
                </a:lnTo>
                <a:lnTo>
                  <a:pt x="452" y="60"/>
                </a:lnTo>
                <a:lnTo>
                  <a:pt x="457" y="64"/>
                </a:lnTo>
                <a:lnTo>
                  <a:pt x="462" y="67"/>
                </a:lnTo>
                <a:lnTo>
                  <a:pt x="467" y="71"/>
                </a:lnTo>
                <a:lnTo>
                  <a:pt x="471" y="75"/>
                </a:lnTo>
                <a:lnTo>
                  <a:pt x="472" y="69"/>
                </a:lnTo>
                <a:lnTo>
                  <a:pt x="476" y="64"/>
                </a:lnTo>
                <a:lnTo>
                  <a:pt x="477" y="58"/>
                </a:lnTo>
                <a:lnTo>
                  <a:pt x="483" y="55"/>
                </a:lnTo>
                <a:lnTo>
                  <a:pt x="488" y="49"/>
                </a:lnTo>
                <a:lnTo>
                  <a:pt x="493" y="45"/>
                </a:lnTo>
                <a:lnTo>
                  <a:pt x="498" y="42"/>
                </a:lnTo>
                <a:lnTo>
                  <a:pt x="504" y="38"/>
                </a:lnTo>
                <a:lnTo>
                  <a:pt x="511" y="34"/>
                </a:lnTo>
                <a:lnTo>
                  <a:pt x="518" y="31"/>
                </a:lnTo>
                <a:lnTo>
                  <a:pt x="526" y="29"/>
                </a:lnTo>
                <a:lnTo>
                  <a:pt x="534" y="27"/>
                </a:lnTo>
                <a:lnTo>
                  <a:pt x="543" y="25"/>
                </a:lnTo>
                <a:lnTo>
                  <a:pt x="551" y="25"/>
                </a:lnTo>
                <a:lnTo>
                  <a:pt x="560" y="25"/>
                </a:lnTo>
                <a:lnTo>
                  <a:pt x="570" y="25"/>
                </a:lnTo>
                <a:lnTo>
                  <a:pt x="576" y="27"/>
                </a:lnTo>
                <a:lnTo>
                  <a:pt x="585" y="29"/>
                </a:lnTo>
                <a:lnTo>
                  <a:pt x="600" y="33"/>
                </a:lnTo>
                <a:lnTo>
                  <a:pt x="607" y="34"/>
                </a:lnTo>
                <a:lnTo>
                  <a:pt x="613" y="38"/>
                </a:lnTo>
                <a:lnTo>
                  <a:pt x="620" y="42"/>
                </a:lnTo>
                <a:lnTo>
                  <a:pt x="625" y="45"/>
                </a:lnTo>
                <a:lnTo>
                  <a:pt x="637" y="36"/>
                </a:lnTo>
                <a:lnTo>
                  <a:pt x="650" y="29"/>
                </a:lnTo>
                <a:lnTo>
                  <a:pt x="664" y="23"/>
                </a:lnTo>
                <a:lnTo>
                  <a:pt x="677" y="18"/>
                </a:lnTo>
                <a:lnTo>
                  <a:pt x="692" y="12"/>
                </a:lnTo>
                <a:lnTo>
                  <a:pt x="707" y="9"/>
                </a:lnTo>
                <a:lnTo>
                  <a:pt x="724" y="5"/>
                </a:lnTo>
                <a:lnTo>
                  <a:pt x="741" y="3"/>
                </a:lnTo>
                <a:lnTo>
                  <a:pt x="756" y="3"/>
                </a:lnTo>
                <a:lnTo>
                  <a:pt x="773" y="3"/>
                </a:lnTo>
                <a:lnTo>
                  <a:pt x="789" y="5"/>
                </a:lnTo>
                <a:lnTo>
                  <a:pt x="806" y="7"/>
                </a:lnTo>
                <a:lnTo>
                  <a:pt x="821" y="11"/>
                </a:lnTo>
                <a:lnTo>
                  <a:pt x="836" y="14"/>
                </a:lnTo>
                <a:lnTo>
                  <a:pt x="851" y="20"/>
                </a:lnTo>
                <a:lnTo>
                  <a:pt x="866" y="27"/>
                </a:lnTo>
                <a:lnTo>
                  <a:pt x="868" y="23"/>
                </a:lnTo>
                <a:lnTo>
                  <a:pt x="870" y="20"/>
                </a:lnTo>
                <a:lnTo>
                  <a:pt x="871" y="18"/>
                </a:lnTo>
                <a:lnTo>
                  <a:pt x="875" y="14"/>
                </a:lnTo>
                <a:lnTo>
                  <a:pt x="881" y="11"/>
                </a:lnTo>
                <a:lnTo>
                  <a:pt x="890" y="5"/>
                </a:lnTo>
                <a:lnTo>
                  <a:pt x="898" y="3"/>
                </a:lnTo>
                <a:lnTo>
                  <a:pt x="908" y="1"/>
                </a:lnTo>
                <a:lnTo>
                  <a:pt x="918" y="1"/>
                </a:lnTo>
                <a:lnTo>
                  <a:pt x="928" y="1"/>
                </a:lnTo>
                <a:lnTo>
                  <a:pt x="935" y="3"/>
                </a:lnTo>
                <a:lnTo>
                  <a:pt x="942" y="5"/>
                </a:lnTo>
                <a:lnTo>
                  <a:pt x="949" y="7"/>
                </a:lnTo>
                <a:lnTo>
                  <a:pt x="954" y="11"/>
                </a:lnTo>
                <a:lnTo>
                  <a:pt x="959" y="14"/>
                </a:lnTo>
                <a:lnTo>
                  <a:pt x="962" y="18"/>
                </a:lnTo>
                <a:lnTo>
                  <a:pt x="965" y="23"/>
                </a:lnTo>
                <a:lnTo>
                  <a:pt x="967" y="29"/>
                </a:lnTo>
                <a:lnTo>
                  <a:pt x="969" y="25"/>
                </a:lnTo>
                <a:lnTo>
                  <a:pt x="969" y="22"/>
                </a:lnTo>
                <a:lnTo>
                  <a:pt x="970" y="18"/>
                </a:lnTo>
                <a:lnTo>
                  <a:pt x="974" y="16"/>
                </a:lnTo>
                <a:lnTo>
                  <a:pt x="975" y="12"/>
                </a:lnTo>
                <a:lnTo>
                  <a:pt x="979" y="11"/>
                </a:lnTo>
                <a:lnTo>
                  <a:pt x="985" y="7"/>
                </a:lnTo>
                <a:lnTo>
                  <a:pt x="994" y="3"/>
                </a:lnTo>
                <a:lnTo>
                  <a:pt x="1004" y="1"/>
                </a:lnTo>
                <a:lnTo>
                  <a:pt x="1014" y="0"/>
                </a:lnTo>
                <a:lnTo>
                  <a:pt x="1026" y="1"/>
                </a:lnTo>
                <a:lnTo>
                  <a:pt x="1034" y="1"/>
                </a:lnTo>
                <a:lnTo>
                  <a:pt x="1042" y="3"/>
                </a:lnTo>
                <a:lnTo>
                  <a:pt x="1049" y="7"/>
                </a:lnTo>
                <a:lnTo>
                  <a:pt x="1056" y="11"/>
                </a:lnTo>
                <a:lnTo>
                  <a:pt x="1063" y="12"/>
                </a:lnTo>
                <a:lnTo>
                  <a:pt x="1068" y="18"/>
                </a:lnTo>
                <a:lnTo>
                  <a:pt x="1071" y="22"/>
                </a:lnTo>
                <a:lnTo>
                  <a:pt x="1074" y="27"/>
                </a:lnTo>
                <a:lnTo>
                  <a:pt x="1083" y="23"/>
                </a:lnTo>
                <a:lnTo>
                  <a:pt x="1091" y="22"/>
                </a:lnTo>
                <a:lnTo>
                  <a:pt x="1101" y="22"/>
                </a:lnTo>
                <a:lnTo>
                  <a:pt x="1109" y="20"/>
                </a:lnTo>
                <a:lnTo>
                  <a:pt x="1120" y="22"/>
                </a:lnTo>
                <a:lnTo>
                  <a:pt x="1130" y="22"/>
                </a:lnTo>
                <a:lnTo>
                  <a:pt x="1140" y="25"/>
                </a:lnTo>
                <a:lnTo>
                  <a:pt x="1148" y="27"/>
                </a:lnTo>
                <a:lnTo>
                  <a:pt x="1153" y="29"/>
                </a:lnTo>
                <a:lnTo>
                  <a:pt x="1156" y="31"/>
                </a:lnTo>
                <a:lnTo>
                  <a:pt x="1160" y="34"/>
                </a:lnTo>
                <a:lnTo>
                  <a:pt x="1161" y="36"/>
                </a:lnTo>
                <a:lnTo>
                  <a:pt x="1165" y="38"/>
                </a:lnTo>
                <a:lnTo>
                  <a:pt x="1166" y="40"/>
                </a:lnTo>
                <a:lnTo>
                  <a:pt x="1166" y="44"/>
                </a:lnTo>
                <a:lnTo>
                  <a:pt x="1168" y="45"/>
                </a:lnTo>
                <a:lnTo>
                  <a:pt x="1172" y="42"/>
                </a:lnTo>
                <a:lnTo>
                  <a:pt x="1175" y="38"/>
                </a:lnTo>
                <a:lnTo>
                  <a:pt x="1182" y="34"/>
                </a:lnTo>
                <a:lnTo>
                  <a:pt x="1187" y="33"/>
                </a:lnTo>
                <a:lnTo>
                  <a:pt x="1193" y="31"/>
                </a:lnTo>
                <a:lnTo>
                  <a:pt x="1200" y="27"/>
                </a:lnTo>
                <a:lnTo>
                  <a:pt x="1208" y="25"/>
                </a:lnTo>
                <a:lnTo>
                  <a:pt x="1217" y="25"/>
                </a:lnTo>
                <a:lnTo>
                  <a:pt x="1234" y="23"/>
                </a:lnTo>
                <a:lnTo>
                  <a:pt x="1252" y="23"/>
                </a:lnTo>
                <a:lnTo>
                  <a:pt x="1272" y="25"/>
                </a:lnTo>
                <a:lnTo>
                  <a:pt x="1291" y="29"/>
                </a:lnTo>
                <a:lnTo>
                  <a:pt x="1306" y="33"/>
                </a:lnTo>
                <a:lnTo>
                  <a:pt x="1319" y="36"/>
                </a:lnTo>
                <a:lnTo>
                  <a:pt x="1324" y="40"/>
                </a:lnTo>
                <a:lnTo>
                  <a:pt x="1329" y="42"/>
                </a:lnTo>
                <a:lnTo>
                  <a:pt x="1334" y="45"/>
                </a:lnTo>
                <a:lnTo>
                  <a:pt x="1339" y="49"/>
                </a:lnTo>
                <a:lnTo>
                  <a:pt x="1343" y="51"/>
                </a:lnTo>
                <a:lnTo>
                  <a:pt x="1346" y="55"/>
                </a:lnTo>
                <a:lnTo>
                  <a:pt x="1349" y="58"/>
                </a:lnTo>
                <a:lnTo>
                  <a:pt x="1353" y="62"/>
                </a:lnTo>
                <a:lnTo>
                  <a:pt x="1354" y="66"/>
                </a:lnTo>
                <a:lnTo>
                  <a:pt x="1354" y="69"/>
                </a:lnTo>
                <a:lnTo>
                  <a:pt x="1356" y="73"/>
                </a:lnTo>
                <a:lnTo>
                  <a:pt x="1356" y="77"/>
                </a:lnTo>
                <a:lnTo>
                  <a:pt x="1364" y="71"/>
                </a:lnTo>
                <a:lnTo>
                  <a:pt x="1374" y="67"/>
                </a:lnTo>
                <a:lnTo>
                  <a:pt x="1386" y="66"/>
                </a:lnTo>
                <a:lnTo>
                  <a:pt x="1396" y="64"/>
                </a:lnTo>
                <a:lnTo>
                  <a:pt x="1405" y="64"/>
                </a:lnTo>
                <a:lnTo>
                  <a:pt x="1415" y="64"/>
                </a:lnTo>
                <a:lnTo>
                  <a:pt x="1421" y="66"/>
                </a:lnTo>
                <a:lnTo>
                  <a:pt x="1428" y="69"/>
                </a:lnTo>
                <a:lnTo>
                  <a:pt x="1433" y="71"/>
                </a:lnTo>
                <a:lnTo>
                  <a:pt x="1435" y="77"/>
                </a:lnTo>
                <a:lnTo>
                  <a:pt x="1436" y="80"/>
                </a:lnTo>
                <a:lnTo>
                  <a:pt x="1436" y="84"/>
                </a:lnTo>
                <a:lnTo>
                  <a:pt x="1435" y="89"/>
                </a:lnTo>
                <a:lnTo>
                  <a:pt x="1433" y="95"/>
                </a:lnTo>
                <a:lnTo>
                  <a:pt x="1428" y="101"/>
                </a:lnTo>
                <a:lnTo>
                  <a:pt x="1423" y="104"/>
                </a:lnTo>
                <a:lnTo>
                  <a:pt x="1431" y="101"/>
                </a:lnTo>
                <a:lnTo>
                  <a:pt x="1440" y="97"/>
                </a:lnTo>
                <a:lnTo>
                  <a:pt x="1448" y="95"/>
                </a:lnTo>
                <a:lnTo>
                  <a:pt x="1457" y="91"/>
                </a:lnTo>
                <a:lnTo>
                  <a:pt x="1467" y="89"/>
                </a:lnTo>
                <a:lnTo>
                  <a:pt x="1475" y="89"/>
                </a:lnTo>
                <a:lnTo>
                  <a:pt x="1485" y="89"/>
                </a:lnTo>
                <a:lnTo>
                  <a:pt x="1495" y="89"/>
                </a:lnTo>
                <a:lnTo>
                  <a:pt x="1505" y="89"/>
                </a:lnTo>
                <a:lnTo>
                  <a:pt x="1514" y="91"/>
                </a:lnTo>
                <a:lnTo>
                  <a:pt x="1524" y="93"/>
                </a:lnTo>
                <a:lnTo>
                  <a:pt x="1532" y="95"/>
                </a:lnTo>
                <a:lnTo>
                  <a:pt x="1540" y="99"/>
                </a:lnTo>
                <a:lnTo>
                  <a:pt x="1549" y="102"/>
                </a:lnTo>
                <a:lnTo>
                  <a:pt x="1555" y="106"/>
                </a:lnTo>
                <a:lnTo>
                  <a:pt x="1564" y="112"/>
                </a:lnTo>
                <a:lnTo>
                  <a:pt x="1571" y="117"/>
                </a:lnTo>
                <a:lnTo>
                  <a:pt x="1577" y="126"/>
                </a:lnTo>
                <a:lnTo>
                  <a:pt x="1582" y="134"/>
                </a:lnTo>
                <a:lnTo>
                  <a:pt x="1586" y="141"/>
                </a:lnTo>
                <a:lnTo>
                  <a:pt x="1587" y="145"/>
                </a:lnTo>
                <a:lnTo>
                  <a:pt x="1587" y="150"/>
                </a:lnTo>
                <a:lnTo>
                  <a:pt x="1587" y="154"/>
                </a:lnTo>
                <a:lnTo>
                  <a:pt x="1587" y="157"/>
                </a:lnTo>
                <a:lnTo>
                  <a:pt x="1587" y="163"/>
                </a:lnTo>
                <a:lnTo>
                  <a:pt x="1586" y="167"/>
                </a:lnTo>
                <a:lnTo>
                  <a:pt x="1584" y="170"/>
                </a:lnTo>
                <a:lnTo>
                  <a:pt x="1582" y="176"/>
                </a:lnTo>
                <a:lnTo>
                  <a:pt x="1591" y="178"/>
                </a:lnTo>
                <a:lnTo>
                  <a:pt x="1599" y="179"/>
                </a:lnTo>
                <a:lnTo>
                  <a:pt x="1607" y="183"/>
                </a:lnTo>
                <a:lnTo>
                  <a:pt x="1616" y="187"/>
                </a:lnTo>
                <a:lnTo>
                  <a:pt x="1622" y="190"/>
                </a:lnTo>
                <a:lnTo>
                  <a:pt x="1628" y="194"/>
                </a:lnTo>
                <a:lnTo>
                  <a:pt x="1633" y="198"/>
                </a:lnTo>
                <a:lnTo>
                  <a:pt x="1638" y="201"/>
                </a:lnTo>
                <a:lnTo>
                  <a:pt x="1643" y="205"/>
                </a:lnTo>
                <a:lnTo>
                  <a:pt x="1644" y="209"/>
                </a:lnTo>
                <a:lnTo>
                  <a:pt x="1648" y="214"/>
                </a:lnTo>
                <a:lnTo>
                  <a:pt x="1649" y="218"/>
                </a:lnTo>
                <a:lnTo>
                  <a:pt x="1649" y="224"/>
                </a:lnTo>
                <a:lnTo>
                  <a:pt x="1649" y="227"/>
                </a:lnTo>
                <a:lnTo>
                  <a:pt x="1648" y="231"/>
                </a:lnTo>
                <a:lnTo>
                  <a:pt x="1646" y="236"/>
                </a:lnTo>
                <a:lnTo>
                  <a:pt x="1661" y="236"/>
                </a:lnTo>
                <a:lnTo>
                  <a:pt x="1674" y="236"/>
                </a:lnTo>
                <a:lnTo>
                  <a:pt x="1688" y="238"/>
                </a:lnTo>
                <a:lnTo>
                  <a:pt x="1700" y="240"/>
                </a:lnTo>
                <a:lnTo>
                  <a:pt x="1713" y="244"/>
                </a:lnTo>
                <a:lnTo>
                  <a:pt x="1723" y="247"/>
                </a:lnTo>
                <a:lnTo>
                  <a:pt x="1733" y="249"/>
                </a:lnTo>
                <a:lnTo>
                  <a:pt x="1743" y="255"/>
                </a:lnTo>
                <a:lnTo>
                  <a:pt x="1752" y="258"/>
                </a:lnTo>
                <a:lnTo>
                  <a:pt x="1760" y="264"/>
                </a:lnTo>
                <a:lnTo>
                  <a:pt x="1765" y="268"/>
                </a:lnTo>
                <a:lnTo>
                  <a:pt x="1770" y="273"/>
                </a:lnTo>
                <a:lnTo>
                  <a:pt x="1775" y="280"/>
                </a:lnTo>
                <a:lnTo>
                  <a:pt x="1777" y="286"/>
                </a:lnTo>
                <a:lnTo>
                  <a:pt x="1778" y="291"/>
                </a:lnTo>
                <a:lnTo>
                  <a:pt x="1778" y="299"/>
                </a:lnTo>
                <a:lnTo>
                  <a:pt x="1777" y="302"/>
                </a:lnTo>
                <a:lnTo>
                  <a:pt x="1775" y="308"/>
                </a:lnTo>
                <a:lnTo>
                  <a:pt x="1772" y="313"/>
                </a:lnTo>
                <a:lnTo>
                  <a:pt x="1767" y="319"/>
                </a:lnTo>
                <a:lnTo>
                  <a:pt x="1762" y="323"/>
                </a:lnTo>
                <a:lnTo>
                  <a:pt x="1757" y="328"/>
                </a:lnTo>
                <a:lnTo>
                  <a:pt x="1750" y="332"/>
                </a:lnTo>
                <a:lnTo>
                  <a:pt x="1741" y="336"/>
                </a:lnTo>
                <a:lnTo>
                  <a:pt x="1748" y="337"/>
                </a:lnTo>
                <a:lnTo>
                  <a:pt x="1757" y="339"/>
                </a:lnTo>
                <a:lnTo>
                  <a:pt x="1762" y="341"/>
                </a:lnTo>
                <a:lnTo>
                  <a:pt x="1768" y="345"/>
                </a:lnTo>
                <a:lnTo>
                  <a:pt x="1773" y="347"/>
                </a:lnTo>
                <a:lnTo>
                  <a:pt x="1778" y="350"/>
                </a:lnTo>
                <a:lnTo>
                  <a:pt x="1782" y="352"/>
                </a:lnTo>
                <a:lnTo>
                  <a:pt x="1785" y="356"/>
                </a:lnTo>
                <a:lnTo>
                  <a:pt x="1787" y="359"/>
                </a:lnTo>
                <a:lnTo>
                  <a:pt x="1788" y="361"/>
                </a:lnTo>
                <a:lnTo>
                  <a:pt x="1790" y="365"/>
                </a:lnTo>
                <a:lnTo>
                  <a:pt x="1790" y="369"/>
                </a:lnTo>
                <a:lnTo>
                  <a:pt x="1790" y="372"/>
                </a:lnTo>
                <a:lnTo>
                  <a:pt x="1788" y="376"/>
                </a:lnTo>
                <a:lnTo>
                  <a:pt x="1787" y="380"/>
                </a:lnTo>
                <a:lnTo>
                  <a:pt x="1783" y="383"/>
                </a:lnTo>
                <a:lnTo>
                  <a:pt x="1778" y="387"/>
                </a:lnTo>
                <a:lnTo>
                  <a:pt x="1772" y="391"/>
                </a:lnTo>
                <a:lnTo>
                  <a:pt x="1763" y="394"/>
                </a:lnTo>
                <a:lnTo>
                  <a:pt x="1753" y="398"/>
                </a:lnTo>
                <a:lnTo>
                  <a:pt x="1762" y="396"/>
                </a:lnTo>
                <a:lnTo>
                  <a:pt x="1770" y="396"/>
                </a:lnTo>
                <a:lnTo>
                  <a:pt x="1777" y="396"/>
                </a:lnTo>
                <a:lnTo>
                  <a:pt x="1785" y="398"/>
                </a:lnTo>
                <a:lnTo>
                  <a:pt x="1792" y="400"/>
                </a:lnTo>
                <a:lnTo>
                  <a:pt x="1798" y="403"/>
                </a:lnTo>
                <a:lnTo>
                  <a:pt x="1804" y="407"/>
                </a:lnTo>
                <a:lnTo>
                  <a:pt x="1807" y="411"/>
                </a:lnTo>
                <a:lnTo>
                  <a:pt x="1809" y="414"/>
                </a:lnTo>
                <a:lnTo>
                  <a:pt x="1810" y="416"/>
                </a:lnTo>
                <a:lnTo>
                  <a:pt x="1810" y="422"/>
                </a:lnTo>
                <a:lnTo>
                  <a:pt x="1810" y="427"/>
                </a:lnTo>
                <a:lnTo>
                  <a:pt x="1809" y="431"/>
                </a:lnTo>
                <a:lnTo>
                  <a:pt x="1804" y="437"/>
                </a:lnTo>
                <a:lnTo>
                  <a:pt x="1800" y="440"/>
                </a:lnTo>
                <a:lnTo>
                  <a:pt x="1793" y="444"/>
                </a:lnTo>
                <a:lnTo>
                  <a:pt x="1787" y="446"/>
                </a:lnTo>
                <a:lnTo>
                  <a:pt x="1782" y="448"/>
                </a:lnTo>
                <a:lnTo>
                  <a:pt x="1777" y="448"/>
                </a:lnTo>
                <a:lnTo>
                  <a:pt x="1772" y="449"/>
                </a:lnTo>
                <a:lnTo>
                  <a:pt x="1767" y="449"/>
                </a:lnTo>
                <a:lnTo>
                  <a:pt x="1757" y="448"/>
                </a:lnTo>
                <a:lnTo>
                  <a:pt x="1747" y="444"/>
                </a:lnTo>
                <a:lnTo>
                  <a:pt x="1753" y="449"/>
                </a:lnTo>
                <a:lnTo>
                  <a:pt x="1757" y="453"/>
                </a:lnTo>
                <a:lnTo>
                  <a:pt x="1762" y="459"/>
                </a:lnTo>
                <a:lnTo>
                  <a:pt x="1765" y="464"/>
                </a:lnTo>
                <a:lnTo>
                  <a:pt x="1767" y="470"/>
                </a:lnTo>
                <a:lnTo>
                  <a:pt x="1768" y="475"/>
                </a:lnTo>
                <a:lnTo>
                  <a:pt x="1768" y="481"/>
                </a:lnTo>
                <a:lnTo>
                  <a:pt x="1768" y="486"/>
                </a:lnTo>
                <a:lnTo>
                  <a:pt x="1768" y="492"/>
                </a:lnTo>
                <a:lnTo>
                  <a:pt x="1767" y="495"/>
                </a:lnTo>
                <a:lnTo>
                  <a:pt x="1763" y="501"/>
                </a:lnTo>
                <a:lnTo>
                  <a:pt x="1760" y="506"/>
                </a:lnTo>
                <a:lnTo>
                  <a:pt x="1757" y="512"/>
                </a:lnTo>
                <a:lnTo>
                  <a:pt x="1752" y="515"/>
                </a:lnTo>
                <a:lnTo>
                  <a:pt x="1747" y="521"/>
                </a:lnTo>
                <a:lnTo>
                  <a:pt x="1740" y="525"/>
                </a:lnTo>
                <a:lnTo>
                  <a:pt x="1728" y="530"/>
                </a:lnTo>
                <a:lnTo>
                  <a:pt x="1716" y="534"/>
                </a:lnTo>
                <a:lnTo>
                  <a:pt x="1703" y="537"/>
                </a:lnTo>
                <a:lnTo>
                  <a:pt x="1690" y="539"/>
                </a:lnTo>
                <a:lnTo>
                  <a:pt x="1700" y="541"/>
                </a:lnTo>
                <a:lnTo>
                  <a:pt x="1710" y="545"/>
                </a:lnTo>
                <a:lnTo>
                  <a:pt x="1713" y="547"/>
                </a:lnTo>
                <a:lnTo>
                  <a:pt x="1716" y="548"/>
                </a:lnTo>
                <a:lnTo>
                  <a:pt x="1720" y="550"/>
                </a:lnTo>
                <a:lnTo>
                  <a:pt x="1723" y="554"/>
                </a:lnTo>
                <a:lnTo>
                  <a:pt x="1725" y="556"/>
                </a:lnTo>
                <a:lnTo>
                  <a:pt x="1726" y="560"/>
                </a:lnTo>
                <a:lnTo>
                  <a:pt x="1728" y="561"/>
                </a:lnTo>
                <a:lnTo>
                  <a:pt x="1728" y="565"/>
                </a:lnTo>
                <a:lnTo>
                  <a:pt x="1728" y="567"/>
                </a:lnTo>
                <a:lnTo>
                  <a:pt x="1728" y="571"/>
                </a:lnTo>
                <a:lnTo>
                  <a:pt x="1726" y="572"/>
                </a:lnTo>
                <a:lnTo>
                  <a:pt x="1725" y="576"/>
                </a:lnTo>
                <a:lnTo>
                  <a:pt x="1723" y="580"/>
                </a:lnTo>
                <a:lnTo>
                  <a:pt x="1720" y="582"/>
                </a:lnTo>
                <a:lnTo>
                  <a:pt x="1716" y="583"/>
                </a:lnTo>
                <a:lnTo>
                  <a:pt x="1713" y="587"/>
                </a:lnTo>
                <a:lnTo>
                  <a:pt x="1705" y="591"/>
                </a:lnTo>
                <a:lnTo>
                  <a:pt x="1696" y="593"/>
                </a:lnTo>
                <a:lnTo>
                  <a:pt x="1685" y="596"/>
                </a:lnTo>
                <a:lnTo>
                  <a:pt x="1674" y="596"/>
                </a:lnTo>
                <a:lnTo>
                  <a:pt x="1663" y="596"/>
                </a:lnTo>
                <a:lnTo>
                  <a:pt x="1651" y="594"/>
                </a:lnTo>
                <a:lnTo>
                  <a:pt x="1646" y="594"/>
                </a:lnTo>
                <a:lnTo>
                  <a:pt x="1641" y="593"/>
                </a:lnTo>
                <a:lnTo>
                  <a:pt x="1631" y="589"/>
                </a:lnTo>
                <a:lnTo>
                  <a:pt x="1634" y="596"/>
                </a:lnTo>
                <a:lnTo>
                  <a:pt x="1634" y="604"/>
                </a:lnTo>
                <a:lnTo>
                  <a:pt x="1634" y="611"/>
                </a:lnTo>
                <a:lnTo>
                  <a:pt x="1633" y="618"/>
                </a:lnTo>
                <a:lnTo>
                  <a:pt x="1631" y="626"/>
                </a:lnTo>
                <a:lnTo>
                  <a:pt x="1628" y="633"/>
                </a:lnTo>
                <a:lnTo>
                  <a:pt x="1622" y="640"/>
                </a:lnTo>
                <a:lnTo>
                  <a:pt x="1617" y="646"/>
                </a:lnTo>
                <a:lnTo>
                  <a:pt x="1611" y="653"/>
                </a:lnTo>
                <a:lnTo>
                  <a:pt x="1604" y="659"/>
                </a:lnTo>
                <a:lnTo>
                  <a:pt x="1596" y="664"/>
                </a:lnTo>
                <a:lnTo>
                  <a:pt x="1587" y="668"/>
                </a:lnTo>
                <a:lnTo>
                  <a:pt x="1577" y="672"/>
                </a:lnTo>
                <a:lnTo>
                  <a:pt x="1567" y="675"/>
                </a:lnTo>
                <a:lnTo>
                  <a:pt x="1557" y="679"/>
                </a:lnTo>
                <a:lnTo>
                  <a:pt x="1545" y="681"/>
                </a:lnTo>
                <a:lnTo>
                  <a:pt x="1535" y="683"/>
                </a:lnTo>
                <a:lnTo>
                  <a:pt x="1525" y="683"/>
                </a:lnTo>
                <a:lnTo>
                  <a:pt x="1515" y="683"/>
                </a:lnTo>
                <a:lnTo>
                  <a:pt x="1505" y="683"/>
                </a:lnTo>
                <a:lnTo>
                  <a:pt x="1495" y="683"/>
                </a:lnTo>
                <a:lnTo>
                  <a:pt x="1485" y="681"/>
                </a:lnTo>
                <a:lnTo>
                  <a:pt x="1475" y="679"/>
                </a:lnTo>
                <a:lnTo>
                  <a:pt x="1467" y="675"/>
                </a:lnTo>
                <a:lnTo>
                  <a:pt x="1468" y="679"/>
                </a:lnTo>
                <a:lnTo>
                  <a:pt x="1472" y="683"/>
                </a:lnTo>
                <a:lnTo>
                  <a:pt x="1472" y="686"/>
                </a:lnTo>
                <a:lnTo>
                  <a:pt x="1472" y="692"/>
                </a:lnTo>
                <a:lnTo>
                  <a:pt x="1472" y="695"/>
                </a:lnTo>
                <a:lnTo>
                  <a:pt x="1470" y="699"/>
                </a:lnTo>
                <a:lnTo>
                  <a:pt x="1468" y="703"/>
                </a:lnTo>
                <a:lnTo>
                  <a:pt x="1465" y="706"/>
                </a:lnTo>
                <a:lnTo>
                  <a:pt x="1460" y="710"/>
                </a:lnTo>
                <a:lnTo>
                  <a:pt x="1457" y="712"/>
                </a:lnTo>
                <a:lnTo>
                  <a:pt x="1451" y="716"/>
                </a:lnTo>
                <a:lnTo>
                  <a:pt x="1445" y="717"/>
                </a:lnTo>
                <a:lnTo>
                  <a:pt x="1438" y="721"/>
                </a:lnTo>
                <a:lnTo>
                  <a:pt x="1431" y="723"/>
                </a:lnTo>
                <a:lnTo>
                  <a:pt x="1423" y="725"/>
                </a:lnTo>
                <a:lnTo>
                  <a:pt x="1415" y="727"/>
                </a:lnTo>
                <a:lnTo>
                  <a:pt x="1403" y="728"/>
                </a:lnTo>
                <a:lnTo>
                  <a:pt x="1389" y="728"/>
                </a:lnTo>
                <a:lnTo>
                  <a:pt x="1378" y="730"/>
                </a:lnTo>
                <a:lnTo>
                  <a:pt x="1366" y="728"/>
                </a:lnTo>
                <a:lnTo>
                  <a:pt x="1354" y="728"/>
                </a:lnTo>
                <a:lnTo>
                  <a:pt x="1343" y="727"/>
                </a:lnTo>
                <a:lnTo>
                  <a:pt x="1332" y="723"/>
                </a:lnTo>
                <a:lnTo>
                  <a:pt x="1322" y="721"/>
                </a:lnTo>
                <a:lnTo>
                  <a:pt x="1322" y="725"/>
                </a:lnTo>
                <a:lnTo>
                  <a:pt x="1322" y="730"/>
                </a:lnTo>
                <a:lnTo>
                  <a:pt x="1322" y="734"/>
                </a:lnTo>
                <a:lnTo>
                  <a:pt x="1321" y="739"/>
                </a:lnTo>
                <a:lnTo>
                  <a:pt x="1319" y="743"/>
                </a:lnTo>
                <a:lnTo>
                  <a:pt x="1317" y="749"/>
                </a:lnTo>
                <a:lnTo>
                  <a:pt x="1314" y="752"/>
                </a:lnTo>
                <a:lnTo>
                  <a:pt x="1311" y="756"/>
                </a:lnTo>
                <a:lnTo>
                  <a:pt x="1306" y="760"/>
                </a:lnTo>
                <a:lnTo>
                  <a:pt x="1301" y="763"/>
                </a:lnTo>
                <a:lnTo>
                  <a:pt x="1296" y="765"/>
                </a:lnTo>
                <a:lnTo>
                  <a:pt x="1291" y="769"/>
                </a:lnTo>
                <a:lnTo>
                  <a:pt x="1284" y="771"/>
                </a:lnTo>
                <a:lnTo>
                  <a:pt x="1277" y="772"/>
                </a:lnTo>
                <a:lnTo>
                  <a:pt x="1270" y="774"/>
                </a:lnTo>
                <a:lnTo>
                  <a:pt x="1264" y="776"/>
                </a:lnTo>
                <a:lnTo>
                  <a:pt x="1250" y="776"/>
                </a:lnTo>
                <a:lnTo>
                  <a:pt x="1239" y="776"/>
                </a:lnTo>
                <a:lnTo>
                  <a:pt x="1225" y="774"/>
                </a:lnTo>
                <a:lnTo>
                  <a:pt x="1215" y="771"/>
                </a:lnTo>
                <a:lnTo>
                  <a:pt x="1205" y="765"/>
                </a:lnTo>
                <a:lnTo>
                  <a:pt x="1195" y="760"/>
                </a:lnTo>
                <a:lnTo>
                  <a:pt x="1192" y="758"/>
                </a:lnTo>
                <a:lnTo>
                  <a:pt x="1188" y="754"/>
                </a:lnTo>
                <a:lnTo>
                  <a:pt x="1185" y="750"/>
                </a:lnTo>
                <a:lnTo>
                  <a:pt x="1182" y="747"/>
                </a:lnTo>
                <a:lnTo>
                  <a:pt x="1183" y="750"/>
                </a:lnTo>
                <a:lnTo>
                  <a:pt x="1185" y="754"/>
                </a:lnTo>
                <a:lnTo>
                  <a:pt x="1185" y="758"/>
                </a:lnTo>
                <a:lnTo>
                  <a:pt x="1185" y="761"/>
                </a:lnTo>
                <a:lnTo>
                  <a:pt x="1183" y="765"/>
                </a:lnTo>
                <a:lnTo>
                  <a:pt x="1182" y="769"/>
                </a:lnTo>
                <a:lnTo>
                  <a:pt x="1178" y="771"/>
                </a:lnTo>
                <a:lnTo>
                  <a:pt x="1175" y="774"/>
                </a:lnTo>
                <a:lnTo>
                  <a:pt x="1172" y="778"/>
                </a:lnTo>
                <a:lnTo>
                  <a:pt x="1166" y="780"/>
                </a:lnTo>
                <a:lnTo>
                  <a:pt x="1163" y="784"/>
                </a:lnTo>
                <a:lnTo>
                  <a:pt x="1156" y="785"/>
                </a:lnTo>
                <a:lnTo>
                  <a:pt x="1151" y="787"/>
                </a:lnTo>
                <a:lnTo>
                  <a:pt x="1145" y="789"/>
                </a:lnTo>
                <a:lnTo>
                  <a:pt x="1138" y="791"/>
                </a:lnTo>
                <a:lnTo>
                  <a:pt x="1130" y="791"/>
                </a:lnTo>
                <a:lnTo>
                  <a:pt x="1116" y="793"/>
                </a:lnTo>
                <a:lnTo>
                  <a:pt x="1101" y="793"/>
                </a:lnTo>
                <a:lnTo>
                  <a:pt x="1088" y="791"/>
                </a:lnTo>
                <a:lnTo>
                  <a:pt x="1074" y="787"/>
                </a:lnTo>
                <a:lnTo>
                  <a:pt x="1063" y="784"/>
                </a:lnTo>
                <a:lnTo>
                  <a:pt x="1056" y="780"/>
                </a:lnTo>
                <a:lnTo>
                  <a:pt x="1052" y="778"/>
                </a:lnTo>
                <a:lnTo>
                  <a:pt x="1047" y="774"/>
                </a:lnTo>
                <a:lnTo>
                  <a:pt x="1044" y="771"/>
                </a:lnTo>
                <a:lnTo>
                  <a:pt x="1041" y="767"/>
                </a:lnTo>
                <a:lnTo>
                  <a:pt x="1037" y="765"/>
                </a:lnTo>
                <a:lnTo>
                  <a:pt x="1036" y="767"/>
                </a:lnTo>
                <a:lnTo>
                  <a:pt x="1034" y="771"/>
                </a:lnTo>
                <a:lnTo>
                  <a:pt x="1032" y="772"/>
                </a:lnTo>
                <a:lnTo>
                  <a:pt x="1029" y="776"/>
                </a:lnTo>
                <a:lnTo>
                  <a:pt x="1026" y="778"/>
                </a:lnTo>
                <a:lnTo>
                  <a:pt x="1022" y="782"/>
                </a:lnTo>
                <a:lnTo>
                  <a:pt x="1017" y="784"/>
                </a:lnTo>
                <a:lnTo>
                  <a:pt x="1012" y="785"/>
                </a:lnTo>
                <a:lnTo>
                  <a:pt x="1006" y="787"/>
                </a:lnTo>
                <a:lnTo>
                  <a:pt x="1001" y="789"/>
                </a:lnTo>
                <a:lnTo>
                  <a:pt x="987" y="791"/>
                </a:lnTo>
                <a:lnTo>
                  <a:pt x="974" y="793"/>
                </a:lnTo>
                <a:lnTo>
                  <a:pt x="959" y="793"/>
                </a:lnTo>
                <a:lnTo>
                  <a:pt x="949" y="791"/>
                </a:lnTo>
                <a:lnTo>
                  <a:pt x="938" y="789"/>
                </a:lnTo>
                <a:lnTo>
                  <a:pt x="928" y="787"/>
                </a:lnTo>
                <a:lnTo>
                  <a:pt x="920" y="785"/>
                </a:lnTo>
                <a:lnTo>
                  <a:pt x="912" y="782"/>
                </a:lnTo>
                <a:lnTo>
                  <a:pt x="905" y="778"/>
                </a:lnTo>
                <a:lnTo>
                  <a:pt x="900" y="774"/>
                </a:lnTo>
                <a:lnTo>
                  <a:pt x="897" y="769"/>
                </a:lnTo>
                <a:lnTo>
                  <a:pt x="892" y="772"/>
                </a:lnTo>
                <a:lnTo>
                  <a:pt x="888" y="776"/>
                </a:lnTo>
                <a:lnTo>
                  <a:pt x="881" y="780"/>
                </a:lnTo>
                <a:lnTo>
                  <a:pt x="876" y="782"/>
                </a:lnTo>
                <a:lnTo>
                  <a:pt x="870" y="785"/>
                </a:lnTo>
                <a:lnTo>
                  <a:pt x="861" y="787"/>
                </a:lnTo>
                <a:lnTo>
                  <a:pt x="855" y="789"/>
                </a:lnTo>
                <a:lnTo>
                  <a:pt x="846" y="791"/>
                </a:lnTo>
                <a:lnTo>
                  <a:pt x="830" y="793"/>
                </a:lnTo>
                <a:lnTo>
                  <a:pt x="813" y="795"/>
                </a:lnTo>
                <a:lnTo>
                  <a:pt x="794" y="793"/>
                </a:lnTo>
                <a:lnTo>
                  <a:pt x="776" y="791"/>
                </a:lnTo>
                <a:lnTo>
                  <a:pt x="766" y="789"/>
                </a:lnTo>
                <a:lnTo>
                  <a:pt x="756" y="785"/>
                </a:lnTo>
                <a:lnTo>
                  <a:pt x="747" y="782"/>
                </a:lnTo>
                <a:lnTo>
                  <a:pt x="741" y="778"/>
                </a:lnTo>
                <a:lnTo>
                  <a:pt x="734" y="774"/>
                </a:lnTo>
                <a:lnTo>
                  <a:pt x="729" y="771"/>
                </a:lnTo>
                <a:lnTo>
                  <a:pt x="724" y="767"/>
                </a:lnTo>
                <a:lnTo>
                  <a:pt x="722" y="761"/>
                </a:lnTo>
                <a:lnTo>
                  <a:pt x="716" y="763"/>
                </a:lnTo>
                <a:lnTo>
                  <a:pt x="711" y="765"/>
                </a:lnTo>
                <a:lnTo>
                  <a:pt x="704" y="767"/>
                </a:lnTo>
                <a:lnTo>
                  <a:pt x="697" y="769"/>
                </a:lnTo>
                <a:lnTo>
                  <a:pt x="682" y="771"/>
                </a:lnTo>
                <a:lnTo>
                  <a:pt x="667" y="771"/>
                </a:lnTo>
                <a:lnTo>
                  <a:pt x="650" y="771"/>
                </a:lnTo>
                <a:lnTo>
                  <a:pt x="635" y="767"/>
                </a:lnTo>
                <a:lnTo>
                  <a:pt x="620" y="763"/>
                </a:lnTo>
                <a:lnTo>
                  <a:pt x="605" y="758"/>
                </a:lnTo>
                <a:lnTo>
                  <a:pt x="598" y="754"/>
                </a:lnTo>
                <a:lnTo>
                  <a:pt x="591" y="750"/>
                </a:lnTo>
                <a:lnTo>
                  <a:pt x="585" y="747"/>
                </a:lnTo>
                <a:lnTo>
                  <a:pt x="580" y="741"/>
                </a:lnTo>
                <a:lnTo>
                  <a:pt x="576" y="738"/>
                </a:lnTo>
                <a:lnTo>
                  <a:pt x="575" y="732"/>
                </a:lnTo>
                <a:lnTo>
                  <a:pt x="575" y="728"/>
                </a:lnTo>
                <a:lnTo>
                  <a:pt x="575" y="723"/>
                </a:lnTo>
                <a:lnTo>
                  <a:pt x="573" y="725"/>
                </a:lnTo>
                <a:lnTo>
                  <a:pt x="573" y="728"/>
                </a:lnTo>
                <a:lnTo>
                  <a:pt x="570" y="730"/>
                </a:lnTo>
                <a:lnTo>
                  <a:pt x="566" y="732"/>
                </a:lnTo>
                <a:lnTo>
                  <a:pt x="563" y="734"/>
                </a:lnTo>
                <a:lnTo>
                  <a:pt x="560" y="736"/>
                </a:lnTo>
                <a:lnTo>
                  <a:pt x="555" y="738"/>
                </a:lnTo>
                <a:lnTo>
                  <a:pt x="550" y="739"/>
                </a:lnTo>
                <a:lnTo>
                  <a:pt x="545" y="741"/>
                </a:lnTo>
                <a:lnTo>
                  <a:pt x="540" y="741"/>
                </a:lnTo>
                <a:lnTo>
                  <a:pt x="526" y="743"/>
                </a:lnTo>
                <a:lnTo>
                  <a:pt x="513" y="743"/>
                </a:lnTo>
                <a:lnTo>
                  <a:pt x="498" y="743"/>
                </a:lnTo>
                <a:lnTo>
                  <a:pt x="484" y="739"/>
                </a:lnTo>
                <a:lnTo>
                  <a:pt x="471" y="738"/>
                </a:lnTo>
                <a:lnTo>
                  <a:pt x="464" y="736"/>
                </a:lnTo>
                <a:lnTo>
                  <a:pt x="459" y="734"/>
                </a:lnTo>
                <a:lnTo>
                  <a:pt x="454" y="732"/>
                </a:lnTo>
                <a:lnTo>
                  <a:pt x="449" y="728"/>
                </a:lnTo>
                <a:lnTo>
                  <a:pt x="444" y="727"/>
                </a:lnTo>
                <a:lnTo>
                  <a:pt x="441" y="725"/>
                </a:lnTo>
                <a:lnTo>
                  <a:pt x="437" y="721"/>
                </a:lnTo>
                <a:lnTo>
                  <a:pt x="436" y="719"/>
                </a:lnTo>
                <a:lnTo>
                  <a:pt x="434" y="716"/>
                </a:lnTo>
                <a:lnTo>
                  <a:pt x="432" y="714"/>
                </a:lnTo>
                <a:lnTo>
                  <a:pt x="432" y="710"/>
                </a:lnTo>
                <a:lnTo>
                  <a:pt x="432" y="708"/>
                </a:lnTo>
                <a:lnTo>
                  <a:pt x="434" y="705"/>
                </a:lnTo>
                <a:lnTo>
                  <a:pt x="436" y="701"/>
                </a:lnTo>
                <a:lnTo>
                  <a:pt x="441" y="697"/>
                </a:lnTo>
                <a:lnTo>
                  <a:pt x="446" y="695"/>
                </a:lnTo>
                <a:lnTo>
                  <a:pt x="437" y="697"/>
                </a:lnTo>
                <a:lnTo>
                  <a:pt x="429" y="699"/>
                </a:lnTo>
                <a:lnTo>
                  <a:pt x="420" y="699"/>
                </a:lnTo>
                <a:lnTo>
                  <a:pt x="412" y="701"/>
                </a:lnTo>
                <a:lnTo>
                  <a:pt x="404" y="701"/>
                </a:lnTo>
                <a:lnTo>
                  <a:pt x="397" y="699"/>
                </a:lnTo>
                <a:lnTo>
                  <a:pt x="389" y="699"/>
                </a:lnTo>
                <a:lnTo>
                  <a:pt x="380" y="697"/>
                </a:lnTo>
                <a:lnTo>
                  <a:pt x="372" y="695"/>
                </a:lnTo>
                <a:lnTo>
                  <a:pt x="365" y="694"/>
                </a:lnTo>
                <a:lnTo>
                  <a:pt x="358" y="690"/>
                </a:lnTo>
                <a:lnTo>
                  <a:pt x="352" y="686"/>
                </a:lnTo>
                <a:lnTo>
                  <a:pt x="345" y="683"/>
                </a:lnTo>
                <a:lnTo>
                  <a:pt x="340" y="679"/>
                </a:lnTo>
                <a:lnTo>
                  <a:pt x="335" y="673"/>
                </a:lnTo>
                <a:lnTo>
                  <a:pt x="332" y="670"/>
                </a:lnTo>
                <a:lnTo>
                  <a:pt x="328" y="664"/>
                </a:lnTo>
                <a:lnTo>
                  <a:pt x="325" y="660"/>
                </a:lnTo>
                <a:lnTo>
                  <a:pt x="323" y="655"/>
                </a:lnTo>
                <a:lnTo>
                  <a:pt x="322" y="649"/>
                </a:lnTo>
                <a:lnTo>
                  <a:pt x="322" y="644"/>
                </a:lnTo>
                <a:lnTo>
                  <a:pt x="322" y="640"/>
                </a:lnTo>
                <a:lnTo>
                  <a:pt x="323" y="635"/>
                </a:lnTo>
                <a:lnTo>
                  <a:pt x="325" y="629"/>
                </a:lnTo>
                <a:lnTo>
                  <a:pt x="317" y="633"/>
                </a:lnTo>
                <a:lnTo>
                  <a:pt x="308" y="637"/>
                </a:lnTo>
                <a:lnTo>
                  <a:pt x="300" y="640"/>
                </a:lnTo>
                <a:lnTo>
                  <a:pt x="291" y="642"/>
                </a:lnTo>
                <a:lnTo>
                  <a:pt x="281" y="644"/>
                </a:lnTo>
                <a:lnTo>
                  <a:pt x="273" y="644"/>
                </a:lnTo>
                <a:lnTo>
                  <a:pt x="263" y="646"/>
                </a:lnTo>
                <a:lnTo>
                  <a:pt x="253" y="646"/>
                </a:lnTo>
                <a:lnTo>
                  <a:pt x="244" y="646"/>
                </a:lnTo>
                <a:lnTo>
                  <a:pt x="234" y="644"/>
                </a:lnTo>
                <a:lnTo>
                  <a:pt x="226" y="644"/>
                </a:lnTo>
                <a:lnTo>
                  <a:pt x="216" y="642"/>
                </a:lnTo>
                <a:lnTo>
                  <a:pt x="208" y="640"/>
                </a:lnTo>
                <a:lnTo>
                  <a:pt x="199" y="637"/>
                </a:lnTo>
                <a:lnTo>
                  <a:pt x="191" y="633"/>
                </a:lnTo>
                <a:lnTo>
                  <a:pt x="182" y="629"/>
                </a:lnTo>
                <a:lnTo>
                  <a:pt x="171" y="626"/>
                </a:lnTo>
                <a:lnTo>
                  <a:pt x="161" y="620"/>
                </a:lnTo>
                <a:lnTo>
                  <a:pt x="151" y="616"/>
                </a:lnTo>
                <a:lnTo>
                  <a:pt x="142" y="611"/>
                </a:lnTo>
                <a:lnTo>
                  <a:pt x="134" y="605"/>
                </a:lnTo>
                <a:lnTo>
                  <a:pt x="125" y="600"/>
                </a:lnTo>
                <a:lnTo>
                  <a:pt x="120" y="594"/>
                </a:lnTo>
                <a:lnTo>
                  <a:pt x="114" y="587"/>
                </a:lnTo>
                <a:lnTo>
                  <a:pt x="109" y="582"/>
                </a:lnTo>
                <a:lnTo>
                  <a:pt x="105" y="576"/>
                </a:lnTo>
                <a:lnTo>
                  <a:pt x="102" y="569"/>
                </a:lnTo>
                <a:lnTo>
                  <a:pt x="100" y="563"/>
                </a:lnTo>
                <a:lnTo>
                  <a:pt x="100" y="558"/>
                </a:lnTo>
                <a:lnTo>
                  <a:pt x="100" y="550"/>
                </a:lnTo>
                <a:lnTo>
                  <a:pt x="100" y="545"/>
                </a:lnTo>
                <a:lnTo>
                  <a:pt x="104" y="539"/>
                </a:lnTo>
                <a:lnTo>
                  <a:pt x="95" y="539"/>
                </a:lnTo>
                <a:lnTo>
                  <a:pt x="87" y="541"/>
                </a:lnTo>
                <a:lnTo>
                  <a:pt x="78" y="541"/>
                </a:lnTo>
                <a:lnTo>
                  <a:pt x="70" y="539"/>
                </a:lnTo>
                <a:lnTo>
                  <a:pt x="63" y="539"/>
                </a:lnTo>
                <a:lnTo>
                  <a:pt x="55" y="537"/>
                </a:lnTo>
                <a:lnTo>
                  <a:pt x="42" y="534"/>
                </a:lnTo>
                <a:lnTo>
                  <a:pt x="35" y="530"/>
                </a:lnTo>
                <a:lnTo>
                  <a:pt x="28" y="528"/>
                </a:lnTo>
                <a:lnTo>
                  <a:pt x="23" y="525"/>
                </a:lnTo>
                <a:lnTo>
                  <a:pt x="18" y="521"/>
                </a:lnTo>
                <a:lnTo>
                  <a:pt x="13" y="515"/>
                </a:lnTo>
                <a:lnTo>
                  <a:pt x="10" y="512"/>
                </a:lnTo>
                <a:lnTo>
                  <a:pt x="6" y="506"/>
                </a:lnTo>
                <a:lnTo>
                  <a:pt x="3" y="503"/>
                </a:lnTo>
                <a:lnTo>
                  <a:pt x="1" y="497"/>
                </a:lnTo>
                <a:lnTo>
                  <a:pt x="1" y="493"/>
                </a:lnTo>
                <a:lnTo>
                  <a:pt x="0" y="490"/>
                </a:lnTo>
                <a:lnTo>
                  <a:pt x="0" y="486"/>
                </a:lnTo>
                <a:lnTo>
                  <a:pt x="1" y="479"/>
                </a:lnTo>
                <a:lnTo>
                  <a:pt x="3" y="471"/>
                </a:lnTo>
                <a:lnTo>
                  <a:pt x="8" y="466"/>
                </a:lnTo>
                <a:lnTo>
                  <a:pt x="13" y="459"/>
                </a:lnTo>
                <a:lnTo>
                  <a:pt x="20" y="453"/>
                </a:lnTo>
                <a:lnTo>
                  <a:pt x="28" y="448"/>
                </a:lnTo>
                <a:lnTo>
                  <a:pt x="23" y="444"/>
                </a:lnTo>
                <a:lnTo>
                  <a:pt x="20" y="440"/>
                </a:lnTo>
                <a:lnTo>
                  <a:pt x="16" y="437"/>
                </a:lnTo>
                <a:lnTo>
                  <a:pt x="13" y="435"/>
                </a:lnTo>
                <a:lnTo>
                  <a:pt x="11" y="431"/>
                </a:lnTo>
                <a:lnTo>
                  <a:pt x="10" y="427"/>
                </a:lnTo>
                <a:lnTo>
                  <a:pt x="10" y="424"/>
                </a:lnTo>
                <a:lnTo>
                  <a:pt x="10" y="420"/>
                </a:lnTo>
                <a:lnTo>
                  <a:pt x="11" y="416"/>
                </a:lnTo>
                <a:lnTo>
                  <a:pt x="13" y="414"/>
                </a:lnTo>
                <a:lnTo>
                  <a:pt x="15" y="411"/>
                </a:lnTo>
                <a:lnTo>
                  <a:pt x="18" y="407"/>
                </a:lnTo>
                <a:lnTo>
                  <a:pt x="21" y="405"/>
                </a:lnTo>
                <a:lnTo>
                  <a:pt x="27" y="403"/>
                </a:lnTo>
                <a:lnTo>
                  <a:pt x="32" y="400"/>
                </a:lnTo>
                <a:lnTo>
                  <a:pt x="38" y="398"/>
                </a:lnTo>
                <a:lnTo>
                  <a:pt x="40" y="39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5622" name="Freeform 24"/>
          <p:cNvSpPr/>
          <p:nvPr/>
        </p:nvSpPr>
        <p:spPr bwMode="auto">
          <a:xfrm>
            <a:off x="6303963" y="5879753"/>
            <a:ext cx="1438275" cy="630237"/>
          </a:xfrm>
          <a:custGeom>
            <a:avLst/>
            <a:gdLst>
              <a:gd name="T0" fmla="*/ 2147483646 w 1810"/>
              <a:gd name="T1" fmla="*/ 2147483646 h 795"/>
              <a:gd name="T2" fmla="*/ 2147483646 w 1810"/>
              <a:gd name="T3" fmla="*/ 2147483646 h 795"/>
              <a:gd name="T4" fmla="*/ 2147483646 w 1810"/>
              <a:gd name="T5" fmla="*/ 2147483646 h 795"/>
              <a:gd name="T6" fmla="*/ 2147483646 w 1810"/>
              <a:gd name="T7" fmla="*/ 2147483646 h 795"/>
              <a:gd name="T8" fmla="*/ 2147483646 w 1810"/>
              <a:gd name="T9" fmla="*/ 2147483646 h 795"/>
              <a:gd name="T10" fmla="*/ 2147483646 w 1810"/>
              <a:gd name="T11" fmla="*/ 2147483646 h 795"/>
              <a:gd name="T12" fmla="*/ 2147483646 w 1810"/>
              <a:gd name="T13" fmla="*/ 2147483646 h 795"/>
              <a:gd name="T14" fmla="*/ 2147483646 w 1810"/>
              <a:gd name="T15" fmla="*/ 2147483646 h 795"/>
              <a:gd name="T16" fmla="*/ 2147483646 w 1810"/>
              <a:gd name="T17" fmla="*/ 2147483646 h 795"/>
              <a:gd name="T18" fmla="*/ 2147483646 w 1810"/>
              <a:gd name="T19" fmla="*/ 2147483646 h 795"/>
              <a:gd name="T20" fmla="*/ 2147483646 w 1810"/>
              <a:gd name="T21" fmla="*/ 2147483646 h 795"/>
              <a:gd name="T22" fmla="*/ 2147483646 w 1810"/>
              <a:gd name="T23" fmla="*/ 2147483646 h 795"/>
              <a:gd name="T24" fmla="*/ 2147483646 w 1810"/>
              <a:gd name="T25" fmla="*/ 2147483646 h 795"/>
              <a:gd name="T26" fmla="*/ 2147483646 w 1810"/>
              <a:gd name="T27" fmla="*/ 2147483646 h 795"/>
              <a:gd name="T28" fmla="*/ 2147483646 w 1810"/>
              <a:gd name="T29" fmla="*/ 2147483646 h 795"/>
              <a:gd name="T30" fmla="*/ 2147483646 w 1810"/>
              <a:gd name="T31" fmla="*/ 2147483646 h 795"/>
              <a:gd name="T32" fmla="*/ 2147483646 w 1810"/>
              <a:gd name="T33" fmla="*/ 2147483646 h 795"/>
              <a:gd name="T34" fmla="*/ 2147483646 w 1810"/>
              <a:gd name="T35" fmla="*/ 2147483646 h 795"/>
              <a:gd name="T36" fmla="*/ 2147483646 w 1810"/>
              <a:gd name="T37" fmla="*/ 2147483646 h 795"/>
              <a:gd name="T38" fmla="*/ 2147483646 w 1810"/>
              <a:gd name="T39" fmla="*/ 2147483646 h 795"/>
              <a:gd name="T40" fmla="*/ 2147483646 w 1810"/>
              <a:gd name="T41" fmla="*/ 2147483646 h 795"/>
              <a:gd name="T42" fmla="*/ 2147483646 w 1810"/>
              <a:gd name="T43" fmla="*/ 2147483646 h 795"/>
              <a:gd name="T44" fmla="*/ 2147483646 w 1810"/>
              <a:gd name="T45" fmla="*/ 2147483646 h 795"/>
              <a:gd name="T46" fmla="*/ 2147483646 w 1810"/>
              <a:gd name="T47" fmla="*/ 2147483646 h 795"/>
              <a:gd name="T48" fmla="*/ 2147483646 w 1810"/>
              <a:gd name="T49" fmla="*/ 2147483646 h 795"/>
              <a:gd name="T50" fmla="*/ 2147483646 w 1810"/>
              <a:gd name="T51" fmla="*/ 2147483646 h 795"/>
              <a:gd name="T52" fmla="*/ 2147483646 w 1810"/>
              <a:gd name="T53" fmla="*/ 2147483646 h 795"/>
              <a:gd name="T54" fmla="*/ 2147483646 w 1810"/>
              <a:gd name="T55" fmla="*/ 2147483646 h 795"/>
              <a:gd name="T56" fmla="*/ 2147483646 w 1810"/>
              <a:gd name="T57" fmla="*/ 2147483646 h 795"/>
              <a:gd name="T58" fmla="*/ 2147483646 w 1810"/>
              <a:gd name="T59" fmla="*/ 2147483646 h 795"/>
              <a:gd name="T60" fmla="*/ 2147483646 w 1810"/>
              <a:gd name="T61" fmla="*/ 2147483646 h 795"/>
              <a:gd name="T62" fmla="*/ 2147483646 w 1810"/>
              <a:gd name="T63" fmla="*/ 2147483646 h 795"/>
              <a:gd name="T64" fmla="*/ 2147483646 w 1810"/>
              <a:gd name="T65" fmla="*/ 2147483646 h 795"/>
              <a:gd name="T66" fmla="*/ 2147483646 w 1810"/>
              <a:gd name="T67" fmla="*/ 2147483646 h 795"/>
              <a:gd name="T68" fmla="*/ 2147483646 w 1810"/>
              <a:gd name="T69" fmla="*/ 2147483646 h 795"/>
              <a:gd name="T70" fmla="*/ 2147483646 w 1810"/>
              <a:gd name="T71" fmla="*/ 2147483646 h 795"/>
              <a:gd name="T72" fmla="*/ 2147483646 w 1810"/>
              <a:gd name="T73" fmla="*/ 2147483646 h 795"/>
              <a:gd name="T74" fmla="*/ 2147483646 w 1810"/>
              <a:gd name="T75" fmla="*/ 2147483646 h 795"/>
              <a:gd name="T76" fmla="*/ 2147483646 w 1810"/>
              <a:gd name="T77" fmla="*/ 2147483646 h 795"/>
              <a:gd name="T78" fmla="*/ 2147483646 w 1810"/>
              <a:gd name="T79" fmla="*/ 2147483646 h 795"/>
              <a:gd name="T80" fmla="*/ 2147483646 w 1810"/>
              <a:gd name="T81" fmla="*/ 2147483646 h 795"/>
              <a:gd name="T82" fmla="*/ 2147483646 w 1810"/>
              <a:gd name="T83" fmla="*/ 2147483646 h 795"/>
              <a:gd name="T84" fmla="*/ 2147483646 w 1810"/>
              <a:gd name="T85" fmla="*/ 2147483646 h 795"/>
              <a:gd name="T86" fmla="*/ 2147483646 w 1810"/>
              <a:gd name="T87" fmla="*/ 2147483646 h 795"/>
              <a:gd name="T88" fmla="*/ 2147483646 w 1810"/>
              <a:gd name="T89" fmla="*/ 2147483646 h 795"/>
              <a:gd name="T90" fmla="*/ 2147483646 w 1810"/>
              <a:gd name="T91" fmla="*/ 2147483646 h 795"/>
              <a:gd name="T92" fmla="*/ 2147483646 w 1810"/>
              <a:gd name="T93" fmla="*/ 2147483646 h 795"/>
              <a:gd name="T94" fmla="*/ 2147483646 w 1810"/>
              <a:gd name="T95" fmla="*/ 2147483646 h 795"/>
              <a:gd name="T96" fmla="*/ 2147483646 w 1810"/>
              <a:gd name="T97" fmla="*/ 2147483646 h 795"/>
              <a:gd name="T98" fmla="*/ 2147483646 w 1810"/>
              <a:gd name="T99" fmla="*/ 2147483646 h 795"/>
              <a:gd name="T100" fmla="*/ 2147483646 w 1810"/>
              <a:gd name="T101" fmla="*/ 2147483646 h 795"/>
              <a:gd name="T102" fmla="*/ 2147483646 w 1810"/>
              <a:gd name="T103" fmla="*/ 2147483646 h 795"/>
              <a:gd name="T104" fmla="*/ 2147483646 w 1810"/>
              <a:gd name="T105" fmla="*/ 2147483646 h 795"/>
              <a:gd name="T106" fmla="*/ 2147483646 w 1810"/>
              <a:gd name="T107" fmla="*/ 2147483646 h 795"/>
              <a:gd name="T108" fmla="*/ 2147483646 w 1810"/>
              <a:gd name="T109" fmla="*/ 2147483646 h 795"/>
              <a:gd name="T110" fmla="*/ 2147483646 w 1810"/>
              <a:gd name="T111" fmla="*/ 2147483646 h 795"/>
              <a:gd name="T112" fmla="*/ 2147483646 w 1810"/>
              <a:gd name="T113" fmla="*/ 2147483646 h 795"/>
              <a:gd name="T114" fmla="*/ 2147483646 w 1810"/>
              <a:gd name="T115" fmla="*/ 2147483646 h 795"/>
              <a:gd name="T116" fmla="*/ 2147483646 w 1810"/>
              <a:gd name="T117" fmla="*/ 2147483646 h 795"/>
              <a:gd name="T118" fmla="*/ 2147483646 w 1810"/>
              <a:gd name="T119" fmla="*/ 2147483646 h 795"/>
              <a:gd name="T120" fmla="*/ 2147483646 w 1810"/>
              <a:gd name="T121" fmla="*/ 2147483646 h 795"/>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810"/>
              <a:gd name="T184" fmla="*/ 0 h 795"/>
              <a:gd name="T185" fmla="*/ 1810 w 1810"/>
              <a:gd name="T186" fmla="*/ 795 h 795"/>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810" h="795">
                <a:moveTo>
                  <a:pt x="40" y="398"/>
                </a:moveTo>
                <a:lnTo>
                  <a:pt x="33" y="394"/>
                </a:lnTo>
                <a:lnTo>
                  <a:pt x="27" y="392"/>
                </a:lnTo>
                <a:lnTo>
                  <a:pt x="21" y="389"/>
                </a:lnTo>
                <a:lnTo>
                  <a:pt x="18" y="385"/>
                </a:lnTo>
                <a:lnTo>
                  <a:pt x="13" y="381"/>
                </a:lnTo>
                <a:lnTo>
                  <a:pt x="10" y="376"/>
                </a:lnTo>
                <a:lnTo>
                  <a:pt x="8" y="372"/>
                </a:lnTo>
                <a:lnTo>
                  <a:pt x="5" y="369"/>
                </a:lnTo>
                <a:lnTo>
                  <a:pt x="5" y="363"/>
                </a:lnTo>
                <a:lnTo>
                  <a:pt x="3" y="358"/>
                </a:lnTo>
                <a:lnTo>
                  <a:pt x="3" y="354"/>
                </a:lnTo>
                <a:lnTo>
                  <a:pt x="5" y="348"/>
                </a:lnTo>
                <a:lnTo>
                  <a:pt x="5" y="345"/>
                </a:lnTo>
                <a:lnTo>
                  <a:pt x="8" y="339"/>
                </a:lnTo>
                <a:lnTo>
                  <a:pt x="10" y="336"/>
                </a:lnTo>
                <a:lnTo>
                  <a:pt x="15" y="330"/>
                </a:lnTo>
                <a:lnTo>
                  <a:pt x="18" y="326"/>
                </a:lnTo>
                <a:lnTo>
                  <a:pt x="23" y="323"/>
                </a:lnTo>
                <a:lnTo>
                  <a:pt x="30" y="319"/>
                </a:lnTo>
                <a:lnTo>
                  <a:pt x="35" y="315"/>
                </a:lnTo>
                <a:lnTo>
                  <a:pt x="42" y="313"/>
                </a:lnTo>
                <a:lnTo>
                  <a:pt x="50" y="312"/>
                </a:lnTo>
                <a:lnTo>
                  <a:pt x="57" y="310"/>
                </a:lnTo>
                <a:lnTo>
                  <a:pt x="65" y="308"/>
                </a:lnTo>
                <a:lnTo>
                  <a:pt x="60" y="302"/>
                </a:lnTo>
                <a:lnTo>
                  <a:pt x="55" y="295"/>
                </a:lnTo>
                <a:lnTo>
                  <a:pt x="53" y="290"/>
                </a:lnTo>
                <a:lnTo>
                  <a:pt x="52" y="282"/>
                </a:lnTo>
                <a:lnTo>
                  <a:pt x="50" y="277"/>
                </a:lnTo>
                <a:lnTo>
                  <a:pt x="50" y="269"/>
                </a:lnTo>
                <a:lnTo>
                  <a:pt x="50" y="264"/>
                </a:lnTo>
                <a:lnTo>
                  <a:pt x="53" y="257"/>
                </a:lnTo>
                <a:lnTo>
                  <a:pt x="55" y="251"/>
                </a:lnTo>
                <a:lnTo>
                  <a:pt x="58" y="246"/>
                </a:lnTo>
                <a:lnTo>
                  <a:pt x="63" y="240"/>
                </a:lnTo>
                <a:lnTo>
                  <a:pt x="68" y="235"/>
                </a:lnTo>
                <a:lnTo>
                  <a:pt x="75" y="229"/>
                </a:lnTo>
                <a:lnTo>
                  <a:pt x="82" y="224"/>
                </a:lnTo>
                <a:lnTo>
                  <a:pt x="90" y="220"/>
                </a:lnTo>
                <a:lnTo>
                  <a:pt x="99" y="216"/>
                </a:lnTo>
                <a:lnTo>
                  <a:pt x="114" y="211"/>
                </a:lnTo>
                <a:lnTo>
                  <a:pt x="129" y="209"/>
                </a:lnTo>
                <a:lnTo>
                  <a:pt x="146" y="207"/>
                </a:lnTo>
                <a:lnTo>
                  <a:pt x="162" y="207"/>
                </a:lnTo>
                <a:lnTo>
                  <a:pt x="159" y="200"/>
                </a:lnTo>
                <a:lnTo>
                  <a:pt x="159" y="192"/>
                </a:lnTo>
                <a:lnTo>
                  <a:pt x="159" y="183"/>
                </a:lnTo>
                <a:lnTo>
                  <a:pt x="159" y="176"/>
                </a:lnTo>
                <a:lnTo>
                  <a:pt x="162" y="168"/>
                </a:lnTo>
                <a:lnTo>
                  <a:pt x="166" y="163"/>
                </a:lnTo>
                <a:lnTo>
                  <a:pt x="171" y="156"/>
                </a:lnTo>
                <a:lnTo>
                  <a:pt x="176" y="148"/>
                </a:lnTo>
                <a:lnTo>
                  <a:pt x="182" y="143"/>
                </a:lnTo>
                <a:lnTo>
                  <a:pt x="189" y="137"/>
                </a:lnTo>
                <a:lnTo>
                  <a:pt x="198" y="132"/>
                </a:lnTo>
                <a:lnTo>
                  <a:pt x="206" y="128"/>
                </a:lnTo>
                <a:lnTo>
                  <a:pt x="216" y="123"/>
                </a:lnTo>
                <a:lnTo>
                  <a:pt x="226" y="121"/>
                </a:lnTo>
                <a:lnTo>
                  <a:pt x="236" y="117"/>
                </a:lnTo>
                <a:lnTo>
                  <a:pt x="248" y="115"/>
                </a:lnTo>
                <a:lnTo>
                  <a:pt x="258" y="113"/>
                </a:lnTo>
                <a:lnTo>
                  <a:pt x="268" y="113"/>
                </a:lnTo>
                <a:lnTo>
                  <a:pt x="278" y="113"/>
                </a:lnTo>
                <a:lnTo>
                  <a:pt x="288" y="113"/>
                </a:lnTo>
                <a:lnTo>
                  <a:pt x="298" y="113"/>
                </a:lnTo>
                <a:lnTo>
                  <a:pt x="308" y="115"/>
                </a:lnTo>
                <a:lnTo>
                  <a:pt x="318" y="117"/>
                </a:lnTo>
                <a:lnTo>
                  <a:pt x="327" y="121"/>
                </a:lnTo>
                <a:lnTo>
                  <a:pt x="325" y="115"/>
                </a:lnTo>
                <a:lnTo>
                  <a:pt x="322" y="110"/>
                </a:lnTo>
                <a:lnTo>
                  <a:pt x="320" y="106"/>
                </a:lnTo>
                <a:lnTo>
                  <a:pt x="320" y="101"/>
                </a:lnTo>
                <a:lnTo>
                  <a:pt x="320" y="95"/>
                </a:lnTo>
                <a:lnTo>
                  <a:pt x="322" y="89"/>
                </a:lnTo>
                <a:lnTo>
                  <a:pt x="323" y="86"/>
                </a:lnTo>
                <a:lnTo>
                  <a:pt x="325" y="80"/>
                </a:lnTo>
                <a:lnTo>
                  <a:pt x="328" y="77"/>
                </a:lnTo>
                <a:lnTo>
                  <a:pt x="332" y="71"/>
                </a:lnTo>
                <a:lnTo>
                  <a:pt x="337" y="67"/>
                </a:lnTo>
                <a:lnTo>
                  <a:pt x="342" y="64"/>
                </a:lnTo>
                <a:lnTo>
                  <a:pt x="347" y="60"/>
                </a:lnTo>
                <a:lnTo>
                  <a:pt x="353" y="56"/>
                </a:lnTo>
                <a:lnTo>
                  <a:pt x="360" y="55"/>
                </a:lnTo>
                <a:lnTo>
                  <a:pt x="369" y="51"/>
                </a:lnTo>
                <a:lnTo>
                  <a:pt x="375" y="49"/>
                </a:lnTo>
                <a:lnTo>
                  <a:pt x="382" y="49"/>
                </a:lnTo>
                <a:lnTo>
                  <a:pt x="390" y="47"/>
                </a:lnTo>
                <a:lnTo>
                  <a:pt x="397" y="47"/>
                </a:lnTo>
                <a:lnTo>
                  <a:pt x="405" y="47"/>
                </a:lnTo>
                <a:lnTo>
                  <a:pt x="412" y="47"/>
                </a:lnTo>
                <a:lnTo>
                  <a:pt x="427" y="51"/>
                </a:lnTo>
                <a:lnTo>
                  <a:pt x="441" y="55"/>
                </a:lnTo>
                <a:lnTo>
                  <a:pt x="447" y="56"/>
                </a:lnTo>
                <a:lnTo>
                  <a:pt x="452" y="60"/>
                </a:lnTo>
                <a:lnTo>
                  <a:pt x="457" y="64"/>
                </a:lnTo>
                <a:lnTo>
                  <a:pt x="462" y="67"/>
                </a:lnTo>
                <a:lnTo>
                  <a:pt x="467" y="71"/>
                </a:lnTo>
                <a:lnTo>
                  <a:pt x="471" y="75"/>
                </a:lnTo>
                <a:lnTo>
                  <a:pt x="472" y="69"/>
                </a:lnTo>
                <a:lnTo>
                  <a:pt x="476" y="64"/>
                </a:lnTo>
                <a:lnTo>
                  <a:pt x="477" y="58"/>
                </a:lnTo>
                <a:lnTo>
                  <a:pt x="483" y="55"/>
                </a:lnTo>
                <a:lnTo>
                  <a:pt x="488" y="49"/>
                </a:lnTo>
                <a:lnTo>
                  <a:pt x="493" y="45"/>
                </a:lnTo>
                <a:lnTo>
                  <a:pt x="498" y="42"/>
                </a:lnTo>
                <a:lnTo>
                  <a:pt x="504" y="38"/>
                </a:lnTo>
                <a:lnTo>
                  <a:pt x="511" y="34"/>
                </a:lnTo>
                <a:lnTo>
                  <a:pt x="518" y="31"/>
                </a:lnTo>
                <a:lnTo>
                  <a:pt x="526" y="29"/>
                </a:lnTo>
                <a:lnTo>
                  <a:pt x="534" y="27"/>
                </a:lnTo>
                <a:lnTo>
                  <a:pt x="543" y="25"/>
                </a:lnTo>
                <a:lnTo>
                  <a:pt x="551" y="25"/>
                </a:lnTo>
                <a:lnTo>
                  <a:pt x="560" y="25"/>
                </a:lnTo>
                <a:lnTo>
                  <a:pt x="570" y="25"/>
                </a:lnTo>
                <a:lnTo>
                  <a:pt x="576" y="27"/>
                </a:lnTo>
                <a:lnTo>
                  <a:pt x="585" y="29"/>
                </a:lnTo>
                <a:lnTo>
                  <a:pt x="600" y="33"/>
                </a:lnTo>
                <a:lnTo>
                  <a:pt x="607" y="34"/>
                </a:lnTo>
                <a:lnTo>
                  <a:pt x="613" y="38"/>
                </a:lnTo>
                <a:lnTo>
                  <a:pt x="620" y="42"/>
                </a:lnTo>
                <a:lnTo>
                  <a:pt x="625" y="45"/>
                </a:lnTo>
                <a:lnTo>
                  <a:pt x="637" y="36"/>
                </a:lnTo>
                <a:lnTo>
                  <a:pt x="650" y="29"/>
                </a:lnTo>
                <a:lnTo>
                  <a:pt x="664" y="23"/>
                </a:lnTo>
                <a:lnTo>
                  <a:pt x="677" y="18"/>
                </a:lnTo>
                <a:lnTo>
                  <a:pt x="692" y="12"/>
                </a:lnTo>
                <a:lnTo>
                  <a:pt x="707" y="9"/>
                </a:lnTo>
                <a:lnTo>
                  <a:pt x="724" y="5"/>
                </a:lnTo>
                <a:lnTo>
                  <a:pt x="741" y="3"/>
                </a:lnTo>
                <a:lnTo>
                  <a:pt x="756" y="3"/>
                </a:lnTo>
                <a:lnTo>
                  <a:pt x="773" y="3"/>
                </a:lnTo>
                <a:lnTo>
                  <a:pt x="789" y="5"/>
                </a:lnTo>
                <a:lnTo>
                  <a:pt x="806" y="7"/>
                </a:lnTo>
                <a:lnTo>
                  <a:pt x="821" y="11"/>
                </a:lnTo>
                <a:lnTo>
                  <a:pt x="836" y="14"/>
                </a:lnTo>
                <a:lnTo>
                  <a:pt x="851" y="20"/>
                </a:lnTo>
                <a:lnTo>
                  <a:pt x="866" y="27"/>
                </a:lnTo>
                <a:lnTo>
                  <a:pt x="868" y="23"/>
                </a:lnTo>
                <a:lnTo>
                  <a:pt x="870" y="20"/>
                </a:lnTo>
                <a:lnTo>
                  <a:pt x="871" y="18"/>
                </a:lnTo>
                <a:lnTo>
                  <a:pt x="875" y="14"/>
                </a:lnTo>
                <a:lnTo>
                  <a:pt x="881" y="11"/>
                </a:lnTo>
                <a:lnTo>
                  <a:pt x="890" y="5"/>
                </a:lnTo>
                <a:lnTo>
                  <a:pt x="898" y="3"/>
                </a:lnTo>
                <a:lnTo>
                  <a:pt x="908" y="1"/>
                </a:lnTo>
                <a:lnTo>
                  <a:pt x="918" y="1"/>
                </a:lnTo>
                <a:lnTo>
                  <a:pt x="928" y="1"/>
                </a:lnTo>
                <a:lnTo>
                  <a:pt x="935" y="3"/>
                </a:lnTo>
                <a:lnTo>
                  <a:pt x="942" y="5"/>
                </a:lnTo>
                <a:lnTo>
                  <a:pt x="949" y="7"/>
                </a:lnTo>
                <a:lnTo>
                  <a:pt x="954" y="11"/>
                </a:lnTo>
                <a:lnTo>
                  <a:pt x="959" y="14"/>
                </a:lnTo>
                <a:lnTo>
                  <a:pt x="962" y="18"/>
                </a:lnTo>
                <a:lnTo>
                  <a:pt x="965" y="23"/>
                </a:lnTo>
                <a:lnTo>
                  <a:pt x="967" y="29"/>
                </a:lnTo>
                <a:lnTo>
                  <a:pt x="969" y="25"/>
                </a:lnTo>
                <a:lnTo>
                  <a:pt x="969" y="22"/>
                </a:lnTo>
                <a:lnTo>
                  <a:pt x="970" y="18"/>
                </a:lnTo>
                <a:lnTo>
                  <a:pt x="974" y="16"/>
                </a:lnTo>
                <a:lnTo>
                  <a:pt x="975" y="12"/>
                </a:lnTo>
                <a:lnTo>
                  <a:pt x="979" y="11"/>
                </a:lnTo>
                <a:lnTo>
                  <a:pt x="985" y="7"/>
                </a:lnTo>
                <a:lnTo>
                  <a:pt x="994" y="3"/>
                </a:lnTo>
                <a:lnTo>
                  <a:pt x="1004" y="1"/>
                </a:lnTo>
                <a:lnTo>
                  <a:pt x="1014" y="0"/>
                </a:lnTo>
                <a:lnTo>
                  <a:pt x="1026" y="1"/>
                </a:lnTo>
                <a:lnTo>
                  <a:pt x="1034" y="1"/>
                </a:lnTo>
                <a:lnTo>
                  <a:pt x="1042" y="3"/>
                </a:lnTo>
                <a:lnTo>
                  <a:pt x="1049" y="7"/>
                </a:lnTo>
                <a:lnTo>
                  <a:pt x="1056" y="11"/>
                </a:lnTo>
                <a:lnTo>
                  <a:pt x="1063" y="12"/>
                </a:lnTo>
                <a:lnTo>
                  <a:pt x="1068" y="18"/>
                </a:lnTo>
                <a:lnTo>
                  <a:pt x="1071" y="22"/>
                </a:lnTo>
                <a:lnTo>
                  <a:pt x="1074" y="27"/>
                </a:lnTo>
                <a:lnTo>
                  <a:pt x="1083" y="23"/>
                </a:lnTo>
                <a:lnTo>
                  <a:pt x="1091" y="22"/>
                </a:lnTo>
                <a:lnTo>
                  <a:pt x="1101" y="22"/>
                </a:lnTo>
                <a:lnTo>
                  <a:pt x="1109" y="20"/>
                </a:lnTo>
                <a:lnTo>
                  <a:pt x="1120" y="22"/>
                </a:lnTo>
                <a:lnTo>
                  <a:pt x="1130" y="22"/>
                </a:lnTo>
                <a:lnTo>
                  <a:pt x="1140" y="25"/>
                </a:lnTo>
                <a:lnTo>
                  <a:pt x="1148" y="27"/>
                </a:lnTo>
                <a:lnTo>
                  <a:pt x="1153" y="29"/>
                </a:lnTo>
                <a:lnTo>
                  <a:pt x="1156" y="31"/>
                </a:lnTo>
                <a:lnTo>
                  <a:pt x="1160" y="34"/>
                </a:lnTo>
                <a:lnTo>
                  <a:pt x="1161" y="36"/>
                </a:lnTo>
                <a:lnTo>
                  <a:pt x="1165" y="38"/>
                </a:lnTo>
                <a:lnTo>
                  <a:pt x="1166" y="40"/>
                </a:lnTo>
                <a:lnTo>
                  <a:pt x="1166" y="44"/>
                </a:lnTo>
                <a:lnTo>
                  <a:pt x="1168" y="45"/>
                </a:lnTo>
                <a:lnTo>
                  <a:pt x="1172" y="42"/>
                </a:lnTo>
                <a:lnTo>
                  <a:pt x="1175" y="38"/>
                </a:lnTo>
                <a:lnTo>
                  <a:pt x="1182" y="34"/>
                </a:lnTo>
                <a:lnTo>
                  <a:pt x="1187" y="33"/>
                </a:lnTo>
                <a:lnTo>
                  <a:pt x="1193" y="31"/>
                </a:lnTo>
                <a:lnTo>
                  <a:pt x="1200" y="27"/>
                </a:lnTo>
                <a:lnTo>
                  <a:pt x="1208" y="25"/>
                </a:lnTo>
                <a:lnTo>
                  <a:pt x="1217" y="25"/>
                </a:lnTo>
                <a:lnTo>
                  <a:pt x="1234" y="23"/>
                </a:lnTo>
                <a:lnTo>
                  <a:pt x="1252" y="23"/>
                </a:lnTo>
                <a:lnTo>
                  <a:pt x="1272" y="25"/>
                </a:lnTo>
                <a:lnTo>
                  <a:pt x="1291" y="29"/>
                </a:lnTo>
                <a:lnTo>
                  <a:pt x="1306" y="33"/>
                </a:lnTo>
                <a:lnTo>
                  <a:pt x="1319" y="36"/>
                </a:lnTo>
                <a:lnTo>
                  <a:pt x="1324" y="40"/>
                </a:lnTo>
                <a:lnTo>
                  <a:pt x="1329" y="42"/>
                </a:lnTo>
                <a:lnTo>
                  <a:pt x="1334" y="45"/>
                </a:lnTo>
                <a:lnTo>
                  <a:pt x="1339" y="49"/>
                </a:lnTo>
                <a:lnTo>
                  <a:pt x="1343" y="51"/>
                </a:lnTo>
                <a:lnTo>
                  <a:pt x="1346" y="55"/>
                </a:lnTo>
                <a:lnTo>
                  <a:pt x="1349" y="58"/>
                </a:lnTo>
                <a:lnTo>
                  <a:pt x="1353" y="62"/>
                </a:lnTo>
                <a:lnTo>
                  <a:pt x="1354" y="66"/>
                </a:lnTo>
                <a:lnTo>
                  <a:pt x="1354" y="69"/>
                </a:lnTo>
                <a:lnTo>
                  <a:pt x="1356" y="73"/>
                </a:lnTo>
                <a:lnTo>
                  <a:pt x="1356" y="77"/>
                </a:lnTo>
                <a:lnTo>
                  <a:pt x="1364" y="71"/>
                </a:lnTo>
                <a:lnTo>
                  <a:pt x="1374" y="67"/>
                </a:lnTo>
                <a:lnTo>
                  <a:pt x="1386" y="66"/>
                </a:lnTo>
                <a:lnTo>
                  <a:pt x="1396" y="64"/>
                </a:lnTo>
                <a:lnTo>
                  <a:pt x="1405" y="64"/>
                </a:lnTo>
                <a:lnTo>
                  <a:pt x="1415" y="64"/>
                </a:lnTo>
                <a:lnTo>
                  <a:pt x="1421" y="66"/>
                </a:lnTo>
                <a:lnTo>
                  <a:pt x="1428" y="69"/>
                </a:lnTo>
                <a:lnTo>
                  <a:pt x="1433" y="71"/>
                </a:lnTo>
                <a:lnTo>
                  <a:pt x="1435" y="77"/>
                </a:lnTo>
                <a:lnTo>
                  <a:pt x="1436" y="80"/>
                </a:lnTo>
                <a:lnTo>
                  <a:pt x="1436" y="84"/>
                </a:lnTo>
                <a:lnTo>
                  <a:pt x="1435" y="89"/>
                </a:lnTo>
                <a:lnTo>
                  <a:pt x="1433" y="95"/>
                </a:lnTo>
                <a:lnTo>
                  <a:pt x="1428" y="101"/>
                </a:lnTo>
                <a:lnTo>
                  <a:pt x="1423" y="104"/>
                </a:lnTo>
                <a:lnTo>
                  <a:pt x="1431" y="101"/>
                </a:lnTo>
                <a:lnTo>
                  <a:pt x="1440" y="97"/>
                </a:lnTo>
                <a:lnTo>
                  <a:pt x="1448" y="95"/>
                </a:lnTo>
                <a:lnTo>
                  <a:pt x="1457" y="91"/>
                </a:lnTo>
                <a:lnTo>
                  <a:pt x="1467" y="89"/>
                </a:lnTo>
                <a:lnTo>
                  <a:pt x="1475" y="89"/>
                </a:lnTo>
                <a:lnTo>
                  <a:pt x="1485" y="89"/>
                </a:lnTo>
                <a:lnTo>
                  <a:pt x="1495" y="89"/>
                </a:lnTo>
                <a:lnTo>
                  <a:pt x="1505" y="89"/>
                </a:lnTo>
                <a:lnTo>
                  <a:pt x="1514" y="91"/>
                </a:lnTo>
                <a:lnTo>
                  <a:pt x="1524" y="93"/>
                </a:lnTo>
                <a:lnTo>
                  <a:pt x="1532" y="95"/>
                </a:lnTo>
                <a:lnTo>
                  <a:pt x="1540" y="99"/>
                </a:lnTo>
                <a:lnTo>
                  <a:pt x="1549" y="102"/>
                </a:lnTo>
                <a:lnTo>
                  <a:pt x="1555" y="106"/>
                </a:lnTo>
                <a:lnTo>
                  <a:pt x="1564" y="112"/>
                </a:lnTo>
                <a:lnTo>
                  <a:pt x="1571" y="117"/>
                </a:lnTo>
                <a:lnTo>
                  <a:pt x="1577" y="126"/>
                </a:lnTo>
                <a:lnTo>
                  <a:pt x="1582" y="134"/>
                </a:lnTo>
                <a:lnTo>
                  <a:pt x="1586" y="141"/>
                </a:lnTo>
                <a:lnTo>
                  <a:pt x="1587" y="145"/>
                </a:lnTo>
                <a:lnTo>
                  <a:pt x="1587" y="150"/>
                </a:lnTo>
                <a:lnTo>
                  <a:pt x="1587" y="154"/>
                </a:lnTo>
                <a:lnTo>
                  <a:pt x="1587" y="157"/>
                </a:lnTo>
                <a:lnTo>
                  <a:pt x="1587" y="163"/>
                </a:lnTo>
                <a:lnTo>
                  <a:pt x="1586" y="167"/>
                </a:lnTo>
                <a:lnTo>
                  <a:pt x="1584" y="170"/>
                </a:lnTo>
                <a:lnTo>
                  <a:pt x="1582" y="176"/>
                </a:lnTo>
                <a:lnTo>
                  <a:pt x="1591" y="178"/>
                </a:lnTo>
                <a:lnTo>
                  <a:pt x="1599" y="179"/>
                </a:lnTo>
                <a:lnTo>
                  <a:pt x="1607" y="183"/>
                </a:lnTo>
                <a:lnTo>
                  <a:pt x="1616" y="187"/>
                </a:lnTo>
                <a:lnTo>
                  <a:pt x="1622" y="190"/>
                </a:lnTo>
                <a:lnTo>
                  <a:pt x="1628" y="194"/>
                </a:lnTo>
                <a:lnTo>
                  <a:pt x="1633" y="198"/>
                </a:lnTo>
                <a:lnTo>
                  <a:pt x="1638" y="201"/>
                </a:lnTo>
                <a:lnTo>
                  <a:pt x="1643" y="205"/>
                </a:lnTo>
                <a:lnTo>
                  <a:pt x="1644" y="209"/>
                </a:lnTo>
                <a:lnTo>
                  <a:pt x="1648" y="214"/>
                </a:lnTo>
                <a:lnTo>
                  <a:pt x="1649" y="218"/>
                </a:lnTo>
                <a:lnTo>
                  <a:pt x="1649" y="224"/>
                </a:lnTo>
                <a:lnTo>
                  <a:pt x="1649" y="227"/>
                </a:lnTo>
                <a:lnTo>
                  <a:pt x="1648" y="231"/>
                </a:lnTo>
                <a:lnTo>
                  <a:pt x="1646" y="236"/>
                </a:lnTo>
                <a:lnTo>
                  <a:pt x="1661" y="236"/>
                </a:lnTo>
                <a:lnTo>
                  <a:pt x="1674" y="236"/>
                </a:lnTo>
                <a:lnTo>
                  <a:pt x="1688" y="238"/>
                </a:lnTo>
                <a:lnTo>
                  <a:pt x="1700" y="240"/>
                </a:lnTo>
                <a:lnTo>
                  <a:pt x="1713" y="244"/>
                </a:lnTo>
                <a:lnTo>
                  <a:pt x="1723" y="247"/>
                </a:lnTo>
                <a:lnTo>
                  <a:pt x="1733" y="249"/>
                </a:lnTo>
                <a:lnTo>
                  <a:pt x="1743" y="255"/>
                </a:lnTo>
                <a:lnTo>
                  <a:pt x="1752" y="258"/>
                </a:lnTo>
                <a:lnTo>
                  <a:pt x="1760" y="264"/>
                </a:lnTo>
                <a:lnTo>
                  <a:pt x="1765" y="268"/>
                </a:lnTo>
                <a:lnTo>
                  <a:pt x="1770" y="273"/>
                </a:lnTo>
                <a:lnTo>
                  <a:pt x="1775" y="280"/>
                </a:lnTo>
                <a:lnTo>
                  <a:pt x="1777" y="286"/>
                </a:lnTo>
                <a:lnTo>
                  <a:pt x="1778" y="291"/>
                </a:lnTo>
                <a:lnTo>
                  <a:pt x="1778" y="299"/>
                </a:lnTo>
                <a:lnTo>
                  <a:pt x="1777" y="302"/>
                </a:lnTo>
                <a:lnTo>
                  <a:pt x="1775" y="308"/>
                </a:lnTo>
                <a:lnTo>
                  <a:pt x="1772" y="313"/>
                </a:lnTo>
                <a:lnTo>
                  <a:pt x="1767" y="319"/>
                </a:lnTo>
                <a:lnTo>
                  <a:pt x="1762" y="323"/>
                </a:lnTo>
                <a:lnTo>
                  <a:pt x="1757" y="328"/>
                </a:lnTo>
                <a:lnTo>
                  <a:pt x="1750" y="332"/>
                </a:lnTo>
                <a:lnTo>
                  <a:pt x="1741" y="336"/>
                </a:lnTo>
                <a:lnTo>
                  <a:pt x="1748" y="337"/>
                </a:lnTo>
                <a:lnTo>
                  <a:pt x="1757" y="339"/>
                </a:lnTo>
                <a:lnTo>
                  <a:pt x="1762" y="341"/>
                </a:lnTo>
                <a:lnTo>
                  <a:pt x="1768" y="345"/>
                </a:lnTo>
                <a:lnTo>
                  <a:pt x="1773" y="347"/>
                </a:lnTo>
                <a:lnTo>
                  <a:pt x="1778" y="350"/>
                </a:lnTo>
                <a:lnTo>
                  <a:pt x="1782" y="352"/>
                </a:lnTo>
                <a:lnTo>
                  <a:pt x="1785" y="356"/>
                </a:lnTo>
                <a:lnTo>
                  <a:pt x="1787" y="359"/>
                </a:lnTo>
                <a:lnTo>
                  <a:pt x="1788" y="361"/>
                </a:lnTo>
                <a:lnTo>
                  <a:pt x="1790" y="365"/>
                </a:lnTo>
                <a:lnTo>
                  <a:pt x="1790" y="369"/>
                </a:lnTo>
                <a:lnTo>
                  <a:pt x="1790" y="372"/>
                </a:lnTo>
                <a:lnTo>
                  <a:pt x="1788" y="376"/>
                </a:lnTo>
                <a:lnTo>
                  <a:pt x="1787" y="380"/>
                </a:lnTo>
                <a:lnTo>
                  <a:pt x="1783" y="383"/>
                </a:lnTo>
                <a:lnTo>
                  <a:pt x="1778" y="387"/>
                </a:lnTo>
                <a:lnTo>
                  <a:pt x="1772" y="391"/>
                </a:lnTo>
                <a:lnTo>
                  <a:pt x="1763" y="394"/>
                </a:lnTo>
                <a:lnTo>
                  <a:pt x="1753" y="398"/>
                </a:lnTo>
                <a:lnTo>
                  <a:pt x="1762" y="396"/>
                </a:lnTo>
                <a:lnTo>
                  <a:pt x="1770" y="396"/>
                </a:lnTo>
                <a:lnTo>
                  <a:pt x="1777" y="396"/>
                </a:lnTo>
                <a:lnTo>
                  <a:pt x="1785" y="398"/>
                </a:lnTo>
                <a:lnTo>
                  <a:pt x="1792" y="400"/>
                </a:lnTo>
                <a:lnTo>
                  <a:pt x="1798" y="403"/>
                </a:lnTo>
                <a:lnTo>
                  <a:pt x="1804" y="407"/>
                </a:lnTo>
                <a:lnTo>
                  <a:pt x="1807" y="411"/>
                </a:lnTo>
                <a:lnTo>
                  <a:pt x="1809" y="414"/>
                </a:lnTo>
                <a:lnTo>
                  <a:pt x="1810" y="416"/>
                </a:lnTo>
                <a:lnTo>
                  <a:pt x="1810" y="422"/>
                </a:lnTo>
                <a:lnTo>
                  <a:pt x="1810" y="427"/>
                </a:lnTo>
                <a:lnTo>
                  <a:pt x="1809" y="431"/>
                </a:lnTo>
                <a:lnTo>
                  <a:pt x="1804" y="437"/>
                </a:lnTo>
                <a:lnTo>
                  <a:pt x="1800" y="440"/>
                </a:lnTo>
                <a:lnTo>
                  <a:pt x="1793" y="444"/>
                </a:lnTo>
                <a:lnTo>
                  <a:pt x="1787" y="446"/>
                </a:lnTo>
                <a:lnTo>
                  <a:pt x="1782" y="448"/>
                </a:lnTo>
                <a:lnTo>
                  <a:pt x="1777" y="448"/>
                </a:lnTo>
                <a:lnTo>
                  <a:pt x="1772" y="449"/>
                </a:lnTo>
                <a:lnTo>
                  <a:pt x="1767" y="449"/>
                </a:lnTo>
                <a:lnTo>
                  <a:pt x="1757" y="448"/>
                </a:lnTo>
                <a:lnTo>
                  <a:pt x="1747" y="444"/>
                </a:lnTo>
                <a:lnTo>
                  <a:pt x="1753" y="449"/>
                </a:lnTo>
                <a:lnTo>
                  <a:pt x="1757" y="453"/>
                </a:lnTo>
                <a:lnTo>
                  <a:pt x="1762" y="459"/>
                </a:lnTo>
                <a:lnTo>
                  <a:pt x="1765" y="464"/>
                </a:lnTo>
                <a:lnTo>
                  <a:pt x="1767" y="470"/>
                </a:lnTo>
                <a:lnTo>
                  <a:pt x="1768" y="475"/>
                </a:lnTo>
                <a:lnTo>
                  <a:pt x="1768" y="481"/>
                </a:lnTo>
                <a:lnTo>
                  <a:pt x="1768" y="486"/>
                </a:lnTo>
                <a:lnTo>
                  <a:pt x="1768" y="492"/>
                </a:lnTo>
                <a:lnTo>
                  <a:pt x="1767" y="495"/>
                </a:lnTo>
                <a:lnTo>
                  <a:pt x="1763" y="501"/>
                </a:lnTo>
                <a:lnTo>
                  <a:pt x="1760" y="506"/>
                </a:lnTo>
                <a:lnTo>
                  <a:pt x="1757" y="512"/>
                </a:lnTo>
                <a:lnTo>
                  <a:pt x="1752" y="515"/>
                </a:lnTo>
                <a:lnTo>
                  <a:pt x="1747" y="521"/>
                </a:lnTo>
                <a:lnTo>
                  <a:pt x="1740" y="525"/>
                </a:lnTo>
                <a:lnTo>
                  <a:pt x="1728" y="530"/>
                </a:lnTo>
                <a:lnTo>
                  <a:pt x="1716" y="534"/>
                </a:lnTo>
                <a:lnTo>
                  <a:pt x="1703" y="537"/>
                </a:lnTo>
                <a:lnTo>
                  <a:pt x="1690" y="539"/>
                </a:lnTo>
                <a:lnTo>
                  <a:pt x="1700" y="541"/>
                </a:lnTo>
                <a:lnTo>
                  <a:pt x="1710" y="545"/>
                </a:lnTo>
                <a:lnTo>
                  <a:pt x="1713" y="547"/>
                </a:lnTo>
                <a:lnTo>
                  <a:pt x="1716" y="548"/>
                </a:lnTo>
                <a:lnTo>
                  <a:pt x="1720" y="550"/>
                </a:lnTo>
                <a:lnTo>
                  <a:pt x="1723" y="554"/>
                </a:lnTo>
                <a:lnTo>
                  <a:pt x="1725" y="556"/>
                </a:lnTo>
                <a:lnTo>
                  <a:pt x="1726" y="560"/>
                </a:lnTo>
                <a:lnTo>
                  <a:pt x="1728" y="561"/>
                </a:lnTo>
                <a:lnTo>
                  <a:pt x="1728" y="565"/>
                </a:lnTo>
                <a:lnTo>
                  <a:pt x="1728" y="567"/>
                </a:lnTo>
                <a:lnTo>
                  <a:pt x="1728" y="571"/>
                </a:lnTo>
                <a:lnTo>
                  <a:pt x="1726" y="572"/>
                </a:lnTo>
                <a:lnTo>
                  <a:pt x="1725" y="576"/>
                </a:lnTo>
                <a:lnTo>
                  <a:pt x="1723" y="580"/>
                </a:lnTo>
                <a:lnTo>
                  <a:pt x="1720" y="582"/>
                </a:lnTo>
                <a:lnTo>
                  <a:pt x="1716" y="583"/>
                </a:lnTo>
                <a:lnTo>
                  <a:pt x="1713" y="587"/>
                </a:lnTo>
                <a:lnTo>
                  <a:pt x="1705" y="591"/>
                </a:lnTo>
                <a:lnTo>
                  <a:pt x="1696" y="593"/>
                </a:lnTo>
                <a:lnTo>
                  <a:pt x="1685" y="596"/>
                </a:lnTo>
                <a:lnTo>
                  <a:pt x="1674" y="596"/>
                </a:lnTo>
                <a:lnTo>
                  <a:pt x="1663" y="596"/>
                </a:lnTo>
                <a:lnTo>
                  <a:pt x="1651" y="594"/>
                </a:lnTo>
                <a:lnTo>
                  <a:pt x="1646" y="594"/>
                </a:lnTo>
                <a:lnTo>
                  <a:pt x="1641" y="593"/>
                </a:lnTo>
                <a:lnTo>
                  <a:pt x="1631" y="589"/>
                </a:lnTo>
                <a:lnTo>
                  <a:pt x="1634" y="596"/>
                </a:lnTo>
                <a:lnTo>
                  <a:pt x="1634" y="604"/>
                </a:lnTo>
                <a:lnTo>
                  <a:pt x="1634" y="611"/>
                </a:lnTo>
                <a:lnTo>
                  <a:pt x="1633" y="618"/>
                </a:lnTo>
                <a:lnTo>
                  <a:pt x="1631" y="626"/>
                </a:lnTo>
                <a:lnTo>
                  <a:pt x="1628" y="633"/>
                </a:lnTo>
                <a:lnTo>
                  <a:pt x="1622" y="640"/>
                </a:lnTo>
                <a:lnTo>
                  <a:pt x="1617" y="646"/>
                </a:lnTo>
                <a:lnTo>
                  <a:pt x="1611" y="653"/>
                </a:lnTo>
                <a:lnTo>
                  <a:pt x="1604" y="659"/>
                </a:lnTo>
                <a:lnTo>
                  <a:pt x="1596" y="664"/>
                </a:lnTo>
                <a:lnTo>
                  <a:pt x="1587" y="668"/>
                </a:lnTo>
                <a:lnTo>
                  <a:pt x="1577" y="672"/>
                </a:lnTo>
                <a:lnTo>
                  <a:pt x="1567" y="675"/>
                </a:lnTo>
                <a:lnTo>
                  <a:pt x="1557" y="679"/>
                </a:lnTo>
                <a:lnTo>
                  <a:pt x="1545" y="681"/>
                </a:lnTo>
                <a:lnTo>
                  <a:pt x="1535" y="683"/>
                </a:lnTo>
                <a:lnTo>
                  <a:pt x="1525" y="683"/>
                </a:lnTo>
                <a:lnTo>
                  <a:pt x="1515" y="683"/>
                </a:lnTo>
                <a:lnTo>
                  <a:pt x="1505" y="683"/>
                </a:lnTo>
                <a:lnTo>
                  <a:pt x="1495" y="683"/>
                </a:lnTo>
                <a:lnTo>
                  <a:pt x="1485" y="681"/>
                </a:lnTo>
                <a:lnTo>
                  <a:pt x="1475" y="679"/>
                </a:lnTo>
                <a:lnTo>
                  <a:pt x="1467" y="675"/>
                </a:lnTo>
                <a:lnTo>
                  <a:pt x="1468" y="679"/>
                </a:lnTo>
                <a:lnTo>
                  <a:pt x="1472" y="683"/>
                </a:lnTo>
                <a:lnTo>
                  <a:pt x="1472" y="686"/>
                </a:lnTo>
                <a:lnTo>
                  <a:pt x="1472" y="692"/>
                </a:lnTo>
                <a:lnTo>
                  <a:pt x="1472" y="695"/>
                </a:lnTo>
                <a:lnTo>
                  <a:pt x="1470" y="699"/>
                </a:lnTo>
                <a:lnTo>
                  <a:pt x="1468" y="703"/>
                </a:lnTo>
                <a:lnTo>
                  <a:pt x="1465" y="706"/>
                </a:lnTo>
                <a:lnTo>
                  <a:pt x="1460" y="710"/>
                </a:lnTo>
                <a:lnTo>
                  <a:pt x="1457" y="712"/>
                </a:lnTo>
                <a:lnTo>
                  <a:pt x="1451" y="716"/>
                </a:lnTo>
                <a:lnTo>
                  <a:pt x="1445" y="717"/>
                </a:lnTo>
                <a:lnTo>
                  <a:pt x="1438" y="721"/>
                </a:lnTo>
                <a:lnTo>
                  <a:pt x="1431" y="723"/>
                </a:lnTo>
                <a:lnTo>
                  <a:pt x="1423" y="725"/>
                </a:lnTo>
                <a:lnTo>
                  <a:pt x="1415" y="727"/>
                </a:lnTo>
                <a:lnTo>
                  <a:pt x="1403" y="728"/>
                </a:lnTo>
                <a:lnTo>
                  <a:pt x="1389" y="728"/>
                </a:lnTo>
                <a:lnTo>
                  <a:pt x="1378" y="730"/>
                </a:lnTo>
                <a:lnTo>
                  <a:pt x="1366" y="728"/>
                </a:lnTo>
                <a:lnTo>
                  <a:pt x="1354" y="728"/>
                </a:lnTo>
                <a:lnTo>
                  <a:pt x="1343" y="727"/>
                </a:lnTo>
                <a:lnTo>
                  <a:pt x="1332" y="723"/>
                </a:lnTo>
                <a:lnTo>
                  <a:pt x="1322" y="721"/>
                </a:lnTo>
                <a:lnTo>
                  <a:pt x="1322" y="725"/>
                </a:lnTo>
                <a:lnTo>
                  <a:pt x="1322" y="730"/>
                </a:lnTo>
                <a:lnTo>
                  <a:pt x="1322" y="734"/>
                </a:lnTo>
                <a:lnTo>
                  <a:pt x="1321" y="739"/>
                </a:lnTo>
                <a:lnTo>
                  <a:pt x="1319" y="743"/>
                </a:lnTo>
                <a:lnTo>
                  <a:pt x="1317" y="749"/>
                </a:lnTo>
                <a:lnTo>
                  <a:pt x="1314" y="752"/>
                </a:lnTo>
                <a:lnTo>
                  <a:pt x="1311" y="756"/>
                </a:lnTo>
                <a:lnTo>
                  <a:pt x="1306" y="760"/>
                </a:lnTo>
                <a:lnTo>
                  <a:pt x="1301" y="763"/>
                </a:lnTo>
                <a:lnTo>
                  <a:pt x="1296" y="765"/>
                </a:lnTo>
                <a:lnTo>
                  <a:pt x="1291" y="769"/>
                </a:lnTo>
                <a:lnTo>
                  <a:pt x="1284" y="771"/>
                </a:lnTo>
                <a:lnTo>
                  <a:pt x="1277" y="772"/>
                </a:lnTo>
                <a:lnTo>
                  <a:pt x="1270" y="774"/>
                </a:lnTo>
                <a:lnTo>
                  <a:pt x="1264" y="776"/>
                </a:lnTo>
                <a:lnTo>
                  <a:pt x="1250" y="776"/>
                </a:lnTo>
                <a:lnTo>
                  <a:pt x="1239" y="776"/>
                </a:lnTo>
                <a:lnTo>
                  <a:pt x="1225" y="774"/>
                </a:lnTo>
                <a:lnTo>
                  <a:pt x="1215" y="771"/>
                </a:lnTo>
                <a:lnTo>
                  <a:pt x="1205" y="765"/>
                </a:lnTo>
                <a:lnTo>
                  <a:pt x="1195" y="760"/>
                </a:lnTo>
                <a:lnTo>
                  <a:pt x="1192" y="758"/>
                </a:lnTo>
                <a:lnTo>
                  <a:pt x="1188" y="754"/>
                </a:lnTo>
                <a:lnTo>
                  <a:pt x="1185" y="750"/>
                </a:lnTo>
                <a:lnTo>
                  <a:pt x="1182" y="747"/>
                </a:lnTo>
                <a:lnTo>
                  <a:pt x="1183" y="750"/>
                </a:lnTo>
                <a:lnTo>
                  <a:pt x="1185" y="754"/>
                </a:lnTo>
                <a:lnTo>
                  <a:pt x="1185" y="758"/>
                </a:lnTo>
                <a:lnTo>
                  <a:pt x="1185" y="761"/>
                </a:lnTo>
                <a:lnTo>
                  <a:pt x="1183" y="765"/>
                </a:lnTo>
                <a:lnTo>
                  <a:pt x="1182" y="769"/>
                </a:lnTo>
                <a:lnTo>
                  <a:pt x="1178" y="771"/>
                </a:lnTo>
                <a:lnTo>
                  <a:pt x="1175" y="774"/>
                </a:lnTo>
                <a:lnTo>
                  <a:pt x="1172" y="778"/>
                </a:lnTo>
                <a:lnTo>
                  <a:pt x="1166" y="780"/>
                </a:lnTo>
                <a:lnTo>
                  <a:pt x="1163" y="784"/>
                </a:lnTo>
                <a:lnTo>
                  <a:pt x="1156" y="785"/>
                </a:lnTo>
                <a:lnTo>
                  <a:pt x="1151" y="787"/>
                </a:lnTo>
                <a:lnTo>
                  <a:pt x="1145" y="789"/>
                </a:lnTo>
                <a:lnTo>
                  <a:pt x="1138" y="791"/>
                </a:lnTo>
                <a:lnTo>
                  <a:pt x="1130" y="791"/>
                </a:lnTo>
                <a:lnTo>
                  <a:pt x="1116" y="793"/>
                </a:lnTo>
                <a:lnTo>
                  <a:pt x="1101" y="793"/>
                </a:lnTo>
                <a:lnTo>
                  <a:pt x="1088" y="791"/>
                </a:lnTo>
                <a:lnTo>
                  <a:pt x="1074" y="787"/>
                </a:lnTo>
                <a:lnTo>
                  <a:pt x="1063" y="784"/>
                </a:lnTo>
                <a:lnTo>
                  <a:pt x="1056" y="780"/>
                </a:lnTo>
                <a:lnTo>
                  <a:pt x="1052" y="778"/>
                </a:lnTo>
                <a:lnTo>
                  <a:pt x="1047" y="774"/>
                </a:lnTo>
                <a:lnTo>
                  <a:pt x="1044" y="771"/>
                </a:lnTo>
                <a:lnTo>
                  <a:pt x="1041" y="767"/>
                </a:lnTo>
                <a:lnTo>
                  <a:pt x="1037" y="765"/>
                </a:lnTo>
                <a:lnTo>
                  <a:pt x="1036" y="767"/>
                </a:lnTo>
                <a:lnTo>
                  <a:pt x="1034" y="771"/>
                </a:lnTo>
                <a:lnTo>
                  <a:pt x="1032" y="772"/>
                </a:lnTo>
                <a:lnTo>
                  <a:pt x="1029" y="776"/>
                </a:lnTo>
                <a:lnTo>
                  <a:pt x="1026" y="778"/>
                </a:lnTo>
                <a:lnTo>
                  <a:pt x="1022" y="782"/>
                </a:lnTo>
                <a:lnTo>
                  <a:pt x="1017" y="784"/>
                </a:lnTo>
                <a:lnTo>
                  <a:pt x="1012" y="785"/>
                </a:lnTo>
                <a:lnTo>
                  <a:pt x="1006" y="787"/>
                </a:lnTo>
                <a:lnTo>
                  <a:pt x="1001" y="789"/>
                </a:lnTo>
                <a:lnTo>
                  <a:pt x="987" y="791"/>
                </a:lnTo>
                <a:lnTo>
                  <a:pt x="974" y="793"/>
                </a:lnTo>
                <a:lnTo>
                  <a:pt x="959" y="793"/>
                </a:lnTo>
                <a:lnTo>
                  <a:pt x="949" y="791"/>
                </a:lnTo>
                <a:lnTo>
                  <a:pt x="938" y="789"/>
                </a:lnTo>
                <a:lnTo>
                  <a:pt x="928" y="787"/>
                </a:lnTo>
                <a:lnTo>
                  <a:pt x="920" y="785"/>
                </a:lnTo>
                <a:lnTo>
                  <a:pt x="912" y="782"/>
                </a:lnTo>
                <a:lnTo>
                  <a:pt x="905" y="778"/>
                </a:lnTo>
                <a:lnTo>
                  <a:pt x="900" y="774"/>
                </a:lnTo>
                <a:lnTo>
                  <a:pt x="897" y="769"/>
                </a:lnTo>
                <a:lnTo>
                  <a:pt x="892" y="772"/>
                </a:lnTo>
                <a:lnTo>
                  <a:pt x="888" y="776"/>
                </a:lnTo>
                <a:lnTo>
                  <a:pt x="881" y="780"/>
                </a:lnTo>
                <a:lnTo>
                  <a:pt x="876" y="782"/>
                </a:lnTo>
                <a:lnTo>
                  <a:pt x="870" y="785"/>
                </a:lnTo>
                <a:lnTo>
                  <a:pt x="861" y="787"/>
                </a:lnTo>
                <a:lnTo>
                  <a:pt x="855" y="789"/>
                </a:lnTo>
                <a:lnTo>
                  <a:pt x="846" y="791"/>
                </a:lnTo>
                <a:lnTo>
                  <a:pt x="830" y="793"/>
                </a:lnTo>
                <a:lnTo>
                  <a:pt x="813" y="795"/>
                </a:lnTo>
                <a:lnTo>
                  <a:pt x="794" y="793"/>
                </a:lnTo>
                <a:lnTo>
                  <a:pt x="776" y="791"/>
                </a:lnTo>
                <a:lnTo>
                  <a:pt x="766" y="789"/>
                </a:lnTo>
                <a:lnTo>
                  <a:pt x="756" y="785"/>
                </a:lnTo>
                <a:lnTo>
                  <a:pt x="747" y="782"/>
                </a:lnTo>
                <a:lnTo>
                  <a:pt x="741" y="778"/>
                </a:lnTo>
                <a:lnTo>
                  <a:pt x="734" y="774"/>
                </a:lnTo>
                <a:lnTo>
                  <a:pt x="729" y="771"/>
                </a:lnTo>
                <a:lnTo>
                  <a:pt x="724" y="767"/>
                </a:lnTo>
                <a:lnTo>
                  <a:pt x="722" y="761"/>
                </a:lnTo>
                <a:lnTo>
                  <a:pt x="716" y="763"/>
                </a:lnTo>
                <a:lnTo>
                  <a:pt x="711" y="765"/>
                </a:lnTo>
                <a:lnTo>
                  <a:pt x="704" y="767"/>
                </a:lnTo>
                <a:lnTo>
                  <a:pt x="697" y="769"/>
                </a:lnTo>
                <a:lnTo>
                  <a:pt x="682" y="771"/>
                </a:lnTo>
                <a:lnTo>
                  <a:pt x="667" y="771"/>
                </a:lnTo>
                <a:lnTo>
                  <a:pt x="650" y="771"/>
                </a:lnTo>
                <a:lnTo>
                  <a:pt x="635" y="767"/>
                </a:lnTo>
                <a:lnTo>
                  <a:pt x="620" y="763"/>
                </a:lnTo>
                <a:lnTo>
                  <a:pt x="605" y="758"/>
                </a:lnTo>
                <a:lnTo>
                  <a:pt x="598" y="754"/>
                </a:lnTo>
                <a:lnTo>
                  <a:pt x="591" y="750"/>
                </a:lnTo>
                <a:lnTo>
                  <a:pt x="585" y="747"/>
                </a:lnTo>
                <a:lnTo>
                  <a:pt x="580" y="741"/>
                </a:lnTo>
                <a:lnTo>
                  <a:pt x="576" y="738"/>
                </a:lnTo>
                <a:lnTo>
                  <a:pt x="575" y="732"/>
                </a:lnTo>
                <a:lnTo>
                  <a:pt x="575" y="728"/>
                </a:lnTo>
                <a:lnTo>
                  <a:pt x="575" y="723"/>
                </a:lnTo>
                <a:lnTo>
                  <a:pt x="573" y="725"/>
                </a:lnTo>
                <a:lnTo>
                  <a:pt x="573" y="728"/>
                </a:lnTo>
                <a:lnTo>
                  <a:pt x="570" y="730"/>
                </a:lnTo>
                <a:lnTo>
                  <a:pt x="566" y="732"/>
                </a:lnTo>
                <a:lnTo>
                  <a:pt x="563" y="734"/>
                </a:lnTo>
                <a:lnTo>
                  <a:pt x="560" y="736"/>
                </a:lnTo>
                <a:lnTo>
                  <a:pt x="555" y="738"/>
                </a:lnTo>
                <a:lnTo>
                  <a:pt x="550" y="739"/>
                </a:lnTo>
                <a:lnTo>
                  <a:pt x="545" y="741"/>
                </a:lnTo>
                <a:lnTo>
                  <a:pt x="540" y="741"/>
                </a:lnTo>
                <a:lnTo>
                  <a:pt x="526" y="743"/>
                </a:lnTo>
                <a:lnTo>
                  <a:pt x="513" y="743"/>
                </a:lnTo>
                <a:lnTo>
                  <a:pt x="498" y="743"/>
                </a:lnTo>
                <a:lnTo>
                  <a:pt x="484" y="739"/>
                </a:lnTo>
                <a:lnTo>
                  <a:pt x="471" y="738"/>
                </a:lnTo>
                <a:lnTo>
                  <a:pt x="464" y="736"/>
                </a:lnTo>
                <a:lnTo>
                  <a:pt x="459" y="734"/>
                </a:lnTo>
                <a:lnTo>
                  <a:pt x="454" y="732"/>
                </a:lnTo>
                <a:lnTo>
                  <a:pt x="449" y="728"/>
                </a:lnTo>
                <a:lnTo>
                  <a:pt x="444" y="727"/>
                </a:lnTo>
                <a:lnTo>
                  <a:pt x="441" y="725"/>
                </a:lnTo>
                <a:lnTo>
                  <a:pt x="437" y="721"/>
                </a:lnTo>
                <a:lnTo>
                  <a:pt x="436" y="719"/>
                </a:lnTo>
                <a:lnTo>
                  <a:pt x="434" y="716"/>
                </a:lnTo>
                <a:lnTo>
                  <a:pt x="432" y="714"/>
                </a:lnTo>
                <a:lnTo>
                  <a:pt x="432" y="710"/>
                </a:lnTo>
                <a:lnTo>
                  <a:pt x="432" y="708"/>
                </a:lnTo>
                <a:lnTo>
                  <a:pt x="434" y="705"/>
                </a:lnTo>
                <a:lnTo>
                  <a:pt x="436" y="701"/>
                </a:lnTo>
                <a:lnTo>
                  <a:pt x="441" y="697"/>
                </a:lnTo>
                <a:lnTo>
                  <a:pt x="446" y="695"/>
                </a:lnTo>
                <a:lnTo>
                  <a:pt x="437" y="697"/>
                </a:lnTo>
                <a:lnTo>
                  <a:pt x="429" y="699"/>
                </a:lnTo>
                <a:lnTo>
                  <a:pt x="420" y="699"/>
                </a:lnTo>
                <a:lnTo>
                  <a:pt x="412" y="701"/>
                </a:lnTo>
                <a:lnTo>
                  <a:pt x="404" y="701"/>
                </a:lnTo>
                <a:lnTo>
                  <a:pt x="397" y="699"/>
                </a:lnTo>
                <a:lnTo>
                  <a:pt x="389" y="699"/>
                </a:lnTo>
                <a:lnTo>
                  <a:pt x="380" y="697"/>
                </a:lnTo>
                <a:lnTo>
                  <a:pt x="372" y="695"/>
                </a:lnTo>
                <a:lnTo>
                  <a:pt x="365" y="694"/>
                </a:lnTo>
                <a:lnTo>
                  <a:pt x="358" y="690"/>
                </a:lnTo>
                <a:lnTo>
                  <a:pt x="352" y="686"/>
                </a:lnTo>
                <a:lnTo>
                  <a:pt x="345" y="683"/>
                </a:lnTo>
                <a:lnTo>
                  <a:pt x="340" y="679"/>
                </a:lnTo>
                <a:lnTo>
                  <a:pt x="335" y="673"/>
                </a:lnTo>
                <a:lnTo>
                  <a:pt x="332" y="670"/>
                </a:lnTo>
                <a:lnTo>
                  <a:pt x="328" y="664"/>
                </a:lnTo>
                <a:lnTo>
                  <a:pt x="325" y="660"/>
                </a:lnTo>
                <a:lnTo>
                  <a:pt x="323" y="655"/>
                </a:lnTo>
                <a:lnTo>
                  <a:pt x="322" y="649"/>
                </a:lnTo>
                <a:lnTo>
                  <a:pt x="322" y="644"/>
                </a:lnTo>
                <a:lnTo>
                  <a:pt x="322" y="640"/>
                </a:lnTo>
                <a:lnTo>
                  <a:pt x="323" y="635"/>
                </a:lnTo>
                <a:lnTo>
                  <a:pt x="325" y="629"/>
                </a:lnTo>
                <a:lnTo>
                  <a:pt x="317" y="633"/>
                </a:lnTo>
                <a:lnTo>
                  <a:pt x="308" y="637"/>
                </a:lnTo>
                <a:lnTo>
                  <a:pt x="300" y="640"/>
                </a:lnTo>
                <a:lnTo>
                  <a:pt x="291" y="642"/>
                </a:lnTo>
                <a:lnTo>
                  <a:pt x="281" y="644"/>
                </a:lnTo>
                <a:lnTo>
                  <a:pt x="273" y="644"/>
                </a:lnTo>
                <a:lnTo>
                  <a:pt x="263" y="646"/>
                </a:lnTo>
                <a:lnTo>
                  <a:pt x="253" y="646"/>
                </a:lnTo>
                <a:lnTo>
                  <a:pt x="244" y="646"/>
                </a:lnTo>
                <a:lnTo>
                  <a:pt x="234" y="644"/>
                </a:lnTo>
                <a:lnTo>
                  <a:pt x="226" y="644"/>
                </a:lnTo>
                <a:lnTo>
                  <a:pt x="216" y="642"/>
                </a:lnTo>
                <a:lnTo>
                  <a:pt x="208" y="640"/>
                </a:lnTo>
                <a:lnTo>
                  <a:pt x="199" y="637"/>
                </a:lnTo>
                <a:lnTo>
                  <a:pt x="191" y="633"/>
                </a:lnTo>
                <a:lnTo>
                  <a:pt x="182" y="629"/>
                </a:lnTo>
                <a:lnTo>
                  <a:pt x="171" y="626"/>
                </a:lnTo>
                <a:lnTo>
                  <a:pt x="161" y="620"/>
                </a:lnTo>
                <a:lnTo>
                  <a:pt x="151" y="616"/>
                </a:lnTo>
                <a:lnTo>
                  <a:pt x="142" y="611"/>
                </a:lnTo>
                <a:lnTo>
                  <a:pt x="134" y="605"/>
                </a:lnTo>
                <a:lnTo>
                  <a:pt x="125" y="600"/>
                </a:lnTo>
                <a:lnTo>
                  <a:pt x="120" y="594"/>
                </a:lnTo>
                <a:lnTo>
                  <a:pt x="114" y="587"/>
                </a:lnTo>
                <a:lnTo>
                  <a:pt x="109" y="582"/>
                </a:lnTo>
                <a:lnTo>
                  <a:pt x="105" y="576"/>
                </a:lnTo>
                <a:lnTo>
                  <a:pt x="102" y="569"/>
                </a:lnTo>
                <a:lnTo>
                  <a:pt x="100" y="563"/>
                </a:lnTo>
                <a:lnTo>
                  <a:pt x="100" y="558"/>
                </a:lnTo>
                <a:lnTo>
                  <a:pt x="100" y="550"/>
                </a:lnTo>
                <a:lnTo>
                  <a:pt x="100" y="545"/>
                </a:lnTo>
                <a:lnTo>
                  <a:pt x="104" y="539"/>
                </a:lnTo>
                <a:lnTo>
                  <a:pt x="95" y="539"/>
                </a:lnTo>
                <a:lnTo>
                  <a:pt x="87" y="541"/>
                </a:lnTo>
                <a:lnTo>
                  <a:pt x="78" y="541"/>
                </a:lnTo>
                <a:lnTo>
                  <a:pt x="70" y="539"/>
                </a:lnTo>
                <a:lnTo>
                  <a:pt x="63" y="539"/>
                </a:lnTo>
                <a:lnTo>
                  <a:pt x="55" y="537"/>
                </a:lnTo>
                <a:lnTo>
                  <a:pt x="42" y="534"/>
                </a:lnTo>
                <a:lnTo>
                  <a:pt x="35" y="530"/>
                </a:lnTo>
                <a:lnTo>
                  <a:pt x="28" y="528"/>
                </a:lnTo>
                <a:lnTo>
                  <a:pt x="23" y="525"/>
                </a:lnTo>
                <a:lnTo>
                  <a:pt x="18" y="521"/>
                </a:lnTo>
                <a:lnTo>
                  <a:pt x="13" y="515"/>
                </a:lnTo>
                <a:lnTo>
                  <a:pt x="10" y="512"/>
                </a:lnTo>
                <a:lnTo>
                  <a:pt x="6" y="506"/>
                </a:lnTo>
                <a:lnTo>
                  <a:pt x="3" y="503"/>
                </a:lnTo>
                <a:lnTo>
                  <a:pt x="1" y="497"/>
                </a:lnTo>
                <a:lnTo>
                  <a:pt x="1" y="493"/>
                </a:lnTo>
                <a:lnTo>
                  <a:pt x="0" y="490"/>
                </a:lnTo>
                <a:lnTo>
                  <a:pt x="0" y="486"/>
                </a:lnTo>
                <a:lnTo>
                  <a:pt x="1" y="479"/>
                </a:lnTo>
                <a:lnTo>
                  <a:pt x="3" y="471"/>
                </a:lnTo>
                <a:lnTo>
                  <a:pt x="8" y="466"/>
                </a:lnTo>
                <a:lnTo>
                  <a:pt x="13" y="459"/>
                </a:lnTo>
                <a:lnTo>
                  <a:pt x="20" y="453"/>
                </a:lnTo>
                <a:lnTo>
                  <a:pt x="28" y="448"/>
                </a:lnTo>
                <a:lnTo>
                  <a:pt x="23" y="444"/>
                </a:lnTo>
                <a:lnTo>
                  <a:pt x="20" y="440"/>
                </a:lnTo>
                <a:lnTo>
                  <a:pt x="16" y="437"/>
                </a:lnTo>
                <a:lnTo>
                  <a:pt x="13" y="435"/>
                </a:lnTo>
                <a:lnTo>
                  <a:pt x="11" y="431"/>
                </a:lnTo>
                <a:lnTo>
                  <a:pt x="10" y="427"/>
                </a:lnTo>
                <a:lnTo>
                  <a:pt x="10" y="424"/>
                </a:lnTo>
                <a:lnTo>
                  <a:pt x="10" y="420"/>
                </a:lnTo>
                <a:lnTo>
                  <a:pt x="11" y="416"/>
                </a:lnTo>
                <a:lnTo>
                  <a:pt x="13" y="414"/>
                </a:lnTo>
                <a:lnTo>
                  <a:pt x="15" y="411"/>
                </a:lnTo>
                <a:lnTo>
                  <a:pt x="18" y="407"/>
                </a:lnTo>
                <a:lnTo>
                  <a:pt x="21" y="405"/>
                </a:lnTo>
                <a:lnTo>
                  <a:pt x="27" y="403"/>
                </a:lnTo>
                <a:lnTo>
                  <a:pt x="32" y="400"/>
                </a:lnTo>
                <a:lnTo>
                  <a:pt x="38" y="398"/>
                </a:lnTo>
                <a:lnTo>
                  <a:pt x="40" y="398"/>
                </a:lnTo>
              </a:path>
            </a:pathLst>
          </a:custGeom>
          <a:solidFill>
            <a:schemeClr val="accent2"/>
          </a:solidFill>
          <a:ln w="19050">
            <a:solidFill>
              <a:srgbClr val="000000"/>
            </a:solidFill>
            <a:round/>
          </a:ln>
        </p:spPr>
        <p:txBody>
          <a:bodyPr/>
          <a:lstStyle/>
          <a:p>
            <a:endParaRPr lang="zh-CN" altLang="en-US"/>
          </a:p>
        </p:txBody>
      </p:sp>
      <p:sp>
        <p:nvSpPr>
          <p:cNvPr id="25623" name="Rectangle 25"/>
          <p:cNvSpPr>
            <a:spLocks noChangeArrowheads="1"/>
          </p:cNvSpPr>
          <p:nvPr/>
        </p:nvSpPr>
        <p:spPr bwMode="auto">
          <a:xfrm>
            <a:off x="6457950" y="5981353"/>
            <a:ext cx="12096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FontTx/>
              <a:buNone/>
            </a:pPr>
            <a:r>
              <a:rPr kumimoji="1" lang="en-US" altLang="zh-CN" sz="1300">
                <a:solidFill>
                  <a:srgbClr val="000000"/>
                </a:solidFill>
                <a:latin typeface="Tahoma" panose="020B0604030504040204" pitchFamily="34" charset="0"/>
                <a:ea typeface="隶书" panose="02010509060101010101" pitchFamily="49" charset="-122"/>
              </a:rPr>
              <a:t>TASK_ZOMBIE</a:t>
            </a:r>
            <a:endParaRPr kumimoji="1" lang="en-US" altLang="zh-CN" sz="2400">
              <a:solidFill>
                <a:schemeClr val="tx1"/>
              </a:solidFill>
              <a:latin typeface="Times New Roman" panose="02020603050405020304" pitchFamily="18" charset="0"/>
              <a:ea typeface="隶书" panose="02010509060101010101" pitchFamily="49" charset="-122"/>
            </a:endParaRPr>
          </a:p>
        </p:txBody>
      </p:sp>
      <p:sp>
        <p:nvSpPr>
          <p:cNvPr id="25624" name="Rectangle 26"/>
          <p:cNvSpPr>
            <a:spLocks noChangeArrowheads="1"/>
          </p:cNvSpPr>
          <p:nvPr/>
        </p:nvSpPr>
        <p:spPr bwMode="auto">
          <a:xfrm>
            <a:off x="6896100" y="6202015"/>
            <a:ext cx="3302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FontTx/>
              <a:buNone/>
            </a:pPr>
            <a:r>
              <a:rPr kumimoji="1" lang="zh-CN" altLang="en-US" sz="1300">
                <a:solidFill>
                  <a:srgbClr val="000000"/>
                </a:solidFill>
                <a:latin typeface="宋体" panose="02010600030101010101" pitchFamily="2" charset="-122"/>
              </a:rPr>
              <a:t>僵死</a:t>
            </a:r>
            <a:endParaRPr kumimoji="1" lang="zh-CN" altLang="en-US" sz="2400">
              <a:solidFill>
                <a:schemeClr val="tx1"/>
              </a:solidFill>
              <a:latin typeface="Times New Roman" panose="02020603050405020304" pitchFamily="18" charset="0"/>
              <a:ea typeface="隶书" panose="02010509060101010101" pitchFamily="49" charset="-122"/>
            </a:endParaRPr>
          </a:p>
        </p:txBody>
      </p:sp>
      <p:sp>
        <p:nvSpPr>
          <p:cNvPr id="25625" name="Freeform 27"/>
          <p:cNvSpPr/>
          <p:nvPr/>
        </p:nvSpPr>
        <p:spPr bwMode="auto">
          <a:xfrm>
            <a:off x="3722688" y="3944590"/>
            <a:ext cx="1490662" cy="917575"/>
          </a:xfrm>
          <a:custGeom>
            <a:avLst/>
            <a:gdLst>
              <a:gd name="T0" fmla="*/ 2147483646 w 1878"/>
              <a:gd name="T1" fmla="*/ 2147483646 h 1157"/>
              <a:gd name="T2" fmla="*/ 2147483646 w 1878"/>
              <a:gd name="T3" fmla="*/ 2147483646 h 1157"/>
              <a:gd name="T4" fmla="*/ 2147483646 w 1878"/>
              <a:gd name="T5" fmla="*/ 2147483646 h 1157"/>
              <a:gd name="T6" fmla="*/ 2147483646 w 1878"/>
              <a:gd name="T7" fmla="*/ 2147483646 h 1157"/>
              <a:gd name="T8" fmla="*/ 2147483646 w 1878"/>
              <a:gd name="T9" fmla="*/ 2147483646 h 1157"/>
              <a:gd name="T10" fmla="*/ 2147483646 w 1878"/>
              <a:gd name="T11" fmla="*/ 2147483646 h 1157"/>
              <a:gd name="T12" fmla="*/ 2147483646 w 1878"/>
              <a:gd name="T13" fmla="*/ 2147483646 h 1157"/>
              <a:gd name="T14" fmla="*/ 2147483646 w 1878"/>
              <a:gd name="T15" fmla="*/ 2147483646 h 1157"/>
              <a:gd name="T16" fmla="*/ 2147483646 w 1878"/>
              <a:gd name="T17" fmla="*/ 2147483646 h 1157"/>
              <a:gd name="T18" fmla="*/ 2147483646 w 1878"/>
              <a:gd name="T19" fmla="*/ 2147483646 h 1157"/>
              <a:gd name="T20" fmla="*/ 2147483646 w 1878"/>
              <a:gd name="T21" fmla="*/ 2147483646 h 1157"/>
              <a:gd name="T22" fmla="*/ 2147483646 w 1878"/>
              <a:gd name="T23" fmla="*/ 2147483646 h 1157"/>
              <a:gd name="T24" fmla="*/ 2147483646 w 1878"/>
              <a:gd name="T25" fmla="*/ 2147483646 h 1157"/>
              <a:gd name="T26" fmla="*/ 2147483646 w 1878"/>
              <a:gd name="T27" fmla="*/ 2147483646 h 1157"/>
              <a:gd name="T28" fmla="*/ 2147483646 w 1878"/>
              <a:gd name="T29" fmla="*/ 2147483646 h 1157"/>
              <a:gd name="T30" fmla="*/ 2147483646 w 1878"/>
              <a:gd name="T31" fmla="*/ 2147483646 h 1157"/>
              <a:gd name="T32" fmla="*/ 2147483646 w 1878"/>
              <a:gd name="T33" fmla="*/ 2147483646 h 1157"/>
              <a:gd name="T34" fmla="*/ 2147483646 w 1878"/>
              <a:gd name="T35" fmla="*/ 2147483646 h 1157"/>
              <a:gd name="T36" fmla="*/ 2147483646 w 1878"/>
              <a:gd name="T37" fmla="*/ 2147483646 h 1157"/>
              <a:gd name="T38" fmla="*/ 2147483646 w 1878"/>
              <a:gd name="T39" fmla="*/ 2147483646 h 1157"/>
              <a:gd name="T40" fmla="*/ 2147483646 w 1878"/>
              <a:gd name="T41" fmla="*/ 2147483646 h 1157"/>
              <a:gd name="T42" fmla="*/ 2147483646 w 1878"/>
              <a:gd name="T43" fmla="*/ 2147483646 h 1157"/>
              <a:gd name="T44" fmla="*/ 2147483646 w 1878"/>
              <a:gd name="T45" fmla="*/ 2147483646 h 1157"/>
              <a:gd name="T46" fmla="*/ 2147483646 w 1878"/>
              <a:gd name="T47" fmla="*/ 2147483646 h 1157"/>
              <a:gd name="T48" fmla="*/ 2147483646 w 1878"/>
              <a:gd name="T49" fmla="*/ 2147483646 h 1157"/>
              <a:gd name="T50" fmla="*/ 2147483646 w 1878"/>
              <a:gd name="T51" fmla="*/ 2147483646 h 1157"/>
              <a:gd name="T52" fmla="*/ 2147483646 w 1878"/>
              <a:gd name="T53" fmla="*/ 2147483646 h 1157"/>
              <a:gd name="T54" fmla="*/ 2147483646 w 1878"/>
              <a:gd name="T55" fmla="*/ 2147483646 h 1157"/>
              <a:gd name="T56" fmla="*/ 2147483646 w 1878"/>
              <a:gd name="T57" fmla="*/ 2147483646 h 1157"/>
              <a:gd name="T58" fmla="*/ 2147483646 w 1878"/>
              <a:gd name="T59" fmla="*/ 2147483646 h 1157"/>
              <a:gd name="T60" fmla="*/ 2147483646 w 1878"/>
              <a:gd name="T61" fmla="*/ 2147483646 h 1157"/>
              <a:gd name="T62" fmla="*/ 2147483646 w 1878"/>
              <a:gd name="T63" fmla="*/ 2147483646 h 1157"/>
              <a:gd name="T64" fmla="*/ 2147483646 w 1878"/>
              <a:gd name="T65" fmla="*/ 2147483646 h 1157"/>
              <a:gd name="T66" fmla="*/ 2147483646 w 1878"/>
              <a:gd name="T67" fmla="*/ 2147483646 h 1157"/>
              <a:gd name="T68" fmla="*/ 2147483646 w 1878"/>
              <a:gd name="T69" fmla="*/ 2147483646 h 1157"/>
              <a:gd name="T70" fmla="*/ 2147483646 w 1878"/>
              <a:gd name="T71" fmla="*/ 2147483646 h 1157"/>
              <a:gd name="T72" fmla="*/ 2147483646 w 1878"/>
              <a:gd name="T73" fmla="*/ 2147483646 h 1157"/>
              <a:gd name="T74" fmla="*/ 2147483646 w 1878"/>
              <a:gd name="T75" fmla="*/ 2147483646 h 1157"/>
              <a:gd name="T76" fmla="*/ 2147483646 w 1878"/>
              <a:gd name="T77" fmla="*/ 2147483646 h 1157"/>
              <a:gd name="T78" fmla="*/ 2147483646 w 1878"/>
              <a:gd name="T79" fmla="*/ 2147483646 h 1157"/>
              <a:gd name="T80" fmla="*/ 2147483646 w 1878"/>
              <a:gd name="T81" fmla="*/ 2147483646 h 1157"/>
              <a:gd name="T82" fmla="*/ 2147483646 w 1878"/>
              <a:gd name="T83" fmla="*/ 2147483646 h 1157"/>
              <a:gd name="T84" fmla="*/ 2147483646 w 1878"/>
              <a:gd name="T85" fmla="*/ 2147483646 h 1157"/>
              <a:gd name="T86" fmla="*/ 2147483646 w 1878"/>
              <a:gd name="T87" fmla="*/ 2147483646 h 1157"/>
              <a:gd name="T88" fmla="*/ 2147483646 w 1878"/>
              <a:gd name="T89" fmla="*/ 2147483646 h 1157"/>
              <a:gd name="T90" fmla="*/ 2147483646 w 1878"/>
              <a:gd name="T91" fmla="*/ 2147483646 h 1157"/>
              <a:gd name="T92" fmla="*/ 2147483646 w 1878"/>
              <a:gd name="T93" fmla="*/ 2147483646 h 1157"/>
              <a:gd name="T94" fmla="*/ 2147483646 w 1878"/>
              <a:gd name="T95" fmla="*/ 2147483646 h 1157"/>
              <a:gd name="T96" fmla="*/ 2147483646 w 1878"/>
              <a:gd name="T97" fmla="*/ 2147483646 h 1157"/>
              <a:gd name="T98" fmla="*/ 2147483646 w 1878"/>
              <a:gd name="T99" fmla="*/ 2147483646 h 1157"/>
              <a:gd name="T100" fmla="*/ 2147483646 w 1878"/>
              <a:gd name="T101" fmla="*/ 2147483646 h 1157"/>
              <a:gd name="T102" fmla="*/ 2147483646 w 1878"/>
              <a:gd name="T103" fmla="*/ 2147483646 h 1157"/>
              <a:gd name="T104" fmla="*/ 2147483646 w 1878"/>
              <a:gd name="T105" fmla="*/ 2147483646 h 1157"/>
              <a:gd name="T106" fmla="*/ 2147483646 w 1878"/>
              <a:gd name="T107" fmla="*/ 2147483646 h 1157"/>
              <a:gd name="T108" fmla="*/ 2147483646 w 1878"/>
              <a:gd name="T109" fmla="*/ 2147483646 h 1157"/>
              <a:gd name="T110" fmla="*/ 2147483646 w 1878"/>
              <a:gd name="T111" fmla="*/ 2147483646 h 1157"/>
              <a:gd name="T112" fmla="*/ 2147483646 w 1878"/>
              <a:gd name="T113" fmla="*/ 2147483646 h 1157"/>
              <a:gd name="T114" fmla="*/ 2147483646 w 1878"/>
              <a:gd name="T115" fmla="*/ 2147483646 h 1157"/>
              <a:gd name="T116" fmla="*/ 2147483646 w 1878"/>
              <a:gd name="T117" fmla="*/ 2147483646 h 1157"/>
              <a:gd name="T118" fmla="*/ 2147483646 w 1878"/>
              <a:gd name="T119" fmla="*/ 2147483646 h 115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1878"/>
              <a:gd name="T181" fmla="*/ 0 h 1157"/>
              <a:gd name="T182" fmla="*/ 1878 w 1878"/>
              <a:gd name="T183" fmla="*/ 1157 h 1157"/>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1878" h="1157">
                <a:moveTo>
                  <a:pt x="41" y="580"/>
                </a:moveTo>
                <a:lnTo>
                  <a:pt x="34" y="577"/>
                </a:lnTo>
                <a:lnTo>
                  <a:pt x="29" y="571"/>
                </a:lnTo>
                <a:lnTo>
                  <a:pt x="24" y="568"/>
                </a:lnTo>
                <a:lnTo>
                  <a:pt x="19" y="562"/>
                </a:lnTo>
                <a:lnTo>
                  <a:pt x="14" y="555"/>
                </a:lnTo>
                <a:lnTo>
                  <a:pt x="11" y="549"/>
                </a:lnTo>
                <a:lnTo>
                  <a:pt x="9" y="544"/>
                </a:lnTo>
                <a:lnTo>
                  <a:pt x="5" y="536"/>
                </a:lnTo>
                <a:lnTo>
                  <a:pt x="5" y="529"/>
                </a:lnTo>
                <a:lnTo>
                  <a:pt x="4" y="524"/>
                </a:lnTo>
                <a:lnTo>
                  <a:pt x="4" y="516"/>
                </a:lnTo>
                <a:lnTo>
                  <a:pt x="5" y="509"/>
                </a:lnTo>
                <a:lnTo>
                  <a:pt x="5" y="502"/>
                </a:lnTo>
                <a:lnTo>
                  <a:pt x="9" y="496"/>
                </a:lnTo>
                <a:lnTo>
                  <a:pt x="12" y="489"/>
                </a:lnTo>
                <a:lnTo>
                  <a:pt x="16" y="483"/>
                </a:lnTo>
                <a:lnTo>
                  <a:pt x="21" y="476"/>
                </a:lnTo>
                <a:lnTo>
                  <a:pt x="26" y="470"/>
                </a:lnTo>
                <a:lnTo>
                  <a:pt x="31" y="465"/>
                </a:lnTo>
                <a:lnTo>
                  <a:pt x="37" y="461"/>
                </a:lnTo>
                <a:lnTo>
                  <a:pt x="44" y="457"/>
                </a:lnTo>
                <a:lnTo>
                  <a:pt x="52" y="454"/>
                </a:lnTo>
                <a:lnTo>
                  <a:pt x="59" y="452"/>
                </a:lnTo>
                <a:lnTo>
                  <a:pt x="68" y="450"/>
                </a:lnTo>
                <a:lnTo>
                  <a:pt x="62" y="441"/>
                </a:lnTo>
                <a:lnTo>
                  <a:pt x="59" y="432"/>
                </a:lnTo>
                <a:lnTo>
                  <a:pt x="56" y="423"/>
                </a:lnTo>
                <a:lnTo>
                  <a:pt x="54" y="413"/>
                </a:lnTo>
                <a:lnTo>
                  <a:pt x="52" y="404"/>
                </a:lnTo>
                <a:lnTo>
                  <a:pt x="52" y="395"/>
                </a:lnTo>
                <a:lnTo>
                  <a:pt x="54" y="386"/>
                </a:lnTo>
                <a:lnTo>
                  <a:pt x="56" y="377"/>
                </a:lnTo>
                <a:lnTo>
                  <a:pt x="57" y="367"/>
                </a:lnTo>
                <a:lnTo>
                  <a:pt x="62" y="358"/>
                </a:lnTo>
                <a:lnTo>
                  <a:pt x="66" y="349"/>
                </a:lnTo>
                <a:lnTo>
                  <a:pt x="73" y="342"/>
                </a:lnTo>
                <a:lnTo>
                  <a:pt x="79" y="334"/>
                </a:lnTo>
                <a:lnTo>
                  <a:pt x="86" y="327"/>
                </a:lnTo>
                <a:lnTo>
                  <a:pt x="94" y="322"/>
                </a:lnTo>
                <a:lnTo>
                  <a:pt x="103" y="316"/>
                </a:lnTo>
                <a:lnTo>
                  <a:pt x="111" y="312"/>
                </a:lnTo>
                <a:lnTo>
                  <a:pt x="118" y="309"/>
                </a:lnTo>
                <a:lnTo>
                  <a:pt x="126" y="307"/>
                </a:lnTo>
                <a:lnTo>
                  <a:pt x="135" y="303"/>
                </a:lnTo>
                <a:lnTo>
                  <a:pt x="143" y="303"/>
                </a:lnTo>
                <a:lnTo>
                  <a:pt x="151" y="301"/>
                </a:lnTo>
                <a:lnTo>
                  <a:pt x="160" y="301"/>
                </a:lnTo>
                <a:lnTo>
                  <a:pt x="168" y="301"/>
                </a:lnTo>
                <a:lnTo>
                  <a:pt x="166" y="290"/>
                </a:lnTo>
                <a:lnTo>
                  <a:pt x="165" y="279"/>
                </a:lnTo>
                <a:lnTo>
                  <a:pt x="165" y="268"/>
                </a:lnTo>
                <a:lnTo>
                  <a:pt x="166" y="257"/>
                </a:lnTo>
                <a:lnTo>
                  <a:pt x="168" y="248"/>
                </a:lnTo>
                <a:lnTo>
                  <a:pt x="171" y="237"/>
                </a:lnTo>
                <a:lnTo>
                  <a:pt x="176" y="228"/>
                </a:lnTo>
                <a:lnTo>
                  <a:pt x="183" y="217"/>
                </a:lnTo>
                <a:lnTo>
                  <a:pt x="188" y="210"/>
                </a:lnTo>
                <a:lnTo>
                  <a:pt x="197" y="200"/>
                </a:lnTo>
                <a:lnTo>
                  <a:pt x="205" y="193"/>
                </a:lnTo>
                <a:lnTo>
                  <a:pt x="213" y="186"/>
                </a:lnTo>
                <a:lnTo>
                  <a:pt x="223" y="180"/>
                </a:lnTo>
                <a:lnTo>
                  <a:pt x="235" y="175"/>
                </a:lnTo>
                <a:lnTo>
                  <a:pt x="245" y="171"/>
                </a:lnTo>
                <a:lnTo>
                  <a:pt x="257" y="167"/>
                </a:lnTo>
                <a:lnTo>
                  <a:pt x="269" y="166"/>
                </a:lnTo>
                <a:lnTo>
                  <a:pt x="279" y="166"/>
                </a:lnTo>
                <a:lnTo>
                  <a:pt x="289" y="164"/>
                </a:lnTo>
                <a:lnTo>
                  <a:pt x="299" y="166"/>
                </a:lnTo>
                <a:lnTo>
                  <a:pt x="309" y="167"/>
                </a:lnTo>
                <a:lnTo>
                  <a:pt x="321" y="169"/>
                </a:lnTo>
                <a:lnTo>
                  <a:pt x="329" y="173"/>
                </a:lnTo>
                <a:lnTo>
                  <a:pt x="339" y="177"/>
                </a:lnTo>
                <a:lnTo>
                  <a:pt x="336" y="169"/>
                </a:lnTo>
                <a:lnTo>
                  <a:pt x="334" y="162"/>
                </a:lnTo>
                <a:lnTo>
                  <a:pt x="332" y="155"/>
                </a:lnTo>
                <a:lnTo>
                  <a:pt x="332" y="147"/>
                </a:lnTo>
                <a:lnTo>
                  <a:pt x="332" y="140"/>
                </a:lnTo>
                <a:lnTo>
                  <a:pt x="334" y="132"/>
                </a:lnTo>
                <a:lnTo>
                  <a:pt x="336" y="125"/>
                </a:lnTo>
                <a:lnTo>
                  <a:pt x="337" y="118"/>
                </a:lnTo>
                <a:lnTo>
                  <a:pt x="341" y="110"/>
                </a:lnTo>
                <a:lnTo>
                  <a:pt x="346" y="105"/>
                </a:lnTo>
                <a:lnTo>
                  <a:pt x="349" y="99"/>
                </a:lnTo>
                <a:lnTo>
                  <a:pt x="356" y="94"/>
                </a:lnTo>
                <a:lnTo>
                  <a:pt x="361" y="88"/>
                </a:lnTo>
                <a:lnTo>
                  <a:pt x="368" y="83"/>
                </a:lnTo>
                <a:lnTo>
                  <a:pt x="374" y="79"/>
                </a:lnTo>
                <a:lnTo>
                  <a:pt x="383" y="76"/>
                </a:lnTo>
                <a:lnTo>
                  <a:pt x="389" y="74"/>
                </a:lnTo>
                <a:lnTo>
                  <a:pt x="398" y="72"/>
                </a:lnTo>
                <a:lnTo>
                  <a:pt x="404" y="70"/>
                </a:lnTo>
                <a:lnTo>
                  <a:pt x="413" y="70"/>
                </a:lnTo>
                <a:lnTo>
                  <a:pt x="421" y="70"/>
                </a:lnTo>
                <a:lnTo>
                  <a:pt x="428" y="70"/>
                </a:lnTo>
                <a:lnTo>
                  <a:pt x="436" y="72"/>
                </a:lnTo>
                <a:lnTo>
                  <a:pt x="443" y="74"/>
                </a:lnTo>
                <a:lnTo>
                  <a:pt x="450" y="76"/>
                </a:lnTo>
                <a:lnTo>
                  <a:pt x="456" y="79"/>
                </a:lnTo>
                <a:lnTo>
                  <a:pt x="463" y="83"/>
                </a:lnTo>
                <a:lnTo>
                  <a:pt x="470" y="88"/>
                </a:lnTo>
                <a:lnTo>
                  <a:pt x="475" y="92"/>
                </a:lnTo>
                <a:lnTo>
                  <a:pt x="480" y="98"/>
                </a:lnTo>
                <a:lnTo>
                  <a:pt x="485" y="103"/>
                </a:lnTo>
                <a:lnTo>
                  <a:pt x="490" y="110"/>
                </a:lnTo>
                <a:lnTo>
                  <a:pt x="490" y="101"/>
                </a:lnTo>
                <a:lnTo>
                  <a:pt x="493" y="94"/>
                </a:lnTo>
                <a:lnTo>
                  <a:pt x="497" y="87"/>
                </a:lnTo>
                <a:lnTo>
                  <a:pt x="500" y="79"/>
                </a:lnTo>
                <a:lnTo>
                  <a:pt x="505" y="72"/>
                </a:lnTo>
                <a:lnTo>
                  <a:pt x="510" y="66"/>
                </a:lnTo>
                <a:lnTo>
                  <a:pt x="517" y="61"/>
                </a:lnTo>
                <a:lnTo>
                  <a:pt x="524" y="55"/>
                </a:lnTo>
                <a:lnTo>
                  <a:pt x="530" y="50"/>
                </a:lnTo>
                <a:lnTo>
                  <a:pt x="539" y="46"/>
                </a:lnTo>
                <a:lnTo>
                  <a:pt x="547" y="43"/>
                </a:lnTo>
                <a:lnTo>
                  <a:pt x="555" y="41"/>
                </a:lnTo>
                <a:lnTo>
                  <a:pt x="564" y="39"/>
                </a:lnTo>
                <a:lnTo>
                  <a:pt x="572" y="37"/>
                </a:lnTo>
                <a:lnTo>
                  <a:pt x="580" y="37"/>
                </a:lnTo>
                <a:lnTo>
                  <a:pt x="591" y="37"/>
                </a:lnTo>
                <a:lnTo>
                  <a:pt x="599" y="39"/>
                </a:lnTo>
                <a:lnTo>
                  <a:pt x="607" y="41"/>
                </a:lnTo>
                <a:lnTo>
                  <a:pt x="616" y="44"/>
                </a:lnTo>
                <a:lnTo>
                  <a:pt x="622" y="48"/>
                </a:lnTo>
                <a:lnTo>
                  <a:pt x="631" y="52"/>
                </a:lnTo>
                <a:lnTo>
                  <a:pt x="637" y="55"/>
                </a:lnTo>
                <a:lnTo>
                  <a:pt x="643" y="61"/>
                </a:lnTo>
                <a:lnTo>
                  <a:pt x="649" y="66"/>
                </a:lnTo>
                <a:lnTo>
                  <a:pt x="661" y="54"/>
                </a:lnTo>
                <a:lnTo>
                  <a:pt x="674" y="43"/>
                </a:lnTo>
                <a:lnTo>
                  <a:pt x="688" y="33"/>
                </a:lnTo>
                <a:lnTo>
                  <a:pt x="703" y="26"/>
                </a:lnTo>
                <a:lnTo>
                  <a:pt x="718" y="19"/>
                </a:lnTo>
                <a:lnTo>
                  <a:pt x="735" y="13"/>
                </a:lnTo>
                <a:lnTo>
                  <a:pt x="751" y="9"/>
                </a:lnTo>
                <a:lnTo>
                  <a:pt x="768" y="6"/>
                </a:lnTo>
                <a:lnTo>
                  <a:pt x="785" y="6"/>
                </a:lnTo>
                <a:lnTo>
                  <a:pt x="802" y="6"/>
                </a:lnTo>
                <a:lnTo>
                  <a:pt x="819" y="8"/>
                </a:lnTo>
                <a:lnTo>
                  <a:pt x="835" y="11"/>
                </a:lnTo>
                <a:lnTo>
                  <a:pt x="852" y="15"/>
                </a:lnTo>
                <a:lnTo>
                  <a:pt x="869" y="22"/>
                </a:lnTo>
                <a:lnTo>
                  <a:pt x="884" y="30"/>
                </a:lnTo>
                <a:lnTo>
                  <a:pt x="899" y="39"/>
                </a:lnTo>
                <a:lnTo>
                  <a:pt x="901" y="35"/>
                </a:lnTo>
                <a:lnTo>
                  <a:pt x="902" y="30"/>
                </a:lnTo>
                <a:lnTo>
                  <a:pt x="906" y="26"/>
                </a:lnTo>
                <a:lnTo>
                  <a:pt x="907" y="22"/>
                </a:lnTo>
                <a:lnTo>
                  <a:pt x="914" y="15"/>
                </a:lnTo>
                <a:lnTo>
                  <a:pt x="922" y="9"/>
                </a:lnTo>
                <a:lnTo>
                  <a:pt x="933" y="4"/>
                </a:lnTo>
                <a:lnTo>
                  <a:pt x="943" y="2"/>
                </a:lnTo>
                <a:lnTo>
                  <a:pt x="948" y="2"/>
                </a:lnTo>
                <a:lnTo>
                  <a:pt x="953" y="2"/>
                </a:lnTo>
                <a:lnTo>
                  <a:pt x="958" y="2"/>
                </a:lnTo>
                <a:lnTo>
                  <a:pt x="964" y="2"/>
                </a:lnTo>
                <a:lnTo>
                  <a:pt x="971" y="4"/>
                </a:lnTo>
                <a:lnTo>
                  <a:pt x="978" y="8"/>
                </a:lnTo>
                <a:lnTo>
                  <a:pt x="985" y="11"/>
                </a:lnTo>
                <a:lnTo>
                  <a:pt x="990" y="17"/>
                </a:lnTo>
                <a:lnTo>
                  <a:pt x="995" y="22"/>
                </a:lnTo>
                <a:lnTo>
                  <a:pt x="1000" y="28"/>
                </a:lnTo>
                <a:lnTo>
                  <a:pt x="1001" y="33"/>
                </a:lnTo>
                <a:lnTo>
                  <a:pt x="1005" y="41"/>
                </a:lnTo>
                <a:lnTo>
                  <a:pt x="1005" y="37"/>
                </a:lnTo>
                <a:lnTo>
                  <a:pt x="1006" y="31"/>
                </a:lnTo>
                <a:lnTo>
                  <a:pt x="1008" y="28"/>
                </a:lnTo>
                <a:lnTo>
                  <a:pt x="1010" y="22"/>
                </a:lnTo>
                <a:lnTo>
                  <a:pt x="1013" y="19"/>
                </a:lnTo>
                <a:lnTo>
                  <a:pt x="1015" y="15"/>
                </a:lnTo>
                <a:lnTo>
                  <a:pt x="1023" y="9"/>
                </a:lnTo>
                <a:lnTo>
                  <a:pt x="1031" y="6"/>
                </a:lnTo>
                <a:lnTo>
                  <a:pt x="1042" y="2"/>
                </a:lnTo>
                <a:lnTo>
                  <a:pt x="1047" y="2"/>
                </a:lnTo>
                <a:lnTo>
                  <a:pt x="1053" y="0"/>
                </a:lnTo>
                <a:lnTo>
                  <a:pt x="1058" y="0"/>
                </a:lnTo>
                <a:lnTo>
                  <a:pt x="1065" y="2"/>
                </a:lnTo>
                <a:lnTo>
                  <a:pt x="1073" y="4"/>
                </a:lnTo>
                <a:lnTo>
                  <a:pt x="1082" y="6"/>
                </a:lnTo>
                <a:lnTo>
                  <a:pt x="1088" y="9"/>
                </a:lnTo>
                <a:lnTo>
                  <a:pt x="1095" y="15"/>
                </a:lnTo>
                <a:lnTo>
                  <a:pt x="1102" y="20"/>
                </a:lnTo>
                <a:lnTo>
                  <a:pt x="1107" y="26"/>
                </a:lnTo>
                <a:lnTo>
                  <a:pt x="1112" y="31"/>
                </a:lnTo>
                <a:lnTo>
                  <a:pt x="1115" y="39"/>
                </a:lnTo>
                <a:lnTo>
                  <a:pt x="1124" y="35"/>
                </a:lnTo>
                <a:lnTo>
                  <a:pt x="1132" y="31"/>
                </a:lnTo>
                <a:lnTo>
                  <a:pt x="1142" y="30"/>
                </a:lnTo>
                <a:lnTo>
                  <a:pt x="1152" y="30"/>
                </a:lnTo>
                <a:lnTo>
                  <a:pt x="1162" y="31"/>
                </a:lnTo>
                <a:lnTo>
                  <a:pt x="1172" y="33"/>
                </a:lnTo>
                <a:lnTo>
                  <a:pt x="1182" y="35"/>
                </a:lnTo>
                <a:lnTo>
                  <a:pt x="1192" y="41"/>
                </a:lnTo>
                <a:lnTo>
                  <a:pt x="1196" y="43"/>
                </a:lnTo>
                <a:lnTo>
                  <a:pt x="1199" y="46"/>
                </a:lnTo>
                <a:lnTo>
                  <a:pt x="1202" y="50"/>
                </a:lnTo>
                <a:lnTo>
                  <a:pt x="1206" y="54"/>
                </a:lnTo>
                <a:lnTo>
                  <a:pt x="1207" y="55"/>
                </a:lnTo>
                <a:lnTo>
                  <a:pt x="1209" y="59"/>
                </a:lnTo>
                <a:lnTo>
                  <a:pt x="1211" y="63"/>
                </a:lnTo>
                <a:lnTo>
                  <a:pt x="1211" y="66"/>
                </a:lnTo>
                <a:lnTo>
                  <a:pt x="1216" y="61"/>
                </a:lnTo>
                <a:lnTo>
                  <a:pt x="1219" y="57"/>
                </a:lnTo>
                <a:lnTo>
                  <a:pt x="1226" y="52"/>
                </a:lnTo>
                <a:lnTo>
                  <a:pt x="1231" y="48"/>
                </a:lnTo>
                <a:lnTo>
                  <a:pt x="1239" y="44"/>
                </a:lnTo>
                <a:lnTo>
                  <a:pt x="1246" y="41"/>
                </a:lnTo>
                <a:lnTo>
                  <a:pt x="1254" y="39"/>
                </a:lnTo>
                <a:lnTo>
                  <a:pt x="1263" y="37"/>
                </a:lnTo>
                <a:lnTo>
                  <a:pt x="1271" y="35"/>
                </a:lnTo>
                <a:lnTo>
                  <a:pt x="1281" y="35"/>
                </a:lnTo>
                <a:lnTo>
                  <a:pt x="1290" y="33"/>
                </a:lnTo>
                <a:lnTo>
                  <a:pt x="1300" y="35"/>
                </a:lnTo>
                <a:lnTo>
                  <a:pt x="1310" y="35"/>
                </a:lnTo>
                <a:lnTo>
                  <a:pt x="1320" y="37"/>
                </a:lnTo>
                <a:lnTo>
                  <a:pt x="1330" y="39"/>
                </a:lnTo>
                <a:lnTo>
                  <a:pt x="1340" y="43"/>
                </a:lnTo>
                <a:lnTo>
                  <a:pt x="1355" y="48"/>
                </a:lnTo>
                <a:lnTo>
                  <a:pt x="1362" y="52"/>
                </a:lnTo>
                <a:lnTo>
                  <a:pt x="1368" y="55"/>
                </a:lnTo>
                <a:lnTo>
                  <a:pt x="1373" y="59"/>
                </a:lnTo>
                <a:lnTo>
                  <a:pt x="1380" y="63"/>
                </a:lnTo>
                <a:lnTo>
                  <a:pt x="1385" y="66"/>
                </a:lnTo>
                <a:lnTo>
                  <a:pt x="1389" y="72"/>
                </a:lnTo>
                <a:lnTo>
                  <a:pt x="1394" y="76"/>
                </a:lnTo>
                <a:lnTo>
                  <a:pt x="1397" y="81"/>
                </a:lnTo>
                <a:lnTo>
                  <a:pt x="1400" y="85"/>
                </a:lnTo>
                <a:lnTo>
                  <a:pt x="1402" y="90"/>
                </a:lnTo>
                <a:lnTo>
                  <a:pt x="1405" y="96"/>
                </a:lnTo>
                <a:lnTo>
                  <a:pt x="1405" y="101"/>
                </a:lnTo>
                <a:lnTo>
                  <a:pt x="1407" y="105"/>
                </a:lnTo>
                <a:lnTo>
                  <a:pt x="1407" y="110"/>
                </a:lnTo>
                <a:lnTo>
                  <a:pt x="1417" y="105"/>
                </a:lnTo>
                <a:lnTo>
                  <a:pt x="1427" y="99"/>
                </a:lnTo>
                <a:lnTo>
                  <a:pt x="1437" y="96"/>
                </a:lnTo>
                <a:lnTo>
                  <a:pt x="1447" y="92"/>
                </a:lnTo>
                <a:lnTo>
                  <a:pt x="1457" y="92"/>
                </a:lnTo>
                <a:lnTo>
                  <a:pt x="1467" y="94"/>
                </a:lnTo>
                <a:lnTo>
                  <a:pt x="1476" y="96"/>
                </a:lnTo>
                <a:lnTo>
                  <a:pt x="1482" y="101"/>
                </a:lnTo>
                <a:lnTo>
                  <a:pt x="1486" y="105"/>
                </a:lnTo>
                <a:lnTo>
                  <a:pt x="1489" y="110"/>
                </a:lnTo>
                <a:lnTo>
                  <a:pt x="1491" y="118"/>
                </a:lnTo>
                <a:lnTo>
                  <a:pt x="1491" y="123"/>
                </a:lnTo>
                <a:lnTo>
                  <a:pt x="1489" y="131"/>
                </a:lnTo>
                <a:lnTo>
                  <a:pt x="1486" y="138"/>
                </a:lnTo>
                <a:lnTo>
                  <a:pt x="1482" y="145"/>
                </a:lnTo>
                <a:lnTo>
                  <a:pt x="1476" y="153"/>
                </a:lnTo>
                <a:lnTo>
                  <a:pt x="1484" y="147"/>
                </a:lnTo>
                <a:lnTo>
                  <a:pt x="1492" y="142"/>
                </a:lnTo>
                <a:lnTo>
                  <a:pt x="1503" y="138"/>
                </a:lnTo>
                <a:lnTo>
                  <a:pt x="1511" y="134"/>
                </a:lnTo>
                <a:lnTo>
                  <a:pt x="1521" y="132"/>
                </a:lnTo>
                <a:lnTo>
                  <a:pt x="1531" y="131"/>
                </a:lnTo>
                <a:lnTo>
                  <a:pt x="1541" y="131"/>
                </a:lnTo>
                <a:lnTo>
                  <a:pt x="1551" y="131"/>
                </a:lnTo>
                <a:lnTo>
                  <a:pt x="1561" y="131"/>
                </a:lnTo>
                <a:lnTo>
                  <a:pt x="1570" y="132"/>
                </a:lnTo>
                <a:lnTo>
                  <a:pt x="1580" y="136"/>
                </a:lnTo>
                <a:lnTo>
                  <a:pt x="1590" y="140"/>
                </a:lnTo>
                <a:lnTo>
                  <a:pt x="1598" y="143"/>
                </a:lnTo>
                <a:lnTo>
                  <a:pt x="1606" y="149"/>
                </a:lnTo>
                <a:lnTo>
                  <a:pt x="1615" y="155"/>
                </a:lnTo>
                <a:lnTo>
                  <a:pt x="1622" y="162"/>
                </a:lnTo>
                <a:lnTo>
                  <a:pt x="1630" y="173"/>
                </a:lnTo>
                <a:lnTo>
                  <a:pt x="1637" y="184"/>
                </a:lnTo>
                <a:lnTo>
                  <a:pt x="1642" y="195"/>
                </a:lnTo>
                <a:lnTo>
                  <a:pt x="1643" y="200"/>
                </a:lnTo>
                <a:lnTo>
                  <a:pt x="1645" y="206"/>
                </a:lnTo>
                <a:lnTo>
                  <a:pt x="1647" y="213"/>
                </a:lnTo>
                <a:lnTo>
                  <a:pt x="1647" y="219"/>
                </a:lnTo>
                <a:lnTo>
                  <a:pt x="1647" y="224"/>
                </a:lnTo>
                <a:lnTo>
                  <a:pt x="1647" y="232"/>
                </a:lnTo>
                <a:lnTo>
                  <a:pt x="1647" y="237"/>
                </a:lnTo>
                <a:lnTo>
                  <a:pt x="1645" y="244"/>
                </a:lnTo>
                <a:lnTo>
                  <a:pt x="1643" y="250"/>
                </a:lnTo>
                <a:lnTo>
                  <a:pt x="1642" y="255"/>
                </a:lnTo>
                <a:lnTo>
                  <a:pt x="1650" y="259"/>
                </a:lnTo>
                <a:lnTo>
                  <a:pt x="1660" y="263"/>
                </a:lnTo>
                <a:lnTo>
                  <a:pt x="1668" y="268"/>
                </a:lnTo>
                <a:lnTo>
                  <a:pt x="1675" y="272"/>
                </a:lnTo>
                <a:lnTo>
                  <a:pt x="1682" y="278"/>
                </a:lnTo>
                <a:lnTo>
                  <a:pt x="1689" y="283"/>
                </a:lnTo>
                <a:lnTo>
                  <a:pt x="1694" y="289"/>
                </a:lnTo>
                <a:lnTo>
                  <a:pt x="1699" y="294"/>
                </a:lnTo>
                <a:lnTo>
                  <a:pt x="1704" y="300"/>
                </a:lnTo>
                <a:lnTo>
                  <a:pt x="1707" y="307"/>
                </a:lnTo>
                <a:lnTo>
                  <a:pt x="1709" y="312"/>
                </a:lnTo>
                <a:lnTo>
                  <a:pt x="1710" y="320"/>
                </a:lnTo>
                <a:lnTo>
                  <a:pt x="1712" y="325"/>
                </a:lnTo>
                <a:lnTo>
                  <a:pt x="1710" y="331"/>
                </a:lnTo>
                <a:lnTo>
                  <a:pt x="1710" y="338"/>
                </a:lnTo>
                <a:lnTo>
                  <a:pt x="1709" y="344"/>
                </a:lnTo>
                <a:lnTo>
                  <a:pt x="1722" y="344"/>
                </a:lnTo>
                <a:lnTo>
                  <a:pt x="1737" y="345"/>
                </a:lnTo>
                <a:lnTo>
                  <a:pt x="1751" y="349"/>
                </a:lnTo>
                <a:lnTo>
                  <a:pt x="1764" y="351"/>
                </a:lnTo>
                <a:lnTo>
                  <a:pt x="1776" y="355"/>
                </a:lnTo>
                <a:lnTo>
                  <a:pt x="1788" y="360"/>
                </a:lnTo>
                <a:lnTo>
                  <a:pt x="1799" y="366"/>
                </a:lnTo>
                <a:lnTo>
                  <a:pt x="1808" y="371"/>
                </a:lnTo>
                <a:lnTo>
                  <a:pt x="1818" y="378"/>
                </a:lnTo>
                <a:lnTo>
                  <a:pt x="1824" y="384"/>
                </a:lnTo>
                <a:lnTo>
                  <a:pt x="1831" y="391"/>
                </a:lnTo>
                <a:lnTo>
                  <a:pt x="1836" y="401"/>
                </a:lnTo>
                <a:lnTo>
                  <a:pt x="1841" y="408"/>
                </a:lnTo>
                <a:lnTo>
                  <a:pt x="1843" y="417"/>
                </a:lnTo>
                <a:lnTo>
                  <a:pt x="1845" y="426"/>
                </a:lnTo>
                <a:lnTo>
                  <a:pt x="1845" y="435"/>
                </a:lnTo>
                <a:lnTo>
                  <a:pt x="1843" y="443"/>
                </a:lnTo>
                <a:lnTo>
                  <a:pt x="1841" y="450"/>
                </a:lnTo>
                <a:lnTo>
                  <a:pt x="1838" y="457"/>
                </a:lnTo>
                <a:lnTo>
                  <a:pt x="1833" y="465"/>
                </a:lnTo>
                <a:lnTo>
                  <a:pt x="1828" y="472"/>
                </a:lnTo>
                <a:lnTo>
                  <a:pt x="1821" y="478"/>
                </a:lnTo>
                <a:lnTo>
                  <a:pt x="1814" y="485"/>
                </a:lnTo>
                <a:lnTo>
                  <a:pt x="1806" y="490"/>
                </a:lnTo>
                <a:lnTo>
                  <a:pt x="1814" y="492"/>
                </a:lnTo>
                <a:lnTo>
                  <a:pt x="1821" y="496"/>
                </a:lnTo>
                <a:lnTo>
                  <a:pt x="1828" y="498"/>
                </a:lnTo>
                <a:lnTo>
                  <a:pt x="1834" y="502"/>
                </a:lnTo>
                <a:lnTo>
                  <a:pt x="1839" y="505"/>
                </a:lnTo>
                <a:lnTo>
                  <a:pt x="1845" y="511"/>
                </a:lnTo>
                <a:lnTo>
                  <a:pt x="1848" y="514"/>
                </a:lnTo>
                <a:lnTo>
                  <a:pt x="1851" y="518"/>
                </a:lnTo>
                <a:lnTo>
                  <a:pt x="1855" y="524"/>
                </a:lnTo>
                <a:lnTo>
                  <a:pt x="1856" y="527"/>
                </a:lnTo>
                <a:lnTo>
                  <a:pt x="1858" y="533"/>
                </a:lnTo>
                <a:lnTo>
                  <a:pt x="1858" y="538"/>
                </a:lnTo>
                <a:lnTo>
                  <a:pt x="1856" y="544"/>
                </a:lnTo>
                <a:lnTo>
                  <a:pt x="1856" y="547"/>
                </a:lnTo>
                <a:lnTo>
                  <a:pt x="1853" y="553"/>
                </a:lnTo>
                <a:lnTo>
                  <a:pt x="1851" y="558"/>
                </a:lnTo>
                <a:lnTo>
                  <a:pt x="1845" y="564"/>
                </a:lnTo>
                <a:lnTo>
                  <a:pt x="1838" y="571"/>
                </a:lnTo>
                <a:lnTo>
                  <a:pt x="1829" y="577"/>
                </a:lnTo>
                <a:lnTo>
                  <a:pt x="1819" y="580"/>
                </a:lnTo>
                <a:lnTo>
                  <a:pt x="1828" y="579"/>
                </a:lnTo>
                <a:lnTo>
                  <a:pt x="1836" y="577"/>
                </a:lnTo>
                <a:lnTo>
                  <a:pt x="1843" y="579"/>
                </a:lnTo>
                <a:lnTo>
                  <a:pt x="1851" y="580"/>
                </a:lnTo>
                <a:lnTo>
                  <a:pt x="1858" y="584"/>
                </a:lnTo>
                <a:lnTo>
                  <a:pt x="1865" y="588"/>
                </a:lnTo>
                <a:lnTo>
                  <a:pt x="1870" y="593"/>
                </a:lnTo>
                <a:lnTo>
                  <a:pt x="1875" y="601"/>
                </a:lnTo>
                <a:lnTo>
                  <a:pt x="1876" y="604"/>
                </a:lnTo>
                <a:lnTo>
                  <a:pt x="1876" y="608"/>
                </a:lnTo>
                <a:lnTo>
                  <a:pt x="1878" y="612"/>
                </a:lnTo>
                <a:lnTo>
                  <a:pt x="1878" y="615"/>
                </a:lnTo>
                <a:lnTo>
                  <a:pt x="1878" y="623"/>
                </a:lnTo>
                <a:lnTo>
                  <a:pt x="1875" y="630"/>
                </a:lnTo>
                <a:lnTo>
                  <a:pt x="1871" y="637"/>
                </a:lnTo>
                <a:lnTo>
                  <a:pt x="1866" y="643"/>
                </a:lnTo>
                <a:lnTo>
                  <a:pt x="1861" y="648"/>
                </a:lnTo>
                <a:lnTo>
                  <a:pt x="1853" y="652"/>
                </a:lnTo>
                <a:lnTo>
                  <a:pt x="1848" y="654"/>
                </a:lnTo>
                <a:lnTo>
                  <a:pt x="1843" y="654"/>
                </a:lnTo>
                <a:lnTo>
                  <a:pt x="1838" y="654"/>
                </a:lnTo>
                <a:lnTo>
                  <a:pt x="1833" y="654"/>
                </a:lnTo>
                <a:lnTo>
                  <a:pt x="1828" y="654"/>
                </a:lnTo>
                <a:lnTo>
                  <a:pt x="1821" y="652"/>
                </a:lnTo>
                <a:lnTo>
                  <a:pt x="1818" y="650"/>
                </a:lnTo>
                <a:lnTo>
                  <a:pt x="1813" y="648"/>
                </a:lnTo>
                <a:lnTo>
                  <a:pt x="1818" y="654"/>
                </a:lnTo>
                <a:lnTo>
                  <a:pt x="1823" y="661"/>
                </a:lnTo>
                <a:lnTo>
                  <a:pt x="1828" y="669"/>
                </a:lnTo>
                <a:lnTo>
                  <a:pt x="1831" y="676"/>
                </a:lnTo>
                <a:lnTo>
                  <a:pt x="1833" y="683"/>
                </a:lnTo>
                <a:lnTo>
                  <a:pt x="1834" y="692"/>
                </a:lnTo>
                <a:lnTo>
                  <a:pt x="1834" y="700"/>
                </a:lnTo>
                <a:lnTo>
                  <a:pt x="1834" y="707"/>
                </a:lnTo>
                <a:lnTo>
                  <a:pt x="1834" y="716"/>
                </a:lnTo>
                <a:lnTo>
                  <a:pt x="1833" y="724"/>
                </a:lnTo>
                <a:lnTo>
                  <a:pt x="1829" y="731"/>
                </a:lnTo>
                <a:lnTo>
                  <a:pt x="1826" y="738"/>
                </a:lnTo>
                <a:lnTo>
                  <a:pt x="1821" y="746"/>
                </a:lnTo>
                <a:lnTo>
                  <a:pt x="1816" y="753"/>
                </a:lnTo>
                <a:lnTo>
                  <a:pt x="1811" y="759"/>
                </a:lnTo>
                <a:lnTo>
                  <a:pt x="1804" y="766"/>
                </a:lnTo>
                <a:lnTo>
                  <a:pt x="1793" y="773"/>
                </a:lnTo>
                <a:lnTo>
                  <a:pt x="1788" y="777"/>
                </a:lnTo>
                <a:lnTo>
                  <a:pt x="1781" y="779"/>
                </a:lnTo>
                <a:lnTo>
                  <a:pt x="1774" y="782"/>
                </a:lnTo>
                <a:lnTo>
                  <a:pt x="1767" y="784"/>
                </a:lnTo>
                <a:lnTo>
                  <a:pt x="1761" y="784"/>
                </a:lnTo>
                <a:lnTo>
                  <a:pt x="1752" y="786"/>
                </a:lnTo>
                <a:lnTo>
                  <a:pt x="1764" y="790"/>
                </a:lnTo>
                <a:lnTo>
                  <a:pt x="1774" y="793"/>
                </a:lnTo>
                <a:lnTo>
                  <a:pt x="1777" y="797"/>
                </a:lnTo>
                <a:lnTo>
                  <a:pt x="1781" y="801"/>
                </a:lnTo>
                <a:lnTo>
                  <a:pt x="1784" y="804"/>
                </a:lnTo>
                <a:lnTo>
                  <a:pt x="1788" y="808"/>
                </a:lnTo>
                <a:lnTo>
                  <a:pt x="1789" y="812"/>
                </a:lnTo>
                <a:lnTo>
                  <a:pt x="1791" y="815"/>
                </a:lnTo>
                <a:lnTo>
                  <a:pt x="1793" y="819"/>
                </a:lnTo>
                <a:lnTo>
                  <a:pt x="1793" y="823"/>
                </a:lnTo>
                <a:lnTo>
                  <a:pt x="1793" y="828"/>
                </a:lnTo>
                <a:lnTo>
                  <a:pt x="1793" y="832"/>
                </a:lnTo>
                <a:lnTo>
                  <a:pt x="1791" y="836"/>
                </a:lnTo>
                <a:lnTo>
                  <a:pt x="1789" y="841"/>
                </a:lnTo>
                <a:lnTo>
                  <a:pt x="1788" y="845"/>
                </a:lnTo>
                <a:lnTo>
                  <a:pt x="1784" y="849"/>
                </a:lnTo>
                <a:lnTo>
                  <a:pt x="1781" y="852"/>
                </a:lnTo>
                <a:lnTo>
                  <a:pt x="1777" y="856"/>
                </a:lnTo>
                <a:lnTo>
                  <a:pt x="1769" y="861"/>
                </a:lnTo>
                <a:lnTo>
                  <a:pt x="1759" y="867"/>
                </a:lnTo>
                <a:lnTo>
                  <a:pt x="1749" y="869"/>
                </a:lnTo>
                <a:lnTo>
                  <a:pt x="1737" y="871"/>
                </a:lnTo>
                <a:lnTo>
                  <a:pt x="1725" y="871"/>
                </a:lnTo>
                <a:lnTo>
                  <a:pt x="1719" y="869"/>
                </a:lnTo>
                <a:lnTo>
                  <a:pt x="1714" y="869"/>
                </a:lnTo>
                <a:lnTo>
                  <a:pt x="1707" y="867"/>
                </a:lnTo>
                <a:lnTo>
                  <a:pt x="1702" y="865"/>
                </a:lnTo>
                <a:lnTo>
                  <a:pt x="1692" y="860"/>
                </a:lnTo>
                <a:lnTo>
                  <a:pt x="1695" y="871"/>
                </a:lnTo>
                <a:lnTo>
                  <a:pt x="1695" y="882"/>
                </a:lnTo>
                <a:lnTo>
                  <a:pt x="1695" y="893"/>
                </a:lnTo>
                <a:lnTo>
                  <a:pt x="1694" y="904"/>
                </a:lnTo>
                <a:lnTo>
                  <a:pt x="1692" y="915"/>
                </a:lnTo>
                <a:lnTo>
                  <a:pt x="1689" y="924"/>
                </a:lnTo>
                <a:lnTo>
                  <a:pt x="1684" y="935"/>
                </a:lnTo>
                <a:lnTo>
                  <a:pt x="1679" y="944"/>
                </a:lnTo>
                <a:lnTo>
                  <a:pt x="1672" y="953"/>
                </a:lnTo>
                <a:lnTo>
                  <a:pt x="1663" y="961"/>
                </a:lnTo>
                <a:lnTo>
                  <a:pt x="1655" y="968"/>
                </a:lnTo>
                <a:lnTo>
                  <a:pt x="1647" y="975"/>
                </a:lnTo>
                <a:lnTo>
                  <a:pt x="1637" y="981"/>
                </a:lnTo>
                <a:lnTo>
                  <a:pt x="1627" y="986"/>
                </a:lnTo>
                <a:lnTo>
                  <a:pt x="1615" y="990"/>
                </a:lnTo>
                <a:lnTo>
                  <a:pt x="1603" y="994"/>
                </a:lnTo>
                <a:lnTo>
                  <a:pt x="1593" y="995"/>
                </a:lnTo>
                <a:lnTo>
                  <a:pt x="1581" y="997"/>
                </a:lnTo>
                <a:lnTo>
                  <a:pt x="1571" y="997"/>
                </a:lnTo>
                <a:lnTo>
                  <a:pt x="1561" y="995"/>
                </a:lnTo>
                <a:lnTo>
                  <a:pt x="1551" y="995"/>
                </a:lnTo>
                <a:lnTo>
                  <a:pt x="1541" y="992"/>
                </a:lnTo>
                <a:lnTo>
                  <a:pt x="1531" y="990"/>
                </a:lnTo>
                <a:lnTo>
                  <a:pt x="1521" y="986"/>
                </a:lnTo>
                <a:lnTo>
                  <a:pt x="1524" y="992"/>
                </a:lnTo>
                <a:lnTo>
                  <a:pt x="1526" y="997"/>
                </a:lnTo>
                <a:lnTo>
                  <a:pt x="1528" y="1003"/>
                </a:lnTo>
                <a:lnTo>
                  <a:pt x="1528" y="1008"/>
                </a:lnTo>
                <a:lnTo>
                  <a:pt x="1526" y="1014"/>
                </a:lnTo>
                <a:lnTo>
                  <a:pt x="1526" y="1019"/>
                </a:lnTo>
                <a:lnTo>
                  <a:pt x="1523" y="1025"/>
                </a:lnTo>
                <a:lnTo>
                  <a:pt x="1519" y="1030"/>
                </a:lnTo>
                <a:lnTo>
                  <a:pt x="1516" y="1034"/>
                </a:lnTo>
                <a:lnTo>
                  <a:pt x="1511" y="1039"/>
                </a:lnTo>
                <a:lnTo>
                  <a:pt x="1506" y="1043"/>
                </a:lnTo>
                <a:lnTo>
                  <a:pt x="1499" y="1049"/>
                </a:lnTo>
                <a:lnTo>
                  <a:pt x="1492" y="1052"/>
                </a:lnTo>
                <a:lnTo>
                  <a:pt x="1484" y="1054"/>
                </a:lnTo>
                <a:lnTo>
                  <a:pt x="1476" y="1058"/>
                </a:lnTo>
                <a:lnTo>
                  <a:pt x="1467" y="1060"/>
                </a:lnTo>
                <a:lnTo>
                  <a:pt x="1456" y="1063"/>
                </a:lnTo>
                <a:lnTo>
                  <a:pt x="1442" y="1063"/>
                </a:lnTo>
                <a:lnTo>
                  <a:pt x="1430" y="1065"/>
                </a:lnTo>
                <a:lnTo>
                  <a:pt x="1417" y="1063"/>
                </a:lnTo>
                <a:lnTo>
                  <a:pt x="1405" y="1062"/>
                </a:lnTo>
                <a:lnTo>
                  <a:pt x="1394" y="1060"/>
                </a:lnTo>
                <a:lnTo>
                  <a:pt x="1382" y="1056"/>
                </a:lnTo>
                <a:lnTo>
                  <a:pt x="1372" y="1050"/>
                </a:lnTo>
                <a:lnTo>
                  <a:pt x="1372" y="1058"/>
                </a:lnTo>
                <a:lnTo>
                  <a:pt x="1372" y="1065"/>
                </a:lnTo>
                <a:lnTo>
                  <a:pt x="1372" y="1071"/>
                </a:lnTo>
                <a:lnTo>
                  <a:pt x="1370" y="1078"/>
                </a:lnTo>
                <a:lnTo>
                  <a:pt x="1368" y="1085"/>
                </a:lnTo>
                <a:lnTo>
                  <a:pt x="1367" y="1091"/>
                </a:lnTo>
                <a:lnTo>
                  <a:pt x="1363" y="1096"/>
                </a:lnTo>
                <a:lnTo>
                  <a:pt x="1360" y="1102"/>
                </a:lnTo>
                <a:lnTo>
                  <a:pt x="1355" y="1107"/>
                </a:lnTo>
                <a:lnTo>
                  <a:pt x="1350" y="1113"/>
                </a:lnTo>
                <a:lnTo>
                  <a:pt x="1345" y="1117"/>
                </a:lnTo>
                <a:lnTo>
                  <a:pt x="1338" y="1122"/>
                </a:lnTo>
                <a:lnTo>
                  <a:pt x="1333" y="1126"/>
                </a:lnTo>
                <a:lnTo>
                  <a:pt x="1327" y="1128"/>
                </a:lnTo>
                <a:lnTo>
                  <a:pt x="1318" y="1129"/>
                </a:lnTo>
                <a:lnTo>
                  <a:pt x="1311" y="1131"/>
                </a:lnTo>
                <a:lnTo>
                  <a:pt x="1305" y="1133"/>
                </a:lnTo>
                <a:lnTo>
                  <a:pt x="1298" y="1133"/>
                </a:lnTo>
                <a:lnTo>
                  <a:pt x="1291" y="1133"/>
                </a:lnTo>
                <a:lnTo>
                  <a:pt x="1285" y="1131"/>
                </a:lnTo>
                <a:lnTo>
                  <a:pt x="1278" y="1131"/>
                </a:lnTo>
                <a:lnTo>
                  <a:pt x="1271" y="1129"/>
                </a:lnTo>
                <a:lnTo>
                  <a:pt x="1266" y="1128"/>
                </a:lnTo>
                <a:lnTo>
                  <a:pt x="1259" y="1124"/>
                </a:lnTo>
                <a:lnTo>
                  <a:pt x="1249" y="1118"/>
                </a:lnTo>
                <a:lnTo>
                  <a:pt x="1241" y="1109"/>
                </a:lnTo>
                <a:lnTo>
                  <a:pt x="1236" y="1104"/>
                </a:lnTo>
                <a:lnTo>
                  <a:pt x="1233" y="1100"/>
                </a:lnTo>
                <a:lnTo>
                  <a:pt x="1229" y="1095"/>
                </a:lnTo>
                <a:lnTo>
                  <a:pt x="1226" y="1089"/>
                </a:lnTo>
                <a:lnTo>
                  <a:pt x="1228" y="1095"/>
                </a:lnTo>
                <a:lnTo>
                  <a:pt x="1229" y="1100"/>
                </a:lnTo>
                <a:lnTo>
                  <a:pt x="1229" y="1106"/>
                </a:lnTo>
                <a:lnTo>
                  <a:pt x="1229" y="1111"/>
                </a:lnTo>
                <a:lnTo>
                  <a:pt x="1228" y="1115"/>
                </a:lnTo>
                <a:lnTo>
                  <a:pt x="1226" y="1120"/>
                </a:lnTo>
                <a:lnTo>
                  <a:pt x="1223" y="1126"/>
                </a:lnTo>
                <a:lnTo>
                  <a:pt x="1219" y="1129"/>
                </a:lnTo>
                <a:lnTo>
                  <a:pt x="1216" y="1135"/>
                </a:lnTo>
                <a:lnTo>
                  <a:pt x="1211" y="1139"/>
                </a:lnTo>
                <a:lnTo>
                  <a:pt x="1206" y="1142"/>
                </a:lnTo>
                <a:lnTo>
                  <a:pt x="1201" y="1146"/>
                </a:lnTo>
                <a:lnTo>
                  <a:pt x="1194" y="1148"/>
                </a:lnTo>
                <a:lnTo>
                  <a:pt x="1187" y="1151"/>
                </a:lnTo>
                <a:lnTo>
                  <a:pt x="1181" y="1153"/>
                </a:lnTo>
                <a:lnTo>
                  <a:pt x="1172" y="1155"/>
                </a:lnTo>
                <a:lnTo>
                  <a:pt x="1166" y="1155"/>
                </a:lnTo>
                <a:lnTo>
                  <a:pt x="1157" y="1157"/>
                </a:lnTo>
                <a:lnTo>
                  <a:pt x="1150" y="1155"/>
                </a:lnTo>
                <a:lnTo>
                  <a:pt x="1142" y="1155"/>
                </a:lnTo>
                <a:lnTo>
                  <a:pt x="1135" y="1155"/>
                </a:lnTo>
                <a:lnTo>
                  <a:pt x="1127" y="1153"/>
                </a:lnTo>
                <a:lnTo>
                  <a:pt x="1114" y="1148"/>
                </a:lnTo>
                <a:lnTo>
                  <a:pt x="1102" y="1142"/>
                </a:lnTo>
                <a:lnTo>
                  <a:pt x="1097" y="1139"/>
                </a:lnTo>
                <a:lnTo>
                  <a:pt x="1092" y="1135"/>
                </a:lnTo>
                <a:lnTo>
                  <a:pt x="1087" y="1129"/>
                </a:lnTo>
                <a:lnTo>
                  <a:pt x="1083" y="1126"/>
                </a:lnTo>
                <a:lnTo>
                  <a:pt x="1078" y="1120"/>
                </a:lnTo>
                <a:lnTo>
                  <a:pt x="1077" y="1115"/>
                </a:lnTo>
                <a:lnTo>
                  <a:pt x="1075" y="1120"/>
                </a:lnTo>
                <a:lnTo>
                  <a:pt x="1073" y="1124"/>
                </a:lnTo>
                <a:lnTo>
                  <a:pt x="1072" y="1128"/>
                </a:lnTo>
                <a:lnTo>
                  <a:pt x="1068" y="1131"/>
                </a:lnTo>
                <a:lnTo>
                  <a:pt x="1063" y="1135"/>
                </a:lnTo>
                <a:lnTo>
                  <a:pt x="1060" y="1139"/>
                </a:lnTo>
                <a:lnTo>
                  <a:pt x="1055" y="1142"/>
                </a:lnTo>
                <a:lnTo>
                  <a:pt x="1050" y="1146"/>
                </a:lnTo>
                <a:lnTo>
                  <a:pt x="1045" y="1148"/>
                </a:lnTo>
                <a:lnTo>
                  <a:pt x="1038" y="1150"/>
                </a:lnTo>
                <a:lnTo>
                  <a:pt x="1025" y="1153"/>
                </a:lnTo>
                <a:lnTo>
                  <a:pt x="1011" y="1155"/>
                </a:lnTo>
                <a:lnTo>
                  <a:pt x="1003" y="1157"/>
                </a:lnTo>
                <a:lnTo>
                  <a:pt x="996" y="1155"/>
                </a:lnTo>
                <a:lnTo>
                  <a:pt x="985" y="1155"/>
                </a:lnTo>
                <a:lnTo>
                  <a:pt x="973" y="1153"/>
                </a:lnTo>
                <a:lnTo>
                  <a:pt x="963" y="1150"/>
                </a:lnTo>
                <a:lnTo>
                  <a:pt x="954" y="1146"/>
                </a:lnTo>
                <a:lnTo>
                  <a:pt x="946" y="1140"/>
                </a:lnTo>
                <a:lnTo>
                  <a:pt x="939" y="1135"/>
                </a:lnTo>
                <a:lnTo>
                  <a:pt x="934" y="1129"/>
                </a:lnTo>
                <a:lnTo>
                  <a:pt x="933" y="1126"/>
                </a:lnTo>
                <a:lnTo>
                  <a:pt x="931" y="1122"/>
                </a:lnTo>
                <a:lnTo>
                  <a:pt x="926" y="1128"/>
                </a:lnTo>
                <a:lnTo>
                  <a:pt x="921" y="1133"/>
                </a:lnTo>
                <a:lnTo>
                  <a:pt x="916" y="1137"/>
                </a:lnTo>
                <a:lnTo>
                  <a:pt x="909" y="1140"/>
                </a:lnTo>
                <a:lnTo>
                  <a:pt x="902" y="1144"/>
                </a:lnTo>
                <a:lnTo>
                  <a:pt x="894" y="1148"/>
                </a:lnTo>
                <a:lnTo>
                  <a:pt x="887" y="1151"/>
                </a:lnTo>
                <a:lnTo>
                  <a:pt x="879" y="1153"/>
                </a:lnTo>
                <a:lnTo>
                  <a:pt x="871" y="1155"/>
                </a:lnTo>
                <a:lnTo>
                  <a:pt x="860" y="1157"/>
                </a:lnTo>
                <a:lnTo>
                  <a:pt x="852" y="1157"/>
                </a:lnTo>
                <a:lnTo>
                  <a:pt x="842" y="1157"/>
                </a:lnTo>
                <a:lnTo>
                  <a:pt x="834" y="1157"/>
                </a:lnTo>
                <a:lnTo>
                  <a:pt x="824" y="1157"/>
                </a:lnTo>
                <a:lnTo>
                  <a:pt x="815" y="1155"/>
                </a:lnTo>
                <a:lnTo>
                  <a:pt x="805" y="1153"/>
                </a:lnTo>
                <a:lnTo>
                  <a:pt x="795" y="1150"/>
                </a:lnTo>
                <a:lnTo>
                  <a:pt x="785" y="1146"/>
                </a:lnTo>
                <a:lnTo>
                  <a:pt x="777" y="1142"/>
                </a:lnTo>
                <a:lnTo>
                  <a:pt x="768" y="1137"/>
                </a:lnTo>
                <a:lnTo>
                  <a:pt x="762" y="1131"/>
                </a:lnTo>
                <a:lnTo>
                  <a:pt x="757" y="1124"/>
                </a:lnTo>
                <a:lnTo>
                  <a:pt x="751" y="1118"/>
                </a:lnTo>
                <a:lnTo>
                  <a:pt x="748" y="1111"/>
                </a:lnTo>
                <a:lnTo>
                  <a:pt x="743" y="1115"/>
                </a:lnTo>
                <a:lnTo>
                  <a:pt x="736" y="1117"/>
                </a:lnTo>
                <a:lnTo>
                  <a:pt x="730" y="1120"/>
                </a:lnTo>
                <a:lnTo>
                  <a:pt x="723" y="1122"/>
                </a:lnTo>
                <a:lnTo>
                  <a:pt x="715" y="1124"/>
                </a:lnTo>
                <a:lnTo>
                  <a:pt x="708" y="1124"/>
                </a:lnTo>
                <a:lnTo>
                  <a:pt x="700" y="1124"/>
                </a:lnTo>
                <a:lnTo>
                  <a:pt x="691" y="1124"/>
                </a:lnTo>
                <a:lnTo>
                  <a:pt x="683" y="1124"/>
                </a:lnTo>
                <a:lnTo>
                  <a:pt x="674" y="1122"/>
                </a:lnTo>
                <a:lnTo>
                  <a:pt x="668" y="1122"/>
                </a:lnTo>
                <a:lnTo>
                  <a:pt x="659" y="1120"/>
                </a:lnTo>
                <a:lnTo>
                  <a:pt x="651" y="1117"/>
                </a:lnTo>
                <a:lnTo>
                  <a:pt x="643" y="1115"/>
                </a:lnTo>
                <a:lnTo>
                  <a:pt x="636" y="1111"/>
                </a:lnTo>
                <a:lnTo>
                  <a:pt x="629" y="1107"/>
                </a:lnTo>
                <a:lnTo>
                  <a:pt x="621" y="1100"/>
                </a:lnTo>
                <a:lnTo>
                  <a:pt x="614" y="1095"/>
                </a:lnTo>
                <a:lnTo>
                  <a:pt x="607" y="1089"/>
                </a:lnTo>
                <a:lnTo>
                  <a:pt x="602" y="1082"/>
                </a:lnTo>
                <a:lnTo>
                  <a:pt x="599" y="1074"/>
                </a:lnTo>
                <a:lnTo>
                  <a:pt x="597" y="1069"/>
                </a:lnTo>
                <a:lnTo>
                  <a:pt x="596" y="1062"/>
                </a:lnTo>
                <a:lnTo>
                  <a:pt x="597" y="1054"/>
                </a:lnTo>
                <a:lnTo>
                  <a:pt x="596" y="1058"/>
                </a:lnTo>
                <a:lnTo>
                  <a:pt x="594" y="1062"/>
                </a:lnTo>
                <a:lnTo>
                  <a:pt x="592" y="1065"/>
                </a:lnTo>
                <a:lnTo>
                  <a:pt x="589" y="1069"/>
                </a:lnTo>
                <a:lnTo>
                  <a:pt x="586" y="1073"/>
                </a:lnTo>
                <a:lnTo>
                  <a:pt x="580" y="1074"/>
                </a:lnTo>
                <a:lnTo>
                  <a:pt x="575" y="1076"/>
                </a:lnTo>
                <a:lnTo>
                  <a:pt x="570" y="1078"/>
                </a:lnTo>
                <a:lnTo>
                  <a:pt x="565" y="1080"/>
                </a:lnTo>
                <a:lnTo>
                  <a:pt x="559" y="1082"/>
                </a:lnTo>
                <a:lnTo>
                  <a:pt x="547" y="1084"/>
                </a:lnTo>
                <a:lnTo>
                  <a:pt x="532" y="1084"/>
                </a:lnTo>
                <a:lnTo>
                  <a:pt x="517" y="1084"/>
                </a:lnTo>
                <a:lnTo>
                  <a:pt x="502" y="1080"/>
                </a:lnTo>
                <a:lnTo>
                  <a:pt x="488" y="1076"/>
                </a:lnTo>
                <a:lnTo>
                  <a:pt x="482" y="1073"/>
                </a:lnTo>
                <a:lnTo>
                  <a:pt x="477" y="1071"/>
                </a:lnTo>
                <a:lnTo>
                  <a:pt x="472" y="1067"/>
                </a:lnTo>
                <a:lnTo>
                  <a:pt x="467" y="1063"/>
                </a:lnTo>
                <a:lnTo>
                  <a:pt x="461" y="1060"/>
                </a:lnTo>
                <a:lnTo>
                  <a:pt x="458" y="1056"/>
                </a:lnTo>
                <a:lnTo>
                  <a:pt x="455" y="1052"/>
                </a:lnTo>
                <a:lnTo>
                  <a:pt x="451" y="1049"/>
                </a:lnTo>
                <a:lnTo>
                  <a:pt x="450" y="1045"/>
                </a:lnTo>
                <a:lnTo>
                  <a:pt x="448" y="1041"/>
                </a:lnTo>
                <a:lnTo>
                  <a:pt x="448" y="1036"/>
                </a:lnTo>
                <a:lnTo>
                  <a:pt x="448" y="1032"/>
                </a:lnTo>
                <a:lnTo>
                  <a:pt x="450" y="1027"/>
                </a:lnTo>
                <a:lnTo>
                  <a:pt x="453" y="1023"/>
                </a:lnTo>
                <a:lnTo>
                  <a:pt x="458" y="1017"/>
                </a:lnTo>
                <a:lnTo>
                  <a:pt x="463" y="1014"/>
                </a:lnTo>
                <a:lnTo>
                  <a:pt x="455" y="1017"/>
                </a:lnTo>
                <a:lnTo>
                  <a:pt x="446" y="1019"/>
                </a:lnTo>
                <a:lnTo>
                  <a:pt x="438" y="1021"/>
                </a:lnTo>
                <a:lnTo>
                  <a:pt x="428" y="1021"/>
                </a:lnTo>
                <a:lnTo>
                  <a:pt x="420" y="1021"/>
                </a:lnTo>
                <a:lnTo>
                  <a:pt x="411" y="1021"/>
                </a:lnTo>
                <a:lnTo>
                  <a:pt x="403" y="1019"/>
                </a:lnTo>
                <a:lnTo>
                  <a:pt x="394" y="1017"/>
                </a:lnTo>
                <a:lnTo>
                  <a:pt x="388" y="1014"/>
                </a:lnTo>
                <a:lnTo>
                  <a:pt x="379" y="1010"/>
                </a:lnTo>
                <a:lnTo>
                  <a:pt x="373" y="1006"/>
                </a:lnTo>
                <a:lnTo>
                  <a:pt x="366" y="1001"/>
                </a:lnTo>
                <a:lnTo>
                  <a:pt x="359" y="995"/>
                </a:lnTo>
                <a:lnTo>
                  <a:pt x="353" y="990"/>
                </a:lnTo>
                <a:lnTo>
                  <a:pt x="347" y="983"/>
                </a:lnTo>
                <a:lnTo>
                  <a:pt x="344" y="977"/>
                </a:lnTo>
                <a:lnTo>
                  <a:pt x="341" y="970"/>
                </a:lnTo>
                <a:lnTo>
                  <a:pt x="337" y="962"/>
                </a:lnTo>
                <a:lnTo>
                  <a:pt x="336" y="955"/>
                </a:lnTo>
                <a:lnTo>
                  <a:pt x="336" y="948"/>
                </a:lnTo>
                <a:lnTo>
                  <a:pt x="334" y="940"/>
                </a:lnTo>
                <a:lnTo>
                  <a:pt x="334" y="933"/>
                </a:lnTo>
                <a:lnTo>
                  <a:pt x="336" y="926"/>
                </a:lnTo>
                <a:lnTo>
                  <a:pt x="337" y="918"/>
                </a:lnTo>
                <a:lnTo>
                  <a:pt x="329" y="924"/>
                </a:lnTo>
                <a:lnTo>
                  <a:pt x="321" y="929"/>
                </a:lnTo>
                <a:lnTo>
                  <a:pt x="312" y="933"/>
                </a:lnTo>
                <a:lnTo>
                  <a:pt x="302" y="937"/>
                </a:lnTo>
                <a:lnTo>
                  <a:pt x="292" y="938"/>
                </a:lnTo>
                <a:lnTo>
                  <a:pt x="284" y="940"/>
                </a:lnTo>
                <a:lnTo>
                  <a:pt x="274" y="942"/>
                </a:lnTo>
                <a:lnTo>
                  <a:pt x="264" y="942"/>
                </a:lnTo>
                <a:lnTo>
                  <a:pt x="254" y="942"/>
                </a:lnTo>
                <a:lnTo>
                  <a:pt x="244" y="940"/>
                </a:lnTo>
                <a:lnTo>
                  <a:pt x="235" y="938"/>
                </a:lnTo>
                <a:lnTo>
                  <a:pt x="225" y="937"/>
                </a:lnTo>
                <a:lnTo>
                  <a:pt x="215" y="933"/>
                </a:lnTo>
                <a:lnTo>
                  <a:pt x="207" y="929"/>
                </a:lnTo>
                <a:lnTo>
                  <a:pt x="198" y="924"/>
                </a:lnTo>
                <a:lnTo>
                  <a:pt x="190" y="918"/>
                </a:lnTo>
                <a:lnTo>
                  <a:pt x="178" y="913"/>
                </a:lnTo>
                <a:lnTo>
                  <a:pt x="166" y="905"/>
                </a:lnTo>
                <a:lnTo>
                  <a:pt x="156" y="898"/>
                </a:lnTo>
                <a:lnTo>
                  <a:pt x="148" y="891"/>
                </a:lnTo>
                <a:lnTo>
                  <a:pt x="140" y="883"/>
                </a:lnTo>
                <a:lnTo>
                  <a:pt x="131" y="874"/>
                </a:lnTo>
                <a:lnTo>
                  <a:pt x="125" y="867"/>
                </a:lnTo>
                <a:lnTo>
                  <a:pt x="119" y="858"/>
                </a:lnTo>
                <a:lnTo>
                  <a:pt x="114" y="849"/>
                </a:lnTo>
                <a:lnTo>
                  <a:pt x="109" y="839"/>
                </a:lnTo>
                <a:lnTo>
                  <a:pt x="108" y="830"/>
                </a:lnTo>
                <a:lnTo>
                  <a:pt x="104" y="821"/>
                </a:lnTo>
                <a:lnTo>
                  <a:pt x="104" y="814"/>
                </a:lnTo>
                <a:lnTo>
                  <a:pt x="104" y="804"/>
                </a:lnTo>
                <a:lnTo>
                  <a:pt x="106" y="795"/>
                </a:lnTo>
                <a:lnTo>
                  <a:pt x="108" y="786"/>
                </a:lnTo>
                <a:lnTo>
                  <a:pt x="99" y="788"/>
                </a:lnTo>
                <a:lnTo>
                  <a:pt x="91" y="788"/>
                </a:lnTo>
                <a:lnTo>
                  <a:pt x="83" y="788"/>
                </a:lnTo>
                <a:lnTo>
                  <a:pt x="74" y="788"/>
                </a:lnTo>
                <a:lnTo>
                  <a:pt x="66" y="786"/>
                </a:lnTo>
                <a:lnTo>
                  <a:pt x="59" y="784"/>
                </a:lnTo>
                <a:lnTo>
                  <a:pt x="51" y="782"/>
                </a:lnTo>
                <a:lnTo>
                  <a:pt x="44" y="779"/>
                </a:lnTo>
                <a:lnTo>
                  <a:pt x="37" y="775"/>
                </a:lnTo>
                <a:lnTo>
                  <a:pt x="31" y="770"/>
                </a:lnTo>
                <a:lnTo>
                  <a:pt x="24" y="766"/>
                </a:lnTo>
                <a:lnTo>
                  <a:pt x="19" y="760"/>
                </a:lnTo>
                <a:lnTo>
                  <a:pt x="14" y="753"/>
                </a:lnTo>
                <a:lnTo>
                  <a:pt x="11" y="748"/>
                </a:lnTo>
                <a:lnTo>
                  <a:pt x="7" y="740"/>
                </a:lnTo>
                <a:lnTo>
                  <a:pt x="4" y="733"/>
                </a:lnTo>
                <a:lnTo>
                  <a:pt x="2" y="727"/>
                </a:lnTo>
                <a:lnTo>
                  <a:pt x="2" y="722"/>
                </a:lnTo>
                <a:lnTo>
                  <a:pt x="0" y="716"/>
                </a:lnTo>
                <a:lnTo>
                  <a:pt x="0" y="711"/>
                </a:lnTo>
                <a:lnTo>
                  <a:pt x="0" y="705"/>
                </a:lnTo>
                <a:lnTo>
                  <a:pt x="2" y="700"/>
                </a:lnTo>
                <a:lnTo>
                  <a:pt x="4" y="689"/>
                </a:lnTo>
                <a:lnTo>
                  <a:pt x="9" y="678"/>
                </a:lnTo>
                <a:lnTo>
                  <a:pt x="14" y="669"/>
                </a:lnTo>
                <a:lnTo>
                  <a:pt x="22" y="659"/>
                </a:lnTo>
                <a:lnTo>
                  <a:pt x="31" y="652"/>
                </a:lnTo>
                <a:lnTo>
                  <a:pt x="26" y="648"/>
                </a:lnTo>
                <a:lnTo>
                  <a:pt x="21" y="643"/>
                </a:lnTo>
                <a:lnTo>
                  <a:pt x="17" y="637"/>
                </a:lnTo>
                <a:lnTo>
                  <a:pt x="14" y="634"/>
                </a:lnTo>
                <a:lnTo>
                  <a:pt x="12" y="628"/>
                </a:lnTo>
                <a:lnTo>
                  <a:pt x="12" y="623"/>
                </a:lnTo>
                <a:lnTo>
                  <a:pt x="11" y="619"/>
                </a:lnTo>
                <a:lnTo>
                  <a:pt x="11" y="614"/>
                </a:lnTo>
                <a:lnTo>
                  <a:pt x="12" y="608"/>
                </a:lnTo>
                <a:lnTo>
                  <a:pt x="14" y="604"/>
                </a:lnTo>
                <a:lnTo>
                  <a:pt x="16" y="599"/>
                </a:lnTo>
                <a:lnTo>
                  <a:pt x="19" y="595"/>
                </a:lnTo>
                <a:lnTo>
                  <a:pt x="24" y="591"/>
                </a:lnTo>
                <a:lnTo>
                  <a:pt x="27" y="588"/>
                </a:lnTo>
                <a:lnTo>
                  <a:pt x="34" y="584"/>
                </a:lnTo>
                <a:lnTo>
                  <a:pt x="39" y="582"/>
                </a:lnTo>
                <a:lnTo>
                  <a:pt x="41" y="58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5626" name="Freeform 28"/>
          <p:cNvSpPr/>
          <p:nvPr/>
        </p:nvSpPr>
        <p:spPr bwMode="auto">
          <a:xfrm>
            <a:off x="3722688" y="3944590"/>
            <a:ext cx="1490662" cy="917575"/>
          </a:xfrm>
          <a:custGeom>
            <a:avLst/>
            <a:gdLst>
              <a:gd name="T0" fmla="*/ 2147483646 w 1878"/>
              <a:gd name="T1" fmla="*/ 2147483646 h 1157"/>
              <a:gd name="T2" fmla="*/ 2147483646 w 1878"/>
              <a:gd name="T3" fmla="*/ 2147483646 h 1157"/>
              <a:gd name="T4" fmla="*/ 2147483646 w 1878"/>
              <a:gd name="T5" fmla="*/ 2147483646 h 1157"/>
              <a:gd name="T6" fmla="*/ 2147483646 w 1878"/>
              <a:gd name="T7" fmla="*/ 2147483646 h 1157"/>
              <a:gd name="T8" fmla="*/ 2147483646 w 1878"/>
              <a:gd name="T9" fmla="*/ 2147483646 h 1157"/>
              <a:gd name="T10" fmla="*/ 2147483646 w 1878"/>
              <a:gd name="T11" fmla="*/ 2147483646 h 1157"/>
              <a:gd name="T12" fmla="*/ 2147483646 w 1878"/>
              <a:gd name="T13" fmla="*/ 2147483646 h 1157"/>
              <a:gd name="T14" fmla="*/ 2147483646 w 1878"/>
              <a:gd name="T15" fmla="*/ 2147483646 h 1157"/>
              <a:gd name="T16" fmla="*/ 2147483646 w 1878"/>
              <a:gd name="T17" fmla="*/ 2147483646 h 1157"/>
              <a:gd name="T18" fmla="*/ 2147483646 w 1878"/>
              <a:gd name="T19" fmla="*/ 2147483646 h 1157"/>
              <a:gd name="T20" fmla="*/ 2147483646 w 1878"/>
              <a:gd name="T21" fmla="*/ 2147483646 h 1157"/>
              <a:gd name="T22" fmla="*/ 2147483646 w 1878"/>
              <a:gd name="T23" fmla="*/ 2147483646 h 1157"/>
              <a:gd name="T24" fmla="*/ 2147483646 w 1878"/>
              <a:gd name="T25" fmla="*/ 2147483646 h 1157"/>
              <a:gd name="T26" fmla="*/ 2147483646 w 1878"/>
              <a:gd name="T27" fmla="*/ 2147483646 h 1157"/>
              <a:gd name="T28" fmla="*/ 2147483646 w 1878"/>
              <a:gd name="T29" fmla="*/ 2147483646 h 1157"/>
              <a:gd name="T30" fmla="*/ 2147483646 w 1878"/>
              <a:gd name="T31" fmla="*/ 2147483646 h 1157"/>
              <a:gd name="T32" fmla="*/ 2147483646 w 1878"/>
              <a:gd name="T33" fmla="*/ 2147483646 h 1157"/>
              <a:gd name="T34" fmla="*/ 2147483646 w 1878"/>
              <a:gd name="T35" fmla="*/ 2147483646 h 1157"/>
              <a:gd name="T36" fmla="*/ 2147483646 w 1878"/>
              <a:gd name="T37" fmla="*/ 2147483646 h 1157"/>
              <a:gd name="T38" fmla="*/ 2147483646 w 1878"/>
              <a:gd name="T39" fmla="*/ 2147483646 h 1157"/>
              <a:gd name="T40" fmla="*/ 2147483646 w 1878"/>
              <a:gd name="T41" fmla="*/ 2147483646 h 1157"/>
              <a:gd name="T42" fmla="*/ 2147483646 w 1878"/>
              <a:gd name="T43" fmla="*/ 2147483646 h 1157"/>
              <a:gd name="T44" fmla="*/ 2147483646 w 1878"/>
              <a:gd name="T45" fmla="*/ 2147483646 h 1157"/>
              <a:gd name="T46" fmla="*/ 2147483646 w 1878"/>
              <a:gd name="T47" fmla="*/ 2147483646 h 1157"/>
              <a:gd name="T48" fmla="*/ 2147483646 w 1878"/>
              <a:gd name="T49" fmla="*/ 2147483646 h 1157"/>
              <a:gd name="T50" fmla="*/ 2147483646 w 1878"/>
              <a:gd name="T51" fmla="*/ 2147483646 h 1157"/>
              <a:gd name="T52" fmla="*/ 2147483646 w 1878"/>
              <a:gd name="T53" fmla="*/ 2147483646 h 1157"/>
              <a:gd name="T54" fmla="*/ 2147483646 w 1878"/>
              <a:gd name="T55" fmla="*/ 2147483646 h 1157"/>
              <a:gd name="T56" fmla="*/ 2147483646 w 1878"/>
              <a:gd name="T57" fmla="*/ 2147483646 h 1157"/>
              <a:gd name="T58" fmla="*/ 2147483646 w 1878"/>
              <a:gd name="T59" fmla="*/ 2147483646 h 1157"/>
              <a:gd name="T60" fmla="*/ 2147483646 w 1878"/>
              <a:gd name="T61" fmla="*/ 2147483646 h 1157"/>
              <a:gd name="T62" fmla="*/ 2147483646 w 1878"/>
              <a:gd name="T63" fmla="*/ 2147483646 h 1157"/>
              <a:gd name="T64" fmla="*/ 2147483646 w 1878"/>
              <a:gd name="T65" fmla="*/ 2147483646 h 1157"/>
              <a:gd name="T66" fmla="*/ 2147483646 w 1878"/>
              <a:gd name="T67" fmla="*/ 2147483646 h 1157"/>
              <a:gd name="T68" fmla="*/ 2147483646 w 1878"/>
              <a:gd name="T69" fmla="*/ 2147483646 h 1157"/>
              <a:gd name="T70" fmla="*/ 2147483646 w 1878"/>
              <a:gd name="T71" fmla="*/ 2147483646 h 1157"/>
              <a:gd name="T72" fmla="*/ 2147483646 w 1878"/>
              <a:gd name="T73" fmla="*/ 2147483646 h 1157"/>
              <a:gd name="T74" fmla="*/ 2147483646 w 1878"/>
              <a:gd name="T75" fmla="*/ 2147483646 h 1157"/>
              <a:gd name="T76" fmla="*/ 2147483646 w 1878"/>
              <a:gd name="T77" fmla="*/ 2147483646 h 1157"/>
              <a:gd name="T78" fmla="*/ 2147483646 w 1878"/>
              <a:gd name="T79" fmla="*/ 2147483646 h 1157"/>
              <a:gd name="T80" fmla="*/ 2147483646 w 1878"/>
              <a:gd name="T81" fmla="*/ 2147483646 h 1157"/>
              <a:gd name="T82" fmla="*/ 2147483646 w 1878"/>
              <a:gd name="T83" fmla="*/ 2147483646 h 1157"/>
              <a:gd name="T84" fmla="*/ 2147483646 w 1878"/>
              <a:gd name="T85" fmla="*/ 2147483646 h 1157"/>
              <a:gd name="T86" fmla="*/ 2147483646 w 1878"/>
              <a:gd name="T87" fmla="*/ 2147483646 h 1157"/>
              <a:gd name="T88" fmla="*/ 2147483646 w 1878"/>
              <a:gd name="T89" fmla="*/ 2147483646 h 1157"/>
              <a:gd name="T90" fmla="*/ 2147483646 w 1878"/>
              <a:gd name="T91" fmla="*/ 2147483646 h 1157"/>
              <a:gd name="T92" fmla="*/ 2147483646 w 1878"/>
              <a:gd name="T93" fmla="*/ 2147483646 h 1157"/>
              <a:gd name="T94" fmla="*/ 2147483646 w 1878"/>
              <a:gd name="T95" fmla="*/ 2147483646 h 1157"/>
              <a:gd name="T96" fmla="*/ 2147483646 w 1878"/>
              <a:gd name="T97" fmla="*/ 2147483646 h 1157"/>
              <a:gd name="T98" fmla="*/ 2147483646 w 1878"/>
              <a:gd name="T99" fmla="*/ 2147483646 h 1157"/>
              <a:gd name="T100" fmla="*/ 2147483646 w 1878"/>
              <a:gd name="T101" fmla="*/ 2147483646 h 1157"/>
              <a:gd name="T102" fmla="*/ 2147483646 w 1878"/>
              <a:gd name="T103" fmla="*/ 2147483646 h 1157"/>
              <a:gd name="T104" fmla="*/ 2147483646 w 1878"/>
              <a:gd name="T105" fmla="*/ 2147483646 h 1157"/>
              <a:gd name="T106" fmla="*/ 2147483646 w 1878"/>
              <a:gd name="T107" fmla="*/ 2147483646 h 1157"/>
              <a:gd name="T108" fmla="*/ 2147483646 w 1878"/>
              <a:gd name="T109" fmla="*/ 2147483646 h 1157"/>
              <a:gd name="T110" fmla="*/ 2147483646 w 1878"/>
              <a:gd name="T111" fmla="*/ 2147483646 h 1157"/>
              <a:gd name="T112" fmla="*/ 2147483646 w 1878"/>
              <a:gd name="T113" fmla="*/ 2147483646 h 1157"/>
              <a:gd name="T114" fmla="*/ 2147483646 w 1878"/>
              <a:gd name="T115" fmla="*/ 2147483646 h 1157"/>
              <a:gd name="T116" fmla="*/ 2147483646 w 1878"/>
              <a:gd name="T117" fmla="*/ 2147483646 h 1157"/>
              <a:gd name="T118" fmla="*/ 2147483646 w 1878"/>
              <a:gd name="T119" fmla="*/ 2147483646 h 115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1878"/>
              <a:gd name="T181" fmla="*/ 0 h 1157"/>
              <a:gd name="T182" fmla="*/ 1878 w 1878"/>
              <a:gd name="T183" fmla="*/ 1157 h 1157"/>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1878" h="1157">
                <a:moveTo>
                  <a:pt x="41" y="580"/>
                </a:moveTo>
                <a:lnTo>
                  <a:pt x="34" y="577"/>
                </a:lnTo>
                <a:lnTo>
                  <a:pt x="29" y="571"/>
                </a:lnTo>
                <a:lnTo>
                  <a:pt x="24" y="568"/>
                </a:lnTo>
                <a:lnTo>
                  <a:pt x="19" y="562"/>
                </a:lnTo>
                <a:lnTo>
                  <a:pt x="14" y="555"/>
                </a:lnTo>
                <a:lnTo>
                  <a:pt x="11" y="549"/>
                </a:lnTo>
                <a:lnTo>
                  <a:pt x="9" y="544"/>
                </a:lnTo>
                <a:lnTo>
                  <a:pt x="5" y="536"/>
                </a:lnTo>
                <a:lnTo>
                  <a:pt x="5" y="529"/>
                </a:lnTo>
                <a:lnTo>
                  <a:pt x="4" y="524"/>
                </a:lnTo>
                <a:lnTo>
                  <a:pt x="4" y="516"/>
                </a:lnTo>
                <a:lnTo>
                  <a:pt x="5" y="509"/>
                </a:lnTo>
                <a:lnTo>
                  <a:pt x="5" y="502"/>
                </a:lnTo>
                <a:lnTo>
                  <a:pt x="9" y="496"/>
                </a:lnTo>
                <a:lnTo>
                  <a:pt x="12" y="489"/>
                </a:lnTo>
                <a:lnTo>
                  <a:pt x="16" y="483"/>
                </a:lnTo>
                <a:lnTo>
                  <a:pt x="21" y="476"/>
                </a:lnTo>
                <a:lnTo>
                  <a:pt x="26" y="470"/>
                </a:lnTo>
                <a:lnTo>
                  <a:pt x="31" y="465"/>
                </a:lnTo>
                <a:lnTo>
                  <a:pt x="37" y="461"/>
                </a:lnTo>
                <a:lnTo>
                  <a:pt x="44" y="457"/>
                </a:lnTo>
                <a:lnTo>
                  <a:pt x="52" y="454"/>
                </a:lnTo>
                <a:lnTo>
                  <a:pt x="59" y="452"/>
                </a:lnTo>
                <a:lnTo>
                  <a:pt x="68" y="450"/>
                </a:lnTo>
                <a:lnTo>
                  <a:pt x="62" y="441"/>
                </a:lnTo>
                <a:lnTo>
                  <a:pt x="59" y="432"/>
                </a:lnTo>
                <a:lnTo>
                  <a:pt x="56" y="423"/>
                </a:lnTo>
                <a:lnTo>
                  <a:pt x="54" y="413"/>
                </a:lnTo>
                <a:lnTo>
                  <a:pt x="52" y="404"/>
                </a:lnTo>
                <a:lnTo>
                  <a:pt x="52" y="395"/>
                </a:lnTo>
                <a:lnTo>
                  <a:pt x="54" y="386"/>
                </a:lnTo>
                <a:lnTo>
                  <a:pt x="56" y="377"/>
                </a:lnTo>
                <a:lnTo>
                  <a:pt x="57" y="367"/>
                </a:lnTo>
                <a:lnTo>
                  <a:pt x="62" y="358"/>
                </a:lnTo>
                <a:lnTo>
                  <a:pt x="66" y="349"/>
                </a:lnTo>
                <a:lnTo>
                  <a:pt x="73" y="342"/>
                </a:lnTo>
                <a:lnTo>
                  <a:pt x="79" y="334"/>
                </a:lnTo>
                <a:lnTo>
                  <a:pt x="86" y="327"/>
                </a:lnTo>
                <a:lnTo>
                  <a:pt x="94" y="322"/>
                </a:lnTo>
                <a:lnTo>
                  <a:pt x="103" y="316"/>
                </a:lnTo>
                <a:lnTo>
                  <a:pt x="111" y="312"/>
                </a:lnTo>
                <a:lnTo>
                  <a:pt x="118" y="309"/>
                </a:lnTo>
                <a:lnTo>
                  <a:pt x="126" y="307"/>
                </a:lnTo>
                <a:lnTo>
                  <a:pt x="135" y="303"/>
                </a:lnTo>
                <a:lnTo>
                  <a:pt x="143" y="303"/>
                </a:lnTo>
                <a:lnTo>
                  <a:pt x="151" y="301"/>
                </a:lnTo>
                <a:lnTo>
                  <a:pt x="160" y="301"/>
                </a:lnTo>
                <a:lnTo>
                  <a:pt x="168" y="301"/>
                </a:lnTo>
                <a:lnTo>
                  <a:pt x="166" y="290"/>
                </a:lnTo>
                <a:lnTo>
                  <a:pt x="165" y="279"/>
                </a:lnTo>
                <a:lnTo>
                  <a:pt x="165" y="268"/>
                </a:lnTo>
                <a:lnTo>
                  <a:pt x="166" y="257"/>
                </a:lnTo>
                <a:lnTo>
                  <a:pt x="168" y="248"/>
                </a:lnTo>
                <a:lnTo>
                  <a:pt x="171" y="237"/>
                </a:lnTo>
                <a:lnTo>
                  <a:pt x="176" y="228"/>
                </a:lnTo>
                <a:lnTo>
                  <a:pt x="183" y="217"/>
                </a:lnTo>
                <a:lnTo>
                  <a:pt x="188" y="210"/>
                </a:lnTo>
                <a:lnTo>
                  <a:pt x="197" y="200"/>
                </a:lnTo>
                <a:lnTo>
                  <a:pt x="205" y="193"/>
                </a:lnTo>
                <a:lnTo>
                  <a:pt x="213" y="186"/>
                </a:lnTo>
                <a:lnTo>
                  <a:pt x="223" y="180"/>
                </a:lnTo>
                <a:lnTo>
                  <a:pt x="235" y="175"/>
                </a:lnTo>
                <a:lnTo>
                  <a:pt x="245" y="171"/>
                </a:lnTo>
                <a:lnTo>
                  <a:pt x="257" y="167"/>
                </a:lnTo>
                <a:lnTo>
                  <a:pt x="269" y="166"/>
                </a:lnTo>
                <a:lnTo>
                  <a:pt x="279" y="166"/>
                </a:lnTo>
                <a:lnTo>
                  <a:pt x="289" y="164"/>
                </a:lnTo>
                <a:lnTo>
                  <a:pt x="299" y="166"/>
                </a:lnTo>
                <a:lnTo>
                  <a:pt x="309" y="167"/>
                </a:lnTo>
                <a:lnTo>
                  <a:pt x="321" y="169"/>
                </a:lnTo>
                <a:lnTo>
                  <a:pt x="329" y="173"/>
                </a:lnTo>
                <a:lnTo>
                  <a:pt x="339" y="177"/>
                </a:lnTo>
                <a:lnTo>
                  <a:pt x="336" y="169"/>
                </a:lnTo>
                <a:lnTo>
                  <a:pt x="334" y="162"/>
                </a:lnTo>
                <a:lnTo>
                  <a:pt x="332" y="155"/>
                </a:lnTo>
                <a:lnTo>
                  <a:pt x="332" y="147"/>
                </a:lnTo>
                <a:lnTo>
                  <a:pt x="332" y="140"/>
                </a:lnTo>
                <a:lnTo>
                  <a:pt x="334" y="132"/>
                </a:lnTo>
                <a:lnTo>
                  <a:pt x="336" y="125"/>
                </a:lnTo>
                <a:lnTo>
                  <a:pt x="337" y="118"/>
                </a:lnTo>
                <a:lnTo>
                  <a:pt x="341" y="110"/>
                </a:lnTo>
                <a:lnTo>
                  <a:pt x="346" y="105"/>
                </a:lnTo>
                <a:lnTo>
                  <a:pt x="349" y="99"/>
                </a:lnTo>
                <a:lnTo>
                  <a:pt x="356" y="94"/>
                </a:lnTo>
                <a:lnTo>
                  <a:pt x="361" y="88"/>
                </a:lnTo>
                <a:lnTo>
                  <a:pt x="368" y="83"/>
                </a:lnTo>
                <a:lnTo>
                  <a:pt x="374" y="79"/>
                </a:lnTo>
                <a:lnTo>
                  <a:pt x="383" y="76"/>
                </a:lnTo>
                <a:lnTo>
                  <a:pt x="389" y="74"/>
                </a:lnTo>
                <a:lnTo>
                  <a:pt x="398" y="72"/>
                </a:lnTo>
                <a:lnTo>
                  <a:pt x="404" y="70"/>
                </a:lnTo>
                <a:lnTo>
                  <a:pt x="413" y="70"/>
                </a:lnTo>
                <a:lnTo>
                  <a:pt x="421" y="70"/>
                </a:lnTo>
                <a:lnTo>
                  <a:pt x="428" y="70"/>
                </a:lnTo>
                <a:lnTo>
                  <a:pt x="436" y="72"/>
                </a:lnTo>
                <a:lnTo>
                  <a:pt x="443" y="74"/>
                </a:lnTo>
                <a:lnTo>
                  <a:pt x="450" y="76"/>
                </a:lnTo>
                <a:lnTo>
                  <a:pt x="456" y="79"/>
                </a:lnTo>
                <a:lnTo>
                  <a:pt x="463" y="83"/>
                </a:lnTo>
                <a:lnTo>
                  <a:pt x="470" y="88"/>
                </a:lnTo>
                <a:lnTo>
                  <a:pt x="475" y="92"/>
                </a:lnTo>
                <a:lnTo>
                  <a:pt x="480" y="98"/>
                </a:lnTo>
                <a:lnTo>
                  <a:pt x="485" y="103"/>
                </a:lnTo>
                <a:lnTo>
                  <a:pt x="490" y="110"/>
                </a:lnTo>
                <a:lnTo>
                  <a:pt x="490" y="101"/>
                </a:lnTo>
                <a:lnTo>
                  <a:pt x="493" y="94"/>
                </a:lnTo>
                <a:lnTo>
                  <a:pt x="497" y="87"/>
                </a:lnTo>
                <a:lnTo>
                  <a:pt x="500" y="79"/>
                </a:lnTo>
                <a:lnTo>
                  <a:pt x="505" y="72"/>
                </a:lnTo>
                <a:lnTo>
                  <a:pt x="510" y="66"/>
                </a:lnTo>
                <a:lnTo>
                  <a:pt x="517" y="61"/>
                </a:lnTo>
                <a:lnTo>
                  <a:pt x="524" y="55"/>
                </a:lnTo>
                <a:lnTo>
                  <a:pt x="530" y="50"/>
                </a:lnTo>
                <a:lnTo>
                  <a:pt x="539" y="46"/>
                </a:lnTo>
                <a:lnTo>
                  <a:pt x="547" y="43"/>
                </a:lnTo>
                <a:lnTo>
                  <a:pt x="555" y="41"/>
                </a:lnTo>
                <a:lnTo>
                  <a:pt x="564" y="39"/>
                </a:lnTo>
                <a:lnTo>
                  <a:pt x="572" y="37"/>
                </a:lnTo>
                <a:lnTo>
                  <a:pt x="580" y="37"/>
                </a:lnTo>
                <a:lnTo>
                  <a:pt x="591" y="37"/>
                </a:lnTo>
                <a:lnTo>
                  <a:pt x="599" y="39"/>
                </a:lnTo>
                <a:lnTo>
                  <a:pt x="607" y="41"/>
                </a:lnTo>
                <a:lnTo>
                  <a:pt x="616" y="44"/>
                </a:lnTo>
                <a:lnTo>
                  <a:pt x="622" y="48"/>
                </a:lnTo>
                <a:lnTo>
                  <a:pt x="631" y="52"/>
                </a:lnTo>
                <a:lnTo>
                  <a:pt x="637" y="55"/>
                </a:lnTo>
                <a:lnTo>
                  <a:pt x="643" y="61"/>
                </a:lnTo>
                <a:lnTo>
                  <a:pt x="649" y="66"/>
                </a:lnTo>
                <a:lnTo>
                  <a:pt x="661" y="54"/>
                </a:lnTo>
                <a:lnTo>
                  <a:pt x="674" y="43"/>
                </a:lnTo>
                <a:lnTo>
                  <a:pt x="688" y="33"/>
                </a:lnTo>
                <a:lnTo>
                  <a:pt x="703" y="26"/>
                </a:lnTo>
                <a:lnTo>
                  <a:pt x="718" y="19"/>
                </a:lnTo>
                <a:lnTo>
                  <a:pt x="735" y="13"/>
                </a:lnTo>
                <a:lnTo>
                  <a:pt x="751" y="9"/>
                </a:lnTo>
                <a:lnTo>
                  <a:pt x="768" y="6"/>
                </a:lnTo>
                <a:lnTo>
                  <a:pt x="785" y="6"/>
                </a:lnTo>
                <a:lnTo>
                  <a:pt x="802" y="6"/>
                </a:lnTo>
                <a:lnTo>
                  <a:pt x="819" y="8"/>
                </a:lnTo>
                <a:lnTo>
                  <a:pt x="835" y="11"/>
                </a:lnTo>
                <a:lnTo>
                  <a:pt x="852" y="15"/>
                </a:lnTo>
                <a:lnTo>
                  <a:pt x="869" y="22"/>
                </a:lnTo>
                <a:lnTo>
                  <a:pt x="884" y="30"/>
                </a:lnTo>
                <a:lnTo>
                  <a:pt x="899" y="39"/>
                </a:lnTo>
                <a:lnTo>
                  <a:pt x="901" y="35"/>
                </a:lnTo>
                <a:lnTo>
                  <a:pt x="902" y="30"/>
                </a:lnTo>
                <a:lnTo>
                  <a:pt x="906" y="26"/>
                </a:lnTo>
                <a:lnTo>
                  <a:pt x="907" y="22"/>
                </a:lnTo>
                <a:lnTo>
                  <a:pt x="914" y="15"/>
                </a:lnTo>
                <a:lnTo>
                  <a:pt x="922" y="9"/>
                </a:lnTo>
                <a:lnTo>
                  <a:pt x="933" y="4"/>
                </a:lnTo>
                <a:lnTo>
                  <a:pt x="943" y="2"/>
                </a:lnTo>
                <a:lnTo>
                  <a:pt x="948" y="2"/>
                </a:lnTo>
                <a:lnTo>
                  <a:pt x="953" y="2"/>
                </a:lnTo>
                <a:lnTo>
                  <a:pt x="958" y="2"/>
                </a:lnTo>
                <a:lnTo>
                  <a:pt x="964" y="2"/>
                </a:lnTo>
                <a:lnTo>
                  <a:pt x="971" y="4"/>
                </a:lnTo>
                <a:lnTo>
                  <a:pt x="978" y="8"/>
                </a:lnTo>
                <a:lnTo>
                  <a:pt x="985" y="11"/>
                </a:lnTo>
                <a:lnTo>
                  <a:pt x="990" y="17"/>
                </a:lnTo>
                <a:lnTo>
                  <a:pt x="995" y="22"/>
                </a:lnTo>
                <a:lnTo>
                  <a:pt x="1000" y="28"/>
                </a:lnTo>
                <a:lnTo>
                  <a:pt x="1001" y="33"/>
                </a:lnTo>
                <a:lnTo>
                  <a:pt x="1005" y="41"/>
                </a:lnTo>
                <a:lnTo>
                  <a:pt x="1005" y="37"/>
                </a:lnTo>
                <a:lnTo>
                  <a:pt x="1006" y="31"/>
                </a:lnTo>
                <a:lnTo>
                  <a:pt x="1008" y="28"/>
                </a:lnTo>
                <a:lnTo>
                  <a:pt x="1010" y="22"/>
                </a:lnTo>
                <a:lnTo>
                  <a:pt x="1013" y="19"/>
                </a:lnTo>
                <a:lnTo>
                  <a:pt x="1015" y="15"/>
                </a:lnTo>
                <a:lnTo>
                  <a:pt x="1023" y="9"/>
                </a:lnTo>
                <a:lnTo>
                  <a:pt x="1031" y="6"/>
                </a:lnTo>
                <a:lnTo>
                  <a:pt x="1042" y="2"/>
                </a:lnTo>
                <a:lnTo>
                  <a:pt x="1047" y="2"/>
                </a:lnTo>
                <a:lnTo>
                  <a:pt x="1053" y="0"/>
                </a:lnTo>
                <a:lnTo>
                  <a:pt x="1058" y="0"/>
                </a:lnTo>
                <a:lnTo>
                  <a:pt x="1065" y="2"/>
                </a:lnTo>
                <a:lnTo>
                  <a:pt x="1073" y="4"/>
                </a:lnTo>
                <a:lnTo>
                  <a:pt x="1082" y="6"/>
                </a:lnTo>
                <a:lnTo>
                  <a:pt x="1088" y="9"/>
                </a:lnTo>
                <a:lnTo>
                  <a:pt x="1095" y="15"/>
                </a:lnTo>
                <a:lnTo>
                  <a:pt x="1102" y="20"/>
                </a:lnTo>
                <a:lnTo>
                  <a:pt x="1107" y="26"/>
                </a:lnTo>
                <a:lnTo>
                  <a:pt x="1112" y="31"/>
                </a:lnTo>
                <a:lnTo>
                  <a:pt x="1115" y="39"/>
                </a:lnTo>
                <a:lnTo>
                  <a:pt x="1124" y="35"/>
                </a:lnTo>
                <a:lnTo>
                  <a:pt x="1132" y="31"/>
                </a:lnTo>
                <a:lnTo>
                  <a:pt x="1142" y="30"/>
                </a:lnTo>
                <a:lnTo>
                  <a:pt x="1152" y="30"/>
                </a:lnTo>
                <a:lnTo>
                  <a:pt x="1162" y="31"/>
                </a:lnTo>
                <a:lnTo>
                  <a:pt x="1172" y="33"/>
                </a:lnTo>
                <a:lnTo>
                  <a:pt x="1182" y="35"/>
                </a:lnTo>
                <a:lnTo>
                  <a:pt x="1192" y="41"/>
                </a:lnTo>
                <a:lnTo>
                  <a:pt x="1196" y="43"/>
                </a:lnTo>
                <a:lnTo>
                  <a:pt x="1199" y="46"/>
                </a:lnTo>
                <a:lnTo>
                  <a:pt x="1202" y="50"/>
                </a:lnTo>
                <a:lnTo>
                  <a:pt x="1206" y="54"/>
                </a:lnTo>
                <a:lnTo>
                  <a:pt x="1207" y="55"/>
                </a:lnTo>
                <a:lnTo>
                  <a:pt x="1209" y="59"/>
                </a:lnTo>
                <a:lnTo>
                  <a:pt x="1211" y="63"/>
                </a:lnTo>
                <a:lnTo>
                  <a:pt x="1211" y="66"/>
                </a:lnTo>
                <a:lnTo>
                  <a:pt x="1216" y="61"/>
                </a:lnTo>
                <a:lnTo>
                  <a:pt x="1219" y="57"/>
                </a:lnTo>
                <a:lnTo>
                  <a:pt x="1226" y="52"/>
                </a:lnTo>
                <a:lnTo>
                  <a:pt x="1231" y="48"/>
                </a:lnTo>
                <a:lnTo>
                  <a:pt x="1239" y="44"/>
                </a:lnTo>
                <a:lnTo>
                  <a:pt x="1246" y="41"/>
                </a:lnTo>
                <a:lnTo>
                  <a:pt x="1254" y="39"/>
                </a:lnTo>
                <a:lnTo>
                  <a:pt x="1263" y="37"/>
                </a:lnTo>
                <a:lnTo>
                  <a:pt x="1271" y="35"/>
                </a:lnTo>
                <a:lnTo>
                  <a:pt x="1281" y="35"/>
                </a:lnTo>
                <a:lnTo>
                  <a:pt x="1290" y="33"/>
                </a:lnTo>
                <a:lnTo>
                  <a:pt x="1300" y="35"/>
                </a:lnTo>
                <a:lnTo>
                  <a:pt x="1310" y="35"/>
                </a:lnTo>
                <a:lnTo>
                  <a:pt x="1320" y="37"/>
                </a:lnTo>
                <a:lnTo>
                  <a:pt x="1330" y="39"/>
                </a:lnTo>
                <a:lnTo>
                  <a:pt x="1340" y="43"/>
                </a:lnTo>
                <a:lnTo>
                  <a:pt x="1355" y="48"/>
                </a:lnTo>
                <a:lnTo>
                  <a:pt x="1362" y="52"/>
                </a:lnTo>
                <a:lnTo>
                  <a:pt x="1368" y="55"/>
                </a:lnTo>
                <a:lnTo>
                  <a:pt x="1373" y="59"/>
                </a:lnTo>
                <a:lnTo>
                  <a:pt x="1380" y="63"/>
                </a:lnTo>
                <a:lnTo>
                  <a:pt x="1385" y="66"/>
                </a:lnTo>
                <a:lnTo>
                  <a:pt x="1389" y="72"/>
                </a:lnTo>
                <a:lnTo>
                  <a:pt x="1394" y="76"/>
                </a:lnTo>
                <a:lnTo>
                  <a:pt x="1397" y="81"/>
                </a:lnTo>
                <a:lnTo>
                  <a:pt x="1400" y="85"/>
                </a:lnTo>
                <a:lnTo>
                  <a:pt x="1402" y="90"/>
                </a:lnTo>
                <a:lnTo>
                  <a:pt x="1405" y="96"/>
                </a:lnTo>
                <a:lnTo>
                  <a:pt x="1405" y="101"/>
                </a:lnTo>
                <a:lnTo>
                  <a:pt x="1407" y="105"/>
                </a:lnTo>
                <a:lnTo>
                  <a:pt x="1407" y="110"/>
                </a:lnTo>
                <a:lnTo>
                  <a:pt x="1417" y="105"/>
                </a:lnTo>
                <a:lnTo>
                  <a:pt x="1427" y="99"/>
                </a:lnTo>
                <a:lnTo>
                  <a:pt x="1437" y="96"/>
                </a:lnTo>
                <a:lnTo>
                  <a:pt x="1447" y="92"/>
                </a:lnTo>
                <a:lnTo>
                  <a:pt x="1457" y="92"/>
                </a:lnTo>
                <a:lnTo>
                  <a:pt x="1467" y="94"/>
                </a:lnTo>
                <a:lnTo>
                  <a:pt x="1476" y="96"/>
                </a:lnTo>
                <a:lnTo>
                  <a:pt x="1482" y="101"/>
                </a:lnTo>
                <a:lnTo>
                  <a:pt x="1486" y="105"/>
                </a:lnTo>
                <a:lnTo>
                  <a:pt x="1489" y="110"/>
                </a:lnTo>
                <a:lnTo>
                  <a:pt x="1491" y="118"/>
                </a:lnTo>
                <a:lnTo>
                  <a:pt x="1491" y="123"/>
                </a:lnTo>
                <a:lnTo>
                  <a:pt x="1489" y="131"/>
                </a:lnTo>
                <a:lnTo>
                  <a:pt x="1486" y="138"/>
                </a:lnTo>
                <a:lnTo>
                  <a:pt x="1482" y="145"/>
                </a:lnTo>
                <a:lnTo>
                  <a:pt x="1476" y="153"/>
                </a:lnTo>
                <a:lnTo>
                  <a:pt x="1484" y="147"/>
                </a:lnTo>
                <a:lnTo>
                  <a:pt x="1492" y="142"/>
                </a:lnTo>
                <a:lnTo>
                  <a:pt x="1503" y="138"/>
                </a:lnTo>
                <a:lnTo>
                  <a:pt x="1511" y="134"/>
                </a:lnTo>
                <a:lnTo>
                  <a:pt x="1521" y="132"/>
                </a:lnTo>
                <a:lnTo>
                  <a:pt x="1531" y="131"/>
                </a:lnTo>
                <a:lnTo>
                  <a:pt x="1541" y="131"/>
                </a:lnTo>
                <a:lnTo>
                  <a:pt x="1551" y="131"/>
                </a:lnTo>
                <a:lnTo>
                  <a:pt x="1561" y="131"/>
                </a:lnTo>
                <a:lnTo>
                  <a:pt x="1570" y="132"/>
                </a:lnTo>
                <a:lnTo>
                  <a:pt x="1580" y="136"/>
                </a:lnTo>
                <a:lnTo>
                  <a:pt x="1590" y="140"/>
                </a:lnTo>
                <a:lnTo>
                  <a:pt x="1598" y="143"/>
                </a:lnTo>
                <a:lnTo>
                  <a:pt x="1606" y="149"/>
                </a:lnTo>
                <a:lnTo>
                  <a:pt x="1615" y="155"/>
                </a:lnTo>
                <a:lnTo>
                  <a:pt x="1622" y="162"/>
                </a:lnTo>
                <a:lnTo>
                  <a:pt x="1630" y="173"/>
                </a:lnTo>
                <a:lnTo>
                  <a:pt x="1637" y="184"/>
                </a:lnTo>
                <a:lnTo>
                  <a:pt x="1642" y="195"/>
                </a:lnTo>
                <a:lnTo>
                  <a:pt x="1643" y="200"/>
                </a:lnTo>
                <a:lnTo>
                  <a:pt x="1645" y="206"/>
                </a:lnTo>
                <a:lnTo>
                  <a:pt x="1647" y="213"/>
                </a:lnTo>
                <a:lnTo>
                  <a:pt x="1647" y="219"/>
                </a:lnTo>
                <a:lnTo>
                  <a:pt x="1647" y="224"/>
                </a:lnTo>
                <a:lnTo>
                  <a:pt x="1647" y="232"/>
                </a:lnTo>
                <a:lnTo>
                  <a:pt x="1647" y="237"/>
                </a:lnTo>
                <a:lnTo>
                  <a:pt x="1645" y="244"/>
                </a:lnTo>
                <a:lnTo>
                  <a:pt x="1643" y="250"/>
                </a:lnTo>
                <a:lnTo>
                  <a:pt x="1642" y="255"/>
                </a:lnTo>
                <a:lnTo>
                  <a:pt x="1650" y="259"/>
                </a:lnTo>
                <a:lnTo>
                  <a:pt x="1660" y="263"/>
                </a:lnTo>
                <a:lnTo>
                  <a:pt x="1668" y="268"/>
                </a:lnTo>
                <a:lnTo>
                  <a:pt x="1675" y="272"/>
                </a:lnTo>
                <a:lnTo>
                  <a:pt x="1682" y="278"/>
                </a:lnTo>
                <a:lnTo>
                  <a:pt x="1689" y="283"/>
                </a:lnTo>
                <a:lnTo>
                  <a:pt x="1694" y="289"/>
                </a:lnTo>
                <a:lnTo>
                  <a:pt x="1699" y="294"/>
                </a:lnTo>
                <a:lnTo>
                  <a:pt x="1704" y="300"/>
                </a:lnTo>
                <a:lnTo>
                  <a:pt x="1707" y="307"/>
                </a:lnTo>
                <a:lnTo>
                  <a:pt x="1709" y="312"/>
                </a:lnTo>
                <a:lnTo>
                  <a:pt x="1710" y="320"/>
                </a:lnTo>
                <a:lnTo>
                  <a:pt x="1712" y="325"/>
                </a:lnTo>
                <a:lnTo>
                  <a:pt x="1710" y="331"/>
                </a:lnTo>
                <a:lnTo>
                  <a:pt x="1710" y="338"/>
                </a:lnTo>
                <a:lnTo>
                  <a:pt x="1709" y="344"/>
                </a:lnTo>
                <a:lnTo>
                  <a:pt x="1722" y="344"/>
                </a:lnTo>
                <a:lnTo>
                  <a:pt x="1737" y="345"/>
                </a:lnTo>
                <a:lnTo>
                  <a:pt x="1751" y="349"/>
                </a:lnTo>
                <a:lnTo>
                  <a:pt x="1764" y="351"/>
                </a:lnTo>
                <a:lnTo>
                  <a:pt x="1776" y="355"/>
                </a:lnTo>
                <a:lnTo>
                  <a:pt x="1788" y="360"/>
                </a:lnTo>
                <a:lnTo>
                  <a:pt x="1799" y="366"/>
                </a:lnTo>
                <a:lnTo>
                  <a:pt x="1808" y="371"/>
                </a:lnTo>
                <a:lnTo>
                  <a:pt x="1818" y="378"/>
                </a:lnTo>
                <a:lnTo>
                  <a:pt x="1824" y="384"/>
                </a:lnTo>
                <a:lnTo>
                  <a:pt x="1831" y="391"/>
                </a:lnTo>
                <a:lnTo>
                  <a:pt x="1836" y="401"/>
                </a:lnTo>
                <a:lnTo>
                  <a:pt x="1841" y="408"/>
                </a:lnTo>
                <a:lnTo>
                  <a:pt x="1843" y="417"/>
                </a:lnTo>
                <a:lnTo>
                  <a:pt x="1845" y="426"/>
                </a:lnTo>
                <a:lnTo>
                  <a:pt x="1845" y="435"/>
                </a:lnTo>
                <a:lnTo>
                  <a:pt x="1843" y="443"/>
                </a:lnTo>
                <a:lnTo>
                  <a:pt x="1841" y="450"/>
                </a:lnTo>
                <a:lnTo>
                  <a:pt x="1838" y="457"/>
                </a:lnTo>
                <a:lnTo>
                  <a:pt x="1833" y="465"/>
                </a:lnTo>
                <a:lnTo>
                  <a:pt x="1828" y="472"/>
                </a:lnTo>
                <a:lnTo>
                  <a:pt x="1821" y="478"/>
                </a:lnTo>
                <a:lnTo>
                  <a:pt x="1814" y="485"/>
                </a:lnTo>
                <a:lnTo>
                  <a:pt x="1806" y="490"/>
                </a:lnTo>
                <a:lnTo>
                  <a:pt x="1814" y="492"/>
                </a:lnTo>
                <a:lnTo>
                  <a:pt x="1821" y="496"/>
                </a:lnTo>
                <a:lnTo>
                  <a:pt x="1828" y="498"/>
                </a:lnTo>
                <a:lnTo>
                  <a:pt x="1834" y="502"/>
                </a:lnTo>
                <a:lnTo>
                  <a:pt x="1839" y="505"/>
                </a:lnTo>
                <a:lnTo>
                  <a:pt x="1845" y="511"/>
                </a:lnTo>
                <a:lnTo>
                  <a:pt x="1848" y="514"/>
                </a:lnTo>
                <a:lnTo>
                  <a:pt x="1851" y="518"/>
                </a:lnTo>
                <a:lnTo>
                  <a:pt x="1855" y="524"/>
                </a:lnTo>
                <a:lnTo>
                  <a:pt x="1856" y="527"/>
                </a:lnTo>
                <a:lnTo>
                  <a:pt x="1858" y="533"/>
                </a:lnTo>
                <a:lnTo>
                  <a:pt x="1858" y="538"/>
                </a:lnTo>
                <a:lnTo>
                  <a:pt x="1856" y="544"/>
                </a:lnTo>
                <a:lnTo>
                  <a:pt x="1856" y="547"/>
                </a:lnTo>
                <a:lnTo>
                  <a:pt x="1853" y="553"/>
                </a:lnTo>
                <a:lnTo>
                  <a:pt x="1851" y="558"/>
                </a:lnTo>
                <a:lnTo>
                  <a:pt x="1845" y="564"/>
                </a:lnTo>
                <a:lnTo>
                  <a:pt x="1838" y="571"/>
                </a:lnTo>
                <a:lnTo>
                  <a:pt x="1829" y="577"/>
                </a:lnTo>
                <a:lnTo>
                  <a:pt x="1819" y="580"/>
                </a:lnTo>
                <a:lnTo>
                  <a:pt x="1828" y="579"/>
                </a:lnTo>
                <a:lnTo>
                  <a:pt x="1836" y="577"/>
                </a:lnTo>
                <a:lnTo>
                  <a:pt x="1843" y="579"/>
                </a:lnTo>
                <a:lnTo>
                  <a:pt x="1851" y="580"/>
                </a:lnTo>
                <a:lnTo>
                  <a:pt x="1858" y="584"/>
                </a:lnTo>
                <a:lnTo>
                  <a:pt x="1865" y="588"/>
                </a:lnTo>
                <a:lnTo>
                  <a:pt x="1870" y="593"/>
                </a:lnTo>
                <a:lnTo>
                  <a:pt x="1875" y="601"/>
                </a:lnTo>
                <a:lnTo>
                  <a:pt x="1876" y="604"/>
                </a:lnTo>
                <a:lnTo>
                  <a:pt x="1876" y="608"/>
                </a:lnTo>
                <a:lnTo>
                  <a:pt x="1878" y="612"/>
                </a:lnTo>
                <a:lnTo>
                  <a:pt x="1878" y="615"/>
                </a:lnTo>
                <a:lnTo>
                  <a:pt x="1878" y="623"/>
                </a:lnTo>
                <a:lnTo>
                  <a:pt x="1875" y="630"/>
                </a:lnTo>
                <a:lnTo>
                  <a:pt x="1871" y="637"/>
                </a:lnTo>
                <a:lnTo>
                  <a:pt x="1866" y="643"/>
                </a:lnTo>
                <a:lnTo>
                  <a:pt x="1861" y="648"/>
                </a:lnTo>
                <a:lnTo>
                  <a:pt x="1853" y="652"/>
                </a:lnTo>
                <a:lnTo>
                  <a:pt x="1848" y="654"/>
                </a:lnTo>
                <a:lnTo>
                  <a:pt x="1843" y="654"/>
                </a:lnTo>
                <a:lnTo>
                  <a:pt x="1838" y="654"/>
                </a:lnTo>
                <a:lnTo>
                  <a:pt x="1833" y="654"/>
                </a:lnTo>
                <a:lnTo>
                  <a:pt x="1828" y="654"/>
                </a:lnTo>
                <a:lnTo>
                  <a:pt x="1821" y="652"/>
                </a:lnTo>
                <a:lnTo>
                  <a:pt x="1818" y="650"/>
                </a:lnTo>
                <a:lnTo>
                  <a:pt x="1813" y="648"/>
                </a:lnTo>
                <a:lnTo>
                  <a:pt x="1818" y="654"/>
                </a:lnTo>
                <a:lnTo>
                  <a:pt x="1823" y="661"/>
                </a:lnTo>
                <a:lnTo>
                  <a:pt x="1828" y="669"/>
                </a:lnTo>
                <a:lnTo>
                  <a:pt x="1831" y="676"/>
                </a:lnTo>
                <a:lnTo>
                  <a:pt x="1833" y="683"/>
                </a:lnTo>
                <a:lnTo>
                  <a:pt x="1834" y="692"/>
                </a:lnTo>
                <a:lnTo>
                  <a:pt x="1834" y="700"/>
                </a:lnTo>
                <a:lnTo>
                  <a:pt x="1834" y="707"/>
                </a:lnTo>
                <a:lnTo>
                  <a:pt x="1834" y="716"/>
                </a:lnTo>
                <a:lnTo>
                  <a:pt x="1833" y="724"/>
                </a:lnTo>
                <a:lnTo>
                  <a:pt x="1829" y="731"/>
                </a:lnTo>
                <a:lnTo>
                  <a:pt x="1826" y="738"/>
                </a:lnTo>
                <a:lnTo>
                  <a:pt x="1821" y="746"/>
                </a:lnTo>
                <a:lnTo>
                  <a:pt x="1816" y="753"/>
                </a:lnTo>
                <a:lnTo>
                  <a:pt x="1811" y="759"/>
                </a:lnTo>
                <a:lnTo>
                  <a:pt x="1804" y="766"/>
                </a:lnTo>
                <a:lnTo>
                  <a:pt x="1793" y="773"/>
                </a:lnTo>
                <a:lnTo>
                  <a:pt x="1788" y="777"/>
                </a:lnTo>
                <a:lnTo>
                  <a:pt x="1781" y="779"/>
                </a:lnTo>
                <a:lnTo>
                  <a:pt x="1774" y="782"/>
                </a:lnTo>
                <a:lnTo>
                  <a:pt x="1767" y="784"/>
                </a:lnTo>
                <a:lnTo>
                  <a:pt x="1761" y="784"/>
                </a:lnTo>
                <a:lnTo>
                  <a:pt x="1752" y="786"/>
                </a:lnTo>
                <a:lnTo>
                  <a:pt x="1764" y="790"/>
                </a:lnTo>
                <a:lnTo>
                  <a:pt x="1774" y="793"/>
                </a:lnTo>
                <a:lnTo>
                  <a:pt x="1777" y="797"/>
                </a:lnTo>
                <a:lnTo>
                  <a:pt x="1781" y="801"/>
                </a:lnTo>
                <a:lnTo>
                  <a:pt x="1784" y="804"/>
                </a:lnTo>
                <a:lnTo>
                  <a:pt x="1788" y="808"/>
                </a:lnTo>
                <a:lnTo>
                  <a:pt x="1789" y="812"/>
                </a:lnTo>
                <a:lnTo>
                  <a:pt x="1791" y="815"/>
                </a:lnTo>
                <a:lnTo>
                  <a:pt x="1793" y="819"/>
                </a:lnTo>
                <a:lnTo>
                  <a:pt x="1793" y="823"/>
                </a:lnTo>
                <a:lnTo>
                  <a:pt x="1793" y="828"/>
                </a:lnTo>
                <a:lnTo>
                  <a:pt x="1793" y="832"/>
                </a:lnTo>
                <a:lnTo>
                  <a:pt x="1791" y="836"/>
                </a:lnTo>
                <a:lnTo>
                  <a:pt x="1789" y="841"/>
                </a:lnTo>
                <a:lnTo>
                  <a:pt x="1788" y="845"/>
                </a:lnTo>
                <a:lnTo>
                  <a:pt x="1784" y="849"/>
                </a:lnTo>
                <a:lnTo>
                  <a:pt x="1781" y="852"/>
                </a:lnTo>
                <a:lnTo>
                  <a:pt x="1777" y="856"/>
                </a:lnTo>
                <a:lnTo>
                  <a:pt x="1769" y="861"/>
                </a:lnTo>
                <a:lnTo>
                  <a:pt x="1759" y="867"/>
                </a:lnTo>
                <a:lnTo>
                  <a:pt x="1749" y="869"/>
                </a:lnTo>
                <a:lnTo>
                  <a:pt x="1737" y="871"/>
                </a:lnTo>
                <a:lnTo>
                  <a:pt x="1725" y="871"/>
                </a:lnTo>
                <a:lnTo>
                  <a:pt x="1719" y="869"/>
                </a:lnTo>
                <a:lnTo>
                  <a:pt x="1714" y="869"/>
                </a:lnTo>
                <a:lnTo>
                  <a:pt x="1707" y="867"/>
                </a:lnTo>
                <a:lnTo>
                  <a:pt x="1702" y="865"/>
                </a:lnTo>
                <a:lnTo>
                  <a:pt x="1692" y="860"/>
                </a:lnTo>
                <a:lnTo>
                  <a:pt x="1695" y="871"/>
                </a:lnTo>
                <a:lnTo>
                  <a:pt x="1695" y="882"/>
                </a:lnTo>
                <a:lnTo>
                  <a:pt x="1695" y="893"/>
                </a:lnTo>
                <a:lnTo>
                  <a:pt x="1694" y="904"/>
                </a:lnTo>
                <a:lnTo>
                  <a:pt x="1692" y="915"/>
                </a:lnTo>
                <a:lnTo>
                  <a:pt x="1689" y="924"/>
                </a:lnTo>
                <a:lnTo>
                  <a:pt x="1684" y="935"/>
                </a:lnTo>
                <a:lnTo>
                  <a:pt x="1679" y="944"/>
                </a:lnTo>
                <a:lnTo>
                  <a:pt x="1672" y="953"/>
                </a:lnTo>
                <a:lnTo>
                  <a:pt x="1663" y="961"/>
                </a:lnTo>
                <a:lnTo>
                  <a:pt x="1655" y="968"/>
                </a:lnTo>
                <a:lnTo>
                  <a:pt x="1647" y="975"/>
                </a:lnTo>
                <a:lnTo>
                  <a:pt x="1637" y="981"/>
                </a:lnTo>
                <a:lnTo>
                  <a:pt x="1627" y="986"/>
                </a:lnTo>
                <a:lnTo>
                  <a:pt x="1615" y="990"/>
                </a:lnTo>
                <a:lnTo>
                  <a:pt x="1603" y="994"/>
                </a:lnTo>
                <a:lnTo>
                  <a:pt x="1593" y="995"/>
                </a:lnTo>
                <a:lnTo>
                  <a:pt x="1581" y="997"/>
                </a:lnTo>
                <a:lnTo>
                  <a:pt x="1571" y="997"/>
                </a:lnTo>
                <a:lnTo>
                  <a:pt x="1561" y="995"/>
                </a:lnTo>
                <a:lnTo>
                  <a:pt x="1551" y="995"/>
                </a:lnTo>
                <a:lnTo>
                  <a:pt x="1541" y="992"/>
                </a:lnTo>
                <a:lnTo>
                  <a:pt x="1531" y="990"/>
                </a:lnTo>
                <a:lnTo>
                  <a:pt x="1521" y="986"/>
                </a:lnTo>
                <a:lnTo>
                  <a:pt x="1524" y="992"/>
                </a:lnTo>
                <a:lnTo>
                  <a:pt x="1526" y="997"/>
                </a:lnTo>
                <a:lnTo>
                  <a:pt x="1528" y="1003"/>
                </a:lnTo>
                <a:lnTo>
                  <a:pt x="1528" y="1008"/>
                </a:lnTo>
                <a:lnTo>
                  <a:pt x="1526" y="1014"/>
                </a:lnTo>
                <a:lnTo>
                  <a:pt x="1526" y="1019"/>
                </a:lnTo>
                <a:lnTo>
                  <a:pt x="1523" y="1025"/>
                </a:lnTo>
                <a:lnTo>
                  <a:pt x="1519" y="1030"/>
                </a:lnTo>
                <a:lnTo>
                  <a:pt x="1516" y="1034"/>
                </a:lnTo>
                <a:lnTo>
                  <a:pt x="1511" y="1039"/>
                </a:lnTo>
                <a:lnTo>
                  <a:pt x="1506" y="1043"/>
                </a:lnTo>
                <a:lnTo>
                  <a:pt x="1499" y="1049"/>
                </a:lnTo>
                <a:lnTo>
                  <a:pt x="1492" y="1052"/>
                </a:lnTo>
                <a:lnTo>
                  <a:pt x="1484" y="1054"/>
                </a:lnTo>
                <a:lnTo>
                  <a:pt x="1476" y="1058"/>
                </a:lnTo>
                <a:lnTo>
                  <a:pt x="1467" y="1060"/>
                </a:lnTo>
                <a:lnTo>
                  <a:pt x="1456" y="1063"/>
                </a:lnTo>
                <a:lnTo>
                  <a:pt x="1442" y="1063"/>
                </a:lnTo>
                <a:lnTo>
                  <a:pt x="1430" y="1065"/>
                </a:lnTo>
                <a:lnTo>
                  <a:pt x="1417" y="1063"/>
                </a:lnTo>
                <a:lnTo>
                  <a:pt x="1405" y="1062"/>
                </a:lnTo>
                <a:lnTo>
                  <a:pt x="1394" y="1060"/>
                </a:lnTo>
                <a:lnTo>
                  <a:pt x="1382" y="1056"/>
                </a:lnTo>
                <a:lnTo>
                  <a:pt x="1372" y="1050"/>
                </a:lnTo>
                <a:lnTo>
                  <a:pt x="1372" y="1058"/>
                </a:lnTo>
                <a:lnTo>
                  <a:pt x="1372" y="1065"/>
                </a:lnTo>
                <a:lnTo>
                  <a:pt x="1372" y="1071"/>
                </a:lnTo>
                <a:lnTo>
                  <a:pt x="1370" y="1078"/>
                </a:lnTo>
                <a:lnTo>
                  <a:pt x="1368" y="1085"/>
                </a:lnTo>
                <a:lnTo>
                  <a:pt x="1367" y="1091"/>
                </a:lnTo>
                <a:lnTo>
                  <a:pt x="1363" y="1096"/>
                </a:lnTo>
                <a:lnTo>
                  <a:pt x="1360" y="1102"/>
                </a:lnTo>
                <a:lnTo>
                  <a:pt x="1355" y="1107"/>
                </a:lnTo>
                <a:lnTo>
                  <a:pt x="1350" y="1113"/>
                </a:lnTo>
                <a:lnTo>
                  <a:pt x="1345" y="1117"/>
                </a:lnTo>
                <a:lnTo>
                  <a:pt x="1338" y="1122"/>
                </a:lnTo>
                <a:lnTo>
                  <a:pt x="1333" y="1126"/>
                </a:lnTo>
                <a:lnTo>
                  <a:pt x="1327" y="1128"/>
                </a:lnTo>
                <a:lnTo>
                  <a:pt x="1318" y="1129"/>
                </a:lnTo>
                <a:lnTo>
                  <a:pt x="1311" y="1131"/>
                </a:lnTo>
                <a:lnTo>
                  <a:pt x="1305" y="1133"/>
                </a:lnTo>
                <a:lnTo>
                  <a:pt x="1298" y="1133"/>
                </a:lnTo>
                <a:lnTo>
                  <a:pt x="1291" y="1133"/>
                </a:lnTo>
                <a:lnTo>
                  <a:pt x="1285" y="1131"/>
                </a:lnTo>
                <a:lnTo>
                  <a:pt x="1278" y="1131"/>
                </a:lnTo>
                <a:lnTo>
                  <a:pt x="1271" y="1129"/>
                </a:lnTo>
                <a:lnTo>
                  <a:pt x="1266" y="1128"/>
                </a:lnTo>
                <a:lnTo>
                  <a:pt x="1259" y="1124"/>
                </a:lnTo>
                <a:lnTo>
                  <a:pt x="1249" y="1118"/>
                </a:lnTo>
                <a:lnTo>
                  <a:pt x="1241" y="1109"/>
                </a:lnTo>
                <a:lnTo>
                  <a:pt x="1236" y="1104"/>
                </a:lnTo>
                <a:lnTo>
                  <a:pt x="1233" y="1100"/>
                </a:lnTo>
                <a:lnTo>
                  <a:pt x="1229" y="1095"/>
                </a:lnTo>
                <a:lnTo>
                  <a:pt x="1226" y="1089"/>
                </a:lnTo>
                <a:lnTo>
                  <a:pt x="1228" y="1095"/>
                </a:lnTo>
                <a:lnTo>
                  <a:pt x="1229" y="1100"/>
                </a:lnTo>
                <a:lnTo>
                  <a:pt x="1229" y="1106"/>
                </a:lnTo>
                <a:lnTo>
                  <a:pt x="1229" y="1111"/>
                </a:lnTo>
                <a:lnTo>
                  <a:pt x="1228" y="1115"/>
                </a:lnTo>
                <a:lnTo>
                  <a:pt x="1226" y="1120"/>
                </a:lnTo>
                <a:lnTo>
                  <a:pt x="1223" y="1126"/>
                </a:lnTo>
                <a:lnTo>
                  <a:pt x="1219" y="1129"/>
                </a:lnTo>
                <a:lnTo>
                  <a:pt x="1216" y="1135"/>
                </a:lnTo>
                <a:lnTo>
                  <a:pt x="1211" y="1139"/>
                </a:lnTo>
                <a:lnTo>
                  <a:pt x="1206" y="1142"/>
                </a:lnTo>
                <a:lnTo>
                  <a:pt x="1201" y="1146"/>
                </a:lnTo>
                <a:lnTo>
                  <a:pt x="1194" y="1148"/>
                </a:lnTo>
                <a:lnTo>
                  <a:pt x="1187" y="1151"/>
                </a:lnTo>
                <a:lnTo>
                  <a:pt x="1181" y="1153"/>
                </a:lnTo>
                <a:lnTo>
                  <a:pt x="1172" y="1155"/>
                </a:lnTo>
                <a:lnTo>
                  <a:pt x="1166" y="1155"/>
                </a:lnTo>
                <a:lnTo>
                  <a:pt x="1157" y="1157"/>
                </a:lnTo>
                <a:lnTo>
                  <a:pt x="1150" y="1155"/>
                </a:lnTo>
                <a:lnTo>
                  <a:pt x="1142" y="1155"/>
                </a:lnTo>
                <a:lnTo>
                  <a:pt x="1135" y="1155"/>
                </a:lnTo>
                <a:lnTo>
                  <a:pt x="1127" y="1153"/>
                </a:lnTo>
                <a:lnTo>
                  <a:pt x="1114" y="1148"/>
                </a:lnTo>
                <a:lnTo>
                  <a:pt x="1102" y="1142"/>
                </a:lnTo>
                <a:lnTo>
                  <a:pt x="1097" y="1139"/>
                </a:lnTo>
                <a:lnTo>
                  <a:pt x="1092" y="1135"/>
                </a:lnTo>
                <a:lnTo>
                  <a:pt x="1087" y="1129"/>
                </a:lnTo>
                <a:lnTo>
                  <a:pt x="1083" y="1126"/>
                </a:lnTo>
                <a:lnTo>
                  <a:pt x="1078" y="1120"/>
                </a:lnTo>
                <a:lnTo>
                  <a:pt x="1077" y="1115"/>
                </a:lnTo>
                <a:lnTo>
                  <a:pt x="1075" y="1120"/>
                </a:lnTo>
                <a:lnTo>
                  <a:pt x="1073" y="1124"/>
                </a:lnTo>
                <a:lnTo>
                  <a:pt x="1072" y="1128"/>
                </a:lnTo>
                <a:lnTo>
                  <a:pt x="1068" y="1131"/>
                </a:lnTo>
                <a:lnTo>
                  <a:pt x="1063" y="1135"/>
                </a:lnTo>
                <a:lnTo>
                  <a:pt x="1060" y="1139"/>
                </a:lnTo>
                <a:lnTo>
                  <a:pt x="1055" y="1142"/>
                </a:lnTo>
                <a:lnTo>
                  <a:pt x="1050" y="1146"/>
                </a:lnTo>
                <a:lnTo>
                  <a:pt x="1045" y="1148"/>
                </a:lnTo>
                <a:lnTo>
                  <a:pt x="1038" y="1150"/>
                </a:lnTo>
                <a:lnTo>
                  <a:pt x="1025" y="1153"/>
                </a:lnTo>
                <a:lnTo>
                  <a:pt x="1011" y="1155"/>
                </a:lnTo>
                <a:lnTo>
                  <a:pt x="1003" y="1157"/>
                </a:lnTo>
                <a:lnTo>
                  <a:pt x="996" y="1155"/>
                </a:lnTo>
                <a:lnTo>
                  <a:pt x="985" y="1155"/>
                </a:lnTo>
                <a:lnTo>
                  <a:pt x="973" y="1153"/>
                </a:lnTo>
                <a:lnTo>
                  <a:pt x="963" y="1150"/>
                </a:lnTo>
                <a:lnTo>
                  <a:pt x="954" y="1146"/>
                </a:lnTo>
                <a:lnTo>
                  <a:pt x="946" y="1140"/>
                </a:lnTo>
                <a:lnTo>
                  <a:pt x="939" y="1135"/>
                </a:lnTo>
                <a:lnTo>
                  <a:pt x="934" y="1129"/>
                </a:lnTo>
                <a:lnTo>
                  <a:pt x="933" y="1126"/>
                </a:lnTo>
                <a:lnTo>
                  <a:pt x="931" y="1122"/>
                </a:lnTo>
                <a:lnTo>
                  <a:pt x="926" y="1128"/>
                </a:lnTo>
                <a:lnTo>
                  <a:pt x="921" y="1133"/>
                </a:lnTo>
                <a:lnTo>
                  <a:pt x="916" y="1137"/>
                </a:lnTo>
                <a:lnTo>
                  <a:pt x="909" y="1140"/>
                </a:lnTo>
                <a:lnTo>
                  <a:pt x="902" y="1144"/>
                </a:lnTo>
                <a:lnTo>
                  <a:pt x="894" y="1148"/>
                </a:lnTo>
                <a:lnTo>
                  <a:pt x="887" y="1151"/>
                </a:lnTo>
                <a:lnTo>
                  <a:pt x="879" y="1153"/>
                </a:lnTo>
                <a:lnTo>
                  <a:pt x="871" y="1155"/>
                </a:lnTo>
                <a:lnTo>
                  <a:pt x="860" y="1157"/>
                </a:lnTo>
                <a:lnTo>
                  <a:pt x="852" y="1157"/>
                </a:lnTo>
                <a:lnTo>
                  <a:pt x="842" y="1157"/>
                </a:lnTo>
                <a:lnTo>
                  <a:pt x="834" y="1157"/>
                </a:lnTo>
                <a:lnTo>
                  <a:pt x="824" y="1157"/>
                </a:lnTo>
                <a:lnTo>
                  <a:pt x="815" y="1155"/>
                </a:lnTo>
                <a:lnTo>
                  <a:pt x="805" y="1153"/>
                </a:lnTo>
                <a:lnTo>
                  <a:pt x="795" y="1150"/>
                </a:lnTo>
                <a:lnTo>
                  <a:pt x="785" y="1146"/>
                </a:lnTo>
                <a:lnTo>
                  <a:pt x="777" y="1142"/>
                </a:lnTo>
                <a:lnTo>
                  <a:pt x="768" y="1137"/>
                </a:lnTo>
                <a:lnTo>
                  <a:pt x="762" y="1131"/>
                </a:lnTo>
                <a:lnTo>
                  <a:pt x="757" y="1124"/>
                </a:lnTo>
                <a:lnTo>
                  <a:pt x="751" y="1118"/>
                </a:lnTo>
                <a:lnTo>
                  <a:pt x="748" y="1111"/>
                </a:lnTo>
                <a:lnTo>
                  <a:pt x="743" y="1115"/>
                </a:lnTo>
                <a:lnTo>
                  <a:pt x="736" y="1117"/>
                </a:lnTo>
                <a:lnTo>
                  <a:pt x="730" y="1120"/>
                </a:lnTo>
                <a:lnTo>
                  <a:pt x="723" y="1122"/>
                </a:lnTo>
                <a:lnTo>
                  <a:pt x="715" y="1124"/>
                </a:lnTo>
                <a:lnTo>
                  <a:pt x="708" y="1124"/>
                </a:lnTo>
                <a:lnTo>
                  <a:pt x="700" y="1124"/>
                </a:lnTo>
                <a:lnTo>
                  <a:pt x="691" y="1124"/>
                </a:lnTo>
                <a:lnTo>
                  <a:pt x="683" y="1124"/>
                </a:lnTo>
                <a:lnTo>
                  <a:pt x="674" y="1122"/>
                </a:lnTo>
                <a:lnTo>
                  <a:pt x="668" y="1122"/>
                </a:lnTo>
                <a:lnTo>
                  <a:pt x="659" y="1120"/>
                </a:lnTo>
                <a:lnTo>
                  <a:pt x="651" y="1117"/>
                </a:lnTo>
                <a:lnTo>
                  <a:pt x="643" y="1115"/>
                </a:lnTo>
                <a:lnTo>
                  <a:pt x="636" y="1111"/>
                </a:lnTo>
                <a:lnTo>
                  <a:pt x="629" y="1107"/>
                </a:lnTo>
                <a:lnTo>
                  <a:pt x="621" y="1100"/>
                </a:lnTo>
                <a:lnTo>
                  <a:pt x="614" y="1095"/>
                </a:lnTo>
                <a:lnTo>
                  <a:pt x="607" y="1089"/>
                </a:lnTo>
                <a:lnTo>
                  <a:pt x="602" y="1082"/>
                </a:lnTo>
                <a:lnTo>
                  <a:pt x="599" y="1074"/>
                </a:lnTo>
                <a:lnTo>
                  <a:pt x="597" y="1069"/>
                </a:lnTo>
                <a:lnTo>
                  <a:pt x="596" y="1062"/>
                </a:lnTo>
                <a:lnTo>
                  <a:pt x="597" y="1054"/>
                </a:lnTo>
                <a:lnTo>
                  <a:pt x="596" y="1058"/>
                </a:lnTo>
                <a:lnTo>
                  <a:pt x="594" y="1062"/>
                </a:lnTo>
                <a:lnTo>
                  <a:pt x="592" y="1065"/>
                </a:lnTo>
                <a:lnTo>
                  <a:pt x="589" y="1069"/>
                </a:lnTo>
                <a:lnTo>
                  <a:pt x="586" y="1073"/>
                </a:lnTo>
                <a:lnTo>
                  <a:pt x="580" y="1074"/>
                </a:lnTo>
                <a:lnTo>
                  <a:pt x="575" y="1076"/>
                </a:lnTo>
                <a:lnTo>
                  <a:pt x="570" y="1078"/>
                </a:lnTo>
                <a:lnTo>
                  <a:pt x="565" y="1080"/>
                </a:lnTo>
                <a:lnTo>
                  <a:pt x="559" y="1082"/>
                </a:lnTo>
                <a:lnTo>
                  <a:pt x="547" y="1084"/>
                </a:lnTo>
                <a:lnTo>
                  <a:pt x="532" y="1084"/>
                </a:lnTo>
                <a:lnTo>
                  <a:pt x="517" y="1084"/>
                </a:lnTo>
                <a:lnTo>
                  <a:pt x="502" y="1080"/>
                </a:lnTo>
                <a:lnTo>
                  <a:pt x="488" y="1076"/>
                </a:lnTo>
                <a:lnTo>
                  <a:pt x="482" y="1073"/>
                </a:lnTo>
                <a:lnTo>
                  <a:pt x="477" y="1071"/>
                </a:lnTo>
                <a:lnTo>
                  <a:pt x="472" y="1067"/>
                </a:lnTo>
                <a:lnTo>
                  <a:pt x="467" y="1063"/>
                </a:lnTo>
                <a:lnTo>
                  <a:pt x="461" y="1060"/>
                </a:lnTo>
                <a:lnTo>
                  <a:pt x="458" y="1056"/>
                </a:lnTo>
                <a:lnTo>
                  <a:pt x="455" y="1052"/>
                </a:lnTo>
                <a:lnTo>
                  <a:pt x="451" y="1049"/>
                </a:lnTo>
                <a:lnTo>
                  <a:pt x="450" y="1045"/>
                </a:lnTo>
                <a:lnTo>
                  <a:pt x="448" y="1041"/>
                </a:lnTo>
                <a:lnTo>
                  <a:pt x="448" y="1036"/>
                </a:lnTo>
                <a:lnTo>
                  <a:pt x="448" y="1032"/>
                </a:lnTo>
                <a:lnTo>
                  <a:pt x="450" y="1027"/>
                </a:lnTo>
                <a:lnTo>
                  <a:pt x="453" y="1023"/>
                </a:lnTo>
                <a:lnTo>
                  <a:pt x="458" y="1017"/>
                </a:lnTo>
                <a:lnTo>
                  <a:pt x="463" y="1014"/>
                </a:lnTo>
                <a:lnTo>
                  <a:pt x="455" y="1017"/>
                </a:lnTo>
                <a:lnTo>
                  <a:pt x="446" y="1019"/>
                </a:lnTo>
                <a:lnTo>
                  <a:pt x="438" y="1021"/>
                </a:lnTo>
                <a:lnTo>
                  <a:pt x="428" y="1021"/>
                </a:lnTo>
                <a:lnTo>
                  <a:pt x="420" y="1021"/>
                </a:lnTo>
                <a:lnTo>
                  <a:pt x="411" y="1021"/>
                </a:lnTo>
                <a:lnTo>
                  <a:pt x="403" y="1019"/>
                </a:lnTo>
                <a:lnTo>
                  <a:pt x="394" y="1017"/>
                </a:lnTo>
                <a:lnTo>
                  <a:pt x="388" y="1014"/>
                </a:lnTo>
                <a:lnTo>
                  <a:pt x="379" y="1010"/>
                </a:lnTo>
                <a:lnTo>
                  <a:pt x="373" y="1006"/>
                </a:lnTo>
                <a:lnTo>
                  <a:pt x="366" y="1001"/>
                </a:lnTo>
                <a:lnTo>
                  <a:pt x="359" y="995"/>
                </a:lnTo>
                <a:lnTo>
                  <a:pt x="353" y="990"/>
                </a:lnTo>
                <a:lnTo>
                  <a:pt x="347" y="983"/>
                </a:lnTo>
                <a:lnTo>
                  <a:pt x="344" y="977"/>
                </a:lnTo>
                <a:lnTo>
                  <a:pt x="341" y="970"/>
                </a:lnTo>
                <a:lnTo>
                  <a:pt x="337" y="962"/>
                </a:lnTo>
                <a:lnTo>
                  <a:pt x="336" y="955"/>
                </a:lnTo>
                <a:lnTo>
                  <a:pt x="336" y="948"/>
                </a:lnTo>
                <a:lnTo>
                  <a:pt x="334" y="940"/>
                </a:lnTo>
                <a:lnTo>
                  <a:pt x="334" y="933"/>
                </a:lnTo>
                <a:lnTo>
                  <a:pt x="336" y="926"/>
                </a:lnTo>
                <a:lnTo>
                  <a:pt x="337" y="918"/>
                </a:lnTo>
                <a:lnTo>
                  <a:pt x="329" y="924"/>
                </a:lnTo>
                <a:lnTo>
                  <a:pt x="321" y="929"/>
                </a:lnTo>
                <a:lnTo>
                  <a:pt x="312" y="933"/>
                </a:lnTo>
                <a:lnTo>
                  <a:pt x="302" y="937"/>
                </a:lnTo>
                <a:lnTo>
                  <a:pt x="292" y="938"/>
                </a:lnTo>
                <a:lnTo>
                  <a:pt x="284" y="940"/>
                </a:lnTo>
                <a:lnTo>
                  <a:pt x="274" y="942"/>
                </a:lnTo>
                <a:lnTo>
                  <a:pt x="264" y="942"/>
                </a:lnTo>
                <a:lnTo>
                  <a:pt x="254" y="942"/>
                </a:lnTo>
                <a:lnTo>
                  <a:pt x="244" y="940"/>
                </a:lnTo>
                <a:lnTo>
                  <a:pt x="235" y="938"/>
                </a:lnTo>
                <a:lnTo>
                  <a:pt x="225" y="937"/>
                </a:lnTo>
                <a:lnTo>
                  <a:pt x="215" y="933"/>
                </a:lnTo>
                <a:lnTo>
                  <a:pt x="207" y="929"/>
                </a:lnTo>
                <a:lnTo>
                  <a:pt x="198" y="924"/>
                </a:lnTo>
                <a:lnTo>
                  <a:pt x="190" y="918"/>
                </a:lnTo>
                <a:lnTo>
                  <a:pt x="178" y="913"/>
                </a:lnTo>
                <a:lnTo>
                  <a:pt x="166" y="905"/>
                </a:lnTo>
                <a:lnTo>
                  <a:pt x="156" y="898"/>
                </a:lnTo>
                <a:lnTo>
                  <a:pt x="148" y="891"/>
                </a:lnTo>
                <a:lnTo>
                  <a:pt x="140" y="883"/>
                </a:lnTo>
                <a:lnTo>
                  <a:pt x="131" y="874"/>
                </a:lnTo>
                <a:lnTo>
                  <a:pt x="125" y="867"/>
                </a:lnTo>
                <a:lnTo>
                  <a:pt x="119" y="858"/>
                </a:lnTo>
                <a:lnTo>
                  <a:pt x="114" y="849"/>
                </a:lnTo>
                <a:lnTo>
                  <a:pt x="109" y="839"/>
                </a:lnTo>
                <a:lnTo>
                  <a:pt x="108" y="830"/>
                </a:lnTo>
                <a:lnTo>
                  <a:pt x="104" y="821"/>
                </a:lnTo>
                <a:lnTo>
                  <a:pt x="104" y="814"/>
                </a:lnTo>
                <a:lnTo>
                  <a:pt x="104" y="804"/>
                </a:lnTo>
                <a:lnTo>
                  <a:pt x="106" y="795"/>
                </a:lnTo>
                <a:lnTo>
                  <a:pt x="108" y="786"/>
                </a:lnTo>
                <a:lnTo>
                  <a:pt x="99" y="788"/>
                </a:lnTo>
                <a:lnTo>
                  <a:pt x="91" y="788"/>
                </a:lnTo>
                <a:lnTo>
                  <a:pt x="83" y="788"/>
                </a:lnTo>
                <a:lnTo>
                  <a:pt x="74" y="788"/>
                </a:lnTo>
                <a:lnTo>
                  <a:pt x="66" y="786"/>
                </a:lnTo>
                <a:lnTo>
                  <a:pt x="59" y="784"/>
                </a:lnTo>
                <a:lnTo>
                  <a:pt x="51" y="782"/>
                </a:lnTo>
                <a:lnTo>
                  <a:pt x="44" y="779"/>
                </a:lnTo>
                <a:lnTo>
                  <a:pt x="37" y="775"/>
                </a:lnTo>
                <a:lnTo>
                  <a:pt x="31" y="770"/>
                </a:lnTo>
                <a:lnTo>
                  <a:pt x="24" y="766"/>
                </a:lnTo>
                <a:lnTo>
                  <a:pt x="19" y="760"/>
                </a:lnTo>
                <a:lnTo>
                  <a:pt x="14" y="753"/>
                </a:lnTo>
                <a:lnTo>
                  <a:pt x="11" y="748"/>
                </a:lnTo>
                <a:lnTo>
                  <a:pt x="7" y="740"/>
                </a:lnTo>
                <a:lnTo>
                  <a:pt x="4" y="733"/>
                </a:lnTo>
                <a:lnTo>
                  <a:pt x="2" y="727"/>
                </a:lnTo>
                <a:lnTo>
                  <a:pt x="2" y="722"/>
                </a:lnTo>
                <a:lnTo>
                  <a:pt x="0" y="716"/>
                </a:lnTo>
                <a:lnTo>
                  <a:pt x="0" y="711"/>
                </a:lnTo>
                <a:lnTo>
                  <a:pt x="0" y="705"/>
                </a:lnTo>
                <a:lnTo>
                  <a:pt x="2" y="700"/>
                </a:lnTo>
                <a:lnTo>
                  <a:pt x="4" y="689"/>
                </a:lnTo>
                <a:lnTo>
                  <a:pt x="9" y="678"/>
                </a:lnTo>
                <a:lnTo>
                  <a:pt x="14" y="669"/>
                </a:lnTo>
                <a:lnTo>
                  <a:pt x="22" y="659"/>
                </a:lnTo>
                <a:lnTo>
                  <a:pt x="31" y="652"/>
                </a:lnTo>
                <a:lnTo>
                  <a:pt x="26" y="648"/>
                </a:lnTo>
                <a:lnTo>
                  <a:pt x="21" y="643"/>
                </a:lnTo>
                <a:lnTo>
                  <a:pt x="17" y="637"/>
                </a:lnTo>
                <a:lnTo>
                  <a:pt x="14" y="634"/>
                </a:lnTo>
                <a:lnTo>
                  <a:pt x="12" y="628"/>
                </a:lnTo>
                <a:lnTo>
                  <a:pt x="12" y="623"/>
                </a:lnTo>
                <a:lnTo>
                  <a:pt x="11" y="619"/>
                </a:lnTo>
                <a:lnTo>
                  <a:pt x="11" y="614"/>
                </a:lnTo>
                <a:lnTo>
                  <a:pt x="12" y="608"/>
                </a:lnTo>
                <a:lnTo>
                  <a:pt x="14" y="604"/>
                </a:lnTo>
                <a:lnTo>
                  <a:pt x="16" y="599"/>
                </a:lnTo>
                <a:lnTo>
                  <a:pt x="19" y="595"/>
                </a:lnTo>
                <a:lnTo>
                  <a:pt x="24" y="591"/>
                </a:lnTo>
                <a:lnTo>
                  <a:pt x="27" y="588"/>
                </a:lnTo>
                <a:lnTo>
                  <a:pt x="34" y="584"/>
                </a:lnTo>
                <a:lnTo>
                  <a:pt x="39" y="582"/>
                </a:lnTo>
                <a:lnTo>
                  <a:pt x="41" y="580"/>
                </a:lnTo>
              </a:path>
            </a:pathLst>
          </a:custGeom>
          <a:solidFill>
            <a:schemeClr val="accent2"/>
          </a:solidFill>
          <a:ln w="19050">
            <a:solidFill>
              <a:srgbClr val="000000"/>
            </a:solidFill>
            <a:round/>
          </a:ln>
        </p:spPr>
        <p:txBody>
          <a:bodyPr/>
          <a:lstStyle/>
          <a:p>
            <a:endParaRPr lang="zh-CN" altLang="en-US"/>
          </a:p>
        </p:txBody>
      </p:sp>
      <p:sp>
        <p:nvSpPr>
          <p:cNvPr id="25627" name="Rectangle 29"/>
          <p:cNvSpPr>
            <a:spLocks noChangeArrowheads="1"/>
          </p:cNvSpPr>
          <p:nvPr/>
        </p:nvSpPr>
        <p:spPr bwMode="auto">
          <a:xfrm>
            <a:off x="4184650" y="4212878"/>
            <a:ext cx="33020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FontTx/>
              <a:buNone/>
            </a:pPr>
            <a:r>
              <a:rPr kumimoji="1" lang="zh-CN" altLang="en-US" sz="1300">
                <a:solidFill>
                  <a:srgbClr val="000000"/>
                </a:solidFill>
                <a:latin typeface="宋体" panose="02010600030101010101" pitchFamily="2" charset="-122"/>
              </a:rPr>
              <a:t>占有</a:t>
            </a:r>
            <a:endParaRPr kumimoji="1" lang="zh-CN" altLang="en-US" sz="2400">
              <a:solidFill>
                <a:schemeClr val="tx1"/>
              </a:solidFill>
              <a:latin typeface="Times New Roman" panose="02020603050405020304" pitchFamily="18" charset="0"/>
              <a:ea typeface="隶书" panose="02010509060101010101" pitchFamily="49" charset="-122"/>
            </a:endParaRPr>
          </a:p>
        </p:txBody>
      </p:sp>
      <p:sp>
        <p:nvSpPr>
          <p:cNvPr id="25628" name="Rectangle 30"/>
          <p:cNvSpPr>
            <a:spLocks noChangeArrowheads="1"/>
          </p:cNvSpPr>
          <p:nvPr/>
        </p:nvSpPr>
        <p:spPr bwMode="auto">
          <a:xfrm>
            <a:off x="4489450" y="4189065"/>
            <a:ext cx="33972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FontTx/>
              <a:buNone/>
            </a:pPr>
            <a:r>
              <a:rPr kumimoji="1" lang="en-US" altLang="zh-CN" sz="1300">
                <a:solidFill>
                  <a:srgbClr val="000000"/>
                </a:solidFill>
                <a:latin typeface="Tahoma" panose="020B0604030504040204" pitchFamily="34" charset="0"/>
                <a:ea typeface="隶书" panose="02010509060101010101" pitchFamily="49" charset="-122"/>
              </a:rPr>
              <a:t>CPU</a:t>
            </a:r>
            <a:endParaRPr kumimoji="1" lang="en-US" altLang="zh-CN" sz="2400">
              <a:solidFill>
                <a:schemeClr val="tx1"/>
              </a:solidFill>
              <a:latin typeface="Times New Roman" panose="02020603050405020304" pitchFamily="18" charset="0"/>
              <a:ea typeface="隶书" panose="02010509060101010101" pitchFamily="49" charset="-122"/>
            </a:endParaRPr>
          </a:p>
        </p:txBody>
      </p:sp>
      <p:sp>
        <p:nvSpPr>
          <p:cNvPr id="25629" name="Rectangle 31"/>
          <p:cNvSpPr>
            <a:spLocks noChangeArrowheads="1"/>
          </p:cNvSpPr>
          <p:nvPr/>
        </p:nvSpPr>
        <p:spPr bwMode="auto">
          <a:xfrm>
            <a:off x="4340225" y="4409728"/>
            <a:ext cx="33020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FontTx/>
              <a:buNone/>
            </a:pPr>
            <a:r>
              <a:rPr kumimoji="1" lang="zh-CN" altLang="en-US" sz="1300">
                <a:solidFill>
                  <a:srgbClr val="000000"/>
                </a:solidFill>
                <a:latin typeface="宋体" panose="02010600030101010101" pitchFamily="2" charset="-122"/>
              </a:rPr>
              <a:t>执行</a:t>
            </a:r>
            <a:endParaRPr kumimoji="1" lang="zh-CN" altLang="en-US" sz="2400">
              <a:solidFill>
                <a:schemeClr val="tx1"/>
              </a:solidFill>
              <a:latin typeface="Times New Roman" panose="02020603050405020304" pitchFamily="18" charset="0"/>
              <a:ea typeface="隶书" panose="02010509060101010101" pitchFamily="49" charset="-122"/>
            </a:endParaRPr>
          </a:p>
        </p:txBody>
      </p:sp>
      <p:sp>
        <p:nvSpPr>
          <p:cNvPr id="25630" name="Line 32"/>
          <p:cNvSpPr>
            <a:spLocks noChangeShapeType="1"/>
          </p:cNvSpPr>
          <p:nvPr/>
        </p:nvSpPr>
        <p:spPr bwMode="auto">
          <a:xfrm>
            <a:off x="4672013" y="2633315"/>
            <a:ext cx="3175" cy="1260475"/>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31" name="Freeform 33"/>
          <p:cNvSpPr/>
          <p:nvPr/>
        </p:nvSpPr>
        <p:spPr bwMode="auto">
          <a:xfrm>
            <a:off x="4619625" y="3876328"/>
            <a:ext cx="112713" cy="123825"/>
          </a:xfrm>
          <a:custGeom>
            <a:avLst/>
            <a:gdLst>
              <a:gd name="T0" fmla="*/ 2147483646 w 141"/>
              <a:gd name="T1" fmla="*/ 0 h 154"/>
              <a:gd name="T2" fmla="*/ 2147483646 w 141"/>
              <a:gd name="T3" fmla="*/ 2147483646 h 154"/>
              <a:gd name="T4" fmla="*/ 0 w 141"/>
              <a:gd name="T5" fmla="*/ 2147483646 h 154"/>
              <a:gd name="T6" fmla="*/ 2147483646 w 141"/>
              <a:gd name="T7" fmla="*/ 0 h 154"/>
              <a:gd name="T8" fmla="*/ 0 60000 65536"/>
              <a:gd name="T9" fmla="*/ 0 60000 65536"/>
              <a:gd name="T10" fmla="*/ 0 60000 65536"/>
              <a:gd name="T11" fmla="*/ 0 60000 65536"/>
              <a:gd name="T12" fmla="*/ 0 w 141"/>
              <a:gd name="T13" fmla="*/ 0 h 154"/>
              <a:gd name="T14" fmla="*/ 141 w 141"/>
              <a:gd name="T15" fmla="*/ 154 h 154"/>
            </a:gdLst>
            <a:ahLst/>
            <a:cxnLst>
              <a:cxn ang="T8">
                <a:pos x="T0" y="T1"/>
              </a:cxn>
              <a:cxn ang="T9">
                <a:pos x="T2" y="T3"/>
              </a:cxn>
              <a:cxn ang="T10">
                <a:pos x="T4" y="T5"/>
              </a:cxn>
              <a:cxn ang="T11">
                <a:pos x="T6" y="T7"/>
              </a:cxn>
            </a:cxnLst>
            <a:rect l="T12" t="T13" r="T14" b="T15"/>
            <a:pathLst>
              <a:path w="141" h="154">
                <a:moveTo>
                  <a:pt x="141" y="0"/>
                </a:moveTo>
                <a:lnTo>
                  <a:pt x="72" y="154"/>
                </a:lnTo>
                <a:lnTo>
                  <a:pt x="0" y="2"/>
                </a:lnTo>
                <a:lnTo>
                  <a:pt x="141"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5632" name="Line 34"/>
          <p:cNvSpPr>
            <a:spLocks noChangeShapeType="1"/>
          </p:cNvSpPr>
          <p:nvPr/>
        </p:nvSpPr>
        <p:spPr bwMode="auto">
          <a:xfrm flipH="1" flipV="1">
            <a:off x="4173538" y="2701578"/>
            <a:ext cx="6350" cy="1271587"/>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33" name="Freeform 35"/>
          <p:cNvSpPr/>
          <p:nvPr/>
        </p:nvSpPr>
        <p:spPr bwMode="auto">
          <a:xfrm>
            <a:off x="4117975" y="2595215"/>
            <a:ext cx="112713" cy="123825"/>
          </a:xfrm>
          <a:custGeom>
            <a:avLst/>
            <a:gdLst>
              <a:gd name="T0" fmla="*/ 0 w 141"/>
              <a:gd name="T1" fmla="*/ 2147483646 h 154"/>
              <a:gd name="T2" fmla="*/ 2147483646 w 141"/>
              <a:gd name="T3" fmla="*/ 0 h 154"/>
              <a:gd name="T4" fmla="*/ 2147483646 w 141"/>
              <a:gd name="T5" fmla="*/ 2147483646 h 154"/>
              <a:gd name="T6" fmla="*/ 0 w 141"/>
              <a:gd name="T7" fmla="*/ 2147483646 h 154"/>
              <a:gd name="T8" fmla="*/ 0 60000 65536"/>
              <a:gd name="T9" fmla="*/ 0 60000 65536"/>
              <a:gd name="T10" fmla="*/ 0 60000 65536"/>
              <a:gd name="T11" fmla="*/ 0 60000 65536"/>
              <a:gd name="T12" fmla="*/ 0 w 141"/>
              <a:gd name="T13" fmla="*/ 0 h 154"/>
              <a:gd name="T14" fmla="*/ 141 w 141"/>
              <a:gd name="T15" fmla="*/ 154 h 154"/>
            </a:gdLst>
            <a:ahLst/>
            <a:cxnLst>
              <a:cxn ang="T8">
                <a:pos x="T0" y="T1"/>
              </a:cxn>
              <a:cxn ang="T9">
                <a:pos x="T2" y="T3"/>
              </a:cxn>
              <a:cxn ang="T10">
                <a:pos x="T4" y="T5"/>
              </a:cxn>
              <a:cxn ang="T11">
                <a:pos x="T6" y="T7"/>
              </a:cxn>
            </a:cxnLst>
            <a:rect l="T12" t="T13" r="T14" b="T15"/>
            <a:pathLst>
              <a:path w="141" h="154">
                <a:moveTo>
                  <a:pt x="0" y="154"/>
                </a:moveTo>
                <a:lnTo>
                  <a:pt x="69" y="0"/>
                </a:lnTo>
                <a:lnTo>
                  <a:pt x="141" y="154"/>
                </a:lnTo>
                <a:lnTo>
                  <a:pt x="0" y="154"/>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61508" name="Freeform 36"/>
          <p:cNvSpPr/>
          <p:nvPr/>
        </p:nvSpPr>
        <p:spPr bwMode="auto">
          <a:xfrm>
            <a:off x="5311775" y="2312640"/>
            <a:ext cx="1797050" cy="654050"/>
          </a:xfrm>
          <a:custGeom>
            <a:avLst/>
            <a:gdLst>
              <a:gd name="T0" fmla="*/ 2147483646 w 2263"/>
              <a:gd name="T1" fmla="*/ 2147483646 h 822"/>
              <a:gd name="T2" fmla="*/ 2147483646 w 2263"/>
              <a:gd name="T3" fmla="*/ 2147483646 h 822"/>
              <a:gd name="T4" fmla="*/ 2147483646 w 2263"/>
              <a:gd name="T5" fmla="*/ 2147483646 h 822"/>
              <a:gd name="T6" fmla="*/ 2147483646 w 2263"/>
              <a:gd name="T7" fmla="*/ 2147483646 h 822"/>
              <a:gd name="T8" fmla="*/ 2147483646 w 2263"/>
              <a:gd name="T9" fmla="*/ 2147483646 h 822"/>
              <a:gd name="T10" fmla="*/ 2147483646 w 2263"/>
              <a:gd name="T11" fmla="*/ 2147483646 h 822"/>
              <a:gd name="T12" fmla="*/ 2147483646 w 2263"/>
              <a:gd name="T13" fmla="*/ 2147483646 h 822"/>
              <a:gd name="T14" fmla="*/ 2147483646 w 2263"/>
              <a:gd name="T15" fmla="*/ 2147483646 h 822"/>
              <a:gd name="T16" fmla="*/ 2147483646 w 2263"/>
              <a:gd name="T17" fmla="*/ 2147483646 h 822"/>
              <a:gd name="T18" fmla="*/ 2147483646 w 2263"/>
              <a:gd name="T19" fmla="*/ 2147483646 h 822"/>
              <a:gd name="T20" fmla="*/ 2147483646 w 2263"/>
              <a:gd name="T21" fmla="*/ 2147483646 h 822"/>
              <a:gd name="T22" fmla="*/ 2147483646 w 2263"/>
              <a:gd name="T23" fmla="*/ 2147483646 h 822"/>
              <a:gd name="T24" fmla="*/ 2147483646 w 2263"/>
              <a:gd name="T25" fmla="*/ 2147483646 h 822"/>
              <a:gd name="T26" fmla="*/ 2147483646 w 2263"/>
              <a:gd name="T27" fmla="*/ 2147483646 h 822"/>
              <a:gd name="T28" fmla="*/ 2147483646 w 2263"/>
              <a:gd name="T29" fmla="*/ 2147483646 h 822"/>
              <a:gd name="T30" fmla="*/ 2147483646 w 2263"/>
              <a:gd name="T31" fmla="*/ 2147483646 h 822"/>
              <a:gd name="T32" fmla="*/ 2147483646 w 2263"/>
              <a:gd name="T33" fmla="*/ 2147483646 h 822"/>
              <a:gd name="T34" fmla="*/ 2147483646 w 2263"/>
              <a:gd name="T35" fmla="*/ 2147483646 h 822"/>
              <a:gd name="T36" fmla="*/ 2147483646 w 2263"/>
              <a:gd name="T37" fmla="*/ 2147483646 h 822"/>
              <a:gd name="T38" fmla="*/ 2147483646 w 2263"/>
              <a:gd name="T39" fmla="*/ 2147483646 h 822"/>
              <a:gd name="T40" fmla="*/ 2147483646 w 2263"/>
              <a:gd name="T41" fmla="*/ 2147483646 h 822"/>
              <a:gd name="T42" fmla="*/ 2147483646 w 2263"/>
              <a:gd name="T43" fmla="*/ 2147483646 h 822"/>
              <a:gd name="T44" fmla="*/ 2147483646 w 2263"/>
              <a:gd name="T45" fmla="*/ 2147483646 h 822"/>
              <a:gd name="T46" fmla="*/ 2147483646 w 2263"/>
              <a:gd name="T47" fmla="*/ 2147483646 h 822"/>
              <a:gd name="T48" fmla="*/ 2147483646 w 2263"/>
              <a:gd name="T49" fmla="*/ 2147483646 h 822"/>
              <a:gd name="T50" fmla="*/ 2147483646 w 2263"/>
              <a:gd name="T51" fmla="*/ 2147483646 h 822"/>
              <a:gd name="T52" fmla="*/ 2147483646 w 2263"/>
              <a:gd name="T53" fmla="*/ 2147483646 h 822"/>
              <a:gd name="T54" fmla="*/ 2147483646 w 2263"/>
              <a:gd name="T55" fmla="*/ 2147483646 h 822"/>
              <a:gd name="T56" fmla="*/ 2147483646 w 2263"/>
              <a:gd name="T57" fmla="*/ 2147483646 h 822"/>
              <a:gd name="T58" fmla="*/ 2147483646 w 2263"/>
              <a:gd name="T59" fmla="*/ 2147483646 h 822"/>
              <a:gd name="T60" fmla="*/ 2147483646 w 2263"/>
              <a:gd name="T61" fmla="*/ 2147483646 h 822"/>
              <a:gd name="T62" fmla="*/ 2147483646 w 2263"/>
              <a:gd name="T63" fmla="*/ 2147483646 h 822"/>
              <a:gd name="T64" fmla="*/ 2147483646 w 2263"/>
              <a:gd name="T65" fmla="*/ 2147483646 h 822"/>
              <a:gd name="T66" fmla="*/ 2147483646 w 2263"/>
              <a:gd name="T67" fmla="*/ 2147483646 h 822"/>
              <a:gd name="T68" fmla="*/ 2147483646 w 2263"/>
              <a:gd name="T69" fmla="*/ 2147483646 h 822"/>
              <a:gd name="T70" fmla="*/ 2147483646 w 2263"/>
              <a:gd name="T71" fmla="*/ 2147483646 h 822"/>
              <a:gd name="T72" fmla="*/ 2147483646 w 2263"/>
              <a:gd name="T73" fmla="*/ 2147483646 h 822"/>
              <a:gd name="T74" fmla="*/ 2147483646 w 2263"/>
              <a:gd name="T75" fmla="*/ 2147483646 h 822"/>
              <a:gd name="T76" fmla="*/ 2147483646 w 2263"/>
              <a:gd name="T77" fmla="*/ 2147483646 h 822"/>
              <a:gd name="T78" fmla="*/ 2147483646 w 2263"/>
              <a:gd name="T79" fmla="*/ 2147483646 h 822"/>
              <a:gd name="T80" fmla="*/ 2147483646 w 2263"/>
              <a:gd name="T81" fmla="*/ 2147483646 h 822"/>
              <a:gd name="T82" fmla="*/ 2147483646 w 2263"/>
              <a:gd name="T83" fmla="*/ 2147483646 h 822"/>
              <a:gd name="T84" fmla="*/ 2147483646 w 2263"/>
              <a:gd name="T85" fmla="*/ 2147483646 h 822"/>
              <a:gd name="T86" fmla="*/ 2147483646 w 2263"/>
              <a:gd name="T87" fmla="*/ 2147483646 h 822"/>
              <a:gd name="T88" fmla="*/ 2147483646 w 2263"/>
              <a:gd name="T89" fmla="*/ 0 h 822"/>
              <a:gd name="T90" fmla="*/ 2147483646 w 2263"/>
              <a:gd name="T91" fmla="*/ 0 h 822"/>
              <a:gd name="T92" fmla="*/ 2147483646 w 2263"/>
              <a:gd name="T93" fmla="*/ 0 h 822"/>
              <a:gd name="T94" fmla="*/ 0 w 2263"/>
              <a:gd name="T95" fmla="*/ 0 h 82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263"/>
              <a:gd name="T145" fmla="*/ 0 h 822"/>
              <a:gd name="T146" fmla="*/ 2263 w 2263"/>
              <a:gd name="T147" fmla="*/ 822 h 82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263" h="822">
                <a:moveTo>
                  <a:pt x="2236" y="822"/>
                </a:moveTo>
                <a:lnTo>
                  <a:pt x="2250" y="822"/>
                </a:lnTo>
                <a:lnTo>
                  <a:pt x="2253" y="820"/>
                </a:lnTo>
                <a:lnTo>
                  <a:pt x="2255" y="820"/>
                </a:lnTo>
                <a:lnTo>
                  <a:pt x="2258" y="819"/>
                </a:lnTo>
                <a:lnTo>
                  <a:pt x="2260" y="817"/>
                </a:lnTo>
                <a:lnTo>
                  <a:pt x="2262" y="815"/>
                </a:lnTo>
                <a:lnTo>
                  <a:pt x="2263" y="813"/>
                </a:lnTo>
                <a:lnTo>
                  <a:pt x="2263" y="809"/>
                </a:lnTo>
                <a:lnTo>
                  <a:pt x="2263" y="808"/>
                </a:lnTo>
                <a:lnTo>
                  <a:pt x="2263" y="470"/>
                </a:lnTo>
                <a:lnTo>
                  <a:pt x="2263" y="444"/>
                </a:lnTo>
                <a:lnTo>
                  <a:pt x="2262" y="420"/>
                </a:lnTo>
                <a:lnTo>
                  <a:pt x="2258" y="398"/>
                </a:lnTo>
                <a:lnTo>
                  <a:pt x="2255" y="374"/>
                </a:lnTo>
                <a:lnTo>
                  <a:pt x="2250" y="352"/>
                </a:lnTo>
                <a:lnTo>
                  <a:pt x="2245" y="328"/>
                </a:lnTo>
                <a:lnTo>
                  <a:pt x="2238" y="306"/>
                </a:lnTo>
                <a:lnTo>
                  <a:pt x="2230" y="286"/>
                </a:lnTo>
                <a:lnTo>
                  <a:pt x="2221" y="264"/>
                </a:lnTo>
                <a:lnTo>
                  <a:pt x="2211" y="244"/>
                </a:lnTo>
                <a:lnTo>
                  <a:pt x="2201" y="226"/>
                </a:lnTo>
                <a:lnTo>
                  <a:pt x="2191" y="205"/>
                </a:lnTo>
                <a:lnTo>
                  <a:pt x="2178" y="187"/>
                </a:lnTo>
                <a:lnTo>
                  <a:pt x="2166" y="171"/>
                </a:lnTo>
                <a:lnTo>
                  <a:pt x="2153" y="152"/>
                </a:lnTo>
                <a:lnTo>
                  <a:pt x="2138" y="136"/>
                </a:lnTo>
                <a:lnTo>
                  <a:pt x="2122" y="121"/>
                </a:lnTo>
                <a:lnTo>
                  <a:pt x="2107" y="106"/>
                </a:lnTo>
                <a:lnTo>
                  <a:pt x="2091" y="92"/>
                </a:lnTo>
                <a:lnTo>
                  <a:pt x="2074" y="79"/>
                </a:lnTo>
                <a:lnTo>
                  <a:pt x="2057" y="68"/>
                </a:lnTo>
                <a:lnTo>
                  <a:pt x="2039" y="55"/>
                </a:lnTo>
                <a:lnTo>
                  <a:pt x="2020" y="46"/>
                </a:lnTo>
                <a:lnTo>
                  <a:pt x="2002" y="36"/>
                </a:lnTo>
                <a:lnTo>
                  <a:pt x="1982" y="27"/>
                </a:lnTo>
                <a:lnTo>
                  <a:pt x="1962" y="20"/>
                </a:lnTo>
                <a:lnTo>
                  <a:pt x="1941" y="14"/>
                </a:lnTo>
                <a:lnTo>
                  <a:pt x="1921" y="9"/>
                </a:lnTo>
                <a:lnTo>
                  <a:pt x="1899" y="3"/>
                </a:lnTo>
                <a:lnTo>
                  <a:pt x="1878" y="2"/>
                </a:lnTo>
                <a:lnTo>
                  <a:pt x="1856" y="0"/>
                </a:lnTo>
                <a:lnTo>
                  <a:pt x="1834" y="0"/>
                </a:lnTo>
                <a:lnTo>
                  <a:pt x="0" y="0"/>
                </a:lnTo>
              </a:path>
            </a:pathLst>
          </a:custGeom>
          <a:noFill/>
          <a:ln w="38100">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35" name="Freeform 37"/>
          <p:cNvSpPr/>
          <p:nvPr/>
        </p:nvSpPr>
        <p:spPr bwMode="auto">
          <a:xfrm>
            <a:off x="5213350" y="2250728"/>
            <a:ext cx="111125" cy="122237"/>
          </a:xfrm>
          <a:custGeom>
            <a:avLst/>
            <a:gdLst>
              <a:gd name="T0" fmla="*/ 2147483646 w 141"/>
              <a:gd name="T1" fmla="*/ 2147483646 h 154"/>
              <a:gd name="T2" fmla="*/ 0 w 141"/>
              <a:gd name="T3" fmla="*/ 2147483646 h 154"/>
              <a:gd name="T4" fmla="*/ 2147483646 w 141"/>
              <a:gd name="T5" fmla="*/ 0 h 154"/>
              <a:gd name="T6" fmla="*/ 2147483646 w 141"/>
              <a:gd name="T7" fmla="*/ 2147483646 h 154"/>
              <a:gd name="T8" fmla="*/ 0 60000 65536"/>
              <a:gd name="T9" fmla="*/ 0 60000 65536"/>
              <a:gd name="T10" fmla="*/ 0 60000 65536"/>
              <a:gd name="T11" fmla="*/ 0 60000 65536"/>
              <a:gd name="T12" fmla="*/ 0 w 141"/>
              <a:gd name="T13" fmla="*/ 0 h 154"/>
              <a:gd name="T14" fmla="*/ 141 w 141"/>
              <a:gd name="T15" fmla="*/ 154 h 154"/>
            </a:gdLst>
            <a:ahLst/>
            <a:cxnLst>
              <a:cxn ang="T8">
                <a:pos x="T0" y="T1"/>
              </a:cxn>
              <a:cxn ang="T9">
                <a:pos x="T2" y="T3"/>
              </a:cxn>
              <a:cxn ang="T10">
                <a:pos x="T4" y="T5"/>
              </a:cxn>
              <a:cxn ang="T11">
                <a:pos x="T6" y="T7"/>
              </a:cxn>
            </a:cxnLst>
            <a:rect l="T12" t="T13" r="T14" b="T15"/>
            <a:pathLst>
              <a:path w="141" h="154">
                <a:moveTo>
                  <a:pt x="141" y="154"/>
                </a:moveTo>
                <a:lnTo>
                  <a:pt x="0" y="77"/>
                </a:lnTo>
                <a:lnTo>
                  <a:pt x="141" y="0"/>
                </a:lnTo>
                <a:lnTo>
                  <a:pt x="141" y="154"/>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61510" name="Freeform 38"/>
          <p:cNvSpPr/>
          <p:nvPr/>
        </p:nvSpPr>
        <p:spPr bwMode="auto">
          <a:xfrm>
            <a:off x="2300288" y="2428528"/>
            <a:ext cx="1371600" cy="1049337"/>
          </a:xfrm>
          <a:custGeom>
            <a:avLst/>
            <a:gdLst>
              <a:gd name="T0" fmla="*/ 2147483646 w 1729"/>
              <a:gd name="T1" fmla="*/ 2147483646 h 1322"/>
              <a:gd name="T2" fmla="*/ 2147483646 w 1729"/>
              <a:gd name="T3" fmla="*/ 2147483646 h 1322"/>
              <a:gd name="T4" fmla="*/ 2147483646 w 1729"/>
              <a:gd name="T5" fmla="*/ 2147483646 h 1322"/>
              <a:gd name="T6" fmla="*/ 2147483646 w 1729"/>
              <a:gd name="T7" fmla="*/ 2147483646 h 1322"/>
              <a:gd name="T8" fmla="*/ 2147483646 w 1729"/>
              <a:gd name="T9" fmla="*/ 2147483646 h 1322"/>
              <a:gd name="T10" fmla="*/ 2147483646 w 1729"/>
              <a:gd name="T11" fmla="*/ 2147483646 h 1322"/>
              <a:gd name="T12" fmla="*/ 2147483646 w 1729"/>
              <a:gd name="T13" fmla="*/ 2147483646 h 1322"/>
              <a:gd name="T14" fmla="*/ 2147483646 w 1729"/>
              <a:gd name="T15" fmla="*/ 2147483646 h 1322"/>
              <a:gd name="T16" fmla="*/ 2147483646 w 1729"/>
              <a:gd name="T17" fmla="*/ 2147483646 h 1322"/>
              <a:gd name="T18" fmla="*/ 2147483646 w 1729"/>
              <a:gd name="T19" fmla="*/ 2147483646 h 1322"/>
              <a:gd name="T20" fmla="*/ 2147483646 w 1729"/>
              <a:gd name="T21" fmla="*/ 2147483646 h 1322"/>
              <a:gd name="T22" fmla="*/ 2147483646 w 1729"/>
              <a:gd name="T23" fmla="*/ 2147483646 h 1322"/>
              <a:gd name="T24" fmla="*/ 2147483646 w 1729"/>
              <a:gd name="T25" fmla="*/ 2147483646 h 1322"/>
              <a:gd name="T26" fmla="*/ 2147483646 w 1729"/>
              <a:gd name="T27" fmla="*/ 2147483646 h 1322"/>
              <a:gd name="T28" fmla="*/ 2147483646 w 1729"/>
              <a:gd name="T29" fmla="*/ 2147483646 h 1322"/>
              <a:gd name="T30" fmla="*/ 2147483646 w 1729"/>
              <a:gd name="T31" fmla="*/ 2147483646 h 1322"/>
              <a:gd name="T32" fmla="*/ 0 w 1729"/>
              <a:gd name="T33" fmla="*/ 2147483646 h 1322"/>
              <a:gd name="T34" fmla="*/ 0 w 1729"/>
              <a:gd name="T35" fmla="*/ 2147483646 h 1322"/>
              <a:gd name="T36" fmla="*/ 0 w 1729"/>
              <a:gd name="T37" fmla="*/ 2147483646 h 1322"/>
              <a:gd name="T38" fmla="*/ 0 w 1729"/>
              <a:gd name="T39" fmla="*/ 2147483646 h 1322"/>
              <a:gd name="T40" fmla="*/ 0 w 1729"/>
              <a:gd name="T41" fmla="*/ 2147483646 h 1322"/>
              <a:gd name="T42" fmla="*/ 2147483646 w 1729"/>
              <a:gd name="T43" fmla="*/ 2147483646 h 1322"/>
              <a:gd name="T44" fmla="*/ 2147483646 w 1729"/>
              <a:gd name="T45" fmla="*/ 2147483646 h 1322"/>
              <a:gd name="T46" fmla="*/ 2147483646 w 1729"/>
              <a:gd name="T47" fmla="*/ 2147483646 h 1322"/>
              <a:gd name="T48" fmla="*/ 2147483646 w 1729"/>
              <a:gd name="T49" fmla="*/ 2147483646 h 1322"/>
              <a:gd name="T50" fmla="*/ 2147483646 w 1729"/>
              <a:gd name="T51" fmla="*/ 2147483646 h 1322"/>
              <a:gd name="T52" fmla="*/ 2147483646 w 1729"/>
              <a:gd name="T53" fmla="*/ 2147483646 h 1322"/>
              <a:gd name="T54" fmla="*/ 2147483646 w 1729"/>
              <a:gd name="T55" fmla="*/ 2147483646 h 1322"/>
              <a:gd name="T56" fmla="*/ 2147483646 w 1729"/>
              <a:gd name="T57" fmla="*/ 2147483646 h 1322"/>
              <a:gd name="T58" fmla="*/ 2147483646 w 1729"/>
              <a:gd name="T59" fmla="*/ 2147483646 h 1322"/>
              <a:gd name="T60" fmla="*/ 2147483646 w 1729"/>
              <a:gd name="T61" fmla="*/ 2147483646 h 1322"/>
              <a:gd name="T62" fmla="*/ 2147483646 w 1729"/>
              <a:gd name="T63" fmla="*/ 2147483646 h 1322"/>
              <a:gd name="T64" fmla="*/ 2147483646 w 1729"/>
              <a:gd name="T65" fmla="*/ 2147483646 h 1322"/>
              <a:gd name="T66" fmla="*/ 2147483646 w 1729"/>
              <a:gd name="T67" fmla="*/ 2147483646 h 1322"/>
              <a:gd name="T68" fmla="*/ 2147483646 w 1729"/>
              <a:gd name="T69" fmla="*/ 2147483646 h 1322"/>
              <a:gd name="T70" fmla="*/ 2147483646 w 1729"/>
              <a:gd name="T71" fmla="*/ 2147483646 h 1322"/>
              <a:gd name="T72" fmla="*/ 2147483646 w 1729"/>
              <a:gd name="T73" fmla="*/ 2147483646 h 1322"/>
              <a:gd name="T74" fmla="*/ 2147483646 w 1729"/>
              <a:gd name="T75" fmla="*/ 2147483646 h 1322"/>
              <a:gd name="T76" fmla="*/ 2147483646 w 1729"/>
              <a:gd name="T77" fmla="*/ 2147483646 h 1322"/>
              <a:gd name="T78" fmla="*/ 2147483646 w 1729"/>
              <a:gd name="T79" fmla="*/ 2147483646 h 1322"/>
              <a:gd name="T80" fmla="*/ 2147483646 w 1729"/>
              <a:gd name="T81" fmla="*/ 2147483646 h 1322"/>
              <a:gd name="T82" fmla="*/ 2147483646 w 1729"/>
              <a:gd name="T83" fmla="*/ 2147483646 h 1322"/>
              <a:gd name="T84" fmla="*/ 2147483646 w 1729"/>
              <a:gd name="T85" fmla="*/ 2147483646 h 1322"/>
              <a:gd name="T86" fmla="*/ 2147483646 w 1729"/>
              <a:gd name="T87" fmla="*/ 2147483646 h 1322"/>
              <a:gd name="T88" fmla="*/ 2147483646 w 1729"/>
              <a:gd name="T89" fmla="*/ 2147483646 h 1322"/>
              <a:gd name="T90" fmla="*/ 2147483646 w 1729"/>
              <a:gd name="T91" fmla="*/ 2147483646 h 1322"/>
              <a:gd name="T92" fmla="*/ 2147483646 w 1729"/>
              <a:gd name="T93" fmla="*/ 2147483646 h 1322"/>
              <a:gd name="T94" fmla="*/ 2147483646 w 1729"/>
              <a:gd name="T95" fmla="*/ 2147483646 h 1322"/>
              <a:gd name="T96" fmla="*/ 2147483646 w 1729"/>
              <a:gd name="T97" fmla="*/ 2147483646 h 1322"/>
              <a:gd name="T98" fmla="*/ 2147483646 w 1729"/>
              <a:gd name="T99" fmla="*/ 2147483646 h 1322"/>
              <a:gd name="T100" fmla="*/ 2147483646 w 1729"/>
              <a:gd name="T101" fmla="*/ 0 h 1322"/>
              <a:gd name="T102" fmla="*/ 2147483646 w 1729"/>
              <a:gd name="T103" fmla="*/ 0 h 1322"/>
              <a:gd name="T104" fmla="*/ 2147483646 w 1729"/>
              <a:gd name="T105" fmla="*/ 0 h 1322"/>
              <a:gd name="T106" fmla="*/ 2147483646 w 1729"/>
              <a:gd name="T107" fmla="*/ 0 h 132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729"/>
              <a:gd name="T163" fmla="*/ 0 h 1322"/>
              <a:gd name="T164" fmla="*/ 1729 w 1729"/>
              <a:gd name="T165" fmla="*/ 1322 h 1322"/>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729" h="1322">
                <a:moveTo>
                  <a:pt x="230" y="1322"/>
                </a:moveTo>
                <a:lnTo>
                  <a:pt x="116" y="1322"/>
                </a:lnTo>
                <a:lnTo>
                  <a:pt x="104" y="1322"/>
                </a:lnTo>
                <a:lnTo>
                  <a:pt x="93" y="1320"/>
                </a:lnTo>
                <a:lnTo>
                  <a:pt x="81" y="1316"/>
                </a:lnTo>
                <a:lnTo>
                  <a:pt x="71" y="1313"/>
                </a:lnTo>
                <a:lnTo>
                  <a:pt x="61" y="1307"/>
                </a:lnTo>
                <a:lnTo>
                  <a:pt x="51" y="1302"/>
                </a:lnTo>
                <a:lnTo>
                  <a:pt x="42" y="1294"/>
                </a:lnTo>
                <a:lnTo>
                  <a:pt x="34" y="1285"/>
                </a:lnTo>
                <a:lnTo>
                  <a:pt x="27" y="1278"/>
                </a:lnTo>
                <a:lnTo>
                  <a:pt x="20" y="1267"/>
                </a:lnTo>
                <a:lnTo>
                  <a:pt x="14" y="1257"/>
                </a:lnTo>
                <a:lnTo>
                  <a:pt x="10" y="1246"/>
                </a:lnTo>
                <a:lnTo>
                  <a:pt x="5" y="1234"/>
                </a:lnTo>
                <a:lnTo>
                  <a:pt x="4" y="1223"/>
                </a:lnTo>
                <a:lnTo>
                  <a:pt x="0" y="1210"/>
                </a:lnTo>
                <a:lnTo>
                  <a:pt x="0" y="1197"/>
                </a:lnTo>
                <a:lnTo>
                  <a:pt x="0" y="470"/>
                </a:lnTo>
                <a:lnTo>
                  <a:pt x="0" y="446"/>
                </a:lnTo>
                <a:lnTo>
                  <a:pt x="2" y="422"/>
                </a:lnTo>
                <a:lnTo>
                  <a:pt x="5" y="398"/>
                </a:lnTo>
                <a:lnTo>
                  <a:pt x="9" y="374"/>
                </a:lnTo>
                <a:lnTo>
                  <a:pt x="14" y="352"/>
                </a:lnTo>
                <a:lnTo>
                  <a:pt x="20" y="330"/>
                </a:lnTo>
                <a:lnTo>
                  <a:pt x="27" y="308"/>
                </a:lnTo>
                <a:lnTo>
                  <a:pt x="34" y="286"/>
                </a:lnTo>
                <a:lnTo>
                  <a:pt x="42" y="266"/>
                </a:lnTo>
                <a:lnTo>
                  <a:pt x="52" y="246"/>
                </a:lnTo>
                <a:lnTo>
                  <a:pt x="62" y="226"/>
                </a:lnTo>
                <a:lnTo>
                  <a:pt x="74" y="207"/>
                </a:lnTo>
                <a:lnTo>
                  <a:pt x="86" y="189"/>
                </a:lnTo>
                <a:lnTo>
                  <a:pt x="99" y="171"/>
                </a:lnTo>
                <a:lnTo>
                  <a:pt x="113" y="154"/>
                </a:lnTo>
                <a:lnTo>
                  <a:pt x="126" y="138"/>
                </a:lnTo>
                <a:lnTo>
                  <a:pt x="141" y="123"/>
                </a:lnTo>
                <a:lnTo>
                  <a:pt x="156" y="106"/>
                </a:lnTo>
                <a:lnTo>
                  <a:pt x="173" y="93"/>
                </a:lnTo>
                <a:lnTo>
                  <a:pt x="190" y="81"/>
                </a:lnTo>
                <a:lnTo>
                  <a:pt x="207" y="68"/>
                </a:lnTo>
                <a:lnTo>
                  <a:pt x="225" y="57"/>
                </a:lnTo>
                <a:lnTo>
                  <a:pt x="243" y="46"/>
                </a:lnTo>
                <a:lnTo>
                  <a:pt x="262" y="37"/>
                </a:lnTo>
                <a:lnTo>
                  <a:pt x="282" y="29"/>
                </a:lnTo>
                <a:lnTo>
                  <a:pt x="302" y="22"/>
                </a:lnTo>
                <a:lnTo>
                  <a:pt x="322" y="14"/>
                </a:lnTo>
                <a:lnTo>
                  <a:pt x="344" y="9"/>
                </a:lnTo>
                <a:lnTo>
                  <a:pt x="364" y="5"/>
                </a:lnTo>
                <a:lnTo>
                  <a:pt x="386" y="2"/>
                </a:lnTo>
                <a:lnTo>
                  <a:pt x="408" y="0"/>
                </a:lnTo>
                <a:lnTo>
                  <a:pt x="430" y="0"/>
                </a:lnTo>
                <a:lnTo>
                  <a:pt x="1729" y="0"/>
                </a:lnTo>
              </a:path>
            </a:pathLst>
          </a:custGeom>
          <a:noFill/>
          <a:ln w="38100">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37" name="Freeform 39"/>
          <p:cNvSpPr/>
          <p:nvPr/>
        </p:nvSpPr>
        <p:spPr bwMode="auto">
          <a:xfrm>
            <a:off x="3657600" y="2366615"/>
            <a:ext cx="112713" cy="122238"/>
          </a:xfrm>
          <a:custGeom>
            <a:avLst/>
            <a:gdLst>
              <a:gd name="T0" fmla="*/ 0 w 141"/>
              <a:gd name="T1" fmla="*/ 0 h 154"/>
              <a:gd name="T2" fmla="*/ 2147483646 w 141"/>
              <a:gd name="T3" fmla="*/ 2147483646 h 154"/>
              <a:gd name="T4" fmla="*/ 0 w 141"/>
              <a:gd name="T5" fmla="*/ 2147483646 h 154"/>
              <a:gd name="T6" fmla="*/ 0 w 141"/>
              <a:gd name="T7" fmla="*/ 0 h 154"/>
              <a:gd name="T8" fmla="*/ 0 60000 65536"/>
              <a:gd name="T9" fmla="*/ 0 60000 65536"/>
              <a:gd name="T10" fmla="*/ 0 60000 65536"/>
              <a:gd name="T11" fmla="*/ 0 60000 65536"/>
              <a:gd name="T12" fmla="*/ 0 w 141"/>
              <a:gd name="T13" fmla="*/ 0 h 154"/>
              <a:gd name="T14" fmla="*/ 141 w 141"/>
              <a:gd name="T15" fmla="*/ 154 h 154"/>
            </a:gdLst>
            <a:ahLst/>
            <a:cxnLst>
              <a:cxn ang="T8">
                <a:pos x="T0" y="T1"/>
              </a:cxn>
              <a:cxn ang="T9">
                <a:pos x="T2" y="T3"/>
              </a:cxn>
              <a:cxn ang="T10">
                <a:pos x="T4" y="T5"/>
              </a:cxn>
              <a:cxn ang="T11">
                <a:pos x="T6" y="T7"/>
              </a:cxn>
            </a:cxnLst>
            <a:rect l="T12" t="T13" r="T14" b="T15"/>
            <a:pathLst>
              <a:path w="141" h="154">
                <a:moveTo>
                  <a:pt x="0" y="0"/>
                </a:moveTo>
                <a:lnTo>
                  <a:pt x="141" y="77"/>
                </a:lnTo>
                <a:lnTo>
                  <a:pt x="0" y="15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61512" name="Freeform 40"/>
          <p:cNvSpPr/>
          <p:nvPr/>
        </p:nvSpPr>
        <p:spPr bwMode="auto">
          <a:xfrm>
            <a:off x="2482850" y="4270028"/>
            <a:ext cx="1239838" cy="133350"/>
          </a:xfrm>
          <a:custGeom>
            <a:avLst/>
            <a:gdLst>
              <a:gd name="T0" fmla="*/ 2147483646 w 1562"/>
              <a:gd name="T1" fmla="*/ 2147483646 h 167"/>
              <a:gd name="T2" fmla="*/ 2147483646 w 1562"/>
              <a:gd name="T3" fmla="*/ 2147483646 h 167"/>
              <a:gd name="T4" fmla="*/ 2147483646 w 1562"/>
              <a:gd name="T5" fmla="*/ 2147483646 h 167"/>
              <a:gd name="T6" fmla="*/ 2147483646 w 1562"/>
              <a:gd name="T7" fmla="*/ 2147483646 h 167"/>
              <a:gd name="T8" fmla="*/ 2147483646 w 1562"/>
              <a:gd name="T9" fmla="*/ 2147483646 h 167"/>
              <a:gd name="T10" fmla="*/ 2147483646 w 1562"/>
              <a:gd name="T11" fmla="*/ 2147483646 h 167"/>
              <a:gd name="T12" fmla="*/ 2147483646 w 1562"/>
              <a:gd name="T13" fmla="*/ 2147483646 h 167"/>
              <a:gd name="T14" fmla="*/ 2147483646 w 1562"/>
              <a:gd name="T15" fmla="*/ 2147483646 h 167"/>
              <a:gd name="T16" fmla="*/ 2147483646 w 1562"/>
              <a:gd name="T17" fmla="*/ 2147483646 h 167"/>
              <a:gd name="T18" fmla="*/ 0 w 1562"/>
              <a:gd name="T19" fmla="*/ 2147483646 h 167"/>
              <a:gd name="T20" fmla="*/ 0 w 1562"/>
              <a:gd name="T21" fmla="*/ 0 h 16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62"/>
              <a:gd name="T34" fmla="*/ 0 h 167"/>
              <a:gd name="T35" fmla="*/ 1562 w 1562"/>
              <a:gd name="T36" fmla="*/ 167 h 16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62" h="167">
                <a:moveTo>
                  <a:pt x="1562" y="167"/>
                </a:moveTo>
                <a:lnTo>
                  <a:pt x="39" y="167"/>
                </a:lnTo>
                <a:lnTo>
                  <a:pt x="30" y="167"/>
                </a:lnTo>
                <a:lnTo>
                  <a:pt x="24" y="165"/>
                </a:lnTo>
                <a:lnTo>
                  <a:pt x="17" y="161"/>
                </a:lnTo>
                <a:lnTo>
                  <a:pt x="12" y="156"/>
                </a:lnTo>
                <a:lnTo>
                  <a:pt x="7" y="148"/>
                </a:lnTo>
                <a:lnTo>
                  <a:pt x="3" y="143"/>
                </a:lnTo>
                <a:lnTo>
                  <a:pt x="2" y="134"/>
                </a:lnTo>
                <a:lnTo>
                  <a:pt x="0" y="126"/>
                </a:lnTo>
                <a:lnTo>
                  <a:pt x="0" y="0"/>
                </a:lnTo>
              </a:path>
            </a:pathLst>
          </a:custGeom>
          <a:noFill/>
          <a:ln w="38100">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39" name="Freeform 41"/>
          <p:cNvSpPr/>
          <p:nvPr/>
        </p:nvSpPr>
        <p:spPr bwMode="auto">
          <a:xfrm>
            <a:off x="2427288" y="4270028"/>
            <a:ext cx="111125" cy="122237"/>
          </a:xfrm>
          <a:custGeom>
            <a:avLst/>
            <a:gdLst>
              <a:gd name="T0" fmla="*/ 0 w 140"/>
              <a:gd name="T1" fmla="*/ 2147483646 h 154"/>
              <a:gd name="T2" fmla="*/ 2147483646 w 140"/>
              <a:gd name="T3" fmla="*/ 0 h 154"/>
              <a:gd name="T4" fmla="*/ 2147483646 w 140"/>
              <a:gd name="T5" fmla="*/ 2147483646 h 154"/>
              <a:gd name="T6" fmla="*/ 0 w 140"/>
              <a:gd name="T7" fmla="*/ 2147483646 h 154"/>
              <a:gd name="T8" fmla="*/ 0 60000 65536"/>
              <a:gd name="T9" fmla="*/ 0 60000 65536"/>
              <a:gd name="T10" fmla="*/ 0 60000 65536"/>
              <a:gd name="T11" fmla="*/ 0 60000 65536"/>
              <a:gd name="T12" fmla="*/ 0 w 140"/>
              <a:gd name="T13" fmla="*/ 0 h 154"/>
              <a:gd name="T14" fmla="*/ 140 w 140"/>
              <a:gd name="T15" fmla="*/ 154 h 154"/>
            </a:gdLst>
            <a:ahLst/>
            <a:cxnLst>
              <a:cxn ang="T8">
                <a:pos x="T0" y="T1"/>
              </a:cxn>
              <a:cxn ang="T9">
                <a:pos x="T2" y="T3"/>
              </a:cxn>
              <a:cxn ang="T10">
                <a:pos x="T4" y="T5"/>
              </a:cxn>
              <a:cxn ang="T11">
                <a:pos x="T6" y="T7"/>
              </a:cxn>
            </a:cxnLst>
            <a:rect l="T12" t="T13" r="T14" b="T15"/>
            <a:pathLst>
              <a:path w="140" h="154">
                <a:moveTo>
                  <a:pt x="0" y="154"/>
                </a:moveTo>
                <a:lnTo>
                  <a:pt x="70" y="0"/>
                </a:lnTo>
                <a:lnTo>
                  <a:pt x="140" y="154"/>
                </a:lnTo>
                <a:lnTo>
                  <a:pt x="0" y="154"/>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61514" name="Freeform 42"/>
          <p:cNvSpPr/>
          <p:nvPr/>
        </p:nvSpPr>
        <p:spPr bwMode="auto">
          <a:xfrm>
            <a:off x="684213" y="2198340"/>
            <a:ext cx="2984500" cy="3984625"/>
          </a:xfrm>
          <a:custGeom>
            <a:avLst/>
            <a:gdLst>
              <a:gd name="T0" fmla="*/ 2147483646 w 3760"/>
              <a:gd name="T1" fmla="*/ 2147483646 h 5019"/>
              <a:gd name="T2" fmla="*/ 2147483646 w 3760"/>
              <a:gd name="T3" fmla="*/ 2147483646 h 5019"/>
              <a:gd name="T4" fmla="*/ 2147483646 w 3760"/>
              <a:gd name="T5" fmla="*/ 2147483646 h 5019"/>
              <a:gd name="T6" fmla="*/ 2147483646 w 3760"/>
              <a:gd name="T7" fmla="*/ 2147483646 h 5019"/>
              <a:gd name="T8" fmla="*/ 2147483646 w 3760"/>
              <a:gd name="T9" fmla="*/ 2147483646 h 5019"/>
              <a:gd name="T10" fmla="*/ 2147483646 w 3760"/>
              <a:gd name="T11" fmla="*/ 2147483646 h 5019"/>
              <a:gd name="T12" fmla="*/ 2147483646 w 3760"/>
              <a:gd name="T13" fmla="*/ 2147483646 h 5019"/>
              <a:gd name="T14" fmla="*/ 2147483646 w 3760"/>
              <a:gd name="T15" fmla="*/ 2147483646 h 5019"/>
              <a:gd name="T16" fmla="*/ 2147483646 w 3760"/>
              <a:gd name="T17" fmla="*/ 2147483646 h 5019"/>
              <a:gd name="T18" fmla="*/ 2147483646 w 3760"/>
              <a:gd name="T19" fmla="*/ 2147483646 h 5019"/>
              <a:gd name="T20" fmla="*/ 2147483646 w 3760"/>
              <a:gd name="T21" fmla="*/ 2147483646 h 5019"/>
              <a:gd name="T22" fmla="*/ 2147483646 w 3760"/>
              <a:gd name="T23" fmla="*/ 2147483646 h 5019"/>
              <a:gd name="T24" fmla="*/ 2147483646 w 3760"/>
              <a:gd name="T25" fmla="*/ 2147483646 h 5019"/>
              <a:gd name="T26" fmla="*/ 2147483646 w 3760"/>
              <a:gd name="T27" fmla="*/ 2147483646 h 5019"/>
              <a:gd name="T28" fmla="*/ 2147483646 w 3760"/>
              <a:gd name="T29" fmla="*/ 2147483646 h 5019"/>
              <a:gd name="T30" fmla="*/ 2147483646 w 3760"/>
              <a:gd name="T31" fmla="*/ 2147483646 h 5019"/>
              <a:gd name="T32" fmla="*/ 0 w 3760"/>
              <a:gd name="T33" fmla="*/ 2147483646 h 5019"/>
              <a:gd name="T34" fmla="*/ 0 w 3760"/>
              <a:gd name="T35" fmla="*/ 2147483646 h 5019"/>
              <a:gd name="T36" fmla="*/ 2147483646 w 3760"/>
              <a:gd name="T37" fmla="*/ 2147483646 h 5019"/>
              <a:gd name="T38" fmla="*/ 2147483646 w 3760"/>
              <a:gd name="T39" fmla="*/ 2147483646 h 5019"/>
              <a:gd name="T40" fmla="*/ 2147483646 w 3760"/>
              <a:gd name="T41" fmla="*/ 2147483646 h 5019"/>
              <a:gd name="T42" fmla="*/ 2147483646 w 3760"/>
              <a:gd name="T43" fmla="*/ 2147483646 h 5019"/>
              <a:gd name="T44" fmla="*/ 2147483646 w 3760"/>
              <a:gd name="T45" fmla="*/ 2147483646 h 5019"/>
              <a:gd name="T46" fmla="*/ 2147483646 w 3760"/>
              <a:gd name="T47" fmla="*/ 2147483646 h 5019"/>
              <a:gd name="T48" fmla="*/ 2147483646 w 3760"/>
              <a:gd name="T49" fmla="*/ 2147483646 h 5019"/>
              <a:gd name="T50" fmla="*/ 2147483646 w 3760"/>
              <a:gd name="T51" fmla="*/ 2147483646 h 5019"/>
              <a:gd name="T52" fmla="*/ 2147483646 w 3760"/>
              <a:gd name="T53" fmla="*/ 2147483646 h 5019"/>
              <a:gd name="T54" fmla="*/ 2147483646 w 3760"/>
              <a:gd name="T55" fmla="*/ 2147483646 h 5019"/>
              <a:gd name="T56" fmla="*/ 2147483646 w 3760"/>
              <a:gd name="T57" fmla="*/ 2147483646 h 5019"/>
              <a:gd name="T58" fmla="*/ 2147483646 w 3760"/>
              <a:gd name="T59" fmla="*/ 2147483646 h 5019"/>
              <a:gd name="T60" fmla="*/ 2147483646 w 3760"/>
              <a:gd name="T61" fmla="*/ 2147483646 h 5019"/>
              <a:gd name="T62" fmla="*/ 2147483646 w 3760"/>
              <a:gd name="T63" fmla="*/ 2147483646 h 5019"/>
              <a:gd name="T64" fmla="*/ 2147483646 w 3760"/>
              <a:gd name="T65" fmla="*/ 2147483646 h 5019"/>
              <a:gd name="T66" fmla="*/ 2147483646 w 3760"/>
              <a:gd name="T67" fmla="*/ 0 h 5019"/>
              <a:gd name="T68" fmla="*/ 2147483646 w 3760"/>
              <a:gd name="T69" fmla="*/ 0 h 501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3760"/>
              <a:gd name="T106" fmla="*/ 0 h 5019"/>
              <a:gd name="T107" fmla="*/ 3760 w 3760"/>
              <a:gd name="T108" fmla="*/ 5019 h 501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3760" h="5019">
                <a:moveTo>
                  <a:pt x="1012" y="5019"/>
                </a:moveTo>
                <a:lnTo>
                  <a:pt x="429" y="5019"/>
                </a:lnTo>
                <a:lnTo>
                  <a:pt x="405" y="5019"/>
                </a:lnTo>
                <a:lnTo>
                  <a:pt x="383" y="5018"/>
                </a:lnTo>
                <a:lnTo>
                  <a:pt x="363" y="5014"/>
                </a:lnTo>
                <a:lnTo>
                  <a:pt x="342" y="5010"/>
                </a:lnTo>
                <a:lnTo>
                  <a:pt x="321" y="5005"/>
                </a:lnTo>
                <a:lnTo>
                  <a:pt x="300" y="4999"/>
                </a:lnTo>
                <a:lnTo>
                  <a:pt x="281" y="4992"/>
                </a:lnTo>
                <a:lnTo>
                  <a:pt x="261" y="4983"/>
                </a:lnTo>
                <a:lnTo>
                  <a:pt x="243" y="4974"/>
                </a:lnTo>
                <a:lnTo>
                  <a:pt x="224" y="4963"/>
                </a:lnTo>
                <a:lnTo>
                  <a:pt x="206" y="4951"/>
                </a:lnTo>
                <a:lnTo>
                  <a:pt x="187" y="4940"/>
                </a:lnTo>
                <a:lnTo>
                  <a:pt x="171" y="4928"/>
                </a:lnTo>
                <a:lnTo>
                  <a:pt x="155" y="4913"/>
                </a:lnTo>
                <a:lnTo>
                  <a:pt x="139" y="4898"/>
                </a:lnTo>
                <a:lnTo>
                  <a:pt x="125" y="4882"/>
                </a:lnTo>
                <a:lnTo>
                  <a:pt x="110" y="4867"/>
                </a:lnTo>
                <a:lnTo>
                  <a:pt x="97" y="4849"/>
                </a:lnTo>
                <a:lnTo>
                  <a:pt x="83" y="4832"/>
                </a:lnTo>
                <a:lnTo>
                  <a:pt x="72" y="4814"/>
                </a:lnTo>
                <a:lnTo>
                  <a:pt x="62" y="4794"/>
                </a:lnTo>
                <a:lnTo>
                  <a:pt x="50" y="4773"/>
                </a:lnTo>
                <a:lnTo>
                  <a:pt x="41" y="4753"/>
                </a:lnTo>
                <a:lnTo>
                  <a:pt x="33" y="4733"/>
                </a:lnTo>
                <a:lnTo>
                  <a:pt x="25" y="4711"/>
                </a:lnTo>
                <a:lnTo>
                  <a:pt x="18" y="4691"/>
                </a:lnTo>
                <a:lnTo>
                  <a:pt x="13" y="4667"/>
                </a:lnTo>
                <a:lnTo>
                  <a:pt x="8" y="4645"/>
                </a:lnTo>
                <a:lnTo>
                  <a:pt x="3" y="4621"/>
                </a:lnTo>
                <a:lnTo>
                  <a:pt x="1" y="4599"/>
                </a:lnTo>
                <a:lnTo>
                  <a:pt x="0" y="4575"/>
                </a:lnTo>
                <a:lnTo>
                  <a:pt x="0" y="4549"/>
                </a:lnTo>
                <a:lnTo>
                  <a:pt x="0" y="470"/>
                </a:lnTo>
                <a:lnTo>
                  <a:pt x="0" y="446"/>
                </a:lnTo>
                <a:lnTo>
                  <a:pt x="1" y="422"/>
                </a:lnTo>
                <a:lnTo>
                  <a:pt x="3" y="398"/>
                </a:lnTo>
                <a:lnTo>
                  <a:pt x="8" y="374"/>
                </a:lnTo>
                <a:lnTo>
                  <a:pt x="13" y="352"/>
                </a:lnTo>
                <a:lnTo>
                  <a:pt x="18" y="330"/>
                </a:lnTo>
                <a:lnTo>
                  <a:pt x="25" y="308"/>
                </a:lnTo>
                <a:lnTo>
                  <a:pt x="33" y="286"/>
                </a:lnTo>
                <a:lnTo>
                  <a:pt x="41" y="266"/>
                </a:lnTo>
                <a:lnTo>
                  <a:pt x="50" y="246"/>
                </a:lnTo>
                <a:lnTo>
                  <a:pt x="62" y="226"/>
                </a:lnTo>
                <a:lnTo>
                  <a:pt x="72" y="207"/>
                </a:lnTo>
                <a:lnTo>
                  <a:pt x="83" y="189"/>
                </a:lnTo>
                <a:lnTo>
                  <a:pt x="97" y="170"/>
                </a:lnTo>
                <a:lnTo>
                  <a:pt x="110" y="154"/>
                </a:lnTo>
                <a:lnTo>
                  <a:pt x="125" y="137"/>
                </a:lnTo>
                <a:lnTo>
                  <a:pt x="139" y="121"/>
                </a:lnTo>
                <a:lnTo>
                  <a:pt x="155" y="106"/>
                </a:lnTo>
                <a:lnTo>
                  <a:pt x="171" y="93"/>
                </a:lnTo>
                <a:lnTo>
                  <a:pt x="187" y="80"/>
                </a:lnTo>
                <a:lnTo>
                  <a:pt x="206" y="68"/>
                </a:lnTo>
                <a:lnTo>
                  <a:pt x="222" y="57"/>
                </a:lnTo>
                <a:lnTo>
                  <a:pt x="243" y="46"/>
                </a:lnTo>
                <a:lnTo>
                  <a:pt x="261" y="36"/>
                </a:lnTo>
                <a:lnTo>
                  <a:pt x="279" y="27"/>
                </a:lnTo>
                <a:lnTo>
                  <a:pt x="300" y="20"/>
                </a:lnTo>
                <a:lnTo>
                  <a:pt x="321" y="14"/>
                </a:lnTo>
                <a:lnTo>
                  <a:pt x="342" y="9"/>
                </a:lnTo>
                <a:lnTo>
                  <a:pt x="363" y="5"/>
                </a:lnTo>
                <a:lnTo>
                  <a:pt x="383" y="2"/>
                </a:lnTo>
                <a:lnTo>
                  <a:pt x="405" y="0"/>
                </a:lnTo>
                <a:lnTo>
                  <a:pt x="429" y="0"/>
                </a:lnTo>
                <a:lnTo>
                  <a:pt x="3760" y="0"/>
                </a:lnTo>
              </a:path>
            </a:pathLst>
          </a:custGeom>
          <a:noFill/>
          <a:ln w="38100">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41" name="Freeform 43"/>
          <p:cNvSpPr/>
          <p:nvPr/>
        </p:nvSpPr>
        <p:spPr bwMode="auto">
          <a:xfrm>
            <a:off x="3654425" y="2136428"/>
            <a:ext cx="112713" cy="122237"/>
          </a:xfrm>
          <a:custGeom>
            <a:avLst/>
            <a:gdLst>
              <a:gd name="T0" fmla="*/ 0 w 141"/>
              <a:gd name="T1" fmla="*/ 0 h 154"/>
              <a:gd name="T2" fmla="*/ 2147483646 w 141"/>
              <a:gd name="T3" fmla="*/ 2147483646 h 154"/>
              <a:gd name="T4" fmla="*/ 0 w 141"/>
              <a:gd name="T5" fmla="*/ 2147483646 h 154"/>
              <a:gd name="T6" fmla="*/ 0 w 141"/>
              <a:gd name="T7" fmla="*/ 0 h 154"/>
              <a:gd name="T8" fmla="*/ 0 60000 65536"/>
              <a:gd name="T9" fmla="*/ 0 60000 65536"/>
              <a:gd name="T10" fmla="*/ 0 60000 65536"/>
              <a:gd name="T11" fmla="*/ 0 60000 65536"/>
              <a:gd name="T12" fmla="*/ 0 w 141"/>
              <a:gd name="T13" fmla="*/ 0 h 154"/>
              <a:gd name="T14" fmla="*/ 141 w 141"/>
              <a:gd name="T15" fmla="*/ 154 h 154"/>
            </a:gdLst>
            <a:ahLst/>
            <a:cxnLst>
              <a:cxn ang="T8">
                <a:pos x="T0" y="T1"/>
              </a:cxn>
              <a:cxn ang="T9">
                <a:pos x="T2" y="T3"/>
              </a:cxn>
              <a:cxn ang="T10">
                <a:pos x="T4" y="T5"/>
              </a:cxn>
              <a:cxn ang="T11">
                <a:pos x="T6" y="T7"/>
              </a:cxn>
            </a:cxnLst>
            <a:rect l="T12" t="T13" r="T14" b="T15"/>
            <a:pathLst>
              <a:path w="141" h="154">
                <a:moveTo>
                  <a:pt x="0" y="0"/>
                </a:moveTo>
                <a:lnTo>
                  <a:pt x="141" y="77"/>
                </a:lnTo>
                <a:lnTo>
                  <a:pt x="0" y="15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61516" name="Freeform 44"/>
          <p:cNvSpPr/>
          <p:nvPr/>
        </p:nvSpPr>
        <p:spPr bwMode="auto">
          <a:xfrm>
            <a:off x="4667250" y="4855815"/>
            <a:ext cx="1539875" cy="1339850"/>
          </a:xfrm>
          <a:custGeom>
            <a:avLst/>
            <a:gdLst>
              <a:gd name="T0" fmla="*/ 0 w 1939"/>
              <a:gd name="T1" fmla="*/ 0 h 1687"/>
              <a:gd name="T2" fmla="*/ 2147483646 w 1939"/>
              <a:gd name="T3" fmla="*/ 0 h 1687"/>
              <a:gd name="T4" fmla="*/ 2147483646 w 1939"/>
              <a:gd name="T5" fmla="*/ 2147483646 h 1687"/>
              <a:gd name="T6" fmla="*/ 2147483646 w 1939"/>
              <a:gd name="T7" fmla="*/ 2147483646 h 1687"/>
              <a:gd name="T8" fmla="*/ 2147483646 w 1939"/>
              <a:gd name="T9" fmla="*/ 2147483646 h 1687"/>
              <a:gd name="T10" fmla="*/ 2147483646 w 1939"/>
              <a:gd name="T11" fmla="*/ 2147483646 h 1687"/>
              <a:gd name="T12" fmla="*/ 2147483646 w 1939"/>
              <a:gd name="T13" fmla="*/ 2147483646 h 1687"/>
              <a:gd name="T14" fmla="*/ 2147483646 w 1939"/>
              <a:gd name="T15" fmla="*/ 2147483646 h 1687"/>
              <a:gd name="T16" fmla="*/ 2147483646 w 1939"/>
              <a:gd name="T17" fmla="*/ 2147483646 h 1687"/>
              <a:gd name="T18" fmla="*/ 2147483646 w 1939"/>
              <a:gd name="T19" fmla="*/ 2147483646 h 1687"/>
              <a:gd name="T20" fmla="*/ 2147483646 w 1939"/>
              <a:gd name="T21" fmla="*/ 2147483646 h 1687"/>
              <a:gd name="T22" fmla="*/ 2147483646 w 1939"/>
              <a:gd name="T23" fmla="*/ 2147483646 h 1687"/>
              <a:gd name="T24" fmla="*/ 2147483646 w 1939"/>
              <a:gd name="T25" fmla="*/ 2147483646 h 1687"/>
              <a:gd name="T26" fmla="*/ 2147483646 w 1939"/>
              <a:gd name="T27" fmla="*/ 2147483646 h 1687"/>
              <a:gd name="T28" fmla="*/ 2147483646 w 1939"/>
              <a:gd name="T29" fmla="*/ 2147483646 h 1687"/>
              <a:gd name="T30" fmla="*/ 2147483646 w 1939"/>
              <a:gd name="T31" fmla="*/ 2147483646 h 1687"/>
              <a:gd name="T32" fmla="*/ 2147483646 w 1939"/>
              <a:gd name="T33" fmla="*/ 2147483646 h 1687"/>
              <a:gd name="T34" fmla="*/ 2147483646 w 1939"/>
              <a:gd name="T35" fmla="*/ 2147483646 h 1687"/>
              <a:gd name="T36" fmla="*/ 2147483646 w 1939"/>
              <a:gd name="T37" fmla="*/ 2147483646 h 1687"/>
              <a:gd name="T38" fmla="*/ 2147483646 w 1939"/>
              <a:gd name="T39" fmla="*/ 2147483646 h 1687"/>
              <a:gd name="T40" fmla="*/ 2147483646 w 1939"/>
              <a:gd name="T41" fmla="*/ 2147483646 h 1687"/>
              <a:gd name="T42" fmla="*/ 2147483646 w 1939"/>
              <a:gd name="T43" fmla="*/ 2147483646 h 1687"/>
              <a:gd name="T44" fmla="*/ 2147483646 w 1939"/>
              <a:gd name="T45" fmla="*/ 2147483646 h 1687"/>
              <a:gd name="T46" fmla="*/ 2147483646 w 1939"/>
              <a:gd name="T47" fmla="*/ 2147483646 h 1687"/>
              <a:gd name="T48" fmla="*/ 2147483646 w 1939"/>
              <a:gd name="T49" fmla="*/ 2147483646 h 1687"/>
              <a:gd name="T50" fmla="*/ 2147483646 w 1939"/>
              <a:gd name="T51" fmla="*/ 2147483646 h 1687"/>
              <a:gd name="T52" fmla="*/ 2147483646 w 1939"/>
              <a:gd name="T53" fmla="*/ 2147483646 h 1687"/>
              <a:gd name="T54" fmla="*/ 2147483646 w 1939"/>
              <a:gd name="T55" fmla="*/ 2147483646 h 1687"/>
              <a:gd name="T56" fmla="*/ 2147483646 w 1939"/>
              <a:gd name="T57" fmla="*/ 2147483646 h 1687"/>
              <a:gd name="T58" fmla="*/ 2147483646 w 1939"/>
              <a:gd name="T59" fmla="*/ 2147483646 h 1687"/>
              <a:gd name="T60" fmla="*/ 2147483646 w 1939"/>
              <a:gd name="T61" fmla="*/ 2147483646 h 1687"/>
              <a:gd name="T62" fmla="*/ 2147483646 w 1939"/>
              <a:gd name="T63" fmla="*/ 2147483646 h 1687"/>
              <a:gd name="T64" fmla="*/ 2147483646 w 1939"/>
              <a:gd name="T65" fmla="*/ 2147483646 h 1687"/>
              <a:gd name="T66" fmla="*/ 2147483646 w 1939"/>
              <a:gd name="T67" fmla="*/ 2147483646 h 1687"/>
              <a:gd name="T68" fmla="*/ 2147483646 w 1939"/>
              <a:gd name="T69" fmla="*/ 2147483646 h 1687"/>
              <a:gd name="T70" fmla="*/ 2147483646 w 1939"/>
              <a:gd name="T71" fmla="*/ 2147483646 h 1687"/>
              <a:gd name="T72" fmla="*/ 2147483646 w 1939"/>
              <a:gd name="T73" fmla="*/ 2147483646 h 1687"/>
              <a:gd name="T74" fmla="*/ 2147483646 w 1939"/>
              <a:gd name="T75" fmla="*/ 2147483646 h 1687"/>
              <a:gd name="T76" fmla="*/ 2147483646 w 1939"/>
              <a:gd name="T77" fmla="*/ 2147483646 h 1687"/>
              <a:gd name="T78" fmla="*/ 2147483646 w 1939"/>
              <a:gd name="T79" fmla="*/ 2147483646 h 1687"/>
              <a:gd name="T80" fmla="*/ 2147483646 w 1939"/>
              <a:gd name="T81" fmla="*/ 2147483646 h 1687"/>
              <a:gd name="T82" fmla="*/ 2147483646 w 1939"/>
              <a:gd name="T83" fmla="*/ 2147483646 h 1687"/>
              <a:gd name="T84" fmla="*/ 2147483646 w 1939"/>
              <a:gd name="T85" fmla="*/ 2147483646 h 168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939"/>
              <a:gd name="T130" fmla="*/ 0 h 1687"/>
              <a:gd name="T131" fmla="*/ 1939 w 1939"/>
              <a:gd name="T132" fmla="*/ 1687 h 1687"/>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939" h="1687">
                <a:moveTo>
                  <a:pt x="0" y="0"/>
                </a:moveTo>
                <a:lnTo>
                  <a:pt x="8" y="0"/>
                </a:lnTo>
                <a:lnTo>
                  <a:pt x="11" y="1"/>
                </a:lnTo>
                <a:lnTo>
                  <a:pt x="15" y="3"/>
                </a:lnTo>
                <a:lnTo>
                  <a:pt x="16" y="5"/>
                </a:lnTo>
                <a:lnTo>
                  <a:pt x="16" y="9"/>
                </a:lnTo>
                <a:lnTo>
                  <a:pt x="16" y="11"/>
                </a:lnTo>
                <a:lnTo>
                  <a:pt x="16" y="1217"/>
                </a:lnTo>
                <a:lnTo>
                  <a:pt x="18" y="1241"/>
                </a:lnTo>
                <a:lnTo>
                  <a:pt x="20" y="1265"/>
                </a:lnTo>
                <a:lnTo>
                  <a:pt x="22" y="1287"/>
                </a:lnTo>
                <a:lnTo>
                  <a:pt x="25" y="1311"/>
                </a:lnTo>
                <a:lnTo>
                  <a:pt x="30" y="1333"/>
                </a:lnTo>
                <a:lnTo>
                  <a:pt x="37" y="1356"/>
                </a:lnTo>
                <a:lnTo>
                  <a:pt x="43" y="1377"/>
                </a:lnTo>
                <a:lnTo>
                  <a:pt x="50" y="1399"/>
                </a:lnTo>
                <a:lnTo>
                  <a:pt x="58" y="1419"/>
                </a:lnTo>
                <a:lnTo>
                  <a:pt x="68" y="1439"/>
                </a:lnTo>
                <a:lnTo>
                  <a:pt x="79" y="1459"/>
                </a:lnTo>
                <a:lnTo>
                  <a:pt x="90" y="1479"/>
                </a:lnTo>
                <a:lnTo>
                  <a:pt x="102" y="1498"/>
                </a:lnTo>
                <a:lnTo>
                  <a:pt x="115" y="1514"/>
                </a:lnTo>
                <a:lnTo>
                  <a:pt x="129" y="1533"/>
                </a:lnTo>
                <a:lnTo>
                  <a:pt x="142" y="1547"/>
                </a:lnTo>
                <a:lnTo>
                  <a:pt x="157" y="1564"/>
                </a:lnTo>
                <a:lnTo>
                  <a:pt x="172" y="1579"/>
                </a:lnTo>
                <a:lnTo>
                  <a:pt x="189" y="1593"/>
                </a:lnTo>
                <a:lnTo>
                  <a:pt x="206" y="1606"/>
                </a:lnTo>
                <a:lnTo>
                  <a:pt x="223" y="1617"/>
                </a:lnTo>
                <a:lnTo>
                  <a:pt x="241" y="1630"/>
                </a:lnTo>
                <a:lnTo>
                  <a:pt x="260" y="1639"/>
                </a:lnTo>
                <a:lnTo>
                  <a:pt x="280" y="1648"/>
                </a:lnTo>
                <a:lnTo>
                  <a:pt x="298" y="1658"/>
                </a:lnTo>
                <a:lnTo>
                  <a:pt x="318" y="1665"/>
                </a:lnTo>
                <a:lnTo>
                  <a:pt x="338" y="1670"/>
                </a:lnTo>
                <a:lnTo>
                  <a:pt x="360" y="1676"/>
                </a:lnTo>
                <a:lnTo>
                  <a:pt x="380" y="1681"/>
                </a:lnTo>
                <a:lnTo>
                  <a:pt x="402" y="1683"/>
                </a:lnTo>
                <a:lnTo>
                  <a:pt x="424" y="1685"/>
                </a:lnTo>
                <a:lnTo>
                  <a:pt x="446" y="1687"/>
                </a:lnTo>
                <a:lnTo>
                  <a:pt x="1939" y="1687"/>
                </a:lnTo>
              </a:path>
            </a:pathLst>
          </a:custGeom>
          <a:noFill/>
          <a:ln w="38100">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43" name="Freeform 45"/>
          <p:cNvSpPr/>
          <p:nvPr/>
        </p:nvSpPr>
        <p:spPr bwMode="auto">
          <a:xfrm>
            <a:off x="6192838" y="6133753"/>
            <a:ext cx="111125" cy="123825"/>
          </a:xfrm>
          <a:custGeom>
            <a:avLst/>
            <a:gdLst>
              <a:gd name="T0" fmla="*/ 0 w 141"/>
              <a:gd name="T1" fmla="*/ 0 h 154"/>
              <a:gd name="T2" fmla="*/ 2147483646 w 141"/>
              <a:gd name="T3" fmla="*/ 2147483646 h 154"/>
              <a:gd name="T4" fmla="*/ 0 w 141"/>
              <a:gd name="T5" fmla="*/ 2147483646 h 154"/>
              <a:gd name="T6" fmla="*/ 0 w 141"/>
              <a:gd name="T7" fmla="*/ 0 h 154"/>
              <a:gd name="T8" fmla="*/ 0 60000 65536"/>
              <a:gd name="T9" fmla="*/ 0 60000 65536"/>
              <a:gd name="T10" fmla="*/ 0 60000 65536"/>
              <a:gd name="T11" fmla="*/ 0 60000 65536"/>
              <a:gd name="T12" fmla="*/ 0 w 141"/>
              <a:gd name="T13" fmla="*/ 0 h 154"/>
              <a:gd name="T14" fmla="*/ 141 w 141"/>
              <a:gd name="T15" fmla="*/ 154 h 154"/>
            </a:gdLst>
            <a:ahLst/>
            <a:cxnLst>
              <a:cxn ang="T8">
                <a:pos x="T0" y="T1"/>
              </a:cxn>
              <a:cxn ang="T9">
                <a:pos x="T2" y="T3"/>
              </a:cxn>
              <a:cxn ang="T10">
                <a:pos x="T4" y="T5"/>
              </a:cxn>
              <a:cxn ang="T11">
                <a:pos x="T6" y="T7"/>
              </a:cxn>
            </a:cxnLst>
            <a:rect l="T12" t="T13" r="T14" b="T15"/>
            <a:pathLst>
              <a:path w="141" h="154">
                <a:moveTo>
                  <a:pt x="0" y="0"/>
                </a:moveTo>
                <a:lnTo>
                  <a:pt x="141" y="77"/>
                </a:lnTo>
                <a:lnTo>
                  <a:pt x="0" y="15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61518" name="Freeform 46"/>
          <p:cNvSpPr/>
          <p:nvPr/>
        </p:nvSpPr>
        <p:spPr bwMode="auto">
          <a:xfrm>
            <a:off x="3289300" y="4814540"/>
            <a:ext cx="966788" cy="1368425"/>
          </a:xfrm>
          <a:custGeom>
            <a:avLst/>
            <a:gdLst>
              <a:gd name="T0" fmla="*/ 2147483646 w 1217"/>
              <a:gd name="T1" fmla="*/ 0 h 1724"/>
              <a:gd name="T2" fmla="*/ 2147483646 w 1217"/>
              <a:gd name="T3" fmla="*/ 0 h 1724"/>
              <a:gd name="T4" fmla="*/ 2147483646 w 1217"/>
              <a:gd name="T5" fmla="*/ 0 h 1724"/>
              <a:gd name="T6" fmla="*/ 2147483646 w 1217"/>
              <a:gd name="T7" fmla="*/ 2147483646 h 1724"/>
              <a:gd name="T8" fmla="*/ 2147483646 w 1217"/>
              <a:gd name="T9" fmla="*/ 2147483646 h 1724"/>
              <a:gd name="T10" fmla="*/ 2147483646 w 1217"/>
              <a:gd name="T11" fmla="*/ 2147483646 h 1724"/>
              <a:gd name="T12" fmla="*/ 2147483646 w 1217"/>
              <a:gd name="T13" fmla="*/ 2147483646 h 1724"/>
              <a:gd name="T14" fmla="*/ 2147483646 w 1217"/>
              <a:gd name="T15" fmla="*/ 2147483646 h 1724"/>
              <a:gd name="T16" fmla="*/ 2147483646 w 1217"/>
              <a:gd name="T17" fmla="*/ 2147483646 h 1724"/>
              <a:gd name="T18" fmla="*/ 2147483646 w 1217"/>
              <a:gd name="T19" fmla="*/ 2147483646 h 1724"/>
              <a:gd name="T20" fmla="*/ 2147483646 w 1217"/>
              <a:gd name="T21" fmla="*/ 2147483646 h 1724"/>
              <a:gd name="T22" fmla="*/ 2147483646 w 1217"/>
              <a:gd name="T23" fmla="*/ 2147483646 h 1724"/>
              <a:gd name="T24" fmla="*/ 2147483646 w 1217"/>
              <a:gd name="T25" fmla="*/ 2147483646 h 1724"/>
              <a:gd name="T26" fmla="*/ 2147483646 w 1217"/>
              <a:gd name="T27" fmla="*/ 2147483646 h 1724"/>
              <a:gd name="T28" fmla="*/ 2147483646 w 1217"/>
              <a:gd name="T29" fmla="*/ 2147483646 h 1724"/>
              <a:gd name="T30" fmla="*/ 2147483646 w 1217"/>
              <a:gd name="T31" fmla="*/ 2147483646 h 1724"/>
              <a:gd name="T32" fmla="*/ 2147483646 w 1217"/>
              <a:gd name="T33" fmla="*/ 2147483646 h 1724"/>
              <a:gd name="T34" fmla="*/ 2147483646 w 1217"/>
              <a:gd name="T35" fmla="*/ 2147483646 h 1724"/>
              <a:gd name="T36" fmla="*/ 2147483646 w 1217"/>
              <a:gd name="T37" fmla="*/ 2147483646 h 1724"/>
              <a:gd name="T38" fmla="*/ 2147483646 w 1217"/>
              <a:gd name="T39" fmla="*/ 2147483646 h 1724"/>
              <a:gd name="T40" fmla="*/ 2147483646 w 1217"/>
              <a:gd name="T41" fmla="*/ 2147483646 h 1724"/>
              <a:gd name="T42" fmla="*/ 2147483646 w 1217"/>
              <a:gd name="T43" fmla="*/ 2147483646 h 1724"/>
              <a:gd name="T44" fmla="*/ 2147483646 w 1217"/>
              <a:gd name="T45" fmla="*/ 2147483646 h 1724"/>
              <a:gd name="T46" fmla="*/ 2147483646 w 1217"/>
              <a:gd name="T47" fmla="*/ 2147483646 h 1724"/>
              <a:gd name="T48" fmla="*/ 2147483646 w 1217"/>
              <a:gd name="T49" fmla="*/ 2147483646 h 1724"/>
              <a:gd name="T50" fmla="*/ 2147483646 w 1217"/>
              <a:gd name="T51" fmla="*/ 2147483646 h 1724"/>
              <a:gd name="T52" fmla="*/ 2147483646 w 1217"/>
              <a:gd name="T53" fmla="*/ 2147483646 h 1724"/>
              <a:gd name="T54" fmla="*/ 2147483646 w 1217"/>
              <a:gd name="T55" fmla="*/ 2147483646 h 1724"/>
              <a:gd name="T56" fmla="*/ 2147483646 w 1217"/>
              <a:gd name="T57" fmla="*/ 2147483646 h 1724"/>
              <a:gd name="T58" fmla="*/ 2147483646 w 1217"/>
              <a:gd name="T59" fmla="*/ 2147483646 h 1724"/>
              <a:gd name="T60" fmla="*/ 2147483646 w 1217"/>
              <a:gd name="T61" fmla="*/ 2147483646 h 1724"/>
              <a:gd name="T62" fmla="*/ 2147483646 w 1217"/>
              <a:gd name="T63" fmla="*/ 2147483646 h 1724"/>
              <a:gd name="T64" fmla="*/ 2147483646 w 1217"/>
              <a:gd name="T65" fmla="*/ 2147483646 h 1724"/>
              <a:gd name="T66" fmla="*/ 2147483646 w 1217"/>
              <a:gd name="T67" fmla="*/ 2147483646 h 1724"/>
              <a:gd name="T68" fmla="*/ 2147483646 w 1217"/>
              <a:gd name="T69" fmla="*/ 2147483646 h 1724"/>
              <a:gd name="T70" fmla="*/ 2147483646 w 1217"/>
              <a:gd name="T71" fmla="*/ 2147483646 h 1724"/>
              <a:gd name="T72" fmla="*/ 2147483646 w 1217"/>
              <a:gd name="T73" fmla="*/ 2147483646 h 1724"/>
              <a:gd name="T74" fmla="*/ 2147483646 w 1217"/>
              <a:gd name="T75" fmla="*/ 2147483646 h 1724"/>
              <a:gd name="T76" fmla="*/ 2147483646 w 1217"/>
              <a:gd name="T77" fmla="*/ 2147483646 h 1724"/>
              <a:gd name="T78" fmla="*/ 2147483646 w 1217"/>
              <a:gd name="T79" fmla="*/ 2147483646 h 1724"/>
              <a:gd name="T80" fmla="*/ 2147483646 w 1217"/>
              <a:gd name="T81" fmla="*/ 2147483646 h 1724"/>
              <a:gd name="T82" fmla="*/ 2147483646 w 1217"/>
              <a:gd name="T83" fmla="*/ 2147483646 h 1724"/>
              <a:gd name="T84" fmla="*/ 2147483646 w 1217"/>
              <a:gd name="T85" fmla="*/ 2147483646 h 1724"/>
              <a:gd name="T86" fmla="*/ 2147483646 w 1217"/>
              <a:gd name="T87" fmla="*/ 2147483646 h 1724"/>
              <a:gd name="T88" fmla="*/ 2147483646 w 1217"/>
              <a:gd name="T89" fmla="*/ 2147483646 h 1724"/>
              <a:gd name="T90" fmla="*/ 0 w 1217"/>
              <a:gd name="T91" fmla="*/ 2147483646 h 172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217"/>
              <a:gd name="T139" fmla="*/ 0 h 1724"/>
              <a:gd name="T140" fmla="*/ 1217 w 1217"/>
              <a:gd name="T141" fmla="*/ 1724 h 1724"/>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217" h="1724">
                <a:moveTo>
                  <a:pt x="1162" y="0"/>
                </a:moveTo>
                <a:lnTo>
                  <a:pt x="1189" y="0"/>
                </a:lnTo>
                <a:lnTo>
                  <a:pt x="1195" y="0"/>
                </a:lnTo>
                <a:lnTo>
                  <a:pt x="1200" y="2"/>
                </a:lnTo>
                <a:lnTo>
                  <a:pt x="1205" y="6"/>
                </a:lnTo>
                <a:lnTo>
                  <a:pt x="1209" y="10"/>
                </a:lnTo>
                <a:lnTo>
                  <a:pt x="1212" y="13"/>
                </a:lnTo>
                <a:lnTo>
                  <a:pt x="1215" y="19"/>
                </a:lnTo>
                <a:lnTo>
                  <a:pt x="1217" y="24"/>
                </a:lnTo>
                <a:lnTo>
                  <a:pt x="1217" y="32"/>
                </a:lnTo>
                <a:lnTo>
                  <a:pt x="1217" y="1254"/>
                </a:lnTo>
                <a:lnTo>
                  <a:pt x="1217" y="1280"/>
                </a:lnTo>
                <a:lnTo>
                  <a:pt x="1215" y="1304"/>
                </a:lnTo>
                <a:lnTo>
                  <a:pt x="1212" y="1326"/>
                </a:lnTo>
                <a:lnTo>
                  <a:pt x="1209" y="1350"/>
                </a:lnTo>
                <a:lnTo>
                  <a:pt x="1204" y="1372"/>
                </a:lnTo>
                <a:lnTo>
                  <a:pt x="1199" y="1396"/>
                </a:lnTo>
                <a:lnTo>
                  <a:pt x="1192" y="1416"/>
                </a:lnTo>
                <a:lnTo>
                  <a:pt x="1183" y="1438"/>
                </a:lnTo>
                <a:lnTo>
                  <a:pt x="1175" y="1458"/>
                </a:lnTo>
                <a:lnTo>
                  <a:pt x="1165" y="1478"/>
                </a:lnTo>
                <a:lnTo>
                  <a:pt x="1155" y="1499"/>
                </a:lnTo>
                <a:lnTo>
                  <a:pt x="1143" y="1519"/>
                </a:lnTo>
                <a:lnTo>
                  <a:pt x="1132" y="1537"/>
                </a:lnTo>
                <a:lnTo>
                  <a:pt x="1120" y="1554"/>
                </a:lnTo>
                <a:lnTo>
                  <a:pt x="1106" y="1572"/>
                </a:lnTo>
                <a:lnTo>
                  <a:pt x="1091" y="1587"/>
                </a:lnTo>
                <a:lnTo>
                  <a:pt x="1076" y="1603"/>
                </a:lnTo>
                <a:lnTo>
                  <a:pt x="1061" y="1618"/>
                </a:lnTo>
                <a:lnTo>
                  <a:pt x="1044" y="1633"/>
                </a:lnTo>
                <a:lnTo>
                  <a:pt x="1028" y="1645"/>
                </a:lnTo>
                <a:lnTo>
                  <a:pt x="1011" y="1656"/>
                </a:lnTo>
                <a:lnTo>
                  <a:pt x="992" y="1668"/>
                </a:lnTo>
                <a:lnTo>
                  <a:pt x="974" y="1679"/>
                </a:lnTo>
                <a:lnTo>
                  <a:pt x="956" y="1688"/>
                </a:lnTo>
                <a:lnTo>
                  <a:pt x="935" y="1697"/>
                </a:lnTo>
                <a:lnTo>
                  <a:pt x="915" y="1704"/>
                </a:lnTo>
                <a:lnTo>
                  <a:pt x="895" y="1710"/>
                </a:lnTo>
                <a:lnTo>
                  <a:pt x="875" y="1715"/>
                </a:lnTo>
                <a:lnTo>
                  <a:pt x="853" y="1719"/>
                </a:lnTo>
                <a:lnTo>
                  <a:pt x="831" y="1723"/>
                </a:lnTo>
                <a:lnTo>
                  <a:pt x="810" y="1724"/>
                </a:lnTo>
                <a:lnTo>
                  <a:pt x="788" y="1724"/>
                </a:lnTo>
                <a:lnTo>
                  <a:pt x="0" y="1724"/>
                </a:lnTo>
              </a:path>
            </a:pathLst>
          </a:custGeom>
          <a:noFill/>
          <a:ln w="38100">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45" name="Freeform 47"/>
          <p:cNvSpPr/>
          <p:nvPr/>
        </p:nvSpPr>
        <p:spPr bwMode="auto">
          <a:xfrm>
            <a:off x="3190875" y="6121053"/>
            <a:ext cx="111125" cy="122237"/>
          </a:xfrm>
          <a:custGeom>
            <a:avLst/>
            <a:gdLst>
              <a:gd name="T0" fmla="*/ 2147483646 w 141"/>
              <a:gd name="T1" fmla="*/ 2147483646 h 155"/>
              <a:gd name="T2" fmla="*/ 0 w 141"/>
              <a:gd name="T3" fmla="*/ 2147483646 h 155"/>
              <a:gd name="T4" fmla="*/ 2147483646 w 141"/>
              <a:gd name="T5" fmla="*/ 0 h 155"/>
              <a:gd name="T6" fmla="*/ 2147483646 w 141"/>
              <a:gd name="T7" fmla="*/ 2147483646 h 155"/>
              <a:gd name="T8" fmla="*/ 0 60000 65536"/>
              <a:gd name="T9" fmla="*/ 0 60000 65536"/>
              <a:gd name="T10" fmla="*/ 0 60000 65536"/>
              <a:gd name="T11" fmla="*/ 0 60000 65536"/>
              <a:gd name="T12" fmla="*/ 0 w 141"/>
              <a:gd name="T13" fmla="*/ 0 h 155"/>
              <a:gd name="T14" fmla="*/ 141 w 141"/>
              <a:gd name="T15" fmla="*/ 155 h 155"/>
            </a:gdLst>
            <a:ahLst/>
            <a:cxnLst>
              <a:cxn ang="T8">
                <a:pos x="T0" y="T1"/>
              </a:cxn>
              <a:cxn ang="T9">
                <a:pos x="T2" y="T3"/>
              </a:cxn>
              <a:cxn ang="T10">
                <a:pos x="T4" y="T5"/>
              </a:cxn>
              <a:cxn ang="T11">
                <a:pos x="T6" y="T7"/>
              </a:cxn>
            </a:cxnLst>
            <a:rect l="T12" t="T13" r="T14" b="T15"/>
            <a:pathLst>
              <a:path w="141" h="155">
                <a:moveTo>
                  <a:pt x="141" y="155"/>
                </a:moveTo>
                <a:lnTo>
                  <a:pt x="0" y="77"/>
                </a:lnTo>
                <a:lnTo>
                  <a:pt x="141" y="0"/>
                </a:lnTo>
                <a:lnTo>
                  <a:pt x="141" y="155"/>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61520" name="Freeform 48"/>
          <p:cNvSpPr/>
          <p:nvPr/>
        </p:nvSpPr>
        <p:spPr bwMode="auto">
          <a:xfrm>
            <a:off x="5213350" y="3735040"/>
            <a:ext cx="1873250" cy="669925"/>
          </a:xfrm>
          <a:custGeom>
            <a:avLst/>
            <a:gdLst>
              <a:gd name="T0" fmla="*/ 0 w 2360"/>
              <a:gd name="T1" fmla="*/ 2147483646 h 842"/>
              <a:gd name="T2" fmla="*/ 2147483646 w 2360"/>
              <a:gd name="T3" fmla="*/ 2147483646 h 842"/>
              <a:gd name="T4" fmla="*/ 2147483646 w 2360"/>
              <a:gd name="T5" fmla="*/ 2147483646 h 842"/>
              <a:gd name="T6" fmla="*/ 2147483646 w 2360"/>
              <a:gd name="T7" fmla="*/ 2147483646 h 842"/>
              <a:gd name="T8" fmla="*/ 2147483646 w 2360"/>
              <a:gd name="T9" fmla="*/ 2147483646 h 842"/>
              <a:gd name="T10" fmla="*/ 2147483646 w 2360"/>
              <a:gd name="T11" fmla="*/ 2147483646 h 842"/>
              <a:gd name="T12" fmla="*/ 2147483646 w 2360"/>
              <a:gd name="T13" fmla="*/ 2147483646 h 842"/>
              <a:gd name="T14" fmla="*/ 2147483646 w 2360"/>
              <a:gd name="T15" fmla="*/ 2147483646 h 842"/>
              <a:gd name="T16" fmla="*/ 2147483646 w 2360"/>
              <a:gd name="T17" fmla="*/ 2147483646 h 842"/>
              <a:gd name="T18" fmla="*/ 2147483646 w 2360"/>
              <a:gd name="T19" fmla="*/ 2147483646 h 842"/>
              <a:gd name="T20" fmla="*/ 2147483646 w 2360"/>
              <a:gd name="T21" fmla="*/ 2147483646 h 842"/>
              <a:gd name="T22" fmla="*/ 2147483646 w 2360"/>
              <a:gd name="T23" fmla="*/ 2147483646 h 842"/>
              <a:gd name="T24" fmla="*/ 2147483646 w 2360"/>
              <a:gd name="T25" fmla="*/ 2147483646 h 842"/>
              <a:gd name="T26" fmla="*/ 2147483646 w 2360"/>
              <a:gd name="T27" fmla="*/ 2147483646 h 842"/>
              <a:gd name="T28" fmla="*/ 2147483646 w 2360"/>
              <a:gd name="T29" fmla="*/ 2147483646 h 842"/>
              <a:gd name="T30" fmla="*/ 2147483646 w 2360"/>
              <a:gd name="T31" fmla="*/ 2147483646 h 842"/>
              <a:gd name="T32" fmla="*/ 2147483646 w 2360"/>
              <a:gd name="T33" fmla="*/ 2147483646 h 842"/>
              <a:gd name="T34" fmla="*/ 2147483646 w 2360"/>
              <a:gd name="T35" fmla="*/ 2147483646 h 842"/>
              <a:gd name="T36" fmla="*/ 2147483646 w 2360"/>
              <a:gd name="T37" fmla="*/ 2147483646 h 842"/>
              <a:gd name="T38" fmla="*/ 2147483646 w 2360"/>
              <a:gd name="T39" fmla="*/ 2147483646 h 842"/>
              <a:gd name="T40" fmla="*/ 2147483646 w 2360"/>
              <a:gd name="T41" fmla="*/ 2147483646 h 842"/>
              <a:gd name="T42" fmla="*/ 2147483646 w 2360"/>
              <a:gd name="T43" fmla="*/ 2147483646 h 842"/>
              <a:gd name="T44" fmla="*/ 2147483646 w 2360"/>
              <a:gd name="T45" fmla="*/ 2147483646 h 842"/>
              <a:gd name="T46" fmla="*/ 2147483646 w 2360"/>
              <a:gd name="T47" fmla="*/ 2147483646 h 842"/>
              <a:gd name="T48" fmla="*/ 2147483646 w 2360"/>
              <a:gd name="T49" fmla="*/ 2147483646 h 842"/>
              <a:gd name="T50" fmla="*/ 2147483646 w 2360"/>
              <a:gd name="T51" fmla="*/ 2147483646 h 842"/>
              <a:gd name="T52" fmla="*/ 2147483646 w 2360"/>
              <a:gd name="T53" fmla="*/ 2147483646 h 842"/>
              <a:gd name="T54" fmla="*/ 2147483646 w 2360"/>
              <a:gd name="T55" fmla="*/ 2147483646 h 842"/>
              <a:gd name="T56" fmla="*/ 2147483646 w 2360"/>
              <a:gd name="T57" fmla="*/ 2147483646 h 842"/>
              <a:gd name="T58" fmla="*/ 2147483646 w 2360"/>
              <a:gd name="T59" fmla="*/ 2147483646 h 842"/>
              <a:gd name="T60" fmla="*/ 2147483646 w 2360"/>
              <a:gd name="T61" fmla="*/ 2147483646 h 842"/>
              <a:gd name="T62" fmla="*/ 2147483646 w 2360"/>
              <a:gd name="T63" fmla="*/ 2147483646 h 842"/>
              <a:gd name="T64" fmla="*/ 2147483646 w 2360"/>
              <a:gd name="T65" fmla="*/ 2147483646 h 842"/>
              <a:gd name="T66" fmla="*/ 2147483646 w 2360"/>
              <a:gd name="T67" fmla="*/ 0 h 84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360"/>
              <a:gd name="T103" fmla="*/ 0 h 842"/>
              <a:gd name="T104" fmla="*/ 2360 w 2360"/>
              <a:gd name="T105" fmla="*/ 842 h 84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360" h="842">
                <a:moveTo>
                  <a:pt x="0" y="842"/>
                </a:moveTo>
                <a:lnTo>
                  <a:pt x="2137" y="842"/>
                </a:lnTo>
                <a:lnTo>
                  <a:pt x="2149" y="841"/>
                </a:lnTo>
                <a:lnTo>
                  <a:pt x="2161" y="841"/>
                </a:lnTo>
                <a:lnTo>
                  <a:pt x="2171" y="839"/>
                </a:lnTo>
                <a:lnTo>
                  <a:pt x="2183" y="837"/>
                </a:lnTo>
                <a:lnTo>
                  <a:pt x="2193" y="833"/>
                </a:lnTo>
                <a:lnTo>
                  <a:pt x="2205" y="831"/>
                </a:lnTo>
                <a:lnTo>
                  <a:pt x="2215" y="826"/>
                </a:lnTo>
                <a:lnTo>
                  <a:pt x="2225" y="822"/>
                </a:lnTo>
                <a:lnTo>
                  <a:pt x="2235" y="817"/>
                </a:lnTo>
                <a:lnTo>
                  <a:pt x="2245" y="811"/>
                </a:lnTo>
                <a:lnTo>
                  <a:pt x="2253" y="806"/>
                </a:lnTo>
                <a:lnTo>
                  <a:pt x="2263" y="800"/>
                </a:lnTo>
                <a:lnTo>
                  <a:pt x="2280" y="786"/>
                </a:lnTo>
                <a:lnTo>
                  <a:pt x="2295" y="771"/>
                </a:lnTo>
                <a:lnTo>
                  <a:pt x="2310" y="752"/>
                </a:lnTo>
                <a:lnTo>
                  <a:pt x="2324" y="734"/>
                </a:lnTo>
                <a:lnTo>
                  <a:pt x="2329" y="725"/>
                </a:lnTo>
                <a:lnTo>
                  <a:pt x="2334" y="714"/>
                </a:lnTo>
                <a:lnTo>
                  <a:pt x="2339" y="703"/>
                </a:lnTo>
                <a:lnTo>
                  <a:pt x="2344" y="692"/>
                </a:lnTo>
                <a:lnTo>
                  <a:pt x="2347" y="681"/>
                </a:lnTo>
                <a:lnTo>
                  <a:pt x="2350" y="670"/>
                </a:lnTo>
                <a:lnTo>
                  <a:pt x="2354" y="659"/>
                </a:lnTo>
                <a:lnTo>
                  <a:pt x="2357" y="646"/>
                </a:lnTo>
                <a:lnTo>
                  <a:pt x="2359" y="635"/>
                </a:lnTo>
                <a:lnTo>
                  <a:pt x="2360" y="622"/>
                </a:lnTo>
                <a:lnTo>
                  <a:pt x="2360" y="609"/>
                </a:lnTo>
                <a:lnTo>
                  <a:pt x="2360" y="598"/>
                </a:lnTo>
                <a:lnTo>
                  <a:pt x="2360" y="0"/>
                </a:lnTo>
              </a:path>
            </a:pathLst>
          </a:custGeom>
          <a:noFill/>
          <a:ln w="38100">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5647" name="Freeform 49"/>
          <p:cNvSpPr/>
          <p:nvPr/>
        </p:nvSpPr>
        <p:spPr bwMode="auto">
          <a:xfrm>
            <a:off x="7031038" y="3628678"/>
            <a:ext cx="111125" cy="122237"/>
          </a:xfrm>
          <a:custGeom>
            <a:avLst/>
            <a:gdLst>
              <a:gd name="T0" fmla="*/ 0 w 141"/>
              <a:gd name="T1" fmla="*/ 2147483646 h 154"/>
              <a:gd name="T2" fmla="*/ 2147483646 w 141"/>
              <a:gd name="T3" fmla="*/ 0 h 154"/>
              <a:gd name="T4" fmla="*/ 2147483646 w 141"/>
              <a:gd name="T5" fmla="*/ 2147483646 h 154"/>
              <a:gd name="T6" fmla="*/ 0 w 141"/>
              <a:gd name="T7" fmla="*/ 2147483646 h 154"/>
              <a:gd name="T8" fmla="*/ 0 60000 65536"/>
              <a:gd name="T9" fmla="*/ 0 60000 65536"/>
              <a:gd name="T10" fmla="*/ 0 60000 65536"/>
              <a:gd name="T11" fmla="*/ 0 60000 65536"/>
              <a:gd name="T12" fmla="*/ 0 w 141"/>
              <a:gd name="T13" fmla="*/ 0 h 154"/>
              <a:gd name="T14" fmla="*/ 141 w 141"/>
              <a:gd name="T15" fmla="*/ 154 h 154"/>
            </a:gdLst>
            <a:ahLst/>
            <a:cxnLst>
              <a:cxn ang="T8">
                <a:pos x="T0" y="T1"/>
              </a:cxn>
              <a:cxn ang="T9">
                <a:pos x="T2" y="T3"/>
              </a:cxn>
              <a:cxn ang="T10">
                <a:pos x="T4" y="T5"/>
              </a:cxn>
              <a:cxn ang="T11">
                <a:pos x="T6" y="T7"/>
              </a:cxn>
            </a:cxnLst>
            <a:rect l="T12" t="T13" r="T14" b="T15"/>
            <a:pathLst>
              <a:path w="141" h="154">
                <a:moveTo>
                  <a:pt x="0" y="154"/>
                </a:moveTo>
                <a:lnTo>
                  <a:pt x="70" y="0"/>
                </a:lnTo>
                <a:lnTo>
                  <a:pt x="141" y="154"/>
                </a:lnTo>
                <a:lnTo>
                  <a:pt x="0" y="154"/>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5648" name="Rectangle 50"/>
          <p:cNvSpPr>
            <a:spLocks noChangeArrowheads="1"/>
          </p:cNvSpPr>
          <p:nvPr/>
        </p:nvSpPr>
        <p:spPr bwMode="auto">
          <a:xfrm>
            <a:off x="4859338" y="5733703"/>
            <a:ext cx="1257300" cy="320675"/>
          </a:xfrm>
          <a:prstGeom prst="rect">
            <a:avLst/>
          </a:prstGeom>
          <a:solidFill>
            <a:srgbClr val="99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FontTx/>
              <a:buNone/>
            </a:pPr>
            <a:r>
              <a:rPr kumimoji="1" lang="en-US" altLang="zh-CN" sz="2100">
                <a:solidFill>
                  <a:srgbClr val="FF0000"/>
                </a:solidFill>
                <a:latin typeface="Tahoma" panose="020B0604030504040204" pitchFamily="34" charset="0"/>
                <a:ea typeface="隶书" panose="02010509060101010101" pitchFamily="49" charset="-122"/>
              </a:rPr>
              <a:t>do_exit()</a:t>
            </a:r>
            <a:endParaRPr kumimoji="1" lang="en-US" altLang="zh-CN" sz="2100">
              <a:solidFill>
                <a:srgbClr val="FF0000"/>
              </a:solidFill>
              <a:latin typeface="Tahoma" panose="020B0604030504040204" pitchFamily="34" charset="0"/>
              <a:ea typeface="隶书" panose="02010509060101010101" pitchFamily="49" charset="-122"/>
            </a:endParaRPr>
          </a:p>
        </p:txBody>
      </p:sp>
      <p:sp>
        <p:nvSpPr>
          <p:cNvPr id="25649" name="Rectangle 51"/>
          <p:cNvSpPr>
            <a:spLocks noChangeArrowheads="1"/>
          </p:cNvSpPr>
          <p:nvPr/>
        </p:nvSpPr>
        <p:spPr bwMode="auto">
          <a:xfrm>
            <a:off x="2916238" y="5660678"/>
            <a:ext cx="88423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FontTx/>
              <a:buNone/>
            </a:pPr>
            <a:r>
              <a:rPr kumimoji="1" lang="en-US" altLang="zh-CN" sz="1300">
                <a:solidFill>
                  <a:srgbClr val="FF0000"/>
                </a:solidFill>
                <a:latin typeface="Tahoma" panose="020B0604030504040204" pitchFamily="34" charset="0"/>
                <a:ea typeface="隶书" panose="02010509060101010101" pitchFamily="49" charset="-122"/>
              </a:rPr>
              <a:t>schedule()</a:t>
            </a:r>
            <a:endParaRPr kumimoji="1" lang="en-US" altLang="zh-CN" sz="2400">
              <a:solidFill>
                <a:srgbClr val="FF0000"/>
              </a:solidFill>
              <a:latin typeface="Times New Roman" panose="02020603050405020304" pitchFamily="18" charset="0"/>
              <a:ea typeface="隶书" panose="02010509060101010101" pitchFamily="49" charset="-122"/>
            </a:endParaRPr>
          </a:p>
        </p:txBody>
      </p:sp>
      <p:sp>
        <p:nvSpPr>
          <p:cNvPr id="25650" name="Rectangle 52"/>
          <p:cNvSpPr>
            <a:spLocks noChangeArrowheads="1"/>
          </p:cNvSpPr>
          <p:nvPr/>
        </p:nvSpPr>
        <p:spPr bwMode="auto">
          <a:xfrm>
            <a:off x="2843213" y="5444778"/>
            <a:ext cx="6762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FontTx/>
              <a:buNone/>
            </a:pPr>
            <a:r>
              <a:rPr kumimoji="1" lang="en-US" altLang="zh-CN" sz="1300">
                <a:solidFill>
                  <a:srgbClr val="000000"/>
                </a:solidFill>
                <a:latin typeface="Tahoma" panose="020B0604030504040204" pitchFamily="34" charset="0"/>
                <a:ea typeface="隶书" panose="02010509060101010101" pitchFamily="49" charset="-122"/>
              </a:rPr>
              <a:t>ptrace()</a:t>
            </a:r>
            <a:endParaRPr kumimoji="1" lang="en-US" altLang="zh-CN" sz="2400">
              <a:solidFill>
                <a:schemeClr val="tx1"/>
              </a:solidFill>
              <a:latin typeface="Times New Roman" panose="02020603050405020304" pitchFamily="18" charset="0"/>
              <a:ea typeface="隶书" panose="02010509060101010101" pitchFamily="49" charset="-122"/>
            </a:endParaRPr>
          </a:p>
        </p:txBody>
      </p:sp>
      <p:sp>
        <p:nvSpPr>
          <p:cNvPr id="25651" name="Rectangle 53"/>
          <p:cNvSpPr>
            <a:spLocks noChangeArrowheads="1"/>
          </p:cNvSpPr>
          <p:nvPr/>
        </p:nvSpPr>
        <p:spPr bwMode="auto">
          <a:xfrm>
            <a:off x="3132138" y="3128615"/>
            <a:ext cx="1017587"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FontTx/>
              <a:buNone/>
            </a:pPr>
            <a:r>
              <a:rPr kumimoji="1" lang="en-US" altLang="zh-CN" sz="1500">
                <a:solidFill>
                  <a:srgbClr val="FF0000"/>
                </a:solidFill>
                <a:latin typeface="Tahoma" panose="020B0604030504040204" pitchFamily="34" charset="0"/>
                <a:ea typeface="隶书" panose="02010509060101010101" pitchFamily="49" charset="-122"/>
              </a:rPr>
              <a:t>schedule()</a:t>
            </a:r>
            <a:endParaRPr kumimoji="1" lang="en-US" altLang="zh-CN">
              <a:solidFill>
                <a:srgbClr val="FF0000"/>
              </a:solidFill>
              <a:latin typeface="Times New Roman" panose="02020603050405020304" pitchFamily="18" charset="0"/>
              <a:ea typeface="隶书" panose="02010509060101010101" pitchFamily="49" charset="-122"/>
            </a:endParaRPr>
          </a:p>
        </p:txBody>
      </p:sp>
      <p:sp>
        <p:nvSpPr>
          <p:cNvPr id="25652" name="Rectangle 54"/>
          <p:cNvSpPr>
            <a:spLocks noChangeArrowheads="1"/>
          </p:cNvSpPr>
          <p:nvPr/>
        </p:nvSpPr>
        <p:spPr bwMode="auto">
          <a:xfrm>
            <a:off x="4816475" y="3234978"/>
            <a:ext cx="825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FontTx/>
              <a:buNone/>
            </a:pPr>
            <a:r>
              <a:rPr kumimoji="1" lang="zh-CN" altLang="en-US" sz="1300">
                <a:solidFill>
                  <a:srgbClr val="000000"/>
                </a:solidFill>
                <a:latin typeface="宋体" panose="02010600030101010101" pitchFamily="2" charset="-122"/>
              </a:rPr>
              <a:t>当前进程</a:t>
            </a:r>
            <a:endParaRPr kumimoji="1" lang="zh-CN" altLang="en-US" sz="1300">
              <a:solidFill>
                <a:srgbClr val="000000"/>
              </a:solidFill>
              <a:latin typeface="宋体" panose="02010600030101010101" pitchFamily="2" charset="-122"/>
            </a:endParaRPr>
          </a:p>
          <a:p>
            <a:pPr algn="ctr">
              <a:spcBef>
                <a:spcPct val="0"/>
              </a:spcBef>
              <a:buClrTx/>
              <a:buFontTx/>
              <a:buNone/>
            </a:pPr>
            <a:r>
              <a:rPr kumimoji="1" lang="zh-CN" altLang="en-US" sz="1300">
                <a:solidFill>
                  <a:srgbClr val="000000"/>
                </a:solidFill>
                <a:latin typeface="宋体" panose="02010600030101010101" pitchFamily="2" charset="-122"/>
              </a:rPr>
              <a:t>时间片耗尽</a:t>
            </a:r>
            <a:endParaRPr kumimoji="1" lang="zh-CN" altLang="en-US" sz="2400">
              <a:solidFill>
                <a:schemeClr val="tx1"/>
              </a:solidFill>
              <a:latin typeface="Times New Roman" panose="02020603050405020304" pitchFamily="18" charset="0"/>
              <a:ea typeface="隶书" panose="02010509060101010101" pitchFamily="49" charset="-122"/>
            </a:endParaRPr>
          </a:p>
        </p:txBody>
      </p:sp>
      <p:grpSp>
        <p:nvGrpSpPr>
          <p:cNvPr id="25653" name="Group 75"/>
          <p:cNvGrpSpPr/>
          <p:nvPr/>
        </p:nvGrpSpPr>
        <p:grpSpPr bwMode="auto">
          <a:xfrm>
            <a:off x="1370013" y="4355753"/>
            <a:ext cx="990600" cy="568325"/>
            <a:chOff x="863" y="2245"/>
            <a:chExt cx="624" cy="358"/>
          </a:xfrm>
        </p:grpSpPr>
        <p:sp>
          <p:nvSpPr>
            <p:cNvPr id="25672" name="Rectangle 55"/>
            <p:cNvSpPr>
              <a:spLocks noChangeArrowheads="1"/>
            </p:cNvSpPr>
            <p:nvPr/>
          </p:nvSpPr>
          <p:spPr bwMode="auto">
            <a:xfrm>
              <a:off x="863" y="2245"/>
              <a:ext cx="624"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FontTx/>
                <a:buNone/>
              </a:pPr>
              <a:r>
                <a:rPr kumimoji="1" lang="zh-CN" altLang="en-US" sz="1300">
                  <a:solidFill>
                    <a:srgbClr val="000000"/>
                  </a:solidFill>
                  <a:latin typeface="宋体" panose="02010600030101010101" pitchFamily="2" charset="-122"/>
                </a:rPr>
                <a:t>等待资源到位</a:t>
              </a:r>
              <a:endParaRPr kumimoji="1" lang="zh-CN" altLang="en-US" sz="2400">
                <a:solidFill>
                  <a:schemeClr val="tx1"/>
                </a:solidFill>
                <a:latin typeface="Times New Roman" panose="02020603050405020304" pitchFamily="18" charset="0"/>
                <a:ea typeface="隶书" panose="02010509060101010101" pitchFamily="49" charset="-122"/>
              </a:endParaRPr>
            </a:p>
          </p:txBody>
        </p:sp>
        <p:sp>
          <p:nvSpPr>
            <p:cNvPr id="25673" name="Rectangle 56"/>
            <p:cNvSpPr>
              <a:spLocks noChangeArrowheads="1"/>
            </p:cNvSpPr>
            <p:nvPr/>
          </p:nvSpPr>
          <p:spPr bwMode="auto">
            <a:xfrm>
              <a:off x="889" y="2353"/>
              <a:ext cx="56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FontTx/>
                <a:buNone/>
              </a:pPr>
              <a:r>
                <a:rPr kumimoji="1" lang="en-US" altLang="zh-CN" sz="1300">
                  <a:solidFill>
                    <a:srgbClr val="FF0000"/>
                  </a:solidFill>
                  <a:latin typeface="Tahoma" panose="020B0604030504040204" pitchFamily="34" charset="0"/>
                  <a:ea typeface="隶书" panose="02010509060101010101" pitchFamily="49" charset="-122"/>
                </a:rPr>
                <a:t>sleep_on()</a:t>
              </a:r>
              <a:endParaRPr kumimoji="1" lang="en-US" altLang="zh-CN" sz="2400">
                <a:solidFill>
                  <a:srgbClr val="FF0000"/>
                </a:solidFill>
                <a:latin typeface="Times New Roman" panose="02020603050405020304" pitchFamily="18" charset="0"/>
                <a:ea typeface="隶书" panose="02010509060101010101" pitchFamily="49" charset="-122"/>
              </a:endParaRPr>
            </a:p>
          </p:txBody>
        </p:sp>
        <p:sp>
          <p:nvSpPr>
            <p:cNvPr id="25674" name="Rectangle 57"/>
            <p:cNvSpPr>
              <a:spLocks noChangeArrowheads="1"/>
            </p:cNvSpPr>
            <p:nvPr/>
          </p:nvSpPr>
          <p:spPr bwMode="auto">
            <a:xfrm>
              <a:off x="894" y="2478"/>
              <a:ext cx="55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FontTx/>
                <a:buNone/>
              </a:pPr>
              <a:r>
                <a:rPr kumimoji="1" lang="en-US" altLang="zh-CN" sz="1300">
                  <a:solidFill>
                    <a:srgbClr val="FF0000"/>
                  </a:solidFill>
                  <a:latin typeface="Tahoma" panose="020B0604030504040204" pitchFamily="34" charset="0"/>
                  <a:ea typeface="隶书" panose="02010509060101010101" pitchFamily="49" charset="-122"/>
                </a:rPr>
                <a:t>schedule()</a:t>
              </a:r>
              <a:endParaRPr kumimoji="1" lang="en-US" altLang="zh-CN" sz="2400">
                <a:solidFill>
                  <a:srgbClr val="FF0000"/>
                </a:solidFill>
                <a:latin typeface="Times New Roman" panose="02020603050405020304" pitchFamily="18" charset="0"/>
                <a:ea typeface="隶书" panose="02010509060101010101" pitchFamily="49" charset="-122"/>
              </a:endParaRPr>
            </a:p>
          </p:txBody>
        </p:sp>
      </p:grpSp>
      <p:grpSp>
        <p:nvGrpSpPr>
          <p:cNvPr id="25654" name="Group 73"/>
          <p:cNvGrpSpPr/>
          <p:nvPr/>
        </p:nvGrpSpPr>
        <p:grpSpPr bwMode="auto">
          <a:xfrm>
            <a:off x="6543675" y="4355753"/>
            <a:ext cx="2046288" cy="568325"/>
            <a:chOff x="4122" y="2245"/>
            <a:chExt cx="1289" cy="358"/>
          </a:xfrm>
        </p:grpSpPr>
        <p:sp>
          <p:nvSpPr>
            <p:cNvPr id="25669" name="Rectangle 58"/>
            <p:cNvSpPr>
              <a:spLocks noChangeArrowheads="1"/>
            </p:cNvSpPr>
            <p:nvPr/>
          </p:nvSpPr>
          <p:spPr bwMode="auto">
            <a:xfrm>
              <a:off x="4458" y="2245"/>
              <a:ext cx="624"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FontTx/>
                <a:buNone/>
              </a:pPr>
              <a:r>
                <a:rPr kumimoji="1" lang="zh-CN" altLang="en-US" sz="1300">
                  <a:solidFill>
                    <a:srgbClr val="000000"/>
                  </a:solidFill>
                  <a:latin typeface="宋体" panose="02010600030101010101" pitchFamily="2" charset="-122"/>
                </a:rPr>
                <a:t>等待资源到位</a:t>
              </a:r>
              <a:endParaRPr kumimoji="1" lang="zh-CN" altLang="en-US" sz="2400">
                <a:solidFill>
                  <a:schemeClr val="tx1"/>
                </a:solidFill>
                <a:latin typeface="Times New Roman" panose="02020603050405020304" pitchFamily="18" charset="0"/>
                <a:ea typeface="隶书" panose="02010509060101010101" pitchFamily="49" charset="-122"/>
              </a:endParaRPr>
            </a:p>
          </p:txBody>
        </p:sp>
        <p:sp>
          <p:nvSpPr>
            <p:cNvPr id="25670" name="Rectangle 59"/>
            <p:cNvSpPr>
              <a:spLocks noChangeArrowheads="1"/>
            </p:cNvSpPr>
            <p:nvPr/>
          </p:nvSpPr>
          <p:spPr bwMode="auto">
            <a:xfrm>
              <a:off x="4122" y="2353"/>
              <a:ext cx="128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FontTx/>
                <a:buNone/>
              </a:pPr>
              <a:r>
                <a:rPr kumimoji="1" lang="en-US" altLang="zh-CN" sz="1300">
                  <a:solidFill>
                    <a:srgbClr val="FF0000"/>
                  </a:solidFill>
                  <a:latin typeface="Tahoma" panose="020B0604030504040204" pitchFamily="34" charset="0"/>
                  <a:ea typeface="隶书" panose="02010509060101010101" pitchFamily="49" charset="-122"/>
                </a:rPr>
                <a:t>interruptible_sleep_on()</a:t>
              </a:r>
              <a:endParaRPr kumimoji="1" lang="en-US" altLang="zh-CN" sz="2400">
                <a:solidFill>
                  <a:srgbClr val="FF0000"/>
                </a:solidFill>
                <a:latin typeface="Times New Roman" panose="02020603050405020304" pitchFamily="18" charset="0"/>
                <a:ea typeface="隶书" panose="02010509060101010101" pitchFamily="49" charset="-122"/>
              </a:endParaRPr>
            </a:p>
          </p:txBody>
        </p:sp>
        <p:sp>
          <p:nvSpPr>
            <p:cNvPr id="25671" name="Rectangle 60"/>
            <p:cNvSpPr>
              <a:spLocks noChangeArrowheads="1"/>
            </p:cNvSpPr>
            <p:nvPr/>
          </p:nvSpPr>
          <p:spPr bwMode="auto">
            <a:xfrm>
              <a:off x="4488" y="2478"/>
              <a:ext cx="55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FontTx/>
                <a:buNone/>
              </a:pPr>
              <a:r>
                <a:rPr kumimoji="1" lang="en-US" altLang="zh-CN" sz="1300">
                  <a:solidFill>
                    <a:srgbClr val="FF0000"/>
                  </a:solidFill>
                  <a:latin typeface="Tahoma" panose="020B0604030504040204" pitchFamily="34" charset="0"/>
                  <a:ea typeface="隶书" panose="02010509060101010101" pitchFamily="49" charset="-122"/>
                </a:rPr>
                <a:t>schedule()</a:t>
              </a:r>
              <a:endParaRPr kumimoji="1" lang="en-US" altLang="zh-CN" sz="2400">
                <a:solidFill>
                  <a:srgbClr val="FF0000"/>
                </a:solidFill>
                <a:latin typeface="Times New Roman" panose="02020603050405020304" pitchFamily="18" charset="0"/>
                <a:ea typeface="隶书" panose="02010509060101010101" pitchFamily="49" charset="-122"/>
              </a:endParaRPr>
            </a:p>
          </p:txBody>
        </p:sp>
      </p:grpSp>
      <p:grpSp>
        <p:nvGrpSpPr>
          <p:cNvPr id="25655" name="Group 72"/>
          <p:cNvGrpSpPr/>
          <p:nvPr/>
        </p:nvGrpSpPr>
        <p:grpSpPr bwMode="auto">
          <a:xfrm>
            <a:off x="6240463" y="1410940"/>
            <a:ext cx="2057400" cy="766763"/>
            <a:chOff x="3931" y="390"/>
            <a:chExt cx="1296" cy="483"/>
          </a:xfrm>
        </p:grpSpPr>
        <p:sp>
          <p:nvSpPr>
            <p:cNvPr id="25665" name="Rectangle 61"/>
            <p:cNvSpPr>
              <a:spLocks noChangeArrowheads="1"/>
            </p:cNvSpPr>
            <p:nvPr/>
          </p:nvSpPr>
          <p:spPr bwMode="auto">
            <a:xfrm>
              <a:off x="4374" y="390"/>
              <a:ext cx="41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FontTx/>
                <a:buNone/>
              </a:pPr>
              <a:r>
                <a:rPr kumimoji="1" lang="zh-CN" altLang="en-US" sz="1300">
                  <a:solidFill>
                    <a:srgbClr val="000000"/>
                  </a:solidFill>
                  <a:latin typeface="宋体" panose="02010600030101010101" pitchFamily="2" charset="-122"/>
                </a:rPr>
                <a:t>资源到位</a:t>
              </a:r>
              <a:endParaRPr kumimoji="1" lang="zh-CN" altLang="en-US" sz="2400">
                <a:solidFill>
                  <a:schemeClr val="tx1"/>
                </a:solidFill>
                <a:latin typeface="Times New Roman" panose="02020603050405020304" pitchFamily="18" charset="0"/>
                <a:ea typeface="隶书" panose="02010509060101010101" pitchFamily="49" charset="-122"/>
              </a:endParaRPr>
            </a:p>
          </p:txBody>
        </p:sp>
        <p:sp>
          <p:nvSpPr>
            <p:cNvPr id="25666" name="Rectangle 62"/>
            <p:cNvSpPr>
              <a:spLocks noChangeArrowheads="1"/>
            </p:cNvSpPr>
            <p:nvPr/>
          </p:nvSpPr>
          <p:spPr bwMode="auto">
            <a:xfrm>
              <a:off x="3931" y="499"/>
              <a:ext cx="129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FontTx/>
                <a:buNone/>
              </a:pPr>
              <a:r>
                <a:rPr kumimoji="1" lang="en-US" altLang="zh-CN" sz="1300">
                  <a:solidFill>
                    <a:srgbClr val="000000"/>
                  </a:solidFill>
                  <a:latin typeface="Tahoma" panose="020B0604030504040204" pitchFamily="34" charset="0"/>
                  <a:ea typeface="隶书" panose="02010509060101010101" pitchFamily="49" charset="-122"/>
                </a:rPr>
                <a:t>wake_up_interruptible()</a:t>
              </a:r>
              <a:endParaRPr kumimoji="1" lang="en-US" altLang="zh-CN" sz="2400">
                <a:solidFill>
                  <a:schemeClr val="tx1"/>
                </a:solidFill>
                <a:latin typeface="Times New Roman" panose="02020603050405020304" pitchFamily="18" charset="0"/>
                <a:ea typeface="隶书" panose="02010509060101010101" pitchFamily="49" charset="-122"/>
              </a:endParaRPr>
            </a:p>
          </p:txBody>
        </p:sp>
        <p:sp>
          <p:nvSpPr>
            <p:cNvPr id="25667" name="Rectangle 63"/>
            <p:cNvSpPr>
              <a:spLocks noChangeArrowheads="1"/>
            </p:cNvSpPr>
            <p:nvPr/>
          </p:nvSpPr>
          <p:spPr bwMode="auto">
            <a:xfrm>
              <a:off x="4322" y="639"/>
              <a:ext cx="520"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FontTx/>
                <a:buNone/>
              </a:pPr>
              <a:r>
                <a:rPr kumimoji="1" lang="zh-CN" altLang="en-US" sz="1300">
                  <a:solidFill>
                    <a:srgbClr val="000000"/>
                  </a:solidFill>
                  <a:latin typeface="宋体" panose="02010600030101010101" pitchFamily="2" charset="-122"/>
                </a:rPr>
                <a:t>或收到信号</a:t>
              </a:r>
              <a:endParaRPr kumimoji="1" lang="zh-CN" altLang="en-US" sz="2400">
                <a:solidFill>
                  <a:schemeClr val="tx1"/>
                </a:solidFill>
                <a:latin typeface="Times New Roman" panose="02020603050405020304" pitchFamily="18" charset="0"/>
                <a:ea typeface="隶书" panose="02010509060101010101" pitchFamily="49" charset="-122"/>
              </a:endParaRPr>
            </a:p>
          </p:txBody>
        </p:sp>
        <p:sp>
          <p:nvSpPr>
            <p:cNvPr id="25668" name="Rectangle 64"/>
            <p:cNvSpPr>
              <a:spLocks noChangeArrowheads="1"/>
            </p:cNvSpPr>
            <p:nvPr/>
          </p:nvSpPr>
          <p:spPr bwMode="auto">
            <a:xfrm>
              <a:off x="4293" y="748"/>
              <a:ext cx="57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FontTx/>
                <a:buNone/>
              </a:pPr>
              <a:r>
                <a:rPr kumimoji="1" lang="en-US" altLang="zh-CN" sz="1300">
                  <a:solidFill>
                    <a:srgbClr val="000000"/>
                  </a:solidFill>
                  <a:latin typeface="Tahoma" panose="020B0604030504040204" pitchFamily="34" charset="0"/>
                  <a:ea typeface="隶书" panose="02010509060101010101" pitchFamily="49" charset="-122"/>
                </a:rPr>
                <a:t>wake_up()</a:t>
              </a:r>
              <a:endParaRPr kumimoji="1" lang="en-US" altLang="zh-CN" sz="2400">
                <a:solidFill>
                  <a:schemeClr val="tx1"/>
                </a:solidFill>
                <a:latin typeface="Times New Roman" panose="02020603050405020304" pitchFamily="18" charset="0"/>
                <a:ea typeface="隶书" panose="02010509060101010101" pitchFamily="49" charset="-122"/>
              </a:endParaRPr>
            </a:p>
          </p:txBody>
        </p:sp>
      </p:grpSp>
      <p:grpSp>
        <p:nvGrpSpPr>
          <p:cNvPr id="25656" name="Group 77"/>
          <p:cNvGrpSpPr/>
          <p:nvPr/>
        </p:nvGrpSpPr>
        <p:grpSpPr bwMode="auto">
          <a:xfrm>
            <a:off x="2408238" y="2555528"/>
            <a:ext cx="908050" cy="371475"/>
            <a:chOff x="1517" y="1111"/>
            <a:chExt cx="572" cy="234"/>
          </a:xfrm>
        </p:grpSpPr>
        <p:sp>
          <p:nvSpPr>
            <p:cNvPr id="25663" name="Rectangle 65"/>
            <p:cNvSpPr>
              <a:spLocks noChangeArrowheads="1"/>
            </p:cNvSpPr>
            <p:nvPr/>
          </p:nvSpPr>
          <p:spPr bwMode="auto">
            <a:xfrm>
              <a:off x="1598" y="1111"/>
              <a:ext cx="41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FontTx/>
                <a:buNone/>
              </a:pPr>
              <a:r>
                <a:rPr kumimoji="1" lang="zh-CN" altLang="en-US" sz="1300">
                  <a:solidFill>
                    <a:srgbClr val="000000"/>
                  </a:solidFill>
                  <a:latin typeface="宋体" panose="02010600030101010101" pitchFamily="2" charset="-122"/>
                </a:rPr>
                <a:t>资源到位</a:t>
              </a:r>
              <a:endParaRPr kumimoji="1" lang="zh-CN" altLang="en-US" sz="2400">
                <a:solidFill>
                  <a:schemeClr val="tx1"/>
                </a:solidFill>
                <a:latin typeface="Times New Roman" panose="02020603050405020304" pitchFamily="18" charset="0"/>
                <a:ea typeface="隶书" panose="02010509060101010101" pitchFamily="49" charset="-122"/>
              </a:endParaRPr>
            </a:p>
          </p:txBody>
        </p:sp>
        <p:sp>
          <p:nvSpPr>
            <p:cNvPr id="25664" name="Rectangle 66"/>
            <p:cNvSpPr>
              <a:spLocks noChangeArrowheads="1"/>
            </p:cNvSpPr>
            <p:nvPr/>
          </p:nvSpPr>
          <p:spPr bwMode="auto">
            <a:xfrm>
              <a:off x="1517" y="1220"/>
              <a:ext cx="57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FontTx/>
                <a:buNone/>
              </a:pPr>
              <a:r>
                <a:rPr kumimoji="1" lang="en-US" altLang="zh-CN" sz="1300">
                  <a:solidFill>
                    <a:srgbClr val="000000"/>
                  </a:solidFill>
                  <a:latin typeface="Tahoma" panose="020B0604030504040204" pitchFamily="34" charset="0"/>
                  <a:ea typeface="隶书" panose="02010509060101010101" pitchFamily="49" charset="-122"/>
                </a:rPr>
                <a:t>wake_up()</a:t>
              </a:r>
              <a:endParaRPr kumimoji="1" lang="en-US" altLang="zh-CN" sz="2400">
                <a:solidFill>
                  <a:schemeClr val="tx1"/>
                </a:solidFill>
                <a:latin typeface="Times New Roman" panose="02020603050405020304" pitchFamily="18" charset="0"/>
                <a:ea typeface="隶书" panose="02010509060101010101" pitchFamily="49" charset="-122"/>
              </a:endParaRPr>
            </a:p>
          </p:txBody>
        </p:sp>
      </p:grpSp>
      <p:grpSp>
        <p:nvGrpSpPr>
          <p:cNvPr id="25657" name="Group 78"/>
          <p:cNvGrpSpPr/>
          <p:nvPr/>
        </p:nvGrpSpPr>
        <p:grpSpPr bwMode="auto">
          <a:xfrm>
            <a:off x="1279525" y="1412528"/>
            <a:ext cx="911225" cy="581025"/>
            <a:chOff x="806" y="391"/>
            <a:chExt cx="574" cy="366"/>
          </a:xfrm>
        </p:grpSpPr>
        <p:sp>
          <p:nvSpPr>
            <p:cNvPr id="25660" name="Rectangle 67"/>
            <p:cNvSpPr>
              <a:spLocks noChangeArrowheads="1"/>
            </p:cNvSpPr>
            <p:nvPr/>
          </p:nvSpPr>
          <p:spPr bwMode="auto">
            <a:xfrm>
              <a:off x="898" y="391"/>
              <a:ext cx="41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FontTx/>
                <a:buNone/>
              </a:pPr>
              <a:r>
                <a:rPr kumimoji="1" lang="zh-CN" altLang="en-US" sz="1300">
                  <a:solidFill>
                    <a:srgbClr val="000000"/>
                  </a:solidFill>
                  <a:latin typeface="宋体" panose="02010600030101010101" pitchFamily="2" charset="-122"/>
                </a:rPr>
                <a:t>收到信号</a:t>
              </a:r>
              <a:endParaRPr kumimoji="1" lang="zh-CN" altLang="en-US" sz="2400">
                <a:solidFill>
                  <a:schemeClr val="tx1"/>
                </a:solidFill>
                <a:latin typeface="Times New Roman" panose="02020603050405020304" pitchFamily="18" charset="0"/>
                <a:ea typeface="隶书" panose="02010509060101010101" pitchFamily="49" charset="-122"/>
              </a:endParaRPr>
            </a:p>
          </p:txBody>
        </p:sp>
        <p:sp>
          <p:nvSpPr>
            <p:cNvPr id="25661" name="Rectangle 68"/>
            <p:cNvSpPr>
              <a:spLocks noChangeArrowheads="1"/>
            </p:cNvSpPr>
            <p:nvPr/>
          </p:nvSpPr>
          <p:spPr bwMode="auto">
            <a:xfrm>
              <a:off x="894" y="527"/>
              <a:ext cx="48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FontTx/>
                <a:buNone/>
              </a:pPr>
              <a:r>
                <a:rPr kumimoji="1" lang="en-US" altLang="zh-CN" sz="1300">
                  <a:solidFill>
                    <a:srgbClr val="000000"/>
                  </a:solidFill>
                  <a:latin typeface="Tahoma" panose="020B0604030504040204" pitchFamily="34" charset="0"/>
                  <a:ea typeface="隶书" panose="02010509060101010101" pitchFamily="49" charset="-122"/>
                </a:rPr>
                <a:t>SIGCONT</a:t>
              </a:r>
              <a:endParaRPr kumimoji="1" lang="en-US" altLang="zh-CN" sz="2400">
                <a:solidFill>
                  <a:schemeClr val="tx1"/>
                </a:solidFill>
                <a:latin typeface="Times New Roman" panose="02020603050405020304" pitchFamily="18" charset="0"/>
                <a:ea typeface="隶书" panose="02010509060101010101" pitchFamily="49" charset="-122"/>
              </a:endParaRPr>
            </a:p>
          </p:txBody>
        </p:sp>
        <p:sp>
          <p:nvSpPr>
            <p:cNvPr id="25662" name="Rectangle 69"/>
            <p:cNvSpPr>
              <a:spLocks noChangeArrowheads="1"/>
            </p:cNvSpPr>
            <p:nvPr/>
          </p:nvSpPr>
          <p:spPr bwMode="auto">
            <a:xfrm>
              <a:off x="806" y="632"/>
              <a:ext cx="57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0"/>
                </a:spcBef>
                <a:buClrTx/>
                <a:buFontTx/>
                <a:buNone/>
              </a:pPr>
              <a:r>
                <a:rPr kumimoji="1" lang="en-US" altLang="zh-CN" sz="1300">
                  <a:solidFill>
                    <a:srgbClr val="000000"/>
                  </a:solidFill>
                  <a:latin typeface="Tahoma" panose="020B0604030504040204" pitchFamily="34" charset="0"/>
                  <a:ea typeface="隶书" panose="02010509060101010101" pitchFamily="49" charset="-122"/>
                </a:rPr>
                <a:t>wake_up()</a:t>
              </a:r>
              <a:endParaRPr kumimoji="1" lang="en-US" altLang="zh-CN" sz="2400">
                <a:solidFill>
                  <a:schemeClr val="tx1"/>
                </a:solidFill>
                <a:latin typeface="Times New Roman" panose="02020603050405020304" pitchFamily="18" charset="0"/>
                <a:ea typeface="隶书" panose="02010509060101010101" pitchFamily="49" charset="-122"/>
              </a:endParaRPr>
            </a:p>
          </p:txBody>
        </p:sp>
      </p:grpSp>
      <p:sp>
        <p:nvSpPr>
          <p:cNvPr id="25658" name="Line 70"/>
          <p:cNvSpPr>
            <a:spLocks noChangeShapeType="1"/>
          </p:cNvSpPr>
          <p:nvPr/>
        </p:nvSpPr>
        <p:spPr bwMode="auto">
          <a:xfrm>
            <a:off x="4451350" y="1268065"/>
            <a:ext cx="14288" cy="611188"/>
          </a:xfrm>
          <a:prstGeom prst="line">
            <a:avLst/>
          </a:prstGeom>
          <a:noFill/>
          <a:ln w="381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5659" name="Freeform 71"/>
          <p:cNvSpPr/>
          <p:nvPr/>
        </p:nvSpPr>
        <p:spPr bwMode="auto">
          <a:xfrm>
            <a:off x="4410075" y="1861790"/>
            <a:ext cx="111125" cy="123825"/>
          </a:xfrm>
          <a:custGeom>
            <a:avLst/>
            <a:gdLst>
              <a:gd name="T0" fmla="*/ 2147483646 w 141"/>
              <a:gd name="T1" fmla="*/ 0 h 156"/>
              <a:gd name="T2" fmla="*/ 2147483646 w 141"/>
              <a:gd name="T3" fmla="*/ 2147483646 h 156"/>
              <a:gd name="T4" fmla="*/ 0 w 141"/>
              <a:gd name="T5" fmla="*/ 2147483646 h 156"/>
              <a:gd name="T6" fmla="*/ 2147483646 w 141"/>
              <a:gd name="T7" fmla="*/ 0 h 156"/>
              <a:gd name="T8" fmla="*/ 0 60000 65536"/>
              <a:gd name="T9" fmla="*/ 0 60000 65536"/>
              <a:gd name="T10" fmla="*/ 0 60000 65536"/>
              <a:gd name="T11" fmla="*/ 0 60000 65536"/>
              <a:gd name="T12" fmla="*/ 0 w 141"/>
              <a:gd name="T13" fmla="*/ 0 h 156"/>
              <a:gd name="T14" fmla="*/ 141 w 141"/>
              <a:gd name="T15" fmla="*/ 156 h 156"/>
            </a:gdLst>
            <a:ahLst/>
            <a:cxnLst>
              <a:cxn ang="T8">
                <a:pos x="T0" y="T1"/>
              </a:cxn>
              <a:cxn ang="T9">
                <a:pos x="T2" y="T3"/>
              </a:cxn>
              <a:cxn ang="T10">
                <a:pos x="T4" y="T5"/>
              </a:cxn>
              <a:cxn ang="T11">
                <a:pos x="T6" y="T7"/>
              </a:cxn>
            </a:cxnLst>
            <a:rect l="T12" t="T13" r="T14" b="T15"/>
            <a:pathLst>
              <a:path w="141" h="156">
                <a:moveTo>
                  <a:pt x="141" y="0"/>
                </a:moveTo>
                <a:lnTo>
                  <a:pt x="74" y="156"/>
                </a:lnTo>
                <a:lnTo>
                  <a:pt x="0" y="5"/>
                </a:lnTo>
                <a:lnTo>
                  <a:pt x="141"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5" name="标题 1"/>
          <p:cNvSpPr txBox="1"/>
          <p:nvPr/>
        </p:nvSpPr>
        <p:spPr bwMode="black">
          <a:xfrm>
            <a:off x="611188" y="115888"/>
            <a:ext cx="76327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2pPr>
            <a:lvl3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3pPr>
            <a:lvl4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4pPr>
            <a:lvl5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5pPr>
            <a:lvl6pPr marL="4572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6pPr>
            <a:lvl7pPr marL="9144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7pPr>
            <a:lvl8pPr marL="13716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8pPr>
            <a:lvl9pPr marL="18288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9pPr>
          </a:lstStyle>
          <a:p>
            <a:pPr eaLnBrk="1" hangingPunct="1"/>
            <a:r>
              <a:rPr lang="en-US" altLang="zh-CN" kern="0" dirty="0">
                <a:latin typeface="Times New Roman" panose="02020603050405020304" pitchFamily="18" charset="0"/>
                <a:ea typeface="楷体_GB2312" pitchFamily="49" charset="-122"/>
                <a:cs typeface="Times New Roman" panose="02020603050405020304" pitchFamily="18" charset="0"/>
              </a:rPr>
              <a:t>2.2 Linux</a:t>
            </a:r>
            <a:r>
              <a:rPr lang="zh-CN" altLang="en-US" kern="0" dirty="0">
                <a:latin typeface="Times New Roman" panose="02020603050405020304" pitchFamily="18" charset="0"/>
                <a:ea typeface="楷体_GB2312" pitchFamily="49" charset="-122"/>
                <a:cs typeface="Times New Roman" panose="02020603050405020304" pitchFamily="18" charset="0"/>
              </a:rPr>
              <a:t>进程的状态</a:t>
            </a:r>
            <a:r>
              <a:rPr lang="zh-CN" altLang="en-US" dirty="0">
                <a:latin typeface="Times New Roman" panose="02020603050405020304" pitchFamily="18" charset="0"/>
                <a:ea typeface="楷体_GB2312" pitchFamily="49" charset="-122"/>
                <a:cs typeface="Times New Roman" panose="02020603050405020304" pitchFamily="18" charset="0"/>
              </a:rPr>
              <a:t>及转换</a:t>
            </a:r>
            <a:endParaRPr lang="zh-CN" altLang="en-US" b="0" kern="0"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mph" presetSubtype="2" fill="hold" nodeType="clickEffect">
                                  <p:stCondLst>
                                    <p:cond delay="0"/>
                                  </p:stCondLst>
                                  <p:childTnLst>
                                    <p:animClr clrSpc="rgb" dir="cw">
                                      <p:cBhvr>
                                        <p:cTn id="6" dur="200" fill="hold"/>
                                        <p:tgtEl>
                                          <p:spTgt spid="361512"/>
                                        </p:tgtEl>
                                        <p:attrNameLst>
                                          <p:attrName>stroke.color</p:attrName>
                                        </p:attrNameLst>
                                      </p:cBhvr>
                                      <p:to>
                                        <a:srgbClr val="FF0000"/>
                                      </p:to>
                                    </p:animClr>
                                    <p:set>
                                      <p:cBhvr>
                                        <p:cTn id="7" dur="200" fill="hold"/>
                                        <p:tgtEl>
                                          <p:spTgt spid="361512"/>
                                        </p:tgtEl>
                                        <p:attrNameLst>
                                          <p:attrName>stroke.on</p:attrName>
                                        </p:attrNameLst>
                                      </p:cBhvr>
                                      <p:to>
                                        <p:strVal val="true"/>
                                      </p:to>
                                    </p:set>
                                  </p:childTnLst>
                                </p:cTn>
                              </p:par>
                            </p:childTnLst>
                          </p:cTn>
                        </p:par>
                      </p:childTnLst>
                    </p:cTn>
                  </p:par>
                  <p:par>
                    <p:cTn id="8" fill="hold">
                      <p:stCondLst>
                        <p:cond delay="indefinite"/>
                      </p:stCondLst>
                      <p:childTnLst>
                        <p:par>
                          <p:cTn id="9" fill="hold">
                            <p:stCondLst>
                              <p:cond delay="0"/>
                            </p:stCondLst>
                            <p:childTnLst>
                              <p:par>
                                <p:cTn id="10" presetID="7" presetClass="emph" presetSubtype="2" fill="hold" nodeType="clickEffect">
                                  <p:stCondLst>
                                    <p:cond delay="0"/>
                                  </p:stCondLst>
                                  <p:childTnLst>
                                    <p:animClr clrSpc="rgb" dir="cw">
                                      <p:cBhvr>
                                        <p:cTn id="11" dur="200" fill="hold"/>
                                        <p:tgtEl>
                                          <p:spTgt spid="361510"/>
                                        </p:tgtEl>
                                        <p:attrNameLst>
                                          <p:attrName>stroke.color</p:attrName>
                                        </p:attrNameLst>
                                      </p:cBhvr>
                                      <p:to>
                                        <a:srgbClr val="FF0000"/>
                                      </p:to>
                                    </p:animClr>
                                    <p:set>
                                      <p:cBhvr>
                                        <p:cTn id="12" dur="200" fill="hold"/>
                                        <p:tgtEl>
                                          <p:spTgt spid="361510"/>
                                        </p:tgtEl>
                                        <p:attrNameLst>
                                          <p:attrName>stroke.on</p:attrName>
                                        </p:attrNameLst>
                                      </p:cBhvr>
                                      <p:to>
                                        <p:strVal val="true"/>
                                      </p:to>
                                    </p:set>
                                  </p:childTnLst>
                                </p:cTn>
                              </p:par>
                            </p:childTnLst>
                          </p:cTn>
                        </p:par>
                      </p:childTnLst>
                    </p:cTn>
                  </p:par>
                  <p:par>
                    <p:cTn id="13" fill="hold">
                      <p:stCondLst>
                        <p:cond delay="indefinite"/>
                      </p:stCondLst>
                      <p:childTnLst>
                        <p:par>
                          <p:cTn id="14" fill="hold">
                            <p:stCondLst>
                              <p:cond delay="0"/>
                            </p:stCondLst>
                            <p:childTnLst>
                              <p:par>
                                <p:cTn id="15" presetID="7" presetClass="emph" presetSubtype="2" fill="hold" nodeType="clickEffect">
                                  <p:stCondLst>
                                    <p:cond delay="0"/>
                                  </p:stCondLst>
                                  <p:childTnLst>
                                    <p:animClr clrSpc="rgb" dir="cw">
                                      <p:cBhvr>
                                        <p:cTn id="16" dur="200" fill="hold"/>
                                        <p:tgtEl>
                                          <p:spTgt spid="361520"/>
                                        </p:tgtEl>
                                        <p:attrNameLst>
                                          <p:attrName>stroke.color</p:attrName>
                                        </p:attrNameLst>
                                      </p:cBhvr>
                                      <p:to>
                                        <a:srgbClr val="FF0000"/>
                                      </p:to>
                                    </p:animClr>
                                    <p:set>
                                      <p:cBhvr>
                                        <p:cTn id="17" dur="200" fill="hold"/>
                                        <p:tgtEl>
                                          <p:spTgt spid="361520"/>
                                        </p:tgtEl>
                                        <p:attrNameLst>
                                          <p:attrName>stroke.on</p:attrName>
                                        </p:attrNameLst>
                                      </p:cBhvr>
                                      <p:to>
                                        <p:strVal val="true"/>
                                      </p:to>
                                    </p:set>
                                  </p:childTnLst>
                                </p:cTn>
                              </p:par>
                            </p:childTnLst>
                          </p:cTn>
                        </p:par>
                      </p:childTnLst>
                    </p:cTn>
                  </p:par>
                  <p:par>
                    <p:cTn id="18" fill="hold">
                      <p:stCondLst>
                        <p:cond delay="indefinite"/>
                      </p:stCondLst>
                      <p:childTnLst>
                        <p:par>
                          <p:cTn id="19" fill="hold">
                            <p:stCondLst>
                              <p:cond delay="0"/>
                            </p:stCondLst>
                            <p:childTnLst>
                              <p:par>
                                <p:cTn id="20" presetID="7" presetClass="emph" presetSubtype="2" fill="hold" nodeType="clickEffect">
                                  <p:stCondLst>
                                    <p:cond delay="0"/>
                                  </p:stCondLst>
                                  <p:childTnLst>
                                    <p:animClr clrSpc="rgb" dir="cw">
                                      <p:cBhvr>
                                        <p:cTn id="21" dur="200" fill="hold"/>
                                        <p:tgtEl>
                                          <p:spTgt spid="361508"/>
                                        </p:tgtEl>
                                        <p:attrNameLst>
                                          <p:attrName>stroke.color</p:attrName>
                                        </p:attrNameLst>
                                      </p:cBhvr>
                                      <p:to>
                                        <a:srgbClr val="FF0000"/>
                                      </p:to>
                                    </p:animClr>
                                    <p:set>
                                      <p:cBhvr>
                                        <p:cTn id="22" dur="200" fill="hold"/>
                                        <p:tgtEl>
                                          <p:spTgt spid="361508"/>
                                        </p:tgtEl>
                                        <p:attrNameLst>
                                          <p:attrName>stroke.on</p:attrName>
                                        </p:attrNameLst>
                                      </p:cBhvr>
                                      <p:to>
                                        <p:strVal val="true"/>
                                      </p:to>
                                    </p:set>
                                  </p:childTnLst>
                                </p:cTn>
                              </p:par>
                            </p:childTnLst>
                          </p:cTn>
                        </p:par>
                      </p:childTnLst>
                    </p:cTn>
                  </p:par>
                  <p:par>
                    <p:cTn id="23" fill="hold">
                      <p:stCondLst>
                        <p:cond delay="indefinite"/>
                      </p:stCondLst>
                      <p:childTnLst>
                        <p:par>
                          <p:cTn id="24" fill="hold">
                            <p:stCondLst>
                              <p:cond delay="0"/>
                            </p:stCondLst>
                            <p:childTnLst>
                              <p:par>
                                <p:cTn id="25" presetID="7" presetClass="emph" presetSubtype="2" fill="hold" nodeType="clickEffect">
                                  <p:stCondLst>
                                    <p:cond delay="0"/>
                                  </p:stCondLst>
                                  <p:childTnLst>
                                    <p:animClr clrSpc="rgb" dir="cw">
                                      <p:cBhvr>
                                        <p:cTn id="26" dur="200" fill="hold"/>
                                        <p:tgtEl>
                                          <p:spTgt spid="361518"/>
                                        </p:tgtEl>
                                        <p:attrNameLst>
                                          <p:attrName>stroke.color</p:attrName>
                                        </p:attrNameLst>
                                      </p:cBhvr>
                                      <p:to>
                                        <a:srgbClr val="FF0000"/>
                                      </p:to>
                                    </p:animClr>
                                    <p:set>
                                      <p:cBhvr>
                                        <p:cTn id="27" dur="200" fill="hold"/>
                                        <p:tgtEl>
                                          <p:spTgt spid="361518"/>
                                        </p:tgtEl>
                                        <p:attrNameLst>
                                          <p:attrName>stroke.on</p:attrName>
                                        </p:attrNameLst>
                                      </p:cBhvr>
                                      <p:to>
                                        <p:strVal val="true"/>
                                      </p:to>
                                    </p:set>
                                  </p:childTnLst>
                                </p:cTn>
                              </p:par>
                            </p:childTnLst>
                          </p:cTn>
                        </p:par>
                      </p:childTnLst>
                    </p:cTn>
                  </p:par>
                  <p:par>
                    <p:cTn id="28" fill="hold">
                      <p:stCondLst>
                        <p:cond delay="indefinite"/>
                      </p:stCondLst>
                      <p:childTnLst>
                        <p:par>
                          <p:cTn id="29" fill="hold">
                            <p:stCondLst>
                              <p:cond delay="0"/>
                            </p:stCondLst>
                            <p:childTnLst>
                              <p:par>
                                <p:cTn id="30" presetID="7" presetClass="emph" presetSubtype="2" fill="hold" nodeType="clickEffect">
                                  <p:stCondLst>
                                    <p:cond delay="0"/>
                                  </p:stCondLst>
                                  <p:childTnLst>
                                    <p:animClr clrSpc="rgb" dir="cw">
                                      <p:cBhvr>
                                        <p:cTn id="31" dur="200" fill="hold"/>
                                        <p:tgtEl>
                                          <p:spTgt spid="361514"/>
                                        </p:tgtEl>
                                        <p:attrNameLst>
                                          <p:attrName>stroke.color</p:attrName>
                                        </p:attrNameLst>
                                      </p:cBhvr>
                                      <p:to>
                                        <a:srgbClr val="FF0000"/>
                                      </p:to>
                                    </p:animClr>
                                    <p:set>
                                      <p:cBhvr>
                                        <p:cTn id="32" dur="200" fill="hold"/>
                                        <p:tgtEl>
                                          <p:spTgt spid="361514"/>
                                        </p:tgtEl>
                                        <p:attrNameLst>
                                          <p:attrName>stroke.on</p:attrName>
                                        </p:attrNameLst>
                                      </p:cBhvr>
                                      <p:to>
                                        <p:strVal val="true"/>
                                      </p:to>
                                    </p:set>
                                  </p:childTnLst>
                                </p:cTn>
                              </p:par>
                            </p:childTnLst>
                          </p:cTn>
                        </p:par>
                      </p:childTnLst>
                    </p:cTn>
                  </p:par>
                  <p:par>
                    <p:cTn id="33" fill="hold">
                      <p:stCondLst>
                        <p:cond delay="indefinite"/>
                      </p:stCondLst>
                      <p:childTnLst>
                        <p:par>
                          <p:cTn id="34" fill="hold">
                            <p:stCondLst>
                              <p:cond delay="0"/>
                            </p:stCondLst>
                            <p:childTnLst>
                              <p:par>
                                <p:cTn id="35" presetID="7" presetClass="emph" presetSubtype="2" fill="hold" nodeType="clickEffect">
                                  <p:stCondLst>
                                    <p:cond delay="0"/>
                                  </p:stCondLst>
                                  <p:childTnLst>
                                    <p:animClr clrSpc="rgb" dir="cw">
                                      <p:cBhvr>
                                        <p:cTn id="36" dur="200" fill="hold"/>
                                        <p:tgtEl>
                                          <p:spTgt spid="361516"/>
                                        </p:tgtEl>
                                        <p:attrNameLst>
                                          <p:attrName>stroke.color</p:attrName>
                                        </p:attrNameLst>
                                      </p:cBhvr>
                                      <p:to>
                                        <a:srgbClr val="FF0000"/>
                                      </p:to>
                                    </p:animClr>
                                    <p:set>
                                      <p:cBhvr>
                                        <p:cTn id="37" dur="200" fill="hold"/>
                                        <p:tgtEl>
                                          <p:spTgt spid="361516"/>
                                        </p:tgtEl>
                                        <p:attrNameLst>
                                          <p:attrName>stroke.on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p:cNvSpPr>
            <a:spLocks noGrp="1" noChangeArrowheads="1"/>
          </p:cNvSpPr>
          <p:nvPr>
            <p:ph type="body" idx="1"/>
          </p:nvPr>
        </p:nvSpPr>
        <p:spPr>
          <a:xfrm>
            <a:off x="0" y="1052513"/>
            <a:ext cx="8748713" cy="4267200"/>
          </a:xfrm>
        </p:spPr>
        <p:txBody>
          <a:bodyPr/>
          <a:lstStyle/>
          <a:p>
            <a:pPr>
              <a:lnSpc>
                <a:spcPct val="110000"/>
              </a:lnSpc>
              <a:buClr>
                <a:srgbClr val="CC3300"/>
              </a:buClr>
              <a:buFont typeface="Wingdings" panose="05000000000000000000" pitchFamily="2" charset="2"/>
              <a:buChar char="ü"/>
            </a:pPr>
            <a:r>
              <a:rPr lang="en-US" altLang="zh-CN" sz="3200" dirty="0" err="1">
                <a:solidFill>
                  <a:srgbClr val="FF0000"/>
                </a:solidFill>
                <a:latin typeface="Times New Roman" panose="02020603050405020304" pitchFamily="18" charset="0"/>
                <a:ea typeface="楷体_GB2312" pitchFamily="49" charset="-122"/>
                <a:cs typeface="Times New Roman" panose="02020603050405020304" pitchFamily="18" charset="0"/>
              </a:rPr>
              <a:t>sleep_on</a:t>
            </a:r>
            <a:r>
              <a:rPr lang="en-US" altLang="zh-CN" sz="3200" dirty="0">
                <a:solidFill>
                  <a:srgbClr val="FF0000"/>
                </a:solidFill>
                <a:latin typeface="Times New Roman" panose="02020603050405020304" pitchFamily="18" charset="0"/>
                <a:ea typeface="楷体_GB2312" pitchFamily="49" charset="-122"/>
                <a:cs typeface="Times New Roman" panose="02020603050405020304" pitchFamily="18" charset="0"/>
              </a:rPr>
              <a:t>():</a:t>
            </a:r>
            <a:endParaRPr lang="en-US" altLang="zh-CN" sz="3200" dirty="0">
              <a:solidFill>
                <a:srgbClr val="FF0000"/>
              </a:solidFill>
              <a:latin typeface="Times New Roman" panose="02020603050405020304" pitchFamily="18" charset="0"/>
              <a:ea typeface="楷体_GB2312" pitchFamily="49" charset="-122"/>
              <a:cs typeface="Times New Roman" panose="02020603050405020304" pitchFamily="18" charset="0"/>
            </a:endParaRPr>
          </a:p>
          <a:p>
            <a:pPr>
              <a:buFontTx/>
              <a:buNone/>
            </a:pPr>
            <a:r>
              <a:rPr lang="en-US" altLang="zh-CN" dirty="0">
                <a:latin typeface="Times New Roman" panose="02020603050405020304" pitchFamily="18" charset="0"/>
                <a:ea typeface="楷体_GB2312" pitchFamily="49" charset="-122"/>
                <a:cs typeface="Times New Roman" panose="02020603050405020304" pitchFamily="18" charset="0"/>
              </a:rPr>
              <a:t>     </a:t>
            </a:r>
            <a:r>
              <a:rPr lang="en-US" altLang="zh-CN" dirty="0">
                <a:solidFill>
                  <a:srgbClr val="0000FF"/>
                </a:solidFill>
                <a:latin typeface="Times New Roman" panose="02020603050405020304" pitchFamily="18" charset="0"/>
                <a:ea typeface="楷体_GB2312" pitchFamily="49" charset="-122"/>
                <a:cs typeface="Times New Roman" panose="02020603050405020304" pitchFamily="18" charset="0"/>
              </a:rPr>
              <a:t>TASK_RUNNING </a:t>
            </a:r>
            <a:r>
              <a:rPr lang="en-US" altLang="zh-CN" dirty="0">
                <a:solidFill>
                  <a:srgbClr val="0000FF"/>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 </a:t>
            </a:r>
            <a:r>
              <a:rPr lang="en-US" altLang="zh-CN" dirty="0">
                <a:solidFill>
                  <a:srgbClr val="0000FF"/>
                </a:solidFill>
                <a:latin typeface="Times New Roman" panose="02020603050405020304" pitchFamily="18" charset="0"/>
                <a:ea typeface="楷体_GB2312" pitchFamily="49" charset="-122"/>
                <a:cs typeface="Times New Roman" panose="02020603050405020304" pitchFamily="18" charset="0"/>
              </a:rPr>
              <a:t>TASK_UNINTERRUPTIBLE</a:t>
            </a:r>
            <a:endParaRPr lang="en-US" altLang="zh-CN" dirty="0">
              <a:solidFill>
                <a:srgbClr val="0000FF"/>
              </a:solidFill>
              <a:latin typeface="Times New Roman" panose="02020603050405020304" pitchFamily="18" charset="0"/>
              <a:ea typeface="楷体_GB2312" pitchFamily="49" charset="-122"/>
              <a:cs typeface="Times New Roman" panose="02020603050405020304" pitchFamily="18" charset="0"/>
            </a:endParaRPr>
          </a:p>
          <a:p>
            <a:pPr lvl="1">
              <a:buClr>
                <a:srgbClr val="CC3300"/>
              </a:buClr>
            </a:pPr>
            <a:r>
              <a:rPr lang="zh-CN" altLang="en-US" dirty="0">
                <a:latin typeface="Times New Roman" panose="02020603050405020304" pitchFamily="18" charset="0"/>
                <a:ea typeface="楷体_GB2312" pitchFamily="49" charset="-122"/>
                <a:cs typeface="Times New Roman" panose="02020603050405020304" pitchFamily="18" charset="0"/>
              </a:rPr>
              <a:t>运行进程申请资源无效时，通过</a:t>
            </a:r>
            <a:r>
              <a:rPr lang="en-US" altLang="zh-CN" dirty="0" err="1">
                <a:latin typeface="Times New Roman" panose="02020603050405020304" pitchFamily="18" charset="0"/>
                <a:ea typeface="楷体_GB2312" pitchFamily="49" charset="-122"/>
                <a:cs typeface="Times New Roman" panose="02020603050405020304" pitchFamily="18" charset="0"/>
              </a:rPr>
              <a:t>sleep_on</a:t>
            </a:r>
            <a:r>
              <a:rPr lang="en-US" altLang="zh-CN" dirty="0">
                <a:latin typeface="Times New Roman" panose="02020603050405020304" pitchFamily="18" charset="0"/>
                <a:ea typeface="楷体_GB2312" pitchFamily="49" charset="-122"/>
                <a:cs typeface="Times New Roman" panose="02020603050405020304" pitchFamily="18" charset="0"/>
              </a:rPr>
              <a:t>()</a:t>
            </a:r>
            <a:r>
              <a:rPr lang="zh-CN" altLang="en-US" dirty="0">
                <a:latin typeface="Times New Roman" panose="02020603050405020304" pitchFamily="18" charset="0"/>
                <a:ea typeface="楷体_GB2312" pitchFamily="49" charset="-122"/>
                <a:cs typeface="Times New Roman" panose="02020603050405020304" pitchFamily="18" charset="0"/>
              </a:rPr>
              <a:t>将进程从</a:t>
            </a:r>
            <a:r>
              <a:rPr lang="en-US" altLang="zh-CN" dirty="0">
                <a:latin typeface="Times New Roman" panose="02020603050405020304" pitchFamily="18" charset="0"/>
                <a:ea typeface="楷体_GB2312" pitchFamily="49" charset="-122"/>
                <a:cs typeface="Times New Roman" panose="02020603050405020304" pitchFamily="18" charset="0"/>
              </a:rPr>
              <a:t>TASK_RUNNING</a:t>
            </a:r>
            <a:r>
              <a:rPr lang="zh-CN" altLang="en-US" dirty="0">
                <a:latin typeface="Times New Roman" panose="02020603050405020304" pitchFamily="18" charset="0"/>
                <a:ea typeface="楷体_GB2312" pitchFamily="49" charset="-122"/>
                <a:cs typeface="Times New Roman" panose="02020603050405020304" pitchFamily="18" charset="0"/>
              </a:rPr>
              <a:t>切换到</a:t>
            </a:r>
            <a:r>
              <a:rPr lang="en-US" altLang="zh-CN" dirty="0">
                <a:latin typeface="Times New Roman" panose="02020603050405020304" pitchFamily="18" charset="0"/>
                <a:ea typeface="楷体_GB2312" pitchFamily="49" charset="-122"/>
                <a:cs typeface="Times New Roman" panose="02020603050405020304" pitchFamily="18" charset="0"/>
              </a:rPr>
              <a:t>ASK_UNINTERRUPTIBLE</a:t>
            </a:r>
            <a:r>
              <a:rPr lang="zh-CN" altLang="en-US" dirty="0">
                <a:latin typeface="Times New Roman" panose="02020603050405020304" pitchFamily="18" charset="0"/>
                <a:ea typeface="楷体_GB2312" pitchFamily="49" charset="-122"/>
                <a:cs typeface="Times New Roman" panose="02020603050405020304" pitchFamily="18" charset="0"/>
              </a:rPr>
              <a:t>状态，加入等待队列中。</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a:lnSpc>
                <a:spcPct val="110000"/>
              </a:lnSpc>
              <a:buClr>
                <a:srgbClr val="CC3300"/>
              </a:buClr>
            </a:pPr>
            <a:r>
              <a:rPr lang="zh-CN" altLang="en-US" dirty="0">
                <a:latin typeface="Times New Roman" panose="02020603050405020304" pitchFamily="18" charset="0"/>
                <a:ea typeface="楷体_GB2312" pitchFamily="49" charset="-122"/>
                <a:cs typeface="Times New Roman" panose="02020603050405020304" pitchFamily="18" charset="0"/>
              </a:rPr>
              <a:t>一般引起状态变成</a:t>
            </a:r>
            <a:r>
              <a:rPr lang="en-US" altLang="zh-CN" dirty="0">
                <a:latin typeface="Times New Roman" panose="02020603050405020304" pitchFamily="18" charset="0"/>
                <a:ea typeface="楷体_GB2312" pitchFamily="49" charset="-122"/>
                <a:cs typeface="Times New Roman" panose="02020603050405020304" pitchFamily="18" charset="0"/>
              </a:rPr>
              <a:t>TASK_UNINTERRUPTIBLE</a:t>
            </a:r>
            <a:r>
              <a:rPr lang="zh-CN" altLang="en-US" dirty="0">
                <a:latin typeface="Times New Roman" panose="02020603050405020304" pitchFamily="18" charset="0"/>
                <a:ea typeface="楷体_GB2312" pitchFamily="49" charset="-122"/>
                <a:cs typeface="Times New Roman" panose="02020603050405020304" pitchFamily="18" charset="0"/>
              </a:rPr>
              <a:t>的资源申请，都是对一些硬件资源的申请。如果得不到这些资源，进程将不能执行下去，不能由</a:t>
            </a:r>
            <a:r>
              <a:rPr lang="en-US" altLang="zh-CN" dirty="0">
                <a:latin typeface="Times New Roman" panose="02020603050405020304" pitchFamily="18" charset="0"/>
                <a:ea typeface="楷体_GB2312" pitchFamily="49" charset="-122"/>
                <a:cs typeface="Times New Roman" panose="02020603050405020304" pitchFamily="18" charset="0"/>
              </a:rPr>
              <a:t>signal</a:t>
            </a:r>
            <a:r>
              <a:rPr lang="zh-CN" altLang="en-US" dirty="0">
                <a:latin typeface="Times New Roman" panose="02020603050405020304" pitchFamily="18" charset="0"/>
                <a:ea typeface="楷体_GB2312" pitchFamily="49" charset="-122"/>
                <a:cs typeface="Times New Roman" panose="02020603050405020304" pitchFamily="18" charset="0"/>
              </a:rPr>
              <a:t>信号或时钟中断唤醒回到</a:t>
            </a:r>
            <a:r>
              <a:rPr lang="en-US" altLang="zh-CN" dirty="0">
                <a:latin typeface="Times New Roman" panose="02020603050405020304" pitchFamily="18" charset="0"/>
                <a:ea typeface="楷体_GB2312" pitchFamily="49" charset="-122"/>
                <a:cs typeface="Times New Roman" panose="02020603050405020304" pitchFamily="18" charset="0"/>
              </a:rPr>
              <a:t>TASK_RUNNING</a:t>
            </a:r>
            <a:r>
              <a:rPr lang="zh-CN" altLang="en-US" dirty="0">
                <a:latin typeface="Times New Roman" panose="02020603050405020304" pitchFamily="18" charset="0"/>
                <a:ea typeface="楷体_GB2312" pitchFamily="49" charset="-122"/>
                <a:cs typeface="Times New Roman" panose="02020603050405020304" pitchFamily="18" charset="0"/>
              </a:rPr>
              <a:t>状态。</a:t>
            </a:r>
            <a:endParaRPr lang="en-US" altLang="zh-CN" dirty="0">
              <a:latin typeface="Times New Roman" panose="02020603050405020304" pitchFamily="18" charset="0"/>
              <a:ea typeface="楷体_GB2312" pitchFamily="49" charset="-122"/>
              <a:cs typeface="Times New Roman" panose="02020603050405020304" pitchFamily="18" charset="0"/>
            </a:endParaRPr>
          </a:p>
        </p:txBody>
      </p:sp>
      <p:sp>
        <p:nvSpPr>
          <p:cNvPr id="4" name="标题 1"/>
          <p:cNvSpPr txBox="1"/>
          <p:nvPr/>
        </p:nvSpPr>
        <p:spPr bwMode="black">
          <a:xfrm>
            <a:off x="611188" y="115888"/>
            <a:ext cx="76327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2pPr>
            <a:lvl3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3pPr>
            <a:lvl4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4pPr>
            <a:lvl5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5pPr>
            <a:lvl6pPr marL="4572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6pPr>
            <a:lvl7pPr marL="9144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7pPr>
            <a:lvl8pPr marL="13716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8pPr>
            <a:lvl9pPr marL="18288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9pPr>
          </a:lstStyle>
          <a:p>
            <a:pPr eaLnBrk="1" hangingPunct="1"/>
            <a:r>
              <a:rPr lang="en-US" altLang="zh-CN" kern="0" dirty="0">
                <a:latin typeface="Times New Roman" panose="02020603050405020304" pitchFamily="18" charset="0"/>
                <a:ea typeface="楷体_GB2312" pitchFamily="49" charset="-122"/>
                <a:cs typeface="Times New Roman" panose="02020603050405020304" pitchFamily="18" charset="0"/>
              </a:rPr>
              <a:t>2.2 Linux</a:t>
            </a:r>
            <a:r>
              <a:rPr lang="zh-CN" altLang="en-US" kern="0" dirty="0">
                <a:latin typeface="Times New Roman" panose="02020603050405020304" pitchFamily="18" charset="0"/>
                <a:ea typeface="楷体_GB2312" pitchFamily="49" charset="-122"/>
                <a:cs typeface="Times New Roman" panose="02020603050405020304" pitchFamily="18" charset="0"/>
              </a:rPr>
              <a:t>进程的状态</a:t>
            </a:r>
            <a:r>
              <a:rPr lang="zh-CN" altLang="en-US" dirty="0">
                <a:latin typeface="Times New Roman" panose="02020603050405020304" pitchFamily="18" charset="0"/>
                <a:ea typeface="楷体_GB2312" pitchFamily="49" charset="-122"/>
                <a:cs typeface="Times New Roman" panose="02020603050405020304" pitchFamily="18" charset="0"/>
              </a:rPr>
              <a:t>及转换</a:t>
            </a:r>
            <a:endParaRPr lang="zh-CN" altLang="en-US" b="0" kern="0"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3"/>
          <p:cNvSpPr>
            <a:spLocks noGrp="1" noChangeArrowheads="1"/>
          </p:cNvSpPr>
          <p:nvPr>
            <p:ph type="body" idx="1"/>
          </p:nvPr>
        </p:nvSpPr>
        <p:spPr>
          <a:xfrm>
            <a:off x="395288" y="1052513"/>
            <a:ext cx="8569200" cy="5272087"/>
          </a:xfrm>
        </p:spPr>
        <p:txBody>
          <a:bodyPr/>
          <a:lstStyle/>
          <a:p>
            <a:pPr>
              <a:lnSpc>
                <a:spcPct val="110000"/>
              </a:lnSpc>
              <a:buClr>
                <a:srgbClr val="CC3300"/>
              </a:buClr>
              <a:buFont typeface="Wingdings" panose="05000000000000000000" pitchFamily="2" charset="2"/>
              <a:buChar char="ü"/>
            </a:pPr>
            <a:r>
              <a:rPr lang="en-US" altLang="zh-CN" dirty="0" err="1">
                <a:solidFill>
                  <a:srgbClr val="FF0000"/>
                </a:solidFill>
                <a:latin typeface="Times New Roman" panose="02020603050405020304" pitchFamily="18" charset="0"/>
                <a:ea typeface="楷体_GB2312" pitchFamily="49" charset="-122"/>
                <a:cs typeface="Times New Roman" panose="02020603050405020304" pitchFamily="18" charset="0"/>
              </a:rPr>
              <a:t>sleep_on_timeout</a:t>
            </a:r>
            <a:r>
              <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rPr>
              <a:t>()：</a:t>
            </a:r>
            <a:endPar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endParaRPr>
          </a:p>
          <a:p>
            <a:pPr>
              <a:lnSpc>
                <a:spcPct val="110000"/>
              </a:lnSpc>
              <a:buFontTx/>
              <a:buNone/>
            </a:pPr>
            <a:r>
              <a:rPr lang="en-US" altLang="zh-CN" dirty="0">
                <a:latin typeface="Times New Roman" panose="02020603050405020304" pitchFamily="18" charset="0"/>
                <a:ea typeface="楷体_GB2312" pitchFamily="49" charset="-122"/>
                <a:cs typeface="Times New Roman" panose="02020603050405020304" pitchFamily="18" charset="0"/>
              </a:rPr>
              <a:t>  </a:t>
            </a:r>
            <a:r>
              <a:rPr lang="en-US" altLang="zh-CN" dirty="0">
                <a:solidFill>
                  <a:srgbClr val="0000FF"/>
                </a:solidFill>
                <a:latin typeface="Times New Roman" panose="02020603050405020304" pitchFamily="18" charset="0"/>
                <a:ea typeface="楷体_GB2312" pitchFamily="49" charset="-122"/>
                <a:cs typeface="Times New Roman" panose="02020603050405020304" pitchFamily="18" charset="0"/>
              </a:rPr>
              <a:t>TASK_RUNNING </a:t>
            </a:r>
            <a:r>
              <a:rPr lang="en-US" altLang="zh-CN" dirty="0">
                <a:solidFill>
                  <a:srgbClr val="0000FF"/>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 </a:t>
            </a:r>
            <a:r>
              <a:rPr lang="en-US" altLang="zh-CN" dirty="0">
                <a:solidFill>
                  <a:srgbClr val="0000FF"/>
                </a:solidFill>
                <a:latin typeface="Times New Roman" panose="02020603050405020304" pitchFamily="18" charset="0"/>
                <a:ea typeface="楷体_GB2312" pitchFamily="49" charset="-122"/>
                <a:cs typeface="Times New Roman" panose="02020603050405020304" pitchFamily="18" charset="0"/>
              </a:rPr>
              <a:t>TASK_UNINTERRUPTIBLE</a:t>
            </a:r>
            <a:endParaRPr lang="en-US" altLang="zh-CN" dirty="0">
              <a:solidFill>
                <a:srgbClr val="0000FF"/>
              </a:solidFill>
              <a:latin typeface="Times New Roman" panose="02020603050405020304" pitchFamily="18" charset="0"/>
              <a:ea typeface="楷体_GB2312" pitchFamily="49" charset="-122"/>
              <a:cs typeface="Times New Roman" panose="02020603050405020304" pitchFamily="18" charset="0"/>
            </a:endParaRPr>
          </a:p>
          <a:p>
            <a:pPr>
              <a:lnSpc>
                <a:spcPct val="110000"/>
              </a:lnSpc>
              <a:buFontTx/>
              <a:buNone/>
            </a:pPr>
            <a:endParaRPr lang="en-US" altLang="zh-CN" dirty="0">
              <a:solidFill>
                <a:srgbClr val="0000FF"/>
              </a:solidFill>
              <a:latin typeface="Times New Roman" panose="02020603050405020304" pitchFamily="18" charset="0"/>
              <a:ea typeface="楷体_GB2312" pitchFamily="49" charset="-122"/>
              <a:cs typeface="Times New Roman" panose="02020603050405020304" pitchFamily="18" charset="0"/>
            </a:endParaRPr>
          </a:p>
          <a:p>
            <a:pPr>
              <a:lnSpc>
                <a:spcPct val="110000"/>
              </a:lnSpc>
              <a:buClr>
                <a:srgbClr val="CC3300"/>
              </a:buClr>
              <a:buFont typeface="Wingdings" panose="05000000000000000000" pitchFamily="2" charset="2"/>
              <a:buChar char="ü"/>
            </a:pPr>
            <a:r>
              <a:rPr lang="en-US" altLang="zh-CN" dirty="0" err="1">
                <a:latin typeface="Times New Roman" panose="02020603050405020304" pitchFamily="18" charset="0"/>
                <a:ea typeface="楷体_GB2312" pitchFamily="49" charset="-122"/>
                <a:cs typeface="Times New Roman" panose="02020603050405020304" pitchFamily="18" charset="0"/>
              </a:rPr>
              <a:t>interruptible_sleep_on_timeout</a:t>
            </a:r>
            <a:r>
              <a:rPr lang="zh-CN" altLang="en-US" dirty="0">
                <a:latin typeface="Times New Roman" panose="02020603050405020304" pitchFamily="18" charset="0"/>
                <a:ea typeface="楷体_GB2312" pitchFamily="49" charset="-122"/>
                <a:cs typeface="Times New Roman" panose="02020603050405020304" pitchFamily="18" charset="0"/>
              </a:rPr>
              <a:t>（）：</a:t>
            </a:r>
            <a:endParaRPr lang="zh-CN" altLang="en-US" dirty="0">
              <a:latin typeface="Times New Roman" panose="02020603050405020304" pitchFamily="18" charset="0"/>
              <a:ea typeface="楷体_GB2312" pitchFamily="49" charset="-122"/>
              <a:cs typeface="Times New Roman" panose="02020603050405020304" pitchFamily="18" charset="0"/>
            </a:endParaRPr>
          </a:p>
          <a:p>
            <a:pPr>
              <a:lnSpc>
                <a:spcPct val="110000"/>
              </a:lnSpc>
              <a:buFontTx/>
              <a:buNone/>
            </a:pPr>
            <a:r>
              <a:rPr lang="en-US" altLang="zh-CN" dirty="0">
                <a:latin typeface="Times New Roman" panose="02020603050405020304" pitchFamily="18" charset="0"/>
                <a:ea typeface="楷体_GB2312" pitchFamily="49" charset="-122"/>
                <a:cs typeface="Times New Roman" panose="02020603050405020304" pitchFamily="18" charset="0"/>
              </a:rPr>
              <a:t>  </a:t>
            </a:r>
            <a:r>
              <a:rPr lang="en-US" altLang="zh-CN" dirty="0">
                <a:solidFill>
                  <a:srgbClr val="0000FF"/>
                </a:solidFill>
                <a:latin typeface="Times New Roman" panose="02020603050405020304" pitchFamily="18" charset="0"/>
                <a:ea typeface="楷体_GB2312" pitchFamily="49" charset="-122"/>
                <a:cs typeface="Times New Roman" panose="02020603050405020304" pitchFamily="18" charset="0"/>
              </a:rPr>
              <a:t>TASK_RUNNING </a:t>
            </a:r>
            <a:r>
              <a:rPr lang="en-US" altLang="zh-CN" dirty="0">
                <a:solidFill>
                  <a:srgbClr val="0000FF"/>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 </a:t>
            </a:r>
            <a:r>
              <a:rPr lang="en-US" altLang="zh-CN" dirty="0">
                <a:solidFill>
                  <a:srgbClr val="0000FF"/>
                </a:solidFill>
                <a:latin typeface="Times New Roman" panose="02020603050405020304" pitchFamily="18" charset="0"/>
                <a:ea typeface="楷体_GB2312" pitchFamily="49" charset="-122"/>
                <a:cs typeface="Times New Roman" panose="02020603050405020304" pitchFamily="18" charset="0"/>
              </a:rPr>
              <a:t>TASK_INTERRUPTIBLE</a:t>
            </a:r>
            <a:endParaRPr lang="en-US" altLang="zh-CN" dirty="0">
              <a:solidFill>
                <a:srgbClr val="0000FF"/>
              </a:solidFill>
              <a:latin typeface="Times New Roman" panose="02020603050405020304" pitchFamily="18" charset="0"/>
              <a:ea typeface="楷体_GB2312" pitchFamily="49" charset="-122"/>
              <a:cs typeface="Times New Roman" panose="02020603050405020304" pitchFamily="18" charset="0"/>
            </a:endParaRPr>
          </a:p>
          <a:p>
            <a:pPr lvl="1">
              <a:lnSpc>
                <a:spcPct val="110000"/>
              </a:lnSpc>
              <a:buClr>
                <a:srgbClr val="CC3300"/>
              </a:buClr>
              <a:buFontTx/>
              <a:buChar char="•"/>
            </a:pPr>
            <a:r>
              <a:rPr lang="zh-CN" altLang="en-US" sz="2800" dirty="0">
                <a:latin typeface="Times New Roman" panose="02020603050405020304" pitchFamily="18" charset="0"/>
                <a:ea typeface="楷体_GB2312" pitchFamily="49" charset="-122"/>
                <a:cs typeface="Times New Roman" panose="02020603050405020304" pitchFamily="18" charset="0"/>
              </a:rPr>
              <a:t>虽然在申请资源或运行中出现了某种错误，但是系统仍然给进程一次重新运行的机会。调用该函数将进程从</a:t>
            </a:r>
            <a:r>
              <a:rPr lang="en-US" altLang="zh-CN" sz="2800" dirty="0">
                <a:latin typeface="Times New Roman" panose="02020603050405020304" pitchFamily="18" charset="0"/>
                <a:ea typeface="楷体_GB2312" pitchFamily="49" charset="-122"/>
                <a:cs typeface="Times New Roman" panose="02020603050405020304" pitchFamily="18" charset="0"/>
              </a:rPr>
              <a:t>TASK_RUNNING</a:t>
            </a:r>
            <a:r>
              <a:rPr lang="zh-CN" altLang="en-US" sz="2800" dirty="0">
                <a:latin typeface="Times New Roman" panose="02020603050405020304" pitchFamily="18" charset="0"/>
                <a:ea typeface="楷体_GB2312" pitchFamily="49" charset="-122"/>
                <a:cs typeface="Times New Roman" panose="02020603050405020304" pitchFamily="18" charset="0"/>
              </a:rPr>
              <a:t>切换到</a:t>
            </a:r>
            <a:r>
              <a:rPr lang="en-US" altLang="zh-CN" sz="2800" dirty="0">
                <a:latin typeface="Times New Roman" panose="02020603050405020304" pitchFamily="18" charset="0"/>
                <a:ea typeface="楷体_GB2312" pitchFamily="49" charset="-122"/>
                <a:cs typeface="Times New Roman" panose="02020603050405020304" pitchFamily="18" charset="0"/>
              </a:rPr>
              <a:t>TASK_INTERRUTIBLE</a:t>
            </a:r>
            <a:r>
              <a:rPr lang="zh-CN" altLang="en-US" sz="2800" dirty="0">
                <a:latin typeface="Times New Roman" panose="02020603050405020304" pitchFamily="18" charset="0"/>
                <a:ea typeface="楷体_GB2312" pitchFamily="49" charset="-122"/>
                <a:cs typeface="Times New Roman" panose="02020603050405020304" pitchFamily="18" charset="0"/>
              </a:rPr>
              <a:t>状态，并等待规定的时间片长度</a:t>
            </a:r>
            <a:r>
              <a:rPr lang="en-US" altLang="zh-CN" sz="2800" dirty="0">
                <a:latin typeface="Times New Roman" panose="02020603050405020304" pitchFamily="18" charset="0"/>
                <a:ea typeface="楷体_GB2312" pitchFamily="49" charset="-122"/>
                <a:cs typeface="Times New Roman" panose="02020603050405020304" pitchFamily="18" charset="0"/>
              </a:rPr>
              <a:t>,</a:t>
            </a:r>
            <a:r>
              <a:rPr lang="zh-CN" altLang="en-US" sz="2800" dirty="0">
                <a:latin typeface="Times New Roman" panose="02020603050405020304" pitchFamily="18" charset="0"/>
                <a:ea typeface="楷体_GB2312" pitchFamily="49" charset="-122"/>
                <a:cs typeface="Times New Roman" panose="02020603050405020304" pitchFamily="18" charset="0"/>
              </a:rPr>
              <a:t>再重新试一次。</a:t>
            </a:r>
            <a:endParaRPr lang="zh-CN" altLang="en-US" sz="2800" dirty="0">
              <a:latin typeface="Times New Roman" panose="02020603050405020304" pitchFamily="18" charset="0"/>
              <a:ea typeface="楷体_GB2312" pitchFamily="49" charset="-122"/>
              <a:cs typeface="Times New Roman" panose="02020603050405020304" pitchFamily="18" charset="0"/>
            </a:endParaRPr>
          </a:p>
        </p:txBody>
      </p:sp>
      <p:sp>
        <p:nvSpPr>
          <p:cNvPr id="5" name="标题 1"/>
          <p:cNvSpPr txBox="1"/>
          <p:nvPr/>
        </p:nvSpPr>
        <p:spPr bwMode="black">
          <a:xfrm>
            <a:off x="611188" y="115888"/>
            <a:ext cx="76327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2pPr>
            <a:lvl3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3pPr>
            <a:lvl4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4pPr>
            <a:lvl5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5pPr>
            <a:lvl6pPr marL="4572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6pPr>
            <a:lvl7pPr marL="9144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7pPr>
            <a:lvl8pPr marL="13716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8pPr>
            <a:lvl9pPr marL="18288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9pPr>
          </a:lstStyle>
          <a:p>
            <a:pPr eaLnBrk="1" hangingPunct="1"/>
            <a:r>
              <a:rPr lang="en-US" altLang="zh-CN" kern="0" dirty="0">
                <a:latin typeface="Times New Roman" panose="02020603050405020304" pitchFamily="18" charset="0"/>
                <a:ea typeface="楷体_GB2312" pitchFamily="49" charset="-122"/>
                <a:cs typeface="Times New Roman" panose="02020603050405020304" pitchFamily="18" charset="0"/>
              </a:rPr>
              <a:t>2.2 Linux</a:t>
            </a:r>
            <a:r>
              <a:rPr lang="zh-CN" altLang="en-US" kern="0" dirty="0">
                <a:latin typeface="Times New Roman" panose="02020603050405020304" pitchFamily="18" charset="0"/>
                <a:ea typeface="楷体_GB2312" pitchFamily="49" charset="-122"/>
                <a:cs typeface="Times New Roman" panose="02020603050405020304" pitchFamily="18" charset="0"/>
              </a:rPr>
              <a:t>进程的状态</a:t>
            </a:r>
            <a:r>
              <a:rPr lang="zh-CN" altLang="en-US" dirty="0">
                <a:latin typeface="Times New Roman" panose="02020603050405020304" pitchFamily="18" charset="0"/>
                <a:ea typeface="楷体_GB2312" pitchFamily="49" charset="-122"/>
                <a:cs typeface="Times New Roman" panose="02020603050405020304" pitchFamily="18" charset="0"/>
              </a:rPr>
              <a:t>及转换</a:t>
            </a:r>
            <a:endParaRPr lang="zh-CN" altLang="en-US" b="0" kern="0"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p:cNvSpPr>
            <a:spLocks noGrp="1" noChangeArrowheads="1"/>
          </p:cNvSpPr>
          <p:nvPr>
            <p:ph type="body" idx="1"/>
          </p:nvPr>
        </p:nvSpPr>
        <p:spPr>
          <a:xfrm>
            <a:off x="70868" y="834802"/>
            <a:ext cx="8713340" cy="4970462"/>
          </a:xfrm>
        </p:spPr>
        <p:txBody>
          <a:bodyPr/>
          <a:lstStyle/>
          <a:p>
            <a:pPr>
              <a:lnSpc>
                <a:spcPct val="110000"/>
              </a:lnSpc>
              <a:buClr>
                <a:srgbClr val="CC3300"/>
              </a:buClr>
              <a:buFont typeface="Wingdings" panose="05000000000000000000" pitchFamily="2" charset="2"/>
              <a:buChar char="ü"/>
            </a:pPr>
            <a:r>
              <a:rPr lang="en-US" altLang="zh-CN" sz="32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3600" dirty="0" err="1">
                <a:solidFill>
                  <a:srgbClr val="FF0000"/>
                </a:solidFill>
                <a:latin typeface="Times New Roman" panose="02020603050405020304" pitchFamily="18" charset="0"/>
                <a:ea typeface="楷体_GB2312" pitchFamily="49" charset="-122"/>
                <a:cs typeface="Times New Roman" panose="02020603050405020304" pitchFamily="18" charset="0"/>
              </a:rPr>
              <a:t>wake_up</a:t>
            </a:r>
            <a:r>
              <a:rPr lang="en-US" altLang="zh-CN" sz="3600" dirty="0">
                <a:solidFill>
                  <a:srgbClr val="FF0000"/>
                </a:solidFill>
                <a:latin typeface="Times New Roman" panose="02020603050405020304" pitchFamily="18" charset="0"/>
                <a:ea typeface="楷体_GB2312" pitchFamily="49" charset="-122"/>
                <a:cs typeface="Times New Roman" panose="02020603050405020304" pitchFamily="18" charset="0"/>
              </a:rPr>
              <a:t>()</a:t>
            </a:r>
            <a:endParaRPr lang="en-US" altLang="zh-CN" sz="3600" dirty="0">
              <a:solidFill>
                <a:srgbClr val="FF0000"/>
              </a:solidFill>
              <a:latin typeface="Times New Roman" panose="02020603050405020304" pitchFamily="18" charset="0"/>
              <a:ea typeface="楷体_GB2312" pitchFamily="49" charset="-122"/>
              <a:cs typeface="Times New Roman" panose="02020603050405020304" pitchFamily="18" charset="0"/>
            </a:endParaRPr>
          </a:p>
          <a:p>
            <a:pPr>
              <a:lnSpc>
                <a:spcPct val="110000"/>
              </a:lnSpc>
              <a:buFontTx/>
              <a:buNone/>
            </a:pPr>
            <a:r>
              <a:rPr lang="en-US" altLang="zh-CN" sz="3600" dirty="0">
                <a:latin typeface="Times New Roman" panose="02020603050405020304" pitchFamily="18" charset="0"/>
                <a:ea typeface="楷体_GB2312" pitchFamily="49" charset="-122"/>
                <a:cs typeface="Times New Roman" panose="02020603050405020304" pitchFamily="18" charset="0"/>
              </a:rPr>
              <a:t>    </a:t>
            </a:r>
            <a:r>
              <a:rPr lang="en-US" altLang="zh-CN" dirty="0">
                <a:solidFill>
                  <a:srgbClr val="0000FF"/>
                </a:solidFill>
                <a:latin typeface="Times New Roman" panose="02020603050405020304" pitchFamily="18" charset="0"/>
                <a:ea typeface="楷体_GB2312" pitchFamily="49" charset="-122"/>
                <a:cs typeface="Times New Roman" panose="02020603050405020304" pitchFamily="18" charset="0"/>
              </a:rPr>
              <a:t>TASK_UNINTERRUPTIBLE</a:t>
            </a:r>
            <a:r>
              <a:rPr lang="en-US" altLang="zh-CN" dirty="0">
                <a:solidFill>
                  <a:srgbClr val="0000FF"/>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a:t>
            </a:r>
            <a:r>
              <a:rPr lang="en-US" altLang="zh-CN" dirty="0">
                <a:solidFill>
                  <a:srgbClr val="0000FF"/>
                </a:solidFill>
                <a:latin typeface="Times New Roman" panose="02020603050405020304" pitchFamily="18" charset="0"/>
                <a:ea typeface="楷体_GB2312" pitchFamily="49" charset="-122"/>
                <a:cs typeface="Times New Roman" panose="02020603050405020304" pitchFamily="18" charset="0"/>
              </a:rPr>
              <a:t>TASK_RUNNING</a:t>
            </a:r>
            <a:endParaRPr lang="en-US" altLang="zh-CN" dirty="0">
              <a:solidFill>
                <a:srgbClr val="0000FF"/>
              </a:solidFill>
              <a:latin typeface="Times New Roman" panose="02020603050405020304" pitchFamily="18" charset="0"/>
              <a:ea typeface="楷体_GB2312" pitchFamily="49" charset="-122"/>
              <a:cs typeface="Times New Roman" panose="02020603050405020304" pitchFamily="18" charset="0"/>
            </a:endParaRPr>
          </a:p>
          <a:p>
            <a:pPr>
              <a:lnSpc>
                <a:spcPct val="110000"/>
              </a:lnSpc>
              <a:buFontTx/>
              <a:buNone/>
            </a:pPr>
            <a:r>
              <a:rPr lang="en-US" altLang="zh-CN" sz="3200" dirty="0">
                <a:solidFill>
                  <a:srgbClr val="0000FF"/>
                </a:solidFill>
                <a:latin typeface="Times New Roman" panose="02020603050405020304" pitchFamily="18" charset="0"/>
                <a:ea typeface="楷体_GB2312" pitchFamily="49" charset="-122"/>
                <a:cs typeface="Times New Roman" panose="02020603050405020304" pitchFamily="18" charset="0"/>
              </a:rPr>
              <a:t>     </a:t>
            </a:r>
            <a:r>
              <a:rPr lang="en-US" altLang="zh-CN" dirty="0">
                <a:solidFill>
                  <a:srgbClr val="0000FF"/>
                </a:solidFill>
                <a:latin typeface="Times New Roman" panose="02020603050405020304" pitchFamily="18" charset="0"/>
                <a:ea typeface="楷体_GB2312" pitchFamily="49" charset="-122"/>
                <a:cs typeface="Times New Roman" panose="02020603050405020304" pitchFamily="18" charset="0"/>
              </a:rPr>
              <a:t>TASK_INTERRUPTIBLE</a:t>
            </a:r>
            <a:r>
              <a:rPr lang="en-US" altLang="zh-CN" dirty="0">
                <a:solidFill>
                  <a:srgbClr val="0000FF"/>
                </a:solidFill>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  </a:t>
            </a:r>
            <a:r>
              <a:rPr lang="en-US" altLang="zh-CN" dirty="0">
                <a:solidFill>
                  <a:srgbClr val="0000FF"/>
                </a:solidFill>
                <a:latin typeface="Times New Roman" panose="02020603050405020304" pitchFamily="18" charset="0"/>
                <a:ea typeface="楷体_GB2312" pitchFamily="49" charset="-122"/>
                <a:cs typeface="Times New Roman" panose="02020603050405020304" pitchFamily="18" charset="0"/>
              </a:rPr>
              <a:t>TASK_RUNNING</a:t>
            </a:r>
            <a:endParaRPr lang="en-US" altLang="zh-CN" dirty="0">
              <a:solidFill>
                <a:srgbClr val="0000FF"/>
              </a:solidFill>
              <a:latin typeface="Times New Roman" panose="02020603050405020304" pitchFamily="18" charset="0"/>
              <a:ea typeface="楷体_GB2312" pitchFamily="49" charset="-122"/>
              <a:cs typeface="Times New Roman" panose="02020603050405020304" pitchFamily="18" charset="0"/>
            </a:endParaRPr>
          </a:p>
          <a:p>
            <a:pPr lvl="1">
              <a:lnSpc>
                <a:spcPct val="110000"/>
              </a:lnSpc>
              <a:buClr>
                <a:srgbClr val="CC3300"/>
              </a:buClr>
              <a:buFontTx/>
              <a:buChar char="•"/>
            </a:pPr>
            <a:r>
              <a:rPr lang="zh-CN" altLang="en-US" dirty="0">
                <a:latin typeface="Times New Roman" panose="02020603050405020304" pitchFamily="18" charset="0"/>
                <a:ea typeface="楷体_GB2312" pitchFamily="49" charset="-122"/>
                <a:cs typeface="Times New Roman" panose="02020603050405020304" pitchFamily="18" charset="0"/>
              </a:rPr>
              <a:t>处于</a:t>
            </a:r>
            <a:r>
              <a:rPr lang="en-US" altLang="zh-CN" dirty="0">
                <a:latin typeface="Times New Roman" panose="02020603050405020304" pitchFamily="18" charset="0"/>
                <a:ea typeface="楷体_GB2312" pitchFamily="49" charset="-122"/>
                <a:cs typeface="Times New Roman" panose="02020603050405020304" pitchFamily="18" charset="0"/>
              </a:rPr>
              <a:t>TASK_INTERRUPTIBLE</a:t>
            </a:r>
            <a:r>
              <a:rPr lang="zh-CN" altLang="en-US" dirty="0">
                <a:latin typeface="Times New Roman" panose="02020603050405020304" pitchFamily="18" charset="0"/>
                <a:ea typeface="楷体_GB2312" pitchFamily="49" charset="-122"/>
                <a:cs typeface="Times New Roman" panose="02020603050405020304" pitchFamily="18" charset="0"/>
              </a:rPr>
              <a:t>状态的进程可在资源有效时被</a:t>
            </a:r>
            <a:r>
              <a:rPr lang="en-US" altLang="zh-CN" dirty="0" err="1">
                <a:latin typeface="Times New Roman" panose="02020603050405020304" pitchFamily="18" charset="0"/>
                <a:ea typeface="楷体_GB2312" pitchFamily="49" charset="-122"/>
                <a:cs typeface="Times New Roman" panose="02020603050405020304" pitchFamily="18" charset="0"/>
              </a:rPr>
              <a:t>wake_up</a:t>
            </a:r>
            <a:r>
              <a:rPr lang="en-US" altLang="zh-CN" dirty="0">
                <a:latin typeface="Times New Roman" panose="02020603050405020304" pitchFamily="18" charset="0"/>
                <a:ea typeface="楷体_GB2312" pitchFamily="49" charset="-122"/>
                <a:cs typeface="Times New Roman" panose="02020603050405020304" pitchFamily="18" charset="0"/>
              </a:rPr>
              <a:t>()</a:t>
            </a:r>
            <a:r>
              <a:rPr lang="zh-CN" altLang="en-US" dirty="0">
                <a:latin typeface="Times New Roman" panose="02020603050405020304" pitchFamily="18" charset="0"/>
                <a:ea typeface="楷体_GB2312" pitchFamily="49" charset="-122"/>
                <a:cs typeface="Times New Roman" panose="02020603050405020304" pitchFamily="18" charset="0"/>
              </a:rPr>
              <a:t>、</a:t>
            </a:r>
            <a:r>
              <a:rPr lang="en-US" altLang="zh-CN" dirty="0" err="1">
                <a:latin typeface="Times New Roman" panose="02020603050405020304" pitchFamily="18" charset="0"/>
                <a:ea typeface="楷体_GB2312" pitchFamily="49" charset="-122"/>
                <a:cs typeface="Times New Roman" panose="02020603050405020304" pitchFamily="18" charset="0"/>
              </a:rPr>
              <a:t>wake_up_interruptible</a:t>
            </a:r>
            <a:r>
              <a:rPr lang="en-US" altLang="zh-CN" dirty="0">
                <a:latin typeface="Times New Roman" panose="02020603050405020304" pitchFamily="18" charset="0"/>
                <a:ea typeface="楷体_GB2312" pitchFamily="49" charset="-122"/>
                <a:cs typeface="Times New Roman" panose="02020603050405020304" pitchFamily="18" charset="0"/>
              </a:rPr>
              <a:t>()</a:t>
            </a:r>
            <a:r>
              <a:rPr lang="zh-CN" altLang="en-US" dirty="0">
                <a:latin typeface="Times New Roman" panose="02020603050405020304" pitchFamily="18" charset="0"/>
                <a:ea typeface="楷体_GB2312" pitchFamily="49" charset="-122"/>
                <a:cs typeface="Times New Roman" panose="02020603050405020304" pitchFamily="18" charset="0"/>
              </a:rPr>
              <a:t>或</a:t>
            </a:r>
            <a:r>
              <a:rPr lang="en-US" altLang="zh-CN" dirty="0" err="1">
                <a:latin typeface="Times New Roman" panose="02020603050405020304" pitchFamily="18" charset="0"/>
                <a:ea typeface="楷体_GB2312" pitchFamily="49" charset="-122"/>
                <a:cs typeface="Times New Roman" panose="02020603050405020304" pitchFamily="18" charset="0"/>
              </a:rPr>
              <a:t>wake_up_process</a:t>
            </a:r>
            <a:r>
              <a:rPr lang="en-US" altLang="zh-CN" dirty="0">
                <a:latin typeface="Times New Roman" panose="02020603050405020304" pitchFamily="18" charset="0"/>
                <a:ea typeface="楷体_GB2312" pitchFamily="49" charset="-122"/>
                <a:cs typeface="Times New Roman" panose="02020603050405020304" pitchFamily="18" charset="0"/>
              </a:rPr>
              <a:t>()</a:t>
            </a:r>
            <a:r>
              <a:rPr lang="zh-CN" altLang="en-US" dirty="0">
                <a:latin typeface="Times New Roman" panose="02020603050405020304" pitchFamily="18" charset="0"/>
                <a:ea typeface="楷体_GB2312" pitchFamily="49" charset="-122"/>
                <a:cs typeface="Times New Roman" panose="02020603050405020304" pitchFamily="18" charset="0"/>
              </a:rPr>
              <a:t>唤醒</a:t>
            </a:r>
            <a:endParaRPr lang="en-US" altLang="zh-CN" dirty="0">
              <a:latin typeface="Times New Roman" panose="02020603050405020304" pitchFamily="18" charset="0"/>
              <a:ea typeface="楷体_GB2312" pitchFamily="49" charset="-122"/>
              <a:cs typeface="Times New Roman" panose="02020603050405020304" pitchFamily="18" charset="0"/>
            </a:endParaRPr>
          </a:p>
          <a:p>
            <a:pPr lvl="1">
              <a:lnSpc>
                <a:spcPct val="110000"/>
              </a:lnSpc>
              <a:buClr>
                <a:srgbClr val="CC3300"/>
              </a:buClr>
              <a:buFontTx/>
              <a:buChar char="•"/>
            </a:pPr>
            <a:r>
              <a:rPr lang="zh-CN" altLang="en-US" dirty="0">
                <a:latin typeface="Times New Roman" panose="02020603050405020304" pitchFamily="18" charset="0"/>
                <a:ea typeface="楷体_GB2312" pitchFamily="49" charset="-122"/>
                <a:cs typeface="Times New Roman" panose="02020603050405020304" pitchFamily="18" charset="0"/>
              </a:rPr>
              <a:t>处于</a:t>
            </a:r>
            <a:r>
              <a:rPr lang="en-US" altLang="zh-CN" dirty="0">
                <a:latin typeface="Times New Roman" panose="02020603050405020304" pitchFamily="18" charset="0"/>
                <a:ea typeface="楷体_GB2312" pitchFamily="49" charset="-122"/>
                <a:cs typeface="Times New Roman" panose="02020603050405020304" pitchFamily="18" charset="0"/>
              </a:rPr>
              <a:t>TASK_UNINTERRUPTIBLE</a:t>
            </a:r>
            <a:r>
              <a:rPr lang="zh-CN" altLang="en-US" dirty="0">
                <a:latin typeface="Times New Roman" panose="02020603050405020304" pitchFamily="18" charset="0"/>
                <a:ea typeface="楷体_GB2312" pitchFamily="49" charset="-122"/>
                <a:cs typeface="Times New Roman" panose="02020603050405020304" pitchFamily="18" charset="0"/>
              </a:rPr>
              <a:t>状态的进程不能由</a:t>
            </a:r>
            <a:r>
              <a:rPr lang="en-US" altLang="zh-CN" dirty="0">
                <a:latin typeface="Times New Roman" panose="02020603050405020304" pitchFamily="18" charset="0"/>
                <a:ea typeface="楷体_GB2312" pitchFamily="49" charset="-122"/>
                <a:cs typeface="Times New Roman" panose="02020603050405020304" pitchFamily="18" charset="0"/>
              </a:rPr>
              <a:t>signal</a:t>
            </a:r>
            <a:r>
              <a:rPr lang="zh-CN" altLang="en-US" dirty="0">
                <a:latin typeface="Times New Roman" panose="02020603050405020304" pitchFamily="18" charset="0"/>
                <a:ea typeface="楷体_GB2312" pitchFamily="49" charset="-122"/>
                <a:cs typeface="Times New Roman" panose="02020603050405020304" pitchFamily="18" charset="0"/>
              </a:rPr>
              <a:t>信号或时钟中断唤醒，只能由</a:t>
            </a:r>
            <a:r>
              <a:rPr lang="en-US" altLang="zh-CN" dirty="0" err="1">
                <a:latin typeface="Times New Roman" panose="02020603050405020304" pitchFamily="18" charset="0"/>
                <a:ea typeface="楷体_GB2312" pitchFamily="49" charset="-122"/>
                <a:cs typeface="Times New Roman" panose="02020603050405020304" pitchFamily="18" charset="0"/>
              </a:rPr>
              <a:t>wake_up</a:t>
            </a:r>
            <a:r>
              <a:rPr lang="en-US" altLang="zh-CN" dirty="0">
                <a:latin typeface="Times New Roman" panose="02020603050405020304" pitchFamily="18" charset="0"/>
                <a:ea typeface="楷体_GB2312" pitchFamily="49" charset="-122"/>
                <a:cs typeface="Times New Roman" panose="02020603050405020304" pitchFamily="18" charset="0"/>
              </a:rPr>
              <a:t>()</a:t>
            </a:r>
            <a:r>
              <a:rPr lang="zh-CN" altLang="en-US" dirty="0">
                <a:latin typeface="Times New Roman" panose="02020603050405020304" pitchFamily="18" charset="0"/>
                <a:ea typeface="楷体_GB2312" pitchFamily="49" charset="-122"/>
                <a:cs typeface="Times New Roman" panose="02020603050405020304" pitchFamily="18" charset="0"/>
              </a:rPr>
              <a:t>或</a:t>
            </a:r>
            <a:r>
              <a:rPr lang="en-US" altLang="zh-CN" dirty="0" err="1">
                <a:latin typeface="Times New Roman" panose="02020603050405020304" pitchFamily="18" charset="0"/>
                <a:ea typeface="楷体_GB2312" pitchFamily="49" charset="-122"/>
                <a:cs typeface="Times New Roman" panose="02020603050405020304" pitchFamily="18" charset="0"/>
              </a:rPr>
              <a:t>wake_up_process</a:t>
            </a:r>
            <a:r>
              <a:rPr lang="en-US" altLang="zh-CN" dirty="0">
                <a:latin typeface="Times New Roman" panose="02020603050405020304" pitchFamily="18" charset="0"/>
                <a:ea typeface="楷体_GB2312" pitchFamily="49" charset="-122"/>
                <a:cs typeface="Times New Roman" panose="02020603050405020304" pitchFamily="18" charset="0"/>
              </a:rPr>
              <a:t>()</a:t>
            </a:r>
            <a:r>
              <a:rPr lang="zh-CN" altLang="en-US" dirty="0">
                <a:latin typeface="Times New Roman" panose="02020603050405020304" pitchFamily="18" charset="0"/>
                <a:ea typeface="楷体_GB2312" pitchFamily="49" charset="-122"/>
                <a:cs typeface="Times New Roman" panose="02020603050405020304" pitchFamily="18" charset="0"/>
              </a:rPr>
              <a:t>唤醒。</a:t>
            </a:r>
            <a:endParaRPr lang="en-US" altLang="zh-CN" dirty="0">
              <a:latin typeface="Times New Roman" panose="02020603050405020304" pitchFamily="18" charset="0"/>
              <a:ea typeface="楷体_GB2312" pitchFamily="49" charset="-122"/>
              <a:cs typeface="Times New Roman" panose="02020603050405020304" pitchFamily="18" charset="0"/>
            </a:endParaRPr>
          </a:p>
          <a:p>
            <a:pPr lvl="1">
              <a:lnSpc>
                <a:spcPct val="110000"/>
              </a:lnSpc>
              <a:buClr>
                <a:srgbClr val="CC3300"/>
              </a:buClr>
              <a:buFontTx/>
              <a:buChar char="•"/>
            </a:pPr>
            <a:endParaRPr lang="zh-CN" altLang="en-US" sz="3200" dirty="0">
              <a:latin typeface="Times New Roman" panose="02020603050405020304" pitchFamily="18" charset="0"/>
              <a:ea typeface="楷体_GB2312" pitchFamily="49" charset="-122"/>
              <a:cs typeface="Times New Roman" panose="02020603050405020304" pitchFamily="18" charset="0"/>
            </a:endParaRPr>
          </a:p>
          <a:p>
            <a:pPr lvl="1">
              <a:lnSpc>
                <a:spcPct val="110000"/>
              </a:lnSpc>
              <a:buClr>
                <a:srgbClr val="CC3300"/>
              </a:buClr>
              <a:buFontTx/>
              <a:buChar char="•"/>
            </a:pPr>
            <a:endParaRPr lang="zh-CN" altLang="en-US" sz="3200" dirty="0">
              <a:latin typeface="Times New Roman" panose="02020603050405020304" pitchFamily="18" charset="0"/>
              <a:ea typeface="楷体_GB2312" pitchFamily="49" charset="-122"/>
              <a:cs typeface="Times New Roman" panose="02020603050405020304" pitchFamily="18" charset="0"/>
            </a:endParaRPr>
          </a:p>
          <a:p>
            <a:pPr>
              <a:lnSpc>
                <a:spcPct val="110000"/>
              </a:lnSpc>
              <a:buFontTx/>
              <a:buNone/>
            </a:pPr>
            <a:r>
              <a:rPr lang="zh-CN" altLang="en-US" sz="3200" dirty="0">
                <a:latin typeface="Times New Roman" panose="02020603050405020304" pitchFamily="18" charset="0"/>
                <a:ea typeface="楷体_GB2312" pitchFamily="49" charset="-122"/>
                <a:cs typeface="Times New Roman" panose="02020603050405020304" pitchFamily="18" charset="0"/>
              </a:rPr>
              <a:t>      </a:t>
            </a:r>
            <a:endParaRPr lang="zh-CN" altLang="en-US" sz="3200" dirty="0">
              <a:latin typeface="Times New Roman" panose="02020603050405020304" pitchFamily="18" charset="0"/>
              <a:cs typeface="Times New Roman" panose="02020603050405020304" pitchFamily="18" charset="0"/>
            </a:endParaRPr>
          </a:p>
        </p:txBody>
      </p:sp>
      <p:sp>
        <p:nvSpPr>
          <p:cNvPr id="29699" name="Rectangle 5"/>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楷体_GB2312" pitchFamily="49" charset="-122"/>
                <a:cs typeface="Times New Roman" panose="02020603050405020304" pitchFamily="18" charset="0"/>
              </a:rPr>
              <a:t>2.2 Linux</a:t>
            </a:r>
            <a:r>
              <a:rPr lang="zh-CN" altLang="en-US" dirty="0">
                <a:latin typeface="Times New Roman" panose="02020603050405020304" pitchFamily="18" charset="0"/>
                <a:ea typeface="楷体_GB2312" pitchFamily="49" charset="-122"/>
                <a:cs typeface="Times New Roman" panose="02020603050405020304" pitchFamily="18" charset="0"/>
              </a:rPr>
              <a:t>进程的状态及转换</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7092280" y="965225"/>
            <a:ext cx="1450504" cy="519559"/>
          </a:xfrm>
          <a:solidFill>
            <a:schemeClr val="bg2"/>
          </a:solidFill>
        </p:spPr>
        <p:txBody>
          <a:bodyPr/>
          <a:lstStyle/>
          <a:p>
            <a:pPr eaLnBrk="1" hangingPunct="1"/>
            <a:r>
              <a:rPr lang="zh-CN" altLang="en-US" sz="2000" dirty="0">
                <a:latin typeface="Times New Roman" panose="02020603050405020304" pitchFamily="18" charset="0"/>
                <a:ea typeface="楷体_GB2312" pitchFamily="49" charset="-122"/>
                <a:cs typeface="Times New Roman" panose="02020603050405020304" pitchFamily="18" charset="0"/>
              </a:rPr>
              <a:t>进程标识</a:t>
            </a:r>
            <a:endParaRPr lang="zh-CN" altLang="en-US" sz="2000" dirty="0">
              <a:latin typeface="Times New Roman" panose="02020603050405020304" pitchFamily="18" charset="0"/>
              <a:ea typeface="楷体_GB2312" pitchFamily="49" charset="-122"/>
              <a:cs typeface="Times New Roman" panose="02020603050405020304" pitchFamily="18" charset="0"/>
            </a:endParaRPr>
          </a:p>
        </p:txBody>
      </p:sp>
      <p:sp>
        <p:nvSpPr>
          <p:cNvPr id="5123" name="Rectangle 3"/>
          <p:cNvSpPr>
            <a:spLocks noGrp="1" noChangeArrowheads="1"/>
          </p:cNvSpPr>
          <p:nvPr>
            <p:ph type="body" idx="1"/>
          </p:nvPr>
        </p:nvSpPr>
        <p:spPr>
          <a:xfrm>
            <a:off x="395288" y="965225"/>
            <a:ext cx="8291512" cy="5272087"/>
          </a:xfrm>
        </p:spPr>
        <p:txBody>
          <a:bodyPr/>
          <a:lstStyle/>
          <a:p>
            <a:pPr eaLnBrk="1" hangingPunct="1">
              <a:lnSpc>
                <a:spcPct val="90000"/>
              </a:lnSpc>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成员名：</a:t>
            </a:r>
            <a:r>
              <a:rPr lang="en-US" altLang="zh-CN" dirty="0" err="1">
                <a:solidFill>
                  <a:srgbClr val="FF0000"/>
                </a:solidFill>
                <a:latin typeface="Times New Roman" panose="02020603050405020304" pitchFamily="18" charset="0"/>
                <a:ea typeface="楷体_GB2312" pitchFamily="49" charset="-122"/>
                <a:cs typeface="Times New Roman" panose="02020603050405020304" pitchFamily="18" charset="0"/>
              </a:rPr>
              <a:t>pid</a:t>
            </a:r>
            <a:endPar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endParaRPr>
          </a:p>
          <a:p>
            <a:pPr eaLnBrk="1" hangingPunct="1">
              <a:lnSpc>
                <a:spcPct val="90000"/>
              </a:lnSpc>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功能</a:t>
            </a:r>
            <a:endParaRPr lang="en-US" altLang="zh-CN" dirty="0">
              <a:latin typeface="Times New Roman" panose="02020603050405020304" pitchFamily="18" charset="0"/>
              <a:ea typeface="楷体_GB2312" pitchFamily="49" charset="-122"/>
              <a:cs typeface="Times New Roman" panose="02020603050405020304" pitchFamily="18" charset="0"/>
            </a:endParaRPr>
          </a:p>
          <a:p>
            <a:pPr lvl="1" eaLnBrk="1" hangingPunct="1">
              <a:lnSpc>
                <a:spcPct val="90000"/>
              </a:lnSpc>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内核通过</a:t>
            </a:r>
            <a:r>
              <a:rPr lang="en-US" altLang="zh-CN" dirty="0" err="1">
                <a:latin typeface="Times New Roman" panose="02020603050405020304" pitchFamily="18" charset="0"/>
                <a:ea typeface="楷体_GB2312" pitchFamily="49" charset="-122"/>
                <a:cs typeface="Times New Roman" panose="02020603050405020304" pitchFamily="18" charset="0"/>
              </a:rPr>
              <a:t>pid</a:t>
            </a:r>
            <a:r>
              <a:rPr lang="zh-CN" altLang="en-US" dirty="0">
                <a:latin typeface="Times New Roman" panose="02020603050405020304" pitchFamily="18" charset="0"/>
                <a:ea typeface="楷体_GB2312" pitchFamily="49" charset="-122"/>
                <a:cs typeface="Times New Roman" panose="02020603050405020304" pitchFamily="18" charset="0"/>
              </a:rPr>
              <a:t>标识每个进程</a:t>
            </a:r>
            <a:endParaRPr lang="en-US" altLang="zh-CN" dirty="0">
              <a:latin typeface="Times New Roman" panose="02020603050405020304" pitchFamily="18" charset="0"/>
              <a:ea typeface="楷体_GB2312" pitchFamily="49" charset="-122"/>
              <a:cs typeface="Times New Roman" panose="02020603050405020304" pitchFamily="18" charset="0"/>
            </a:endParaRPr>
          </a:p>
          <a:p>
            <a:pPr lvl="1" eaLnBrk="1" hangingPunct="1">
              <a:lnSpc>
                <a:spcPct val="90000"/>
              </a:lnSpc>
              <a:buFont typeface="Arial" panose="020B0604020202020204" pitchFamily="34" charset="0"/>
              <a:buChar char="•"/>
            </a:pPr>
            <a:r>
              <a:rPr lang="en-US" altLang="zh-CN" dirty="0" err="1">
                <a:latin typeface="Times New Roman" panose="02020603050405020304" pitchFamily="18" charset="0"/>
                <a:ea typeface="楷体_GB2312" pitchFamily="49" charset="-122"/>
                <a:cs typeface="Times New Roman" panose="02020603050405020304" pitchFamily="18" charset="0"/>
              </a:rPr>
              <a:t>pid</a:t>
            </a:r>
            <a:r>
              <a:rPr lang="zh-CN" altLang="en-US" dirty="0">
                <a:latin typeface="Times New Roman" panose="02020603050405020304" pitchFamily="18" charset="0"/>
                <a:ea typeface="楷体_GB2312" pitchFamily="49" charset="-122"/>
                <a:cs typeface="Times New Roman" panose="02020603050405020304" pitchFamily="18" charset="0"/>
              </a:rPr>
              <a:t>与进程描述符之间一一对应关系</a:t>
            </a: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lnSpc>
                <a:spcPct val="90000"/>
              </a:lnSpc>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数据类型说明</a:t>
            </a:r>
            <a:endParaRPr lang="en-US" altLang="zh-CN" dirty="0">
              <a:latin typeface="Times New Roman" panose="02020603050405020304" pitchFamily="18" charset="0"/>
              <a:ea typeface="楷体_GB2312" pitchFamily="49" charset="-122"/>
              <a:cs typeface="Times New Roman" panose="02020603050405020304" pitchFamily="18" charset="0"/>
            </a:endParaRPr>
          </a:p>
          <a:p>
            <a:pPr lvl="1" eaLnBrk="1" hangingPunct="1">
              <a:lnSpc>
                <a:spcPct val="90000"/>
              </a:lnSpc>
              <a:buFont typeface="Arial" panose="020B0604020202020204" pitchFamily="34" charset="0"/>
              <a:buChar char="•"/>
            </a:pPr>
            <a:r>
              <a:rPr lang="en-US" altLang="zh-CN" dirty="0" err="1">
                <a:solidFill>
                  <a:srgbClr val="FF0000"/>
                </a:solidFill>
                <a:latin typeface="Times New Roman" panose="02020603050405020304" pitchFamily="18" charset="0"/>
                <a:ea typeface="楷体_GB2312" pitchFamily="49" charset="-122"/>
                <a:cs typeface="Times New Roman" panose="02020603050405020304" pitchFamily="18" charset="0"/>
              </a:rPr>
              <a:t>pid_t</a:t>
            </a:r>
            <a:r>
              <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zh-CN" altLang="en-US" dirty="0">
                <a:latin typeface="Times New Roman" panose="02020603050405020304" pitchFamily="18" charset="0"/>
                <a:ea typeface="楷体_GB2312" pitchFamily="49" charset="-122"/>
                <a:cs typeface="Times New Roman" panose="02020603050405020304" pitchFamily="18" charset="0"/>
              </a:rPr>
              <a:t>实际上是一个</a:t>
            </a:r>
            <a:r>
              <a:rPr lang="en-US" altLang="zh-CN" dirty="0" err="1">
                <a:latin typeface="Times New Roman" panose="02020603050405020304" pitchFamily="18" charset="0"/>
                <a:ea typeface="楷体_GB2312" pitchFamily="49" charset="-122"/>
                <a:cs typeface="Times New Roman" panose="02020603050405020304" pitchFamily="18" charset="0"/>
              </a:rPr>
              <a:t>int</a:t>
            </a:r>
            <a:r>
              <a:rPr lang="zh-CN" altLang="en-US" dirty="0">
                <a:latin typeface="Times New Roman" panose="02020603050405020304" pitchFamily="18" charset="0"/>
                <a:ea typeface="楷体_GB2312" pitchFamily="49" charset="-122"/>
                <a:cs typeface="Times New Roman" panose="02020603050405020304" pitchFamily="18" charset="0"/>
              </a:rPr>
              <a:t>类型</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lnSpc>
                <a:spcPct val="90000"/>
              </a:lnSpc>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取值范围：</a:t>
            </a:r>
            <a:r>
              <a:rPr lang="en-US" altLang="zh-CN" dirty="0">
                <a:latin typeface="Times New Roman" panose="02020603050405020304" pitchFamily="18" charset="0"/>
                <a:ea typeface="楷体_GB2312" pitchFamily="49" charset="-122"/>
                <a:cs typeface="Times New Roman" panose="02020603050405020304" pitchFamily="18" charset="0"/>
              </a:rPr>
              <a:t>0 ~ 32767</a:t>
            </a:r>
            <a:endParaRPr lang="en-US" altLang="zh-CN" dirty="0">
              <a:latin typeface="Times New Roman" panose="02020603050405020304" pitchFamily="18" charset="0"/>
              <a:ea typeface="楷体_GB2312" pitchFamily="49" charset="-122"/>
              <a:cs typeface="Times New Roman" panose="02020603050405020304" pitchFamily="18" charset="0"/>
            </a:endParaRPr>
          </a:p>
          <a:p>
            <a:pPr lvl="1" eaLnBrk="1" hangingPunct="1">
              <a:lnSpc>
                <a:spcPct val="90000"/>
              </a:lnSpc>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最大值修改：</a:t>
            </a:r>
            <a:r>
              <a:rPr lang="en-US" altLang="zh-CN" dirty="0">
                <a:latin typeface="Times New Roman" panose="02020603050405020304" pitchFamily="18" charset="0"/>
                <a:ea typeface="楷体_GB2312" pitchFamily="49" charset="-122"/>
                <a:cs typeface="Times New Roman" panose="02020603050405020304" pitchFamily="18" charset="0"/>
              </a:rPr>
              <a:t>/</a:t>
            </a:r>
            <a:r>
              <a:rPr lang="en-US" altLang="zh-CN" dirty="0" err="1">
                <a:latin typeface="Times New Roman" panose="02020603050405020304" pitchFamily="18" charset="0"/>
                <a:ea typeface="楷体_GB2312" pitchFamily="49" charset="-122"/>
                <a:cs typeface="Times New Roman" panose="02020603050405020304" pitchFamily="18" charset="0"/>
              </a:rPr>
              <a:t>proc</a:t>
            </a:r>
            <a:r>
              <a:rPr lang="en-US" altLang="zh-CN" dirty="0">
                <a:latin typeface="Times New Roman" panose="02020603050405020304" pitchFamily="18" charset="0"/>
                <a:ea typeface="楷体_GB2312" pitchFamily="49" charset="-122"/>
                <a:cs typeface="Times New Roman" panose="02020603050405020304" pitchFamily="18" charset="0"/>
              </a:rPr>
              <a:t>/sys/kernel/</a:t>
            </a:r>
            <a:r>
              <a:rPr lang="en-US" altLang="zh-CN" dirty="0" err="1">
                <a:latin typeface="Times New Roman" panose="02020603050405020304" pitchFamily="18" charset="0"/>
                <a:ea typeface="楷体_GB2312" pitchFamily="49" charset="-122"/>
                <a:cs typeface="Times New Roman" panose="02020603050405020304" pitchFamily="18" charset="0"/>
              </a:rPr>
              <a:t>pid_max</a:t>
            </a:r>
            <a:endParaRPr lang="en-US" altLang="zh-CN" dirty="0">
              <a:latin typeface="Times New Roman" panose="02020603050405020304" pitchFamily="18" charset="0"/>
              <a:ea typeface="楷体_GB2312" pitchFamily="49" charset="-122"/>
              <a:cs typeface="Times New Roman" panose="02020603050405020304" pitchFamily="18" charset="0"/>
            </a:endParaRPr>
          </a:p>
          <a:p>
            <a:pPr lvl="1" eaLnBrk="1" hangingPunct="1">
              <a:lnSpc>
                <a:spcPct val="90000"/>
              </a:lnSpc>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生成新</a:t>
            </a:r>
            <a:r>
              <a:rPr lang="en-US" altLang="zh-CN" dirty="0" err="1">
                <a:latin typeface="Times New Roman" panose="02020603050405020304" pitchFamily="18" charset="0"/>
                <a:ea typeface="楷体_GB2312" pitchFamily="49" charset="-122"/>
                <a:cs typeface="Times New Roman" panose="02020603050405020304" pitchFamily="18" charset="0"/>
              </a:rPr>
              <a:t>pid</a:t>
            </a:r>
            <a:r>
              <a:rPr lang="zh-CN" altLang="en-US" dirty="0">
                <a:latin typeface="Times New Roman" panose="02020603050405020304" pitchFamily="18" charset="0"/>
                <a:ea typeface="楷体_GB2312" pitchFamily="49" charset="-122"/>
                <a:cs typeface="Times New Roman" panose="02020603050405020304" pitchFamily="18" charset="0"/>
              </a:rPr>
              <a:t>：</a:t>
            </a:r>
            <a:r>
              <a:rPr lang="en-US" altLang="zh-CN" dirty="0" err="1">
                <a:solidFill>
                  <a:srgbClr val="FF0000"/>
                </a:solidFill>
                <a:latin typeface="Times New Roman" panose="02020603050405020304" pitchFamily="18" charset="0"/>
                <a:ea typeface="楷体_GB2312" pitchFamily="49" charset="-122"/>
                <a:cs typeface="Times New Roman" panose="02020603050405020304" pitchFamily="18" charset="0"/>
                <a:hlinkClick r:id="rId1" action="ppaction://hlinkfile"/>
              </a:rPr>
              <a:t>get_pid</a:t>
            </a:r>
            <a:r>
              <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hlinkClick r:id="rId1" action="ppaction://hlinkfile"/>
              </a:rPr>
              <a:t>()</a:t>
            </a:r>
            <a:r>
              <a:rPr lang="zh-CN" altLang="en-US" dirty="0">
                <a:solidFill>
                  <a:schemeClr val="hlink"/>
                </a:solidFill>
                <a:latin typeface="Times New Roman" panose="02020603050405020304" pitchFamily="18" charset="0"/>
                <a:ea typeface="楷体_GB2312" pitchFamily="49" charset="-122"/>
                <a:cs typeface="Times New Roman" panose="02020603050405020304" pitchFamily="18" charset="0"/>
              </a:rPr>
              <a:t>函数</a:t>
            </a:r>
            <a:endParaRPr lang="zh-CN" altLang="en-US" dirty="0">
              <a:solidFill>
                <a:schemeClr val="hlink"/>
              </a:solidFill>
              <a:latin typeface="Times New Roman" panose="02020603050405020304" pitchFamily="18" charset="0"/>
              <a:ea typeface="楷体_GB2312" pitchFamily="49" charset="-122"/>
              <a:cs typeface="Times New Roman" panose="02020603050405020304" pitchFamily="18" charset="0"/>
            </a:endParaRPr>
          </a:p>
          <a:p>
            <a:pPr lvl="2" eaLnBrk="1" hangingPunct="1">
              <a:buFont typeface="Arial" panose="020B0604020202020204" pitchFamily="34" charset="0"/>
              <a:buChar char="•"/>
            </a:pPr>
            <a:r>
              <a:rPr lang="en-US" altLang="zh-CN" dirty="0">
                <a:latin typeface="Times New Roman" panose="02020603050405020304" pitchFamily="18" charset="0"/>
                <a:ea typeface="楷体_GB2312" pitchFamily="49" charset="-122"/>
                <a:cs typeface="Times New Roman" panose="02020603050405020304" pitchFamily="18" charset="0"/>
              </a:rPr>
              <a:t>+1</a:t>
            </a:r>
            <a:r>
              <a:rPr lang="zh-CN" altLang="en-US" dirty="0">
                <a:latin typeface="Times New Roman" panose="02020603050405020304" pitchFamily="18" charset="0"/>
                <a:ea typeface="楷体_GB2312" pitchFamily="49" charset="-122"/>
                <a:cs typeface="Times New Roman" panose="02020603050405020304" pitchFamily="18" charset="0"/>
              </a:rPr>
              <a:t>；循环</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lnSpc>
                <a:spcPct val="90000"/>
              </a:lnSpc>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获取进程</a:t>
            </a:r>
            <a:r>
              <a:rPr lang="en-US" altLang="zh-CN" dirty="0" err="1">
                <a:latin typeface="Times New Roman" panose="02020603050405020304" pitchFamily="18" charset="0"/>
                <a:ea typeface="楷体_GB2312" pitchFamily="49" charset="-122"/>
                <a:cs typeface="Times New Roman" panose="02020603050405020304" pitchFamily="18" charset="0"/>
              </a:rPr>
              <a:t>pid</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2" eaLnBrk="1" hangingPunct="1">
              <a:lnSpc>
                <a:spcPct val="90000"/>
              </a:lnSpc>
              <a:buFont typeface="Arial" panose="020B0604020202020204" pitchFamily="34" charset="0"/>
              <a:buChar char="•"/>
            </a:pPr>
            <a:r>
              <a:rPr lang="en-US" altLang="zh-CN" dirty="0" err="1">
                <a:latin typeface="Times New Roman" panose="02020603050405020304" pitchFamily="18" charset="0"/>
                <a:ea typeface="楷体_GB2312" pitchFamily="49" charset="-122"/>
                <a:cs typeface="Times New Roman" panose="02020603050405020304" pitchFamily="18" charset="0"/>
                <a:sym typeface="Wingdings" panose="05000000000000000000" pitchFamily="2" charset="2"/>
              </a:rPr>
              <a:t>ps</a:t>
            </a:r>
            <a:r>
              <a:rPr lang="zh-CN" altLang="en-US" dirty="0">
                <a:latin typeface="Times New Roman" panose="02020603050405020304" pitchFamily="18" charset="0"/>
                <a:ea typeface="楷体_GB2312" pitchFamily="49" charset="-122"/>
                <a:cs typeface="Times New Roman" panose="02020603050405020304" pitchFamily="18" charset="0"/>
                <a:sym typeface="Wingdings" panose="05000000000000000000" pitchFamily="2" charset="2"/>
              </a:rPr>
              <a:t>命令；访问</a:t>
            </a:r>
            <a:r>
              <a:rPr lang="en-US" altLang="zh-CN" dirty="0">
                <a:latin typeface="Times New Roman" panose="02020603050405020304" pitchFamily="18" charset="0"/>
                <a:ea typeface="楷体_GB2312" pitchFamily="49" charset="-122"/>
                <a:cs typeface="Times New Roman" panose="02020603050405020304" pitchFamily="18" charset="0"/>
                <a:sym typeface="Wingdings" panose="05000000000000000000" pitchFamily="2" charset="2"/>
              </a:rPr>
              <a:t>/</a:t>
            </a:r>
            <a:r>
              <a:rPr lang="en-US" altLang="zh-CN" dirty="0" err="1">
                <a:latin typeface="Times New Roman" panose="02020603050405020304" pitchFamily="18" charset="0"/>
                <a:ea typeface="楷体_GB2312" pitchFamily="49" charset="-122"/>
                <a:cs typeface="Times New Roman" panose="02020603050405020304" pitchFamily="18" charset="0"/>
                <a:sym typeface="Wingdings" panose="05000000000000000000" pitchFamily="2" charset="2"/>
              </a:rPr>
              <a:t>proc</a:t>
            </a:r>
            <a:r>
              <a:rPr lang="en-US" altLang="zh-CN" dirty="0">
                <a:latin typeface="Times New Roman" panose="02020603050405020304" pitchFamily="18" charset="0"/>
                <a:ea typeface="楷体_GB2312" pitchFamily="49" charset="-122"/>
                <a:cs typeface="Times New Roman" panose="02020603050405020304" pitchFamily="18" charset="0"/>
                <a:sym typeface="Wingdings" panose="05000000000000000000" pitchFamily="2" charset="2"/>
              </a:rPr>
              <a:t>/</a:t>
            </a:r>
            <a:r>
              <a:rPr lang="en-US" altLang="zh-CN" dirty="0" err="1">
                <a:solidFill>
                  <a:srgbClr val="FF0000"/>
                </a:solidFill>
                <a:latin typeface="Times New Roman" panose="02020603050405020304" pitchFamily="18" charset="0"/>
                <a:ea typeface="楷体_GB2312" pitchFamily="49" charset="-122"/>
                <a:cs typeface="Times New Roman" panose="02020603050405020304" pitchFamily="18" charset="0"/>
                <a:sym typeface="Wingdings" panose="05000000000000000000" pitchFamily="2" charset="2"/>
              </a:rPr>
              <a:t>pid</a:t>
            </a:r>
            <a:endPar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endParaRPr>
          </a:p>
          <a:p>
            <a:pPr lvl="2" eaLnBrk="1" hangingPunct="1">
              <a:lnSpc>
                <a:spcPct val="90000"/>
              </a:lnSpc>
              <a:buFont typeface="Arial" panose="020B0604020202020204" pitchFamily="34" charset="0"/>
              <a:buChar char="•"/>
            </a:pPr>
            <a:r>
              <a:rPr lang="en-US" altLang="zh-CN" dirty="0" err="1">
                <a:latin typeface="Times New Roman" panose="02020603050405020304" pitchFamily="18" charset="0"/>
                <a:ea typeface="楷体_GB2312" pitchFamily="49" charset="-122"/>
                <a:cs typeface="Times New Roman" panose="02020603050405020304" pitchFamily="18" charset="0"/>
              </a:rPr>
              <a:t>getpid</a:t>
            </a:r>
            <a:r>
              <a:rPr lang="en-US" altLang="zh-CN" dirty="0">
                <a:latin typeface="Times New Roman" panose="02020603050405020304" pitchFamily="18" charset="0"/>
                <a:ea typeface="楷体_GB2312" pitchFamily="49" charset="-122"/>
                <a:cs typeface="Times New Roman" panose="02020603050405020304" pitchFamily="18" charset="0"/>
              </a:rPr>
              <a:t>()</a:t>
            </a:r>
            <a:r>
              <a:rPr lang="en-US" altLang="zh-CN" dirty="0">
                <a:latin typeface="Times New Roman" panose="02020603050405020304" pitchFamily="18" charset="0"/>
                <a:ea typeface="楷体_GB2312" pitchFamily="49" charset="-122"/>
                <a:cs typeface="Times New Roman" panose="02020603050405020304" pitchFamily="18" charset="0"/>
                <a:sym typeface="Wingdings" panose="05000000000000000000" pitchFamily="2" charset="2"/>
              </a:rPr>
              <a:t></a:t>
            </a:r>
            <a:r>
              <a:rPr lang="en-US" altLang="zh-CN" dirty="0" err="1">
                <a:latin typeface="Times New Roman" panose="02020603050405020304" pitchFamily="18" charset="0"/>
                <a:ea typeface="楷体_GB2312" pitchFamily="49" charset="-122"/>
                <a:cs typeface="Times New Roman" panose="02020603050405020304" pitchFamily="18" charset="0"/>
                <a:sym typeface="Wingdings" panose="05000000000000000000" pitchFamily="2" charset="2"/>
              </a:rPr>
              <a:t>sys_getpid</a:t>
            </a:r>
            <a:r>
              <a:rPr lang="en-US" altLang="zh-CN" dirty="0">
                <a:latin typeface="Times New Roman" panose="02020603050405020304" pitchFamily="18" charset="0"/>
                <a:ea typeface="楷体_GB2312" pitchFamily="49" charset="-122"/>
                <a:cs typeface="Times New Roman" panose="02020603050405020304" pitchFamily="18" charset="0"/>
                <a:sym typeface="Wingdings" panose="05000000000000000000" pitchFamily="2" charset="2"/>
              </a:rPr>
              <a:t>()</a:t>
            </a:r>
            <a:endParaRPr lang="en-US" altLang="zh-CN" dirty="0">
              <a:latin typeface="Times New Roman" panose="02020603050405020304" pitchFamily="18" charset="0"/>
              <a:ea typeface="楷体_GB2312" pitchFamily="49" charset="-122"/>
              <a:cs typeface="Times New Roman" panose="02020603050405020304" pitchFamily="18" charset="0"/>
              <a:sym typeface="Wingdings" panose="05000000000000000000" pitchFamily="2" charset="2"/>
            </a:endParaRPr>
          </a:p>
        </p:txBody>
      </p:sp>
      <p:sp>
        <p:nvSpPr>
          <p:cNvPr id="2" name="矩形 1"/>
          <p:cNvSpPr/>
          <p:nvPr/>
        </p:nvSpPr>
        <p:spPr>
          <a:xfrm>
            <a:off x="1736261" y="188640"/>
            <a:ext cx="5144357" cy="584775"/>
          </a:xfrm>
          <a:prstGeom prst="rect">
            <a:avLst/>
          </a:prstGeom>
        </p:spPr>
        <p:txBody>
          <a:bodyPr wrap="none">
            <a:spAutoFit/>
          </a:bodyPr>
          <a:lstStyle/>
          <a:p>
            <a:pPr algn="ctr" eaLnBrk="1" hangingPunct="1"/>
            <a:r>
              <a:rPr lang="en-US" altLang="zh-CN" sz="3200" b="1" dirty="0">
                <a:ea typeface="楷体_GB2312" pitchFamily="49" charset="-122"/>
                <a:cs typeface="Times New Roman" panose="02020603050405020304" pitchFamily="18" charset="0"/>
              </a:rPr>
              <a:t>2.3 Linux</a:t>
            </a:r>
            <a:r>
              <a:rPr lang="zh-CN" altLang="en-US" sz="3200" b="1" dirty="0">
                <a:ea typeface="楷体_GB2312" pitchFamily="49" charset="-122"/>
                <a:cs typeface="Times New Roman" panose="02020603050405020304" pitchFamily="18" charset="0"/>
              </a:rPr>
              <a:t>进程的标识与组织</a:t>
            </a:r>
            <a:endParaRPr lang="zh-CN" altLang="en-US" sz="3200" b="1" dirty="0">
              <a:ea typeface="楷体_GB2312" pitchFamily="49" charset="-122"/>
              <a:cs typeface="Times New Roman" panose="02020603050405020304" pitchFamily="18" charset="0"/>
            </a:endParaRPr>
          </a:p>
        </p:txBody>
      </p:sp>
    </p:spTree>
  </p:cSld>
  <p:clrMapOvr>
    <a:masterClrMapping/>
  </p:clrMapOvr>
  <p:transition>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2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12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12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12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123">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123">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123">
                                            <p:txEl>
                                              <p:pRg st="11" end="1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12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p:nvPr>
        </p:nvSpPr>
        <p:spPr>
          <a:xfrm>
            <a:off x="5594883" y="912125"/>
            <a:ext cx="3196159" cy="609600"/>
          </a:xfr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eaLnBrk="1" hangingPunct="1"/>
            <a:r>
              <a:rPr lang="zh-CN" altLang="en-US" sz="2000" dirty="0">
                <a:latin typeface="Times New Roman" panose="02020603050405020304" pitchFamily="18" charset="0"/>
                <a:ea typeface="楷体_GB2312" pitchFamily="49" charset="-122"/>
                <a:cs typeface="Times New Roman" panose="02020603050405020304" pitchFamily="18" charset="0"/>
              </a:rPr>
              <a:t>通过</a:t>
            </a:r>
            <a:r>
              <a:rPr lang="en-US" altLang="zh-CN" sz="2000" dirty="0" err="1">
                <a:latin typeface="Times New Roman" panose="02020603050405020304" pitchFamily="18" charset="0"/>
                <a:ea typeface="楷体_GB2312" pitchFamily="49" charset="-122"/>
                <a:cs typeface="Times New Roman" panose="02020603050405020304" pitchFamily="18" charset="0"/>
              </a:rPr>
              <a:t>ps</a:t>
            </a:r>
            <a:r>
              <a:rPr lang="zh-CN" altLang="en-US" sz="2000" dirty="0">
                <a:latin typeface="Times New Roman" panose="02020603050405020304" pitchFamily="18" charset="0"/>
                <a:ea typeface="楷体_GB2312" pitchFamily="49" charset="-122"/>
                <a:cs typeface="Times New Roman" panose="02020603050405020304" pitchFamily="18" charset="0"/>
              </a:rPr>
              <a:t>命令获取进程信息</a:t>
            </a:r>
            <a:endParaRPr lang="zh-CN" altLang="en-US" sz="2000" dirty="0">
              <a:latin typeface="Times New Roman" panose="02020603050405020304" pitchFamily="18" charset="0"/>
              <a:ea typeface="楷体_GB2312" pitchFamily="49" charset="-122"/>
              <a:cs typeface="Times New Roman" panose="02020603050405020304" pitchFamily="18" charset="0"/>
            </a:endParaRPr>
          </a:p>
        </p:txBody>
      </p:sp>
      <p:sp>
        <p:nvSpPr>
          <p:cNvPr id="6147" name="内容占位符 2"/>
          <p:cNvSpPr>
            <a:spLocks noGrp="1"/>
          </p:cNvSpPr>
          <p:nvPr>
            <p:ph idx="1"/>
          </p:nvPr>
        </p:nvSpPr>
        <p:spPr>
          <a:xfrm>
            <a:off x="585788" y="903288"/>
            <a:ext cx="8532812" cy="5449887"/>
          </a:xfrm>
        </p:spPr>
        <p:txBody>
          <a:bodyPr/>
          <a:lstStyle/>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功能</a:t>
            </a:r>
            <a:endParaRPr lang="en-US" altLang="zh-CN"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查看系统中正在运行的进程</a:t>
            </a: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语法</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sz="2400" dirty="0" err="1">
                <a:latin typeface="Times New Roman" panose="02020603050405020304" pitchFamily="18" charset="0"/>
                <a:ea typeface="楷体_GB2312" pitchFamily="49" charset="-122"/>
                <a:cs typeface="Times New Roman" panose="02020603050405020304" pitchFamily="18" charset="0"/>
              </a:rPr>
              <a:t>ps</a:t>
            </a:r>
            <a:r>
              <a:rPr lang="en-US" altLang="zh-CN" sz="2400" dirty="0">
                <a:latin typeface="Times New Roman" panose="02020603050405020304" pitchFamily="18" charset="0"/>
                <a:ea typeface="楷体_GB2312" pitchFamily="49" charset="-122"/>
                <a:cs typeface="Times New Roman" panose="02020603050405020304" pitchFamily="18" charset="0"/>
              </a:rPr>
              <a:t>  [-</a:t>
            </a:r>
            <a:r>
              <a:rPr lang="en-US" altLang="zh-CN" sz="2400" dirty="0" err="1">
                <a:latin typeface="Times New Roman" panose="02020603050405020304" pitchFamily="18" charset="0"/>
                <a:ea typeface="楷体_GB2312" pitchFamily="49" charset="-122"/>
                <a:cs typeface="Times New Roman" panose="02020603050405020304" pitchFamily="18" charset="0"/>
              </a:rPr>
              <a:t>ef</a:t>
            </a:r>
            <a:r>
              <a:rPr lang="en-US" altLang="zh-CN" sz="2400" dirty="0">
                <a:latin typeface="Times New Roman" panose="02020603050405020304" pitchFamily="18" charset="0"/>
                <a:ea typeface="楷体_GB2312" pitchFamily="49" charset="-122"/>
                <a:cs typeface="Times New Roman" panose="02020603050405020304" pitchFamily="18" charset="0"/>
              </a:rPr>
              <a:t>][-n name][-t </a:t>
            </a:r>
            <a:r>
              <a:rPr lang="en-US" altLang="zh-CN" sz="2400" dirty="0" err="1">
                <a:latin typeface="Times New Roman" panose="02020603050405020304" pitchFamily="18" charset="0"/>
                <a:ea typeface="楷体_GB2312" pitchFamily="49" charset="-122"/>
                <a:cs typeface="Times New Roman" panose="02020603050405020304" pitchFamily="18" charset="0"/>
              </a:rPr>
              <a:t>ttys</a:t>
            </a:r>
            <a:r>
              <a:rPr lang="en-US" altLang="zh-CN" sz="2400" dirty="0">
                <a:latin typeface="Times New Roman" panose="02020603050405020304" pitchFamily="18" charset="0"/>
                <a:ea typeface="楷体_GB2312" pitchFamily="49" charset="-122"/>
                <a:cs typeface="Times New Roman" panose="02020603050405020304" pitchFamily="18" charset="0"/>
              </a:rPr>
              <a:t>][-p </a:t>
            </a:r>
            <a:r>
              <a:rPr lang="en-US" altLang="zh-CN" sz="2400" dirty="0" err="1">
                <a:latin typeface="Times New Roman" panose="02020603050405020304" pitchFamily="18" charset="0"/>
                <a:ea typeface="楷体_GB2312" pitchFamily="49" charset="-122"/>
                <a:cs typeface="Times New Roman" panose="02020603050405020304" pitchFamily="18" charset="0"/>
              </a:rPr>
              <a:t>pids</a:t>
            </a:r>
            <a:r>
              <a:rPr lang="en-US" altLang="zh-CN" sz="2400" dirty="0">
                <a:latin typeface="Times New Roman" panose="02020603050405020304" pitchFamily="18" charset="0"/>
                <a:ea typeface="楷体_GB2312" pitchFamily="49" charset="-122"/>
                <a:cs typeface="Times New Roman" panose="02020603050405020304" pitchFamily="18" charset="0"/>
              </a:rPr>
              <a:t>][-u users][-groups]</a:t>
            </a:r>
            <a:endParaRPr lang="en-US" altLang="zh-CN" sz="2400" dirty="0">
              <a:latin typeface="Times New Roman" panose="02020603050405020304" pitchFamily="18" charset="0"/>
              <a:ea typeface="楷体_GB2312" pitchFamily="49" charset="-122"/>
              <a:cs typeface="Times New Roman" panose="02020603050405020304" pitchFamily="18" charset="0"/>
            </a:endParaRPr>
          </a:p>
          <a:p>
            <a:pPr lvl="1" eaLnBrk="1" hangingPunct="1"/>
            <a:endParaRPr lang="en-US" altLang="zh-CN" sz="2000" dirty="0">
              <a:latin typeface="Times New Roman" panose="02020603050405020304" pitchFamily="18" charset="0"/>
              <a:ea typeface="楷体_GB2312" pitchFamily="49" charset="-122"/>
              <a:cs typeface="Times New Roman" panose="02020603050405020304" pitchFamily="18" charset="0"/>
            </a:endParaRPr>
          </a:p>
          <a:p>
            <a:pPr eaLnBrk="1" hangingPunct="1"/>
            <a:endParaRPr lang="zh-CN" altLang="en-US" dirty="0">
              <a:latin typeface="Times New Roman" panose="02020603050405020304" pitchFamily="18" charset="0"/>
              <a:ea typeface="楷体_GB2312" pitchFamily="49" charset="-122"/>
              <a:cs typeface="Times New Roman" panose="02020603050405020304" pitchFamily="18" charset="0"/>
            </a:endParaRPr>
          </a:p>
        </p:txBody>
      </p:sp>
      <p:pic>
        <p:nvPicPr>
          <p:cNvPr id="6148"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16025" y="4156075"/>
            <a:ext cx="7272338" cy="194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Line 5"/>
          <p:cNvSpPr>
            <a:spLocks noChangeShapeType="1"/>
          </p:cNvSpPr>
          <p:nvPr/>
        </p:nvSpPr>
        <p:spPr bwMode="auto">
          <a:xfrm>
            <a:off x="1431925" y="3436938"/>
            <a:ext cx="0" cy="935037"/>
          </a:xfrm>
          <a:prstGeom prst="line">
            <a:avLst/>
          </a:prstGeom>
          <a:noFill/>
          <a:ln w="25400">
            <a:solidFill>
              <a:srgbClr val="FF0066"/>
            </a:solidFill>
            <a:round/>
            <a:tailEnd type="stealth" w="med" len="med"/>
          </a:ln>
          <a:effectLst/>
        </p:spPr>
        <p:txBody>
          <a:bodyPr/>
          <a:lstStyle/>
          <a:p>
            <a:pPr>
              <a:spcBef>
                <a:spcPct val="20000"/>
              </a:spcBef>
              <a:buClr>
                <a:srgbClr val="FF9900"/>
              </a:buClr>
              <a:buFont typeface="Wingdings" panose="05000000000000000000" pitchFamily="2" charset="2"/>
              <a:buNone/>
              <a:defRPr/>
            </a:pPr>
            <a:endParaRPr lang="zh-CN" altLang="en-US">
              <a:effectLst>
                <a:outerShdw blurRad="38100" dist="38100" dir="2700000" algn="tl">
                  <a:srgbClr val="000000">
                    <a:alpha val="43137"/>
                  </a:srgbClr>
                </a:outerShdw>
              </a:effectLst>
            </a:endParaRPr>
          </a:p>
        </p:txBody>
      </p:sp>
      <p:sp>
        <p:nvSpPr>
          <p:cNvPr id="7" name="Line 6"/>
          <p:cNvSpPr>
            <a:spLocks noChangeShapeType="1"/>
          </p:cNvSpPr>
          <p:nvPr/>
        </p:nvSpPr>
        <p:spPr bwMode="auto">
          <a:xfrm>
            <a:off x="2297113" y="3436938"/>
            <a:ext cx="431800" cy="1008062"/>
          </a:xfrm>
          <a:prstGeom prst="line">
            <a:avLst/>
          </a:prstGeom>
          <a:noFill/>
          <a:ln w="25400">
            <a:solidFill>
              <a:srgbClr val="FF0066"/>
            </a:solidFill>
            <a:round/>
            <a:tailEnd type="stealth" w="med" len="med"/>
          </a:ln>
          <a:effectLst/>
        </p:spPr>
        <p:txBody>
          <a:bodyPr/>
          <a:lstStyle/>
          <a:p>
            <a:pPr>
              <a:spcBef>
                <a:spcPct val="20000"/>
              </a:spcBef>
              <a:buClr>
                <a:srgbClr val="FF9900"/>
              </a:buClr>
              <a:buFont typeface="Wingdings" panose="05000000000000000000" pitchFamily="2" charset="2"/>
              <a:buNone/>
              <a:defRPr/>
            </a:pPr>
            <a:endParaRPr lang="zh-CN" altLang="en-US">
              <a:effectLst>
                <a:outerShdw blurRad="38100" dist="38100" dir="2700000" algn="tl">
                  <a:srgbClr val="000000">
                    <a:alpha val="43137"/>
                  </a:srgbClr>
                </a:outerShdw>
              </a:effectLst>
            </a:endParaRPr>
          </a:p>
        </p:txBody>
      </p:sp>
      <p:sp>
        <p:nvSpPr>
          <p:cNvPr id="8" name="Line 7"/>
          <p:cNvSpPr>
            <a:spLocks noChangeShapeType="1"/>
          </p:cNvSpPr>
          <p:nvPr/>
        </p:nvSpPr>
        <p:spPr bwMode="auto">
          <a:xfrm>
            <a:off x="3448050" y="3652838"/>
            <a:ext cx="0" cy="792162"/>
          </a:xfrm>
          <a:prstGeom prst="line">
            <a:avLst/>
          </a:prstGeom>
          <a:noFill/>
          <a:ln w="25400">
            <a:solidFill>
              <a:srgbClr val="FF0066"/>
            </a:solidFill>
            <a:round/>
            <a:tailEnd type="stealth" w="med" len="med"/>
          </a:ln>
          <a:effectLst/>
        </p:spPr>
        <p:txBody>
          <a:bodyPr/>
          <a:lstStyle/>
          <a:p>
            <a:pPr>
              <a:spcBef>
                <a:spcPct val="20000"/>
              </a:spcBef>
              <a:buClr>
                <a:srgbClr val="FF9900"/>
              </a:buClr>
              <a:buFont typeface="Wingdings" panose="05000000000000000000" pitchFamily="2" charset="2"/>
              <a:buNone/>
              <a:defRPr/>
            </a:pPr>
            <a:endParaRPr lang="zh-CN" altLang="en-US">
              <a:effectLst>
                <a:outerShdw blurRad="38100" dist="38100" dir="2700000" algn="tl">
                  <a:srgbClr val="000000">
                    <a:alpha val="43137"/>
                  </a:srgbClr>
                </a:outerShdw>
              </a:effectLst>
            </a:endParaRPr>
          </a:p>
        </p:txBody>
      </p:sp>
      <p:sp>
        <p:nvSpPr>
          <p:cNvPr id="9" name="Line 8"/>
          <p:cNvSpPr>
            <a:spLocks noChangeShapeType="1"/>
          </p:cNvSpPr>
          <p:nvPr/>
        </p:nvSpPr>
        <p:spPr bwMode="auto">
          <a:xfrm flipH="1">
            <a:off x="3952875" y="3292475"/>
            <a:ext cx="936625" cy="1152525"/>
          </a:xfrm>
          <a:prstGeom prst="line">
            <a:avLst/>
          </a:prstGeom>
          <a:noFill/>
          <a:ln w="25400">
            <a:solidFill>
              <a:srgbClr val="FF0066"/>
            </a:solidFill>
            <a:round/>
            <a:tailEnd type="stealth" w="med" len="med"/>
          </a:ln>
          <a:effectLst/>
        </p:spPr>
        <p:txBody>
          <a:bodyPr/>
          <a:lstStyle/>
          <a:p>
            <a:pPr>
              <a:spcBef>
                <a:spcPct val="20000"/>
              </a:spcBef>
              <a:buClr>
                <a:srgbClr val="FF9900"/>
              </a:buClr>
              <a:buFont typeface="Wingdings" panose="05000000000000000000" pitchFamily="2" charset="2"/>
              <a:buNone/>
              <a:defRPr/>
            </a:pPr>
            <a:endParaRPr lang="zh-CN" altLang="en-US">
              <a:effectLst>
                <a:outerShdw blurRad="38100" dist="38100" dir="2700000" algn="tl">
                  <a:srgbClr val="000000">
                    <a:alpha val="43137"/>
                  </a:srgbClr>
                </a:outerShdw>
              </a:effectLst>
            </a:endParaRPr>
          </a:p>
        </p:txBody>
      </p:sp>
      <p:sp>
        <p:nvSpPr>
          <p:cNvPr id="10" name="Line 9"/>
          <p:cNvSpPr>
            <a:spLocks noChangeShapeType="1"/>
          </p:cNvSpPr>
          <p:nvPr/>
        </p:nvSpPr>
        <p:spPr bwMode="auto">
          <a:xfrm flipH="1">
            <a:off x="4529138" y="3436938"/>
            <a:ext cx="2808287" cy="1008062"/>
          </a:xfrm>
          <a:prstGeom prst="line">
            <a:avLst/>
          </a:prstGeom>
          <a:noFill/>
          <a:ln w="25400">
            <a:solidFill>
              <a:srgbClr val="FF0066"/>
            </a:solidFill>
            <a:round/>
            <a:tailEnd type="stealth" w="med" len="med"/>
          </a:ln>
          <a:effectLst/>
        </p:spPr>
        <p:txBody>
          <a:bodyPr/>
          <a:lstStyle/>
          <a:p>
            <a:pPr>
              <a:spcBef>
                <a:spcPct val="20000"/>
              </a:spcBef>
              <a:buClr>
                <a:srgbClr val="FF9900"/>
              </a:buClr>
              <a:buFont typeface="Wingdings" panose="05000000000000000000" pitchFamily="2" charset="2"/>
              <a:buNone/>
              <a:defRPr/>
            </a:pPr>
            <a:endParaRPr lang="zh-CN" altLang="en-US">
              <a:effectLst>
                <a:outerShdw blurRad="38100" dist="38100" dir="2700000" algn="tl">
                  <a:srgbClr val="000000">
                    <a:alpha val="43137"/>
                  </a:srgbClr>
                </a:outerShdw>
              </a:effectLst>
            </a:endParaRPr>
          </a:p>
        </p:txBody>
      </p:sp>
      <p:sp>
        <p:nvSpPr>
          <p:cNvPr id="11" name="Line 10"/>
          <p:cNvSpPr>
            <a:spLocks noChangeShapeType="1"/>
          </p:cNvSpPr>
          <p:nvPr/>
        </p:nvSpPr>
        <p:spPr bwMode="auto">
          <a:xfrm flipH="1">
            <a:off x="5105400" y="3795713"/>
            <a:ext cx="0" cy="649287"/>
          </a:xfrm>
          <a:prstGeom prst="line">
            <a:avLst/>
          </a:prstGeom>
          <a:noFill/>
          <a:ln w="25400">
            <a:solidFill>
              <a:srgbClr val="FF0066"/>
            </a:solidFill>
            <a:round/>
            <a:tailEnd type="stealth" w="med" len="med"/>
          </a:ln>
          <a:effectLst/>
        </p:spPr>
        <p:txBody>
          <a:bodyPr/>
          <a:lstStyle/>
          <a:p>
            <a:pPr>
              <a:spcBef>
                <a:spcPct val="20000"/>
              </a:spcBef>
              <a:buClr>
                <a:srgbClr val="FF9900"/>
              </a:buClr>
              <a:buFont typeface="Wingdings" panose="05000000000000000000" pitchFamily="2" charset="2"/>
              <a:buNone/>
              <a:defRPr/>
            </a:pPr>
            <a:endParaRPr lang="zh-CN" altLang="en-US">
              <a:effectLst>
                <a:outerShdw blurRad="38100" dist="38100" dir="2700000" algn="tl">
                  <a:srgbClr val="000000">
                    <a:alpha val="43137"/>
                  </a:srgbClr>
                </a:outerShdw>
              </a:effectLst>
            </a:endParaRPr>
          </a:p>
        </p:txBody>
      </p:sp>
      <p:sp>
        <p:nvSpPr>
          <p:cNvPr id="12" name="Line 11"/>
          <p:cNvSpPr>
            <a:spLocks noChangeShapeType="1"/>
          </p:cNvSpPr>
          <p:nvPr/>
        </p:nvSpPr>
        <p:spPr bwMode="auto">
          <a:xfrm flipH="1" flipV="1">
            <a:off x="7048500" y="4660900"/>
            <a:ext cx="144463" cy="1800225"/>
          </a:xfrm>
          <a:prstGeom prst="line">
            <a:avLst/>
          </a:prstGeom>
          <a:noFill/>
          <a:ln w="25400">
            <a:solidFill>
              <a:srgbClr val="FF0066"/>
            </a:solidFill>
            <a:round/>
            <a:tailEnd type="stealth" w="med" len="med"/>
          </a:ln>
          <a:effectLst/>
        </p:spPr>
        <p:txBody>
          <a:bodyPr/>
          <a:lstStyle/>
          <a:p>
            <a:pPr>
              <a:spcBef>
                <a:spcPct val="20000"/>
              </a:spcBef>
              <a:buClr>
                <a:srgbClr val="FF9900"/>
              </a:buClr>
              <a:buFont typeface="Wingdings" panose="05000000000000000000" pitchFamily="2" charset="2"/>
              <a:buNone/>
              <a:defRPr/>
            </a:pPr>
            <a:endParaRPr lang="zh-CN" altLang="en-US">
              <a:effectLst>
                <a:outerShdw blurRad="38100" dist="38100" dir="2700000" algn="tl">
                  <a:srgbClr val="000000">
                    <a:alpha val="43137"/>
                  </a:srgbClr>
                </a:outerShdw>
              </a:effectLst>
            </a:endParaRPr>
          </a:p>
        </p:txBody>
      </p:sp>
      <p:sp>
        <p:nvSpPr>
          <p:cNvPr id="6156" name="Text Box 12"/>
          <p:cNvSpPr txBox="1">
            <a:spLocks noChangeArrowheads="1"/>
          </p:cNvSpPr>
          <p:nvPr/>
        </p:nvSpPr>
        <p:spPr bwMode="auto">
          <a:xfrm>
            <a:off x="6113463" y="6461125"/>
            <a:ext cx="23749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50000"/>
              </a:spcBef>
              <a:buClrTx/>
              <a:buFontTx/>
              <a:buNone/>
            </a:pPr>
            <a:r>
              <a:rPr lang="zh-CN" altLang="en-US" sz="2000">
                <a:solidFill>
                  <a:schemeClr val="tx1"/>
                </a:solidFill>
                <a:latin typeface="Times New Roman" panose="02020603050405020304" pitchFamily="18" charset="0"/>
              </a:rPr>
              <a:t>运行的命令</a:t>
            </a:r>
            <a:endParaRPr lang="zh-CN" altLang="en-US" sz="2000">
              <a:solidFill>
                <a:schemeClr val="tx1"/>
              </a:solidFill>
              <a:latin typeface="Times New Roman" panose="02020603050405020304" pitchFamily="18" charset="0"/>
            </a:endParaRPr>
          </a:p>
        </p:txBody>
      </p:sp>
      <p:sp>
        <p:nvSpPr>
          <p:cNvPr id="6157" name="Text Box 13"/>
          <p:cNvSpPr txBox="1">
            <a:spLocks noChangeArrowheads="1"/>
          </p:cNvSpPr>
          <p:nvPr/>
        </p:nvSpPr>
        <p:spPr bwMode="auto">
          <a:xfrm>
            <a:off x="928688" y="3003550"/>
            <a:ext cx="10080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50000"/>
              </a:spcBef>
              <a:buClrTx/>
              <a:buFontTx/>
              <a:buNone/>
            </a:pPr>
            <a:r>
              <a:rPr lang="zh-CN" altLang="en-US" sz="2000">
                <a:solidFill>
                  <a:schemeClr val="tx1"/>
                </a:solidFill>
                <a:latin typeface="Times New Roman" panose="02020603050405020304" pitchFamily="18" charset="0"/>
              </a:rPr>
              <a:t>用户</a:t>
            </a:r>
            <a:r>
              <a:rPr lang="en-US" altLang="zh-CN" sz="2000">
                <a:solidFill>
                  <a:schemeClr val="tx1"/>
                </a:solidFill>
                <a:latin typeface="Times New Roman" panose="02020603050405020304" pitchFamily="18" charset="0"/>
              </a:rPr>
              <a:t>ID</a:t>
            </a:r>
            <a:endParaRPr lang="en-US" altLang="zh-CN" sz="2000">
              <a:solidFill>
                <a:schemeClr val="tx1"/>
              </a:solidFill>
              <a:latin typeface="Times New Roman" panose="02020603050405020304" pitchFamily="18" charset="0"/>
            </a:endParaRPr>
          </a:p>
        </p:txBody>
      </p:sp>
      <p:sp>
        <p:nvSpPr>
          <p:cNvPr id="6158" name="Text Box 14"/>
          <p:cNvSpPr txBox="1">
            <a:spLocks noChangeArrowheads="1"/>
          </p:cNvSpPr>
          <p:nvPr/>
        </p:nvSpPr>
        <p:spPr bwMode="auto">
          <a:xfrm>
            <a:off x="3879850" y="2932113"/>
            <a:ext cx="28098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50000"/>
              </a:spcBef>
              <a:buClrTx/>
              <a:buFontTx/>
              <a:buNone/>
            </a:pPr>
            <a:r>
              <a:rPr lang="zh-CN" altLang="en-US" sz="2000">
                <a:solidFill>
                  <a:schemeClr val="tx1"/>
                </a:solidFill>
                <a:latin typeface="Times New Roman" panose="02020603050405020304" pitchFamily="18" charset="0"/>
              </a:rPr>
              <a:t>进程占用</a:t>
            </a:r>
            <a:r>
              <a:rPr lang="en-US" altLang="zh-CN" sz="2000">
                <a:solidFill>
                  <a:schemeClr val="tx1"/>
                </a:solidFill>
                <a:latin typeface="Times New Roman" panose="02020603050405020304" pitchFamily="18" charset="0"/>
              </a:rPr>
              <a:t>CPU</a:t>
            </a:r>
            <a:r>
              <a:rPr lang="zh-CN" altLang="en-US" sz="2000">
                <a:solidFill>
                  <a:schemeClr val="tx1"/>
                </a:solidFill>
                <a:latin typeface="Times New Roman" panose="02020603050405020304" pitchFamily="18" charset="0"/>
              </a:rPr>
              <a:t>的百分比</a:t>
            </a:r>
            <a:endParaRPr lang="zh-CN" altLang="en-US" sz="2000">
              <a:solidFill>
                <a:schemeClr val="tx1"/>
              </a:solidFill>
              <a:latin typeface="Times New Roman" panose="02020603050405020304" pitchFamily="18" charset="0"/>
            </a:endParaRPr>
          </a:p>
        </p:txBody>
      </p:sp>
      <p:sp>
        <p:nvSpPr>
          <p:cNvPr id="6159" name="Text Box 15"/>
          <p:cNvSpPr txBox="1">
            <a:spLocks noChangeArrowheads="1"/>
          </p:cNvSpPr>
          <p:nvPr/>
        </p:nvSpPr>
        <p:spPr bwMode="auto">
          <a:xfrm>
            <a:off x="4600575" y="3363913"/>
            <a:ext cx="22320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50000"/>
              </a:spcBef>
              <a:buClrTx/>
              <a:buFontTx/>
              <a:buNone/>
            </a:pPr>
            <a:r>
              <a:rPr lang="zh-CN" altLang="en-US" sz="2000">
                <a:solidFill>
                  <a:schemeClr val="tx1"/>
                </a:solidFill>
                <a:latin typeface="Times New Roman" panose="02020603050405020304" pitchFamily="18" charset="0"/>
              </a:rPr>
              <a:t>启动进程的终端号</a:t>
            </a:r>
            <a:endParaRPr lang="zh-CN" altLang="en-US" sz="2000">
              <a:solidFill>
                <a:schemeClr val="tx1"/>
              </a:solidFill>
              <a:latin typeface="Times New Roman" panose="02020603050405020304" pitchFamily="18" charset="0"/>
            </a:endParaRPr>
          </a:p>
        </p:txBody>
      </p:sp>
      <p:sp>
        <p:nvSpPr>
          <p:cNvPr id="6160" name="Text Box 16"/>
          <p:cNvSpPr txBox="1">
            <a:spLocks noChangeArrowheads="1"/>
          </p:cNvSpPr>
          <p:nvPr/>
        </p:nvSpPr>
        <p:spPr bwMode="auto">
          <a:xfrm>
            <a:off x="6761163" y="2860675"/>
            <a:ext cx="19431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50000"/>
              </a:spcBef>
              <a:buClrTx/>
              <a:buFontTx/>
              <a:buNone/>
            </a:pPr>
            <a:r>
              <a:rPr lang="zh-CN" altLang="en-US" sz="2000">
                <a:solidFill>
                  <a:schemeClr val="tx1"/>
                </a:solidFill>
                <a:latin typeface="Times New Roman" panose="02020603050405020304" pitchFamily="18" charset="0"/>
              </a:rPr>
              <a:t>进程开始的时间和日期</a:t>
            </a:r>
            <a:endParaRPr lang="zh-CN" altLang="en-US" sz="2000">
              <a:solidFill>
                <a:schemeClr val="tx1"/>
              </a:solidFill>
              <a:latin typeface="Times New Roman" panose="02020603050405020304" pitchFamily="18" charset="0"/>
            </a:endParaRPr>
          </a:p>
        </p:txBody>
      </p:sp>
      <p:sp>
        <p:nvSpPr>
          <p:cNvPr id="6161" name="Text Box 17"/>
          <p:cNvSpPr txBox="1">
            <a:spLocks noChangeArrowheads="1"/>
          </p:cNvSpPr>
          <p:nvPr/>
        </p:nvSpPr>
        <p:spPr bwMode="auto">
          <a:xfrm>
            <a:off x="2800350" y="3292475"/>
            <a:ext cx="13684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50000"/>
              </a:spcBef>
              <a:buClrTx/>
              <a:buFontTx/>
              <a:buNone/>
            </a:pPr>
            <a:r>
              <a:rPr lang="zh-CN" altLang="en-US" sz="2000">
                <a:solidFill>
                  <a:schemeClr val="tx1"/>
                </a:solidFill>
                <a:latin typeface="Times New Roman" panose="02020603050405020304" pitchFamily="18" charset="0"/>
              </a:rPr>
              <a:t>父进程号</a:t>
            </a:r>
            <a:endParaRPr lang="zh-CN" altLang="en-US" sz="2000">
              <a:solidFill>
                <a:schemeClr val="tx1"/>
              </a:solidFill>
              <a:latin typeface="Times New Roman" panose="02020603050405020304" pitchFamily="18" charset="0"/>
            </a:endParaRPr>
          </a:p>
        </p:txBody>
      </p:sp>
      <p:sp>
        <p:nvSpPr>
          <p:cNvPr id="6162" name="Text Box 18"/>
          <p:cNvSpPr txBox="1">
            <a:spLocks noChangeArrowheads="1"/>
          </p:cNvSpPr>
          <p:nvPr/>
        </p:nvSpPr>
        <p:spPr bwMode="auto">
          <a:xfrm>
            <a:off x="1936750" y="3003550"/>
            <a:ext cx="1079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50000"/>
              </a:spcBef>
              <a:buClrTx/>
              <a:buFontTx/>
              <a:buNone/>
            </a:pPr>
            <a:r>
              <a:rPr lang="zh-CN" altLang="en-US" sz="2000">
                <a:solidFill>
                  <a:schemeClr val="tx1"/>
                </a:solidFill>
                <a:latin typeface="Times New Roman" panose="02020603050405020304" pitchFamily="18" charset="0"/>
              </a:rPr>
              <a:t>进程号</a:t>
            </a:r>
            <a:endParaRPr lang="zh-CN" altLang="en-US" sz="2000">
              <a:solidFill>
                <a:schemeClr val="tx1"/>
              </a:solidFill>
              <a:latin typeface="Times New Roman" panose="02020603050405020304" pitchFamily="18" charset="0"/>
            </a:endParaRPr>
          </a:p>
        </p:txBody>
      </p:sp>
      <p:sp>
        <p:nvSpPr>
          <p:cNvPr id="6163" name="Text Box 19"/>
          <p:cNvSpPr txBox="1">
            <a:spLocks noChangeArrowheads="1"/>
          </p:cNvSpPr>
          <p:nvPr/>
        </p:nvSpPr>
        <p:spPr bwMode="auto">
          <a:xfrm>
            <a:off x="4168775" y="6461125"/>
            <a:ext cx="23034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50000"/>
              </a:spcBef>
              <a:buClrTx/>
              <a:buFontTx/>
              <a:buNone/>
            </a:pPr>
            <a:r>
              <a:rPr lang="zh-CN" altLang="en-US" sz="2000">
                <a:solidFill>
                  <a:schemeClr val="tx1"/>
                </a:solidFill>
                <a:latin typeface="Times New Roman" panose="02020603050405020304" pitchFamily="18" charset="0"/>
              </a:rPr>
              <a:t>进程已占用的时间</a:t>
            </a:r>
            <a:endParaRPr lang="zh-CN" altLang="en-US" sz="2000">
              <a:solidFill>
                <a:schemeClr val="tx1"/>
              </a:solidFill>
              <a:latin typeface="Times New Roman" panose="02020603050405020304" pitchFamily="18" charset="0"/>
            </a:endParaRPr>
          </a:p>
        </p:txBody>
      </p:sp>
      <p:sp>
        <p:nvSpPr>
          <p:cNvPr id="21" name="Line 20"/>
          <p:cNvSpPr>
            <a:spLocks noChangeShapeType="1"/>
          </p:cNvSpPr>
          <p:nvPr/>
        </p:nvSpPr>
        <p:spPr bwMode="auto">
          <a:xfrm flipV="1">
            <a:off x="5753100" y="4660900"/>
            <a:ext cx="719138" cy="1871663"/>
          </a:xfrm>
          <a:prstGeom prst="line">
            <a:avLst/>
          </a:prstGeom>
          <a:noFill/>
          <a:ln w="25400">
            <a:solidFill>
              <a:srgbClr val="FF0066"/>
            </a:solidFill>
            <a:round/>
            <a:tailEnd type="stealth" w="med" len="med"/>
          </a:ln>
          <a:effectLst/>
        </p:spPr>
        <p:txBody>
          <a:bodyPr/>
          <a:lstStyle/>
          <a:p>
            <a:pPr>
              <a:spcBef>
                <a:spcPct val="20000"/>
              </a:spcBef>
              <a:buClr>
                <a:srgbClr val="FF9900"/>
              </a:buClr>
              <a:buFont typeface="Wingdings" panose="05000000000000000000" pitchFamily="2" charset="2"/>
              <a:buNone/>
              <a:defRPr/>
            </a:pPr>
            <a:endParaRPr lang="zh-CN" altLang="en-US">
              <a:effectLst>
                <a:outerShdw blurRad="38100" dist="38100" dir="2700000" algn="tl">
                  <a:srgbClr val="000000">
                    <a:alpha val="43137"/>
                  </a:srgbClr>
                </a:outerShdw>
              </a:effectLst>
            </a:endParaRPr>
          </a:p>
        </p:txBody>
      </p:sp>
      <p:sp>
        <p:nvSpPr>
          <p:cNvPr id="22" name="矩形 21"/>
          <p:cNvSpPr/>
          <p:nvPr/>
        </p:nvSpPr>
        <p:spPr>
          <a:xfrm>
            <a:off x="1736261" y="188640"/>
            <a:ext cx="5144357" cy="584775"/>
          </a:xfrm>
          <a:prstGeom prst="rect">
            <a:avLst/>
          </a:prstGeom>
        </p:spPr>
        <p:txBody>
          <a:bodyPr wrap="none">
            <a:spAutoFit/>
          </a:bodyPr>
          <a:lstStyle/>
          <a:p>
            <a:pPr algn="ctr" eaLnBrk="1" hangingPunct="1"/>
            <a:r>
              <a:rPr lang="en-US" altLang="zh-CN" sz="3200" b="1" dirty="0">
                <a:ea typeface="楷体_GB2312" pitchFamily="49" charset="-122"/>
                <a:cs typeface="Times New Roman" panose="02020603050405020304" pitchFamily="18" charset="0"/>
              </a:rPr>
              <a:t>2.3 Linux</a:t>
            </a:r>
            <a:r>
              <a:rPr lang="zh-CN" altLang="en-US" sz="3200" b="1" dirty="0">
                <a:ea typeface="楷体_GB2312" pitchFamily="49" charset="-122"/>
                <a:cs typeface="Times New Roman" panose="02020603050405020304" pitchFamily="18" charset="0"/>
              </a:rPr>
              <a:t>进程的标识与组织</a:t>
            </a:r>
            <a:endParaRPr lang="zh-CN" altLang="en-US" sz="3200" b="1" dirty="0">
              <a:ea typeface="楷体_GB2312" pitchFamily="49" charset="-122"/>
              <a:cs typeface="Times New Roman" panose="02020603050405020304" pitchFamily="18" charset="0"/>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516216" y="916290"/>
            <a:ext cx="2016224" cy="609600"/>
          </a:xfr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eaLnBrk="1" hangingPunct="1"/>
            <a:r>
              <a:rPr lang="zh-CN" altLang="en-US" sz="2000" dirty="0">
                <a:latin typeface="Times New Roman" panose="02020603050405020304" pitchFamily="18" charset="0"/>
                <a:ea typeface="楷体_GB2312" pitchFamily="49" charset="-122"/>
                <a:cs typeface="Times New Roman" panose="02020603050405020304" pitchFamily="18" charset="0"/>
              </a:rPr>
              <a:t>进程组标识</a:t>
            </a:r>
            <a:endParaRPr lang="zh-CN" altLang="en-US" sz="2000" dirty="0">
              <a:latin typeface="Times New Roman" panose="02020603050405020304" pitchFamily="18" charset="0"/>
              <a:ea typeface="楷体_GB2312" pitchFamily="49" charset="-122"/>
              <a:cs typeface="Times New Roman" panose="02020603050405020304" pitchFamily="18" charset="0"/>
            </a:endParaRPr>
          </a:p>
        </p:txBody>
      </p:sp>
      <p:sp>
        <p:nvSpPr>
          <p:cNvPr id="7171" name="Rectangle 3"/>
          <p:cNvSpPr>
            <a:spLocks noGrp="1" noChangeArrowheads="1"/>
          </p:cNvSpPr>
          <p:nvPr>
            <p:ph type="body" idx="1"/>
          </p:nvPr>
        </p:nvSpPr>
        <p:spPr>
          <a:xfrm>
            <a:off x="395288" y="908720"/>
            <a:ext cx="8748712" cy="5272087"/>
          </a:xfrm>
        </p:spPr>
        <p:txBody>
          <a:bodyPr/>
          <a:lstStyle/>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成员名：</a:t>
            </a:r>
            <a:r>
              <a:rPr lang="en-US" altLang="zh-CN" dirty="0" err="1">
                <a:latin typeface="Times New Roman" panose="02020603050405020304" pitchFamily="18" charset="0"/>
                <a:ea typeface="楷体_GB2312" pitchFamily="49" charset="-122"/>
                <a:cs typeface="Times New Roman" panose="02020603050405020304" pitchFamily="18" charset="0"/>
              </a:rPr>
              <a:t>pid_t</a:t>
            </a:r>
            <a:r>
              <a:rPr lang="en-US" altLang="zh-CN" dirty="0">
                <a:latin typeface="Times New Roman" panose="02020603050405020304" pitchFamily="18" charset="0"/>
                <a:ea typeface="楷体_GB2312" pitchFamily="49" charset="-122"/>
                <a:cs typeface="Times New Roman" panose="02020603050405020304" pitchFamily="18" charset="0"/>
              </a:rPr>
              <a:t> </a:t>
            </a:r>
            <a:r>
              <a:rPr lang="en-US" altLang="zh-CN" dirty="0" err="1">
                <a:solidFill>
                  <a:srgbClr val="FF0000"/>
                </a:solidFill>
                <a:latin typeface="Times New Roman" panose="02020603050405020304" pitchFamily="18" charset="0"/>
                <a:ea typeface="楷体_GB2312" pitchFamily="49" charset="-122"/>
                <a:cs typeface="Times New Roman" panose="02020603050405020304" pitchFamily="18" charset="0"/>
              </a:rPr>
              <a:t>tgid</a:t>
            </a:r>
            <a:endPar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功能</a:t>
            </a:r>
            <a:endParaRPr lang="en-US" altLang="zh-CN"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标识进程是否属于同组，组</a:t>
            </a:r>
            <a:r>
              <a:rPr lang="en-US" altLang="zh-CN" dirty="0">
                <a:latin typeface="Times New Roman" panose="02020603050405020304" pitchFamily="18" charset="0"/>
                <a:ea typeface="楷体_GB2312" pitchFamily="49" charset="-122"/>
                <a:cs typeface="Times New Roman" panose="02020603050405020304" pitchFamily="18" charset="0"/>
              </a:rPr>
              <a:t>ID</a:t>
            </a:r>
            <a:r>
              <a:rPr lang="zh-CN" altLang="en-US" dirty="0">
                <a:latin typeface="Times New Roman" panose="02020603050405020304" pitchFamily="18" charset="0"/>
                <a:ea typeface="楷体_GB2312" pitchFamily="49" charset="-122"/>
                <a:cs typeface="Times New Roman" panose="02020603050405020304" pitchFamily="18" charset="0"/>
              </a:rPr>
              <a:t>是第一个组内线程（父进程）的</a:t>
            </a:r>
            <a:r>
              <a:rPr lang="en-US" altLang="zh-CN" dirty="0">
                <a:latin typeface="Times New Roman" panose="02020603050405020304" pitchFamily="18" charset="0"/>
                <a:ea typeface="楷体_GB2312" pitchFamily="49" charset="-122"/>
                <a:cs typeface="Times New Roman" panose="02020603050405020304" pitchFamily="18" charset="0"/>
              </a:rPr>
              <a:t>ID</a:t>
            </a:r>
            <a:endParaRPr lang="en-US" altLang="zh-CN"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线程组中的所有线程共享相同的</a:t>
            </a:r>
            <a:r>
              <a:rPr lang="en-US" altLang="zh-CN" dirty="0">
                <a:latin typeface="Times New Roman" panose="02020603050405020304" pitchFamily="18" charset="0"/>
                <a:ea typeface="楷体_GB2312" pitchFamily="49" charset="-122"/>
                <a:cs typeface="Times New Roman" panose="02020603050405020304" pitchFamily="18" charset="0"/>
              </a:rPr>
              <a:t>PID</a:t>
            </a:r>
            <a:endParaRPr lang="en-US" altLang="zh-CN"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组</a:t>
            </a:r>
            <a:r>
              <a:rPr lang="en-US" altLang="zh-CN" dirty="0">
                <a:latin typeface="Times New Roman" panose="02020603050405020304" pitchFamily="18" charset="0"/>
                <a:ea typeface="楷体_GB2312" pitchFamily="49" charset="-122"/>
                <a:cs typeface="Times New Roman" panose="02020603050405020304" pitchFamily="18" charset="0"/>
              </a:rPr>
              <a:t>ID</a:t>
            </a:r>
            <a:r>
              <a:rPr lang="zh-CN" altLang="en-US" dirty="0">
                <a:latin typeface="Times New Roman" panose="02020603050405020304" pitchFamily="18" charset="0"/>
                <a:ea typeface="楷体_GB2312" pitchFamily="49" charset="-122"/>
                <a:cs typeface="Times New Roman" panose="02020603050405020304" pitchFamily="18" charset="0"/>
              </a:rPr>
              <a:t>赋值相关操作</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endParaRPr lang="zh-CN" altLang="en-US" sz="2000"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endParaRPr lang="zh-CN" altLang="en-US" sz="20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endParaRPr lang="en-US" altLang="zh-CN" sz="24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单线程进程：</a:t>
            </a:r>
            <a:r>
              <a:rPr lang="en-US" altLang="zh-CN" dirty="0" err="1">
                <a:latin typeface="Times New Roman" panose="02020603050405020304" pitchFamily="18" charset="0"/>
                <a:ea typeface="楷体_GB2312" pitchFamily="49" charset="-122"/>
                <a:cs typeface="Times New Roman" panose="02020603050405020304" pitchFamily="18" charset="0"/>
              </a:rPr>
              <a:t>tgid</a:t>
            </a:r>
            <a:r>
              <a:rPr lang="zh-CN" altLang="en-US" dirty="0">
                <a:latin typeface="Times New Roman" panose="02020603050405020304" pitchFamily="18" charset="0"/>
                <a:ea typeface="楷体_GB2312" pitchFamily="49" charset="-122"/>
                <a:cs typeface="Times New Roman" panose="02020603050405020304" pitchFamily="18" charset="0"/>
              </a:rPr>
              <a:t>和</a:t>
            </a:r>
            <a:r>
              <a:rPr lang="en-US" altLang="zh-CN" dirty="0" err="1">
                <a:latin typeface="Times New Roman" panose="02020603050405020304" pitchFamily="18" charset="0"/>
                <a:ea typeface="楷体_GB2312" pitchFamily="49" charset="-122"/>
                <a:cs typeface="Times New Roman" panose="02020603050405020304" pitchFamily="18" charset="0"/>
              </a:rPr>
              <a:t>pid</a:t>
            </a:r>
            <a:r>
              <a:rPr lang="zh-CN" altLang="en-US" dirty="0">
                <a:latin typeface="Times New Roman" panose="02020603050405020304" pitchFamily="18" charset="0"/>
                <a:ea typeface="楷体_GB2312" pitchFamily="49" charset="-122"/>
                <a:cs typeface="Times New Roman" panose="02020603050405020304" pitchFamily="18" charset="0"/>
              </a:rPr>
              <a:t>相等</a:t>
            </a: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多线程进程：组内所有线程</a:t>
            </a:r>
            <a:r>
              <a:rPr lang="en-US" altLang="zh-CN" dirty="0" err="1">
                <a:latin typeface="Times New Roman" panose="02020603050405020304" pitchFamily="18" charset="0"/>
                <a:ea typeface="楷体_GB2312" pitchFamily="49" charset="-122"/>
                <a:cs typeface="Times New Roman" panose="02020603050405020304" pitchFamily="18" charset="0"/>
              </a:rPr>
              <a:t>tgid</a:t>
            </a:r>
            <a:r>
              <a:rPr lang="zh-CN" altLang="en-US" dirty="0">
                <a:latin typeface="Times New Roman" panose="02020603050405020304" pitchFamily="18" charset="0"/>
                <a:ea typeface="楷体_GB2312" pitchFamily="49" charset="-122"/>
                <a:cs typeface="Times New Roman" panose="02020603050405020304" pitchFamily="18" charset="0"/>
              </a:rPr>
              <a:t>都相等，且等于父进程</a:t>
            </a:r>
            <a:r>
              <a:rPr lang="en-US" altLang="zh-CN" dirty="0" err="1">
                <a:latin typeface="Times New Roman" panose="02020603050405020304" pitchFamily="18" charset="0"/>
                <a:ea typeface="楷体_GB2312" pitchFamily="49" charset="-122"/>
                <a:cs typeface="Times New Roman" panose="02020603050405020304" pitchFamily="18" charset="0"/>
              </a:rPr>
              <a:t>pid</a:t>
            </a:r>
            <a:endParaRPr lang="en-US" altLang="zh-CN" sz="2200" dirty="0">
              <a:latin typeface="Times New Roman" panose="02020603050405020304" pitchFamily="18" charset="0"/>
              <a:ea typeface="楷体_GB2312" pitchFamily="49" charset="-122"/>
              <a:cs typeface="Times New Roman" panose="02020603050405020304" pitchFamily="18" charset="0"/>
            </a:endParaRPr>
          </a:p>
        </p:txBody>
      </p:sp>
      <p:pic>
        <p:nvPicPr>
          <p:cNvPr id="7172"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43608" y="3933056"/>
            <a:ext cx="7381875" cy="128587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tyle>
          <a:lnRef idx="2">
            <a:schemeClr val="accent3"/>
          </a:lnRef>
          <a:fillRef idx="1">
            <a:schemeClr val="lt1"/>
          </a:fillRef>
          <a:effectRef idx="0">
            <a:schemeClr val="accent3"/>
          </a:effectRef>
          <a:fontRef idx="minor">
            <a:schemeClr val="dk1"/>
          </a:fontRef>
        </p:style>
      </p:pic>
      <p:sp>
        <p:nvSpPr>
          <p:cNvPr id="5" name="矩形 4"/>
          <p:cNvSpPr/>
          <p:nvPr/>
        </p:nvSpPr>
        <p:spPr>
          <a:xfrm>
            <a:off x="1845735" y="116632"/>
            <a:ext cx="5144357" cy="584775"/>
          </a:xfrm>
          <a:prstGeom prst="rect">
            <a:avLst/>
          </a:prstGeom>
        </p:spPr>
        <p:txBody>
          <a:bodyPr wrap="none">
            <a:spAutoFit/>
          </a:bodyPr>
          <a:lstStyle/>
          <a:p>
            <a:pPr algn="ctr" eaLnBrk="1" hangingPunct="1"/>
            <a:r>
              <a:rPr lang="en-US" altLang="zh-CN" sz="3200" b="1" dirty="0">
                <a:ea typeface="楷体_GB2312" pitchFamily="49" charset="-122"/>
                <a:cs typeface="Times New Roman" panose="02020603050405020304" pitchFamily="18" charset="0"/>
              </a:rPr>
              <a:t>2.3 Linux</a:t>
            </a:r>
            <a:r>
              <a:rPr lang="zh-CN" altLang="en-US" sz="3200" b="1" dirty="0">
                <a:ea typeface="楷体_GB2312" pitchFamily="49" charset="-122"/>
                <a:cs typeface="Times New Roman" panose="02020603050405020304" pitchFamily="18" charset="0"/>
              </a:rPr>
              <a:t>进程的标识与组织</a:t>
            </a:r>
            <a:endParaRPr lang="zh-CN" altLang="en-US" sz="3200" b="1" dirty="0">
              <a:ea typeface="楷体_GB2312" pitchFamily="49" charset="-122"/>
              <a:cs typeface="Times New Roman" panose="02020603050405020304" pitchFamily="18" charset="0"/>
            </a:endParaRPr>
          </a:p>
        </p:txBody>
      </p:sp>
    </p:spTree>
  </p:cSld>
  <p:clrMapOvr>
    <a:masterClrMapping/>
  </p:clrMapOvr>
  <p:transition>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1">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71">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171">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6588224" y="980728"/>
            <a:ext cx="2123728" cy="609600"/>
          </a:xfr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eaLnBrk="1" hangingPunct="1"/>
            <a:r>
              <a:rPr lang="zh-CN" altLang="en-US" sz="2000" dirty="0">
                <a:latin typeface="Times New Roman" panose="02020603050405020304" pitchFamily="18" charset="0"/>
                <a:ea typeface="楷体_GB2312" pitchFamily="49" charset="-122"/>
                <a:cs typeface="Times New Roman" panose="02020603050405020304" pitchFamily="18" charset="0"/>
              </a:rPr>
              <a:t>用户相关的进程标识信息</a:t>
            </a:r>
            <a:endParaRPr lang="zh-CN" altLang="en-US" sz="2000" dirty="0">
              <a:latin typeface="Times New Roman" panose="02020603050405020304" pitchFamily="18" charset="0"/>
              <a:ea typeface="楷体_GB2312" pitchFamily="49" charset="-122"/>
              <a:cs typeface="Times New Roman" panose="02020603050405020304" pitchFamily="18" charset="0"/>
            </a:endParaRPr>
          </a:p>
        </p:txBody>
      </p:sp>
      <p:sp>
        <p:nvSpPr>
          <p:cNvPr id="9219" name="Rectangle 3"/>
          <p:cNvSpPr>
            <a:spLocks noGrp="1" noChangeArrowheads="1"/>
          </p:cNvSpPr>
          <p:nvPr>
            <p:ph type="body" idx="1"/>
          </p:nvPr>
        </p:nvSpPr>
        <p:spPr>
          <a:xfrm>
            <a:off x="323850" y="1052513"/>
            <a:ext cx="8532813" cy="5589587"/>
          </a:xfrm>
        </p:spPr>
        <p:txBody>
          <a:bodyPr/>
          <a:lstStyle/>
          <a:p>
            <a:pPr eaLnBrk="1" hangingPunct="1">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功能：控制用户对系统资源的访问权限</a:t>
            </a:r>
            <a:endParaRPr lang="en-US" altLang="zh-CN" sz="2400" dirty="0">
              <a:latin typeface="Times New Roman" panose="02020603050405020304" pitchFamily="18" charset="0"/>
              <a:ea typeface="楷体_GB2312" pitchFamily="49" charset="-122"/>
              <a:cs typeface="Times New Roman" panose="02020603050405020304" pitchFamily="18" charset="0"/>
            </a:endParaRPr>
          </a:p>
          <a:p>
            <a:pPr lvl="1" eaLnBrk="1" hangingPunct="1"/>
            <a:r>
              <a:rPr lang="zh-CN" altLang="en-US" dirty="0">
                <a:latin typeface="Times New Roman" panose="02020603050405020304" pitchFamily="18" charset="0"/>
                <a:ea typeface="楷体_GB2312" pitchFamily="49" charset="-122"/>
                <a:cs typeface="Times New Roman" panose="02020603050405020304" pitchFamily="18" charset="0"/>
              </a:rPr>
              <a:t>用户标识</a:t>
            </a:r>
            <a:r>
              <a:rPr lang="en-US" altLang="zh-CN" dirty="0" err="1">
                <a:solidFill>
                  <a:srgbClr val="FF0000"/>
                </a:solidFill>
                <a:latin typeface="Times New Roman" panose="02020603050405020304" pitchFamily="18" charset="0"/>
                <a:ea typeface="楷体_GB2312" pitchFamily="49" charset="-122"/>
                <a:cs typeface="Times New Roman" panose="02020603050405020304" pitchFamily="18" charset="0"/>
              </a:rPr>
              <a:t>uid</a:t>
            </a:r>
            <a:r>
              <a:rPr lang="zh-CN" altLang="en-US" dirty="0">
                <a:latin typeface="Times New Roman" panose="02020603050405020304" pitchFamily="18" charset="0"/>
                <a:ea typeface="楷体_GB2312" pitchFamily="49" charset="-122"/>
                <a:cs typeface="Times New Roman" panose="02020603050405020304" pitchFamily="18" charset="0"/>
              </a:rPr>
              <a:t>及组标识</a:t>
            </a:r>
            <a:r>
              <a:rPr lang="en-US" altLang="zh-CN" dirty="0" err="1">
                <a:solidFill>
                  <a:srgbClr val="FF0000"/>
                </a:solidFill>
                <a:latin typeface="Times New Roman" panose="02020603050405020304" pitchFamily="18" charset="0"/>
                <a:ea typeface="楷体_GB2312" pitchFamily="49" charset="-122"/>
                <a:cs typeface="Times New Roman" panose="02020603050405020304" pitchFamily="18" charset="0"/>
              </a:rPr>
              <a:t>gid</a:t>
            </a:r>
            <a:endPar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endParaRPr>
          </a:p>
          <a:p>
            <a:pPr lvl="2" eaLnBrk="1" hangingPunct="1"/>
            <a:r>
              <a:rPr lang="zh-CN" altLang="en-US" sz="2200" dirty="0">
                <a:latin typeface="Times New Roman" panose="02020603050405020304" pitchFamily="18" charset="0"/>
                <a:ea typeface="楷体_GB2312" pitchFamily="49" charset="-122"/>
                <a:cs typeface="Times New Roman" panose="02020603050405020304" pitchFamily="18" charset="0"/>
              </a:rPr>
              <a:t>通常是进程创建者的</a:t>
            </a:r>
            <a:r>
              <a:rPr lang="en-US" altLang="zh-CN" sz="2200" dirty="0" err="1">
                <a:latin typeface="Times New Roman" panose="02020603050405020304" pitchFamily="18" charset="0"/>
                <a:ea typeface="楷体_GB2312" pitchFamily="49" charset="-122"/>
                <a:cs typeface="Times New Roman" panose="02020603050405020304" pitchFamily="18" charset="0"/>
              </a:rPr>
              <a:t>uid</a:t>
            </a:r>
            <a:r>
              <a:rPr lang="zh-CN" altLang="en-US" sz="2200" dirty="0">
                <a:latin typeface="Times New Roman" panose="02020603050405020304" pitchFamily="18" charset="0"/>
                <a:ea typeface="楷体_GB2312" pitchFamily="49" charset="-122"/>
                <a:cs typeface="Times New Roman" panose="02020603050405020304" pitchFamily="18" charset="0"/>
              </a:rPr>
              <a:t>和</a:t>
            </a:r>
            <a:r>
              <a:rPr lang="en-US" altLang="zh-CN" sz="2200" dirty="0" err="1">
                <a:latin typeface="Times New Roman" panose="02020603050405020304" pitchFamily="18" charset="0"/>
                <a:ea typeface="楷体_GB2312" pitchFamily="49" charset="-122"/>
                <a:cs typeface="Times New Roman" panose="02020603050405020304" pitchFamily="18" charset="0"/>
              </a:rPr>
              <a:t>gid</a:t>
            </a:r>
            <a:endParaRPr lang="en-US" altLang="zh-CN" sz="2200" dirty="0">
              <a:latin typeface="Times New Roman" panose="02020603050405020304" pitchFamily="18" charset="0"/>
              <a:ea typeface="楷体_GB2312" pitchFamily="49" charset="-122"/>
              <a:cs typeface="Times New Roman" panose="02020603050405020304" pitchFamily="18" charset="0"/>
            </a:endParaRPr>
          </a:p>
          <a:p>
            <a:pPr lvl="1" eaLnBrk="1" hangingPunct="1"/>
            <a:r>
              <a:rPr lang="zh-CN" altLang="en-US" dirty="0">
                <a:latin typeface="Times New Roman" panose="02020603050405020304" pitchFamily="18" charset="0"/>
                <a:ea typeface="楷体_GB2312" pitchFamily="49" charset="-122"/>
                <a:cs typeface="Times New Roman" panose="02020603050405020304" pitchFamily="18" charset="0"/>
              </a:rPr>
              <a:t>有效用户标识</a:t>
            </a:r>
            <a:r>
              <a:rPr lang="en-US" altLang="zh-CN" dirty="0" err="1">
                <a:solidFill>
                  <a:srgbClr val="FF0000"/>
                </a:solidFill>
                <a:latin typeface="Times New Roman" panose="02020603050405020304" pitchFamily="18" charset="0"/>
                <a:ea typeface="楷体_GB2312" pitchFamily="49" charset="-122"/>
                <a:cs typeface="Times New Roman" panose="02020603050405020304" pitchFamily="18" charset="0"/>
              </a:rPr>
              <a:t>euid</a:t>
            </a:r>
            <a:r>
              <a:rPr lang="zh-CN" altLang="en-US" dirty="0">
                <a:latin typeface="Times New Roman" panose="02020603050405020304" pitchFamily="18" charset="0"/>
                <a:ea typeface="楷体_GB2312" pitchFamily="49" charset="-122"/>
                <a:cs typeface="Times New Roman" panose="02020603050405020304" pitchFamily="18" charset="0"/>
              </a:rPr>
              <a:t>及有效组标识</a:t>
            </a:r>
            <a:r>
              <a:rPr lang="en-US" altLang="zh-CN" dirty="0" err="1">
                <a:solidFill>
                  <a:srgbClr val="FF0000"/>
                </a:solidFill>
                <a:latin typeface="Times New Roman" panose="02020603050405020304" pitchFamily="18" charset="0"/>
                <a:ea typeface="楷体_GB2312" pitchFamily="49" charset="-122"/>
                <a:cs typeface="Times New Roman" panose="02020603050405020304" pitchFamily="18" charset="0"/>
              </a:rPr>
              <a:t>egid</a:t>
            </a:r>
            <a:endPar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endParaRPr>
          </a:p>
          <a:p>
            <a:pPr lvl="2" eaLnBrk="1" hangingPunct="1"/>
            <a:r>
              <a:rPr lang="zh-CN" altLang="en-US" sz="2200" dirty="0">
                <a:latin typeface="Times New Roman" panose="02020603050405020304" pitchFamily="18" charset="0"/>
                <a:ea typeface="楷体_GB2312" pitchFamily="49" charset="-122"/>
                <a:cs typeface="Times New Roman" panose="02020603050405020304" pitchFamily="18" charset="0"/>
              </a:rPr>
              <a:t>有时系统会赋予一般用户暂时拥有</a:t>
            </a:r>
            <a:r>
              <a:rPr lang="en-US" altLang="zh-CN" sz="2200" dirty="0">
                <a:latin typeface="Times New Roman" panose="02020603050405020304" pitchFamily="18" charset="0"/>
                <a:ea typeface="楷体_GB2312" pitchFamily="49" charset="-122"/>
                <a:cs typeface="Times New Roman" panose="02020603050405020304" pitchFamily="18" charset="0"/>
              </a:rPr>
              <a:t>root</a:t>
            </a:r>
            <a:r>
              <a:rPr lang="zh-CN" altLang="en-US" sz="2200" dirty="0">
                <a:latin typeface="Times New Roman" panose="02020603050405020304" pitchFamily="18" charset="0"/>
                <a:ea typeface="楷体_GB2312" pitchFamily="49" charset="-122"/>
                <a:cs typeface="Times New Roman" panose="02020603050405020304" pitchFamily="18" charset="0"/>
              </a:rPr>
              <a:t>的</a:t>
            </a:r>
            <a:r>
              <a:rPr lang="en-US" altLang="zh-CN" sz="2200" dirty="0" err="1">
                <a:latin typeface="Times New Roman" panose="02020603050405020304" pitchFamily="18" charset="0"/>
                <a:ea typeface="楷体_GB2312" pitchFamily="49" charset="-122"/>
                <a:cs typeface="Times New Roman" panose="02020603050405020304" pitchFamily="18" charset="0"/>
              </a:rPr>
              <a:t>uid</a:t>
            </a:r>
            <a:r>
              <a:rPr lang="zh-CN" altLang="en-US" sz="2200" dirty="0">
                <a:latin typeface="Times New Roman" panose="02020603050405020304" pitchFamily="18" charset="0"/>
                <a:ea typeface="楷体_GB2312" pitchFamily="49" charset="-122"/>
                <a:cs typeface="Times New Roman" panose="02020603050405020304" pitchFamily="18" charset="0"/>
              </a:rPr>
              <a:t>和</a:t>
            </a:r>
            <a:r>
              <a:rPr lang="en-US" altLang="zh-CN" sz="2200" dirty="0" err="1">
                <a:latin typeface="Times New Roman" panose="02020603050405020304" pitchFamily="18" charset="0"/>
                <a:ea typeface="楷体_GB2312" pitchFamily="49" charset="-122"/>
                <a:cs typeface="Times New Roman" panose="02020603050405020304" pitchFamily="18" charset="0"/>
              </a:rPr>
              <a:t>gid</a:t>
            </a:r>
            <a:r>
              <a:rPr lang="en-US" altLang="zh-CN" sz="2200" dirty="0">
                <a:latin typeface="Times New Roman" panose="02020603050405020304" pitchFamily="18" charset="0"/>
                <a:ea typeface="楷体_GB2312" pitchFamily="49" charset="-122"/>
                <a:cs typeface="Times New Roman" panose="02020603050405020304" pitchFamily="18" charset="0"/>
              </a:rPr>
              <a:t>(</a:t>
            </a:r>
            <a:r>
              <a:rPr lang="zh-CN" altLang="en-US" sz="2200" dirty="0">
                <a:latin typeface="Times New Roman" panose="02020603050405020304" pitchFamily="18" charset="0"/>
                <a:ea typeface="楷体_GB2312" pitchFamily="49" charset="-122"/>
                <a:cs typeface="Times New Roman" panose="02020603050405020304" pitchFamily="18" charset="0"/>
              </a:rPr>
              <a:t>作为用户进程的</a:t>
            </a:r>
            <a:r>
              <a:rPr lang="en-US" altLang="zh-CN" sz="2200" dirty="0" err="1">
                <a:latin typeface="Times New Roman" panose="02020603050405020304" pitchFamily="18" charset="0"/>
                <a:ea typeface="楷体_GB2312" pitchFamily="49" charset="-122"/>
                <a:cs typeface="Times New Roman" panose="02020603050405020304" pitchFamily="18" charset="0"/>
              </a:rPr>
              <a:t>euid</a:t>
            </a:r>
            <a:r>
              <a:rPr lang="zh-CN" altLang="en-US" sz="2200" dirty="0">
                <a:latin typeface="Times New Roman" panose="02020603050405020304" pitchFamily="18" charset="0"/>
                <a:ea typeface="楷体_GB2312" pitchFamily="49" charset="-122"/>
                <a:cs typeface="Times New Roman" panose="02020603050405020304" pitchFamily="18" charset="0"/>
              </a:rPr>
              <a:t>和</a:t>
            </a:r>
            <a:r>
              <a:rPr lang="en-US" altLang="zh-CN" sz="2200" dirty="0" err="1">
                <a:latin typeface="Times New Roman" panose="02020603050405020304" pitchFamily="18" charset="0"/>
                <a:ea typeface="楷体_GB2312" pitchFamily="49" charset="-122"/>
                <a:cs typeface="Times New Roman" panose="02020603050405020304" pitchFamily="18" charset="0"/>
              </a:rPr>
              <a:t>egid</a:t>
            </a:r>
            <a:r>
              <a:rPr lang="en-US" altLang="zh-CN" sz="2200" dirty="0">
                <a:latin typeface="Times New Roman" panose="02020603050405020304" pitchFamily="18" charset="0"/>
                <a:ea typeface="楷体_GB2312" pitchFamily="49" charset="-122"/>
                <a:cs typeface="Times New Roman" panose="02020603050405020304" pitchFamily="18" charset="0"/>
              </a:rPr>
              <a:t>)</a:t>
            </a:r>
            <a:r>
              <a:rPr lang="zh-CN" altLang="en-US" sz="2200" dirty="0">
                <a:latin typeface="Times New Roman" panose="02020603050405020304" pitchFamily="18" charset="0"/>
                <a:ea typeface="楷体_GB2312" pitchFamily="49" charset="-122"/>
                <a:cs typeface="Times New Roman" panose="02020603050405020304" pitchFamily="18" charset="0"/>
              </a:rPr>
              <a:t>，以便于进行运作。</a:t>
            </a:r>
            <a:endParaRPr lang="en-US" altLang="zh-CN" sz="2200" dirty="0">
              <a:latin typeface="Times New Roman" panose="02020603050405020304" pitchFamily="18" charset="0"/>
              <a:ea typeface="楷体_GB2312" pitchFamily="49" charset="-122"/>
              <a:cs typeface="Times New Roman" panose="02020603050405020304" pitchFamily="18" charset="0"/>
            </a:endParaRPr>
          </a:p>
          <a:p>
            <a:pPr lvl="1" eaLnBrk="1" hangingPunct="1"/>
            <a:r>
              <a:rPr lang="zh-CN" altLang="en-US" dirty="0">
                <a:latin typeface="Times New Roman" panose="02020603050405020304" pitchFamily="18" charset="0"/>
                <a:ea typeface="楷体_GB2312" pitchFamily="49" charset="-122"/>
                <a:cs typeface="Times New Roman" panose="02020603050405020304" pitchFamily="18" charset="0"/>
              </a:rPr>
              <a:t>备份用户标识</a:t>
            </a:r>
            <a:r>
              <a:rPr lang="en-US" altLang="zh-CN" dirty="0" err="1">
                <a:solidFill>
                  <a:srgbClr val="FF0000"/>
                </a:solidFill>
                <a:latin typeface="Times New Roman" panose="02020603050405020304" pitchFamily="18" charset="0"/>
                <a:ea typeface="楷体_GB2312" pitchFamily="49" charset="-122"/>
                <a:cs typeface="Times New Roman" panose="02020603050405020304" pitchFamily="18" charset="0"/>
              </a:rPr>
              <a:t>suid</a:t>
            </a:r>
            <a:r>
              <a:rPr lang="zh-CN" altLang="en-US" dirty="0">
                <a:latin typeface="Times New Roman" panose="02020603050405020304" pitchFamily="18" charset="0"/>
                <a:ea typeface="楷体_GB2312" pitchFamily="49" charset="-122"/>
                <a:cs typeface="Times New Roman" panose="02020603050405020304" pitchFamily="18" charset="0"/>
              </a:rPr>
              <a:t>及备份组标识</a:t>
            </a:r>
            <a:r>
              <a:rPr lang="en-US" altLang="zh-CN" dirty="0" err="1">
                <a:solidFill>
                  <a:srgbClr val="FF0000"/>
                </a:solidFill>
                <a:latin typeface="Times New Roman" panose="02020603050405020304" pitchFamily="18" charset="0"/>
                <a:ea typeface="楷体_GB2312" pitchFamily="49" charset="-122"/>
                <a:cs typeface="Times New Roman" panose="02020603050405020304" pitchFamily="18" charset="0"/>
              </a:rPr>
              <a:t>sgid</a:t>
            </a:r>
            <a:endPar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endParaRPr>
          </a:p>
          <a:p>
            <a:pPr lvl="2" eaLnBrk="1" hangingPunct="1"/>
            <a:r>
              <a:rPr lang="zh-CN" altLang="en-US" sz="2200" dirty="0">
                <a:latin typeface="Times New Roman" panose="02020603050405020304" pitchFamily="18" charset="0"/>
                <a:ea typeface="楷体_GB2312" pitchFamily="49" charset="-122"/>
                <a:cs typeface="Times New Roman" panose="02020603050405020304" pitchFamily="18" charset="0"/>
              </a:rPr>
              <a:t>在使用系统调用改变</a:t>
            </a:r>
            <a:r>
              <a:rPr lang="en-US" altLang="zh-CN" sz="2200" dirty="0" err="1">
                <a:latin typeface="Times New Roman" panose="02020603050405020304" pitchFamily="18" charset="0"/>
                <a:ea typeface="楷体_GB2312" pitchFamily="49" charset="-122"/>
                <a:cs typeface="Times New Roman" panose="02020603050405020304" pitchFamily="18" charset="0"/>
              </a:rPr>
              <a:t>uid</a:t>
            </a:r>
            <a:r>
              <a:rPr lang="zh-CN" altLang="en-US" sz="2200" dirty="0">
                <a:latin typeface="Times New Roman" panose="02020603050405020304" pitchFamily="18" charset="0"/>
                <a:ea typeface="楷体_GB2312" pitchFamily="49" charset="-122"/>
                <a:cs typeface="Times New Roman" panose="02020603050405020304" pitchFamily="18" charset="0"/>
              </a:rPr>
              <a:t>和</a:t>
            </a:r>
            <a:r>
              <a:rPr lang="en-US" altLang="zh-CN" sz="2200" dirty="0" err="1">
                <a:latin typeface="Times New Roman" panose="02020603050405020304" pitchFamily="18" charset="0"/>
                <a:ea typeface="楷体_GB2312" pitchFamily="49" charset="-122"/>
                <a:cs typeface="Times New Roman" panose="02020603050405020304" pitchFamily="18" charset="0"/>
              </a:rPr>
              <a:t>gid</a:t>
            </a:r>
            <a:r>
              <a:rPr lang="zh-CN" altLang="en-US" sz="2200" dirty="0">
                <a:latin typeface="Times New Roman" panose="02020603050405020304" pitchFamily="18" charset="0"/>
                <a:ea typeface="楷体_GB2312" pitchFamily="49" charset="-122"/>
                <a:cs typeface="Times New Roman" panose="02020603050405020304" pitchFamily="18" charset="0"/>
              </a:rPr>
              <a:t>时，利用其保留真正</a:t>
            </a:r>
            <a:r>
              <a:rPr lang="en-US" altLang="zh-CN" sz="2200" dirty="0" err="1">
                <a:latin typeface="Times New Roman" panose="02020603050405020304" pitchFamily="18" charset="0"/>
                <a:ea typeface="楷体_GB2312" pitchFamily="49" charset="-122"/>
                <a:cs typeface="Times New Roman" panose="02020603050405020304" pitchFamily="18" charset="0"/>
              </a:rPr>
              <a:t>uid</a:t>
            </a:r>
            <a:r>
              <a:rPr lang="zh-CN" altLang="en-US" sz="2200" dirty="0">
                <a:latin typeface="Times New Roman" panose="02020603050405020304" pitchFamily="18" charset="0"/>
                <a:ea typeface="楷体_GB2312" pitchFamily="49" charset="-122"/>
                <a:cs typeface="Times New Roman" panose="02020603050405020304" pitchFamily="18" charset="0"/>
              </a:rPr>
              <a:t>和</a:t>
            </a:r>
            <a:r>
              <a:rPr lang="en-US" altLang="zh-CN" sz="2200" dirty="0" err="1">
                <a:latin typeface="Times New Roman" panose="02020603050405020304" pitchFamily="18" charset="0"/>
                <a:ea typeface="楷体_GB2312" pitchFamily="49" charset="-122"/>
                <a:cs typeface="Times New Roman" panose="02020603050405020304" pitchFamily="18" charset="0"/>
              </a:rPr>
              <a:t>gid</a:t>
            </a:r>
            <a:endParaRPr lang="zh-CN" altLang="en-US" sz="2200" dirty="0">
              <a:latin typeface="Times New Roman" panose="02020603050405020304" pitchFamily="18" charset="0"/>
              <a:ea typeface="楷体_GB2312" pitchFamily="49" charset="-122"/>
              <a:cs typeface="Times New Roman" panose="02020603050405020304" pitchFamily="18" charset="0"/>
            </a:endParaRPr>
          </a:p>
          <a:p>
            <a:pPr lvl="1" eaLnBrk="1" hangingPunct="1"/>
            <a:r>
              <a:rPr lang="zh-CN" altLang="en-US" dirty="0">
                <a:latin typeface="Times New Roman" panose="02020603050405020304" pitchFamily="18" charset="0"/>
                <a:ea typeface="楷体_GB2312" pitchFamily="49" charset="-122"/>
                <a:cs typeface="Times New Roman" panose="02020603050405020304" pitchFamily="18" charset="0"/>
              </a:rPr>
              <a:t>文件系统标识</a:t>
            </a:r>
            <a:r>
              <a:rPr lang="en-US" altLang="zh-CN" dirty="0" err="1">
                <a:solidFill>
                  <a:srgbClr val="FF0000"/>
                </a:solidFill>
                <a:latin typeface="Times New Roman" panose="02020603050405020304" pitchFamily="18" charset="0"/>
                <a:ea typeface="楷体_GB2312" pitchFamily="49" charset="-122"/>
                <a:cs typeface="Times New Roman" panose="02020603050405020304" pitchFamily="18" charset="0"/>
              </a:rPr>
              <a:t>fsuid</a:t>
            </a:r>
            <a:r>
              <a:rPr lang="zh-CN" altLang="en-US" dirty="0">
                <a:latin typeface="Times New Roman" panose="02020603050405020304" pitchFamily="18" charset="0"/>
                <a:ea typeface="楷体_GB2312" pitchFamily="49" charset="-122"/>
                <a:cs typeface="Times New Roman" panose="02020603050405020304" pitchFamily="18" charset="0"/>
              </a:rPr>
              <a:t>及文件系统组标识</a:t>
            </a:r>
            <a:r>
              <a:rPr lang="en-US" altLang="zh-CN" dirty="0" err="1">
                <a:solidFill>
                  <a:srgbClr val="FF0000"/>
                </a:solidFill>
                <a:latin typeface="Times New Roman" panose="02020603050405020304" pitchFamily="18" charset="0"/>
                <a:ea typeface="楷体_GB2312" pitchFamily="49" charset="-122"/>
                <a:cs typeface="Times New Roman" panose="02020603050405020304" pitchFamily="18" charset="0"/>
              </a:rPr>
              <a:t>fsgid</a:t>
            </a:r>
            <a:endPar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endParaRPr>
          </a:p>
          <a:p>
            <a:pPr lvl="2" eaLnBrk="1" hangingPunct="1"/>
            <a:r>
              <a:rPr lang="zh-CN" altLang="en-US" sz="2200" dirty="0">
                <a:latin typeface="Times New Roman" panose="02020603050405020304" pitchFamily="18" charset="0"/>
                <a:ea typeface="楷体_GB2312" pitchFamily="49" charset="-122"/>
                <a:cs typeface="Times New Roman" panose="02020603050405020304" pitchFamily="18" charset="0"/>
              </a:rPr>
              <a:t>检查对文件系统访问权限时使用，通常与</a:t>
            </a:r>
            <a:r>
              <a:rPr lang="en-US" altLang="zh-CN" sz="2200" dirty="0" err="1">
                <a:latin typeface="Times New Roman" panose="02020603050405020304" pitchFamily="18" charset="0"/>
                <a:ea typeface="楷体_GB2312" pitchFamily="49" charset="-122"/>
                <a:cs typeface="Times New Roman" panose="02020603050405020304" pitchFamily="18" charset="0"/>
              </a:rPr>
              <a:t>euid</a:t>
            </a:r>
            <a:r>
              <a:rPr lang="zh-CN" altLang="en-US" sz="2200" dirty="0">
                <a:latin typeface="Times New Roman" panose="02020603050405020304" pitchFamily="18" charset="0"/>
                <a:ea typeface="楷体_GB2312" pitchFamily="49" charset="-122"/>
                <a:cs typeface="Times New Roman" panose="02020603050405020304" pitchFamily="18" charset="0"/>
              </a:rPr>
              <a:t>及</a:t>
            </a:r>
            <a:r>
              <a:rPr lang="en-US" altLang="zh-CN" sz="2200" dirty="0" err="1">
                <a:latin typeface="Times New Roman" panose="02020603050405020304" pitchFamily="18" charset="0"/>
                <a:ea typeface="楷体_GB2312" pitchFamily="49" charset="-122"/>
                <a:cs typeface="Times New Roman" panose="02020603050405020304" pitchFamily="18" charset="0"/>
              </a:rPr>
              <a:t>egid</a:t>
            </a:r>
            <a:r>
              <a:rPr lang="zh-CN" altLang="en-US" sz="2200" dirty="0">
                <a:latin typeface="Times New Roman" panose="02020603050405020304" pitchFamily="18" charset="0"/>
                <a:ea typeface="楷体_GB2312" pitchFamily="49" charset="-122"/>
                <a:cs typeface="Times New Roman" panose="02020603050405020304" pitchFamily="18" charset="0"/>
              </a:rPr>
              <a:t>相等</a:t>
            </a:r>
            <a:endParaRPr lang="zh-CN" altLang="en-US" sz="2200" dirty="0">
              <a:latin typeface="Times New Roman" panose="02020603050405020304" pitchFamily="18" charset="0"/>
              <a:ea typeface="楷体_GB2312" pitchFamily="49" charset="-122"/>
              <a:cs typeface="Times New Roman" panose="02020603050405020304" pitchFamily="18" charset="0"/>
            </a:endParaRPr>
          </a:p>
          <a:p>
            <a:pPr lvl="2" eaLnBrk="1" hangingPunct="1"/>
            <a:r>
              <a:rPr lang="zh-CN" altLang="en-US" sz="2200" dirty="0">
                <a:latin typeface="Times New Roman" panose="02020603050405020304" pitchFamily="18" charset="0"/>
                <a:ea typeface="楷体_GB2312" pitchFamily="49" charset="-122"/>
                <a:cs typeface="Times New Roman" panose="02020603050405020304" pitchFamily="18" charset="0"/>
              </a:rPr>
              <a:t>在</a:t>
            </a:r>
            <a:r>
              <a:rPr lang="en-US" altLang="zh-CN" sz="2200" dirty="0">
                <a:latin typeface="Times New Roman" panose="02020603050405020304" pitchFamily="18" charset="0"/>
                <a:ea typeface="楷体_GB2312" pitchFamily="49" charset="-122"/>
                <a:cs typeface="Times New Roman" panose="02020603050405020304" pitchFamily="18" charset="0"/>
              </a:rPr>
              <a:t>NSF</a:t>
            </a:r>
            <a:r>
              <a:rPr lang="zh-CN" altLang="en-US" sz="2200" dirty="0">
                <a:latin typeface="Times New Roman" panose="02020603050405020304" pitchFamily="18" charset="0"/>
                <a:ea typeface="楷体_GB2312" pitchFamily="49" charset="-122"/>
                <a:cs typeface="Times New Roman" panose="02020603050405020304" pitchFamily="18" charset="0"/>
              </a:rPr>
              <a:t>文件系统中，</a:t>
            </a:r>
            <a:r>
              <a:rPr lang="en-US" altLang="zh-CN" sz="2200" dirty="0">
                <a:latin typeface="Times New Roman" panose="02020603050405020304" pitchFamily="18" charset="0"/>
                <a:ea typeface="楷体_GB2312" pitchFamily="49" charset="-122"/>
                <a:cs typeface="Times New Roman" panose="02020603050405020304" pitchFamily="18" charset="0"/>
              </a:rPr>
              <a:t>NSF</a:t>
            </a:r>
            <a:r>
              <a:rPr lang="zh-CN" altLang="en-US" sz="2200" dirty="0">
                <a:latin typeface="Times New Roman" panose="02020603050405020304" pitchFamily="18" charset="0"/>
                <a:ea typeface="楷体_GB2312" pitchFamily="49" charset="-122"/>
                <a:cs typeface="Times New Roman" panose="02020603050405020304" pitchFamily="18" charset="0"/>
              </a:rPr>
              <a:t>服务器需要作为一个特殊的进程访问文件，此时只修改客户进程的</a:t>
            </a:r>
            <a:r>
              <a:rPr lang="en-US" altLang="zh-CN" sz="2200" dirty="0" err="1">
                <a:latin typeface="Times New Roman" panose="02020603050405020304" pitchFamily="18" charset="0"/>
                <a:ea typeface="楷体_GB2312" pitchFamily="49" charset="-122"/>
                <a:cs typeface="Times New Roman" panose="02020603050405020304" pitchFamily="18" charset="0"/>
              </a:rPr>
              <a:t>fsuid</a:t>
            </a:r>
            <a:r>
              <a:rPr lang="zh-CN" altLang="en-US" sz="2200" dirty="0">
                <a:latin typeface="Times New Roman" panose="02020603050405020304" pitchFamily="18" charset="0"/>
                <a:ea typeface="楷体_GB2312" pitchFamily="49" charset="-122"/>
                <a:cs typeface="Times New Roman" panose="02020603050405020304" pitchFamily="18" charset="0"/>
              </a:rPr>
              <a:t>和</a:t>
            </a:r>
            <a:r>
              <a:rPr lang="en-US" altLang="zh-CN" sz="2200" dirty="0" err="1">
                <a:latin typeface="Times New Roman" panose="02020603050405020304" pitchFamily="18" charset="0"/>
                <a:ea typeface="楷体_GB2312" pitchFamily="49" charset="-122"/>
                <a:cs typeface="Times New Roman" panose="02020603050405020304" pitchFamily="18" charset="0"/>
              </a:rPr>
              <a:t>fsgid</a:t>
            </a:r>
            <a:r>
              <a:rPr lang="zh-CN" altLang="en-US" sz="2200" dirty="0">
                <a:latin typeface="Times New Roman" panose="02020603050405020304" pitchFamily="18" charset="0"/>
                <a:ea typeface="楷体_GB2312" pitchFamily="49" charset="-122"/>
                <a:cs typeface="Times New Roman" panose="02020603050405020304" pitchFamily="18" charset="0"/>
              </a:rPr>
              <a:t>，而不改变</a:t>
            </a:r>
            <a:r>
              <a:rPr lang="en-US" altLang="zh-CN" sz="2200" dirty="0" err="1">
                <a:latin typeface="Times New Roman" panose="02020603050405020304" pitchFamily="18" charset="0"/>
                <a:ea typeface="楷体_GB2312" pitchFamily="49" charset="-122"/>
                <a:cs typeface="Times New Roman" panose="02020603050405020304" pitchFamily="18" charset="0"/>
              </a:rPr>
              <a:t>euid</a:t>
            </a:r>
            <a:r>
              <a:rPr lang="zh-CN" altLang="en-US" sz="2200" dirty="0">
                <a:latin typeface="Times New Roman" panose="02020603050405020304" pitchFamily="18" charset="0"/>
                <a:ea typeface="楷体_GB2312" pitchFamily="49" charset="-122"/>
                <a:cs typeface="Times New Roman" panose="02020603050405020304" pitchFamily="18" charset="0"/>
              </a:rPr>
              <a:t>及</a:t>
            </a:r>
            <a:r>
              <a:rPr lang="en-US" altLang="zh-CN" sz="2200" dirty="0" err="1">
                <a:latin typeface="Times New Roman" panose="02020603050405020304" pitchFamily="18" charset="0"/>
                <a:ea typeface="楷体_GB2312" pitchFamily="49" charset="-122"/>
                <a:cs typeface="Times New Roman" panose="02020603050405020304" pitchFamily="18" charset="0"/>
              </a:rPr>
              <a:t>egid</a:t>
            </a:r>
            <a:r>
              <a:rPr lang="zh-CN" altLang="en-US" sz="2200" dirty="0">
                <a:latin typeface="Times New Roman" panose="02020603050405020304" pitchFamily="18" charset="0"/>
                <a:ea typeface="楷体_GB2312" pitchFamily="49" charset="-122"/>
                <a:cs typeface="Times New Roman" panose="02020603050405020304" pitchFamily="18" charset="0"/>
              </a:rPr>
              <a:t>，可避免受恶意攻击</a:t>
            </a:r>
            <a:endParaRPr lang="en-US" altLang="zh-CN" sz="2200" dirty="0">
              <a:latin typeface="Times New Roman" panose="02020603050405020304" pitchFamily="18" charset="0"/>
              <a:ea typeface="楷体_GB2312" pitchFamily="49" charset="-122"/>
              <a:cs typeface="Times New Roman" panose="02020603050405020304" pitchFamily="18" charset="0"/>
            </a:endParaRPr>
          </a:p>
          <a:p>
            <a:pPr lvl="2" eaLnBrk="1" hangingPunct="1"/>
            <a:endParaRPr lang="zh-CN" altLang="en-US" sz="2200" dirty="0">
              <a:latin typeface="Times New Roman" panose="02020603050405020304" pitchFamily="18" charset="0"/>
              <a:ea typeface="楷体_GB2312" pitchFamily="49" charset="-122"/>
              <a:cs typeface="Times New Roman" panose="02020603050405020304" pitchFamily="18" charset="0"/>
            </a:endParaRPr>
          </a:p>
        </p:txBody>
      </p:sp>
      <p:sp>
        <p:nvSpPr>
          <p:cNvPr id="4" name="矩形 3"/>
          <p:cNvSpPr/>
          <p:nvPr/>
        </p:nvSpPr>
        <p:spPr>
          <a:xfrm>
            <a:off x="1845735" y="116632"/>
            <a:ext cx="5144357" cy="584775"/>
          </a:xfrm>
          <a:prstGeom prst="rect">
            <a:avLst/>
          </a:prstGeom>
        </p:spPr>
        <p:txBody>
          <a:bodyPr wrap="none">
            <a:spAutoFit/>
          </a:bodyPr>
          <a:lstStyle/>
          <a:p>
            <a:pPr algn="ctr" eaLnBrk="1" hangingPunct="1"/>
            <a:r>
              <a:rPr lang="en-US" altLang="zh-CN" sz="3200" b="1" dirty="0">
                <a:ea typeface="楷体_GB2312" pitchFamily="49" charset="-122"/>
                <a:cs typeface="Times New Roman" panose="02020603050405020304" pitchFamily="18" charset="0"/>
              </a:rPr>
              <a:t>2.3 Linux</a:t>
            </a:r>
            <a:r>
              <a:rPr lang="zh-CN" altLang="en-US" sz="3200" b="1" dirty="0">
                <a:ea typeface="楷体_GB2312" pitchFamily="49" charset="-122"/>
                <a:cs typeface="Times New Roman" panose="02020603050405020304" pitchFamily="18" charset="0"/>
              </a:rPr>
              <a:t>进程的标识与组织</a:t>
            </a:r>
            <a:endParaRPr lang="zh-CN" altLang="en-US" sz="3200" b="1" dirty="0">
              <a:ea typeface="楷体_GB2312" pitchFamily="49" charset="-122"/>
              <a:cs typeface="Times New Roman" panose="02020603050405020304" pitchFamily="18" charset="0"/>
            </a:endParaRPr>
          </a:p>
        </p:txBody>
      </p:sp>
    </p:spTree>
  </p:cSld>
  <p:clrMapOvr>
    <a:masterClrMapping/>
  </p:clrMapOvr>
  <p:transition>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19">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219">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219">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219">
                                            <p:txEl>
                                              <p:pRg st="4" end="4"/>
                                            </p:txEl>
                                          </p:spTgt>
                                        </p:tgtEl>
                                        <p:attrNameLst>
                                          <p:attrName>style.visibility</p:attrName>
                                        </p:attrNameLst>
                                      </p:cBhvr>
                                      <p:to>
                                        <p:strVal val="visible"/>
                                      </p:to>
                                    </p:set>
                                  </p:childTnLst>
                                </p:cTn>
                              </p:par>
                              <p:par>
                                <p:cTn id="13" presetID="10" presetClass="entr" presetSubtype="0" fill="hold" nodeType="withEffect">
                                  <p:stCondLst>
                                    <p:cond delay="0"/>
                                  </p:stCondLst>
                                  <p:childTnLst>
                                    <p:set>
                                      <p:cBhvr>
                                        <p:cTn id="14" dur="1" fill="hold">
                                          <p:stCondLst>
                                            <p:cond delay="0"/>
                                          </p:stCondLst>
                                        </p:cTn>
                                        <p:tgtEl>
                                          <p:spTgt spid="9219">
                                            <p:txEl>
                                              <p:pRg st="5" end="5"/>
                                            </p:txEl>
                                          </p:spTgt>
                                        </p:tgtEl>
                                        <p:attrNameLst>
                                          <p:attrName>style.visibility</p:attrName>
                                        </p:attrNameLst>
                                      </p:cBhvr>
                                      <p:to>
                                        <p:strVal val="visible"/>
                                      </p:to>
                                    </p:set>
                                    <p:animEffect transition="in" filter="fade">
                                      <p:cBhvr>
                                        <p:cTn id="15" dur="500"/>
                                        <p:tgtEl>
                                          <p:spTgt spid="9219">
                                            <p:txEl>
                                              <p:pRg st="5" end="5"/>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9219">
                                            <p:txEl>
                                              <p:pRg st="6" end="6"/>
                                            </p:txEl>
                                          </p:spTgt>
                                        </p:tgtEl>
                                        <p:attrNameLst>
                                          <p:attrName>style.visibility</p:attrName>
                                        </p:attrNameLst>
                                      </p:cBhvr>
                                      <p:to>
                                        <p:strVal val="visible"/>
                                      </p:to>
                                    </p:set>
                                    <p:animEffect transition="in" filter="fade">
                                      <p:cBhvr>
                                        <p:cTn id="18" dur="500"/>
                                        <p:tgtEl>
                                          <p:spTgt spid="9219">
                                            <p:txEl>
                                              <p:pRg st="6" end="6"/>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9219">
                                            <p:txEl>
                                              <p:pRg st="7" end="7"/>
                                            </p:txEl>
                                          </p:spTgt>
                                        </p:tgtEl>
                                        <p:attrNameLst>
                                          <p:attrName>style.visibility</p:attrName>
                                        </p:attrNameLst>
                                      </p:cBhvr>
                                      <p:to>
                                        <p:strVal val="visible"/>
                                      </p:to>
                                    </p:set>
                                    <p:animEffect transition="in" filter="fade">
                                      <p:cBhvr>
                                        <p:cTn id="21" dur="500"/>
                                        <p:tgtEl>
                                          <p:spTgt spid="9219">
                                            <p:txEl>
                                              <p:pRg st="7" end="7"/>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9219">
                                            <p:txEl>
                                              <p:pRg st="8" end="8"/>
                                            </p:txEl>
                                          </p:spTgt>
                                        </p:tgtEl>
                                        <p:attrNameLst>
                                          <p:attrName>style.visibility</p:attrName>
                                        </p:attrNameLst>
                                      </p:cBhvr>
                                      <p:to>
                                        <p:strVal val="visible"/>
                                      </p:to>
                                    </p:set>
                                    <p:animEffect transition="in" filter="fade">
                                      <p:cBhvr>
                                        <p:cTn id="24" dur="500"/>
                                        <p:tgtEl>
                                          <p:spTgt spid="9219">
                                            <p:txEl>
                                              <p:pRg st="8" end="8"/>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9219">
                                            <p:txEl>
                                              <p:pRg st="9" end="9"/>
                                            </p:txEl>
                                          </p:spTgt>
                                        </p:tgtEl>
                                        <p:attrNameLst>
                                          <p:attrName>style.visibility</p:attrName>
                                        </p:attrNameLst>
                                      </p:cBhvr>
                                      <p:to>
                                        <p:strVal val="visible"/>
                                      </p:to>
                                    </p:set>
                                    <p:animEffect transition="in" filter="fade">
                                      <p:cBhvr>
                                        <p:cTn id="27" dur="500"/>
                                        <p:tgtEl>
                                          <p:spTgt spid="921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lvl1pPr>
              <a:defRPr sz="2400">
                <a:solidFill>
                  <a:schemeClr val="tx1"/>
                </a:solidFill>
                <a:latin typeface="Times New Roman" panose="02020603050405020304" pitchFamily="18" charset="0"/>
                <a:ea typeface="新宋体" panose="02010609030101010101" pitchFamily="49" charset="-122"/>
              </a:defRPr>
            </a:lvl1pPr>
            <a:lvl2pPr marL="742950" indent="-285750">
              <a:defRPr sz="2400">
                <a:solidFill>
                  <a:schemeClr val="tx1"/>
                </a:solidFill>
                <a:latin typeface="Times New Roman" panose="02020603050405020304" pitchFamily="18" charset="0"/>
                <a:ea typeface="新宋体" panose="02010609030101010101" pitchFamily="49" charset="-122"/>
              </a:defRPr>
            </a:lvl2pPr>
            <a:lvl3pPr marL="1143000" indent="-228600">
              <a:defRPr sz="2400">
                <a:solidFill>
                  <a:schemeClr val="tx1"/>
                </a:solidFill>
                <a:latin typeface="Times New Roman" panose="02020603050405020304" pitchFamily="18" charset="0"/>
                <a:ea typeface="新宋体" panose="02010609030101010101" pitchFamily="49" charset="-122"/>
              </a:defRPr>
            </a:lvl3pPr>
            <a:lvl4pPr marL="1600200" indent="-228600">
              <a:defRPr sz="2400">
                <a:solidFill>
                  <a:schemeClr val="tx1"/>
                </a:solidFill>
                <a:latin typeface="Times New Roman" panose="02020603050405020304" pitchFamily="18" charset="0"/>
                <a:ea typeface="新宋体" panose="02010609030101010101" pitchFamily="49" charset="-122"/>
              </a:defRPr>
            </a:lvl4pPr>
            <a:lvl5pPr marL="2057400" indent="-228600">
              <a:defRPr sz="2400">
                <a:solidFill>
                  <a:schemeClr val="tx1"/>
                </a:solidFill>
                <a:latin typeface="Times New Roman" panose="02020603050405020304" pitchFamily="18" charset="0"/>
                <a:ea typeface="新宋体" panose="02010609030101010101"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9pPr>
          </a:lstStyle>
          <a:p>
            <a:pPr>
              <a:defRPr/>
            </a:pPr>
            <a:fld id="{0A133A4A-30F4-4AAE-844C-FD0566E4F648}" type="slidenum">
              <a:rPr lang="en-US" altLang="zh-CN" sz="1200" smtClean="0">
                <a:latin typeface="Verdana" panose="020B0604030504040204" pitchFamily="34" charset="0"/>
                <a:ea typeface="Gulim" panose="020B0600000101010101" pitchFamily="34" charset="-127"/>
              </a:rPr>
            </a:fld>
            <a:endParaRPr lang="en-US" altLang="zh-CN" sz="1200">
              <a:latin typeface="Verdana" panose="020B0604030504040204" pitchFamily="34" charset="0"/>
              <a:ea typeface="Gulim" panose="020B0600000101010101" pitchFamily="34" charset="-127"/>
            </a:endParaRPr>
          </a:p>
        </p:txBody>
      </p:sp>
      <p:sp>
        <p:nvSpPr>
          <p:cNvPr id="10244" name="Rectangle 3"/>
          <p:cNvSpPr>
            <a:spLocks noGrp="1" noChangeArrowheads="1"/>
          </p:cNvSpPr>
          <p:nvPr>
            <p:ph type="body" idx="1"/>
          </p:nvPr>
        </p:nvSpPr>
        <p:spPr/>
        <p:txBody>
          <a:bodyPr/>
          <a:lstStyle/>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获取用户相关的进程标识信息的方法：</a:t>
            </a:r>
            <a:r>
              <a:rPr lang="en-US" altLang="zh-CN" dirty="0" err="1">
                <a:latin typeface="Times New Roman" panose="02020603050405020304" pitchFamily="18" charset="0"/>
                <a:ea typeface="楷体_GB2312" pitchFamily="49" charset="-122"/>
                <a:cs typeface="Times New Roman" panose="02020603050405020304" pitchFamily="18" charset="0"/>
              </a:rPr>
              <a:t>get</a:t>
            </a:r>
            <a:r>
              <a:rPr lang="en-US" altLang="zh-CN" dirty="0" err="1">
                <a:solidFill>
                  <a:srgbClr val="FF0000"/>
                </a:solidFill>
                <a:latin typeface="Times New Roman" panose="02020603050405020304" pitchFamily="18" charset="0"/>
                <a:ea typeface="楷体_GB2312" pitchFamily="49" charset="-122"/>
                <a:cs typeface="Times New Roman" panose="02020603050405020304" pitchFamily="18" charset="0"/>
              </a:rPr>
              <a:t>XXX</a:t>
            </a:r>
            <a:r>
              <a:rPr lang="en-US" altLang="zh-CN" dirty="0">
                <a:latin typeface="Times New Roman" panose="02020603050405020304" pitchFamily="18" charset="0"/>
                <a:ea typeface="楷体_GB2312" pitchFamily="49" charset="-122"/>
                <a:cs typeface="Times New Roman" panose="02020603050405020304" pitchFamily="18" charset="0"/>
              </a:rPr>
              <a:t>()</a:t>
            </a:r>
            <a:endParaRPr lang="en-US" altLang="zh-CN" dirty="0">
              <a:latin typeface="Times New Roman" panose="02020603050405020304" pitchFamily="18" charset="0"/>
              <a:ea typeface="楷体_GB2312" pitchFamily="49" charset="-122"/>
              <a:cs typeface="Times New Roman" panose="02020603050405020304" pitchFamily="18" charset="0"/>
            </a:endParaRPr>
          </a:p>
          <a:p>
            <a:pPr eaLnBrk="1" hangingPunct="1"/>
            <a:endParaRPr lang="zh-CN" altLang="zh-CN" dirty="0">
              <a:latin typeface="Times New Roman" panose="02020603050405020304" pitchFamily="18" charset="0"/>
              <a:ea typeface="楷体_GB2312" pitchFamily="49" charset="-122"/>
              <a:cs typeface="Times New Roman" panose="02020603050405020304" pitchFamily="18" charset="0"/>
            </a:endParaRPr>
          </a:p>
        </p:txBody>
      </p:sp>
      <p:pic>
        <p:nvPicPr>
          <p:cNvPr id="10245"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75568" y="1740743"/>
            <a:ext cx="5935663" cy="500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p:cNvSpPr/>
          <p:nvPr/>
        </p:nvSpPr>
        <p:spPr>
          <a:xfrm>
            <a:off x="1845735" y="116632"/>
            <a:ext cx="5144357" cy="584775"/>
          </a:xfrm>
          <a:prstGeom prst="rect">
            <a:avLst/>
          </a:prstGeom>
        </p:spPr>
        <p:txBody>
          <a:bodyPr wrap="none">
            <a:spAutoFit/>
          </a:bodyPr>
          <a:lstStyle/>
          <a:p>
            <a:pPr algn="ctr" eaLnBrk="1" hangingPunct="1"/>
            <a:r>
              <a:rPr lang="en-US" altLang="zh-CN" sz="3200" b="1" dirty="0">
                <a:ea typeface="楷体_GB2312" pitchFamily="49" charset="-122"/>
                <a:cs typeface="Times New Roman" panose="02020603050405020304" pitchFamily="18" charset="0"/>
              </a:rPr>
              <a:t>2.3 Linux</a:t>
            </a:r>
            <a:r>
              <a:rPr lang="zh-CN" altLang="en-US" sz="3200" b="1" dirty="0">
                <a:ea typeface="楷体_GB2312" pitchFamily="49" charset="-122"/>
                <a:cs typeface="Times New Roman" panose="02020603050405020304" pitchFamily="18" charset="0"/>
              </a:rPr>
              <a:t>进程的标识与组织</a:t>
            </a:r>
            <a:endParaRPr lang="zh-CN" altLang="en-US" sz="3200" b="1" dirty="0">
              <a:ea typeface="楷体_GB2312" pitchFamily="49" charset="-122"/>
              <a:cs typeface="Times New Roman" panose="02020603050405020304" pitchFamily="18" charset="0"/>
            </a:endParaRPr>
          </a:p>
        </p:txBody>
      </p:sp>
    </p:spTree>
  </p:cSld>
  <p:clrMapOvr>
    <a:masterClrMapping/>
  </p:clrMapOvr>
  <p:transition>
    <p:wedg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title"/>
          </p:nvPr>
        </p:nvSpPr>
        <p:spPr/>
        <p:txBody>
          <a:bodyPr/>
          <a:lstStyle/>
          <a:p>
            <a:pPr eaLnBrk="1" hangingPunct="1"/>
            <a:r>
              <a:rPr lang="en-US" altLang="zh-CN" dirty="0">
                <a:latin typeface="Times New Roman" panose="02020603050405020304" pitchFamily="18" charset="0"/>
                <a:ea typeface="楷体_GB2312" pitchFamily="49" charset="-122"/>
                <a:cs typeface="Times New Roman" panose="02020603050405020304" pitchFamily="18" charset="0"/>
              </a:rPr>
              <a:t>2.4 Linux</a:t>
            </a:r>
            <a:r>
              <a:rPr lang="zh-CN" altLang="en-US" dirty="0">
                <a:latin typeface="Times New Roman" panose="02020603050405020304" pitchFamily="18" charset="0"/>
                <a:ea typeface="楷体_GB2312" pitchFamily="49" charset="-122"/>
                <a:cs typeface="Times New Roman" panose="02020603050405020304" pitchFamily="18" charset="0"/>
              </a:rPr>
              <a:t>进程的系统堆栈</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
        <p:nvSpPr>
          <p:cNvPr id="11267" name="内容占位符 2"/>
          <p:cNvSpPr>
            <a:spLocks noGrp="1"/>
          </p:cNvSpPr>
          <p:nvPr>
            <p:ph idx="1"/>
          </p:nvPr>
        </p:nvSpPr>
        <p:spPr/>
        <p:txBody>
          <a:bodyPr/>
          <a:lstStyle/>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每个进程都要单独分配一个系统堆栈。</a:t>
            </a:r>
            <a:r>
              <a:rPr lang="en-US" altLang="zh-CN" dirty="0">
                <a:latin typeface="Times New Roman" panose="02020603050405020304" pitchFamily="18" charset="0"/>
                <a:ea typeface="楷体_GB2312" pitchFamily="49" charset="-122"/>
                <a:cs typeface="Times New Roman" panose="02020603050405020304" pitchFamily="18" charset="0"/>
              </a:rPr>
              <a:t>Linux</a:t>
            </a:r>
            <a:r>
              <a:rPr lang="zh-CN" altLang="en-US" dirty="0">
                <a:latin typeface="Times New Roman" panose="02020603050405020304" pitchFamily="18" charset="0"/>
                <a:ea typeface="楷体_GB2312" pitchFamily="49" charset="-122"/>
                <a:cs typeface="Times New Roman" panose="02020603050405020304" pitchFamily="18" charset="0"/>
              </a:rPr>
              <a:t>的进程描述符与所属进程的内核堆栈</a:t>
            </a:r>
            <a:r>
              <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放在一起</a:t>
            </a:r>
            <a:r>
              <a:rPr lang="zh-CN" altLang="en-US" dirty="0">
                <a:latin typeface="Times New Roman" panose="02020603050405020304" pitchFamily="18" charset="0"/>
                <a:ea typeface="楷体_GB2312" pitchFamily="49" charset="-122"/>
                <a:cs typeface="Times New Roman" panose="02020603050405020304" pitchFamily="18" charset="0"/>
              </a:rPr>
              <a:t>。</a:t>
            </a: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lnSpc>
                <a:spcPct val="90000"/>
              </a:lnSpc>
              <a:buFont typeface="Arial" panose="020B0604020202020204" pitchFamily="34" charset="0"/>
              <a:buChar char="•"/>
            </a:pPr>
            <a:r>
              <a:rPr lang="en-US" altLang="zh-CN" dirty="0">
                <a:latin typeface="Times New Roman" panose="02020603050405020304" pitchFamily="18" charset="0"/>
                <a:ea typeface="楷体_GB2312" pitchFamily="49" charset="-122"/>
                <a:cs typeface="Times New Roman" panose="02020603050405020304" pitchFamily="18" charset="0"/>
              </a:rPr>
              <a:t>Linux</a:t>
            </a:r>
            <a:r>
              <a:rPr lang="zh-CN" altLang="en-US" dirty="0">
                <a:latin typeface="Times New Roman" panose="02020603050405020304" pitchFamily="18" charset="0"/>
                <a:ea typeface="楷体_GB2312" pitchFamily="49" charset="-122"/>
                <a:cs typeface="Times New Roman" panose="02020603050405020304" pitchFamily="18" charset="0"/>
              </a:rPr>
              <a:t>为每个进程分配一个</a:t>
            </a:r>
            <a:r>
              <a:rPr lang="en-US" altLang="zh-CN" dirty="0">
                <a:latin typeface="Times New Roman" panose="02020603050405020304" pitchFamily="18" charset="0"/>
                <a:ea typeface="楷体_GB2312" pitchFamily="49" charset="-122"/>
                <a:cs typeface="Times New Roman" panose="02020603050405020304" pitchFamily="18" charset="0"/>
              </a:rPr>
              <a:t>8KB</a:t>
            </a:r>
            <a:r>
              <a:rPr lang="zh-CN" altLang="en-US" dirty="0">
                <a:latin typeface="Times New Roman" panose="02020603050405020304" pitchFamily="18" charset="0"/>
                <a:ea typeface="楷体_GB2312" pitchFamily="49" charset="-122"/>
                <a:cs typeface="Times New Roman" panose="02020603050405020304" pitchFamily="18" charset="0"/>
              </a:rPr>
              <a:t>大小的内存区域，用于存放该进程两个不同的数据结构：</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lnSpc>
                <a:spcPct val="90000"/>
              </a:lnSpc>
              <a:buFont typeface="Arial" panose="020B0604020202020204" pitchFamily="34" charset="0"/>
              <a:buChar char="•"/>
            </a:pPr>
            <a:r>
              <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进程描述符</a:t>
            </a:r>
            <a:r>
              <a:rPr lang="en-US" altLang="zh-CN" sz="3000" dirty="0" err="1">
                <a:solidFill>
                  <a:srgbClr val="FF0000"/>
                </a:solidFill>
                <a:latin typeface="Times New Roman" panose="02020603050405020304" pitchFamily="18" charset="0"/>
                <a:ea typeface="楷体_GB2312" pitchFamily="49" charset="-122"/>
                <a:cs typeface="Times New Roman" panose="02020603050405020304" pitchFamily="18" charset="0"/>
              </a:rPr>
              <a:t>task_struct</a:t>
            </a:r>
            <a:r>
              <a:rPr lang="zh-CN" altLang="en-US" sz="2800" dirty="0">
                <a:solidFill>
                  <a:srgbClr val="2B5681"/>
                </a:solidFill>
                <a:latin typeface="Times New Roman" panose="02020603050405020304" pitchFamily="18" charset="0"/>
                <a:ea typeface="楷体_GB2312" pitchFamily="49" charset="-122"/>
                <a:cs typeface="Times New Roman" panose="02020603050405020304" pitchFamily="18" charset="0"/>
              </a:rPr>
              <a:t>：位于</a:t>
            </a:r>
            <a:r>
              <a:rPr lang="en-US" altLang="zh-CN" sz="2800" dirty="0">
                <a:solidFill>
                  <a:srgbClr val="2B5681"/>
                </a:solidFill>
                <a:latin typeface="Times New Roman" panose="02020603050405020304" pitchFamily="18" charset="0"/>
                <a:ea typeface="楷体_GB2312" pitchFamily="49" charset="-122"/>
                <a:cs typeface="Times New Roman" panose="02020603050405020304" pitchFamily="18" charset="0"/>
              </a:rPr>
              <a:t>8K</a:t>
            </a:r>
            <a:r>
              <a:rPr lang="zh-CN" altLang="en-US" sz="2800" dirty="0">
                <a:solidFill>
                  <a:srgbClr val="2B5681"/>
                </a:solidFill>
                <a:latin typeface="Times New Roman" panose="02020603050405020304" pitchFamily="18" charset="0"/>
                <a:ea typeface="楷体_GB2312" pitchFamily="49" charset="-122"/>
                <a:cs typeface="Times New Roman" panose="02020603050405020304" pitchFamily="18" charset="0"/>
              </a:rPr>
              <a:t>低端</a:t>
            </a:r>
            <a:endParaRPr lang="zh-CN" altLang="en-US" sz="2800" dirty="0">
              <a:solidFill>
                <a:srgbClr val="2B5681"/>
              </a:solidFill>
              <a:latin typeface="Times New Roman" panose="02020603050405020304" pitchFamily="18" charset="0"/>
              <a:ea typeface="楷体_GB2312" pitchFamily="49" charset="-122"/>
              <a:cs typeface="Times New Roman" panose="02020603050405020304" pitchFamily="18" charset="0"/>
            </a:endParaRPr>
          </a:p>
          <a:p>
            <a:pPr lvl="1" eaLnBrk="1" hangingPunct="1">
              <a:lnSpc>
                <a:spcPct val="90000"/>
              </a:lnSpc>
              <a:buFont typeface="Arial" panose="020B0604020202020204" pitchFamily="34" charset="0"/>
              <a:buChar char="•"/>
            </a:pPr>
            <a:r>
              <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进程的内核堆栈</a:t>
            </a:r>
            <a:r>
              <a:rPr lang="zh-CN" altLang="en-US" sz="2800" dirty="0">
                <a:solidFill>
                  <a:srgbClr val="2B5681"/>
                </a:solidFill>
                <a:latin typeface="Times New Roman" panose="02020603050405020304" pitchFamily="18" charset="0"/>
                <a:ea typeface="楷体_GB2312" pitchFamily="49" charset="-122"/>
                <a:cs typeface="Times New Roman" panose="02020603050405020304" pitchFamily="18" charset="0"/>
              </a:rPr>
              <a:t>：进程处于内核态时使用，位于</a:t>
            </a:r>
            <a:r>
              <a:rPr lang="en-US" altLang="zh-CN" sz="2800" dirty="0">
                <a:solidFill>
                  <a:srgbClr val="2B5681"/>
                </a:solidFill>
                <a:latin typeface="Times New Roman" panose="02020603050405020304" pitchFamily="18" charset="0"/>
                <a:ea typeface="楷体_GB2312" pitchFamily="49" charset="-122"/>
                <a:cs typeface="Times New Roman" panose="02020603050405020304" pitchFamily="18" charset="0"/>
              </a:rPr>
              <a:t>8K</a:t>
            </a:r>
            <a:r>
              <a:rPr lang="zh-CN" altLang="en-US" sz="2800" dirty="0">
                <a:solidFill>
                  <a:srgbClr val="2B5681"/>
                </a:solidFill>
                <a:latin typeface="Times New Roman" panose="02020603050405020304" pitchFamily="18" charset="0"/>
                <a:ea typeface="楷体_GB2312" pitchFamily="49" charset="-122"/>
                <a:cs typeface="Times New Roman" panose="02020603050405020304" pitchFamily="18" charset="0"/>
              </a:rPr>
              <a:t>高端</a:t>
            </a:r>
            <a:endParaRPr lang="zh-CN" altLang="en-US" sz="2800" dirty="0">
              <a:solidFill>
                <a:srgbClr val="2B5681"/>
              </a:solidFill>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系统堆栈的结构特点</a:t>
            </a:r>
            <a:endParaRPr lang="en-US" altLang="zh-CN"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dirty="0">
                <a:latin typeface="Times New Roman" panose="02020603050405020304" pitchFamily="18" charset="0"/>
                <a:ea typeface="楷体_GB2312" pitchFamily="49" charset="-122"/>
                <a:cs typeface="Times New Roman" panose="02020603050405020304" pitchFamily="18" charset="0"/>
              </a:rPr>
              <a:t>8192</a:t>
            </a:r>
            <a:r>
              <a:rPr lang="zh-CN" altLang="en-US" dirty="0">
                <a:latin typeface="Times New Roman" panose="02020603050405020304" pitchFamily="18" charset="0"/>
                <a:ea typeface="楷体_GB2312" pitchFamily="49" charset="-122"/>
                <a:cs typeface="Times New Roman" panose="02020603050405020304" pitchFamily="18" charset="0"/>
              </a:rPr>
              <a:t>（</a:t>
            </a:r>
            <a:r>
              <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rPr>
              <a:t> 2</a:t>
            </a:r>
            <a:r>
              <a:rPr lang="en-US" altLang="zh-CN" baseline="30000" dirty="0">
                <a:solidFill>
                  <a:srgbClr val="FF0000"/>
                </a:solidFill>
                <a:latin typeface="Times New Roman" panose="02020603050405020304" pitchFamily="18" charset="0"/>
                <a:ea typeface="楷体_GB2312" pitchFamily="49" charset="-122"/>
                <a:cs typeface="Times New Roman" panose="02020603050405020304" pitchFamily="18" charset="0"/>
              </a:rPr>
              <a:t>13 </a:t>
            </a:r>
            <a:r>
              <a:rPr lang="zh-CN" altLang="en-US" dirty="0">
                <a:latin typeface="Times New Roman" panose="02020603050405020304" pitchFamily="18" charset="0"/>
                <a:ea typeface="楷体_GB2312" pitchFamily="49" charset="-122"/>
                <a:cs typeface="Times New Roman" panose="02020603050405020304" pitchFamily="18" charset="0"/>
              </a:rPr>
              <a:t>）字节，两个页框</a:t>
            </a:r>
            <a:endParaRPr lang="en-US" altLang="zh-CN"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占用</a:t>
            </a:r>
            <a:r>
              <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连续两个页框</a:t>
            </a:r>
            <a:r>
              <a:rPr lang="zh-CN" altLang="en-US" dirty="0">
                <a:latin typeface="Times New Roman" panose="02020603050405020304" pitchFamily="18" charset="0"/>
                <a:ea typeface="楷体_GB2312" pitchFamily="49" charset="-122"/>
                <a:cs typeface="Times New Roman" panose="02020603050405020304" pitchFamily="18" charset="0"/>
              </a:rPr>
              <a:t>，且第一个页框起始地址为</a:t>
            </a:r>
            <a:r>
              <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rPr>
              <a:t>2</a:t>
            </a:r>
            <a:r>
              <a:rPr lang="en-US" altLang="zh-CN" baseline="30000" dirty="0">
                <a:solidFill>
                  <a:srgbClr val="FF0000"/>
                </a:solidFill>
                <a:latin typeface="Times New Roman" panose="02020603050405020304" pitchFamily="18" charset="0"/>
                <a:ea typeface="楷体_GB2312" pitchFamily="49" charset="-122"/>
                <a:cs typeface="Times New Roman" panose="02020603050405020304" pitchFamily="18" charset="0"/>
              </a:rPr>
              <a:t>13</a:t>
            </a:r>
            <a:r>
              <a:rPr lang="zh-CN" altLang="en-US" dirty="0">
                <a:latin typeface="Times New Roman" panose="02020603050405020304" pitchFamily="18" charset="0"/>
                <a:ea typeface="楷体_GB2312" pitchFamily="49" charset="-122"/>
                <a:cs typeface="Times New Roman" panose="02020603050405020304" pitchFamily="18" charset="0"/>
              </a:rPr>
              <a:t>的倍数</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ransition>
    <p:wedg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3"/>
          <p:cNvSpPr>
            <a:spLocks noGrp="1"/>
          </p:cNvSpPr>
          <p:nvPr>
            <p:ph type="sldNum" sz="quarter" idx="10"/>
          </p:nvPr>
        </p:nvSpPr>
        <p:spPr/>
        <p:txBody>
          <a:bodyPr/>
          <a:lstStyle>
            <a:lvl1pPr>
              <a:defRPr sz="2400">
                <a:solidFill>
                  <a:schemeClr val="tx1"/>
                </a:solidFill>
                <a:latin typeface="Times New Roman" panose="02020603050405020304" pitchFamily="18" charset="0"/>
                <a:ea typeface="新宋体" panose="02010609030101010101" pitchFamily="49" charset="-122"/>
              </a:defRPr>
            </a:lvl1pPr>
            <a:lvl2pPr marL="742950" indent="-285750">
              <a:defRPr sz="2400">
                <a:solidFill>
                  <a:schemeClr val="tx1"/>
                </a:solidFill>
                <a:latin typeface="Times New Roman" panose="02020603050405020304" pitchFamily="18" charset="0"/>
                <a:ea typeface="新宋体" panose="02010609030101010101" pitchFamily="49" charset="-122"/>
              </a:defRPr>
            </a:lvl2pPr>
            <a:lvl3pPr marL="1143000" indent="-228600">
              <a:defRPr sz="2400">
                <a:solidFill>
                  <a:schemeClr val="tx1"/>
                </a:solidFill>
                <a:latin typeface="Times New Roman" panose="02020603050405020304" pitchFamily="18" charset="0"/>
                <a:ea typeface="新宋体" panose="02010609030101010101" pitchFamily="49" charset="-122"/>
              </a:defRPr>
            </a:lvl3pPr>
            <a:lvl4pPr marL="1600200" indent="-228600">
              <a:defRPr sz="2400">
                <a:solidFill>
                  <a:schemeClr val="tx1"/>
                </a:solidFill>
                <a:latin typeface="Times New Roman" panose="02020603050405020304" pitchFamily="18" charset="0"/>
                <a:ea typeface="新宋体" panose="02010609030101010101" pitchFamily="49" charset="-122"/>
              </a:defRPr>
            </a:lvl4pPr>
            <a:lvl5pPr marL="2057400" indent="-228600">
              <a:defRPr sz="2400">
                <a:solidFill>
                  <a:schemeClr val="tx1"/>
                </a:solidFill>
                <a:latin typeface="Times New Roman" panose="02020603050405020304" pitchFamily="18" charset="0"/>
                <a:ea typeface="新宋体" panose="02010609030101010101"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9pPr>
          </a:lstStyle>
          <a:p>
            <a:pPr>
              <a:defRPr/>
            </a:pPr>
            <a:fld id="{E32DAF2F-093E-45B1-ADE5-18CCD2D9F2E4}" type="slidenum">
              <a:rPr lang="en-US" altLang="zh-CN" sz="1200" smtClean="0">
                <a:latin typeface="Verdana" panose="020B0604030504040204" pitchFamily="34" charset="0"/>
                <a:ea typeface="Gulim" panose="020B0600000101010101" pitchFamily="34" charset="-127"/>
              </a:rPr>
            </a:fld>
            <a:endParaRPr lang="en-US" altLang="zh-CN" sz="1200">
              <a:latin typeface="Verdana" panose="020B0604030504040204" pitchFamily="34" charset="0"/>
              <a:ea typeface="Gulim" panose="020B0600000101010101" pitchFamily="34" charset="-127"/>
            </a:endParaRPr>
          </a:p>
        </p:txBody>
      </p:sp>
      <p:sp>
        <p:nvSpPr>
          <p:cNvPr id="12291" name="Rectangle 2"/>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楷体_GB2312" pitchFamily="49" charset="-122"/>
                <a:cs typeface="Times New Roman" panose="02020603050405020304" pitchFamily="18" charset="0"/>
              </a:rPr>
              <a:t>2.4 Linux</a:t>
            </a:r>
            <a:r>
              <a:rPr lang="zh-CN" altLang="en-US" dirty="0">
                <a:latin typeface="Times New Roman" panose="02020603050405020304" pitchFamily="18" charset="0"/>
                <a:ea typeface="楷体_GB2312" pitchFamily="49" charset="-122"/>
                <a:cs typeface="Times New Roman" panose="02020603050405020304" pitchFamily="18" charset="0"/>
              </a:rPr>
              <a:t>进程的系统堆栈</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
        <p:nvSpPr>
          <p:cNvPr id="12292" name="Rectangle 3"/>
          <p:cNvSpPr>
            <a:spLocks noGrp="1" noChangeArrowheads="1"/>
          </p:cNvSpPr>
          <p:nvPr>
            <p:ph type="body" idx="1"/>
          </p:nvPr>
        </p:nvSpPr>
        <p:spPr/>
        <p:txBody>
          <a:bodyPr/>
          <a:lstStyle/>
          <a:p>
            <a:pPr eaLnBrk="1" hangingPunct="1">
              <a:buFont typeface="Arial" panose="020B0604020202020204" pitchFamily="34" charset="0"/>
              <a:buChar char="•"/>
            </a:pPr>
            <a:r>
              <a:rPr lang="en-US" altLang="zh-CN" dirty="0">
                <a:latin typeface="Times New Roman" panose="02020603050405020304" pitchFamily="18" charset="0"/>
                <a:ea typeface="楷体_GB2312" pitchFamily="49" charset="-122"/>
                <a:cs typeface="Times New Roman" panose="02020603050405020304" pitchFamily="18" charset="0"/>
              </a:rPr>
              <a:t>Linux</a:t>
            </a:r>
            <a:r>
              <a:rPr lang="zh-CN" altLang="en-US" dirty="0">
                <a:latin typeface="Times New Roman" panose="02020603050405020304" pitchFamily="18" charset="0"/>
                <a:ea typeface="楷体_GB2312" pitchFamily="49" charset="-122"/>
                <a:cs typeface="Times New Roman" panose="02020603050405020304" pitchFamily="18" charset="0"/>
              </a:rPr>
              <a:t>系统进程个数限制</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r>
              <a:rPr lang="zh-CN" altLang="en-US" dirty="0">
                <a:latin typeface="Times New Roman" panose="02020603050405020304" pitchFamily="18" charset="0"/>
                <a:ea typeface="楷体_GB2312" pitchFamily="49" charset="-122"/>
                <a:cs typeface="Times New Roman" panose="02020603050405020304" pitchFamily="18" charset="0"/>
              </a:rPr>
              <a:t>所有进程的</a:t>
            </a:r>
            <a:r>
              <a:rPr lang="en-US" altLang="zh-CN" dirty="0">
                <a:latin typeface="Times New Roman" panose="02020603050405020304" pitchFamily="18" charset="0"/>
                <a:ea typeface="楷体_GB2312" pitchFamily="49" charset="-122"/>
                <a:cs typeface="Times New Roman" panose="02020603050405020304" pitchFamily="18" charset="0"/>
              </a:rPr>
              <a:t>PCB</a:t>
            </a:r>
            <a:r>
              <a:rPr lang="zh-CN" altLang="en-US" dirty="0">
                <a:latin typeface="Times New Roman" panose="02020603050405020304" pitchFamily="18" charset="0"/>
                <a:ea typeface="楷体_GB2312" pitchFamily="49" charset="-122"/>
                <a:cs typeface="Times New Roman" panose="02020603050405020304" pitchFamily="18" charset="0"/>
              </a:rPr>
              <a:t>及系统堆栈占用空间≤</a:t>
            </a:r>
            <a:r>
              <a:rPr lang="en-US" altLang="zh-CN" dirty="0">
                <a:latin typeface="Times New Roman" panose="02020603050405020304" pitchFamily="18" charset="0"/>
                <a:ea typeface="楷体_GB2312" pitchFamily="49" charset="-122"/>
                <a:cs typeface="Times New Roman" panose="02020603050405020304" pitchFamily="18" charset="0"/>
              </a:rPr>
              <a:t>1/2</a:t>
            </a:r>
            <a:r>
              <a:rPr lang="zh-CN" altLang="en-US" dirty="0">
                <a:latin typeface="Times New Roman" panose="02020603050405020304" pitchFamily="18" charset="0"/>
                <a:ea typeface="楷体_GB2312" pitchFamily="49" charset="-122"/>
                <a:cs typeface="Times New Roman" panose="02020603050405020304" pitchFamily="18" charset="0"/>
              </a:rPr>
              <a:t>的物理内存总和</a:t>
            </a: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endParaRPr lang="en-US" altLang="zh-CN" dirty="0">
              <a:latin typeface="Times New Roman" panose="02020603050405020304" pitchFamily="18" charset="0"/>
              <a:ea typeface="楷体_GB2312" pitchFamily="49" charset="-122"/>
              <a:cs typeface="Times New Roman" panose="02020603050405020304" pitchFamily="18" charset="0"/>
            </a:endParaRPr>
          </a:p>
        </p:txBody>
      </p:sp>
      <p:grpSp>
        <p:nvGrpSpPr>
          <p:cNvPr id="12293" name="Group 22"/>
          <p:cNvGrpSpPr/>
          <p:nvPr/>
        </p:nvGrpSpPr>
        <p:grpSpPr bwMode="auto">
          <a:xfrm>
            <a:off x="928688" y="2143125"/>
            <a:ext cx="7791450" cy="4643438"/>
            <a:chOff x="703" y="2070"/>
            <a:chExt cx="3977" cy="2250"/>
          </a:xfrm>
        </p:grpSpPr>
        <p:pic>
          <p:nvPicPr>
            <p:cNvPr id="12294" name="Picture 2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19" y="2070"/>
              <a:ext cx="2767" cy="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295" name="Group 24"/>
            <p:cNvGrpSpPr/>
            <p:nvPr/>
          </p:nvGrpSpPr>
          <p:grpSpPr bwMode="auto">
            <a:xfrm>
              <a:off x="703" y="2288"/>
              <a:ext cx="1227" cy="1905"/>
              <a:chOff x="703" y="2288"/>
              <a:chExt cx="1227" cy="1905"/>
            </a:xfrm>
          </p:grpSpPr>
          <p:sp>
            <p:nvSpPr>
              <p:cNvPr id="506905" name="AutoShape 25"/>
              <p:cNvSpPr/>
              <p:nvPr/>
            </p:nvSpPr>
            <p:spPr bwMode="auto">
              <a:xfrm>
                <a:off x="1703" y="2288"/>
                <a:ext cx="227" cy="1905"/>
              </a:xfrm>
              <a:prstGeom prst="leftBrace">
                <a:avLst>
                  <a:gd name="adj1" fmla="val 69934"/>
                  <a:gd name="adj2" fmla="val 50000"/>
                </a:avLst>
              </a:prstGeom>
              <a:noFill/>
              <a:ln w="12700">
                <a:solidFill>
                  <a:srgbClr val="0000FF"/>
                </a:solidFill>
                <a:round/>
              </a:ln>
              <a:effectLst/>
            </p:spPr>
            <p:txBody>
              <a:bodyPr anchor="ctr">
                <a:spAutoFit/>
              </a:bodyPr>
              <a:lstStyle/>
              <a:p>
                <a:pPr>
                  <a:spcBef>
                    <a:spcPct val="20000"/>
                  </a:spcBef>
                  <a:buClr>
                    <a:srgbClr val="FF9900"/>
                  </a:buClr>
                  <a:buFont typeface="Wingdings" panose="05000000000000000000" pitchFamily="2" charset="2"/>
                  <a:buNone/>
                  <a:defRPr/>
                </a:pPr>
                <a:endParaRPr lang="zh-CN" altLang="en-US">
                  <a:effectLst>
                    <a:outerShdw blurRad="38100" dist="38100" dir="2700000" algn="tl">
                      <a:srgbClr val="000000">
                        <a:alpha val="43137"/>
                      </a:srgbClr>
                    </a:outerShdw>
                  </a:effectLst>
                </a:endParaRPr>
              </a:p>
            </p:txBody>
          </p:sp>
          <p:sp>
            <p:nvSpPr>
              <p:cNvPr id="506906" name="Text Box 26"/>
              <p:cNvSpPr txBox="1">
                <a:spLocks noChangeArrowheads="1"/>
              </p:cNvSpPr>
              <p:nvPr/>
            </p:nvSpPr>
            <p:spPr bwMode="auto">
              <a:xfrm>
                <a:off x="703" y="3030"/>
                <a:ext cx="1043" cy="313"/>
              </a:xfrm>
              <a:prstGeom prst="rect">
                <a:avLst/>
              </a:prstGeom>
              <a:noFill/>
              <a:ln w="9525">
                <a:noFill/>
                <a:miter lim="800000"/>
              </a:ln>
              <a:effectLst/>
            </p:spPr>
            <p:txBody>
              <a:bodyPr wrap="none">
                <a:spAutoFit/>
              </a:bodyPr>
              <a:lstStyle/>
              <a:p>
                <a:pPr algn="ctr">
                  <a:spcBef>
                    <a:spcPct val="20000"/>
                  </a:spcBef>
                  <a:buClr>
                    <a:srgbClr val="FF9900"/>
                  </a:buClr>
                  <a:buFont typeface="Wingdings" panose="05000000000000000000" pitchFamily="2" charset="2"/>
                  <a:buNone/>
                  <a:defRPr/>
                </a:pPr>
                <a:r>
                  <a:rPr lang="zh-CN" altLang="en-US" sz="1800" b="1" dirty="0">
                    <a:solidFill>
                      <a:srgbClr val="0000FF"/>
                    </a:solidFill>
                    <a:effectLst>
                      <a:outerShdw blurRad="38100" dist="38100" dir="2700000" algn="tl">
                        <a:srgbClr val="C0C0C0"/>
                      </a:outerShdw>
                    </a:effectLst>
                  </a:rPr>
                  <a:t>两个连续物理页面</a:t>
                </a:r>
                <a:br>
                  <a:rPr lang="zh-CN" altLang="en-US" sz="1800" b="1" dirty="0">
                    <a:solidFill>
                      <a:srgbClr val="0000FF"/>
                    </a:solidFill>
                    <a:effectLst>
                      <a:outerShdw blurRad="38100" dist="38100" dir="2700000" algn="tl">
                        <a:srgbClr val="C0C0C0"/>
                      </a:outerShdw>
                    </a:effectLst>
                  </a:rPr>
                </a:br>
                <a:r>
                  <a:rPr lang="zh-CN" altLang="en-US" sz="1800" b="1" dirty="0">
                    <a:solidFill>
                      <a:srgbClr val="0000FF"/>
                    </a:solidFill>
                    <a:effectLst>
                      <a:outerShdw blurRad="38100" dist="38100" dir="2700000" algn="tl">
                        <a:srgbClr val="C0C0C0"/>
                      </a:outerShdw>
                    </a:effectLst>
                  </a:rPr>
                  <a:t>（</a:t>
                </a:r>
                <a:r>
                  <a:rPr lang="en-US" altLang="zh-CN" sz="1800" b="1" dirty="0">
                    <a:solidFill>
                      <a:srgbClr val="0000FF"/>
                    </a:solidFill>
                    <a:effectLst>
                      <a:outerShdw blurRad="38100" dist="38100" dir="2700000" algn="tl">
                        <a:srgbClr val="C0C0C0"/>
                      </a:outerShdw>
                    </a:effectLst>
                  </a:rPr>
                  <a:t>8K</a:t>
                </a:r>
                <a:r>
                  <a:rPr lang="zh-CN" altLang="en-US" sz="1800" b="1" dirty="0">
                    <a:solidFill>
                      <a:srgbClr val="0000FF"/>
                    </a:solidFill>
                    <a:effectLst>
                      <a:outerShdw blurRad="38100" dist="38100" dir="2700000" algn="tl">
                        <a:srgbClr val="C0C0C0"/>
                      </a:outerShdw>
                    </a:effectLst>
                  </a:rPr>
                  <a:t>）</a:t>
                </a:r>
                <a:endParaRPr lang="zh-CN" altLang="en-US" sz="1800" b="1" dirty="0">
                  <a:solidFill>
                    <a:srgbClr val="0000FF"/>
                  </a:solidFill>
                  <a:effectLst>
                    <a:outerShdw blurRad="38100" dist="38100" dir="2700000" algn="tl">
                      <a:srgbClr val="C0C0C0"/>
                    </a:outerShdw>
                  </a:effectLst>
                </a:endParaRPr>
              </a:p>
            </p:txBody>
          </p:sp>
        </p:grpSp>
        <p:grpSp>
          <p:nvGrpSpPr>
            <p:cNvPr id="12296" name="Group 27"/>
            <p:cNvGrpSpPr/>
            <p:nvPr/>
          </p:nvGrpSpPr>
          <p:grpSpPr bwMode="auto">
            <a:xfrm>
              <a:off x="3470" y="2296"/>
              <a:ext cx="879" cy="1542"/>
              <a:chOff x="3470" y="2296"/>
              <a:chExt cx="879" cy="1542"/>
            </a:xfrm>
          </p:grpSpPr>
          <p:sp>
            <p:nvSpPr>
              <p:cNvPr id="506908" name="AutoShape 28"/>
              <p:cNvSpPr/>
              <p:nvPr/>
            </p:nvSpPr>
            <p:spPr bwMode="auto">
              <a:xfrm>
                <a:off x="3470" y="2296"/>
                <a:ext cx="181" cy="1542"/>
              </a:xfrm>
              <a:prstGeom prst="rightBrace">
                <a:avLst>
                  <a:gd name="adj1" fmla="val 70994"/>
                  <a:gd name="adj2" fmla="val 50000"/>
                </a:avLst>
              </a:prstGeom>
              <a:noFill/>
              <a:ln w="12700">
                <a:solidFill>
                  <a:srgbClr val="0000FF"/>
                </a:solidFill>
                <a:round/>
              </a:ln>
              <a:effectLst/>
            </p:spPr>
            <p:txBody>
              <a:bodyPr wrap="none" anchor="ctr">
                <a:spAutoFit/>
              </a:bodyPr>
              <a:lstStyle/>
              <a:p>
                <a:pPr>
                  <a:spcBef>
                    <a:spcPct val="20000"/>
                  </a:spcBef>
                  <a:buClr>
                    <a:srgbClr val="FF9900"/>
                  </a:buClr>
                  <a:buFont typeface="Wingdings" panose="05000000000000000000" pitchFamily="2" charset="2"/>
                  <a:buNone/>
                  <a:defRPr/>
                </a:pPr>
                <a:endParaRPr lang="zh-CN" altLang="en-US">
                  <a:effectLst>
                    <a:outerShdw blurRad="38100" dist="38100" dir="2700000" algn="tl">
                      <a:srgbClr val="000000">
                        <a:alpha val="43137"/>
                      </a:srgbClr>
                    </a:outerShdw>
                  </a:effectLst>
                </a:endParaRPr>
              </a:p>
            </p:txBody>
          </p:sp>
          <p:sp>
            <p:nvSpPr>
              <p:cNvPr id="506909" name="Text Box 29"/>
              <p:cNvSpPr txBox="1">
                <a:spLocks noChangeArrowheads="1"/>
              </p:cNvSpPr>
              <p:nvPr/>
            </p:nvSpPr>
            <p:spPr bwMode="auto">
              <a:xfrm>
                <a:off x="3568" y="2886"/>
                <a:ext cx="781" cy="178"/>
              </a:xfrm>
              <a:prstGeom prst="rect">
                <a:avLst/>
              </a:prstGeom>
              <a:noFill/>
              <a:ln w="9525">
                <a:noFill/>
                <a:miter lim="800000"/>
              </a:ln>
              <a:effectLst/>
            </p:spPr>
            <p:txBody>
              <a:bodyPr>
                <a:spAutoFit/>
              </a:bodyPr>
              <a:lstStyle/>
              <a:p>
                <a:pPr algn="ctr">
                  <a:spcBef>
                    <a:spcPct val="20000"/>
                  </a:spcBef>
                  <a:buClr>
                    <a:srgbClr val="FF9900"/>
                  </a:buClr>
                  <a:buFont typeface="Wingdings" panose="05000000000000000000" pitchFamily="2" charset="2"/>
                  <a:buNone/>
                  <a:defRPr/>
                </a:pPr>
                <a:r>
                  <a:rPr lang="zh-CN" altLang="en-US" sz="1800" b="1" dirty="0">
                    <a:solidFill>
                      <a:srgbClr val="0000FF"/>
                    </a:solidFill>
                    <a:effectLst>
                      <a:outerShdw blurRad="38100" dist="38100" dir="2700000" algn="tl">
                        <a:srgbClr val="C0C0C0"/>
                      </a:outerShdw>
                    </a:effectLst>
                  </a:rPr>
                  <a:t>内核堆栈</a:t>
                </a:r>
                <a:endParaRPr lang="zh-CN" altLang="en-US" sz="1800" b="1" dirty="0">
                  <a:solidFill>
                    <a:srgbClr val="0000FF"/>
                  </a:solidFill>
                  <a:effectLst>
                    <a:outerShdw blurRad="38100" dist="38100" dir="2700000" algn="tl">
                      <a:srgbClr val="C0C0C0"/>
                    </a:outerShdw>
                  </a:effectLst>
                </a:endParaRPr>
              </a:p>
            </p:txBody>
          </p:sp>
        </p:grpSp>
        <p:grpSp>
          <p:nvGrpSpPr>
            <p:cNvPr id="12297" name="Group 30"/>
            <p:cNvGrpSpPr/>
            <p:nvPr/>
          </p:nvGrpSpPr>
          <p:grpSpPr bwMode="auto">
            <a:xfrm>
              <a:off x="3470" y="3838"/>
              <a:ext cx="1210" cy="318"/>
              <a:chOff x="3470" y="3838"/>
              <a:chExt cx="1210" cy="318"/>
            </a:xfrm>
          </p:grpSpPr>
          <p:sp>
            <p:nvSpPr>
              <p:cNvPr id="506911" name="Text Box 31"/>
              <p:cNvSpPr txBox="1">
                <a:spLocks noChangeArrowheads="1"/>
              </p:cNvSpPr>
              <p:nvPr/>
            </p:nvSpPr>
            <p:spPr bwMode="auto">
              <a:xfrm>
                <a:off x="3486" y="3900"/>
                <a:ext cx="1194" cy="179"/>
              </a:xfrm>
              <a:prstGeom prst="rect">
                <a:avLst/>
              </a:prstGeom>
              <a:noFill/>
              <a:ln w="9525">
                <a:noFill/>
                <a:miter lim="800000"/>
              </a:ln>
              <a:effectLst/>
            </p:spPr>
            <p:txBody>
              <a:bodyPr wrap="none">
                <a:spAutoFit/>
              </a:bodyPr>
              <a:lstStyle/>
              <a:p>
                <a:pPr algn="ctr">
                  <a:spcBef>
                    <a:spcPct val="20000"/>
                  </a:spcBef>
                  <a:buClr>
                    <a:srgbClr val="FF9900"/>
                  </a:buClr>
                  <a:buFont typeface="Wingdings" panose="05000000000000000000" pitchFamily="2" charset="2"/>
                  <a:buNone/>
                  <a:defRPr/>
                </a:pPr>
                <a:r>
                  <a:rPr lang="zh-CN" altLang="en-US" sz="1800" b="1">
                    <a:solidFill>
                      <a:srgbClr val="0000FF"/>
                    </a:solidFill>
                    <a:effectLst>
                      <a:outerShdw blurRad="38100" dist="38100" dir="2700000" algn="tl">
                        <a:srgbClr val="C0C0C0"/>
                      </a:outerShdw>
                    </a:effectLst>
                  </a:rPr>
                  <a:t>进程描述符（约</a:t>
                </a:r>
                <a:r>
                  <a:rPr lang="en-US" altLang="zh-CN" sz="1800" b="1">
                    <a:solidFill>
                      <a:srgbClr val="0000FF"/>
                    </a:solidFill>
                    <a:effectLst>
                      <a:outerShdw blurRad="38100" dist="38100" dir="2700000" algn="tl">
                        <a:srgbClr val="C0C0C0"/>
                      </a:outerShdw>
                    </a:effectLst>
                  </a:rPr>
                  <a:t>1K</a:t>
                </a:r>
                <a:r>
                  <a:rPr lang="zh-CN" altLang="en-US" sz="1800" b="1">
                    <a:solidFill>
                      <a:srgbClr val="0000FF"/>
                    </a:solidFill>
                    <a:effectLst>
                      <a:outerShdw blurRad="38100" dist="38100" dir="2700000" algn="tl">
                        <a:srgbClr val="C0C0C0"/>
                      </a:outerShdw>
                    </a:effectLst>
                  </a:rPr>
                  <a:t>）</a:t>
                </a:r>
                <a:endParaRPr lang="zh-CN" altLang="en-US" sz="1800" b="1">
                  <a:solidFill>
                    <a:srgbClr val="0000FF"/>
                  </a:solidFill>
                  <a:effectLst>
                    <a:outerShdw blurRad="38100" dist="38100" dir="2700000" algn="tl">
                      <a:srgbClr val="C0C0C0"/>
                    </a:outerShdw>
                  </a:effectLst>
                </a:endParaRPr>
              </a:p>
            </p:txBody>
          </p:sp>
          <p:sp>
            <p:nvSpPr>
              <p:cNvPr id="506912" name="AutoShape 32"/>
              <p:cNvSpPr/>
              <p:nvPr/>
            </p:nvSpPr>
            <p:spPr bwMode="auto">
              <a:xfrm>
                <a:off x="3470" y="3838"/>
                <a:ext cx="45" cy="318"/>
              </a:xfrm>
              <a:prstGeom prst="rightBrace">
                <a:avLst>
                  <a:gd name="adj1" fmla="val 58889"/>
                  <a:gd name="adj2" fmla="val 50000"/>
                </a:avLst>
              </a:prstGeom>
              <a:noFill/>
              <a:ln w="19050">
                <a:solidFill>
                  <a:srgbClr val="0000FF"/>
                </a:solidFill>
                <a:round/>
              </a:ln>
              <a:effectLst/>
            </p:spPr>
            <p:txBody>
              <a:bodyPr wrap="none" anchor="ctr">
                <a:spAutoFit/>
              </a:bodyPr>
              <a:lstStyle/>
              <a:p>
                <a:pPr>
                  <a:spcBef>
                    <a:spcPct val="20000"/>
                  </a:spcBef>
                  <a:buClr>
                    <a:srgbClr val="FF9900"/>
                  </a:buClr>
                  <a:buFont typeface="Wingdings" panose="05000000000000000000" pitchFamily="2" charset="2"/>
                  <a:buNone/>
                  <a:defRPr/>
                </a:pPr>
                <a:endParaRPr lang="zh-CN" altLang="en-US">
                  <a:effectLst>
                    <a:outerShdw blurRad="38100" dist="38100" dir="2700000" algn="tl">
                      <a:srgbClr val="000000">
                        <a:alpha val="43137"/>
                      </a:srgbClr>
                    </a:outerShdw>
                  </a:effectLst>
                </a:endParaRPr>
              </a:p>
            </p:txBody>
          </p:sp>
        </p:grpSp>
      </p:grpSp>
    </p:spTree>
  </p:cSld>
  <p:clrMapOvr>
    <a:masterClrMapping/>
  </p:clrMapOvr>
  <p:transition>
    <p:wedg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5"/>
          <p:cNvSpPr>
            <a:spLocks noGrp="1" noChangeArrowheads="1"/>
          </p:cNvSpPr>
          <p:nvPr>
            <p:ph type="title"/>
          </p:nvPr>
        </p:nvSpPr>
        <p:spPr>
          <a:xfrm>
            <a:off x="5148064" y="1116947"/>
            <a:ext cx="3491111" cy="609600"/>
          </a:xfr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eaLnBrk="1" hangingPunct="1"/>
            <a:r>
              <a:rPr lang="zh-CN" altLang="en-US" sz="2400" dirty="0">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rPr>
              <a:t>问题：为什么这样存放？</a:t>
            </a:r>
            <a:endParaRPr lang="zh-CN" altLang="en-US" sz="2400" dirty="0">
              <a:solidFill>
                <a:schemeClr val="accent6">
                  <a:lumMod val="75000"/>
                </a:schemeClr>
              </a:solidFill>
              <a:latin typeface="Times New Roman" panose="02020603050405020304" pitchFamily="18" charset="0"/>
              <a:ea typeface="楷体_GB2312" pitchFamily="49" charset="-122"/>
              <a:cs typeface="Times New Roman" panose="02020603050405020304" pitchFamily="18" charset="0"/>
            </a:endParaRPr>
          </a:p>
        </p:txBody>
      </p:sp>
      <p:pic>
        <p:nvPicPr>
          <p:cNvPr id="13315" name="Picture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4544" y="1773238"/>
            <a:ext cx="4371975" cy="3719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6" name="Rectangle 8"/>
          <p:cNvSpPr>
            <a:spLocks noChangeArrowheads="1"/>
          </p:cNvSpPr>
          <p:nvPr/>
        </p:nvSpPr>
        <p:spPr bwMode="auto">
          <a:xfrm>
            <a:off x="3779912" y="2078722"/>
            <a:ext cx="4859263"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spcBef>
                <a:spcPct val="0"/>
              </a:spcBef>
              <a:buClrTx/>
              <a:buFontTx/>
              <a:buNone/>
            </a:pPr>
            <a:r>
              <a:rPr lang="zh-CN" altLang="en-US" dirty="0">
                <a:solidFill>
                  <a:srgbClr val="FF0000"/>
                </a:solidFill>
                <a:latin typeface="楷体_GB2312" pitchFamily="49" charset="-122"/>
                <a:ea typeface="楷体_GB2312" pitchFamily="49" charset="-122"/>
              </a:rPr>
              <a:t>这对当前进程的定位有好处</a:t>
            </a:r>
            <a:r>
              <a:rPr lang="zh-CN" altLang="en-US" dirty="0">
                <a:latin typeface="楷体_GB2312" pitchFamily="49" charset="-122"/>
                <a:ea typeface="楷体_GB2312" pitchFamily="49" charset="-122"/>
              </a:rPr>
              <a:t>：因为内核很容易从</a:t>
            </a:r>
            <a:r>
              <a:rPr lang="en-US" altLang="zh-CN" dirty="0" err="1">
                <a:latin typeface="楷体_GB2312" pitchFamily="49" charset="-122"/>
                <a:ea typeface="楷体_GB2312" pitchFamily="49" charset="-122"/>
              </a:rPr>
              <a:t>esp</a:t>
            </a:r>
            <a:r>
              <a:rPr lang="zh-CN" altLang="en-US" dirty="0">
                <a:latin typeface="楷体_GB2312" pitchFamily="49" charset="-122"/>
                <a:ea typeface="楷体_GB2312" pitchFamily="49" charset="-122"/>
              </a:rPr>
              <a:t>寄存器的值获得指向当前运行进程的</a:t>
            </a:r>
            <a:r>
              <a:rPr lang="en-US" altLang="zh-CN" dirty="0">
                <a:latin typeface="楷体_GB2312" pitchFamily="49" charset="-122"/>
                <a:ea typeface="楷体_GB2312" pitchFamily="49" charset="-122"/>
              </a:rPr>
              <a:t>PCB</a:t>
            </a:r>
            <a:r>
              <a:rPr lang="zh-CN" altLang="en-US" dirty="0">
                <a:latin typeface="楷体_GB2312" pitchFamily="49" charset="-122"/>
                <a:ea typeface="楷体_GB2312" pitchFamily="49" charset="-122"/>
              </a:rPr>
              <a:t>指针</a:t>
            </a:r>
            <a:r>
              <a:rPr lang="en-US" altLang="zh-CN" dirty="0">
                <a:latin typeface="楷体_GB2312" pitchFamily="49" charset="-122"/>
                <a:ea typeface="楷体_GB2312" pitchFamily="49" charset="-122"/>
              </a:rPr>
              <a:t>,</a:t>
            </a:r>
            <a:r>
              <a:rPr lang="zh-CN" altLang="en-US" dirty="0">
                <a:latin typeface="楷体_GB2312" pitchFamily="49" charset="-122"/>
                <a:ea typeface="楷体_GB2312" pitchFamily="49" charset="-122"/>
              </a:rPr>
              <a:t>由</a:t>
            </a:r>
            <a:r>
              <a:rPr lang="en-US" altLang="zh-CN" dirty="0">
                <a:latin typeface="楷体_GB2312" pitchFamily="49" charset="-122"/>
                <a:ea typeface="楷体_GB2312" pitchFamily="49" charset="-122"/>
              </a:rPr>
              <a:t>current</a:t>
            </a:r>
            <a:r>
              <a:rPr lang="zh-CN" altLang="en-US" dirty="0">
                <a:latin typeface="楷体_GB2312" pitchFamily="49" charset="-122"/>
                <a:ea typeface="楷体_GB2312" pitchFamily="49" charset="-122"/>
              </a:rPr>
              <a:t>宏完成。这样就既节省内存，管理上也比较方便。</a:t>
            </a:r>
            <a:endParaRPr lang="zh-CN" altLang="en-US" dirty="0">
              <a:latin typeface="楷体_GB2312" pitchFamily="49" charset="-122"/>
              <a:ea typeface="楷体_GB2312" pitchFamily="49" charset="-122"/>
            </a:endParaRPr>
          </a:p>
          <a:p>
            <a:pPr>
              <a:spcBef>
                <a:spcPct val="0"/>
              </a:spcBef>
              <a:buClrTx/>
              <a:buFontTx/>
              <a:buNone/>
            </a:pPr>
            <a:endParaRPr lang="zh-CN" altLang="en-US" dirty="0">
              <a:latin typeface="楷体_GB2312" pitchFamily="49" charset="-122"/>
              <a:ea typeface="楷体_GB2312" pitchFamily="49" charset="-122"/>
            </a:endParaRPr>
          </a:p>
        </p:txBody>
      </p:sp>
      <p:sp>
        <p:nvSpPr>
          <p:cNvPr id="5" name="Rectangle 2"/>
          <p:cNvSpPr txBox="1">
            <a:spLocks noChangeArrowheads="1"/>
          </p:cNvSpPr>
          <p:nvPr/>
        </p:nvSpPr>
        <p:spPr bwMode="black">
          <a:xfrm>
            <a:off x="611188" y="115888"/>
            <a:ext cx="76327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2pPr>
            <a:lvl3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3pPr>
            <a:lvl4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4pPr>
            <a:lvl5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5pPr>
            <a:lvl6pPr marL="4572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6pPr>
            <a:lvl7pPr marL="9144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7pPr>
            <a:lvl8pPr marL="13716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8pPr>
            <a:lvl9pPr marL="18288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9pPr>
          </a:lstStyle>
          <a:p>
            <a:pPr eaLnBrk="1" hangingPunct="1"/>
            <a:r>
              <a:rPr lang="en-US" altLang="zh-CN" kern="0" dirty="0">
                <a:latin typeface="Times New Roman" panose="02020603050405020304" pitchFamily="18" charset="0"/>
                <a:ea typeface="楷体_GB2312" pitchFamily="49" charset="-122"/>
                <a:cs typeface="Times New Roman" panose="02020603050405020304" pitchFamily="18" charset="0"/>
              </a:rPr>
              <a:t>2.4 Linux</a:t>
            </a:r>
            <a:r>
              <a:rPr lang="zh-CN" altLang="en-US" kern="0" dirty="0">
                <a:latin typeface="Times New Roman" panose="02020603050405020304" pitchFamily="18" charset="0"/>
                <a:ea typeface="楷体_GB2312" pitchFamily="49" charset="-122"/>
                <a:cs typeface="Times New Roman" panose="02020603050405020304" pitchFamily="18" charset="0"/>
              </a:rPr>
              <a:t>进程的系统堆栈</a:t>
            </a:r>
            <a:endParaRPr lang="zh-CN" altLang="en-US" kern="0"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Grp="1" noChangeArrowheads="1"/>
          </p:cNvSpPr>
          <p:nvPr>
            <p:ph type="body" idx="1"/>
          </p:nvPr>
        </p:nvSpPr>
        <p:spPr/>
        <p:txBody>
          <a:bodyPr/>
          <a:lstStyle/>
          <a:p>
            <a:pPr eaLnBrk="1" hangingPunct="1">
              <a:lnSpc>
                <a:spcPct val="90000"/>
              </a:lnSpc>
              <a:buFont typeface="Arial" panose="020B0604020202020204" pitchFamily="34" charset="0"/>
              <a:buChar char="•"/>
            </a:pPr>
            <a:r>
              <a:rPr lang="en-US" altLang="zh-CN" dirty="0">
                <a:latin typeface="Times New Roman" panose="02020603050405020304" pitchFamily="18" charset="0"/>
                <a:ea typeface="楷体_GB2312" pitchFamily="49" charset="-122"/>
                <a:cs typeface="Times New Roman" panose="02020603050405020304" pitchFamily="18" charset="0"/>
              </a:rPr>
              <a:t>C</a:t>
            </a:r>
            <a:r>
              <a:rPr lang="zh-CN" altLang="en-US" dirty="0">
                <a:latin typeface="Times New Roman" panose="02020603050405020304" pitchFamily="18" charset="0"/>
                <a:ea typeface="楷体_GB2312" pitchFamily="49" charset="-122"/>
                <a:cs typeface="Times New Roman" panose="02020603050405020304" pitchFamily="18" charset="0"/>
              </a:rPr>
              <a:t>语言用如下的一个</a:t>
            </a:r>
            <a:r>
              <a:rPr lang="en-US" altLang="zh-CN" dirty="0">
                <a:latin typeface="Times New Roman" panose="02020603050405020304" pitchFamily="18" charset="0"/>
                <a:ea typeface="楷体_GB2312" pitchFamily="49" charset="-122"/>
                <a:cs typeface="Times New Roman" panose="02020603050405020304" pitchFamily="18" charset="0"/>
                <a:hlinkClick r:id="rId1" action="ppaction://hlinkfile"/>
              </a:rPr>
              <a:t>union</a:t>
            </a:r>
            <a:r>
              <a:rPr lang="zh-CN" altLang="en-US" dirty="0">
                <a:latin typeface="Times New Roman" panose="02020603050405020304" pitchFamily="18" charset="0"/>
                <a:ea typeface="楷体_GB2312" pitchFamily="49" charset="-122"/>
                <a:cs typeface="Times New Roman" panose="02020603050405020304" pitchFamily="18" charset="0"/>
                <a:hlinkClick r:id="rId1" action="ppaction://hlinkfile"/>
              </a:rPr>
              <a:t>结构</a:t>
            </a:r>
            <a:r>
              <a:rPr lang="zh-CN" altLang="en-US" dirty="0">
                <a:latin typeface="Times New Roman" panose="02020603050405020304" pitchFamily="18" charset="0"/>
                <a:ea typeface="楷体_GB2312" pitchFamily="49" charset="-122"/>
                <a:cs typeface="Times New Roman" panose="02020603050405020304" pitchFamily="18" charset="0"/>
              </a:rPr>
              <a:t>来表示内核堆栈。</a:t>
            </a: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lnSpc>
                <a:spcPct val="90000"/>
              </a:lnSpc>
            </a:pP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lnSpc>
                <a:spcPct val="90000"/>
              </a:lnSpc>
            </a:pP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lnSpc>
                <a:spcPct val="90000"/>
              </a:lnSpc>
            </a:pP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pic>
        <p:nvPicPr>
          <p:cNvPr id="36352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2349500"/>
            <a:ext cx="7343775" cy="201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p:cNvSpPr txBox="1">
            <a:spLocks noChangeArrowheads="1"/>
          </p:cNvSpPr>
          <p:nvPr/>
        </p:nvSpPr>
        <p:spPr bwMode="black">
          <a:xfrm>
            <a:off x="611188" y="115888"/>
            <a:ext cx="76327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2pPr>
            <a:lvl3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3pPr>
            <a:lvl4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4pPr>
            <a:lvl5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5pPr>
            <a:lvl6pPr marL="4572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6pPr>
            <a:lvl7pPr marL="9144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7pPr>
            <a:lvl8pPr marL="13716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8pPr>
            <a:lvl9pPr marL="18288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9pPr>
          </a:lstStyle>
          <a:p>
            <a:pPr eaLnBrk="1" hangingPunct="1"/>
            <a:r>
              <a:rPr lang="en-US" altLang="zh-CN" kern="0" dirty="0">
                <a:latin typeface="Times New Roman" panose="02020603050405020304" pitchFamily="18" charset="0"/>
                <a:ea typeface="楷体_GB2312" pitchFamily="49" charset="-122"/>
                <a:cs typeface="Times New Roman" panose="02020603050405020304" pitchFamily="18" charset="0"/>
              </a:rPr>
              <a:t>2.4 Linux</a:t>
            </a:r>
            <a:r>
              <a:rPr lang="zh-CN" altLang="en-US" kern="0" dirty="0">
                <a:latin typeface="Times New Roman" panose="02020603050405020304" pitchFamily="18" charset="0"/>
                <a:ea typeface="楷体_GB2312" pitchFamily="49" charset="-122"/>
                <a:cs typeface="Times New Roman" panose="02020603050405020304" pitchFamily="18" charset="0"/>
              </a:rPr>
              <a:t>进程的系统堆栈</a:t>
            </a:r>
            <a:endParaRPr lang="zh-CN" altLang="en-US" kern="0"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35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p:cNvSpPr>
            <a:spLocks noGrp="1" noChangeArrowheads="1"/>
          </p:cNvSpPr>
          <p:nvPr>
            <p:ph type="body" idx="1"/>
          </p:nvPr>
        </p:nvSpPr>
        <p:spPr>
          <a:xfrm>
            <a:off x="250825" y="1052513"/>
            <a:ext cx="8641655" cy="5329237"/>
          </a:xfrm>
        </p:spPr>
        <p:txBody>
          <a:bodyPr/>
          <a:lstStyle/>
          <a:p>
            <a:pPr eaLnBrk="1" hangingPunct="1">
              <a:lnSpc>
                <a:spcPct val="110000"/>
              </a:lnSpc>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通常</a:t>
            </a:r>
            <a:r>
              <a:rPr lang="en-US" altLang="zh-CN" dirty="0">
                <a:latin typeface="Times New Roman" panose="02020603050405020304" pitchFamily="18" charset="0"/>
                <a:ea typeface="楷体_GB2312" pitchFamily="49" charset="-122"/>
                <a:cs typeface="Times New Roman" panose="02020603050405020304" pitchFamily="18" charset="0"/>
              </a:rPr>
              <a:t>OS</a:t>
            </a:r>
            <a:r>
              <a:rPr lang="zh-CN" altLang="en-US" dirty="0">
                <a:latin typeface="Times New Roman" panose="02020603050405020304" pitchFamily="18" charset="0"/>
                <a:ea typeface="楷体_GB2312" pitchFamily="49" charset="-122"/>
                <a:cs typeface="Times New Roman" panose="02020603050405020304" pitchFamily="18" charset="0"/>
              </a:rPr>
              <a:t>应有一个指向当前运行进程的</a:t>
            </a:r>
            <a:r>
              <a:rPr lang="en-US" altLang="zh-CN" dirty="0">
                <a:latin typeface="Times New Roman" panose="02020603050405020304" pitchFamily="18" charset="0"/>
                <a:ea typeface="楷体_GB2312" pitchFamily="49" charset="-122"/>
                <a:cs typeface="Times New Roman" panose="02020603050405020304" pitchFamily="18" charset="0"/>
              </a:rPr>
              <a:t>PCB</a:t>
            </a:r>
            <a:r>
              <a:rPr lang="zh-CN" altLang="en-US" dirty="0">
                <a:latin typeface="Times New Roman" panose="02020603050405020304" pitchFamily="18" charset="0"/>
                <a:ea typeface="楷体_GB2312" pitchFamily="49" charset="-122"/>
                <a:cs typeface="Times New Roman" panose="02020603050405020304" pitchFamily="18" charset="0"/>
              </a:rPr>
              <a:t>指针，以便系统可以随时访问它。</a:t>
            </a: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lnSpc>
                <a:spcPct val="110000"/>
              </a:lnSpc>
              <a:buFont typeface="Arial" panose="020B0604020202020204" pitchFamily="34" charset="0"/>
              <a:buChar char="•"/>
            </a:pPr>
            <a:r>
              <a:rPr lang="en-US" altLang="zh-CN" dirty="0">
                <a:latin typeface="Times New Roman" panose="02020603050405020304" pitchFamily="18" charset="0"/>
                <a:ea typeface="楷体_GB2312" pitchFamily="49" charset="-122"/>
                <a:cs typeface="Times New Roman" panose="02020603050405020304" pitchFamily="18" charset="0"/>
              </a:rPr>
              <a:t>Linux</a:t>
            </a:r>
            <a:r>
              <a:rPr lang="zh-CN" altLang="en-US" dirty="0">
                <a:latin typeface="Times New Roman" panose="02020603050405020304" pitchFamily="18" charset="0"/>
                <a:ea typeface="楷体_GB2312" pitchFamily="49" charset="-122"/>
                <a:cs typeface="Times New Roman" panose="02020603050405020304" pitchFamily="18" charset="0"/>
              </a:rPr>
              <a:t>却不是这样</a:t>
            </a:r>
            <a:endParaRPr lang="en-US" altLang="zh-CN" dirty="0">
              <a:latin typeface="Times New Roman" panose="02020603050405020304" pitchFamily="18" charset="0"/>
              <a:ea typeface="楷体_GB2312" pitchFamily="49" charset="-122"/>
              <a:cs typeface="Times New Roman" panose="02020603050405020304" pitchFamily="18" charset="0"/>
            </a:endParaRPr>
          </a:p>
          <a:p>
            <a:pPr lvl="1" eaLnBrk="1" hangingPunct="1">
              <a:lnSpc>
                <a:spcPct val="110000"/>
              </a:lnSpc>
              <a:buFont typeface="Arial" panose="020B0604020202020204" pitchFamily="34" charset="0"/>
              <a:buChar char="•"/>
            </a:pPr>
            <a:r>
              <a:rPr lang="zh-CN" altLang="en-US" sz="2800" dirty="0">
                <a:latin typeface="Times New Roman" panose="02020603050405020304" pitchFamily="18" charset="0"/>
                <a:ea typeface="楷体_GB2312" pitchFamily="49" charset="-122"/>
                <a:cs typeface="Times New Roman" panose="02020603050405020304" pitchFamily="18" charset="0"/>
              </a:rPr>
              <a:t>它利用其起始地址一定在堆栈所在的两页空间的低地址页边界的特点，根据堆栈指针</a:t>
            </a:r>
            <a:r>
              <a:rPr lang="zh-CN" altLang="en-US" sz="2800" dirty="0">
                <a:solidFill>
                  <a:srgbClr val="FF0000"/>
                </a:solidFill>
                <a:latin typeface="Times New Roman" panose="02020603050405020304" pitchFamily="18" charset="0"/>
                <a:ea typeface="楷体_GB2312" pitchFamily="49" charset="-122"/>
                <a:cs typeface="Times New Roman" panose="02020603050405020304" pitchFamily="18" charset="0"/>
              </a:rPr>
              <a:t>推算</a:t>
            </a:r>
            <a:r>
              <a:rPr lang="zh-CN" altLang="en-US" sz="2800" dirty="0">
                <a:latin typeface="Times New Roman" panose="02020603050405020304" pitchFamily="18" charset="0"/>
                <a:ea typeface="楷体_GB2312" pitchFamily="49" charset="-122"/>
                <a:cs typeface="Times New Roman" panose="02020603050405020304" pitchFamily="18" charset="0"/>
              </a:rPr>
              <a:t>进程控制块的首地址。</a:t>
            </a:r>
            <a:endParaRPr lang="zh-CN" altLang="en-US" sz="2800" dirty="0">
              <a:latin typeface="Times New Roman" panose="02020603050405020304" pitchFamily="18" charset="0"/>
              <a:ea typeface="楷体_GB2312" pitchFamily="49" charset="-122"/>
              <a:cs typeface="Times New Roman" panose="02020603050405020304" pitchFamily="18" charset="0"/>
            </a:endParaRPr>
          </a:p>
          <a:p>
            <a:pPr eaLnBrk="1" hangingPunct="1">
              <a:lnSpc>
                <a:spcPct val="110000"/>
              </a:lnSpc>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从进程描述符和内核态堆栈之间的配对，内核可以很容易地从</a:t>
            </a:r>
            <a:r>
              <a:rPr lang="en-US" altLang="zh-CN" dirty="0" err="1">
                <a:latin typeface="Times New Roman" panose="02020603050405020304" pitchFamily="18" charset="0"/>
                <a:ea typeface="楷体_GB2312" pitchFamily="49" charset="-122"/>
                <a:cs typeface="Times New Roman" panose="02020603050405020304" pitchFamily="18" charset="0"/>
              </a:rPr>
              <a:t>esp</a:t>
            </a:r>
            <a:r>
              <a:rPr lang="zh-CN" altLang="en-US" dirty="0">
                <a:latin typeface="Times New Roman" panose="02020603050405020304" pitchFamily="18" charset="0"/>
                <a:ea typeface="楷体_GB2312" pitchFamily="49" charset="-122"/>
                <a:cs typeface="Times New Roman" panose="02020603050405020304" pitchFamily="18" charset="0"/>
              </a:rPr>
              <a:t>寄存器的值获得当前在</a:t>
            </a:r>
            <a:r>
              <a:rPr lang="en-US" altLang="zh-CN" dirty="0">
                <a:latin typeface="Times New Roman" panose="02020603050405020304" pitchFamily="18" charset="0"/>
                <a:ea typeface="楷体_GB2312" pitchFamily="49" charset="-122"/>
                <a:cs typeface="Times New Roman" panose="02020603050405020304" pitchFamily="18" charset="0"/>
              </a:rPr>
              <a:t>CPU</a:t>
            </a:r>
            <a:r>
              <a:rPr lang="zh-CN" altLang="en-US" dirty="0">
                <a:latin typeface="Times New Roman" panose="02020603050405020304" pitchFamily="18" charset="0"/>
                <a:ea typeface="楷体_GB2312" pitchFamily="49" charset="-122"/>
                <a:cs typeface="Times New Roman" panose="02020603050405020304" pitchFamily="18" charset="0"/>
              </a:rPr>
              <a:t>上运行的进程的控制块指针。</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
        <p:nvSpPr>
          <p:cNvPr id="4" name="Rectangle 2"/>
          <p:cNvSpPr txBox="1">
            <a:spLocks noChangeArrowheads="1"/>
          </p:cNvSpPr>
          <p:nvPr/>
        </p:nvSpPr>
        <p:spPr bwMode="black">
          <a:xfrm>
            <a:off x="611188" y="115888"/>
            <a:ext cx="76327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2pPr>
            <a:lvl3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3pPr>
            <a:lvl4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4pPr>
            <a:lvl5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5pPr>
            <a:lvl6pPr marL="4572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6pPr>
            <a:lvl7pPr marL="9144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7pPr>
            <a:lvl8pPr marL="13716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8pPr>
            <a:lvl9pPr marL="18288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9pPr>
          </a:lstStyle>
          <a:p>
            <a:pPr eaLnBrk="1" hangingPunct="1"/>
            <a:r>
              <a:rPr lang="en-US" altLang="zh-CN" kern="0" dirty="0">
                <a:latin typeface="Times New Roman" panose="02020603050405020304" pitchFamily="18" charset="0"/>
                <a:ea typeface="楷体_GB2312" pitchFamily="49" charset="-122"/>
                <a:cs typeface="Times New Roman" panose="02020603050405020304" pitchFamily="18" charset="0"/>
              </a:rPr>
              <a:t>2.4 Linux</a:t>
            </a:r>
            <a:r>
              <a:rPr lang="zh-CN" altLang="en-US" kern="0" dirty="0">
                <a:latin typeface="Times New Roman" panose="02020603050405020304" pitchFamily="18" charset="0"/>
                <a:ea typeface="楷体_GB2312" pitchFamily="49" charset="-122"/>
                <a:cs typeface="Times New Roman" panose="02020603050405020304" pitchFamily="18" charset="0"/>
              </a:rPr>
              <a:t>进程的系统堆栈</a:t>
            </a:r>
            <a:endParaRPr lang="zh-CN" altLang="en-US" kern="0"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411">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411">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741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971352" y="4941168"/>
            <a:ext cx="7488832" cy="1689720"/>
          </a:xfrm>
          <a:solidFill>
            <a:schemeClr val="bg2"/>
          </a:solidFill>
        </p:spPr>
        <p:txBody>
          <a:bodyPr/>
          <a:lstStyle/>
          <a:p>
            <a:pPr algn="l" eaLnBrk="1" hangingPunct="1"/>
            <a:r>
              <a:rPr lang="en-US" altLang="zh-CN" sz="2600" dirty="0">
                <a:solidFill>
                  <a:srgbClr val="2B5681"/>
                </a:solidFill>
                <a:latin typeface="Times New Roman" panose="02020603050405020304" pitchFamily="18" charset="0"/>
                <a:ea typeface="楷体_GB2312" pitchFamily="49" charset="-122"/>
                <a:cs typeface="Times New Roman" panose="02020603050405020304" pitchFamily="18" charset="0"/>
              </a:rPr>
              <a:t>current</a:t>
            </a:r>
            <a:r>
              <a:rPr lang="zh-CN" altLang="en-US" sz="2600" dirty="0">
                <a:solidFill>
                  <a:srgbClr val="2B5681"/>
                </a:solidFill>
                <a:latin typeface="Times New Roman" panose="02020603050405020304" pitchFamily="18" charset="0"/>
                <a:ea typeface="楷体_GB2312" pitchFamily="49" charset="-122"/>
                <a:cs typeface="Times New Roman" panose="02020603050405020304" pitchFamily="18" charset="0"/>
              </a:rPr>
              <a:t>宏：</a:t>
            </a:r>
            <a:br>
              <a:rPr lang="en-US" altLang="zh-CN" sz="2800" dirty="0">
                <a:latin typeface="Times New Roman" panose="02020603050405020304" pitchFamily="18" charset="0"/>
                <a:ea typeface="楷体_GB2312" pitchFamily="49" charset="-122"/>
                <a:cs typeface="Times New Roman" panose="02020603050405020304" pitchFamily="18" charset="0"/>
              </a:rPr>
            </a:br>
            <a:r>
              <a:rPr lang="en-US" altLang="zh-CN" sz="2800" dirty="0">
                <a:solidFill>
                  <a:srgbClr val="FF0000"/>
                </a:solidFill>
                <a:latin typeface="Times New Roman" panose="02020603050405020304" pitchFamily="18" charset="0"/>
                <a:ea typeface="楷体_GB2312" pitchFamily="49" charset="-122"/>
                <a:cs typeface="Times New Roman" panose="02020603050405020304" pitchFamily="18" charset="0"/>
              </a:rPr>
              <a:t>current=(</a:t>
            </a:r>
            <a:r>
              <a:rPr lang="en-US" altLang="zh-CN" sz="2800" dirty="0" err="1">
                <a:solidFill>
                  <a:srgbClr val="FF0000"/>
                </a:solidFill>
                <a:latin typeface="Times New Roman" panose="02020603050405020304" pitchFamily="18" charset="0"/>
                <a:ea typeface="楷体_GB2312" pitchFamily="49" charset="-122"/>
                <a:cs typeface="Times New Roman" panose="02020603050405020304" pitchFamily="18" charset="0"/>
              </a:rPr>
              <a:t>struct</a:t>
            </a:r>
            <a:r>
              <a:rPr lang="en-US" altLang="zh-CN" sz="2800"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800" dirty="0" err="1">
                <a:solidFill>
                  <a:srgbClr val="FF0000"/>
                </a:solidFill>
                <a:latin typeface="Times New Roman" panose="02020603050405020304" pitchFamily="18" charset="0"/>
                <a:ea typeface="楷体_GB2312" pitchFamily="49" charset="-122"/>
                <a:cs typeface="Times New Roman" panose="02020603050405020304" pitchFamily="18" charset="0"/>
              </a:rPr>
              <a:t>task_struct</a:t>
            </a:r>
            <a:r>
              <a:rPr lang="en-US" altLang="zh-CN" sz="2800" dirty="0">
                <a:solidFill>
                  <a:srgbClr val="FF0000"/>
                </a:solidFill>
                <a:latin typeface="Times New Roman" panose="02020603050405020304" pitchFamily="18" charset="0"/>
                <a:ea typeface="楷体_GB2312" pitchFamily="49" charset="-122"/>
                <a:cs typeface="Times New Roman" panose="02020603050405020304" pitchFamily="18" charset="0"/>
              </a:rPr>
              <a:t>(*)STACK_POINTE&amp;0xFFFE000</a:t>
            </a:r>
            <a:br>
              <a:rPr lang="en-US" altLang="zh-CN" sz="2800" dirty="0">
                <a:solidFill>
                  <a:srgbClr val="FF0000"/>
                </a:solidFill>
                <a:latin typeface="Times New Roman" panose="02020603050405020304" pitchFamily="18" charset="0"/>
                <a:ea typeface="楷体_GB2312" pitchFamily="49" charset="-122"/>
                <a:cs typeface="Times New Roman" panose="02020603050405020304" pitchFamily="18" charset="0"/>
              </a:rPr>
            </a:br>
            <a:endParaRPr lang="zh-CN" altLang="en-US" sz="2800" dirty="0">
              <a:latin typeface="Times New Roman" panose="02020603050405020304" pitchFamily="18" charset="0"/>
              <a:ea typeface="楷体_GB2312" pitchFamily="49" charset="-122"/>
              <a:cs typeface="Times New Roman" panose="02020603050405020304" pitchFamily="18" charset="0"/>
            </a:endParaRPr>
          </a:p>
        </p:txBody>
      </p:sp>
      <p:sp>
        <p:nvSpPr>
          <p:cNvPr id="525315" name="Rectangle 3"/>
          <p:cNvSpPr>
            <a:spLocks noGrp="1" noChangeArrowheads="1"/>
          </p:cNvSpPr>
          <p:nvPr>
            <p:ph type="body" idx="1"/>
          </p:nvPr>
        </p:nvSpPr>
        <p:spPr>
          <a:xfrm>
            <a:off x="611188" y="1196753"/>
            <a:ext cx="8209160" cy="3528392"/>
          </a:xfrm>
        </p:spPr>
        <p:txBody>
          <a:bodyPr/>
          <a:lstStyle/>
          <a:p>
            <a:pPr eaLnBrk="1" hangingPunct="1">
              <a:buFont typeface="Arial" panose="020B0604020202020204" pitchFamily="34" charset="0"/>
              <a:buChar char="•"/>
            </a:pPr>
            <a:r>
              <a:rPr lang="zh-CN" altLang="en-US" sz="2600" dirty="0">
                <a:latin typeface="Times New Roman" panose="02020603050405020304" pitchFamily="18" charset="0"/>
                <a:ea typeface="楷体_GB2312" pitchFamily="49" charset="-122"/>
                <a:cs typeface="Times New Roman" panose="02020603050405020304" pitchFamily="18" charset="0"/>
              </a:rPr>
              <a:t>这个内存区是</a:t>
            </a:r>
            <a:r>
              <a:rPr lang="en-US" altLang="zh-CN" sz="2600" dirty="0">
                <a:latin typeface="Times New Roman" panose="02020603050405020304" pitchFamily="18" charset="0"/>
                <a:ea typeface="楷体_GB2312" pitchFamily="49" charset="-122"/>
                <a:cs typeface="Times New Roman" panose="02020603050405020304" pitchFamily="18" charset="0"/>
              </a:rPr>
              <a:t>8KB=2</a:t>
            </a:r>
            <a:r>
              <a:rPr lang="en-US" altLang="zh-CN" sz="2600" baseline="30000" dirty="0">
                <a:latin typeface="Times New Roman" panose="02020603050405020304" pitchFamily="18" charset="0"/>
                <a:ea typeface="楷体_GB2312" pitchFamily="49" charset="-122"/>
                <a:cs typeface="Times New Roman" panose="02020603050405020304" pitchFamily="18" charset="0"/>
              </a:rPr>
              <a:t>13</a:t>
            </a:r>
            <a:r>
              <a:rPr lang="zh-CN" altLang="en-US" sz="2600" dirty="0">
                <a:latin typeface="Times New Roman" panose="02020603050405020304" pitchFamily="18" charset="0"/>
                <a:ea typeface="楷体_GB2312" pitchFamily="49" charset="-122"/>
                <a:cs typeface="Times New Roman" panose="02020603050405020304" pitchFamily="18" charset="0"/>
              </a:rPr>
              <a:t>字节大小，内核必须让</a:t>
            </a:r>
            <a:r>
              <a:rPr lang="en-US" altLang="zh-CN" sz="2600" dirty="0" err="1">
                <a:latin typeface="Times New Roman" panose="02020603050405020304" pitchFamily="18" charset="0"/>
                <a:ea typeface="楷体_GB2312" pitchFamily="49" charset="-122"/>
                <a:cs typeface="Times New Roman" panose="02020603050405020304" pitchFamily="18" charset="0"/>
              </a:rPr>
              <a:t>esp</a:t>
            </a:r>
            <a:r>
              <a:rPr lang="zh-CN" altLang="en-US" sz="2600" dirty="0">
                <a:latin typeface="Times New Roman" panose="02020603050405020304" pitchFamily="18" charset="0"/>
                <a:ea typeface="楷体_GB2312" pitchFamily="49" charset="-122"/>
                <a:cs typeface="Times New Roman" panose="02020603050405020304" pitchFamily="18" charset="0"/>
              </a:rPr>
              <a:t>有</a:t>
            </a:r>
            <a:r>
              <a:rPr lang="en-US" altLang="zh-CN" sz="2600" dirty="0">
                <a:latin typeface="Times New Roman" panose="02020603050405020304" pitchFamily="18" charset="0"/>
                <a:ea typeface="楷体_GB2312" pitchFamily="49" charset="-122"/>
                <a:cs typeface="Times New Roman" panose="02020603050405020304" pitchFamily="18" charset="0"/>
              </a:rPr>
              <a:t>13</a:t>
            </a:r>
            <a:r>
              <a:rPr lang="zh-CN" altLang="en-US" sz="2600" dirty="0">
                <a:latin typeface="Times New Roman" panose="02020603050405020304" pitchFamily="18" charset="0"/>
                <a:ea typeface="楷体_GB2312" pitchFamily="49" charset="-122"/>
                <a:cs typeface="Times New Roman" panose="02020603050405020304" pitchFamily="18" charset="0"/>
              </a:rPr>
              <a:t>位的有效位，以获得进程控制块的基地址。这个工作由</a:t>
            </a:r>
            <a:r>
              <a:rPr lang="en-US" altLang="zh-CN" sz="2600" dirty="0">
                <a:latin typeface="Times New Roman" panose="02020603050405020304" pitchFamily="18" charset="0"/>
                <a:ea typeface="楷体_GB2312" pitchFamily="49" charset="-122"/>
                <a:cs typeface="Times New Roman" panose="02020603050405020304" pitchFamily="18" charset="0"/>
              </a:rPr>
              <a:t>current</a:t>
            </a:r>
            <a:r>
              <a:rPr lang="zh-CN" altLang="en-US" sz="2600" dirty="0">
                <a:latin typeface="Times New Roman" panose="02020603050405020304" pitchFamily="18" charset="0"/>
                <a:ea typeface="楷体_GB2312" pitchFamily="49" charset="-122"/>
                <a:cs typeface="Times New Roman" panose="02020603050405020304" pitchFamily="18" charset="0"/>
              </a:rPr>
              <a:t>宏来完成，该算法的伪代码如下。</a:t>
            </a:r>
            <a:endParaRPr lang="zh-CN" altLang="en-US" sz="26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sz="2600" dirty="0">
                <a:latin typeface="Times New Roman" panose="02020603050405020304" pitchFamily="18" charset="0"/>
                <a:ea typeface="楷体_GB2312" pitchFamily="49" charset="-122"/>
                <a:cs typeface="Times New Roman" panose="02020603050405020304" pitchFamily="18" charset="0"/>
              </a:rPr>
              <a:t>通过将该值</a:t>
            </a:r>
            <a:r>
              <a:rPr lang="zh-CN" altLang="en-US" sz="2600" dirty="0">
                <a:solidFill>
                  <a:srgbClr val="FF0000"/>
                </a:solidFill>
                <a:latin typeface="Times New Roman" panose="02020603050405020304" pitchFamily="18" charset="0"/>
                <a:ea typeface="楷体_GB2312" pitchFamily="49" charset="-122"/>
                <a:cs typeface="Times New Roman" panose="02020603050405020304" pitchFamily="18" charset="0"/>
              </a:rPr>
              <a:t>低</a:t>
            </a:r>
            <a:r>
              <a:rPr lang="en-US" altLang="zh-CN" sz="2600" dirty="0">
                <a:solidFill>
                  <a:srgbClr val="FF0000"/>
                </a:solidFill>
                <a:latin typeface="Times New Roman" panose="02020603050405020304" pitchFamily="18" charset="0"/>
                <a:ea typeface="楷体_GB2312" pitchFamily="49" charset="-122"/>
                <a:cs typeface="Times New Roman" panose="02020603050405020304" pitchFamily="18" charset="0"/>
              </a:rPr>
              <a:t>13</a:t>
            </a:r>
            <a:r>
              <a:rPr lang="zh-CN" altLang="en-US" sz="2600" dirty="0">
                <a:solidFill>
                  <a:srgbClr val="FF0000"/>
                </a:solidFill>
                <a:latin typeface="Times New Roman" panose="02020603050405020304" pitchFamily="18" charset="0"/>
                <a:ea typeface="楷体_GB2312" pitchFamily="49" charset="-122"/>
                <a:cs typeface="Times New Roman" panose="02020603050405020304" pitchFamily="18" charset="0"/>
              </a:rPr>
              <a:t>位清零</a:t>
            </a:r>
            <a:r>
              <a:rPr lang="zh-CN" altLang="en-US" sz="2600" dirty="0">
                <a:latin typeface="Times New Roman" panose="02020603050405020304" pitchFamily="18" charset="0"/>
                <a:ea typeface="楷体_GB2312" pitchFamily="49" charset="-122"/>
                <a:cs typeface="Times New Roman" panose="02020603050405020304" pitchFamily="18" charset="0"/>
              </a:rPr>
              <a:t>，来得到</a:t>
            </a:r>
            <a:r>
              <a:rPr lang="en-US" altLang="zh-CN" sz="2600" dirty="0">
                <a:latin typeface="Times New Roman" panose="02020603050405020304" pitchFamily="18" charset="0"/>
                <a:ea typeface="楷体_GB2312" pitchFamily="49" charset="-122"/>
                <a:cs typeface="Times New Roman" panose="02020603050405020304" pitchFamily="18" charset="0"/>
              </a:rPr>
              <a:t>8KB</a:t>
            </a:r>
            <a:r>
              <a:rPr lang="zh-CN" altLang="en-US" sz="2600" dirty="0">
                <a:latin typeface="Times New Roman" panose="02020603050405020304" pitchFamily="18" charset="0"/>
                <a:ea typeface="楷体_GB2312" pitchFamily="49" charset="-122"/>
                <a:cs typeface="Times New Roman" panose="02020603050405020304" pitchFamily="18" charset="0"/>
              </a:rPr>
              <a:t>空间的起始地址，即</a:t>
            </a:r>
            <a:r>
              <a:rPr lang="en-US" altLang="zh-CN" sz="2600" dirty="0">
                <a:latin typeface="Times New Roman" panose="02020603050405020304" pitchFamily="18" charset="0"/>
                <a:ea typeface="楷体_GB2312" pitchFamily="49" charset="-122"/>
                <a:cs typeface="Times New Roman" panose="02020603050405020304" pitchFamily="18" charset="0"/>
              </a:rPr>
              <a:t>PCB</a:t>
            </a:r>
            <a:r>
              <a:rPr lang="zh-CN" altLang="en-US" sz="2600" dirty="0">
                <a:latin typeface="Times New Roman" panose="02020603050405020304" pitchFamily="18" charset="0"/>
                <a:ea typeface="楷体_GB2312" pitchFamily="49" charset="-122"/>
                <a:cs typeface="Times New Roman" panose="02020603050405020304" pitchFamily="18" charset="0"/>
              </a:rPr>
              <a:t>的地址。</a:t>
            </a:r>
            <a:endParaRPr lang="zh-CN" altLang="en-US" sz="26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en-US" altLang="zh-CN" sz="2600" dirty="0">
                <a:latin typeface="Times New Roman" panose="02020603050405020304" pitchFamily="18" charset="0"/>
                <a:ea typeface="楷体_GB2312" pitchFamily="49" charset="-122"/>
                <a:cs typeface="Times New Roman" panose="02020603050405020304" pitchFamily="18" charset="0"/>
              </a:rPr>
              <a:t>current</a:t>
            </a:r>
            <a:r>
              <a:rPr lang="zh-CN" altLang="en-US" sz="2600" dirty="0">
                <a:latin typeface="Times New Roman" panose="02020603050405020304" pitchFamily="18" charset="0"/>
                <a:ea typeface="楷体_GB2312" pitchFamily="49" charset="-122"/>
                <a:cs typeface="Times New Roman" panose="02020603050405020304" pitchFamily="18" charset="0"/>
              </a:rPr>
              <a:t>宏可以看成当前进程的进程控制指针，在内核中直接使用，这样可以节省一个寄存器。</a:t>
            </a:r>
            <a:endParaRPr lang="zh-CN" altLang="en-US" sz="26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sz="2600" dirty="0">
                <a:latin typeface="Times New Roman" panose="02020603050405020304" pitchFamily="18" charset="0"/>
                <a:ea typeface="楷体_GB2312" pitchFamily="49" charset="-122"/>
                <a:cs typeface="Times New Roman" panose="02020603050405020304" pitchFamily="18" charset="0"/>
              </a:rPr>
              <a:t>举例：</a:t>
            </a:r>
            <a:r>
              <a:rPr lang="en-US" altLang="zh-CN" sz="2600" dirty="0" err="1">
                <a:latin typeface="Times New Roman" panose="02020603050405020304" pitchFamily="18" charset="0"/>
                <a:ea typeface="楷体_GB2312" pitchFamily="49" charset="-122"/>
                <a:cs typeface="Times New Roman" panose="02020603050405020304" pitchFamily="18" charset="0"/>
              </a:rPr>
              <a:t>current</a:t>
            </a:r>
            <a:r>
              <a:rPr lang="en-US" altLang="zh-CN" sz="2600" dirty="0" err="1">
                <a:solidFill>
                  <a:srgbClr val="2B5681"/>
                </a:solidFill>
                <a:latin typeface="Times New Roman" panose="02020603050405020304" pitchFamily="18" charset="0"/>
                <a:ea typeface="楷体_GB2312" pitchFamily="49" charset="-122"/>
                <a:cs typeface="Times New Roman" panose="02020603050405020304" pitchFamily="18" charset="0"/>
              </a:rPr>
              <a:t>→pid</a:t>
            </a:r>
            <a:r>
              <a:rPr lang="zh-CN" altLang="en-US" sz="2600" dirty="0">
                <a:solidFill>
                  <a:srgbClr val="2B5681"/>
                </a:solidFill>
                <a:latin typeface="Times New Roman" panose="02020603050405020304" pitchFamily="18" charset="0"/>
                <a:ea typeface="楷体_GB2312" pitchFamily="49" charset="-122"/>
                <a:cs typeface="Times New Roman" panose="02020603050405020304" pitchFamily="18" charset="0"/>
              </a:rPr>
              <a:t>返回正在执行的进程的</a:t>
            </a:r>
            <a:r>
              <a:rPr lang="en-US" altLang="zh-CN" sz="2600" dirty="0">
                <a:solidFill>
                  <a:srgbClr val="2B5681"/>
                </a:solidFill>
                <a:latin typeface="Times New Roman" panose="02020603050405020304" pitchFamily="18" charset="0"/>
                <a:ea typeface="楷体_GB2312" pitchFamily="49" charset="-122"/>
                <a:cs typeface="Times New Roman" panose="02020603050405020304" pitchFamily="18" charset="0"/>
              </a:rPr>
              <a:t>PID</a:t>
            </a:r>
            <a:endParaRPr lang="en-US" altLang="zh-CN" sz="2600" dirty="0">
              <a:solidFill>
                <a:srgbClr val="2B5681"/>
              </a:solidFill>
              <a:latin typeface="Times New Roman" panose="02020603050405020304" pitchFamily="18" charset="0"/>
              <a:ea typeface="楷体_GB2312" pitchFamily="49" charset="-122"/>
              <a:cs typeface="Times New Roman" panose="02020603050405020304" pitchFamily="18" charset="0"/>
            </a:endParaRPr>
          </a:p>
        </p:txBody>
      </p:sp>
      <p:sp>
        <p:nvSpPr>
          <p:cNvPr id="4" name="Rectangle 2"/>
          <p:cNvSpPr txBox="1">
            <a:spLocks noChangeArrowheads="1"/>
          </p:cNvSpPr>
          <p:nvPr/>
        </p:nvSpPr>
        <p:spPr bwMode="black">
          <a:xfrm>
            <a:off x="611188" y="115888"/>
            <a:ext cx="76327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2pPr>
            <a:lvl3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3pPr>
            <a:lvl4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4pPr>
            <a:lvl5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5pPr>
            <a:lvl6pPr marL="4572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6pPr>
            <a:lvl7pPr marL="9144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7pPr>
            <a:lvl8pPr marL="13716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8pPr>
            <a:lvl9pPr marL="18288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9pPr>
          </a:lstStyle>
          <a:p>
            <a:pPr eaLnBrk="1" hangingPunct="1"/>
            <a:r>
              <a:rPr lang="en-US" altLang="zh-CN" kern="0" dirty="0">
                <a:latin typeface="Times New Roman" panose="02020603050405020304" pitchFamily="18" charset="0"/>
                <a:ea typeface="楷体_GB2312" pitchFamily="49" charset="-122"/>
                <a:cs typeface="Times New Roman" panose="02020603050405020304" pitchFamily="18" charset="0"/>
              </a:rPr>
              <a:t>2.4 Linux</a:t>
            </a:r>
            <a:r>
              <a:rPr lang="zh-CN" altLang="en-US" kern="0" dirty="0">
                <a:latin typeface="Times New Roman" panose="02020603050405020304" pitchFamily="18" charset="0"/>
                <a:ea typeface="楷体_GB2312" pitchFamily="49" charset="-122"/>
                <a:cs typeface="Times New Roman" panose="02020603050405020304" pitchFamily="18" charset="0"/>
              </a:rPr>
              <a:t>进程的系统堆栈</a:t>
            </a:r>
            <a:endParaRPr lang="zh-CN" altLang="en-US" kern="0"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53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53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2531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2531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type="body" idx="1"/>
          </p:nvPr>
        </p:nvSpPr>
        <p:spPr/>
        <p:txBody>
          <a:bodyPr/>
          <a:lstStyle/>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结构定义</a:t>
            </a:r>
            <a:r>
              <a:rPr lang="en-US" altLang="zh-CN" dirty="0">
                <a:latin typeface="Times New Roman" panose="02020603050405020304" pitchFamily="18" charset="0"/>
                <a:ea typeface="楷体_GB2312" pitchFamily="49" charset="-122"/>
                <a:cs typeface="Times New Roman" panose="02020603050405020304" pitchFamily="18" charset="0"/>
              </a:rPr>
              <a:t>(</a:t>
            </a:r>
            <a:r>
              <a:rPr lang="en-US" altLang="zh-CN" sz="2400" dirty="0">
                <a:solidFill>
                  <a:schemeClr val="tx2"/>
                </a:solidFill>
                <a:latin typeface="Times New Roman" panose="02020603050405020304" pitchFamily="18" charset="0"/>
                <a:ea typeface="楷体_GB2312" pitchFamily="49" charset="-122"/>
                <a:cs typeface="Times New Roman" panose="02020603050405020304" pitchFamily="18" charset="0"/>
              </a:rPr>
              <a:t>/include/</a:t>
            </a:r>
            <a:r>
              <a:rPr lang="en-US" altLang="zh-CN" sz="2400" dirty="0" err="1">
                <a:solidFill>
                  <a:schemeClr val="tx2"/>
                </a:solidFill>
                <a:latin typeface="Times New Roman" panose="02020603050405020304" pitchFamily="18" charset="0"/>
                <a:ea typeface="楷体_GB2312" pitchFamily="49" charset="-122"/>
                <a:cs typeface="Times New Roman" panose="02020603050405020304" pitchFamily="18" charset="0"/>
              </a:rPr>
              <a:t>linux</a:t>
            </a:r>
            <a:r>
              <a:rPr lang="en-US" altLang="zh-CN" sz="2400" dirty="0">
                <a:solidFill>
                  <a:schemeClr val="tx2"/>
                </a:solidFill>
                <a:latin typeface="Times New Roman" panose="02020603050405020304" pitchFamily="18" charset="0"/>
                <a:ea typeface="楷体_GB2312" pitchFamily="49" charset="-122"/>
                <a:cs typeface="Times New Roman" panose="02020603050405020304" pitchFamily="18" charset="0"/>
              </a:rPr>
              <a:t>/</a:t>
            </a:r>
            <a:r>
              <a:rPr lang="en-US" altLang="zh-CN" sz="2400" dirty="0" err="1">
                <a:solidFill>
                  <a:schemeClr val="tx2"/>
                </a:solidFill>
                <a:latin typeface="Times New Roman" panose="02020603050405020304" pitchFamily="18" charset="0"/>
                <a:ea typeface="楷体_GB2312" pitchFamily="49" charset="-122"/>
                <a:cs typeface="Times New Roman" panose="02020603050405020304" pitchFamily="18" charset="0"/>
              </a:rPr>
              <a:t>sched.h</a:t>
            </a:r>
            <a:r>
              <a:rPr lang="en-US" altLang="zh-CN" dirty="0">
                <a:latin typeface="Times New Roman" panose="02020603050405020304" pitchFamily="18" charset="0"/>
                <a:ea typeface="楷体_GB2312" pitchFamily="49" charset="-122"/>
                <a:cs typeface="Times New Roman" panose="02020603050405020304" pitchFamily="18" charset="0"/>
              </a:rPr>
              <a:t>) </a:t>
            </a:r>
            <a:endParaRPr lang="en-US" altLang="zh-CN"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endParaRPr lang="en-US" altLang="zh-CN"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endParaRPr lang="en-US" altLang="zh-CN"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endParaRPr lang="en-US" altLang="zh-CN"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进程描述符管理</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分配：</a:t>
            </a:r>
            <a:r>
              <a:rPr lang="en-US" altLang="zh-CN" dirty="0" err="1">
                <a:latin typeface="Times New Roman" panose="02020603050405020304" pitchFamily="18" charset="0"/>
                <a:ea typeface="楷体_GB2312" pitchFamily="49" charset="-122"/>
                <a:cs typeface="Times New Roman" panose="02020603050405020304" pitchFamily="18" charset="0"/>
              </a:rPr>
              <a:t>alloc_task_struct</a:t>
            </a:r>
            <a:r>
              <a:rPr lang="en-US" altLang="zh-CN" dirty="0">
                <a:latin typeface="Times New Roman" panose="02020603050405020304" pitchFamily="18" charset="0"/>
                <a:ea typeface="楷体_GB2312" pitchFamily="49" charset="-122"/>
                <a:cs typeface="Times New Roman" panose="02020603050405020304" pitchFamily="18" charset="0"/>
              </a:rPr>
              <a:t>()</a:t>
            </a:r>
            <a:endParaRPr lang="en-US" altLang="zh-CN"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回收：</a:t>
            </a:r>
            <a:r>
              <a:rPr lang="en-US" altLang="zh-CN" dirty="0" err="1">
                <a:latin typeface="Times New Roman" panose="02020603050405020304" pitchFamily="18" charset="0"/>
                <a:ea typeface="楷体_GB2312" pitchFamily="49" charset="-122"/>
                <a:cs typeface="Times New Roman" panose="02020603050405020304" pitchFamily="18" charset="0"/>
              </a:rPr>
              <a:t>free_task_struct</a:t>
            </a:r>
            <a:r>
              <a:rPr lang="en-US" altLang="zh-CN" dirty="0">
                <a:latin typeface="Times New Roman" panose="02020603050405020304" pitchFamily="18" charset="0"/>
                <a:ea typeface="楷体_GB2312" pitchFamily="49" charset="-122"/>
                <a:cs typeface="Times New Roman" panose="02020603050405020304" pitchFamily="18" charset="0"/>
              </a:rPr>
              <a:t>()</a:t>
            </a:r>
            <a:endParaRPr lang="en-US" altLang="zh-CN"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访问：</a:t>
            </a:r>
            <a:r>
              <a:rPr lang="en-US" altLang="zh-CN" dirty="0" err="1">
                <a:latin typeface="Times New Roman" panose="02020603050405020304" pitchFamily="18" charset="0"/>
                <a:ea typeface="楷体_GB2312" pitchFamily="49" charset="-122"/>
                <a:cs typeface="Times New Roman" panose="02020603050405020304" pitchFamily="18" charset="0"/>
              </a:rPr>
              <a:t>get_task_struct</a:t>
            </a:r>
            <a:r>
              <a:rPr lang="en-US" altLang="zh-CN" dirty="0">
                <a:latin typeface="Times New Roman" panose="02020603050405020304" pitchFamily="18" charset="0"/>
                <a:ea typeface="楷体_GB2312" pitchFamily="49" charset="-122"/>
                <a:cs typeface="Times New Roman" panose="02020603050405020304" pitchFamily="18" charset="0"/>
              </a:rPr>
              <a:t>()</a:t>
            </a:r>
            <a:endParaRPr lang="en-US" altLang="zh-CN" dirty="0">
              <a:latin typeface="Times New Roman" panose="02020603050405020304" pitchFamily="18" charset="0"/>
              <a:ea typeface="楷体_GB2312" pitchFamily="49" charset="-122"/>
              <a:cs typeface="Times New Roman" panose="02020603050405020304" pitchFamily="18" charset="0"/>
            </a:endParaRPr>
          </a:p>
        </p:txBody>
      </p:sp>
      <p:grpSp>
        <p:nvGrpSpPr>
          <p:cNvPr id="20484" name="Group 13"/>
          <p:cNvGrpSpPr/>
          <p:nvPr/>
        </p:nvGrpSpPr>
        <p:grpSpPr bwMode="auto">
          <a:xfrm>
            <a:off x="785813" y="1714500"/>
            <a:ext cx="8143875" cy="1570038"/>
            <a:chOff x="657" y="1117"/>
            <a:chExt cx="5130" cy="989"/>
          </a:xfrm>
        </p:grpSpPr>
        <p:grpSp>
          <p:nvGrpSpPr>
            <p:cNvPr id="20485" name="Group 8"/>
            <p:cNvGrpSpPr/>
            <p:nvPr/>
          </p:nvGrpSpPr>
          <p:grpSpPr bwMode="auto">
            <a:xfrm>
              <a:off x="657" y="1162"/>
              <a:ext cx="4626" cy="944"/>
              <a:chOff x="657" y="1093"/>
              <a:chExt cx="4626" cy="944"/>
            </a:xfrm>
          </p:grpSpPr>
          <p:pic>
            <p:nvPicPr>
              <p:cNvPr id="20489"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57" y="1093"/>
                <a:ext cx="4626" cy="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0490" name="Group 7"/>
              <p:cNvGrpSpPr/>
              <p:nvPr/>
            </p:nvGrpSpPr>
            <p:grpSpPr bwMode="auto">
              <a:xfrm>
                <a:off x="2835" y="1706"/>
                <a:ext cx="2268" cy="331"/>
                <a:chOff x="2835" y="1706"/>
                <a:chExt cx="2268" cy="331"/>
              </a:xfrm>
            </p:grpSpPr>
            <p:sp>
              <p:nvSpPr>
                <p:cNvPr id="522245" name="AutoShape 5"/>
                <p:cNvSpPr/>
                <p:nvPr/>
              </p:nvSpPr>
              <p:spPr bwMode="auto">
                <a:xfrm rot="5400000">
                  <a:off x="3900" y="618"/>
                  <a:ext cx="137" cy="2268"/>
                </a:xfrm>
                <a:prstGeom prst="rightBrace">
                  <a:avLst>
                    <a:gd name="adj1" fmla="val 137956"/>
                    <a:gd name="adj2" fmla="val 49602"/>
                  </a:avLst>
                </a:prstGeom>
                <a:noFill/>
                <a:ln w="28575">
                  <a:solidFill>
                    <a:srgbClr val="0000FF"/>
                  </a:solidFill>
                  <a:round/>
                </a:ln>
                <a:effectLst/>
              </p:spPr>
              <p:txBody>
                <a:bodyPr wrap="none" anchor="ctr"/>
                <a:lstStyle/>
                <a:p>
                  <a:pPr>
                    <a:spcBef>
                      <a:spcPct val="20000"/>
                    </a:spcBef>
                    <a:buClr>
                      <a:srgbClr val="FF9900"/>
                    </a:buClr>
                    <a:buFont typeface="Wingdings" panose="05000000000000000000" pitchFamily="2" charset="2"/>
                    <a:buNone/>
                    <a:defRPr/>
                  </a:pPr>
                  <a:endParaRPr lang="zh-CN" altLang="en-US">
                    <a:effectLst>
                      <a:outerShdw blurRad="38100" dist="38100" dir="2700000" algn="tl">
                        <a:srgbClr val="000000">
                          <a:alpha val="43137"/>
                        </a:srgbClr>
                      </a:outerShdw>
                    </a:effectLst>
                  </a:endParaRPr>
                </a:p>
              </p:txBody>
            </p:sp>
            <p:sp>
              <p:nvSpPr>
                <p:cNvPr id="20492" name="Text Box 6"/>
                <p:cNvSpPr txBox="1">
                  <a:spLocks noChangeArrowheads="1"/>
                </p:cNvSpPr>
                <p:nvPr/>
              </p:nvSpPr>
              <p:spPr bwMode="auto">
                <a:xfrm>
                  <a:off x="3712" y="1806"/>
                  <a:ext cx="4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spcBef>
                      <a:spcPct val="0"/>
                    </a:spcBef>
                    <a:buClrTx/>
                    <a:buFontTx/>
                    <a:buNone/>
                  </a:pPr>
                  <a:r>
                    <a:rPr lang="en-US" altLang="zh-CN" sz="1800" b="0">
                      <a:solidFill>
                        <a:srgbClr val="0000FF"/>
                      </a:solidFill>
                      <a:latin typeface="Times New Roman" panose="02020603050405020304" pitchFamily="18" charset="0"/>
                      <a:ea typeface="宋体" panose="02010600030101010101" pitchFamily="2" charset="-122"/>
                    </a:rPr>
                    <a:t> 2048</a:t>
                  </a:r>
                  <a:endParaRPr lang="en-US" altLang="zh-CN" sz="1800" b="0">
                    <a:solidFill>
                      <a:srgbClr val="0000FF"/>
                    </a:solidFill>
                    <a:latin typeface="Times New Roman" panose="02020603050405020304" pitchFamily="18" charset="0"/>
                    <a:ea typeface="宋体" panose="02010600030101010101" pitchFamily="2" charset="-122"/>
                  </a:endParaRPr>
                </a:p>
              </p:txBody>
            </p:sp>
          </p:grpSp>
        </p:grpSp>
        <p:grpSp>
          <p:nvGrpSpPr>
            <p:cNvPr id="20486" name="Group 12"/>
            <p:cNvGrpSpPr/>
            <p:nvPr/>
          </p:nvGrpSpPr>
          <p:grpSpPr bwMode="auto">
            <a:xfrm>
              <a:off x="2895" y="1117"/>
              <a:ext cx="2892" cy="470"/>
              <a:chOff x="3066" y="1101"/>
              <a:chExt cx="2892" cy="470"/>
            </a:xfrm>
          </p:grpSpPr>
          <p:sp>
            <p:nvSpPr>
              <p:cNvPr id="522250" name="Line 10"/>
              <p:cNvSpPr>
                <a:spLocks noChangeShapeType="1"/>
              </p:cNvSpPr>
              <p:nvPr/>
            </p:nvSpPr>
            <p:spPr bwMode="auto">
              <a:xfrm flipH="1">
                <a:off x="3606" y="1281"/>
                <a:ext cx="102" cy="290"/>
              </a:xfrm>
              <a:prstGeom prst="line">
                <a:avLst/>
              </a:prstGeom>
              <a:noFill/>
              <a:ln w="28575">
                <a:solidFill>
                  <a:srgbClr val="0000FF"/>
                </a:solidFill>
                <a:round/>
                <a:tailEnd type="triangle" w="med" len="med"/>
              </a:ln>
              <a:effectLst/>
            </p:spPr>
            <p:txBody>
              <a:bodyPr>
                <a:spAutoFit/>
              </a:bodyPr>
              <a:lstStyle/>
              <a:p>
                <a:pPr>
                  <a:spcBef>
                    <a:spcPct val="20000"/>
                  </a:spcBef>
                  <a:buClr>
                    <a:srgbClr val="FF9900"/>
                  </a:buClr>
                  <a:buFont typeface="Wingdings" panose="05000000000000000000" pitchFamily="2" charset="2"/>
                  <a:buNone/>
                  <a:defRPr/>
                </a:pPr>
                <a:endParaRPr lang="zh-CN" altLang="en-US">
                  <a:effectLst>
                    <a:outerShdw blurRad="38100" dist="38100" dir="2700000" algn="tl">
                      <a:srgbClr val="000000">
                        <a:alpha val="43137"/>
                      </a:srgbClr>
                    </a:outerShdw>
                  </a:effectLst>
                </a:endParaRPr>
              </a:p>
            </p:txBody>
          </p:sp>
          <p:sp>
            <p:nvSpPr>
              <p:cNvPr id="20488" name="Rectangle 11"/>
              <p:cNvSpPr>
                <a:spLocks noChangeArrowheads="1"/>
              </p:cNvSpPr>
              <p:nvPr/>
            </p:nvSpPr>
            <p:spPr bwMode="auto">
              <a:xfrm>
                <a:off x="3066" y="1101"/>
                <a:ext cx="289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spcBef>
                    <a:spcPct val="0"/>
                  </a:spcBef>
                  <a:buClrTx/>
                  <a:buFontTx/>
                  <a:buNone/>
                </a:pPr>
                <a:r>
                  <a:rPr lang="en-US" altLang="zh-CN" sz="1800">
                    <a:solidFill>
                      <a:srgbClr val="0000FF"/>
                    </a:solidFill>
                    <a:latin typeface="Times New Roman" panose="02020603050405020304" pitchFamily="18" charset="0"/>
                  </a:rPr>
                  <a:t>#define INIT_TASK_SIZE 2048*sizeof(long)</a:t>
                </a:r>
                <a:endParaRPr lang="en-US" altLang="zh-CN" sz="1800">
                  <a:solidFill>
                    <a:srgbClr val="0000FF"/>
                  </a:solidFill>
                  <a:latin typeface="Times New Roman" panose="02020603050405020304" pitchFamily="18" charset="0"/>
                </a:endParaRPr>
              </a:p>
            </p:txBody>
          </p:sp>
        </p:grpSp>
      </p:grpSp>
      <p:sp>
        <p:nvSpPr>
          <p:cNvPr id="14" name="Rectangle 2"/>
          <p:cNvSpPr txBox="1">
            <a:spLocks noChangeArrowheads="1"/>
          </p:cNvSpPr>
          <p:nvPr/>
        </p:nvSpPr>
        <p:spPr bwMode="black">
          <a:xfrm>
            <a:off x="611188" y="115888"/>
            <a:ext cx="76327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2pPr>
            <a:lvl3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3pPr>
            <a:lvl4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4pPr>
            <a:lvl5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5pPr>
            <a:lvl6pPr marL="4572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6pPr>
            <a:lvl7pPr marL="9144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7pPr>
            <a:lvl8pPr marL="13716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8pPr>
            <a:lvl9pPr marL="18288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9pPr>
          </a:lstStyle>
          <a:p>
            <a:pPr eaLnBrk="1" hangingPunct="1"/>
            <a:r>
              <a:rPr lang="en-US" altLang="zh-CN" kern="0" dirty="0">
                <a:latin typeface="Times New Roman" panose="02020603050405020304" pitchFamily="18" charset="0"/>
                <a:ea typeface="楷体_GB2312" pitchFamily="49" charset="-122"/>
                <a:cs typeface="Times New Roman" panose="02020603050405020304" pitchFamily="18" charset="0"/>
              </a:rPr>
              <a:t>2.4 Linux</a:t>
            </a:r>
            <a:r>
              <a:rPr lang="zh-CN" altLang="en-US" kern="0" dirty="0">
                <a:latin typeface="Times New Roman" panose="02020603050405020304" pitchFamily="18" charset="0"/>
                <a:ea typeface="楷体_GB2312" pitchFamily="49" charset="-122"/>
                <a:cs typeface="Times New Roman" panose="02020603050405020304" pitchFamily="18" charset="0"/>
              </a:rPr>
              <a:t>进程的系统堆栈</a:t>
            </a:r>
            <a:endParaRPr lang="zh-CN" altLang="en-US" kern="0"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ransition>
    <p:wedg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type="body" idx="1"/>
          </p:nvPr>
        </p:nvSpPr>
        <p:spPr/>
        <p:txBody>
          <a:bodyPr/>
          <a:lstStyle/>
          <a:p>
            <a:pPr eaLnBrk="1" hangingPunct="1"/>
            <a:r>
              <a:rPr lang="zh-CN" altLang="en-US">
                <a:latin typeface="Times New Roman" panose="02020603050405020304" pitchFamily="18" charset="0"/>
                <a:ea typeface="楷体_GB2312" pitchFamily="49" charset="-122"/>
                <a:cs typeface="Times New Roman" panose="02020603050405020304" pitchFamily="18" charset="0"/>
              </a:rPr>
              <a:t>由</a:t>
            </a:r>
            <a:r>
              <a:rPr lang="en-US" altLang="zh-CN">
                <a:solidFill>
                  <a:srgbClr val="FF0000"/>
                </a:solidFill>
                <a:latin typeface="Times New Roman" panose="02020603050405020304" pitchFamily="18" charset="0"/>
                <a:ea typeface="楷体_GB2312" pitchFamily="49" charset="-122"/>
                <a:cs typeface="Times New Roman" panose="02020603050405020304" pitchFamily="18" charset="0"/>
              </a:rPr>
              <a:t>current</a:t>
            </a:r>
            <a:r>
              <a:rPr lang="zh-CN" altLang="en-US">
                <a:latin typeface="Times New Roman" panose="02020603050405020304" pitchFamily="18" charset="0"/>
                <a:ea typeface="楷体_GB2312" pitchFamily="49" charset="-122"/>
                <a:cs typeface="Times New Roman" panose="02020603050405020304" pitchFamily="18" charset="0"/>
              </a:rPr>
              <a:t>来获取当前进程的进程描述符</a:t>
            </a:r>
            <a:endParaRPr lang="en-US" altLang="zh-CN">
              <a:latin typeface="Times New Roman" panose="02020603050405020304" pitchFamily="18" charset="0"/>
              <a:ea typeface="楷体_GB2312" pitchFamily="49" charset="-122"/>
              <a:cs typeface="Times New Roman" panose="02020603050405020304" pitchFamily="18" charset="0"/>
            </a:endParaRPr>
          </a:p>
          <a:p>
            <a:pPr eaLnBrk="1" hangingPunct="1"/>
            <a:endParaRPr lang="en-US" altLang="zh-CN">
              <a:latin typeface="Times New Roman" panose="02020603050405020304" pitchFamily="18" charset="0"/>
              <a:ea typeface="楷体_GB2312" pitchFamily="49" charset="-122"/>
              <a:cs typeface="Times New Roman" panose="02020603050405020304" pitchFamily="18" charset="0"/>
            </a:endParaRPr>
          </a:p>
          <a:p>
            <a:pPr eaLnBrk="1" hangingPunct="1"/>
            <a:endParaRPr lang="en-US" altLang="zh-CN">
              <a:latin typeface="Times New Roman" panose="02020603050405020304" pitchFamily="18" charset="0"/>
              <a:ea typeface="楷体_GB2312" pitchFamily="49" charset="-122"/>
              <a:cs typeface="Times New Roman" panose="02020603050405020304" pitchFamily="18" charset="0"/>
            </a:endParaRPr>
          </a:p>
          <a:p>
            <a:pPr eaLnBrk="1" hangingPunct="1"/>
            <a:endParaRPr lang="en-US" altLang="zh-CN">
              <a:latin typeface="Times New Roman" panose="02020603050405020304" pitchFamily="18" charset="0"/>
              <a:ea typeface="楷体_GB2312" pitchFamily="49" charset="-122"/>
              <a:cs typeface="Times New Roman" panose="02020603050405020304" pitchFamily="18" charset="0"/>
            </a:endParaRPr>
          </a:p>
          <a:p>
            <a:pPr eaLnBrk="1" hangingPunct="1"/>
            <a:endParaRPr lang="en-US" altLang="zh-CN">
              <a:latin typeface="Times New Roman" panose="02020603050405020304" pitchFamily="18" charset="0"/>
              <a:ea typeface="楷体_GB2312" pitchFamily="49" charset="-122"/>
              <a:cs typeface="Times New Roman" panose="02020603050405020304" pitchFamily="18" charset="0"/>
            </a:endParaRPr>
          </a:p>
          <a:p>
            <a:pPr lvl="1" eaLnBrk="1" hangingPunct="1"/>
            <a:r>
              <a:rPr lang="zh-CN" altLang="en-US">
                <a:latin typeface="Times New Roman" panose="02020603050405020304" pitchFamily="18" charset="0"/>
                <a:ea typeface="楷体_GB2312" pitchFamily="49" charset="-122"/>
                <a:cs typeface="Times New Roman" panose="02020603050405020304" pitchFamily="18" charset="0"/>
              </a:rPr>
              <a:t>说明</a:t>
            </a:r>
            <a:endParaRPr lang="en-US" altLang="zh-CN">
              <a:latin typeface="Times New Roman" panose="02020603050405020304" pitchFamily="18" charset="0"/>
              <a:ea typeface="楷体_GB2312" pitchFamily="49" charset="-122"/>
              <a:cs typeface="Times New Roman" panose="02020603050405020304" pitchFamily="18" charset="0"/>
            </a:endParaRPr>
          </a:p>
          <a:p>
            <a:pPr lvl="2" eaLnBrk="1" hangingPunct="1"/>
            <a:r>
              <a:rPr lang="en-US" altLang="zh-CN">
                <a:solidFill>
                  <a:srgbClr val="FF0000"/>
                </a:solidFill>
                <a:latin typeface="Times New Roman" panose="02020603050405020304" pitchFamily="18" charset="0"/>
                <a:ea typeface="楷体_GB2312" pitchFamily="49" charset="-122"/>
                <a:cs typeface="Times New Roman" panose="02020603050405020304" pitchFamily="18" charset="0"/>
              </a:rPr>
              <a:t>esp</a:t>
            </a:r>
            <a:r>
              <a:rPr lang="zh-CN" altLang="en-US">
                <a:latin typeface="Times New Roman" panose="02020603050405020304" pitchFamily="18" charset="0"/>
                <a:ea typeface="楷体_GB2312" pitchFamily="49" charset="-122"/>
                <a:cs typeface="Times New Roman" panose="02020603050405020304" pitchFamily="18" charset="0"/>
              </a:rPr>
              <a:t>寄存器是</a:t>
            </a:r>
            <a:r>
              <a:rPr lang="en-US" altLang="zh-CN">
                <a:latin typeface="Times New Roman" panose="02020603050405020304" pitchFamily="18" charset="0"/>
                <a:ea typeface="楷体_GB2312" pitchFamily="49" charset="-122"/>
                <a:cs typeface="Times New Roman" panose="02020603050405020304" pitchFamily="18" charset="0"/>
              </a:rPr>
              <a:t>CPU</a:t>
            </a:r>
            <a:r>
              <a:rPr lang="zh-CN" altLang="en-US">
                <a:latin typeface="Times New Roman" panose="02020603050405020304" pitchFamily="18" charset="0"/>
                <a:ea typeface="楷体_GB2312" pitchFamily="49" charset="-122"/>
                <a:cs typeface="Times New Roman" panose="02020603050405020304" pitchFamily="18" charset="0"/>
              </a:rPr>
              <a:t>栈指针，</a:t>
            </a:r>
            <a:r>
              <a:rPr lang="en-US" altLang="zh-CN">
                <a:solidFill>
                  <a:srgbClr val="FF0000"/>
                </a:solidFill>
                <a:latin typeface="Times New Roman" panose="02020603050405020304" pitchFamily="18" charset="0"/>
                <a:ea typeface="楷体_GB2312" pitchFamily="49" charset="-122"/>
                <a:cs typeface="Times New Roman" panose="02020603050405020304" pitchFamily="18" charset="0"/>
              </a:rPr>
              <a:t>%esp</a:t>
            </a:r>
            <a:r>
              <a:rPr lang="zh-CN" altLang="en-US">
                <a:latin typeface="Times New Roman" panose="02020603050405020304" pitchFamily="18" charset="0"/>
                <a:ea typeface="楷体_GB2312" pitchFamily="49" charset="-122"/>
                <a:cs typeface="Times New Roman" panose="02020603050405020304" pitchFamily="18" charset="0"/>
              </a:rPr>
              <a:t>指向内核堆栈，存放栈顶单元地址</a:t>
            </a:r>
            <a:endParaRPr lang="en-US" altLang="zh-CN">
              <a:latin typeface="Times New Roman" panose="02020603050405020304" pitchFamily="18" charset="0"/>
              <a:ea typeface="楷体_GB2312" pitchFamily="49" charset="-122"/>
              <a:cs typeface="Times New Roman" panose="02020603050405020304" pitchFamily="18" charset="0"/>
            </a:endParaRPr>
          </a:p>
          <a:p>
            <a:pPr lvl="2" eaLnBrk="1" hangingPunct="1"/>
            <a:r>
              <a:rPr lang="en-US" altLang="zh-CN">
                <a:latin typeface="Times New Roman" panose="02020603050405020304" pitchFamily="18" charset="0"/>
                <a:ea typeface="楷体_GB2312" pitchFamily="49" charset="-122"/>
                <a:cs typeface="Times New Roman" panose="02020603050405020304" pitchFamily="18" charset="0"/>
              </a:rPr>
              <a:t>~8191UL</a:t>
            </a:r>
            <a:r>
              <a:rPr lang="zh-CN" altLang="en-US">
                <a:latin typeface="Times New Roman" panose="02020603050405020304" pitchFamily="18" charset="0"/>
                <a:ea typeface="楷体_GB2312" pitchFamily="49" charset="-122"/>
                <a:cs typeface="Times New Roman" panose="02020603050405020304" pitchFamily="18" charset="0"/>
              </a:rPr>
              <a:t>表示最低</a:t>
            </a:r>
            <a:r>
              <a:rPr lang="en-US" altLang="zh-CN">
                <a:latin typeface="Times New Roman" panose="02020603050405020304" pitchFamily="18" charset="0"/>
                <a:ea typeface="楷体_GB2312" pitchFamily="49" charset="-122"/>
                <a:cs typeface="Times New Roman" panose="02020603050405020304" pitchFamily="18" charset="0"/>
              </a:rPr>
              <a:t>13</a:t>
            </a:r>
            <a:r>
              <a:rPr lang="zh-CN" altLang="en-US">
                <a:latin typeface="Times New Roman" panose="02020603050405020304" pitchFamily="18" charset="0"/>
                <a:ea typeface="楷体_GB2312" pitchFamily="49" charset="-122"/>
                <a:cs typeface="Times New Roman" panose="02020603050405020304" pitchFamily="18" charset="0"/>
              </a:rPr>
              <a:t>位为</a:t>
            </a:r>
            <a:r>
              <a:rPr lang="en-US" altLang="zh-CN">
                <a:latin typeface="Times New Roman" panose="02020603050405020304" pitchFamily="18" charset="0"/>
                <a:ea typeface="楷体_GB2312" pitchFamily="49" charset="-122"/>
                <a:cs typeface="Times New Roman" panose="02020603050405020304" pitchFamily="18" charset="0"/>
              </a:rPr>
              <a:t>0</a:t>
            </a:r>
            <a:r>
              <a:rPr lang="zh-CN" altLang="en-US">
                <a:latin typeface="Times New Roman" panose="02020603050405020304" pitchFamily="18" charset="0"/>
                <a:ea typeface="楷体_GB2312" pitchFamily="49" charset="-122"/>
                <a:cs typeface="Times New Roman" panose="02020603050405020304" pitchFamily="18" charset="0"/>
              </a:rPr>
              <a:t>，其余位全为</a:t>
            </a:r>
            <a:r>
              <a:rPr lang="en-US" altLang="zh-CN">
                <a:latin typeface="Times New Roman" panose="02020603050405020304" pitchFamily="18" charset="0"/>
                <a:ea typeface="楷体_GB2312" pitchFamily="49" charset="-122"/>
                <a:cs typeface="Times New Roman" panose="02020603050405020304" pitchFamily="18" charset="0"/>
              </a:rPr>
              <a:t>1</a:t>
            </a:r>
            <a:r>
              <a:rPr lang="zh-CN" altLang="en-US">
                <a:latin typeface="Times New Roman" panose="02020603050405020304" pitchFamily="18" charset="0"/>
                <a:ea typeface="楷体_GB2312" pitchFamily="49" charset="-122"/>
                <a:cs typeface="Times New Roman" panose="02020603050405020304" pitchFamily="18" charset="0"/>
              </a:rPr>
              <a:t> </a:t>
            </a:r>
            <a:endParaRPr lang="zh-CN" altLang="en-US">
              <a:latin typeface="Times New Roman" panose="02020603050405020304" pitchFamily="18" charset="0"/>
              <a:ea typeface="楷体_GB2312" pitchFamily="49" charset="-122"/>
              <a:cs typeface="Times New Roman" panose="02020603050405020304" pitchFamily="18" charset="0"/>
            </a:endParaRPr>
          </a:p>
          <a:p>
            <a:pPr lvl="2" eaLnBrk="1" hangingPunct="1"/>
            <a:r>
              <a:rPr lang="zh-CN" altLang="en-US">
                <a:latin typeface="Times New Roman" panose="02020603050405020304" pitchFamily="18" charset="0"/>
                <a:ea typeface="楷体_GB2312" pitchFamily="49" charset="-122"/>
                <a:cs typeface="Times New Roman" panose="02020603050405020304" pitchFamily="18" charset="0"/>
              </a:rPr>
              <a:t>屏蔽掉</a:t>
            </a:r>
            <a:r>
              <a:rPr lang="en-US" altLang="zh-CN">
                <a:latin typeface="Times New Roman" panose="02020603050405020304" pitchFamily="18" charset="0"/>
                <a:ea typeface="楷体_GB2312" pitchFamily="49" charset="-122"/>
                <a:cs typeface="Times New Roman" panose="02020603050405020304" pitchFamily="18" charset="0"/>
              </a:rPr>
              <a:t>%esp</a:t>
            </a:r>
            <a:r>
              <a:rPr lang="zh-CN" altLang="en-US">
                <a:latin typeface="Times New Roman" panose="02020603050405020304" pitchFamily="18" charset="0"/>
                <a:ea typeface="楷体_GB2312" pitchFamily="49" charset="-122"/>
                <a:cs typeface="Times New Roman" panose="02020603050405020304" pitchFamily="18" charset="0"/>
              </a:rPr>
              <a:t>的最低</a:t>
            </a:r>
            <a:r>
              <a:rPr lang="en-US" altLang="zh-CN">
                <a:latin typeface="Times New Roman" panose="02020603050405020304" pitchFamily="18" charset="0"/>
                <a:ea typeface="楷体_GB2312" pitchFamily="49" charset="-122"/>
                <a:cs typeface="Times New Roman" panose="02020603050405020304" pitchFamily="18" charset="0"/>
              </a:rPr>
              <a:t>13</a:t>
            </a:r>
            <a:r>
              <a:rPr lang="zh-CN" altLang="en-US">
                <a:latin typeface="Times New Roman" panose="02020603050405020304" pitchFamily="18" charset="0"/>
                <a:ea typeface="楷体_GB2312" pitchFamily="49" charset="-122"/>
                <a:cs typeface="Times New Roman" panose="02020603050405020304" pitchFamily="18" charset="0"/>
              </a:rPr>
              <a:t>位后，得到 “两个连续的物理页面”的开头（基地址），从而得到指向</a:t>
            </a:r>
            <a:r>
              <a:rPr lang="en-US" altLang="zh-CN">
                <a:latin typeface="Times New Roman" panose="02020603050405020304" pitchFamily="18" charset="0"/>
                <a:ea typeface="楷体_GB2312" pitchFamily="49" charset="-122"/>
                <a:cs typeface="Times New Roman" panose="02020603050405020304" pitchFamily="18" charset="0"/>
              </a:rPr>
              <a:t>task_struct</a:t>
            </a:r>
            <a:r>
              <a:rPr lang="zh-CN" altLang="en-US">
                <a:latin typeface="Times New Roman" panose="02020603050405020304" pitchFamily="18" charset="0"/>
                <a:ea typeface="楷体_GB2312" pitchFamily="49" charset="-122"/>
                <a:cs typeface="Times New Roman" panose="02020603050405020304" pitchFamily="18" charset="0"/>
              </a:rPr>
              <a:t>的指针 </a:t>
            </a:r>
            <a:endParaRPr lang="zh-CN" altLang="en-US">
              <a:latin typeface="Times New Roman" panose="02020603050405020304" pitchFamily="18" charset="0"/>
              <a:ea typeface="楷体_GB2312" pitchFamily="49" charset="-122"/>
              <a:cs typeface="Times New Roman" panose="02020603050405020304" pitchFamily="18" charset="0"/>
            </a:endParaRPr>
          </a:p>
        </p:txBody>
      </p:sp>
      <p:pic>
        <p:nvPicPr>
          <p:cNvPr id="7"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17550" y="1571625"/>
            <a:ext cx="8153400"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5"/>
          <p:cNvSpPr txBox="1">
            <a:spLocks noChangeArrowheads="1"/>
          </p:cNvSpPr>
          <p:nvPr/>
        </p:nvSpPr>
        <p:spPr bwMode="auto">
          <a:xfrm>
            <a:off x="4610100" y="2928938"/>
            <a:ext cx="4006850" cy="701675"/>
          </a:xfrm>
          <a:prstGeom prst="rect">
            <a:avLst/>
          </a:prstGeom>
          <a:solidFill>
            <a:srgbClr val="D8D8E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spcBef>
                <a:spcPct val="0"/>
              </a:spcBef>
              <a:buClrTx/>
              <a:buFontTx/>
              <a:buNone/>
            </a:pPr>
            <a:r>
              <a:rPr lang="en-US" altLang="zh-CN" sz="2000" b="0">
                <a:solidFill>
                  <a:schemeClr val="tx1"/>
                </a:solidFill>
                <a:latin typeface="Arial" panose="020B0604020202020204" pitchFamily="34" charset="0"/>
                <a:ea typeface="宋体" panose="02010600030101010101" pitchFamily="2" charset="-122"/>
              </a:rPr>
              <a:t>8191=8192-1=0x2000-1=0x1fff</a:t>
            </a:r>
            <a:br>
              <a:rPr lang="en-US" altLang="zh-CN" sz="2000" b="0">
                <a:solidFill>
                  <a:schemeClr val="tx1"/>
                </a:solidFill>
                <a:latin typeface="Arial" panose="020B0604020202020204" pitchFamily="34" charset="0"/>
                <a:ea typeface="宋体" panose="02010600030101010101" pitchFamily="2" charset="-122"/>
              </a:rPr>
            </a:br>
            <a:r>
              <a:rPr lang="zh-CN" altLang="en-US" sz="2000" b="0">
                <a:solidFill>
                  <a:schemeClr val="tx1"/>
                </a:solidFill>
                <a:latin typeface="Arial" panose="020B0604020202020204" pitchFamily="34" charset="0"/>
                <a:ea typeface="宋体" panose="02010600030101010101" pitchFamily="2" charset="-122"/>
              </a:rPr>
              <a:t>取反：</a:t>
            </a:r>
            <a:r>
              <a:rPr lang="en-US" altLang="zh-CN" sz="2000" b="0">
                <a:solidFill>
                  <a:schemeClr val="tx1"/>
                </a:solidFill>
                <a:latin typeface="Arial" panose="020B0604020202020204" pitchFamily="34" charset="0"/>
                <a:ea typeface="宋体" panose="02010600030101010101" pitchFamily="2" charset="-122"/>
              </a:rPr>
              <a:t>0xffffe000</a:t>
            </a:r>
            <a:r>
              <a:rPr lang="zh-CN" altLang="en-US" sz="2000" b="0">
                <a:solidFill>
                  <a:schemeClr val="tx1"/>
                </a:solidFill>
                <a:latin typeface="Arial" panose="020B0604020202020204" pitchFamily="34" charset="0"/>
                <a:ea typeface="宋体" panose="02010600030101010101" pitchFamily="2" charset="-122"/>
              </a:rPr>
              <a:t>（最后</a:t>
            </a:r>
            <a:r>
              <a:rPr lang="en-US" altLang="zh-CN" sz="2000" b="0">
                <a:solidFill>
                  <a:schemeClr val="tx1"/>
                </a:solidFill>
                <a:latin typeface="Arial" panose="020B0604020202020204" pitchFamily="34" charset="0"/>
                <a:ea typeface="宋体" panose="02010600030101010101" pitchFamily="2" charset="-122"/>
              </a:rPr>
              <a:t>13</a:t>
            </a:r>
            <a:r>
              <a:rPr lang="zh-CN" altLang="en-US" sz="2000" b="0">
                <a:solidFill>
                  <a:schemeClr val="tx1"/>
                </a:solidFill>
                <a:latin typeface="Arial" panose="020B0604020202020204" pitchFamily="34" charset="0"/>
                <a:ea typeface="宋体" panose="02010600030101010101" pitchFamily="2" charset="-122"/>
              </a:rPr>
              <a:t>位为</a:t>
            </a:r>
            <a:r>
              <a:rPr lang="en-US" altLang="zh-CN" sz="2000" b="0">
                <a:solidFill>
                  <a:schemeClr val="tx1"/>
                </a:solidFill>
                <a:latin typeface="Arial" panose="020B0604020202020204" pitchFamily="34" charset="0"/>
                <a:ea typeface="宋体" panose="02010600030101010101" pitchFamily="2" charset="-122"/>
              </a:rPr>
              <a:t>0</a:t>
            </a:r>
            <a:r>
              <a:rPr lang="zh-CN" altLang="en-US" sz="2000" b="0">
                <a:solidFill>
                  <a:schemeClr val="tx1"/>
                </a:solidFill>
                <a:latin typeface="Arial" panose="020B0604020202020204" pitchFamily="34" charset="0"/>
                <a:ea typeface="宋体" panose="02010600030101010101" pitchFamily="2" charset="-122"/>
              </a:rPr>
              <a:t>）</a:t>
            </a:r>
            <a:endParaRPr lang="zh-CN" altLang="en-US" sz="2000" b="0">
              <a:solidFill>
                <a:schemeClr val="tx1"/>
              </a:solidFill>
              <a:latin typeface="Arial" panose="020B0604020202020204" pitchFamily="34" charset="0"/>
              <a:ea typeface="宋体" panose="02010600030101010101" pitchFamily="2" charset="-122"/>
            </a:endParaRPr>
          </a:p>
        </p:txBody>
      </p:sp>
      <p:sp>
        <p:nvSpPr>
          <p:cNvPr id="9" name="Rectangle 2"/>
          <p:cNvSpPr txBox="1">
            <a:spLocks noChangeArrowheads="1"/>
          </p:cNvSpPr>
          <p:nvPr/>
        </p:nvSpPr>
        <p:spPr bwMode="black">
          <a:xfrm>
            <a:off x="611188" y="115888"/>
            <a:ext cx="76327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2pPr>
            <a:lvl3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3pPr>
            <a:lvl4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4pPr>
            <a:lvl5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5pPr>
            <a:lvl6pPr marL="4572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6pPr>
            <a:lvl7pPr marL="9144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7pPr>
            <a:lvl8pPr marL="13716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8pPr>
            <a:lvl9pPr marL="18288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9pPr>
          </a:lstStyle>
          <a:p>
            <a:pPr eaLnBrk="1" hangingPunct="1"/>
            <a:r>
              <a:rPr lang="en-US" altLang="zh-CN" kern="0" dirty="0">
                <a:latin typeface="Times New Roman" panose="02020603050405020304" pitchFamily="18" charset="0"/>
                <a:ea typeface="楷体_GB2312" pitchFamily="49" charset="-122"/>
                <a:cs typeface="Times New Roman" panose="02020603050405020304" pitchFamily="18" charset="0"/>
              </a:rPr>
              <a:t>2.4 Linux</a:t>
            </a:r>
            <a:r>
              <a:rPr lang="zh-CN" altLang="en-US" kern="0" dirty="0">
                <a:latin typeface="Times New Roman" panose="02020603050405020304" pitchFamily="18" charset="0"/>
                <a:ea typeface="楷体_GB2312" pitchFamily="49" charset="-122"/>
                <a:cs typeface="Times New Roman" panose="02020603050405020304" pitchFamily="18" charset="0"/>
              </a:rPr>
              <a:t>进程的系统堆栈</a:t>
            </a:r>
            <a:endParaRPr lang="zh-CN" altLang="en-US" kern="0"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ransition>
    <p:wedg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3"/>
          <p:cNvSpPr>
            <a:spLocks noGrp="1"/>
          </p:cNvSpPr>
          <p:nvPr>
            <p:ph type="sldNum" sz="quarter" idx="10"/>
          </p:nvPr>
        </p:nvSpPr>
        <p:spPr/>
        <p:txBody>
          <a:bodyPr/>
          <a:lstStyle>
            <a:lvl1pPr>
              <a:defRPr sz="2400">
                <a:solidFill>
                  <a:schemeClr val="tx1"/>
                </a:solidFill>
                <a:latin typeface="Times New Roman" panose="02020603050405020304" pitchFamily="18" charset="0"/>
                <a:ea typeface="新宋体" panose="02010609030101010101" pitchFamily="49" charset="-122"/>
              </a:defRPr>
            </a:lvl1pPr>
            <a:lvl2pPr marL="742950" indent="-285750">
              <a:defRPr sz="2400">
                <a:solidFill>
                  <a:schemeClr val="tx1"/>
                </a:solidFill>
                <a:latin typeface="Times New Roman" panose="02020603050405020304" pitchFamily="18" charset="0"/>
                <a:ea typeface="新宋体" panose="02010609030101010101" pitchFamily="49" charset="-122"/>
              </a:defRPr>
            </a:lvl2pPr>
            <a:lvl3pPr marL="1143000" indent="-228600">
              <a:defRPr sz="2400">
                <a:solidFill>
                  <a:schemeClr val="tx1"/>
                </a:solidFill>
                <a:latin typeface="Times New Roman" panose="02020603050405020304" pitchFamily="18" charset="0"/>
                <a:ea typeface="新宋体" panose="02010609030101010101" pitchFamily="49" charset="-122"/>
              </a:defRPr>
            </a:lvl3pPr>
            <a:lvl4pPr marL="1600200" indent="-228600">
              <a:defRPr sz="2400">
                <a:solidFill>
                  <a:schemeClr val="tx1"/>
                </a:solidFill>
                <a:latin typeface="Times New Roman" panose="02020603050405020304" pitchFamily="18" charset="0"/>
                <a:ea typeface="新宋体" panose="02010609030101010101" pitchFamily="49" charset="-122"/>
              </a:defRPr>
            </a:lvl4pPr>
            <a:lvl5pPr marL="2057400" indent="-228600">
              <a:defRPr sz="2400">
                <a:solidFill>
                  <a:schemeClr val="tx1"/>
                </a:solidFill>
                <a:latin typeface="Times New Roman" panose="02020603050405020304" pitchFamily="18" charset="0"/>
                <a:ea typeface="新宋体" panose="02010609030101010101"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9pPr>
          </a:lstStyle>
          <a:p>
            <a:pPr>
              <a:defRPr/>
            </a:pPr>
            <a:fld id="{61492ED9-F56E-4ABB-B314-C93F56B3FAD3}" type="slidenum">
              <a:rPr lang="en-US" altLang="zh-CN" sz="1200" smtClean="0">
                <a:latin typeface="Verdana" panose="020B0604030504040204" pitchFamily="34" charset="0"/>
                <a:ea typeface="Gulim" panose="020B0600000101010101" pitchFamily="34" charset="-127"/>
              </a:rPr>
            </a:fld>
            <a:endParaRPr lang="en-US" altLang="zh-CN" sz="1200">
              <a:latin typeface="Verdana" panose="020B0604030504040204" pitchFamily="34" charset="0"/>
              <a:ea typeface="Gulim" panose="020B0600000101010101" pitchFamily="34" charset="-127"/>
            </a:endParaRPr>
          </a:p>
        </p:txBody>
      </p:sp>
      <p:grpSp>
        <p:nvGrpSpPr>
          <p:cNvPr id="22531" name="Group 19"/>
          <p:cNvGrpSpPr/>
          <p:nvPr/>
        </p:nvGrpSpPr>
        <p:grpSpPr bwMode="auto">
          <a:xfrm>
            <a:off x="1174353" y="2969568"/>
            <a:ext cx="6831161" cy="3888432"/>
            <a:chOff x="946" y="1594"/>
            <a:chExt cx="4328" cy="2730"/>
          </a:xfrm>
        </p:grpSpPr>
        <p:grpSp>
          <p:nvGrpSpPr>
            <p:cNvPr id="22534" name="Group 18"/>
            <p:cNvGrpSpPr/>
            <p:nvPr/>
          </p:nvGrpSpPr>
          <p:grpSpPr bwMode="auto">
            <a:xfrm>
              <a:off x="1284" y="1594"/>
              <a:ext cx="3366" cy="2730"/>
              <a:chOff x="1284" y="1594"/>
              <a:chExt cx="3366" cy="2730"/>
            </a:xfrm>
          </p:grpSpPr>
          <p:pic>
            <p:nvPicPr>
              <p:cNvPr id="22544" name="Picture 1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84" y="1594"/>
                <a:ext cx="3366" cy="2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3279" name="Rectangle 15"/>
              <p:cNvSpPr>
                <a:spLocks noChangeArrowheads="1"/>
              </p:cNvSpPr>
              <p:nvPr/>
            </p:nvSpPr>
            <p:spPr bwMode="auto">
              <a:xfrm>
                <a:off x="2219" y="3261"/>
                <a:ext cx="1406" cy="355"/>
              </a:xfrm>
              <a:prstGeom prst="rect">
                <a:avLst/>
              </a:prstGeom>
              <a:solidFill>
                <a:srgbClr val="FF6600">
                  <a:alpha val="30000"/>
                </a:srgbClr>
              </a:solidFill>
              <a:ln w="9525">
                <a:noFill/>
                <a:miter lim="800000"/>
              </a:ln>
              <a:effectLst/>
            </p:spPr>
            <p:txBody>
              <a:bodyPr wrap="none" anchor="ctr">
                <a:spAutoFit/>
              </a:bodyPr>
              <a:lstStyle/>
              <a:p>
                <a:pPr>
                  <a:spcBef>
                    <a:spcPct val="20000"/>
                  </a:spcBef>
                  <a:buClr>
                    <a:srgbClr val="FF9900"/>
                  </a:buClr>
                  <a:buFont typeface="Wingdings" panose="05000000000000000000" pitchFamily="2" charset="2"/>
                  <a:buNone/>
                  <a:defRPr/>
                </a:pPr>
                <a:endParaRPr lang="zh-CN" altLang="en-US">
                  <a:effectLst>
                    <a:outerShdw blurRad="38100" dist="38100" dir="2700000" algn="tl">
                      <a:srgbClr val="000000">
                        <a:alpha val="43137"/>
                      </a:srgbClr>
                    </a:outerShdw>
                  </a:effectLst>
                </a:endParaRPr>
              </a:p>
            </p:txBody>
          </p:sp>
        </p:grpSp>
        <p:grpSp>
          <p:nvGrpSpPr>
            <p:cNvPr id="22535" name="Group 5"/>
            <p:cNvGrpSpPr/>
            <p:nvPr/>
          </p:nvGrpSpPr>
          <p:grpSpPr bwMode="auto">
            <a:xfrm>
              <a:off x="946" y="1715"/>
              <a:ext cx="1227" cy="1905"/>
              <a:chOff x="703" y="2288"/>
              <a:chExt cx="1227" cy="1905"/>
            </a:xfrm>
          </p:grpSpPr>
          <p:sp>
            <p:nvSpPr>
              <p:cNvPr id="523270" name="AutoShape 6"/>
              <p:cNvSpPr/>
              <p:nvPr/>
            </p:nvSpPr>
            <p:spPr bwMode="auto">
              <a:xfrm>
                <a:off x="1703" y="2288"/>
                <a:ext cx="227" cy="1902"/>
              </a:xfrm>
              <a:prstGeom prst="leftBrace">
                <a:avLst>
                  <a:gd name="adj1" fmla="val 69934"/>
                  <a:gd name="adj2" fmla="val 50000"/>
                </a:avLst>
              </a:prstGeom>
              <a:noFill/>
              <a:ln w="12700">
                <a:solidFill>
                  <a:srgbClr val="0000FF"/>
                </a:solidFill>
                <a:round/>
              </a:ln>
              <a:effectLst/>
            </p:spPr>
            <p:txBody>
              <a:bodyPr anchor="ctr">
                <a:spAutoFit/>
              </a:bodyPr>
              <a:lstStyle/>
              <a:p>
                <a:pPr>
                  <a:spcBef>
                    <a:spcPct val="20000"/>
                  </a:spcBef>
                  <a:buClr>
                    <a:srgbClr val="FF9900"/>
                  </a:buClr>
                  <a:buFont typeface="Wingdings" panose="05000000000000000000" pitchFamily="2" charset="2"/>
                  <a:buNone/>
                  <a:defRPr/>
                </a:pPr>
                <a:endParaRPr lang="zh-CN" altLang="en-US">
                  <a:effectLst>
                    <a:outerShdw blurRad="38100" dist="38100" dir="2700000" algn="tl">
                      <a:srgbClr val="000000">
                        <a:alpha val="43137"/>
                      </a:srgbClr>
                    </a:outerShdw>
                  </a:effectLst>
                </a:endParaRPr>
              </a:p>
            </p:txBody>
          </p:sp>
          <p:sp>
            <p:nvSpPr>
              <p:cNvPr id="523271" name="Text Box 7"/>
              <p:cNvSpPr txBox="1">
                <a:spLocks noChangeArrowheads="1"/>
              </p:cNvSpPr>
              <p:nvPr/>
            </p:nvSpPr>
            <p:spPr bwMode="auto">
              <a:xfrm>
                <a:off x="703" y="3031"/>
                <a:ext cx="1176" cy="386"/>
              </a:xfrm>
              <a:prstGeom prst="rect">
                <a:avLst/>
              </a:prstGeom>
              <a:noFill/>
              <a:ln w="9525">
                <a:noFill/>
                <a:miter lim="800000"/>
              </a:ln>
              <a:effectLst/>
            </p:spPr>
            <p:txBody>
              <a:bodyPr wrap="none">
                <a:spAutoFit/>
              </a:bodyPr>
              <a:lstStyle/>
              <a:p>
                <a:pPr algn="ctr">
                  <a:spcBef>
                    <a:spcPct val="20000"/>
                  </a:spcBef>
                  <a:buClr>
                    <a:srgbClr val="FF9900"/>
                  </a:buClr>
                  <a:buFont typeface="Wingdings" panose="05000000000000000000" pitchFamily="2" charset="2"/>
                  <a:buNone/>
                  <a:defRPr/>
                </a:pPr>
                <a:r>
                  <a:rPr lang="zh-CN" altLang="en-US" sz="1800" b="1" dirty="0">
                    <a:solidFill>
                      <a:srgbClr val="0000FF"/>
                    </a:solidFill>
                    <a:effectLst>
                      <a:outerShdw blurRad="38100" dist="38100" dir="2700000" algn="tl">
                        <a:srgbClr val="C0C0C0"/>
                      </a:outerShdw>
                    </a:effectLst>
                  </a:rPr>
                  <a:t>两个连续物理页面</a:t>
                </a:r>
                <a:br>
                  <a:rPr lang="zh-CN" altLang="en-US" sz="1800" b="1" dirty="0">
                    <a:solidFill>
                      <a:srgbClr val="0000FF"/>
                    </a:solidFill>
                    <a:effectLst>
                      <a:outerShdw blurRad="38100" dist="38100" dir="2700000" algn="tl">
                        <a:srgbClr val="C0C0C0"/>
                      </a:outerShdw>
                    </a:effectLst>
                  </a:rPr>
                </a:br>
                <a:r>
                  <a:rPr lang="zh-CN" altLang="en-US" sz="1800" b="1" dirty="0">
                    <a:solidFill>
                      <a:srgbClr val="0000FF"/>
                    </a:solidFill>
                    <a:effectLst>
                      <a:outerShdw blurRad="38100" dist="38100" dir="2700000" algn="tl">
                        <a:srgbClr val="C0C0C0"/>
                      </a:outerShdw>
                    </a:effectLst>
                  </a:rPr>
                  <a:t>（约</a:t>
                </a:r>
                <a:r>
                  <a:rPr lang="en-US" altLang="zh-CN" sz="1800" b="1" dirty="0">
                    <a:solidFill>
                      <a:srgbClr val="0000FF"/>
                    </a:solidFill>
                    <a:effectLst>
                      <a:outerShdw blurRad="38100" dist="38100" dir="2700000" algn="tl">
                        <a:srgbClr val="C0C0C0"/>
                      </a:outerShdw>
                    </a:effectLst>
                  </a:rPr>
                  <a:t>8K</a:t>
                </a:r>
                <a:r>
                  <a:rPr lang="zh-CN" altLang="en-US" sz="1800" b="1" dirty="0">
                    <a:solidFill>
                      <a:srgbClr val="0000FF"/>
                    </a:solidFill>
                    <a:effectLst>
                      <a:outerShdw blurRad="38100" dist="38100" dir="2700000" algn="tl">
                        <a:srgbClr val="C0C0C0"/>
                      </a:outerShdw>
                    </a:effectLst>
                  </a:rPr>
                  <a:t>）</a:t>
                </a:r>
                <a:endParaRPr lang="zh-CN" altLang="en-US" sz="1800" b="1" dirty="0">
                  <a:solidFill>
                    <a:srgbClr val="0000FF"/>
                  </a:solidFill>
                  <a:effectLst>
                    <a:outerShdw blurRad="38100" dist="38100" dir="2700000" algn="tl">
                      <a:srgbClr val="C0C0C0"/>
                    </a:outerShdw>
                  </a:effectLst>
                </a:endParaRPr>
              </a:p>
            </p:txBody>
          </p:sp>
        </p:grpSp>
        <p:grpSp>
          <p:nvGrpSpPr>
            <p:cNvPr id="22536" name="Group 8"/>
            <p:cNvGrpSpPr/>
            <p:nvPr/>
          </p:nvGrpSpPr>
          <p:grpSpPr bwMode="auto">
            <a:xfrm>
              <a:off x="3697" y="1731"/>
              <a:ext cx="739" cy="1542"/>
              <a:chOff x="3470" y="2296"/>
              <a:chExt cx="739" cy="1542"/>
            </a:xfrm>
          </p:grpSpPr>
          <p:sp>
            <p:nvSpPr>
              <p:cNvPr id="523273" name="AutoShape 9"/>
              <p:cNvSpPr/>
              <p:nvPr/>
            </p:nvSpPr>
            <p:spPr bwMode="auto">
              <a:xfrm>
                <a:off x="3470" y="2296"/>
                <a:ext cx="181" cy="1538"/>
              </a:xfrm>
              <a:prstGeom prst="rightBrace">
                <a:avLst>
                  <a:gd name="adj1" fmla="val 70994"/>
                  <a:gd name="adj2" fmla="val 50000"/>
                </a:avLst>
              </a:prstGeom>
              <a:noFill/>
              <a:ln w="12700">
                <a:solidFill>
                  <a:srgbClr val="0000FF"/>
                </a:solidFill>
                <a:round/>
              </a:ln>
              <a:effectLst/>
            </p:spPr>
            <p:txBody>
              <a:bodyPr wrap="none" anchor="ctr">
                <a:spAutoFit/>
              </a:bodyPr>
              <a:lstStyle/>
              <a:p>
                <a:pPr>
                  <a:spcBef>
                    <a:spcPct val="20000"/>
                  </a:spcBef>
                  <a:buClr>
                    <a:srgbClr val="FF9900"/>
                  </a:buClr>
                  <a:buFont typeface="Wingdings" panose="05000000000000000000" pitchFamily="2" charset="2"/>
                  <a:buNone/>
                  <a:defRPr/>
                </a:pPr>
                <a:endParaRPr lang="zh-CN" altLang="en-US">
                  <a:effectLst>
                    <a:outerShdw blurRad="38100" dist="38100" dir="2700000" algn="tl">
                      <a:srgbClr val="000000">
                        <a:alpha val="43137"/>
                      </a:srgbClr>
                    </a:outerShdw>
                  </a:effectLst>
                </a:endParaRPr>
              </a:p>
            </p:txBody>
          </p:sp>
          <p:sp>
            <p:nvSpPr>
              <p:cNvPr id="523274" name="Text Box 10"/>
              <p:cNvSpPr txBox="1">
                <a:spLocks noChangeArrowheads="1"/>
              </p:cNvSpPr>
              <p:nvPr/>
            </p:nvSpPr>
            <p:spPr bwMode="auto">
              <a:xfrm>
                <a:off x="3568" y="2886"/>
                <a:ext cx="641" cy="221"/>
              </a:xfrm>
              <a:prstGeom prst="rect">
                <a:avLst/>
              </a:prstGeom>
              <a:noFill/>
              <a:ln w="9525">
                <a:noFill/>
                <a:miter lim="800000"/>
              </a:ln>
              <a:effectLst/>
            </p:spPr>
            <p:txBody>
              <a:bodyPr wrap="none">
                <a:spAutoFit/>
              </a:bodyPr>
              <a:lstStyle/>
              <a:p>
                <a:pPr algn="ctr">
                  <a:spcBef>
                    <a:spcPct val="20000"/>
                  </a:spcBef>
                  <a:buClr>
                    <a:srgbClr val="FF9900"/>
                  </a:buClr>
                  <a:buFont typeface="Wingdings" panose="05000000000000000000" pitchFamily="2" charset="2"/>
                  <a:buNone/>
                  <a:defRPr/>
                </a:pPr>
                <a:r>
                  <a:rPr lang="zh-CN" altLang="en-US" sz="1800" b="1" dirty="0">
                    <a:solidFill>
                      <a:srgbClr val="0000FF"/>
                    </a:solidFill>
                    <a:effectLst>
                      <a:outerShdw blurRad="38100" dist="38100" dir="2700000" algn="tl">
                        <a:srgbClr val="C0C0C0"/>
                      </a:outerShdw>
                    </a:effectLst>
                  </a:rPr>
                  <a:t>内核堆栈</a:t>
                </a:r>
                <a:endParaRPr lang="zh-CN" altLang="en-US" sz="1800" b="1" dirty="0">
                  <a:solidFill>
                    <a:srgbClr val="0000FF"/>
                  </a:solidFill>
                  <a:effectLst>
                    <a:outerShdw blurRad="38100" dist="38100" dir="2700000" algn="tl">
                      <a:srgbClr val="C0C0C0"/>
                    </a:outerShdw>
                  </a:effectLst>
                </a:endParaRPr>
              </a:p>
            </p:txBody>
          </p:sp>
        </p:grpSp>
        <p:grpSp>
          <p:nvGrpSpPr>
            <p:cNvPr id="22537" name="Group 11"/>
            <p:cNvGrpSpPr/>
            <p:nvPr/>
          </p:nvGrpSpPr>
          <p:grpSpPr bwMode="auto">
            <a:xfrm>
              <a:off x="3681" y="3305"/>
              <a:ext cx="1593" cy="318"/>
              <a:chOff x="3470" y="3838"/>
              <a:chExt cx="1593" cy="318"/>
            </a:xfrm>
          </p:grpSpPr>
          <p:sp>
            <p:nvSpPr>
              <p:cNvPr id="523276" name="Text Box 12"/>
              <p:cNvSpPr txBox="1">
                <a:spLocks noChangeArrowheads="1"/>
              </p:cNvSpPr>
              <p:nvPr/>
            </p:nvSpPr>
            <p:spPr bwMode="auto">
              <a:xfrm>
                <a:off x="3486" y="3900"/>
                <a:ext cx="1577" cy="221"/>
              </a:xfrm>
              <a:prstGeom prst="rect">
                <a:avLst/>
              </a:prstGeom>
              <a:noFill/>
              <a:ln w="9525">
                <a:noFill/>
                <a:miter lim="800000"/>
              </a:ln>
              <a:effectLst/>
            </p:spPr>
            <p:txBody>
              <a:bodyPr wrap="none">
                <a:spAutoFit/>
              </a:bodyPr>
              <a:lstStyle/>
              <a:p>
                <a:pPr algn="ctr">
                  <a:spcBef>
                    <a:spcPct val="20000"/>
                  </a:spcBef>
                  <a:buClr>
                    <a:srgbClr val="FF9900"/>
                  </a:buClr>
                  <a:buFont typeface="Wingdings" panose="05000000000000000000" pitchFamily="2" charset="2"/>
                  <a:buNone/>
                  <a:defRPr/>
                </a:pPr>
                <a:r>
                  <a:rPr lang="zh-CN" altLang="en-US" sz="1800" b="1" dirty="0">
                    <a:solidFill>
                      <a:srgbClr val="0000FF"/>
                    </a:solidFill>
                    <a:effectLst>
                      <a:outerShdw blurRad="38100" dist="38100" dir="2700000" algn="tl">
                        <a:srgbClr val="C0C0C0"/>
                      </a:outerShdw>
                    </a:effectLst>
                  </a:rPr>
                  <a:t>进程描述符（约</a:t>
                </a:r>
                <a:r>
                  <a:rPr lang="en-US" altLang="zh-CN" sz="1800" b="1" dirty="0">
                    <a:effectLst>
                      <a:outerShdw blurRad="38100" dist="38100" dir="2700000" algn="tl">
                        <a:srgbClr val="C0C0C0"/>
                      </a:outerShdw>
                    </a:effectLst>
                  </a:rPr>
                  <a:t>52</a:t>
                </a:r>
                <a:r>
                  <a:rPr lang="zh-CN" altLang="en-US" sz="1800" b="1" dirty="0">
                    <a:solidFill>
                      <a:srgbClr val="0000FF"/>
                    </a:solidFill>
                    <a:effectLst>
                      <a:outerShdw blurRad="38100" dist="38100" dir="2700000" algn="tl">
                        <a:srgbClr val="C0C0C0"/>
                      </a:outerShdw>
                    </a:effectLst>
                  </a:rPr>
                  <a:t>字节）</a:t>
                </a:r>
                <a:endParaRPr lang="zh-CN" altLang="en-US" sz="1800" b="1" dirty="0">
                  <a:solidFill>
                    <a:srgbClr val="0000FF"/>
                  </a:solidFill>
                  <a:effectLst>
                    <a:outerShdw blurRad="38100" dist="38100" dir="2700000" algn="tl">
                      <a:srgbClr val="C0C0C0"/>
                    </a:outerShdw>
                  </a:effectLst>
                </a:endParaRPr>
              </a:p>
            </p:txBody>
          </p:sp>
          <p:sp>
            <p:nvSpPr>
              <p:cNvPr id="523277" name="AutoShape 13"/>
              <p:cNvSpPr/>
              <p:nvPr/>
            </p:nvSpPr>
            <p:spPr bwMode="auto">
              <a:xfrm>
                <a:off x="3470" y="3838"/>
                <a:ext cx="45" cy="318"/>
              </a:xfrm>
              <a:prstGeom prst="rightBrace">
                <a:avLst>
                  <a:gd name="adj1" fmla="val 58889"/>
                  <a:gd name="adj2" fmla="val 50000"/>
                </a:avLst>
              </a:prstGeom>
              <a:noFill/>
              <a:ln w="19050">
                <a:solidFill>
                  <a:srgbClr val="0000FF"/>
                </a:solidFill>
                <a:round/>
              </a:ln>
              <a:effectLst/>
            </p:spPr>
            <p:txBody>
              <a:bodyPr wrap="none" anchor="ctr">
                <a:spAutoFit/>
              </a:bodyPr>
              <a:lstStyle/>
              <a:p>
                <a:pPr>
                  <a:spcBef>
                    <a:spcPct val="20000"/>
                  </a:spcBef>
                  <a:buClr>
                    <a:srgbClr val="FF9900"/>
                  </a:buClr>
                  <a:buFont typeface="Wingdings" panose="05000000000000000000" pitchFamily="2" charset="2"/>
                  <a:buNone/>
                  <a:defRPr/>
                </a:pPr>
                <a:endParaRPr lang="zh-CN" altLang="en-US">
                  <a:effectLst>
                    <a:outerShdw blurRad="38100" dist="38100" dir="2700000" algn="tl">
                      <a:srgbClr val="000000">
                        <a:alpha val="43137"/>
                      </a:srgbClr>
                    </a:outerShdw>
                  </a:effectLst>
                </a:endParaRPr>
              </a:p>
            </p:txBody>
          </p:sp>
        </p:grpSp>
      </p:grpSp>
      <p:sp>
        <p:nvSpPr>
          <p:cNvPr id="22533" name="Rectangle 3"/>
          <p:cNvSpPr>
            <a:spLocks noGrp="1" noChangeArrowheads="1"/>
          </p:cNvSpPr>
          <p:nvPr>
            <p:ph type="body" idx="1"/>
          </p:nvPr>
        </p:nvSpPr>
        <p:spPr>
          <a:xfrm>
            <a:off x="323528" y="1109480"/>
            <a:ext cx="8532812" cy="1655762"/>
          </a:xfrm>
        </p:spPr>
        <p:txBody>
          <a:bodyPr/>
          <a:lstStyle/>
          <a:p>
            <a:pPr eaLnBrk="1" hangingPunct="1">
              <a:buFont typeface="Arial" panose="020B0604020202020204" pitchFamily="34" charset="0"/>
              <a:buChar char="•"/>
            </a:pPr>
            <a:r>
              <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rPr>
              <a:t>Linux 2.6</a:t>
            </a:r>
            <a:r>
              <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进程系统堆栈结构</a:t>
            </a:r>
            <a:endPar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进程描述符由</a:t>
            </a:r>
            <a:r>
              <a:rPr lang="en-US" altLang="zh-CN" dirty="0">
                <a:latin typeface="Times New Roman" panose="02020603050405020304" pitchFamily="18" charset="0"/>
                <a:ea typeface="楷体_GB2312" pitchFamily="49" charset="-122"/>
                <a:cs typeface="Times New Roman" panose="02020603050405020304" pitchFamily="18" charset="0"/>
              </a:rPr>
              <a:t>slab</a:t>
            </a:r>
            <a:r>
              <a:rPr lang="zh-CN" altLang="en-US" dirty="0">
                <a:latin typeface="Times New Roman" panose="02020603050405020304" pitchFamily="18" charset="0"/>
                <a:ea typeface="楷体_GB2312" pitchFamily="49" charset="-122"/>
                <a:cs typeface="Times New Roman" panose="02020603050405020304" pitchFamily="18" charset="0"/>
              </a:rPr>
              <a:t>分配器动态生成</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栈底用新结构</a:t>
            </a:r>
            <a:r>
              <a:rPr lang="en-US" altLang="zh-CN" dirty="0" err="1">
                <a:solidFill>
                  <a:srgbClr val="FF0000"/>
                </a:solidFill>
                <a:latin typeface="Times New Roman" panose="02020603050405020304" pitchFamily="18" charset="0"/>
                <a:ea typeface="楷体_GB2312" pitchFamily="49" charset="-122"/>
                <a:cs typeface="Times New Roman" panose="02020603050405020304" pitchFamily="18" charset="0"/>
              </a:rPr>
              <a:t>struct</a:t>
            </a:r>
            <a:r>
              <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dirty="0" err="1">
                <a:solidFill>
                  <a:srgbClr val="FF0000"/>
                </a:solidFill>
                <a:latin typeface="Times New Roman" panose="02020603050405020304" pitchFamily="18" charset="0"/>
                <a:ea typeface="楷体_GB2312" pitchFamily="49" charset="-122"/>
                <a:cs typeface="Times New Roman" panose="02020603050405020304" pitchFamily="18" charset="0"/>
              </a:rPr>
              <a:t>thread_info</a:t>
            </a:r>
            <a:r>
              <a:rPr lang="zh-CN" altLang="en-US" dirty="0">
                <a:latin typeface="Times New Roman" panose="02020603050405020304" pitchFamily="18" charset="0"/>
                <a:ea typeface="楷体_GB2312" pitchFamily="49" charset="-122"/>
                <a:cs typeface="Times New Roman" panose="02020603050405020304" pitchFamily="18" charset="0"/>
              </a:rPr>
              <a:t>，指向进程描述符</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
        <p:nvSpPr>
          <p:cNvPr id="18" name="Rectangle 2"/>
          <p:cNvSpPr txBox="1">
            <a:spLocks noChangeArrowheads="1"/>
          </p:cNvSpPr>
          <p:nvPr/>
        </p:nvSpPr>
        <p:spPr bwMode="black">
          <a:xfrm>
            <a:off x="611188" y="115888"/>
            <a:ext cx="76327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2pPr>
            <a:lvl3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3pPr>
            <a:lvl4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4pPr>
            <a:lvl5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5pPr>
            <a:lvl6pPr marL="4572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6pPr>
            <a:lvl7pPr marL="9144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7pPr>
            <a:lvl8pPr marL="13716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8pPr>
            <a:lvl9pPr marL="18288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9pPr>
          </a:lstStyle>
          <a:p>
            <a:pPr eaLnBrk="1" hangingPunct="1"/>
            <a:r>
              <a:rPr lang="en-US" altLang="zh-CN" kern="0" dirty="0">
                <a:latin typeface="Times New Roman" panose="02020603050405020304" pitchFamily="18" charset="0"/>
                <a:ea typeface="楷体_GB2312" pitchFamily="49" charset="-122"/>
                <a:cs typeface="Times New Roman" panose="02020603050405020304" pitchFamily="18" charset="0"/>
              </a:rPr>
              <a:t>2.4 Linux</a:t>
            </a:r>
            <a:r>
              <a:rPr lang="zh-CN" altLang="en-US" kern="0" dirty="0">
                <a:latin typeface="Times New Roman" panose="02020603050405020304" pitchFamily="18" charset="0"/>
                <a:ea typeface="楷体_GB2312" pitchFamily="49" charset="-122"/>
                <a:cs typeface="Times New Roman" panose="02020603050405020304" pitchFamily="18" charset="0"/>
              </a:rPr>
              <a:t>进程的系统堆栈</a:t>
            </a:r>
            <a:endParaRPr lang="zh-CN" altLang="en-US" kern="0"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ransition>
    <p:wedg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5" name="Picture 4" descr="359096_1248936228zOI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87624" y="964406"/>
            <a:ext cx="447675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6" name="Picture 5" descr="359096_1248936226g1cz"/>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9505" y="3182292"/>
            <a:ext cx="5410200" cy="323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2"/>
          <p:cNvSpPr txBox="1">
            <a:spLocks noChangeArrowheads="1"/>
          </p:cNvSpPr>
          <p:nvPr/>
        </p:nvSpPr>
        <p:spPr bwMode="black">
          <a:xfrm>
            <a:off x="611188" y="115888"/>
            <a:ext cx="76327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2pPr>
            <a:lvl3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3pPr>
            <a:lvl4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4pPr>
            <a:lvl5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5pPr>
            <a:lvl6pPr marL="4572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6pPr>
            <a:lvl7pPr marL="9144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7pPr>
            <a:lvl8pPr marL="13716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8pPr>
            <a:lvl9pPr marL="18288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9pPr>
          </a:lstStyle>
          <a:p>
            <a:pPr eaLnBrk="1" hangingPunct="1"/>
            <a:r>
              <a:rPr lang="en-US" altLang="zh-CN" kern="0" dirty="0">
                <a:latin typeface="Times New Roman" panose="02020603050405020304" pitchFamily="18" charset="0"/>
                <a:ea typeface="楷体_GB2312" pitchFamily="49" charset="-122"/>
                <a:cs typeface="Times New Roman" panose="02020603050405020304" pitchFamily="18" charset="0"/>
              </a:rPr>
              <a:t>2.4 Linux</a:t>
            </a:r>
            <a:r>
              <a:rPr lang="zh-CN" altLang="en-US" kern="0" dirty="0">
                <a:latin typeface="Times New Roman" panose="02020603050405020304" pitchFamily="18" charset="0"/>
                <a:ea typeface="楷体_GB2312" pitchFamily="49" charset="-122"/>
                <a:cs typeface="Times New Roman" panose="02020603050405020304" pitchFamily="18" charset="0"/>
              </a:rPr>
              <a:t>进程的系统堆栈</a:t>
            </a:r>
            <a:endParaRPr lang="zh-CN" altLang="en-US" kern="0" dirty="0">
              <a:latin typeface="Times New Roman" panose="02020603050405020304" pitchFamily="18" charset="0"/>
              <a:ea typeface="楷体_GB2312" pitchFamily="49" charset="-122"/>
              <a:cs typeface="Times New Roman" panose="02020603050405020304" pitchFamily="18" charset="0"/>
            </a:endParaRPr>
          </a:p>
        </p:txBody>
      </p:sp>
      <p:sp>
        <p:nvSpPr>
          <p:cNvPr id="4" name="矩形 3"/>
          <p:cNvSpPr/>
          <p:nvPr/>
        </p:nvSpPr>
        <p:spPr>
          <a:xfrm>
            <a:off x="3347864" y="6365689"/>
            <a:ext cx="2658100" cy="338554"/>
          </a:xfrm>
          <a:prstGeom prst="rect">
            <a:avLst/>
          </a:prstGeom>
        </p:spPr>
        <p:txBody>
          <a:bodyPr wrap="none">
            <a:spAutoFit/>
          </a:bodyPr>
          <a:lstStyle/>
          <a:p>
            <a:pPr eaLnBrk="1" hangingPunct="1"/>
            <a:r>
              <a:rPr lang="en-US" altLang="zh-CN" sz="1600" b="1" dirty="0">
                <a:solidFill>
                  <a:srgbClr val="008080"/>
                </a:solidFill>
                <a:ea typeface="楷体_GB2312" pitchFamily="49" charset="-122"/>
                <a:cs typeface="Times New Roman" panose="02020603050405020304" pitchFamily="18" charset="0"/>
              </a:rPr>
              <a:t>Linux 2.6</a:t>
            </a:r>
            <a:r>
              <a:rPr lang="zh-CN" altLang="en-US" sz="1600" b="1" dirty="0">
                <a:solidFill>
                  <a:srgbClr val="008080"/>
                </a:solidFill>
                <a:ea typeface="楷体_GB2312" pitchFamily="49" charset="-122"/>
                <a:cs typeface="Times New Roman" panose="02020603050405020304" pitchFamily="18" charset="0"/>
              </a:rPr>
              <a:t>进程系统堆栈结构</a:t>
            </a:r>
            <a:endParaRPr lang="en-US" altLang="zh-CN" sz="1600" b="1" dirty="0">
              <a:solidFill>
                <a:srgbClr val="008080"/>
              </a:solidFill>
              <a:ea typeface="楷体_GB2312" pitchFamily="49" charset="-122"/>
              <a:cs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type="body" idx="1"/>
          </p:nvPr>
        </p:nvSpPr>
        <p:spPr>
          <a:xfrm>
            <a:off x="173832" y="1183143"/>
            <a:ext cx="8507412" cy="1893221"/>
          </a:xfrm>
          <a:noFill/>
        </p:spPr>
        <p:txBody>
          <a:bodyPr/>
          <a:lstStyle/>
          <a:p>
            <a:pPr eaLnBrk="1" hangingPunct="1">
              <a:lnSpc>
                <a:spcPct val="110000"/>
              </a:lnSpc>
              <a:buFont typeface="Arial" panose="020B0604020202020204" pitchFamily="34" charset="0"/>
              <a:buChar char="•"/>
            </a:pPr>
            <a:r>
              <a:rPr lang="en-US" altLang="zh-CN" dirty="0">
                <a:solidFill>
                  <a:srgbClr val="FF0000"/>
                </a:solidFill>
                <a:ea typeface="楷体_GB2312" pitchFamily="49" charset="-122"/>
                <a:cs typeface="Times New Roman" panose="02020603050405020304" pitchFamily="18" charset="0"/>
              </a:rPr>
              <a:t>Linux 2.6</a:t>
            </a:r>
            <a:r>
              <a:rPr lang="zh-CN" altLang="en-US" dirty="0">
                <a:solidFill>
                  <a:srgbClr val="FF0000"/>
                </a:solidFill>
                <a:ea typeface="楷体_GB2312" pitchFamily="49" charset="-122"/>
                <a:cs typeface="Times New Roman" panose="02020603050405020304" pitchFamily="18" charset="0"/>
              </a:rPr>
              <a:t>进程系统堆栈结构</a:t>
            </a:r>
            <a:endParaRPr lang="en-US" altLang="zh-CN" dirty="0">
              <a:solidFill>
                <a:srgbClr val="FF0000"/>
              </a:solidFill>
              <a:ea typeface="楷体_GB2312" pitchFamily="49" charset="-122"/>
              <a:cs typeface="Times New Roman" panose="02020603050405020304" pitchFamily="18" charset="0"/>
            </a:endParaRPr>
          </a:p>
          <a:p>
            <a:pPr eaLnBrk="1" hangingPunct="1">
              <a:lnSpc>
                <a:spcPct val="110000"/>
              </a:lnSpc>
              <a:buFont typeface="Arial" panose="020B0604020202020204" pitchFamily="34" charset="0"/>
              <a:buChar char="•"/>
            </a:pPr>
            <a:r>
              <a:rPr lang="en-US" altLang="zh-CN" dirty="0">
                <a:latin typeface="Times New Roman" panose="02020603050405020304" pitchFamily="18" charset="0"/>
                <a:ea typeface="楷体_GB2312" pitchFamily="49" charset="-122"/>
                <a:cs typeface="Times New Roman" panose="02020603050405020304" pitchFamily="18" charset="0"/>
              </a:rPr>
              <a:t>Linux 2.6</a:t>
            </a:r>
            <a:r>
              <a:rPr lang="zh-CN" altLang="en-US" dirty="0">
                <a:latin typeface="Times New Roman" panose="02020603050405020304" pitchFamily="18" charset="0"/>
                <a:ea typeface="楷体_GB2312" pitchFamily="49" charset="-122"/>
                <a:cs typeface="Times New Roman" panose="02020603050405020304" pitchFamily="18" charset="0"/>
              </a:rPr>
              <a:t>版本的内核栈底放的是</a:t>
            </a:r>
            <a:r>
              <a:rPr lang="en-US" altLang="zh-CN" dirty="0" err="1">
                <a:latin typeface="Times New Roman" panose="02020603050405020304" pitchFamily="18" charset="0"/>
                <a:ea typeface="楷体_GB2312" pitchFamily="49" charset="-122"/>
                <a:cs typeface="Times New Roman" panose="02020603050405020304" pitchFamily="18" charset="0"/>
              </a:rPr>
              <a:t>thread_info</a:t>
            </a:r>
            <a:r>
              <a:rPr lang="zh-CN" altLang="en-US" dirty="0">
                <a:latin typeface="Times New Roman" panose="02020603050405020304" pitchFamily="18" charset="0"/>
                <a:ea typeface="楷体_GB2312" pitchFamily="49" charset="-122"/>
                <a:cs typeface="Times New Roman" panose="02020603050405020304" pitchFamily="18" charset="0"/>
              </a:rPr>
              <a:t>结构，通过</a:t>
            </a:r>
            <a:r>
              <a:rPr lang="en-US" altLang="zh-CN" dirty="0" err="1">
                <a:latin typeface="Times New Roman" panose="02020603050405020304" pitchFamily="18" charset="0"/>
                <a:ea typeface="楷体_GB2312" pitchFamily="49" charset="-122"/>
                <a:cs typeface="Times New Roman" panose="02020603050405020304" pitchFamily="18" charset="0"/>
              </a:rPr>
              <a:t>thread_info</a:t>
            </a:r>
            <a:r>
              <a:rPr lang="zh-CN" altLang="en-US" dirty="0">
                <a:latin typeface="Times New Roman" panose="02020603050405020304" pitchFamily="18" charset="0"/>
                <a:ea typeface="楷体_GB2312" pitchFamily="49" charset="-122"/>
                <a:cs typeface="Times New Roman" panose="02020603050405020304" pitchFamily="18" charset="0"/>
              </a:rPr>
              <a:t>里的</a:t>
            </a:r>
            <a:r>
              <a:rPr lang="en-US" altLang="zh-CN" dirty="0">
                <a:latin typeface="Times New Roman" panose="02020603050405020304" pitchFamily="18" charset="0"/>
                <a:ea typeface="楷体_GB2312" pitchFamily="49" charset="-122"/>
                <a:cs typeface="Times New Roman" panose="02020603050405020304" pitchFamily="18" charset="0"/>
              </a:rPr>
              <a:t>task</a:t>
            </a:r>
            <a:r>
              <a:rPr lang="zh-CN" altLang="en-US" dirty="0">
                <a:latin typeface="Times New Roman" panose="02020603050405020304" pitchFamily="18" charset="0"/>
                <a:ea typeface="楷体_GB2312" pitchFamily="49" charset="-122"/>
                <a:cs typeface="Times New Roman" panose="02020603050405020304" pitchFamily="18" charset="0"/>
              </a:rPr>
              <a:t>指针可以找到进程的</a:t>
            </a:r>
            <a:r>
              <a:rPr lang="en-US" altLang="zh-CN" dirty="0" err="1">
                <a:latin typeface="Times New Roman" panose="02020603050405020304" pitchFamily="18" charset="0"/>
                <a:ea typeface="楷体_GB2312" pitchFamily="49" charset="-122"/>
                <a:cs typeface="Times New Roman" panose="02020603050405020304" pitchFamily="18" charset="0"/>
              </a:rPr>
              <a:t>task_struct</a:t>
            </a:r>
            <a:r>
              <a:rPr lang="en-US" altLang="zh-CN" dirty="0">
                <a:latin typeface="Times New Roman" panose="02020603050405020304" pitchFamily="18" charset="0"/>
                <a:ea typeface="楷体_GB2312" pitchFamily="49" charset="-122"/>
                <a:cs typeface="Times New Roman" panose="02020603050405020304" pitchFamily="18" charset="0"/>
              </a:rPr>
              <a:t> </a:t>
            </a:r>
            <a:r>
              <a:rPr lang="zh-CN" altLang="en-US" dirty="0">
                <a:latin typeface="Times New Roman" panose="02020603050405020304" pitchFamily="18" charset="0"/>
                <a:ea typeface="楷体_GB2312" pitchFamily="49" charset="-122"/>
                <a:cs typeface="Times New Roman" panose="02020603050405020304" pitchFamily="18" charset="0"/>
              </a:rPr>
              <a:t>。定义内核堆栈时使用的联合体：</a:t>
            </a:r>
            <a:br>
              <a:rPr lang="zh-CN" altLang="en-US" dirty="0">
                <a:latin typeface="Times New Roman" panose="02020603050405020304" pitchFamily="18" charset="0"/>
                <a:ea typeface="楷体_GB2312" pitchFamily="49" charset="-122"/>
                <a:cs typeface="Times New Roman" panose="02020603050405020304" pitchFamily="18" charset="0"/>
              </a:rPr>
            </a:br>
            <a:endParaRPr lang="en-US" altLang="zh-CN" dirty="0">
              <a:latin typeface="Times New Roman" panose="02020603050405020304" pitchFamily="18" charset="0"/>
              <a:ea typeface="楷体_GB2312" pitchFamily="49" charset="-122"/>
              <a:cs typeface="Times New Roman" panose="02020603050405020304" pitchFamily="18" charset="0"/>
            </a:endParaRPr>
          </a:p>
        </p:txBody>
      </p:sp>
      <p:sp>
        <p:nvSpPr>
          <p:cNvPr id="6" name="Rectangle 2"/>
          <p:cNvSpPr txBox="1">
            <a:spLocks noChangeArrowheads="1"/>
          </p:cNvSpPr>
          <p:nvPr/>
        </p:nvSpPr>
        <p:spPr bwMode="black">
          <a:xfrm>
            <a:off x="611188" y="115888"/>
            <a:ext cx="76327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2pPr>
            <a:lvl3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3pPr>
            <a:lvl4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4pPr>
            <a:lvl5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5pPr>
            <a:lvl6pPr marL="4572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6pPr>
            <a:lvl7pPr marL="9144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7pPr>
            <a:lvl8pPr marL="13716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8pPr>
            <a:lvl9pPr marL="18288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9pPr>
          </a:lstStyle>
          <a:p>
            <a:pPr eaLnBrk="1" hangingPunct="1"/>
            <a:r>
              <a:rPr lang="en-US" altLang="zh-CN" kern="0" dirty="0">
                <a:latin typeface="Times New Roman" panose="02020603050405020304" pitchFamily="18" charset="0"/>
                <a:ea typeface="楷体_GB2312" pitchFamily="49" charset="-122"/>
                <a:cs typeface="Times New Roman" panose="02020603050405020304" pitchFamily="18" charset="0"/>
              </a:rPr>
              <a:t>2.4 Linux</a:t>
            </a:r>
            <a:r>
              <a:rPr lang="zh-CN" altLang="en-US" kern="0" dirty="0">
                <a:latin typeface="Times New Roman" panose="02020603050405020304" pitchFamily="18" charset="0"/>
                <a:ea typeface="楷体_GB2312" pitchFamily="49" charset="-122"/>
                <a:cs typeface="Times New Roman" panose="02020603050405020304" pitchFamily="18" charset="0"/>
              </a:rPr>
              <a:t>进程的系统堆栈</a:t>
            </a:r>
            <a:endParaRPr lang="zh-CN" altLang="en-US" kern="0" dirty="0">
              <a:latin typeface="Times New Roman" panose="02020603050405020304" pitchFamily="18" charset="0"/>
              <a:ea typeface="楷体_GB2312" pitchFamily="49" charset="-122"/>
              <a:cs typeface="Times New Roman" panose="02020603050405020304" pitchFamily="18" charset="0"/>
            </a:endParaRPr>
          </a:p>
        </p:txBody>
      </p:sp>
      <p:sp>
        <p:nvSpPr>
          <p:cNvPr id="3" name="矩形 2"/>
          <p:cNvSpPr/>
          <p:nvPr/>
        </p:nvSpPr>
        <p:spPr>
          <a:xfrm>
            <a:off x="1061418" y="3655823"/>
            <a:ext cx="7399014" cy="1717393"/>
          </a:xfrm>
          <a:prstGeom prst="rect">
            <a:avLst/>
          </a:prstGeom>
          <a:solidFill>
            <a:schemeClr val="bg2"/>
          </a:solidFill>
        </p:spPr>
        <p:txBody>
          <a:bodyPr wrap="square">
            <a:spAutoFit/>
          </a:bodyPr>
          <a:lstStyle/>
          <a:p>
            <a:pPr eaLnBrk="1" hangingPunct="1">
              <a:lnSpc>
                <a:spcPct val="110000"/>
              </a:lnSpc>
            </a:pPr>
            <a:r>
              <a:rPr lang="en-US" altLang="zh-CN" dirty="0">
                <a:solidFill>
                  <a:schemeClr val="accent6">
                    <a:lumMod val="75000"/>
                  </a:schemeClr>
                </a:solidFill>
                <a:ea typeface="楷体_GB2312" pitchFamily="49" charset="-122"/>
                <a:cs typeface="Times New Roman" panose="02020603050405020304" pitchFamily="18" charset="0"/>
              </a:rPr>
              <a:t>union</a:t>
            </a:r>
            <a:r>
              <a:rPr lang="en-US" altLang="zh-CN" dirty="0">
                <a:ea typeface="楷体_GB2312" pitchFamily="49" charset="-122"/>
                <a:cs typeface="Times New Roman" panose="02020603050405020304" pitchFamily="18" charset="0"/>
              </a:rPr>
              <a:t> </a:t>
            </a:r>
            <a:r>
              <a:rPr lang="en-US" altLang="zh-CN" dirty="0" err="1">
                <a:solidFill>
                  <a:srgbClr val="FF0000"/>
                </a:solidFill>
                <a:ea typeface="楷体_GB2312" pitchFamily="49" charset="-122"/>
                <a:cs typeface="Times New Roman" panose="02020603050405020304" pitchFamily="18" charset="0"/>
              </a:rPr>
              <a:t>thread_union</a:t>
            </a:r>
            <a:r>
              <a:rPr lang="en-US" altLang="zh-CN" dirty="0">
                <a:ea typeface="楷体_GB2312" pitchFamily="49" charset="-122"/>
                <a:cs typeface="Times New Roman" panose="02020603050405020304" pitchFamily="18" charset="0"/>
              </a:rPr>
              <a:t> {</a:t>
            </a:r>
            <a:br>
              <a:rPr lang="en-US" altLang="zh-CN" dirty="0">
                <a:ea typeface="楷体_GB2312" pitchFamily="49" charset="-122"/>
                <a:cs typeface="Times New Roman" panose="02020603050405020304" pitchFamily="18" charset="0"/>
              </a:rPr>
            </a:br>
            <a:r>
              <a:rPr lang="en-US" altLang="zh-CN" dirty="0">
                <a:ea typeface="楷体_GB2312" pitchFamily="49" charset="-122"/>
                <a:cs typeface="Times New Roman" panose="02020603050405020304" pitchFamily="18" charset="0"/>
              </a:rPr>
              <a:t>   </a:t>
            </a:r>
            <a:r>
              <a:rPr lang="en-US" altLang="zh-CN" dirty="0" err="1">
                <a:solidFill>
                  <a:schemeClr val="accent6">
                    <a:lumMod val="75000"/>
                  </a:schemeClr>
                </a:solidFill>
                <a:ea typeface="楷体_GB2312" pitchFamily="49" charset="-122"/>
                <a:cs typeface="Times New Roman" panose="02020603050405020304" pitchFamily="18" charset="0"/>
              </a:rPr>
              <a:t>struct</a:t>
            </a:r>
            <a:r>
              <a:rPr lang="en-US" altLang="zh-CN" dirty="0">
                <a:solidFill>
                  <a:schemeClr val="accent6">
                    <a:lumMod val="75000"/>
                  </a:schemeClr>
                </a:solidFill>
                <a:ea typeface="楷体_GB2312" pitchFamily="49" charset="-122"/>
                <a:cs typeface="Times New Roman" panose="02020603050405020304" pitchFamily="18" charset="0"/>
              </a:rPr>
              <a:t> </a:t>
            </a:r>
            <a:r>
              <a:rPr lang="en-US" altLang="zh-CN" dirty="0" err="1">
                <a:solidFill>
                  <a:schemeClr val="accent6">
                    <a:lumMod val="75000"/>
                  </a:schemeClr>
                </a:solidFill>
                <a:ea typeface="楷体_GB2312" pitchFamily="49" charset="-122"/>
                <a:cs typeface="Times New Roman" panose="02020603050405020304" pitchFamily="18" charset="0"/>
              </a:rPr>
              <a:t>thread_info</a:t>
            </a:r>
            <a:r>
              <a:rPr lang="en-US" altLang="zh-CN" dirty="0">
                <a:solidFill>
                  <a:schemeClr val="accent6">
                    <a:lumMod val="75000"/>
                  </a:schemeClr>
                </a:solidFill>
                <a:ea typeface="楷体_GB2312" pitchFamily="49" charset="-122"/>
                <a:cs typeface="Times New Roman" panose="02020603050405020304" pitchFamily="18" charset="0"/>
              </a:rPr>
              <a:t> </a:t>
            </a:r>
            <a:r>
              <a:rPr lang="en-US" altLang="zh-CN" dirty="0" err="1">
                <a:solidFill>
                  <a:schemeClr val="accent6">
                    <a:lumMod val="75000"/>
                  </a:schemeClr>
                </a:solidFill>
                <a:ea typeface="楷体_GB2312" pitchFamily="49" charset="-122"/>
                <a:cs typeface="Times New Roman" panose="02020603050405020304" pitchFamily="18" charset="0"/>
              </a:rPr>
              <a:t>thread_info</a:t>
            </a:r>
            <a:r>
              <a:rPr lang="en-US" altLang="zh-CN" dirty="0">
                <a:solidFill>
                  <a:schemeClr val="accent6">
                    <a:lumMod val="75000"/>
                  </a:schemeClr>
                </a:solidFill>
                <a:ea typeface="楷体_GB2312" pitchFamily="49" charset="-122"/>
                <a:cs typeface="Times New Roman" panose="02020603050405020304" pitchFamily="18" charset="0"/>
              </a:rPr>
              <a:t>;</a:t>
            </a:r>
            <a:br>
              <a:rPr lang="en-US" altLang="zh-CN" dirty="0">
                <a:solidFill>
                  <a:schemeClr val="accent6">
                    <a:lumMod val="75000"/>
                  </a:schemeClr>
                </a:solidFill>
                <a:ea typeface="楷体_GB2312" pitchFamily="49" charset="-122"/>
                <a:cs typeface="Times New Roman" panose="02020603050405020304" pitchFamily="18" charset="0"/>
              </a:rPr>
            </a:br>
            <a:r>
              <a:rPr lang="en-US" altLang="zh-CN" dirty="0">
                <a:solidFill>
                  <a:schemeClr val="accent6">
                    <a:lumMod val="75000"/>
                  </a:schemeClr>
                </a:solidFill>
                <a:ea typeface="楷体_GB2312" pitchFamily="49" charset="-122"/>
                <a:cs typeface="Times New Roman" panose="02020603050405020304" pitchFamily="18" charset="0"/>
              </a:rPr>
              <a:t>   unsigned long stack[THREAD_SIZE/</a:t>
            </a:r>
            <a:r>
              <a:rPr lang="en-US" altLang="zh-CN" dirty="0" err="1">
                <a:solidFill>
                  <a:schemeClr val="accent6">
                    <a:lumMod val="75000"/>
                  </a:schemeClr>
                </a:solidFill>
                <a:ea typeface="楷体_GB2312" pitchFamily="49" charset="-122"/>
                <a:cs typeface="Times New Roman" panose="02020603050405020304" pitchFamily="18" charset="0"/>
              </a:rPr>
              <a:t>sizeof</a:t>
            </a:r>
            <a:r>
              <a:rPr lang="en-US" altLang="zh-CN" dirty="0">
                <a:solidFill>
                  <a:schemeClr val="accent6">
                    <a:lumMod val="75000"/>
                  </a:schemeClr>
                </a:solidFill>
                <a:ea typeface="楷体_GB2312" pitchFamily="49" charset="-122"/>
                <a:cs typeface="Times New Roman" panose="02020603050405020304" pitchFamily="18" charset="0"/>
              </a:rPr>
              <a:t>(long)];};</a:t>
            </a:r>
            <a:br>
              <a:rPr lang="en-US" altLang="zh-CN" dirty="0">
                <a:solidFill>
                  <a:schemeClr val="accent6">
                    <a:lumMod val="75000"/>
                  </a:schemeClr>
                </a:solidFill>
                <a:ea typeface="楷体_GB2312" pitchFamily="49" charset="-122"/>
                <a:cs typeface="Times New Roman" panose="02020603050405020304" pitchFamily="18" charset="0"/>
              </a:rPr>
            </a:br>
            <a:endParaRPr lang="zh-CN" altLang="en-US" dirty="0">
              <a:solidFill>
                <a:schemeClr val="accent6">
                  <a:lumMod val="75000"/>
                </a:schemeClr>
              </a:solidFill>
              <a:ea typeface="楷体_GB2312" pitchFamily="49" charset="-122"/>
              <a:cs typeface="Times New Roman" panose="0202060305040502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a:xfrm>
            <a:off x="281782" y="1026492"/>
            <a:ext cx="8291512" cy="5272087"/>
          </a:xfrm>
        </p:spPr>
        <p:txBody>
          <a:bodyPr/>
          <a:lstStyle/>
          <a:p>
            <a:pPr eaLnBrk="1" hangingPunct="1">
              <a:buFont typeface="Arial" panose="020B0604020202020204" pitchFamily="34" charset="0"/>
              <a:buChar char="•"/>
            </a:pPr>
            <a:r>
              <a:rPr lang="en-US" altLang="zh-CN" dirty="0">
                <a:solidFill>
                  <a:srgbClr val="FF0000"/>
                </a:solidFill>
                <a:ea typeface="楷体_GB2312" pitchFamily="49" charset="-122"/>
                <a:cs typeface="Times New Roman" panose="02020603050405020304" pitchFamily="18" charset="0"/>
              </a:rPr>
              <a:t>Linux 2.6</a:t>
            </a:r>
            <a:r>
              <a:rPr lang="zh-CN" altLang="en-US" dirty="0">
                <a:solidFill>
                  <a:srgbClr val="FF0000"/>
                </a:solidFill>
                <a:ea typeface="楷体_GB2312" pitchFamily="49" charset="-122"/>
                <a:cs typeface="Times New Roman" panose="02020603050405020304" pitchFamily="18" charset="0"/>
              </a:rPr>
              <a:t>进程系统堆栈结构</a:t>
            </a:r>
            <a:endParaRPr lang="en-US" altLang="zh-CN" dirty="0">
              <a:solidFill>
                <a:srgbClr val="FF0000"/>
              </a:solidFill>
              <a:ea typeface="楷体_GB2312" pitchFamily="49" charset="-122"/>
              <a:cs typeface="Times New Roman" panose="02020603050405020304" pitchFamily="18" charset="0"/>
            </a:endParaRPr>
          </a:p>
          <a:p>
            <a:pPr eaLnBrk="1" hangingPunct="1">
              <a:buFont typeface="Arial" panose="020B0604020202020204" pitchFamily="34" charset="0"/>
              <a:buChar char="•"/>
            </a:pPr>
            <a:r>
              <a:rPr lang="en-US" altLang="zh-CN" dirty="0" err="1">
                <a:latin typeface="Times New Roman" panose="02020603050405020304" pitchFamily="18" charset="0"/>
                <a:ea typeface="楷体_GB2312" pitchFamily="49" charset="-122"/>
                <a:cs typeface="Times New Roman" panose="02020603050405020304" pitchFamily="18" charset="0"/>
              </a:rPr>
              <a:t>thread_info</a:t>
            </a:r>
            <a:r>
              <a:rPr lang="zh-CN" altLang="en-US" dirty="0">
                <a:latin typeface="Times New Roman" panose="02020603050405020304" pitchFamily="18" charset="0"/>
                <a:ea typeface="楷体_GB2312" pitchFamily="49" charset="-122"/>
                <a:cs typeface="Times New Roman" panose="02020603050405020304" pitchFamily="18" charset="0"/>
              </a:rPr>
              <a:t>结构定义</a:t>
            </a:r>
            <a:r>
              <a:rPr lang="en-US" altLang="zh-CN" dirty="0">
                <a:latin typeface="Times New Roman" panose="02020603050405020304" pitchFamily="18" charset="0"/>
                <a:ea typeface="楷体_GB2312" pitchFamily="49" charset="-122"/>
                <a:cs typeface="Times New Roman" panose="02020603050405020304" pitchFamily="18" charset="0"/>
              </a:rPr>
              <a:t>[</a:t>
            </a:r>
            <a:r>
              <a:rPr lang="en-US" altLang="zh-CN" sz="2400" dirty="0">
                <a:solidFill>
                  <a:schemeClr val="tx2"/>
                </a:solidFill>
                <a:latin typeface="Times New Roman" panose="02020603050405020304" pitchFamily="18" charset="0"/>
                <a:ea typeface="楷体_GB2312" pitchFamily="49" charset="-122"/>
                <a:cs typeface="Times New Roman" panose="02020603050405020304" pitchFamily="18" charset="0"/>
              </a:rPr>
              <a:t>include/asm-x86/thread_info_32.h</a:t>
            </a:r>
            <a:r>
              <a:rPr lang="en-US" altLang="zh-CN" dirty="0">
                <a:latin typeface="Times New Roman" panose="02020603050405020304" pitchFamily="18" charset="0"/>
                <a:ea typeface="楷体_GB2312" pitchFamily="49" charset="-122"/>
                <a:cs typeface="Times New Roman" panose="02020603050405020304" pitchFamily="18" charset="0"/>
              </a:rPr>
              <a:t>]</a:t>
            </a:r>
            <a:endParaRPr lang="en-US" altLang="zh-CN" dirty="0">
              <a:latin typeface="Times New Roman" panose="02020603050405020304" pitchFamily="18" charset="0"/>
              <a:ea typeface="楷体_GB2312" pitchFamily="49" charset="-122"/>
              <a:cs typeface="Times New Roman" panose="02020603050405020304" pitchFamily="18" charset="0"/>
            </a:endParaRPr>
          </a:p>
          <a:p>
            <a:pPr lvl="1" eaLnBrk="1" hangingPunct="1"/>
            <a:r>
              <a:rPr lang="en-US" altLang="zh-CN" dirty="0" err="1">
                <a:solidFill>
                  <a:srgbClr val="FF0000"/>
                </a:solidFill>
                <a:latin typeface="Times New Roman" panose="02020603050405020304" pitchFamily="18" charset="0"/>
                <a:ea typeface="楷体_GB2312" pitchFamily="49" charset="-122"/>
                <a:cs typeface="Times New Roman" panose="02020603050405020304" pitchFamily="18" charset="0"/>
              </a:rPr>
              <a:t>thread_info</a:t>
            </a:r>
            <a:r>
              <a:rPr lang="zh-CN" altLang="en-US" dirty="0">
                <a:latin typeface="Times New Roman" panose="02020603050405020304" pitchFamily="18" charset="0"/>
                <a:ea typeface="楷体_GB2312" pitchFamily="49" charset="-122"/>
                <a:cs typeface="Times New Roman" panose="02020603050405020304" pitchFamily="18" charset="0"/>
              </a:rPr>
              <a:t>（</a:t>
            </a:r>
            <a:r>
              <a:rPr lang="en-US" altLang="zh-CN" dirty="0">
                <a:latin typeface="Times New Roman" panose="02020603050405020304" pitchFamily="18" charset="0"/>
                <a:ea typeface="楷体_GB2312" pitchFamily="49" charset="-122"/>
                <a:cs typeface="Times New Roman" panose="02020603050405020304" pitchFamily="18" charset="0"/>
              </a:rPr>
              <a:t>52</a:t>
            </a:r>
            <a:r>
              <a:rPr lang="zh-CN" altLang="en-US" dirty="0">
                <a:latin typeface="Times New Roman" panose="02020603050405020304" pitchFamily="18" charset="0"/>
                <a:ea typeface="楷体_GB2312" pitchFamily="49" charset="-122"/>
                <a:cs typeface="Times New Roman" panose="02020603050405020304" pitchFamily="18" charset="0"/>
              </a:rPr>
              <a:t>个字节）</a:t>
            </a: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endParaRPr lang="zh-CN" altLang="en-US" dirty="0">
              <a:latin typeface="Times New Roman" panose="02020603050405020304" pitchFamily="18" charset="0"/>
              <a:ea typeface="楷体_GB2312" pitchFamily="49" charset="-122"/>
              <a:cs typeface="Times New Roman" panose="02020603050405020304" pitchFamily="18" charset="0"/>
            </a:endParaRPr>
          </a:p>
        </p:txBody>
      </p:sp>
      <p:pic>
        <p:nvPicPr>
          <p:cNvPr id="25603"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3568" y="2671936"/>
            <a:ext cx="7777162"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Oval 7"/>
          <p:cNvSpPr>
            <a:spLocks noChangeArrowheads="1"/>
          </p:cNvSpPr>
          <p:nvPr/>
        </p:nvSpPr>
        <p:spPr bwMode="auto">
          <a:xfrm>
            <a:off x="924868" y="2983086"/>
            <a:ext cx="3516312" cy="433388"/>
          </a:xfrm>
          <a:prstGeom prst="ellipse">
            <a:avLst/>
          </a:prstGeom>
          <a:noFill/>
          <a:ln w="28575">
            <a:solidFill>
              <a:srgbClr val="FF0000"/>
            </a:solidFill>
            <a:round/>
          </a:ln>
          <a:effectLst/>
        </p:spPr>
        <p:txBody>
          <a:bodyPr anchor="ctr">
            <a:spAutoFit/>
          </a:bodyPr>
          <a:lstStyle/>
          <a:p>
            <a:pPr>
              <a:spcBef>
                <a:spcPct val="20000"/>
              </a:spcBef>
              <a:buClr>
                <a:srgbClr val="FF9900"/>
              </a:buClr>
              <a:buFont typeface="Wingdings" panose="05000000000000000000" pitchFamily="2" charset="2"/>
              <a:buNone/>
              <a:defRPr/>
            </a:pPr>
            <a:endParaRPr lang="zh-CN" altLang="en-US">
              <a:effectLst>
                <a:outerShdw blurRad="38100" dist="38100" dir="2700000" algn="tl">
                  <a:srgbClr val="000000">
                    <a:alpha val="43137"/>
                  </a:srgbClr>
                </a:outerShdw>
              </a:effectLst>
            </a:endParaRPr>
          </a:p>
        </p:txBody>
      </p:sp>
      <p:sp>
        <p:nvSpPr>
          <p:cNvPr id="9" name="Rectangle 2"/>
          <p:cNvSpPr txBox="1">
            <a:spLocks noChangeArrowheads="1"/>
          </p:cNvSpPr>
          <p:nvPr/>
        </p:nvSpPr>
        <p:spPr bwMode="black">
          <a:xfrm>
            <a:off x="611188" y="115888"/>
            <a:ext cx="76327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2pPr>
            <a:lvl3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3pPr>
            <a:lvl4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4pPr>
            <a:lvl5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5pPr>
            <a:lvl6pPr marL="4572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6pPr>
            <a:lvl7pPr marL="9144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7pPr>
            <a:lvl8pPr marL="13716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8pPr>
            <a:lvl9pPr marL="18288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9pPr>
          </a:lstStyle>
          <a:p>
            <a:pPr eaLnBrk="1" hangingPunct="1"/>
            <a:r>
              <a:rPr lang="en-US" altLang="zh-CN" kern="0" dirty="0">
                <a:latin typeface="Times New Roman" panose="02020603050405020304" pitchFamily="18" charset="0"/>
                <a:ea typeface="楷体_GB2312" pitchFamily="49" charset="-122"/>
                <a:cs typeface="Times New Roman" panose="02020603050405020304" pitchFamily="18" charset="0"/>
              </a:rPr>
              <a:t>2.4 Linux</a:t>
            </a:r>
            <a:r>
              <a:rPr lang="zh-CN" altLang="en-US" kern="0" dirty="0">
                <a:latin typeface="Times New Roman" panose="02020603050405020304" pitchFamily="18" charset="0"/>
                <a:ea typeface="楷体_GB2312" pitchFamily="49" charset="-122"/>
                <a:cs typeface="Times New Roman" panose="02020603050405020304" pitchFamily="18" charset="0"/>
              </a:rPr>
              <a:t>进程的系统堆栈</a:t>
            </a:r>
            <a:endParaRPr lang="zh-CN" altLang="en-US" kern="0"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ransition>
    <p:wedg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3"/>
          <p:cNvSpPr>
            <a:spLocks noGrp="1" noChangeArrowheads="1"/>
          </p:cNvSpPr>
          <p:nvPr>
            <p:ph type="body" idx="1"/>
          </p:nvPr>
        </p:nvSpPr>
        <p:spPr>
          <a:xfrm>
            <a:off x="251520" y="1145667"/>
            <a:ext cx="8970738" cy="5272087"/>
          </a:xfrm>
        </p:spPr>
        <p:txBody>
          <a:bodyPr/>
          <a:lstStyle/>
          <a:p>
            <a:pPr eaLnBrk="1" hangingPunct="1">
              <a:buFont typeface="Arial" panose="020B0604020202020204" pitchFamily="34" charset="0"/>
              <a:buChar char="•"/>
            </a:pPr>
            <a:r>
              <a:rPr lang="en-US" altLang="zh-CN" dirty="0">
                <a:solidFill>
                  <a:srgbClr val="FF0000"/>
                </a:solidFill>
                <a:ea typeface="楷体_GB2312" pitchFamily="49" charset="-122"/>
                <a:cs typeface="Times New Roman" panose="02020603050405020304" pitchFamily="18" charset="0"/>
              </a:rPr>
              <a:t>Linux 2.6</a:t>
            </a:r>
            <a:r>
              <a:rPr lang="zh-CN" altLang="en-US" dirty="0">
                <a:solidFill>
                  <a:srgbClr val="FF0000"/>
                </a:solidFill>
                <a:ea typeface="楷体_GB2312" pitchFamily="49" charset="-122"/>
                <a:cs typeface="Times New Roman" panose="02020603050405020304" pitchFamily="18" charset="0"/>
              </a:rPr>
              <a:t>进程系统堆栈结构</a:t>
            </a:r>
            <a:endParaRPr lang="en-US" altLang="zh-CN" dirty="0">
              <a:solidFill>
                <a:srgbClr val="FF0000"/>
              </a:solidFill>
              <a:ea typeface="楷体_GB2312" pitchFamily="49" charset="-122"/>
              <a:cs typeface="Times New Roman" panose="02020603050405020304" pitchFamily="18" charset="0"/>
            </a:endParaRPr>
          </a:p>
          <a:p>
            <a:pPr eaLnBrk="1" hangingPunct="1">
              <a:buFont typeface="Arial" panose="020B0604020202020204" pitchFamily="34" charset="0"/>
              <a:buChar char="•"/>
            </a:pPr>
            <a:r>
              <a:rPr lang="en-US" altLang="zh-CN" dirty="0" err="1">
                <a:latin typeface="Times New Roman" panose="02020603050405020304" pitchFamily="18" charset="0"/>
                <a:ea typeface="楷体_GB2312" pitchFamily="49" charset="-122"/>
                <a:cs typeface="Times New Roman" panose="02020603050405020304" pitchFamily="18" charset="0"/>
              </a:rPr>
              <a:t>thread_uion</a:t>
            </a:r>
            <a:r>
              <a:rPr lang="zh-CN" altLang="en-US" dirty="0">
                <a:latin typeface="Times New Roman" panose="02020603050405020304" pitchFamily="18" charset="0"/>
                <a:ea typeface="楷体_GB2312" pitchFamily="49" charset="-122"/>
                <a:cs typeface="Times New Roman" panose="02020603050405020304" pitchFamily="18" charset="0"/>
              </a:rPr>
              <a:t>定义</a:t>
            </a:r>
            <a:r>
              <a:rPr lang="en-US" altLang="zh-CN" dirty="0">
                <a:latin typeface="Times New Roman" panose="02020603050405020304" pitchFamily="18" charset="0"/>
                <a:ea typeface="楷体_GB2312" pitchFamily="49" charset="-122"/>
                <a:cs typeface="Times New Roman" panose="02020603050405020304" pitchFamily="18" charset="0"/>
              </a:rPr>
              <a:t>[</a:t>
            </a:r>
            <a:r>
              <a:rPr lang="en-US" altLang="zh-CN" sz="2400" dirty="0">
                <a:solidFill>
                  <a:schemeClr val="tx2"/>
                </a:solidFill>
                <a:latin typeface="Times New Roman" panose="02020603050405020304" pitchFamily="18" charset="0"/>
                <a:ea typeface="楷体_GB2312" pitchFamily="49" charset="-122"/>
                <a:cs typeface="Times New Roman" panose="02020603050405020304" pitchFamily="18" charset="0"/>
              </a:rPr>
              <a:t>/include/</a:t>
            </a:r>
            <a:r>
              <a:rPr lang="en-US" altLang="zh-CN" sz="2400" dirty="0" err="1">
                <a:solidFill>
                  <a:schemeClr val="tx2"/>
                </a:solidFill>
                <a:latin typeface="Times New Roman" panose="02020603050405020304" pitchFamily="18" charset="0"/>
                <a:ea typeface="楷体_GB2312" pitchFamily="49" charset="-122"/>
                <a:cs typeface="Times New Roman" panose="02020603050405020304" pitchFamily="18" charset="0"/>
              </a:rPr>
              <a:t>linux</a:t>
            </a:r>
            <a:r>
              <a:rPr lang="en-US" altLang="zh-CN" sz="2400" dirty="0">
                <a:solidFill>
                  <a:schemeClr val="tx2"/>
                </a:solidFill>
                <a:latin typeface="Times New Roman" panose="02020603050405020304" pitchFamily="18" charset="0"/>
                <a:ea typeface="楷体_GB2312" pitchFamily="49" charset="-122"/>
                <a:cs typeface="Times New Roman" panose="02020603050405020304" pitchFamily="18" charset="0"/>
              </a:rPr>
              <a:t>/</a:t>
            </a:r>
            <a:r>
              <a:rPr lang="en-US" altLang="zh-CN" sz="2400" dirty="0" err="1">
                <a:solidFill>
                  <a:schemeClr val="tx2"/>
                </a:solidFill>
                <a:latin typeface="Times New Roman" panose="02020603050405020304" pitchFamily="18" charset="0"/>
                <a:ea typeface="楷体_GB2312" pitchFamily="49" charset="-122"/>
                <a:cs typeface="Times New Roman" panose="02020603050405020304" pitchFamily="18" charset="0"/>
              </a:rPr>
              <a:t>sched.h</a:t>
            </a:r>
            <a:r>
              <a:rPr lang="en-US" altLang="zh-CN" dirty="0">
                <a:latin typeface="Times New Roman" panose="02020603050405020304" pitchFamily="18" charset="0"/>
                <a:ea typeface="楷体_GB2312" pitchFamily="49" charset="-122"/>
                <a:cs typeface="Times New Roman" panose="02020603050405020304" pitchFamily="18" charset="0"/>
              </a:rPr>
              <a:t>]</a:t>
            </a:r>
            <a:endParaRPr lang="en-US" altLang="zh-CN" dirty="0">
              <a:latin typeface="Times New Roman" panose="02020603050405020304" pitchFamily="18" charset="0"/>
              <a:ea typeface="楷体_GB2312" pitchFamily="49" charset="-122"/>
              <a:cs typeface="Times New Roman" panose="02020603050405020304" pitchFamily="18" charset="0"/>
            </a:endParaRPr>
          </a:p>
          <a:p>
            <a:pPr lvl="1" eaLnBrk="1" hangingPunct="1"/>
            <a:endParaRPr lang="en-US" altLang="zh-CN" dirty="0">
              <a:latin typeface="Times New Roman" panose="02020603050405020304" pitchFamily="18" charset="0"/>
              <a:ea typeface="楷体_GB2312" pitchFamily="49" charset="-122"/>
              <a:cs typeface="Times New Roman" panose="02020603050405020304" pitchFamily="18" charset="0"/>
            </a:endParaRPr>
          </a:p>
          <a:p>
            <a:pPr lvl="1" eaLnBrk="1" hangingPunct="1"/>
            <a:endParaRPr lang="en-US" altLang="zh-CN" dirty="0">
              <a:latin typeface="Times New Roman" panose="02020603050405020304" pitchFamily="18" charset="0"/>
              <a:ea typeface="楷体_GB2312" pitchFamily="49" charset="-122"/>
              <a:cs typeface="Times New Roman" panose="02020603050405020304" pitchFamily="18" charset="0"/>
            </a:endParaRPr>
          </a:p>
          <a:p>
            <a:pPr lvl="1" eaLnBrk="1" hangingPunct="1"/>
            <a:endParaRPr lang="en-US" altLang="zh-CN" dirty="0">
              <a:latin typeface="Times New Roman" panose="02020603050405020304" pitchFamily="18" charset="0"/>
              <a:ea typeface="楷体_GB2312" pitchFamily="49" charset="-122"/>
              <a:cs typeface="Times New Roman" panose="02020603050405020304" pitchFamily="18" charset="0"/>
            </a:endParaRPr>
          </a:p>
          <a:p>
            <a:pPr lvl="1" eaLnBrk="1" hangingPunct="1"/>
            <a:endParaRPr lang="en-US" altLang="zh-CN"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en-US" altLang="zh-CN" dirty="0">
                <a:latin typeface="Times New Roman" panose="02020603050405020304" pitchFamily="18" charset="0"/>
                <a:ea typeface="楷体_GB2312" pitchFamily="49" charset="-122"/>
                <a:cs typeface="Times New Roman" panose="02020603050405020304" pitchFamily="18" charset="0"/>
              </a:rPr>
              <a:t>THREAD_SIZE</a:t>
            </a:r>
            <a:r>
              <a:rPr lang="zh-CN" altLang="en-US" dirty="0">
                <a:latin typeface="Times New Roman" panose="02020603050405020304" pitchFamily="18" charset="0"/>
                <a:ea typeface="楷体_GB2312" pitchFamily="49" charset="-122"/>
                <a:cs typeface="Times New Roman" panose="02020603050405020304" pitchFamily="18" charset="0"/>
              </a:rPr>
              <a:t>定义</a:t>
            </a:r>
            <a:r>
              <a:rPr lang="en-US" altLang="zh-CN" dirty="0">
                <a:latin typeface="Times New Roman" panose="02020603050405020304" pitchFamily="18" charset="0"/>
                <a:ea typeface="楷体_GB2312" pitchFamily="49" charset="-122"/>
                <a:cs typeface="Times New Roman" panose="02020603050405020304" pitchFamily="18" charset="0"/>
              </a:rPr>
              <a:t>[</a:t>
            </a:r>
            <a:r>
              <a:rPr lang="en-US" altLang="zh-CN" sz="2400" dirty="0">
                <a:solidFill>
                  <a:schemeClr val="tx2"/>
                </a:solidFill>
                <a:latin typeface="Times New Roman" panose="02020603050405020304" pitchFamily="18" charset="0"/>
                <a:ea typeface="楷体_GB2312" pitchFamily="49" charset="-122"/>
                <a:cs typeface="Times New Roman" panose="02020603050405020304" pitchFamily="18" charset="0"/>
              </a:rPr>
              <a:t>include/asm-x86/thread_info_32.h</a:t>
            </a:r>
            <a:r>
              <a:rPr lang="en-US" altLang="zh-CN" dirty="0">
                <a:latin typeface="Times New Roman" panose="02020603050405020304" pitchFamily="18" charset="0"/>
                <a:ea typeface="楷体_GB2312" pitchFamily="49" charset="-122"/>
                <a:cs typeface="Times New Roman" panose="02020603050405020304" pitchFamily="18" charset="0"/>
              </a:rPr>
              <a:t>]</a:t>
            </a:r>
            <a:endParaRPr lang="en-US" altLang="zh-CN" dirty="0">
              <a:latin typeface="Times New Roman" panose="02020603050405020304" pitchFamily="18" charset="0"/>
              <a:ea typeface="楷体_GB2312" pitchFamily="49" charset="-122"/>
              <a:cs typeface="Times New Roman" panose="02020603050405020304" pitchFamily="18" charset="0"/>
            </a:endParaRPr>
          </a:p>
        </p:txBody>
      </p:sp>
      <p:grpSp>
        <p:nvGrpSpPr>
          <p:cNvPr id="26628" name="Group 8"/>
          <p:cNvGrpSpPr/>
          <p:nvPr/>
        </p:nvGrpSpPr>
        <p:grpSpPr bwMode="auto">
          <a:xfrm>
            <a:off x="755650" y="2510124"/>
            <a:ext cx="7632700" cy="1271587"/>
            <a:chOff x="794" y="3355"/>
            <a:chExt cx="4808" cy="801"/>
          </a:xfrm>
        </p:grpSpPr>
        <p:pic>
          <p:nvPicPr>
            <p:cNvPr id="26630"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94" y="3355"/>
              <a:ext cx="4808" cy="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6343" name="Oval 7"/>
            <p:cNvSpPr>
              <a:spLocks noChangeArrowheads="1"/>
            </p:cNvSpPr>
            <p:nvPr/>
          </p:nvSpPr>
          <p:spPr bwMode="auto">
            <a:xfrm>
              <a:off x="2880" y="3702"/>
              <a:ext cx="1270" cy="272"/>
            </a:xfrm>
            <a:prstGeom prst="ellipse">
              <a:avLst/>
            </a:prstGeom>
            <a:noFill/>
            <a:ln w="28575">
              <a:solidFill>
                <a:srgbClr val="FF0000"/>
              </a:solidFill>
              <a:round/>
            </a:ln>
            <a:effectLst/>
          </p:spPr>
          <p:txBody>
            <a:bodyPr wrap="none" anchor="ctr">
              <a:spAutoFit/>
            </a:bodyPr>
            <a:lstStyle/>
            <a:p>
              <a:pPr>
                <a:spcBef>
                  <a:spcPct val="20000"/>
                </a:spcBef>
                <a:buClr>
                  <a:srgbClr val="FF9900"/>
                </a:buClr>
                <a:buFont typeface="Wingdings" panose="05000000000000000000" pitchFamily="2" charset="2"/>
                <a:buNone/>
                <a:defRPr/>
              </a:pPr>
              <a:endParaRPr lang="zh-CN" altLang="en-US">
                <a:effectLst>
                  <a:outerShdw blurRad="38100" dist="38100" dir="2700000" algn="tl">
                    <a:srgbClr val="000000">
                      <a:alpha val="43137"/>
                    </a:srgbClr>
                  </a:outerShdw>
                </a:effectLst>
              </a:endParaRPr>
            </a:p>
          </p:txBody>
        </p:sp>
      </p:grpSp>
      <p:pic>
        <p:nvPicPr>
          <p:cNvPr id="2662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2882" y="4725144"/>
            <a:ext cx="5929312" cy="159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2"/>
          <p:cNvSpPr txBox="1">
            <a:spLocks noChangeArrowheads="1"/>
          </p:cNvSpPr>
          <p:nvPr/>
        </p:nvSpPr>
        <p:spPr bwMode="black">
          <a:xfrm>
            <a:off x="611188" y="115888"/>
            <a:ext cx="76327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2pPr>
            <a:lvl3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3pPr>
            <a:lvl4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4pPr>
            <a:lvl5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5pPr>
            <a:lvl6pPr marL="4572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6pPr>
            <a:lvl7pPr marL="9144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7pPr>
            <a:lvl8pPr marL="13716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8pPr>
            <a:lvl9pPr marL="18288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9pPr>
          </a:lstStyle>
          <a:p>
            <a:pPr eaLnBrk="1" hangingPunct="1"/>
            <a:r>
              <a:rPr lang="en-US" altLang="zh-CN" kern="0" dirty="0">
                <a:latin typeface="Times New Roman" panose="02020603050405020304" pitchFamily="18" charset="0"/>
                <a:ea typeface="楷体_GB2312" pitchFamily="49" charset="-122"/>
                <a:cs typeface="Times New Roman" panose="02020603050405020304" pitchFamily="18" charset="0"/>
              </a:rPr>
              <a:t>2.4 Linux</a:t>
            </a:r>
            <a:r>
              <a:rPr lang="zh-CN" altLang="en-US" kern="0" dirty="0">
                <a:latin typeface="Times New Roman" panose="02020603050405020304" pitchFamily="18" charset="0"/>
                <a:ea typeface="楷体_GB2312" pitchFamily="49" charset="-122"/>
                <a:cs typeface="Times New Roman" panose="02020603050405020304" pitchFamily="18" charset="0"/>
              </a:rPr>
              <a:t>进程的系统堆栈</a:t>
            </a:r>
            <a:endParaRPr lang="zh-CN" altLang="en-US" kern="0"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ransition>
    <p:wedg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type="body" idx="1"/>
          </p:nvPr>
        </p:nvSpPr>
        <p:spPr>
          <a:xfrm>
            <a:off x="426244" y="1196752"/>
            <a:ext cx="8291512" cy="5272087"/>
          </a:xfrm>
        </p:spPr>
        <p:txBody>
          <a:bodyPr/>
          <a:lstStyle/>
          <a:p>
            <a:pPr eaLnBrk="1" hangingPunct="1">
              <a:lnSpc>
                <a:spcPct val="110000"/>
              </a:lnSpc>
              <a:buFont typeface="Arial" panose="020B0604020202020204" pitchFamily="34" charset="0"/>
              <a:buChar char="•"/>
            </a:pPr>
            <a:r>
              <a:rPr lang="en-US" altLang="zh-CN" sz="2700" dirty="0">
                <a:solidFill>
                  <a:srgbClr val="FF0000"/>
                </a:solidFill>
                <a:ea typeface="楷体_GB2312" pitchFamily="49" charset="-122"/>
                <a:cs typeface="Times New Roman" panose="02020603050405020304" pitchFamily="18" charset="0"/>
              </a:rPr>
              <a:t>Linux 2.6</a:t>
            </a:r>
            <a:r>
              <a:rPr lang="zh-CN" altLang="en-US" sz="2700" dirty="0">
                <a:solidFill>
                  <a:srgbClr val="FF0000"/>
                </a:solidFill>
                <a:ea typeface="楷体_GB2312" pitchFamily="49" charset="-122"/>
                <a:cs typeface="Times New Roman" panose="02020603050405020304" pitchFamily="18" charset="0"/>
              </a:rPr>
              <a:t>进程系统堆栈结构</a:t>
            </a:r>
            <a:endParaRPr lang="en-US" altLang="zh-CN" sz="2700" dirty="0">
              <a:solidFill>
                <a:srgbClr val="FF0000"/>
              </a:solidFill>
              <a:ea typeface="楷体_GB2312" pitchFamily="49" charset="-122"/>
              <a:cs typeface="Times New Roman" panose="02020603050405020304" pitchFamily="18" charset="0"/>
            </a:endParaRPr>
          </a:p>
          <a:p>
            <a:pPr eaLnBrk="1" hangingPunct="1">
              <a:lnSpc>
                <a:spcPct val="110000"/>
              </a:lnSpc>
              <a:buFont typeface="Arial" panose="020B0604020202020204" pitchFamily="34" charset="0"/>
              <a:buChar char="•"/>
            </a:pPr>
            <a:r>
              <a:rPr lang="zh-CN" altLang="en-US" sz="2700" dirty="0">
                <a:latin typeface="Times New Roman" panose="02020603050405020304" pitchFamily="18" charset="0"/>
                <a:ea typeface="楷体_GB2312" pitchFamily="49" charset="-122"/>
                <a:cs typeface="Times New Roman" panose="02020603050405020304" pitchFamily="18" charset="0"/>
              </a:rPr>
              <a:t>根据内核的配置，</a:t>
            </a:r>
            <a:r>
              <a:rPr lang="en-US" altLang="zh-CN" sz="2700" dirty="0">
                <a:latin typeface="Times New Roman" panose="02020603050405020304" pitchFamily="18" charset="0"/>
                <a:ea typeface="楷体_GB2312" pitchFamily="49" charset="-122"/>
                <a:cs typeface="Times New Roman" panose="02020603050405020304" pitchFamily="18" charset="0"/>
              </a:rPr>
              <a:t>THREAD_SIZE</a:t>
            </a:r>
            <a:r>
              <a:rPr lang="zh-CN" altLang="en-US" sz="2700" dirty="0">
                <a:latin typeface="Times New Roman" panose="02020603050405020304" pitchFamily="18" charset="0"/>
                <a:ea typeface="楷体_GB2312" pitchFamily="49" charset="-122"/>
                <a:cs typeface="Times New Roman" panose="02020603050405020304" pitchFamily="18" charset="0"/>
              </a:rPr>
              <a:t>既可以是</a:t>
            </a:r>
            <a:r>
              <a:rPr lang="en-US" altLang="zh-CN" sz="2700" dirty="0">
                <a:latin typeface="Times New Roman" panose="02020603050405020304" pitchFamily="18" charset="0"/>
                <a:ea typeface="楷体_GB2312" pitchFamily="49" charset="-122"/>
                <a:cs typeface="Times New Roman" panose="02020603050405020304" pitchFamily="18" charset="0"/>
              </a:rPr>
              <a:t>4K</a:t>
            </a:r>
            <a:r>
              <a:rPr lang="zh-CN" altLang="en-US" sz="2700" dirty="0">
                <a:latin typeface="Times New Roman" panose="02020603050405020304" pitchFamily="18" charset="0"/>
                <a:ea typeface="楷体_GB2312" pitchFamily="49" charset="-122"/>
                <a:cs typeface="Times New Roman" panose="02020603050405020304" pitchFamily="18" charset="0"/>
              </a:rPr>
              <a:t>字节</a:t>
            </a:r>
            <a:r>
              <a:rPr lang="en-US" altLang="zh-CN" sz="2700" dirty="0">
                <a:latin typeface="Times New Roman" panose="02020603050405020304" pitchFamily="18" charset="0"/>
                <a:ea typeface="楷体_GB2312" pitchFamily="49" charset="-122"/>
                <a:cs typeface="Times New Roman" panose="02020603050405020304" pitchFamily="18" charset="0"/>
              </a:rPr>
              <a:t>(1</a:t>
            </a:r>
            <a:r>
              <a:rPr lang="zh-CN" altLang="en-US" sz="2700" dirty="0">
                <a:latin typeface="Times New Roman" panose="02020603050405020304" pitchFamily="18" charset="0"/>
                <a:ea typeface="楷体_GB2312" pitchFamily="49" charset="-122"/>
                <a:cs typeface="Times New Roman" panose="02020603050405020304" pitchFamily="18" charset="0"/>
              </a:rPr>
              <a:t>个页面</a:t>
            </a:r>
            <a:r>
              <a:rPr lang="en-US" altLang="zh-CN" sz="2700" dirty="0">
                <a:latin typeface="Times New Roman" panose="02020603050405020304" pitchFamily="18" charset="0"/>
                <a:ea typeface="楷体_GB2312" pitchFamily="49" charset="-122"/>
                <a:cs typeface="Times New Roman" panose="02020603050405020304" pitchFamily="18" charset="0"/>
              </a:rPr>
              <a:t>)</a:t>
            </a:r>
            <a:r>
              <a:rPr lang="zh-CN" altLang="en-US" sz="2700" dirty="0">
                <a:latin typeface="Times New Roman" panose="02020603050405020304" pitchFamily="18" charset="0"/>
                <a:ea typeface="楷体_GB2312" pitchFamily="49" charset="-122"/>
                <a:cs typeface="Times New Roman" panose="02020603050405020304" pitchFamily="18" charset="0"/>
              </a:rPr>
              <a:t>也可以是</a:t>
            </a:r>
            <a:r>
              <a:rPr lang="en-US" altLang="zh-CN" sz="2700" dirty="0">
                <a:latin typeface="Times New Roman" panose="02020603050405020304" pitchFamily="18" charset="0"/>
                <a:ea typeface="楷体_GB2312" pitchFamily="49" charset="-122"/>
                <a:cs typeface="Times New Roman" panose="02020603050405020304" pitchFamily="18" charset="0"/>
              </a:rPr>
              <a:t>8K</a:t>
            </a:r>
            <a:r>
              <a:rPr lang="zh-CN" altLang="en-US" sz="2700" dirty="0">
                <a:latin typeface="Times New Roman" panose="02020603050405020304" pitchFamily="18" charset="0"/>
                <a:ea typeface="楷体_GB2312" pitchFamily="49" charset="-122"/>
                <a:cs typeface="Times New Roman" panose="02020603050405020304" pitchFamily="18" charset="0"/>
              </a:rPr>
              <a:t>字节</a:t>
            </a:r>
            <a:r>
              <a:rPr lang="en-US" altLang="zh-CN" sz="2700" dirty="0">
                <a:latin typeface="Times New Roman" panose="02020603050405020304" pitchFamily="18" charset="0"/>
                <a:ea typeface="楷体_GB2312" pitchFamily="49" charset="-122"/>
                <a:cs typeface="Times New Roman" panose="02020603050405020304" pitchFamily="18" charset="0"/>
              </a:rPr>
              <a:t>(2</a:t>
            </a:r>
            <a:r>
              <a:rPr lang="zh-CN" altLang="en-US" sz="2700" dirty="0">
                <a:latin typeface="Times New Roman" panose="02020603050405020304" pitchFamily="18" charset="0"/>
                <a:ea typeface="楷体_GB2312" pitchFamily="49" charset="-122"/>
                <a:cs typeface="Times New Roman" panose="02020603050405020304" pitchFamily="18" charset="0"/>
              </a:rPr>
              <a:t>个页面</a:t>
            </a:r>
            <a:r>
              <a:rPr lang="en-US" altLang="zh-CN" sz="2700" dirty="0">
                <a:latin typeface="Times New Roman" panose="02020603050405020304" pitchFamily="18" charset="0"/>
                <a:ea typeface="楷体_GB2312" pitchFamily="49" charset="-122"/>
                <a:cs typeface="Times New Roman" panose="02020603050405020304" pitchFamily="18" charset="0"/>
              </a:rPr>
              <a:t>)</a:t>
            </a:r>
            <a:r>
              <a:rPr lang="zh-CN" altLang="en-US" sz="2700" dirty="0">
                <a:latin typeface="Times New Roman" panose="02020603050405020304" pitchFamily="18" charset="0"/>
                <a:ea typeface="楷体_GB2312" pitchFamily="49" charset="-122"/>
                <a:cs typeface="Times New Roman" panose="02020603050405020304" pitchFamily="18" charset="0"/>
              </a:rPr>
              <a:t>。</a:t>
            </a:r>
            <a:r>
              <a:rPr lang="en-US" altLang="zh-CN" sz="2700" dirty="0" err="1">
                <a:latin typeface="Times New Roman" panose="02020603050405020304" pitchFamily="18" charset="0"/>
                <a:ea typeface="楷体_GB2312" pitchFamily="49" charset="-122"/>
                <a:cs typeface="Times New Roman" panose="02020603050405020304" pitchFamily="18" charset="0"/>
              </a:rPr>
              <a:t>thread_info</a:t>
            </a:r>
            <a:r>
              <a:rPr lang="zh-CN" altLang="en-US" sz="2700" dirty="0">
                <a:latin typeface="Times New Roman" panose="02020603050405020304" pitchFamily="18" charset="0"/>
                <a:ea typeface="楷体_GB2312" pitchFamily="49" charset="-122"/>
                <a:cs typeface="Times New Roman" panose="02020603050405020304" pitchFamily="18" charset="0"/>
              </a:rPr>
              <a:t>是</a:t>
            </a:r>
            <a:r>
              <a:rPr lang="en-US" altLang="zh-CN" sz="2700" dirty="0">
                <a:latin typeface="Times New Roman" panose="02020603050405020304" pitchFamily="18" charset="0"/>
                <a:ea typeface="楷体_GB2312" pitchFamily="49" charset="-122"/>
                <a:cs typeface="Times New Roman" panose="02020603050405020304" pitchFamily="18" charset="0"/>
              </a:rPr>
              <a:t>52</a:t>
            </a:r>
            <a:r>
              <a:rPr lang="zh-CN" altLang="en-US" sz="2700" dirty="0">
                <a:latin typeface="Times New Roman" panose="02020603050405020304" pitchFamily="18" charset="0"/>
                <a:ea typeface="楷体_GB2312" pitchFamily="49" charset="-122"/>
                <a:cs typeface="Times New Roman" panose="02020603050405020304" pitchFamily="18" charset="0"/>
              </a:rPr>
              <a:t>个字节长。</a:t>
            </a:r>
            <a:endParaRPr lang="en-US" altLang="zh-CN" sz="2700" dirty="0">
              <a:latin typeface="Times New Roman" panose="02020603050405020304" pitchFamily="18" charset="0"/>
              <a:ea typeface="楷体_GB2312" pitchFamily="49" charset="-122"/>
              <a:cs typeface="Times New Roman" panose="02020603050405020304" pitchFamily="18" charset="0"/>
            </a:endParaRPr>
          </a:p>
          <a:p>
            <a:pPr eaLnBrk="1" hangingPunct="1">
              <a:lnSpc>
                <a:spcPct val="110000"/>
              </a:lnSpc>
              <a:buFont typeface="Arial" panose="020B0604020202020204" pitchFamily="34" charset="0"/>
              <a:buChar char="•"/>
            </a:pPr>
            <a:r>
              <a:rPr lang="en-US" altLang="zh-CN" sz="2700" dirty="0" err="1">
                <a:latin typeface="Times New Roman" panose="02020603050405020304" pitchFamily="18" charset="0"/>
                <a:ea typeface="楷体_GB2312" pitchFamily="49" charset="-122"/>
                <a:cs typeface="Times New Roman" panose="02020603050405020304" pitchFamily="18" charset="0"/>
              </a:rPr>
              <a:t>thread_info</a:t>
            </a:r>
            <a:r>
              <a:rPr lang="zh-CN" altLang="en-US" sz="2700" dirty="0">
                <a:latin typeface="Times New Roman" panose="02020603050405020304" pitchFamily="18" charset="0"/>
                <a:ea typeface="楷体_GB2312" pitchFamily="49" charset="-122"/>
                <a:cs typeface="Times New Roman" panose="02020603050405020304" pitchFamily="18" charset="0"/>
              </a:rPr>
              <a:t>在这个内存区的开始处，内核堆栈从末端向下增长。</a:t>
            </a:r>
            <a:endParaRPr lang="zh-CN" altLang="en-US" sz="2700" dirty="0">
              <a:latin typeface="Times New Roman" panose="02020603050405020304" pitchFamily="18" charset="0"/>
              <a:ea typeface="楷体_GB2312" pitchFamily="49" charset="-122"/>
              <a:cs typeface="Times New Roman" panose="02020603050405020304" pitchFamily="18" charset="0"/>
            </a:endParaRPr>
          </a:p>
          <a:p>
            <a:pPr eaLnBrk="1" hangingPunct="1">
              <a:lnSpc>
                <a:spcPct val="110000"/>
              </a:lnSpc>
              <a:buFont typeface="Arial" panose="020B0604020202020204" pitchFamily="34" charset="0"/>
              <a:buChar char="•"/>
            </a:pPr>
            <a:r>
              <a:rPr lang="en-US" altLang="zh-CN" sz="2700" dirty="0">
                <a:latin typeface="Times New Roman" panose="02020603050405020304" pitchFamily="18" charset="0"/>
                <a:ea typeface="楷体_GB2312" pitchFamily="49" charset="-122"/>
                <a:cs typeface="Times New Roman" panose="02020603050405020304" pitchFamily="18" charset="0"/>
              </a:rPr>
              <a:t>Linux2.6</a:t>
            </a:r>
            <a:r>
              <a:rPr lang="zh-CN" altLang="en-US" sz="2700" dirty="0">
                <a:latin typeface="Times New Roman" panose="02020603050405020304" pitchFamily="18" charset="0"/>
                <a:ea typeface="楷体_GB2312" pitchFamily="49" charset="-122"/>
                <a:cs typeface="Times New Roman" panose="02020603050405020304" pitchFamily="18" charset="0"/>
              </a:rPr>
              <a:t>中，进程描述符不在堆栈中，而分别通过</a:t>
            </a:r>
            <a:r>
              <a:rPr lang="en-US" altLang="zh-CN" sz="2700" dirty="0">
                <a:latin typeface="Times New Roman" panose="02020603050405020304" pitchFamily="18" charset="0"/>
                <a:ea typeface="楷体_GB2312" pitchFamily="49" charset="-122"/>
                <a:cs typeface="Times New Roman" panose="02020603050405020304" pitchFamily="18" charset="0"/>
              </a:rPr>
              <a:t>task</a:t>
            </a:r>
            <a:r>
              <a:rPr lang="zh-CN" altLang="en-US" sz="2700" dirty="0">
                <a:latin typeface="Times New Roman" panose="02020603050405020304" pitchFamily="18" charset="0"/>
                <a:ea typeface="楷体_GB2312" pitchFamily="49" charset="-122"/>
                <a:cs typeface="Times New Roman" panose="02020603050405020304" pitchFamily="18" charset="0"/>
              </a:rPr>
              <a:t>与</a:t>
            </a:r>
            <a:r>
              <a:rPr lang="en-US" altLang="zh-CN" sz="2700" dirty="0" err="1">
                <a:latin typeface="Times New Roman" panose="02020603050405020304" pitchFamily="18" charset="0"/>
                <a:ea typeface="楷体_GB2312" pitchFamily="49" charset="-122"/>
                <a:cs typeface="Times New Roman" panose="02020603050405020304" pitchFamily="18" charset="0"/>
              </a:rPr>
              <a:t>thread_info</a:t>
            </a:r>
            <a:r>
              <a:rPr lang="zh-CN" altLang="en-US" sz="2700" dirty="0">
                <a:latin typeface="Times New Roman" panose="02020603050405020304" pitchFamily="18" charset="0"/>
                <a:ea typeface="楷体_GB2312" pitchFamily="49" charset="-122"/>
                <a:cs typeface="Times New Roman" panose="02020603050405020304" pitchFamily="18" charset="0"/>
              </a:rPr>
              <a:t>指针使</a:t>
            </a:r>
            <a:r>
              <a:rPr lang="en-US" altLang="zh-CN" sz="2700" dirty="0" err="1">
                <a:latin typeface="Times New Roman" panose="02020603050405020304" pitchFamily="18" charset="0"/>
                <a:ea typeface="楷体_GB2312" pitchFamily="49" charset="-122"/>
                <a:cs typeface="Times New Roman" panose="02020603050405020304" pitchFamily="18" charset="0"/>
              </a:rPr>
              <a:t>thread_info</a:t>
            </a:r>
            <a:r>
              <a:rPr lang="zh-CN" altLang="en-US" sz="2700" dirty="0">
                <a:latin typeface="Times New Roman" panose="02020603050405020304" pitchFamily="18" charset="0"/>
                <a:ea typeface="楷体_GB2312" pitchFamily="49" charset="-122"/>
                <a:cs typeface="Times New Roman" panose="02020603050405020304" pitchFamily="18" charset="0"/>
              </a:rPr>
              <a:t>与进程描述符相联。</a:t>
            </a:r>
            <a:endParaRPr lang="zh-CN" altLang="en-US" sz="2700" dirty="0">
              <a:latin typeface="Times New Roman" panose="02020603050405020304" pitchFamily="18" charset="0"/>
              <a:ea typeface="楷体_GB2312" pitchFamily="49" charset="-122"/>
              <a:cs typeface="Times New Roman" panose="02020603050405020304" pitchFamily="18" charset="0"/>
            </a:endParaRPr>
          </a:p>
        </p:txBody>
      </p:sp>
      <p:sp>
        <p:nvSpPr>
          <p:cNvPr id="7" name="Rectangle 2"/>
          <p:cNvSpPr txBox="1">
            <a:spLocks noChangeArrowheads="1"/>
          </p:cNvSpPr>
          <p:nvPr/>
        </p:nvSpPr>
        <p:spPr bwMode="black">
          <a:xfrm>
            <a:off x="611188" y="115888"/>
            <a:ext cx="76327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2pPr>
            <a:lvl3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3pPr>
            <a:lvl4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4pPr>
            <a:lvl5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5pPr>
            <a:lvl6pPr marL="4572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6pPr>
            <a:lvl7pPr marL="9144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7pPr>
            <a:lvl8pPr marL="13716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8pPr>
            <a:lvl9pPr marL="18288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9pPr>
          </a:lstStyle>
          <a:p>
            <a:pPr eaLnBrk="1" hangingPunct="1"/>
            <a:r>
              <a:rPr lang="en-US" altLang="zh-CN" kern="0" dirty="0">
                <a:latin typeface="Times New Roman" panose="02020603050405020304" pitchFamily="18" charset="0"/>
                <a:ea typeface="楷体_GB2312" pitchFamily="49" charset="-122"/>
                <a:cs typeface="Times New Roman" panose="02020603050405020304" pitchFamily="18" charset="0"/>
              </a:rPr>
              <a:t>2.4 Linux</a:t>
            </a:r>
            <a:r>
              <a:rPr lang="zh-CN" altLang="en-US" kern="0" dirty="0">
                <a:latin typeface="Times New Roman" panose="02020603050405020304" pitchFamily="18" charset="0"/>
                <a:ea typeface="楷体_GB2312" pitchFamily="49" charset="-122"/>
                <a:cs typeface="Times New Roman" panose="02020603050405020304" pitchFamily="18" charset="0"/>
              </a:rPr>
              <a:t>进程的系统堆栈</a:t>
            </a:r>
            <a:endParaRPr lang="zh-CN" altLang="en-US" kern="0"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noChangeArrowheads="1"/>
          </p:cNvSpPr>
          <p:nvPr>
            <p:ph type="body" idx="1"/>
          </p:nvPr>
        </p:nvSpPr>
        <p:spPr>
          <a:xfrm>
            <a:off x="167433" y="980728"/>
            <a:ext cx="8291513" cy="5272088"/>
          </a:xfrm>
        </p:spPr>
        <p:txBody>
          <a:bodyPr/>
          <a:lstStyle/>
          <a:p>
            <a:pPr eaLnBrk="1" hangingPunct="1">
              <a:buFont typeface="Arial" panose="020B0604020202020204" pitchFamily="34" charset="0"/>
              <a:buChar char="•"/>
            </a:pPr>
            <a:r>
              <a:rPr lang="en-US" altLang="zh-CN" dirty="0">
                <a:solidFill>
                  <a:srgbClr val="FF0000"/>
                </a:solidFill>
                <a:ea typeface="楷体_GB2312" pitchFamily="49" charset="-122"/>
                <a:cs typeface="Times New Roman" panose="02020603050405020304" pitchFamily="18" charset="0"/>
              </a:rPr>
              <a:t>Linux 2.6</a:t>
            </a:r>
            <a:r>
              <a:rPr lang="zh-CN" altLang="en-US" dirty="0">
                <a:solidFill>
                  <a:srgbClr val="FF0000"/>
                </a:solidFill>
                <a:ea typeface="楷体_GB2312" pitchFamily="49" charset="-122"/>
                <a:cs typeface="Times New Roman" panose="02020603050405020304" pitchFamily="18" charset="0"/>
              </a:rPr>
              <a:t>进程系统堆栈结构</a:t>
            </a:r>
            <a:endParaRPr lang="en-US" altLang="zh-CN" dirty="0">
              <a:solidFill>
                <a:srgbClr val="FF0000"/>
              </a:solidFill>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由</a:t>
            </a:r>
            <a:r>
              <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rPr>
              <a:t>current</a:t>
            </a:r>
            <a:r>
              <a:rPr lang="zh-CN" altLang="en-US" dirty="0">
                <a:latin typeface="Times New Roman" panose="02020603050405020304" pitchFamily="18" charset="0"/>
                <a:ea typeface="楷体_GB2312" pitchFamily="49" charset="-122"/>
                <a:cs typeface="Times New Roman" panose="02020603050405020304" pitchFamily="18" charset="0"/>
              </a:rPr>
              <a:t>来获取当前进程的进程描述符</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r>
              <a:rPr lang="zh-CN" altLang="en-US" dirty="0">
                <a:latin typeface="Times New Roman" panose="02020603050405020304" pitchFamily="18" charset="0"/>
                <a:ea typeface="楷体_GB2312" pitchFamily="49" charset="-122"/>
                <a:cs typeface="Times New Roman" panose="02020603050405020304" pitchFamily="18" charset="0"/>
              </a:rPr>
              <a:t>根据</a:t>
            </a:r>
            <a:r>
              <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rPr>
              <a:t>THREAD_SIZE</a:t>
            </a:r>
            <a:r>
              <a:rPr lang="zh-CN" altLang="en-US" dirty="0">
                <a:latin typeface="Times New Roman" panose="02020603050405020304" pitchFamily="18" charset="0"/>
                <a:ea typeface="楷体_GB2312" pitchFamily="49" charset="-122"/>
                <a:cs typeface="Times New Roman" panose="02020603050405020304" pitchFamily="18" charset="0"/>
              </a:rPr>
              <a:t>大小，分别屏蔽掉内核栈的</a:t>
            </a:r>
            <a:r>
              <a:rPr lang="en-US" altLang="zh-CN" dirty="0">
                <a:latin typeface="Times New Roman" panose="02020603050405020304" pitchFamily="18" charset="0"/>
                <a:ea typeface="楷体_GB2312" pitchFamily="49" charset="-122"/>
                <a:cs typeface="Times New Roman" panose="02020603050405020304" pitchFamily="18" charset="0"/>
              </a:rPr>
              <a:t>12-bit LSB(4K)</a:t>
            </a:r>
            <a:r>
              <a:rPr lang="zh-CN" altLang="en-US" dirty="0">
                <a:latin typeface="Times New Roman" panose="02020603050405020304" pitchFamily="18" charset="0"/>
                <a:ea typeface="楷体_GB2312" pitchFamily="49" charset="-122"/>
                <a:cs typeface="Times New Roman" panose="02020603050405020304" pitchFamily="18" charset="0"/>
              </a:rPr>
              <a:t>或</a:t>
            </a:r>
            <a:r>
              <a:rPr lang="en-US" altLang="zh-CN" dirty="0">
                <a:latin typeface="Times New Roman" panose="02020603050405020304" pitchFamily="18" charset="0"/>
                <a:ea typeface="楷体_GB2312" pitchFamily="49" charset="-122"/>
                <a:cs typeface="Times New Roman" panose="02020603050405020304" pitchFamily="18" charset="0"/>
              </a:rPr>
              <a:t>13-bit LSB(8K)</a:t>
            </a:r>
            <a:r>
              <a:rPr lang="zh-CN" altLang="en-US" dirty="0">
                <a:latin typeface="Times New Roman" panose="02020603050405020304" pitchFamily="18" charset="0"/>
                <a:ea typeface="楷体_GB2312" pitchFamily="49" charset="-122"/>
                <a:cs typeface="Times New Roman" panose="02020603050405020304" pitchFamily="18" charset="0"/>
              </a:rPr>
              <a:t>，从而获得内核栈的起始位置</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endParaRPr lang="en-US" altLang="zh-CN" dirty="0">
              <a:latin typeface="Times New Roman" panose="02020603050405020304" pitchFamily="18" charset="0"/>
              <a:ea typeface="楷体_GB2312" pitchFamily="49" charset="-122"/>
              <a:cs typeface="Times New Roman" panose="02020603050405020304" pitchFamily="18" charset="0"/>
            </a:endParaRPr>
          </a:p>
        </p:txBody>
      </p:sp>
      <p:grpSp>
        <p:nvGrpSpPr>
          <p:cNvPr id="28676" name="Group 6"/>
          <p:cNvGrpSpPr/>
          <p:nvPr/>
        </p:nvGrpSpPr>
        <p:grpSpPr bwMode="auto">
          <a:xfrm>
            <a:off x="590104" y="3429000"/>
            <a:ext cx="8388350" cy="2276475"/>
            <a:chOff x="476" y="1752"/>
            <a:chExt cx="5284" cy="1434"/>
          </a:xfrm>
        </p:grpSpPr>
        <p:pic>
          <p:nvPicPr>
            <p:cNvPr id="28677"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76" y="1752"/>
              <a:ext cx="5284" cy="1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0437" name="Oval 5"/>
            <p:cNvSpPr>
              <a:spLocks noChangeArrowheads="1"/>
            </p:cNvSpPr>
            <p:nvPr/>
          </p:nvSpPr>
          <p:spPr bwMode="auto">
            <a:xfrm>
              <a:off x="4241" y="2720"/>
              <a:ext cx="953" cy="182"/>
            </a:xfrm>
            <a:prstGeom prst="ellipse">
              <a:avLst/>
            </a:prstGeom>
            <a:noFill/>
            <a:ln w="28575">
              <a:solidFill>
                <a:srgbClr val="FF0000"/>
              </a:solidFill>
              <a:round/>
            </a:ln>
            <a:effectLst/>
          </p:spPr>
          <p:txBody>
            <a:bodyPr anchor="ctr">
              <a:spAutoFit/>
            </a:bodyPr>
            <a:lstStyle/>
            <a:p>
              <a:pPr>
                <a:spcBef>
                  <a:spcPct val="20000"/>
                </a:spcBef>
                <a:buClr>
                  <a:srgbClr val="FF9900"/>
                </a:buClr>
                <a:buFont typeface="Wingdings" panose="05000000000000000000" pitchFamily="2" charset="2"/>
                <a:buNone/>
                <a:defRPr/>
              </a:pPr>
              <a:endParaRPr lang="zh-CN" altLang="en-US">
                <a:effectLst>
                  <a:outerShdw blurRad="38100" dist="38100" dir="2700000" algn="tl">
                    <a:srgbClr val="000000">
                      <a:alpha val="43137"/>
                    </a:srgbClr>
                  </a:outerShdw>
                </a:effectLst>
              </a:endParaRPr>
            </a:p>
          </p:txBody>
        </p:sp>
      </p:grpSp>
      <p:sp>
        <p:nvSpPr>
          <p:cNvPr id="10" name="Rectangle 2"/>
          <p:cNvSpPr txBox="1">
            <a:spLocks noChangeArrowheads="1"/>
          </p:cNvSpPr>
          <p:nvPr/>
        </p:nvSpPr>
        <p:spPr bwMode="black">
          <a:xfrm>
            <a:off x="611188" y="115888"/>
            <a:ext cx="76327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2pPr>
            <a:lvl3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3pPr>
            <a:lvl4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4pPr>
            <a:lvl5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5pPr>
            <a:lvl6pPr marL="4572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6pPr>
            <a:lvl7pPr marL="9144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7pPr>
            <a:lvl8pPr marL="13716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8pPr>
            <a:lvl9pPr marL="18288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9pPr>
          </a:lstStyle>
          <a:p>
            <a:pPr eaLnBrk="1" hangingPunct="1"/>
            <a:r>
              <a:rPr lang="en-US" altLang="zh-CN" kern="0" dirty="0">
                <a:latin typeface="Times New Roman" panose="02020603050405020304" pitchFamily="18" charset="0"/>
                <a:ea typeface="楷体_GB2312" pitchFamily="49" charset="-122"/>
                <a:cs typeface="Times New Roman" panose="02020603050405020304" pitchFamily="18" charset="0"/>
              </a:rPr>
              <a:t>2.4 Linux</a:t>
            </a:r>
            <a:r>
              <a:rPr lang="zh-CN" altLang="en-US" kern="0" dirty="0">
                <a:latin typeface="Times New Roman" panose="02020603050405020304" pitchFamily="18" charset="0"/>
                <a:ea typeface="楷体_GB2312" pitchFamily="49" charset="-122"/>
                <a:cs typeface="Times New Roman" panose="02020603050405020304" pitchFamily="18" charset="0"/>
              </a:rPr>
              <a:t>进程的系统堆栈</a:t>
            </a:r>
            <a:endParaRPr lang="zh-CN" altLang="en-US" kern="0"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ransition>
    <p:wedg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3"/>
          <p:cNvSpPr>
            <a:spLocks noGrp="1" noChangeArrowheads="1"/>
          </p:cNvSpPr>
          <p:nvPr>
            <p:ph type="body" idx="1"/>
          </p:nvPr>
        </p:nvSpPr>
        <p:spPr>
          <a:xfrm>
            <a:off x="281782" y="1124744"/>
            <a:ext cx="8291512" cy="5272087"/>
          </a:xfrm>
        </p:spPr>
        <p:txBody>
          <a:bodyPr/>
          <a:lstStyle/>
          <a:p>
            <a:pPr eaLnBrk="1" hangingPunct="1">
              <a:buFont typeface="Arial" panose="020B0604020202020204" pitchFamily="34" charset="0"/>
              <a:buChar char="•"/>
            </a:pPr>
            <a:r>
              <a:rPr lang="en-US" altLang="zh-CN" dirty="0">
                <a:solidFill>
                  <a:srgbClr val="FF0000"/>
                </a:solidFill>
                <a:ea typeface="楷体_GB2312" pitchFamily="49" charset="-122"/>
                <a:cs typeface="Times New Roman" panose="02020603050405020304" pitchFamily="18" charset="0"/>
              </a:rPr>
              <a:t>Linux 2.6</a:t>
            </a:r>
            <a:r>
              <a:rPr lang="zh-CN" altLang="en-US" dirty="0">
                <a:solidFill>
                  <a:srgbClr val="FF0000"/>
                </a:solidFill>
                <a:ea typeface="楷体_GB2312" pitchFamily="49" charset="-122"/>
                <a:cs typeface="Times New Roman" panose="02020603050405020304" pitchFamily="18" charset="0"/>
              </a:rPr>
              <a:t>进程系统堆栈结构小结</a:t>
            </a:r>
            <a:endParaRPr lang="en-US" altLang="zh-CN" dirty="0">
              <a:solidFill>
                <a:srgbClr val="FF0000"/>
              </a:solidFill>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与内核堆栈存放在一起的不再是进程控制块，而是</a:t>
            </a:r>
            <a:r>
              <a:rPr lang="en-US" altLang="zh-CN" dirty="0" err="1">
                <a:latin typeface="Times New Roman" panose="02020603050405020304" pitchFamily="18" charset="0"/>
                <a:ea typeface="楷体_GB2312" pitchFamily="49" charset="-122"/>
                <a:cs typeface="Times New Roman" panose="02020603050405020304" pitchFamily="18" charset="0"/>
              </a:rPr>
              <a:t>thread_info</a:t>
            </a:r>
            <a:r>
              <a:rPr lang="zh-CN" altLang="en-US" dirty="0">
                <a:latin typeface="Times New Roman" panose="02020603050405020304" pitchFamily="18" charset="0"/>
                <a:ea typeface="楷体_GB2312" pitchFamily="49" charset="-122"/>
                <a:cs typeface="Times New Roman" panose="02020603050405020304" pitchFamily="18" charset="0"/>
              </a:rPr>
              <a:t>结构。</a:t>
            </a:r>
            <a:endParaRPr lang="en-US" altLang="zh-CN"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但是由于</a:t>
            </a:r>
            <a:r>
              <a:rPr lang="en-US" altLang="zh-CN" dirty="0" err="1">
                <a:latin typeface="Times New Roman" panose="02020603050405020304" pitchFamily="18" charset="0"/>
                <a:ea typeface="楷体_GB2312" pitchFamily="49" charset="-122"/>
                <a:cs typeface="Times New Roman" panose="02020603050405020304" pitchFamily="18" charset="0"/>
              </a:rPr>
              <a:t>thread_info</a:t>
            </a:r>
            <a:r>
              <a:rPr lang="zh-CN" altLang="en-US" dirty="0">
                <a:latin typeface="Times New Roman" panose="02020603050405020304" pitchFamily="18" charset="0"/>
                <a:ea typeface="楷体_GB2312" pitchFamily="49" charset="-122"/>
                <a:cs typeface="Times New Roman" panose="02020603050405020304" pitchFamily="18" charset="0"/>
              </a:rPr>
              <a:t>结构中有一个指向进程控制块的</a:t>
            </a:r>
            <a:r>
              <a:rPr lang="en-US" altLang="zh-CN" dirty="0">
                <a:latin typeface="Times New Roman" panose="02020603050405020304" pitchFamily="18" charset="0"/>
                <a:ea typeface="楷体_GB2312" pitchFamily="49" charset="-122"/>
                <a:cs typeface="Times New Roman" panose="02020603050405020304" pitchFamily="18" charset="0"/>
              </a:rPr>
              <a:t>task</a:t>
            </a:r>
            <a:r>
              <a:rPr lang="zh-CN" altLang="en-US" dirty="0">
                <a:latin typeface="Times New Roman" panose="02020603050405020304" pitchFamily="18" charset="0"/>
                <a:ea typeface="楷体_GB2312" pitchFamily="49" charset="-122"/>
                <a:cs typeface="Times New Roman" panose="02020603050405020304" pitchFamily="18" charset="0"/>
              </a:rPr>
              <a:t>指针，所以系统仍然使用</a:t>
            </a:r>
            <a:r>
              <a:rPr lang="en-US" altLang="zh-CN" dirty="0">
                <a:latin typeface="Times New Roman" panose="02020603050405020304" pitchFamily="18" charset="0"/>
                <a:ea typeface="楷体_GB2312" pitchFamily="49" charset="-122"/>
                <a:cs typeface="Times New Roman" panose="02020603050405020304" pitchFamily="18" charset="0"/>
              </a:rPr>
              <a:t>current</a:t>
            </a:r>
            <a:r>
              <a:rPr lang="zh-CN" altLang="en-US" dirty="0">
                <a:latin typeface="Times New Roman" panose="02020603050405020304" pitchFamily="18" charset="0"/>
                <a:ea typeface="楷体_GB2312" pitchFamily="49" charset="-122"/>
                <a:cs typeface="Times New Roman" panose="02020603050405020304" pitchFamily="18" charset="0"/>
              </a:rPr>
              <a:t>宏查找进程控制块。</a:t>
            </a: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原因分析</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dirty="0">
                <a:latin typeface="Times New Roman" panose="02020603050405020304" pitchFamily="18" charset="0"/>
                <a:ea typeface="楷体_GB2312" pitchFamily="49" charset="-122"/>
                <a:cs typeface="Times New Roman" panose="02020603050405020304" pitchFamily="18" charset="0"/>
              </a:rPr>
              <a:t>PCB</a:t>
            </a:r>
            <a:r>
              <a:rPr lang="zh-CN" altLang="en-US" dirty="0">
                <a:latin typeface="Times New Roman" panose="02020603050405020304" pitchFamily="18" charset="0"/>
                <a:ea typeface="楷体_GB2312" pitchFamily="49" charset="-122"/>
                <a:cs typeface="Times New Roman" panose="02020603050405020304" pitchFamily="18" charset="0"/>
              </a:rPr>
              <a:t>中最频繁被引用的是</a:t>
            </a:r>
            <a:r>
              <a:rPr lang="en-US" altLang="zh-CN" dirty="0" err="1">
                <a:latin typeface="Times New Roman" panose="02020603050405020304" pitchFamily="18" charset="0"/>
                <a:ea typeface="楷体_GB2312" pitchFamily="49" charset="-122"/>
                <a:cs typeface="Times New Roman" panose="02020603050405020304" pitchFamily="18" charset="0"/>
              </a:rPr>
              <a:t>thread_info</a:t>
            </a:r>
            <a:r>
              <a:rPr lang="zh-CN" altLang="en-US" dirty="0">
                <a:latin typeface="Times New Roman" panose="02020603050405020304" pitchFamily="18" charset="0"/>
                <a:ea typeface="楷体_GB2312" pitchFamily="49" charset="-122"/>
                <a:cs typeface="Times New Roman" panose="02020603050405020304" pitchFamily="18" charset="0"/>
              </a:rPr>
              <a:t>。</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随着版本的变化，进程的</a:t>
            </a:r>
            <a:r>
              <a:rPr lang="en-US" altLang="zh-CN" dirty="0">
                <a:latin typeface="Times New Roman" panose="02020603050405020304" pitchFamily="18" charset="0"/>
                <a:ea typeface="楷体_GB2312" pitchFamily="49" charset="-122"/>
                <a:cs typeface="Times New Roman" panose="02020603050405020304" pitchFamily="18" charset="0"/>
              </a:rPr>
              <a:t>PCB</a:t>
            </a:r>
            <a:r>
              <a:rPr lang="zh-CN" altLang="en-US" dirty="0">
                <a:latin typeface="Times New Roman" panose="02020603050405020304" pitchFamily="18" charset="0"/>
                <a:ea typeface="楷体_GB2312" pitchFamily="49" charset="-122"/>
                <a:cs typeface="Times New Roman" panose="02020603050405020304" pitchFamily="18" charset="0"/>
              </a:rPr>
              <a:t>中的内容越来越多，所需空间越来越大，使得留给内核堆栈的空间过小，所以将部分进程控制块移出这个空间，只在核心栈保留了访问频繁的</a:t>
            </a:r>
            <a:r>
              <a:rPr lang="en-US" altLang="zh-CN" dirty="0" err="1">
                <a:latin typeface="Times New Roman" panose="02020603050405020304" pitchFamily="18" charset="0"/>
                <a:ea typeface="楷体_GB2312" pitchFamily="49" charset="-122"/>
                <a:cs typeface="Times New Roman" panose="02020603050405020304" pitchFamily="18" charset="0"/>
              </a:rPr>
              <a:t>thread_info</a:t>
            </a:r>
            <a:r>
              <a:rPr lang="en-US" altLang="zh-CN" dirty="0">
                <a:latin typeface="Times New Roman" panose="02020603050405020304" pitchFamily="18" charset="0"/>
                <a:ea typeface="楷体_GB2312" pitchFamily="49" charset="-122"/>
                <a:cs typeface="Times New Roman" panose="02020603050405020304" pitchFamily="18" charset="0"/>
              </a:rPr>
              <a:t>.</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
        <p:nvSpPr>
          <p:cNvPr id="6" name="Rectangle 2"/>
          <p:cNvSpPr txBox="1">
            <a:spLocks noChangeArrowheads="1"/>
          </p:cNvSpPr>
          <p:nvPr/>
        </p:nvSpPr>
        <p:spPr bwMode="black">
          <a:xfrm>
            <a:off x="611188" y="115888"/>
            <a:ext cx="76327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2pPr>
            <a:lvl3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3pPr>
            <a:lvl4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4pPr>
            <a:lvl5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5pPr>
            <a:lvl6pPr marL="4572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6pPr>
            <a:lvl7pPr marL="9144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7pPr>
            <a:lvl8pPr marL="13716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8pPr>
            <a:lvl9pPr marL="18288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9pPr>
          </a:lstStyle>
          <a:p>
            <a:pPr eaLnBrk="1" hangingPunct="1"/>
            <a:r>
              <a:rPr lang="en-US" altLang="zh-CN" kern="0" dirty="0">
                <a:latin typeface="Times New Roman" panose="02020603050405020304" pitchFamily="18" charset="0"/>
                <a:ea typeface="楷体_GB2312" pitchFamily="49" charset="-122"/>
                <a:cs typeface="Times New Roman" panose="02020603050405020304" pitchFamily="18" charset="0"/>
              </a:rPr>
              <a:t>2.4 Linux</a:t>
            </a:r>
            <a:r>
              <a:rPr lang="zh-CN" altLang="en-US" kern="0" dirty="0">
                <a:latin typeface="Times New Roman" panose="02020603050405020304" pitchFamily="18" charset="0"/>
                <a:ea typeface="楷体_GB2312" pitchFamily="49" charset="-122"/>
                <a:cs typeface="Times New Roman" panose="02020603050405020304" pitchFamily="18" charset="0"/>
              </a:rPr>
              <a:t>进程的系统堆栈</a:t>
            </a:r>
            <a:endParaRPr lang="zh-CN" altLang="en-US" kern="0"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6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69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699">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9699">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969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ChangeArrowheads="1"/>
          </p:cNvSpPr>
          <p:nvPr/>
        </p:nvSpPr>
        <p:spPr bwMode="auto">
          <a:xfrm>
            <a:off x="1085850" y="1141413"/>
            <a:ext cx="6986588" cy="518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buFont typeface="Arial" panose="020B0604020202020204" pitchFamily="34" charset="0"/>
              <a:buChar char="•"/>
            </a:pPr>
            <a:r>
              <a:rPr lang="zh-CN" altLang="en-US" dirty="0">
                <a:latin typeface="楷体_GB2312" pitchFamily="49" charset="-122"/>
                <a:ea typeface="楷体_GB2312" pitchFamily="49" charset="-122"/>
              </a:rPr>
              <a:t>进程链表 </a:t>
            </a:r>
            <a:endParaRPr lang="zh-CN" altLang="en-US" dirty="0">
              <a:latin typeface="楷体_GB2312" pitchFamily="49" charset="-122"/>
              <a:ea typeface="楷体_GB2312" pitchFamily="49" charset="-122"/>
            </a:endParaRPr>
          </a:p>
          <a:p>
            <a:pPr>
              <a:buFont typeface="Arial" panose="020B0604020202020204" pitchFamily="34" charset="0"/>
              <a:buChar char="•"/>
            </a:pPr>
            <a:r>
              <a:rPr lang="zh-CN" altLang="en-US" dirty="0">
                <a:latin typeface="楷体_GB2312" pitchFamily="49" charset="-122"/>
                <a:ea typeface="楷体_GB2312" pitchFamily="49" charset="-122"/>
              </a:rPr>
              <a:t>运行队列链表</a:t>
            </a:r>
            <a:endParaRPr lang="zh-CN" altLang="en-US" dirty="0">
              <a:latin typeface="楷体_GB2312" pitchFamily="49" charset="-122"/>
              <a:ea typeface="楷体_GB2312" pitchFamily="49" charset="-122"/>
            </a:endParaRPr>
          </a:p>
          <a:p>
            <a:pPr>
              <a:buFont typeface="Arial" panose="020B0604020202020204" pitchFamily="34" charset="0"/>
              <a:buChar char="•"/>
            </a:pPr>
            <a:r>
              <a:rPr lang="zh-CN" altLang="en-US" dirty="0">
                <a:latin typeface="楷体_GB2312" pitchFamily="49" charset="-122"/>
                <a:ea typeface="楷体_GB2312" pitchFamily="49" charset="-122"/>
              </a:rPr>
              <a:t>等待队列链表</a:t>
            </a:r>
            <a:endParaRPr lang="zh-CN" altLang="en-US" dirty="0">
              <a:latin typeface="楷体_GB2312" pitchFamily="49" charset="-122"/>
              <a:ea typeface="楷体_GB2312" pitchFamily="49" charset="-122"/>
            </a:endParaRPr>
          </a:p>
          <a:p>
            <a:pPr>
              <a:buFont typeface="Arial" panose="020B0604020202020204" pitchFamily="34" charset="0"/>
              <a:buChar char="•"/>
            </a:pPr>
            <a:r>
              <a:rPr lang="zh-CN" altLang="en-US" dirty="0">
                <a:latin typeface="楷体_GB2312" pitchFamily="49" charset="-122"/>
                <a:ea typeface="楷体_GB2312" pitchFamily="49" charset="-122"/>
              </a:rPr>
              <a:t>哈希链表</a:t>
            </a:r>
            <a:endParaRPr lang="zh-CN" altLang="en-US" dirty="0">
              <a:latin typeface="楷体_GB2312" pitchFamily="49" charset="-122"/>
              <a:ea typeface="楷体_GB2312" pitchFamily="49" charset="-122"/>
            </a:endParaRPr>
          </a:p>
          <a:p>
            <a:pPr>
              <a:buFont typeface="Arial" panose="020B0604020202020204" pitchFamily="34" charset="0"/>
              <a:buChar char="•"/>
            </a:pPr>
            <a:r>
              <a:rPr lang="zh-CN" altLang="en-US" dirty="0">
                <a:latin typeface="楷体_GB2312" pitchFamily="49" charset="-122"/>
                <a:ea typeface="楷体_GB2312" pitchFamily="49" charset="-122"/>
              </a:rPr>
              <a:t>指向当前进程的</a:t>
            </a:r>
            <a:r>
              <a:rPr lang="en-US" altLang="zh-CN" dirty="0">
                <a:latin typeface="楷体_GB2312" pitchFamily="49" charset="-122"/>
                <a:ea typeface="楷体_GB2312" pitchFamily="49" charset="-122"/>
              </a:rPr>
              <a:t>current</a:t>
            </a:r>
            <a:r>
              <a:rPr lang="zh-CN" altLang="en-US" dirty="0">
                <a:latin typeface="楷体_GB2312" pitchFamily="49" charset="-122"/>
                <a:ea typeface="楷体_GB2312" pitchFamily="49" charset="-122"/>
              </a:rPr>
              <a:t>指针</a:t>
            </a:r>
            <a:endParaRPr lang="zh-CN" altLang="en-US" dirty="0">
              <a:latin typeface="楷体_GB2312" pitchFamily="49" charset="-122"/>
              <a:ea typeface="楷体_GB2312" pitchFamily="49" charset="-122"/>
            </a:endParaRPr>
          </a:p>
        </p:txBody>
      </p:sp>
      <p:sp>
        <p:nvSpPr>
          <p:cNvPr id="386053" name="Rectangle 5"/>
          <p:cNvSpPr>
            <a:spLocks noChangeArrowheads="1"/>
          </p:cNvSpPr>
          <p:nvPr/>
        </p:nvSpPr>
        <p:spPr bwMode="auto">
          <a:xfrm>
            <a:off x="323850" y="0"/>
            <a:ext cx="8229600" cy="1139825"/>
          </a:xfrm>
          <a:prstGeom prst="rect">
            <a:avLst/>
          </a:prstGeom>
          <a:noFill/>
          <a:ln w="9525">
            <a:noFill/>
            <a:miter lim="800000"/>
          </a:ln>
          <a:effectLst/>
        </p:spPr>
        <p:txBody>
          <a:bodyPr anchor="ctr" anchorCtr="1"/>
          <a:lstStyle/>
          <a:p>
            <a:pPr algn="ctr" eaLnBrk="1" hangingPunct="1">
              <a:defRPr/>
            </a:pPr>
            <a:r>
              <a:rPr lang="en-US" altLang="zh-CN" sz="3200" b="1" dirty="0">
                <a:ea typeface="楷体_GB2312" pitchFamily="49" charset="-122"/>
                <a:cs typeface="Times New Roman" panose="02020603050405020304" pitchFamily="18" charset="0"/>
              </a:rPr>
              <a:t>2.5 Linux</a:t>
            </a:r>
            <a:r>
              <a:rPr lang="zh-CN" altLang="en-US" sz="3200" b="1" dirty="0">
                <a:ea typeface="楷体_GB2312" pitchFamily="49" charset="-122"/>
                <a:cs typeface="Times New Roman" panose="02020603050405020304" pitchFamily="18" charset="0"/>
              </a:rPr>
              <a:t>进程的链表结构</a:t>
            </a:r>
            <a:endParaRPr lang="zh-CN" altLang="en-US" sz="3200" b="1" dirty="0">
              <a:ea typeface="楷体_GB2312" pitchFamily="49" charset="-122"/>
              <a:cs typeface="Times New Roman" panose="02020603050405020304"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4"/>
          <p:cNvSpPr>
            <a:spLocks noGrp="1" noChangeArrowheads="1"/>
          </p:cNvSpPr>
          <p:nvPr>
            <p:ph type="body" idx="1"/>
          </p:nvPr>
        </p:nvSpPr>
        <p:spPr/>
        <p:txBody>
          <a:bodyPr/>
          <a:lstStyle/>
          <a:p>
            <a:pPr eaLnBrk="1" hangingPunct="1"/>
            <a:r>
              <a:rPr lang="zh-CN" altLang="en-US" dirty="0">
                <a:latin typeface="Times New Roman" panose="02020603050405020304" pitchFamily="18" charset="0"/>
                <a:ea typeface="楷体_GB2312" pitchFamily="49" charset="-122"/>
                <a:cs typeface="Times New Roman" panose="02020603050405020304" pitchFamily="18" charset="0"/>
              </a:rPr>
              <a:t>为了对给定类型的进程，如所有在可运行状态下的进程进行有效搜索，内核维护了几个进程链表</a:t>
            </a:r>
            <a:r>
              <a:rPr lang="en-US" altLang="zh-CN" dirty="0">
                <a:latin typeface="Times New Roman" panose="02020603050405020304" pitchFamily="18" charset="0"/>
                <a:ea typeface="楷体_GB2312" pitchFamily="49" charset="-122"/>
                <a:cs typeface="Times New Roman" panose="02020603050405020304" pitchFamily="18" charset="0"/>
              </a:rPr>
              <a:t>:</a:t>
            </a:r>
            <a:endParaRPr lang="en-US" altLang="zh-CN" dirty="0">
              <a:latin typeface="Times New Roman" panose="02020603050405020304" pitchFamily="18" charset="0"/>
              <a:ea typeface="楷体_GB2312" pitchFamily="49" charset="-122"/>
              <a:cs typeface="Times New Roman" panose="02020603050405020304" pitchFamily="18" charset="0"/>
            </a:endParaRPr>
          </a:p>
          <a:p>
            <a:pPr lvl="1" eaLnBrk="1" hangingPunct="1"/>
            <a:r>
              <a:rPr lang="zh-CN" altLang="en-US" dirty="0">
                <a:latin typeface="Times New Roman" panose="02020603050405020304" pitchFamily="18" charset="0"/>
                <a:ea typeface="楷体_GB2312" pitchFamily="49" charset="-122"/>
                <a:cs typeface="Times New Roman" panose="02020603050405020304" pitchFamily="18" charset="0"/>
              </a:rPr>
              <a:t>所有进程链表</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r>
              <a:rPr lang="zh-CN" altLang="en-US" dirty="0">
                <a:latin typeface="Times New Roman" panose="02020603050405020304" pitchFamily="18" charset="0"/>
                <a:ea typeface="楷体_GB2312" pitchFamily="49" charset="-122"/>
                <a:cs typeface="Times New Roman" panose="02020603050405020304" pitchFamily="18" charset="0"/>
              </a:rPr>
              <a:t>运行队列</a:t>
            </a:r>
            <a:endParaRPr lang="en-US" altLang="zh-CN" dirty="0">
              <a:latin typeface="Times New Roman" panose="02020603050405020304" pitchFamily="18" charset="0"/>
              <a:ea typeface="楷体_GB2312" pitchFamily="49" charset="-122"/>
              <a:cs typeface="Times New Roman" panose="02020603050405020304" pitchFamily="18" charset="0"/>
            </a:endParaRPr>
          </a:p>
          <a:p>
            <a:pPr lvl="1" eaLnBrk="1" hangingPunct="1"/>
            <a:r>
              <a:rPr lang="zh-CN" altLang="en-US" dirty="0">
                <a:latin typeface="Times New Roman" panose="02020603050405020304" pitchFamily="18" charset="0"/>
                <a:ea typeface="楷体_GB2312" pitchFamily="49" charset="-122"/>
                <a:cs typeface="Times New Roman" panose="02020603050405020304" pitchFamily="18" charset="0"/>
              </a:rPr>
              <a:t>等待队列</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r>
              <a:rPr lang="en-US" altLang="zh-CN" dirty="0" err="1">
                <a:latin typeface="Times New Roman" panose="02020603050405020304" pitchFamily="18" charset="0"/>
                <a:ea typeface="楷体_GB2312" pitchFamily="49" charset="-122"/>
                <a:cs typeface="Times New Roman" panose="02020603050405020304" pitchFamily="18" charset="0"/>
              </a:rPr>
              <a:t>pidhash</a:t>
            </a:r>
            <a:r>
              <a:rPr lang="zh-CN" altLang="en-US" dirty="0">
                <a:latin typeface="Times New Roman" panose="02020603050405020304" pitchFamily="18" charset="0"/>
                <a:ea typeface="楷体_GB2312" pitchFamily="49" charset="-122"/>
                <a:cs typeface="Times New Roman" panose="02020603050405020304" pitchFamily="18" charset="0"/>
              </a:rPr>
              <a:t>表</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
        <p:nvSpPr>
          <p:cNvPr id="6" name="Rectangle 5"/>
          <p:cNvSpPr>
            <a:spLocks noChangeArrowheads="1"/>
          </p:cNvSpPr>
          <p:nvPr/>
        </p:nvSpPr>
        <p:spPr bwMode="auto">
          <a:xfrm>
            <a:off x="323850" y="0"/>
            <a:ext cx="8229600" cy="1139825"/>
          </a:xfrm>
          <a:prstGeom prst="rect">
            <a:avLst/>
          </a:prstGeom>
          <a:noFill/>
          <a:ln w="9525">
            <a:noFill/>
            <a:miter lim="800000"/>
          </a:ln>
          <a:effectLst/>
        </p:spPr>
        <p:txBody>
          <a:bodyPr anchor="ctr" anchorCtr="1"/>
          <a:lstStyle/>
          <a:p>
            <a:pPr algn="ctr" eaLnBrk="1" hangingPunct="1">
              <a:defRPr/>
            </a:pPr>
            <a:r>
              <a:rPr lang="en-US" altLang="zh-CN" sz="3200" b="1" dirty="0">
                <a:ea typeface="楷体_GB2312" pitchFamily="49" charset="-122"/>
                <a:cs typeface="Times New Roman" panose="02020603050405020304" pitchFamily="18" charset="0"/>
              </a:rPr>
              <a:t>2.5 Linux</a:t>
            </a:r>
            <a:r>
              <a:rPr lang="zh-CN" altLang="en-US" sz="3200" b="1" dirty="0">
                <a:ea typeface="楷体_GB2312" pitchFamily="49" charset="-122"/>
                <a:cs typeface="Times New Roman" panose="02020603050405020304" pitchFamily="18" charset="0"/>
              </a:rPr>
              <a:t>进程的链表结构</a:t>
            </a:r>
            <a:endParaRPr lang="zh-CN" altLang="en-US" sz="3200" b="1" dirty="0">
              <a:ea typeface="楷体_GB2312" pitchFamily="49" charset="-122"/>
              <a:cs typeface="Times New Roman" panose="02020603050405020304"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899" name="Rectangle 3"/>
          <p:cNvSpPr>
            <a:spLocks noGrp="1" noChangeArrowheads="1"/>
          </p:cNvSpPr>
          <p:nvPr>
            <p:ph type="body" idx="1"/>
          </p:nvPr>
        </p:nvSpPr>
        <p:spPr/>
        <p:txBody>
          <a:bodyPr/>
          <a:lstStyle/>
          <a:p>
            <a:pPr eaLnBrk="1" hangingPunct="1">
              <a:buFont typeface="Arial" panose="020B0604020202020204" pitchFamily="34" charset="0"/>
              <a:buChar char="•"/>
            </a:pPr>
            <a:r>
              <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所有进程链表：</a:t>
            </a:r>
            <a:r>
              <a:rPr lang="zh-CN" altLang="en-US" dirty="0">
                <a:latin typeface="Times New Roman" panose="02020603050405020304" pitchFamily="18" charset="0"/>
                <a:ea typeface="楷体_GB2312" pitchFamily="49" charset="-122"/>
                <a:cs typeface="Times New Roman" panose="02020603050405020304" pitchFamily="18" charset="0"/>
              </a:rPr>
              <a:t>所有的进程用</a:t>
            </a:r>
            <a:r>
              <a:rPr lang="en-US" altLang="zh-CN" dirty="0" err="1">
                <a:latin typeface="Times New Roman" panose="02020603050405020304" pitchFamily="18" charset="0"/>
                <a:ea typeface="楷体_GB2312" pitchFamily="49" charset="-122"/>
                <a:cs typeface="Times New Roman" panose="02020603050405020304" pitchFamily="18" charset="0"/>
              </a:rPr>
              <a:t>task_struct</a:t>
            </a:r>
            <a:r>
              <a:rPr lang="zh-CN" altLang="en-US" dirty="0">
                <a:latin typeface="Times New Roman" panose="02020603050405020304" pitchFamily="18" charset="0"/>
                <a:ea typeface="楷体_GB2312" pitchFamily="49" charset="-122"/>
                <a:cs typeface="Times New Roman" panose="02020603050405020304" pitchFamily="18" charset="0"/>
              </a:rPr>
              <a:t>中的*</a:t>
            </a:r>
            <a:r>
              <a:rPr lang="en-US" altLang="zh-CN" dirty="0" err="1">
                <a:latin typeface="Times New Roman" panose="02020603050405020304" pitchFamily="18" charset="0"/>
                <a:ea typeface="楷体_GB2312" pitchFamily="49" charset="-122"/>
                <a:cs typeface="Times New Roman" panose="02020603050405020304" pitchFamily="18" charset="0"/>
              </a:rPr>
              <a:t>prev_task</a:t>
            </a:r>
            <a:r>
              <a:rPr lang="zh-CN" altLang="en-US" dirty="0">
                <a:latin typeface="Times New Roman" panose="02020603050405020304" pitchFamily="18" charset="0"/>
                <a:ea typeface="楷体_GB2312" pitchFamily="49" charset="-122"/>
                <a:cs typeface="Times New Roman" panose="02020603050405020304" pitchFamily="18" charset="0"/>
              </a:rPr>
              <a:t>和*</a:t>
            </a:r>
            <a:r>
              <a:rPr lang="en-US" altLang="zh-CN" dirty="0" err="1">
                <a:latin typeface="Times New Roman" panose="02020603050405020304" pitchFamily="18" charset="0"/>
                <a:ea typeface="楷体_GB2312" pitchFamily="49" charset="-122"/>
                <a:cs typeface="Times New Roman" panose="02020603050405020304" pitchFamily="18" charset="0"/>
              </a:rPr>
              <a:t>next_task</a:t>
            </a:r>
            <a:r>
              <a:rPr lang="zh-CN" altLang="en-US" dirty="0">
                <a:latin typeface="Times New Roman" panose="02020603050405020304" pitchFamily="18" charset="0"/>
                <a:ea typeface="楷体_GB2312" pitchFamily="49" charset="-122"/>
                <a:cs typeface="Times New Roman" panose="02020603050405020304" pitchFamily="18" charset="0"/>
              </a:rPr>
              <a:t>组成一个</a:t>
            </a:r>
            <a:r>
              <a:rPr lang="zh-CN" altLang="en-US" dirty="0">
                <a:solidFill>
                  <a:schemeClr val="tx1"/>
                </a:solidFill>
                <a:latin typeface="Times New Roman" panose="02020603050405020304" pitchFamily="18" charset="0"/>
                <a:ea typeface="楷体_GB2312" pitchFamily="49" charset="-122"/>
                <a:cs typeface="Times New Roman" panose="02020603050405020304" pitchFamily="18" charset="0"/>
              </a:rPr>
              <a:t>双向</a:t>
            </a:r>
            <a:r>
              <a:rPr lang="zh-CN" altLang="en-US" dirty="0">
                <a:latin typeface="Times New Roman" panose="02020603050405020304" pitchFamily="18" charset="0"/>
                <a:ea typeface="楷体_GB2312" pitchFamily="49" charset="-122"/>
                <a:cs typeface="Times New Roman" panose="02020603050405020304" pitchFamily="18" charset="0"/>
              </a:rPr>
              <a:t>循环链表。链表的头和尾都是</a:t>
            </a:r>
            <a:r>
              <a:rPr lang="en-US" altLang="zh-CN" dirty="0" err="1">
                <a:latin typeface="Times New Roman" panose="02020603050405020304" pitchFamily="18" charset="0"/>
                <a:ea typeface="楷体_GB2312" pitchFamily="49" charset="-122"/>
                <a:cs typeface="Times New Roman" panose="02020603050405020304" pitchFamily="18" charset="0"/>
              </a:rPr>
              <a:t>init_task</a:t>
            </a:r>
            <a:r>
              <a:rPr lang="zh-CN" altLang="en-US" dirty="0">
                <a:latin typeface="Times New Roman" panose="02020603050405020304" pitchFamily="18" charset="0"/>
                <a:ea typeface="楷体_GB2312" pitchFamily="49" charset="-122"/>
                <a:cs typeface="Times New Roman" panose="02020603050405020304" pitchFamily="18" charset="0"/>
              </a:rPr>
              <a:t>。</a:t>
            </a: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en-US" altLang="zh-CN" dirty="0" err="1">
                <a:latin typeface="Times New Roman" panose="02020603050405020304" pitchFamily="18" charset="0"/>
                <a:ea typeface="楷体_GB2312" pitchFamily="49" charset="-122"/>
                <a:cs typeface="Times New Roman" panose="02020603050405020304" pitchFamily="18" charset="0"/>
              </a:rPr>
              <a:t>init_task</a:t>
            </a:r>
            <a:r>
              <a:rPr lang="zh-CN" altLang="en-US" dirty="0">
                <a:latin typeface="Times New Roman" panose="02020603050405020304" pitchFamily="18" charset="0"/>
                <a:ea typeface="楷体_GB2312" pitchFamily="49" charset="-122"/>
                <a:cs typeface="Times New Roman" panose="02020603050405020304" pitchFamily="18" charset="0"/>
              </a:rPr>
              <a:t>的进程描述符是预先由编译器分配的，在运行的过程中保持不变。</a:t>
            </a: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endParaRPr lang="zh-CN" altLang="en-US" dirty="0">
              <a:latin typeface="Times New Roman" panose="02020603050405020304" pitchFamily="18" charset="0"/>
              <a:ea typeface="楷体_GB2312" pitchFamily="49" charset="-122"/>
              <a:cs typeface="Times New Roman" panose="02020603050405020304" pitchFamily="18" charset="0"/>
            </a:endParaRPr>
          </a:p>
        </p:txBody>
      </p:sp>
      <p:pic>
        <p:nvPicPr>
          <p:cNvPr id="464900"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665538" y="5971536"/>
            <a:ext cx="45815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4901" name="Text Box 5"/>
          <p:cNvSpPr txBox="1">
            <a:spLocks noChangeArrowheads="1"/>
          </p:cNvSpPr>
          <p:nvPr/>
        </p:nvSpPr>
        <p:spPr bwMode="auto">
          <a:xfrm>
            <a:off x="1042988" y="5949950"/>
            <a:ext cx="2622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lang="zh-CN" altLang="en-US" sz="2400" b="0">
                <a:solidFill>
                  <a:schemeClr val="tx1"/>
                </a:solidFill>
                <a:latin typeface="Arial" panose="020B0604020202020204" pitchFamily="34" charset="0"/>
                <a:ea typeface="宋体" panose="02010600030101010101" pitchFamily="2" charset="-122"/>
              </a:rPr>
              <a:t>在进程描述符中：</a:t>
            </a:r>
            <a:endParaRPr lang="zh-CN" altLang="en-US" sz="2400" b="0">
              <a:solidFill>
                <a:schemeClr val="tx1"/>
              </a:solidFill>
              <a:latin typeface="Arial" panose="020B0604020202020204" pitchFamily="34" charset="0"/>
              <a:ea typeface="宋体" panose="02010600030101010101" pitchFamily="2" charset="-122"/>
            </a:endParaRPr>
          </a:p>
        </p:txBody>
      </p:sp>
      <p:pic>
        <p:nvPicPr>
          <p:cNvPr id="717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3600450"/>
            <a:ext cx="838200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5"/>
          <p:cNvSpPr>
            <a:spLocks noChangeArrowheads="1"/>
          </p:cNvSpPr>
          <p:nvPr/>
        </p:nvSpPr>
        <p:spPr bwMode="auto">
          <a:xfrm>
            <a:off x="323850" y="0"/>
            <a:ext cx="8229600" cy="1139825"/>
          </a:xfrm>
          <a:prstGeom prst="rect">
            <a:avLst/>
          </a:prstGeom>
          <a:noFill/>
          <a:ln w="9525">
            <a:noFill/>
            <a:miter lim="800000"/>
          </a:ln>
          <a:effectLst/>
        </p:spPr>
        <p:txBody>
          <a:bodyPr anchor="ctr" anchorCtr="1"/>
          <a:lstStyle/>
          <a:p>
            <a:pPr algn="ctr" eaLnBrk="1" hangingPunct="1">
              <a:defRPr/>
            </a:pPr>
            <a:r>
              <a:rPr lang="en-US" altLang="zh-CN" sz="3200" b="1" dirty="0">
                <a:ea typeface="楷体_GB2312" pitchFamily="49" charset="-122"/>
                <a:cs typeface="Times New Roman" panose="02020603050405020304" pitchFamily="18" charset="0"/>
              </a:rPr>
              <a:t>2.5 Linux</a:t>
            </a:r>
            <a:r>
              <a:rPr lang="zh-CN" altLang="en-US" sz="3200" b="1" dirty="0">
                <a:ea typeface="楷体_GB2312" pitchFamily="49" charset="-122"/>
                <a:cs typeface="Times New Roman" panose="02020603050405020304" pitchFamily="18" charset="0"/>
              </a:rPr>
              <a:t>进程的链表结构</a:t>
            </a:r>
            <a:endParaRPr lang="zh-CN" altLang="en-US" sz="3200" b="1" dirty="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48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48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6490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649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4901"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5" name="Rectangle 3"/>
          <p:cNvSpPr>
            <a:spLocks noGrp="1" noChangeArrowheads="1"/>
          </p:cNvSpPr>
          <p:nvPr>
            <p:ph type="body" sz="half" idx="1"/>
          </p:nvPr>
        </p:nvSpPr>
        <p:spPr>
          <a:xfrm>
            <a:off x="395288" y="1052513"/>
            <a:ext cx="8137525" cy="5272087"/>
          </a:xfrm>
        </p:spPr>
        <p:txBody>
          <a:bodyPr/>
          <a:lstStyle/>
          <a:p>
            <a:pPr eaLnBrk="1" hangingPunct="1">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当</a:t>
            </a:r>
            <a:r>
              <a:rPr lang="en-US" altLang="zh-CN" sz="2400" dirty="0">
                <a:latin typeface="Times New Roman" panose="02020603050405020304" pitchFamily="18" charset="0"/>
                <a:ea typeface="楷体_GB2312" pitchFamily="49" charset="-122"/>
                <a:cs typeface="Times New Roman" panose="02020603050405020304" pitchFamily="18" charset="0"/>
              </a:rPr>
              <a:t>CPU</a:t>
            </a:r>
            <a:r>
              <a:rPr lang="zh-CN" altLang="en-US" sz="2400" dirty="0">
                <a:latin typeface="Times New Roman" panose="02020603050405020304" pitchFamily="18" charset="0"/>
                <a:ea typeface="楷体_GB2312" pitchFamily="49" charset="-122"/>
                <a:cs typeface="Times New Roman" panose="02020603050405020304" pitchFamily="18" charset="0"/>
              </a:rPr>
              <a:t>空闲时，内核调度程序寻找一个新的进程在</a:t>
            </a:r>
            <a:r>
              <a:rPr lang="en-US" altLang="zh-CN" sz="2400" dirty="0">
                <a:latin typeface="Times New Roman" panose="02020603050405020304" pitchFamily="18" charset="0"/>
                <a:ea typeface="楷体_GB2312" pitchFamily="49" charset="-122"/>
                <a:cs typeface="Times New Roman" panose="02020603050405020304" pitchFamily="18" charset="0"/>
              </a:rPr>
              <a:t>CPU</a:t>
            </a:r>
            <a:r>
              <a:rPr lang="zh-CN" altLang="en-US" sz="2400" dirty="0">
                <a:latin typeface="Times New Roman" panose="02020603050405020304" pitchFamily="18" charset="0"/>
                <a:ea typeface="楷体_GB2312" pitchFamily="49" charset="-122"/>
                <a:cs typeface="Times New Roman" panose="02020603050405020304" pitchFamily="18" charset="0"/>
              </a:rPr>
              <a:t>上运行时，必须只考虑可运行进程，因为扫描整个进程链表效率很低。</a:t>
            </a: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由此，引入了</a:t>
            </a:r>
            <a:r>
              <a:rPr lang="en-US" altLang="zh-CN" sz="2400" dirty="0">
                <a:latin typeface="Times New Roman" panose="02020603050405020304" pitchFamily="18" charset="0"/>
                <a:ea typeface="楷体_GB2312" pitchFamily="49" charset="-122"/>
                <a:cs typeface="Times New Roman" panose="02020603050405020304" pitchFamily="18" charset="0"/>
              </a:rPr>
              <a:t>TASK_RUNNING</a:t>
            </a:r>
            <a:r>
              <a:rPr lang="zh-CN" altLang="en-US" sz="2400" dirty="0">
                <a:latin typeface="Times New Roman" panose="02020603050405020304" pitchFamily="18" charset="0"/>
                <a:ea typeface="楷体_GB2312" pitchFamily="49" charset="-122"/>
                <a:cs typeface="Times New Roman" panose="02020603050405020304" pitchFamily="18" charset="0"/>
              </a:rPr>
              <a:t>状态的进程双向循环链表，也叫</a:t>
            </a:r>
            <a:r>
              <a:rPr lang="zh-CN" altLang="en-US" sz="2400" dirty="0">
                <a:solidFill>
                  <a:srgbClr val="FF0000"/>
                </a:solidFill>
                <a:latin typeface="Times New Roman" panose="02020603050405020304" pitchFamily="18" charset="0"/>
                <a:ea typeface="楷体_GB2312" pitchFamily="49" charset="-122"/>
                <a:cs typeface="Times New Roman" panose="02020603050405020304" pitchFamily="18" charset="0"/>
              </a:rPr>
              <a:t>运行队列（</a:t>
            </a:r>
            <a:r>
              <a:rPr lang="en-US" altLang="zh-CN" sz="2400" dirty="0">
                <a:solidFill>
                  <a:srgbClr val="FF0000"/>
                </a:solidFill>
                <a:latin typeface="Times New Roman" panose="02020603050405020304" pitchFamily="18" charset="0"/>
                <a:ea typeface="楷体_GB2312" pitchFamily="49" charset="-122"/>
                <a:cs typeface="Times New Roman" panose="02020603050405020304" pitchFamily="18" charset="0"/>
              </a:rPr>
              <a:t>running queue</a:t>
            </a:r>
            <a:r>
              <a:rPr lang="zh-CN" altLang="en-US" sz="2400" dirty="0">
                <a:solidFill>
                  <a:srgbClr val="FF0000"/>
                </a:solidFill>
                <a:latin typeface="Times New Roman" panose="02020603050405020304" pitchFamily="18" charset="0"/>
                <a:ea typeface="楷体_GB2312" pitchFamily="49" charset="-122"/>
                <a:cs typeface="Times New Roman" panose="02020603050405020304" pitchFamily="18" charset="0"/>
              </a:rPr>
              <a:t>）。</a:t>
            </a:r>
            <a:endParaRPr lang="zh-CN" altLang="en-US" sz="2400" dirty="0">
              <a:solidFill>
                <a:srgbClr val="FF0000"/>
              </a:solidFill>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进程描述符使用</a:t>
            </a:r>
            <a:r>
              <a:rPr lang="en-US" altLang="zh-CN" sz="2400" dirty="0" err="1">
                <a:latin typeface="Times New Roman" panose="02020603050405020304" pitchFamily="18" charset="0"/>
                <a:ea typeface="楷体_GB2312" pitchFamily="49" charset="-122"/>
                <a:cs typeface="Times New Roman" panose="02020603050405020304" pitchFamily="18" charset="0"/>
              </a:rPr>
              <a:t>list_head</a:t>
            </a:r>
            <a:r>
              <a:rPr lang="zh-CN" altLang="en-US" sz="2400" dirty="0">
                <a:latin typeface="Times New Roman" panose="02020603050405020304" pitchFamily="18" charset="0"/>
                <a:ea typeface="楷体_GB2312" pitchFamily="49" charset="-122"/>
                <a:cs typeface="Times New Roman" panose="02020603050405020304" pitchFamily="18" charset="0"/>
              </a:rPr>
              <a:t>用来实现运行队列</a:t>
            </a:r>
            <a:br>
              <a:rPr lang="zh-CN" altLang="en-US" sz="2000" dirty="0">
                <a:latin typeface="Times New Roman" panose="02020603050405020304" pitchFamily="18" charset="0"/>
                <a:ea typeface="楷体_GB2312" pitchFamily="49" charset="-122"/>
                <a:cs typeface="Times New Roman" panose="02020603050405020304" pitchFamily="18" charset="0"/>
              </a:rPr>
            </a:br>
            <a:br>
              <a:rPr lang="zh-CN" altLang="en-US" sz="2000" dirty="0">
                <a:latin typeface="Times New Roman" panose="02020603050405020304" pitchFamily="18" charset="0"/>
                <a:ea typeface="楷体_GB2312" pitchFamily="49" charset="-122"/>
                <a:cs typeface="Times New Roman" panose="02020603050405020304" pitchFamily="18" charset="0"/>
              </a:rPr>
            </a:br>
            <a:endParaRPr lang="zh-CN" altLang="en-US" sz="20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en-US" altLang="zh-CN" sz="2400" dirty="0" err="1">
                <a:latin typeface="Times New Roman" panose="02020603050405020304" pitchFamily="18" charset="0"/>
                <a:ea typeface="楷体_GB2312" pitchFamily="49" charset="-122"/>
                <a:cs typeface="Times New Roman" panose="02020603050405020304" pitchFamily="18" charset="0"/>
              </a:rPr>
              <a:t>list_head</a:t>
            </a:r>
            <a:r>
              <a:rPr lang="zh-CN" altLang="en-US" sz="2400" dirty="0">
                <a:latin typeface="Times New Roman" panose="02020603050405020304" pitchFamily="18" charset="0"/>
                <a:ea typeface="楷体_GB2312" pitchFamily="49" charset="-122"/>
                <a:cs typeface="Times New Roman" panose="02020603050405020304" pitchFamily="18" charset="0"/>
              </a:rPr>
              <a:t>是</a:t>
            </a:r>
            <a:r>
              <a:rPr lang="en-US" altLang="zh-CN" sz="2400" dirty="0">
                <a:latin typeface="Times New Roman" panose="02020603050405020304" pitchFamily="18" charset="0"/>
                <a:ea typeface="楷体_GB2312" pitchFamily="49" charset="-122"/>
                <a:cs typeface="Times New Roman" panose="02020603050405020304" pitchFamily="18" charset="0"/>
              </a:rPr>
              <a:t>Linux</a:t>
            </a:r>
            <a:r>
              <a:rPr lang="zh-CN" altLang="en-US" sz="2400" dirty="0">
                <a:latin typeface="Times New Roman" panose="02020603050405020304" pitchFamily="18" charset="0"/>
                <a:ea typeface="楷体_GB2312" pitchFamily="49" charset="-122"/>
                <a:cs typeface="Times New Roman" panose="02020603050405020304" pitchFamily="18" charset="0"/>
              </a:rPr>
              <a:t>内核当中定义的一个数据结构用来实现双向链表 </a:t>
            </a:r>
            <a:r>
              <a:rPr lang="en-US" altLang="zh-CN" sz="2400" dirty="0">
                <a:latin typeface="Times New Roman" panose="02020603050405020304" pitchFamily="18" charset="0"/>
                <a:ea typeface="楷体_GB2312" pitchFamily="49" charset="-122"/>
                <a:cs typeface="Times New Roman" panose="02020603050405020304" pitchFamily="18" charset="0"/>
              </a:rPr>
              <a:t>(include\</a:t>
            </a:r>
            <a:r>
              <a:rPr lang="en-US" altLang="zh-CN" sz="2400" dirty="0" err="1">
                <a:latin typeface="Times New Roman" panose="02020603050405020304" pitchFamily="18" charset="0"/>
                <a:ea typeface="楷体_GB2312" pitchFamily="49" charset="-122"/>
                <a:cs typeface="Times New Roman" panose="02020603050405020304" pitchFamily="18" charset="0"/>
              </a:rPr>
              <a:t>list.h</a:t>
            </a:r>
            <a:r>
              <a:rPr lang="en-US" altLang="zh-CN" sz="2400" dirty="0">
                <a:latin typeface="Times New Roman" panose="02020603050405020304" pitchFamily="18" charset="0"/>
                <a:ea typeface="楷体_GB2312" pitchFamily="49" charset="-122"/>
                <a:cs typeface="Times New Roman" panose="02020603050405020304" pitchFamily="18" charset="0"/>
              </a:rPr>
              <a:t>)</a:t>
            </a:r>
            <a:endParaRPr lang="en-US" altLang="zh-CN" sz="2400" dirty="0">
              <a:latin typeface="Times New Roman" panose="02020603050405020304" pitchFamily="18" charset="0"/>
              <a:ea typeface="楷体_GB2312" pitchFamily="49" charset="-122"/>
              <a:cs typeface="Times New Roman" panose="02020603050405020304" pitchFamily="18" charset="0"/>
            </a:endParaRPr>
          </a:p>
          <a:p>
            <a:pPr marL="0" indent="0" eaLnBrk="1" hangingPunct="1">
              <a:buNone/>
            </a:pPr>
            <a:r>
              <a:rPr lang="en-US" altLang="zh-CN" sz="2400" dirty="0">
                <a:latin typeface="Times New Roman" panose="02020603050405020304" pitchFamily="18" charset="0"/>
                <a:ea typeface="楷体_GB2312" pitchFamily="49" charset="-122"/>
                <a:cs typeface="Times New Roman" panose="02020603050405020304" pitchFamily="18" charset="0"/>
              </a:rPr>
              <a:t>    </a:t>
            </a:r>
            <a:r>
              <a:rPr lang="en-US" altLang="zh-CN" sz="2400" dirty="0" err="1">
                <a:latin typeface="Times New Roman" panose="02020603050405020304" pitchFamily="18" charset="0"/>
                <a:ea typeface="楷体_GB2312" pitchFamily="49" charset="-122"/>
                <a:cs typeface="Times New Roman" panose="02020603050405020304" pitchFamily="18" charset="0"/>
              </a:rPr>
              <a:t>struct</a:t>
            </a:r>
            <a:r>
              <a:rPr lang="en-US" altLang="zh-CN" sz="2400" dirty="0">
                <a:latin typeface="Times New Roman" panose="02020603050405020304" pitchFamily="18" charset="0"/>
                <a:ea typeface="楷体_GB2312" pitchFamily="49" charset="-122"/>
                <a:cs typeface="Times New Roman" panose="02020603050405020304" pitchFamily="18" charset="0"/>
              </a:rPr>
              <a:t> </a:t>
            </a:r>
            <a:r>
              <a:rPr lang="en-US" altLang="zh-CN" sz="2400" dirty="0" err="1">
                <a:latin typeface="Times New Roman" panose="02020603050405020304" pitchFamily="18" charset="0"/>
                <a:ea typeface="楷体_GB2312" pitchFamily="49" charset="-122"/>
                <a:cs typeface="Times New Roman" panose="02020603050405020304" pitchFamily="18" charset="0"/>
              </a:rPr>
              <a:t>list_head</a:t>
            </a:r>
            <a:r>
              <a:rPr lang="en-US" altLang="zh-CN" sz="2400" dirty="0">
                <a:latin typeface="Times New Roman" panose="02020603050405020304" pitchFamily="18" charset="0"/>
                <a:ea typeface="楷体_GB2312" pitchFamily="49" charset="-122"/>
                <a:cs typeface="Times New Roman" panose="02020603050405020304" pitchFamily="18" charset="0"/>
              </a:rPr>
              <a:t> {</a:t>
            </a:r>
            <a:endParaRPr lang="en-US" altLang="zh-CN" sz="2400" dirty="0">
              <a:latin typeface="Times New Roman" panose="02020603050405020304" pitchFamily="18" charset="0"/>
              <a:ea typeface="楷体_GB2312" pitchFamily="49" charset="-122"/>
              <a:cs typeface="Times New Roman" panose="02020603050405020304" pitchFamily="18" charset="0"/>
            </a:endParaRPr>
          </a:p>
          <a:p>
            <a:pPr marL="0" indent="0" eaLnBrk="1" hangingPunct="1">
              <a:buNone/>
            </a:pPr>
            <a:r>
              <a:rPr lang="en-US" altLang="zh-CN" sz="2400" dirty="0">
                <a:latin typeface="Times New Roman" panose="02020603050405020304" pitchFamily="18" charset="0"/>
                <a:ea typeface="楷体_GB2312" pitchFamily="49" charset="-122"/>
                <a:cs typeface="Times New Roman" panose="02020603050405020304" pitchFamily="18" charset="0"/>
              </a:rPr>
              <a:t>    	</a:t>
            </a:r>
            <a:r>
              <a:rPr lang="en-US" altLang="zh-CN" sz="2400" dirty="0" err="1">
                <a:latin typeface="Times New Roman" panose="02020603050405020304" pitchFamily="18" charset="0"/>
                <a:ea typeface="楷体_GB2312" pitchFamily="49" charset="-122"/>
                <a:cs typeface="Times New Roman" panose="02020603050405020304" pitchFamily="18" charset="0"/>
              </a:rPr>
              <a:t>struct</a:t>
            </a:r>
            <a:r>
              <a:rPr lang="en-US" altLang="zh-CN" sz="2400" dirty="0">
                <a:latin typeface="Times New Roman" panose="02020603050405020304" pitchFamily="18" charset="0"/>
                <a:ea typeface="楷体_GB2312" pitchFamily="49" charset="-122"/>
                <a:cs typeface="Times New Roman" panose="02020603050405020304" pitchFamily="18" charset="0"/>
              </a:rPr>
              <a:t> </a:t>
            </a:r>
            <a:r>
              <a:rPr lang="en-US" altLang="zh-CN" sz="2400" dirty="0" err="1">
                <a:latin typeface="Times New Roman" panose="02020603050405020304" pitchFamily="18" charset="0"/>
                <a:ea typeface="楷体_GB2312" pitchFamily="49" charset="-122"/>
                <a:cs typeface="Times New Roman" panose="02020603050405020304" pitchFamily="18" charset="0"/>
              </a:rPr>
              <a:t>list_head</a:t>
            </a:r>
            <a:r>
              <a:rPr lang="en-US" altLang="zh-CN" sz="2400" dirty="0">
                <a:latin typeface="Times New Roman" panose="02020603050405020304" pitchFamily="18" charset="0"/>
                <a:ea typeface="楷体_GB2312" pitchFamily="49" charset="-122"/>
                <a:cs typeface="Times New Roman" panose="02020603050405020304" pitchFamily="18" charset="0"/>
              </a:rPr>
              <a:t> *next, *</a:t>
            </a:r>
            <a:r>
              <a:rPr lang="en-US" altLang="zh-CN" sz="2400" dirty="0" err="1">
                <a:latin typeface="Times New Roman" panose="02020603050405020304" pitchFamily="18" charset="0"/>
                <a:ea typeface="楷体_GB2312" pitchFamily="49" charset="-122"/>
                <a:cs typeface="Times New Roman" panose="02020603050405020304" pitchFamily="18" charset="0"/>
              </a:rPr>
              <a:t>prev</a:t>
            </a:r>
            <a:r>
              <a:rPr lang="en-US" altLang="zh-CN" sz="2400" dirty="0">
                <a:latin typeface="Times New Roman" panose="02020603050405020304" pitchFamily="18" charset="0"/>
                <a:ea typeface="楷体_GB2312" pitchFamily="49" charset="-122"/>
                <a:cs typeface="Times New Roman" panose="02020603050405020304" pitchFamily="18" charset="0"/>
              </a:rPr>
              <a:t>;     };</a:t>
            </a:r>
            <a:endParaRPr lang="en-US" altLang="zh-CN" sz="2400" dirty="0">
              <a:latin typeface="Times New Roman" panose="02020603050405020304" pitchFamily="18" charset="0"/>
              <a:ea typeface="楷体_GB2312" pitchFamily="49" charset="-122"/>
              <a:cs typeface="Times New Roman" panose="02020603050405020304" pitchFamily="18" charset="0"/>
            </a:endParaRPr>
          </a:p>
        </p:txBody>
      </p:sp>
      <p:pic>
        <p:nvPicPr>
          <p:cNvPr id="371716"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03350" y="3644900"/>
            <a:ext cx="43211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5"/>
          <p:cNvSpPr>
            <a:spLocks noChangeArrowheads="1"/>
          </p:cNvSpPr>
          <p:nvPr/>
        </p:nvSpPr>
        <p:spPr bwMode="auto">
          <a:xfrm>
            <a:off x="323850" y="0"/>
            <a:ext cx="8229600" cy="1139825"/>
          </a:xfrm>
          <a:prstGeom prst="rect">
            <a:avLst/>
          </a:prstGeom>
          <a:noFill/>
          <a:ln w="9525">
            <a:noFill/>
            <a:miter lim="800000"/>
          </a:ln>
          <a:effectLst/>
        </p:spPr>
        <p:txBody>
          <a:bodyPr anchor="ctr" anchorCtr="1"/>
          <a:lstStyle/>
          <a:p>
            <a:pPr algn="ctr" eaLnBrk="1" hangingPunct="1">
              <a:defRPr/>
            </a:pPr>
            <a:r>
              <a:rPr lang="en-US" altLang="zh-CN" sz="3200" b="1" dirty="0">
                <a:ea typeface="楷体_GB2312" pitchFamily="49" charset="-122"/>
                <a:cs typeface="Times New Roman" panose="02020603050405020304" pitchFamily="18" charset="0"/>
              </a:rPr>
              <a:t>2.5 Linux</a:t>
            </a:r>
            <a:r>
              <a:rPr lang="zh-CN" altLang="en-US" sz="3200" b="1" dirty="0">
                <a:ea typeface="楷体_GB2312" pitchFamily="49" charset="-122"/>
                <a:cs typeface="Times New Roman" panose="02020603050405020304" pitchFamily="18" charset="0"/>
              </a:rPr>
              <a:t>进程的链表结构</a:t>
            </a:r>
            <a:endParaRPr lang="zh-CN" altLang="en-US" sz="3200" b="1" dirty="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17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7171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7171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7171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7171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71715">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717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1715"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type="body" idx="1"/>
          </p:nvPr>
        </p:nvSpPr>
        <p:spPr>
          <a:xfrm>
            <a:off x="395288" y="1052513"/>
            <a:ext cx="8291512" cy="4392711"/>
          </a:xfrm>
        </p:spPr>
        <p:txBody>
          <a:bodyPr/>
          <a:lstStyle/>
          <a:p>
            <a:pPr eaLnBrk="1" hangingPunct="1">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对可运行队列的一些操作函数</a:t>
            </a:r>
            <a:endParaRPr lang="zh-CN" altLang="en-US" sz="2600" dirty="0"/>
          </a:p>
        </p:txBody>
      </p:sp>
      <p:pic>
        <p:nvPicPr>
          <p:cNvPr id="372740"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27088" y="2420938"/>
            <a:ext cx="264795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2741"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650" y="3357563"/>
            <a:ext cx="295275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2742" name="Line 6"/>
          <p:cNvSpPr>
            <a:spLocks noChangeShapeType="1"/>
          </p:cNvSpPr>
          <p:nvPr/>
        </p:nvSpPr>
        <p:spPr bwMode="auto">
          <a:xfrm>
            <a:off x="3492500" y="2492375"/>
            <a:ext cx="719138" cy="2159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2743" name="Line 7"/>
          <p:cNvSpPr>
            <a:spLocks noChangeShapeType="1"/>
          </p:cNvSpPr>
          <p:nvPr/>
        </p:nvSpPr>
        <p:spPr bwMode="auto">
          <a:xfrm flipV="1">
            <a:off x="3563938" y="2708275"/>
            <a:ext cx="647700" cy="2159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2744" name="Text Box 8"/>
          <p:cNvSpPr txBox="1">
            <a:spLocks noChangeArrowheads="1"/>
          </p:cNvSpPr>
          <p:nvPr/>
        </p:nvSpPr>
        <p:spPr bwMode="auto">
          <a:xfrm>
            <a:off x="4192588" y="2513013"/>
            <a:ext cx="2762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lang="zh-CN" altLang="en-US" sz="1800" b="0">
                <a:solidFill>
                  <a:schemeClr val="tx1"/>
                </a:solidFill>
                <a:latin typeface="Arial" panose="020B0604020202020204" pitchFamily="34" charset="0"/>
                <a:ea typeface="宋体" panose="02010600030101010101" pitchFamily="2" charset="-122"/>
              </a:rPr>
              <a:t>增加</a:t>
            </a:r>
            <a:r>
              <a:rPr lang="en-US" altLang="zh-CN" sz="1800" b="0">
                <a:solidFill>
                  <a:schemeClr val="tx1"/>
                </a:solidFill>
                <a:latin typeface="Arial" panose="020B0604020202020204" pitchFamily="34" charset="0"/>
                <a:ea typeface="宋体" panose="02010600030101010101" pitchFamily="2" charset="-122"/>
              </a:rPr>
              <a:t>/</a:t>
            </a:r>
            <a:r>
              <a:rPr lang="zh-CN" altLang="en-US" sz="1800" b="0">
                <a:solidFill>
                  <a:schemeClr val="tx1"/>
                </a:solidFill>
                <a:latin typeface="Arial" panose="020B0604020202020204" pitchFamily="34" charset="0"/>
                <a:ea typeface="宋体" panose="02010600030101010101" pitchFamily="2" charset="-122"/>
              </a:rPr>
              <a:t>删除一个可运行进程</a:t>
            </a:r>
            <a:endParaRPr lang="zh-CN" altLang="en-US" sz="1800" b="0">
              <a:solidFill>
                <a:schemeClr val="tx1"/>
              </a:solidFill>
              <a:latin typeface="Arial" panose="020B0604020202020204" pitchFamily="34" charset="0"/>
              <a:ea typeface="宋体" panose="02010600030101010101" pitchFamily="2" charset="-122"/>
            </a:endParaRPr>
          </a:p>
        </p:txBody>
      </p:sp>
      <p:sp>
        <p:nvSpPr>
          <p:cNvPr id="372745" name="Line 9"/>
          <p:cNvSpPr>
            <a:spLocks noChangeShapeType="1"/>
          </p:cNvSpPr>
          <p:nvPr/>
        </p:nvSpPr>
        <p:spPr bwMode="auto">
          <a:xfrm>
            <a:off x="3419475" y="3500438"/>
            <a:ext cx="792163"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2746" name="Text Box 10"/>
          <p:cNvSpPr txBox="1">
            <a:spLocks noChangeArrowheads="1"/>
          </p:cNvSpPr>
          <p:nvPr/>
        </p:nvSpPr>
        <p:spPr bwMode="auto">
          <a:xfrm>
            <a:off x="4192588" y="3290888"/>
            <a:ext cx="4070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lang="zh-CN" altLang="en-US" sz="1800" b="0">
                <a:solidFill>
                  <a:schemeClr val="tx1"/>
                </a:solidFill>
                <a:latin typeface="Arial" panose="020B0604020202020204" pitchFamily="34" charset="0"/>
                <a:ea typeface="宋体" panose="02010600030101010101" pitchFamily="2" charset="-122"/>
              </a:rPr>
              <a:t>可运行队列的长度，可运行进程的个数</a:t>
            </a:r>
            <a:endParaRPr lang="zh-CN" altLang="en-US" sz="1800" b="0">
              <a:solidFill>
                <a:schemeClr val="tx1"/>
              </a:solidFill>
              <a:latin typeface="Arial" panose="020B0604020202020204" pitchFamily="34" charset="0"/>
              <a:ea typeface="宋体" panose="02010600030101010101" pitchFamily="2" charset="-122"/>
            </a:endParaRPr>
          </a:p>
        </p:txBody>
      </p:sp>
      <p:pic>
        <p:nvPicPr>
          <p:cNvPr id="372747"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4005263"/>
            <a:ext cx="2438400"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2748" name="Line 12"/>
          <p:cNvSpPr>
            <a:spLocks noChangeShapeType="1"/>
          </p:cNvSpPr>
          <p:nvPr/>
        </p:nvSpPr>
        <p:spPr bwMode="auto">
          <a:xfrm>
            <a:off x="3419475" y="4149725"/>
            <a:ext cx="86518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72749" name="Text Box 13"/>
          <p:cNvSpPr txBox="1">
            <a:spLocks noChangeArrowheads="1"/>
          </p:cNvSpPr>
          <p:nvPr/>
        </p:nvSpPr>
        <p:spPr bwMode="auto">
          <a:xfrm>
            <a:off x="4264025" y="3952875"/>
            <a:ext cx="4289425"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lang="zh-CN" altLang="en-US" sz="1800" b="0" dirty="0">
                <a:solidFill>
                  <a:schemeClr val="tx1"/>
                </a:solidFill>
                <a:latin typeface="Arial" panose="020B0604020202020204" pitchFamily="34" charset="0"/>
                <a:ea typeface="宋体" panose="02010600030101010101" pitchFamily="2" charset="-122"/>
              </a:rPr>
              <a:t>唤醒一个进程，将进程的状态设置为</a:t>
            </a:r>
            <a:r>
              <a:rPr lang="en-US" altLang="zh-CN" sz="1800" b="0" dirty="0">
                <a:solidFill>
                  <a:schemeClr val="tx1"/>
                </a:solidFill>
                <a:latin typeface="Arial" panose="020B0604020202020204" pitchFamily="34" charset="0"/>
                <a:ea typeface="宋体" panose="02010600030101010101" pitchFamily="2" charset="-122"/>
              </a:rPr>
              <a:t>TASK_RUNNING</a:t>
            </a:r>
            <a:endParaRPr lang="en-US" altLang="zh-CN" sz="1800" b="0" dirty="0">
              <a:solidFill>
                <a:schemeClr val="tx1"/>
              </a:solidFill>
              <a:latin typeface="Arial" panose="020B0604020202020204" pitchFamily="34" charset="0"/>
              <a:ea typeface="宋体" panose="02010600030101010101" pitchFamily="2" charset="-122"/>
            </a:endParaRPr>
          </a:p>
          <a:p>
            <a:pPr eaLnBrk="1" hangingPunct="1">
              <a:spcBef>
                <a:spcPct val="0"/>
              </a:spcBef>
              <a:buClrTx/>
              <a:buFontTx/>
              <a:buNone/>
            </a:pPr>
            <a:r>
              <a:rPr lang="zh-CN" altLang="en-US" sz="1800" b="0" dirty="0">
                <a:solidFill>
                  <a:schemeClr val="tx1"/>
                </a:solidFill>
                <a:latin typeface="Arial" panose="020B0604020202020204" pitchFamily="34" charset="0"/>
                <a:ea typeface="宋体" panose="02010600030101010101" pitchFamily="2" charset="-122"/>
              </a:rPr>
              <a:t>，使一个进程可运行</a:t>
            </a:r>
            <a:endParaRPr lang="zh-CN" altLang="en-US" sz="1800" b="0" dirty="0">
              <a:solidFill>
                <a:schemeClr val="tx1"/>
              </a:solidFill>
              <a:latin typeface="Arial" panose="020B0604020202020204" pitchFamily="34" charset="0"/>
              <a:ea typeface="宋体" panose="02010600030101010101" pitchFamily="2" charset="-122"/>
            </a:endParaRPr>
          </a:p>
        </p:txBody>
      </p:sp>
      <p:sp>
        <p:nvSpPr>
          <p:cNvPr id="372750" name="Text Box 14"/>
          <p:cNvSpPr txBox="1">
            <a:spLocks noChangeArrowheads="1"/>
          </p:cNvSpPr>
          <p:nvPr/>
        </p:nvSpPr>
        <p:spPr bwMode="auto">
          <a:xfrm>
            <a:off x="879475" y="4473575"/>
            <a:ext cx="6921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lang="en-US" altLang="zh-CN" sz="4000" b="0">
                <a:solidFill>
                  <a:schemeClr val="tx1"/>
                </a:solidFill>
                <a:latin typeface="Arial" panose="020B0604020202020204" pitchFamily="34" charset="0"/>
                <a:ea typeface="宋体" panose="02010600030101010101" pitchFamily="2" charset="-122"/>
              </a:rPr>
              <a:t>…</a:t>
            </a:r>
            <a:endParaRPr lang="en-US" altLang="zh-CN" sz="4000" b="0">
              <a:solidFill>
                <a:schemeClr val="tx1"/>
              </a:solidFill>
              <a:latin typeface="Arial" panose="020B0604020202020204" pitchFamily="34" charset="0"/>
              <a:ea typeface="宋体" panose="02010600030101010101" pitchFamily="2" charset="-122"/>
            </a:endParaRPr>
          </a:p>
        </p:txBody>
      </p:sp>
      <p:sp>
        <p:nvSpPr>
          <p:cNvPr id="15" name="Rectangle 5"/>
          <p:cNvSpPr>
            <a:spLocks noChangeArrowheads="1"/>
          </p:cNvSpPr>
          <p:nvPr/>
        </p:nvSpPr>
        <p:spPr bwMode="auto">
          <a:xfrm>
            <a:off x="323850" y="0"/>
            <a:ext cx="8229600" cy="1139825"/>
          </a:xfrm>
          <a:prstGeom prst="rect">
            <a:avLst/>
          </a:prstGeom>
          <a:noFill/>
          <a:ln w="9525">
            <a:noFill/>
            <a:miter lim="800000"/>
          </a:ln>
          <a:effectLst/>
        </p:spPr>
        <p:txBody>
          <a:bodyPr anchor="ctr" anchorCtr="1"/>
          <a:lstStyle/>
          <a:p>
            <a:pPr algn="ctr" eaLnBrk="1" hangingPunct="1">
              <a:defRPr/>
            </a:pPr>
            <a:r>
              <a:rPr lang="en-US" altLang="zh-CN" sz="3200" b="1" dirty="0">
                <a:ea typeface="楷体_GB2312" pitchFamily="49" charset="-122"/>
                <a:cs typeface="Times New Roman" panose="02020603050405020304" pitchFamily="18" charset="0"/>
              </a:rPr>
              <a:t>2.5 Linux</a:t>
            </a:r>
            <a:r>
              <a:rPr lang="zh-CN" altLang="en-US" sz="3200" b="1" dirty="0">
                <a:ea typeface="楷体_GB2312" pitchFamily="49" charset="-122"/>
                <a:cs typeface="Times New Roman" panose="02020603050405020304" pitchFamily="18" charset="0"/>
              </a:rPr>
              <a:t>进程的链表结构</a:t>
            </a:r>
            <a:endParaRPr lang="zh-CN" altLang="en-US" sz="3200" b="1" dirty="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274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7274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7274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7274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7274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7274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7274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7274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7274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7274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727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2744" grpId="0"/>
      <p:bldP spid="372746" grpId="0"/>
      <p:bldP spid="372749" grpId="0"/>
      <p:bldP spid="372750"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3" name="Rectangle 3"/>
          <p:cNvSpPr>
            <a:spLocks noGrp="1" noChangeArrowheads="1"/>
          </p:cNvSpPr>
          <p:nvPr>
            <p:ph type="body" idx="1"/>
          </p:nvPr>
        </p:nvSpPr>
        <p:spPr/>
        <p:txBody>
          <a:bodyPr/>
          <a:lstStyle/>
          <a:p>
            <a:pPr eaLnBrk="1" hangingPunct="1">
              <a:lnSpc>
                <a:spcPct val="110000"/>
              </a:lnSpc>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为了快速定位进程，系统以</a:t>
            </a:r>
            <a:r>
              <a:rPr lang="en-US" altLang="zh-CN" sz="2400" dirty="0">
                <a:latin typeface="Times New Roman" panose="02020603050405020304" pitchFamily="18" charset="0"/>
                <a:ea typeface="楷体_GB2312" pitchFamily="49" charset="-122"/>
                <a:cs typeface="Times New Roman" panose="02020603050405020304" pitchFamily="18" charset="0"/>
              </a:rPr>
              <a:t>PID</a:t>
            </a:r>
            <a:r>
              <a:rPr lang="zh-CN" altLang="en-US" sz="2400" dirty="0">
                <a:latin typeface="Times New Roman" panose="02020603050405020304" pitchFamily="18" charset="0"/>
                <a:ea typeface="楷体_GB2312" pitchFamily="49" charset="-122"/>
                <a:cs typeface="Times New Roman" panose="02020603050405020304" pitchFamily="18" charset="0"/>
              </a:rPr>
              <a:t>为关键字建立了一个哈希表</a:t>
            </a:r>
            <a:r>
              <a:rPr lang="zh-CN" altLang="en-US" sz="2400"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en-US" altLang="zh-CN" sz="2400" dirty="0" err="1">
                <a:solidFill>
                  <a:srgbClr val="FF0000"/>
                </a:solidFill>
                <a:latin typeface="Times New Roman" panose="02020603050405020304" pitchFamily="18" charset="0"/>
                <a:ea typeface="楷体_GB2312" pitchFamily="49" charset="-122"/>
                <a:cs typeface="Times New Roman" panose="02020603050405020304" pitchFamily="18" charset="0"/>
              </a:rPr>
              <a:t>pidhash</a:t>
            </a:r>
            <a:r>
              <a:rPr lang="zh-CN" altLang="en-US" sz="2400" dirty="0">
                <a:solidFill>
                  <a:srgbClr val="FF0000"/>
                </a:solidFill>
                <a:latin typeface="Times New Roman" panose="02020603050405020304" pitchFamily="18" charset="0"/>
                <a:ea typeface="楷体_GB2312" pitchFamily="49" charset="-122"/>
                <a:cs typeface="Times New Roman" panose="02020603050405020304" pitchFamily="18" charset="0"/>
              </a:rPr>
              <a:t>表）</a:t>
            </a:r>
            <a:r>
              <a:rPr lang="zh-CN" altLang="en-US" sz="2400" dirty="0">
                <a:latin typeface="Times New Roman" panose="02020603050405020304" pitchFamily="18" charset="0"/>
                <a:ea typeface="楷体_GB2312" pitchFamily="49" charset="-122"/>
                <a:cs typeface="Times New Roman" panose="02020603050405020304" pitchFamily="18" charset="0"/>
              </a:rPr>
              <a:t>。若知道进程</a:t>
            </a:r>
            <a:r>
              <a:rPr lang="en-US" altLang="zh-CN" sz="2400" dirty="0">
                <a:latin typeface="Times New Roman" panose="02020603050405020304" pitchFamily="18" charset="0"/>
                <a:ea typeface="楷体_GB2312" pitchFamily="49" charset="-122"/>
                <a:cs typeface="Times New Roman" panose="02020603050405020304" pitchFamily="18" charset="0"/>
              </a:rPr>
              <a:t>PID</a:t>
            </a:r>
            <a:r>
              <a:rPr lang="zh-CN" altLang="en-US" sz="2400" dirty="0">
                <a:latin typeface="Times New Roman" panose="02020603050405020304" pitchFamily="18" charset="0"/>
                <a:ea typeface="楷体_GB2312" pitchFamily="49" charset="-122"/>
                <a:cs typeface="Times New Roman" panose="02020603050405020304" pitchFamily="18" charset="0"/>
              </a:rPr>
              <a:t>，可以通过该哈希表很快找到该进程。</a:t>
            </a: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eaLnBrk="1" hangingPunct="1">
              <a:lnSpc>
                <a:spcPct val="110000"/>
              </a:lnSpc>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例如：</a:t>
            </a:r>
            <a:r>
              <a:rPr lang="en-US" altLang="zh-CN" sz="2400" dirty="0">
                <a:latin typeface="Times New Roman" panose="02020603050405020304" pitchFamily="18" charset="0"/>
                <a:ea typeface="楷体_GB2312" pitchFamily="49" charset="-122"/>
                <a:cs typeface="Times New Roman" panose="02020603050405020304" pitchFamily="18" charset="0"/>
              </a:rPr>
              <a:t>POSIX</a:t>
            </a:r>
            <a:r>
              <a:rPr lang="zh-CN" altLang="en-US" sz="2400" dirty="0">
                <a:latin typeface="Times New Roman" panose="02020603050405020304" pitchFamily="18" charset="0"/>
                <a:ea typeface="楷体_GB2312" pitchFamily="49" charset="-122"/>
                <a:cs typeface="Times New Roman" panose="02020603050405020304" pitchFamily="18" charset="0"/>
              </a:rPr>
              <a:t>规范中规定的系统调用</a:t>
            </a:r>
            <a:r>
              <a:rPr lang="en-US" altLang="zh-CN" sz="2400" dirty="0">
                <a:latin typeface="Times New Roman" panose="02020603050405020304" pitchFamily="18" charset="0"/>
                <a:ea typeface="楷体_GB2312" pitchFamily="49" charset="-122"/>
                <a:cs typeface="Times New Roman" panose="02020603050405020304" pitchFamily="18" charset="0"/>
              </a:rPr>
              <a:t>kill()</a:t>
            </a:r>
            <a:r>
              <a:rPr lang="zh-CN" altLang="en-US" sz="2400" dirty="0">
                <a:latin typeface="Times New Roman" panose="02020603050405020304" pitchFamily="18" charset="0"/>
                <a:ea typeface="楷体_GB2312" pitchFamily="49" charset="-122"/>
                <a:cs typeface="Times New Roman" panose="02020603050405020304" pitchFamily="18" charset="0"/>
              </a:rPr>
              <a:t>是基于进程号向其它进程发送信号。因此，需要一种机制来高效地完成从进程号到进程描述符地址的转换。</a:t>
            </a:r>
            <a:endParaRPr lang="en-US" altLang="zh-CN" sz="24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endParaRPr lang="zh-CN" altLang="en-US" dirty="0">
              <a:solidFill>
                <a:schemeClr val="tx1"/>
              </a:solidFill>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用</a:t>
            </a:r>
            <a:r>
              <a:rPr lang="en-US" altLang="zh-CN" dirty="0" err="1">
                <a:latin typeface="Times New Roman" panose="02020603050405020304" pitchFamily="18" charset="0"/>
                <a:ea typeface="楷体_GB2312" pitchFamily="49" charset="-122"/>
                <a:cs typeface="Times New Roman" panose="02020603050405020304" pitchFamily="18" charset="0"/>
              </a:rPr>
              <a:t>pid_hashfn</a:t>
            </a:r>
            <a:r>
              <a:rPr lang="zh-CN" altLang="en-US" dirty="0">
                <a:latin typeface="Times New Roman" panose="02020603050405020304" pitchFamily="18" charset="0"/>
                <a:ea typeface="楷体_GB2312" pitchFamily="49" charset="-122"/>
                <a:cs typeface="Times New Roman" panose="02020603050405020304" pitchFamily="18" charset="0"/>
              </a:rPr>
              <a:t>宏把</a:t>
            </a:r>
            <a:r>
              <a:rPr lang="en-US" altLang="zh-CN" dirty="0">
                <a:latin typeface="Times New Roman" panose="02020603050405020304" pitchFamily="18" charset="0"/>
                <a:ea typeface="楷体_GB2312" pitchFamily="49" charset="-122"/>
                <a:cs typeface="Times New Roman" panose="02020603050405020304" pitchFamily="18" charset="0"/>
              </a:rPr>
              <a:t>PID</a:t>
            </a:r>
            <a:r>
              <a:rPr lang="zh-CN" altLang="en-US" dirty="0">
                <a:latin typeface="Times New Roman" panose="02020603050405020304" pitchFamily="18" charset="0"/>
                <a:ea typeface="楷体_GB2312" pitchFamily="49" charset="-122"/>
                <a:cs typeface="Times New Roman" panose="02020603050405020304" pitchFamily="18" charset="0"/>
              </a:rPr>
              <a:t>转换成哈希表的索引</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pic>
        <p:nvPicPr>
          <p:cNvPr id="373764"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27088" y="4581525"/>
            <a:ext cx="6578600"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376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4221163"/>
            <a:ext cx="5603875"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376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5229225"/>
            <a:ext cx="827087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5"/>
          <p:cNvSpPr>
            <a:spLocks noChangeArrowheads="1"/>
          </p:cNvSpPr>
          <p:nvPr/>
        </p:nvSpPr>
        <p:spPr bwMode="auto">
          <a:xfrm>
            <a:off x="323850" y="0"/>
            <a:ext cx="8229600" cy="1139825"/>
          </a:xfrm>
          <a:prstGeom prst="rect">
            <a:avLst/>
          </a:prstGeom>
          <a:noFill/>
          <a:ln w="9525">
            <a:noFill/>
            <a:miter lim="800000"/>
          </a:ln>
          <a:effectLst/>
        </p:spPr>
        <p:txBody>
          <a:bodyPr anchor="ctr" anchorCtr="1"/>
          <a:lstStyle/>
          <a:p>
            <a:pPr algn="ctr" eaLnBrk="1" hangingPunct="1">
              <a:defRPr/>
            </a:pPr>
            <a:r>
              <a:rPr lang="en-US" altLang="zh-CN" sz="3200" b="1" dirty="0">
                <a:ea typeface="楷体_GB2312" pitchFamily="49" charset="-122"/>
                <a:cs typeface="Times New Roman" panose="02020603050405020304" pitchFamily="18" charset="0"/>
              </a:rPr>
              <a:t>2.5 Linux</a:t>
            </a:r>
            <a:r>
              <a:rPr lang="zh-CN" altLang="en-US" sz="3200" b="1" dirty="0">
                <a:ea typeface="楷体_GB2312" pitchFamily="49" charset="-122"/>
                <a:cs typeface="Times New Roman" panose="02020603050405020304" pitchFamily="18" charset="0"/>
              </a:rPr>
              <a:t>进程的链表结构</a:t>
            </a:r>
            <a:endParaRPr lang="zh-CN" altLang="en-US" sz="3200" b="1" dirty="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37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7376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7376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7376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7376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737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376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4"/>
          <p:cNvSpPr>
            <a:spLocks noGrp="1" noChangeArrowheads="1"/>
          </p:cNvSpPr>
          <p:nvPr>
            <p:ph type="body" idx="1"/>
          </p:nvPr>
        </p:nvSpPr>
        <p:spPr>
          <a:xfrm>
            <a:off x="539750" y="981075"/>
            <a:ext cx="8229600" cy="4411663"/>
          </a:xfrm>
          <a:noFill/>
        </p:spPr>
        <p:txBody>
          <a:bodyPr/>
          <a:lstStyle/>
          <a:p>
            <a:pPr eaLnBrk="1" hangingPunct="1">
              <a:buFont typeface="Arial" panose="020B0604020202020204" pitchFamily="34" charset="0"/>
              <a:buChar char="•"/>
            </a:pPr>
            <a:r>
              <a:rPr lang="en-US" altLang="zh-CN" dirty="0" err="1">
                <a:latin typeface="Times New Roman" panose="02020603050405020304" pitchFamily="18" charset="0"/>
                <a:ea typeface="楷体_GB2312" pitchFamily="49" charset="-122"/>
                <a:cs typeface="Times New Roman" panose="02020603050405020304" pitchFamily="18" charset="0"/>
              </a:rPr>
              <a:t>hash_pid</a:t>
            </a:r>
            <a:r>
              <a:rPr lang="en-US" altLang="zh-CN" dirty="0">
                <a:latin typeface="Times New Roman" panose="02020603050405020304" pitchFamily="18" charset="0"/>
                <a:ea typeface="楷体_GB2312" pitchFamily="49" charset="-122"/>
                <a:cs typeface="Times New Roman" panose="02020603050405020304" pitchFamily="18" charset="0"/>
              </a:rPr>
              <a:t>()</a:t>
            </a:r>
            <a:r>
              <a:rPr lang="zh-CN" altLang="en-US" dirty="0">
                <a:latin typeface="Times New Roman" panose="02020603050405020304" pitchFamily="18" charset="0"/>
                <a:ea typeface="楷体_GB2312" pitchFamily="49" charset="-122"/>
                <a:cs typeface="Times New Roman" panose="02020603050405020304" pitchFamily="18" charset="0"/>
              </a:rPr>
              <a:t>，</a:t>
            </a:r>
            <a:r>
              <a:rPr lang="en-US" altLang="zh-CN" dirty="0" err="1">
                <a:latin typeface="Times New Roman" panose="02020603050405020304" pitchFamily="18" charset="0"/>
                <a:ea typeface="楷体_GB2312" pitchFamily="49" charset="-122"/>
                <a:cs typeface="Times New Roman" panose="02020603050405020304" pitchFamily="18" charset="0"/>
              </a:rPr>
              <a:t>unhashpid</a:t>
            </a:r>
            <a:r>
              <a:rPr lang="en-US" altLang="zh-CN" dirty="0">
                <a:latin typeface="Times New Roman" panose="02020603050405020304" pitchFamily="18" charset="0"/>
                <a:ea typeface="楷体_GB2312" pitchFamily="49" charset="-122"/>
                <a:cs typeface="Times New Roman" panose="02020603050405020304" pitchFamily="18" charset="0"/>
              </a:rPr>
              <a:t>()</a:t>
            </a:r>
            <a:r>
              <a:rPr lang="zh-CN" altLang="en-US" dirty="0">
                <a:latin typeface="Times New Roman" panose="02020603050405020304" pitchFamily="18" charset="0"/>
                <a:ea typeface="楷体_GB2312" pitchFamily="49" charset="-122"/>
                <a:cs typeface="Times New Roman" panose="02020603050405020304" pitchFamily="18" charset="0"/>
              </a:rPr>
              <a:t>在</a:t>
            </a:r>
            <a:r>
              <a:rPr lang="en-US" altLang="zh-CN" dirty="0" err="1">
                <a:latin typeface="Times New Roman" panose="02020603050405020304" pitchFamily="18" charset="0"/>
                <a:ea typeface="楷体_GB2312" pitchFamily="49" charset="-122"/>
                <a:cs typeface="Times New Roman" panose="02020603050405020304" pitchFamily="18" charset="0"/>
              </a:rPr>
              <a:t>pidhash</a:t>
            </a:r>
            <a:r>
              <a:rPr lang="zh-CN" altLang="en-US" dirty="0">
                <a:latin typeface="Times New Roman" panose="02020603050405020304" pitchFamily="18" charset="0"/>
                <a:ea typeface="楷体_GB2312" pitchFamily="49" charset="-122"/>
                <a:cs typeface="Times New Roman" panose="02020603050405020304" pitchFamily="18" charset="0"/>
              </a:rPr>
              <a:t>表中分别插入和删除一个进程。</a:t>
            </a: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endParaRPr lang="zh-CN" altLang="en-US" dirty="0">
              <a:latin typeface="Times New Roman" panose="02020603050405020304" pitchFamily="18" charset="0"/>
              <a:ea typeface="楷体_GB2312" pitchFamily="49" charset="-122"/>
              <a:cs typeface="Times New Roman" panose="02020603050405020304" pitchFamily="18" charset="0"/>
            </a:endParaRPr>
          </a:p>
        </p:txBody>
      </p:sp>
      <p:pic>
        <p:nvPicPr>
          <p:cNvPr id="12292" name="Picture 3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16013" y="2349500"/>
            <a:ext cx="7143750" cy="344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a:spLocks noChangeArrowheads="1"/>
          </p:cNvSpPr>
          <p:nvPr/>
        </p:nvSpPr>
        <p:spPr bwMode="auto">
          <a:xfrm>
            <a:off x="323850" y="0"/>
            <a:ext cx="8229600" cy="1139825"/>
          </a:xfrm>
          <a:prstGeom prst="rect">
            <a:avLst/>
          </a:prstGeom>
          <a:noFill/>
          <a:ln w="9525">
            <a:noFill/>
            <a:miter lim="800000"/>
          </a:ln>
          <a:effectLst/>
        </p:spPr>
        <p:txBody>
          <a:bodyPr anchor="ctr" anchorCtr="1"/>
          <a:lstStyle/>
          <a:p>
            <a:pPr algn="ctr" eaLnBrk="1" hangingPunct="1">
              <a:defRPr/>
            </a:pPr>
            <a:r>
              <a:rPr lang="en-US" altLang="zh-CN" sz="3200" b="1" dirty="0">
                <a:ea typeface="楷体_GB2312" pitchFamily="49" charset="-122"/>
                <a:cs typeface="Times New Roman" panose="02020603050405020304" pitchFamily="18" charset="0"/>
              </a:rPr>
              <a:t>2.5 Linux</a:t>
            </a:r>
            <a:r>
              <a:rPr lang="zh-CN" altLang="en-US" sz="3200" b="1" dirty="0">
                <a:ea typeface="楷体_GB2312" pitchFamily="49" charset="-122"/>
                <a:cs typeface="Times New Roman" panose="02020603050405020304" pitchFamily="18" charset="0"/>
              </a:rPr>
              <a:t>进程的链表结构</a:t>
            </a:r>
            <a:endParaRPr lang="zh-CN" altLang="en-US" sz="3200" b="1" dirty="0">
              <a:ea typeface="楷体_GB2312" pitchFamily="49" charset="-122"/>
              <a:cs typeface="Times New Roman" panose="02020603050405020304" pitchFamily="18"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body" idx="1"/>
          </p:nvPr>
        </p:nvSpPr>
        <p:spPr/>
        <p:txBody>
          <a:bodyPr/>
          <a:lstStyle/>
          <a:p>
            <a:pPr eaLnBrk="1" hangingPunct="1">
              <a:lnSpc>
                <a:spcPct val="110000"/>
              </a:lnSpc>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当要把除了</a:t>
            </a:r>
            <a:r>
              <a:rPr lang="en-US" altLang="zh-CN" dirty="0">
                <a:latin typeface="Times New Roman" panose="02020603050405020304" pitchFamily="18" charset="0"/>
                <a:ea typeface="楷体_GB2312" pitchFamily="49" charset="-122"/>
                <a:cs typeface="Times New Roman" panose="02020603050405020304" pitchFamily="18" charset="0"/>
              </a:rPr>
              <a:t>TASK_RUNNING</a:t>
            </a:r>
            <a:r>
              <a:rPr lang="zh-CN" altLang="en-US" dirty="0">
                <a:latin typeface="Times New Roman" panose="02020603050405020304" pitchFamily="18" charset="0"/>
                <a:ea typeface="楷体_GB2312" pitchFamily="49" charset="-122"/>
                <a:cs typeface="Times New Roman" panose="02020603050405020304" pitchFamily="18" charset="0"/>
              </a:rPr>
              <a:t>状态之外的进程组织在一起时，</a:t>
            </a:r>
            <a:r>
              <a:rPr lang="en-US" altLang="zh-CN" dirty="0">
                <a:latin typeface="Times New Roman" panose="02020603050405020304" pitchFamily="18" charset="0"/>
                <a:ea typeface="楷体_GB2312" pitchFamily="49" charset="-122"/>
                <a:cs typeface="Times New Roman" panose="02020603050405020304" pitchFamily="18" charset="0"/>
              </a:rPr>
              <a:t>Linux</a:t>
            </a:r>
            <a:r>
              <a:rPr lang="zh-CN" altLang="en-US" dirty="0">
                <a:latin typeface="Times New Roman" panose="02020603050405020304" pitchFamily="18" charset="0"/>
                <a:ea typeface="楷体_GB2312" pitchFamily="49" charset="-122"/>
                <a:cs typeface="Times New Roman" panose="02020603050405020304" pitchFamily="18" charset="0"/>
              </a:rPr>
              <a:t>使用了</a:t>
            </a:r>
            <a:r>
              <a:rPr lang="zh-CN" altLang="en-US" dirty="0">
                <a:latin typeface="Times New Roman" panose="02020603050405020304" pitchFamily="18" charset="0"/>
                <a:ea typeface="楷体_GB2312" pitchFamily="49" charset="-122"/>
                <a:cs typeface="Times New Roman" panose="02020603050405020304" pitchFamily="18" charset="0"/>
                <a:hlinkClick r:id="rId1" action="ppaction://hlinkfile"/>
              </a:rPr>
              <a:t>等待队列</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lnSpc>
                <a:spcPct val="110000"/>
              </a:lnSpc>
            </a:pPr>
            <a:r>
              <a:rPr lang="en-US" altLang="zh-CN" dirty="0">
                <a:latin typeface="Times New Roman" panose="02020603050405020304" pitchFamily="18" charset="0"/>
                <a:ea typeface="楷体_GB2312" pitchFamily="49" charset="-122"/>
                <a:cs typeface="Times New Roman" panose="02020603050405020304" pitchFamily="18" charset="0"/>
              </a:rPr>
              <a:t>TASK_STOPPED</a:t>
            </a:r>
            <a:r>
              <a:rPr lang="zh-CN" altLang="en-US" dirty="0">
                <a:latin typeface="Times New Roman" panose="02020603050405020304" pitchFamily="18" charset="0"/>
                <a:ea typeface="楷体_GB2312" pitchFamily="49" charset="-122"/>
                <a:cs typeface="Times New Roman" panose="02020603050405020304" pitchFamily="18" charset="0"/>
              </a:rPr>
              <a:t>和</a:t>
            </a:r>
            <a:r>
              <a:rPr lang="en-US" altLang="zh-CN" dirty="0">
                <a:latin typeface="Times New Roman" panose="02020603050405020304" pitchFamily="18" charset="0"/>
                <a:ea typeface="楷体_GB2312" pitchFamily="49" charset="-122"/>
                <a:cs typeface="Times New Roman" panose="02020603050405020304" pitchFamily="18" charset="0"/>
              </a:rPr>
              <a:t>TASK_ZOMBIE</a:t>
            </a:r>
            <a:r>
              <a:rPr lang="zh-CN" altLang="en-US" dirty="0">
                <a:latin typeface="Times New Roman" panose="02020603050405020304" pitchFamily="18" charset="0"/>
                <a:ea typeface="楷体_GB2312" pitchFamily="49" charset="-122"/>
                <a:cs typeface="Times New Roman" panose="02020603050405020304" pitchFamily="18" charset="0"/>
              </a:rPr>
              <a:t>状态的进程不在专门的链表中，它们的父进程可以通过进程的</a:t>
            </a:r>
            <a:r>
              <a:rPr lang="en-US" altLang="zh-CN" dirty="0">
                <a:latin typeface="Times New Roman" panose="02020603050405020304" pitchFamily="18" charset="0"/>
                <a:ea typeface="楷体_GB2312" pitchFamily="49" charset="-122"/>
                <a:cs typeface="Times New Roman" panose="02020603050405020304" pitchFamily="18" charset="0"/>
              </a:rPr>
              <a:t>PID</a:t>
            </a:r>
            <a:r>
              <a:rPr lang="zh-CN" altLang="en-US" dirty="0">
                <a:latin typeface="Times New Roman" panose="02020603050405020304" pitchFamily="18" charset="0"/>
                <a:ea typeface="楷体_GB2312" pitchFamily="49" charset="-122"/>
                <a:cs typeface="Times New Roman" panose="02020603050405020304" pitchFamily="18" charset="0"/>
              </a:rPr>
              <a:t>或进程间亲属关系检索到子进程。</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lnSpc>
                <a:spcPct val="110000"/>
              </a:lnSpc>
            </a:pPr>
            <a:r>
              <a:rPr lang="en-US" altLang="zh-CN" dirty="0">
                <a:latin typeface="Times New Roman" panose="02020603050405020304" pitchFamily="18" charset="0"/>
                <a:ea typeface="楷体_GB2312" pitchFamily="49" charset="-122"/>
                <a:cs typeface="Times New Roman" panose="02020603050405020304" pitchFamily="18" charset="0"/>
              </a:rPr>
              <a:t>TASK_INTERRUPTIBLE</a:t>
            </a:r>
            <a:r>
              <a:rPr lang="zh-CN" altLang="en-US" dirty="0">
                <a:latin typeface="Times New Roman" panose="02020603050405020304" pitchFamily="18" charset="0"/>
                <a:ea typeface="楷体_GB2312" pitchFamily="49" charset="-122"/>
                <a:cs typeface="Times New Roman" panose="02020603050405020304" pitchFamily="18" charset="0"/>
              </a:rPr>
              <a:t>和</a:t>
            </a:r>
            <a:r>
              <a:rPr lang="en-US" altLang="zh-CN" dirty="0">
                <a:latin typeface="Times New Roman" panose="02020603050405020304" pitchFamily="18" charset="0"/>
                <a:ea typeface="楷体_GB2312" pitchFamily="49" charset="-122"/>
                <a:cs typeface="Times New Roman" panose="02020603050405020304" pitchFamily="18" charset="0"/>
              </a:rPr>
              <a:t>TASK_UNINTERRUPTIBLE</a:t>
            </a:r>
            <a:r>
              <a:rPr lang="zh-CN" altLang="en-US" dirty="0">
                <a:latin typeface="Times New Roman" panose="02020603050405020304" pitchFamily="18" charset="0"/>
                <a:ea typeface="楷体_GB2312" pitchFamily="49" charset="-122"/>
                <a:cs typeface="Times New Roman" panose="02020603050405020304" pitchFamily="18" charset="0"/>
              </a:rPr>
              <a:t>状态的进程可以再分成很多类，每一类对应一个特定的事件。在这种情况下，进程状态提供的信息满足不了快速检索，因此，内核引进了另外的进程链表，叫做等待队列。</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
        <p:nvSpPr>
          <p:cNvPr id="5" name="Rectangle 5"/>
          <p:cNvSpPr>
            <a:spLocks noChangeArrowheads="1"/>
          </p:cNvSpPr>
          <p:nvPr/>
        </p:nvSpPr>
        <p:spPr bwMode="auto">
          <a:xfrm>
            <a:off x="323850" y="0"/>
            <a:ext cx="8229600" cy="1139825"/>
          </a:xfrm>
          <a:prstGeom prst="rect">
            <a:avLst/>
          </a:prstGeom>
          <a:noFill/>
          <a:ln w="9525">
            <a:noFill/>
            <a:miter lim="800000"/>
          </a:ln>
          <a:effectLst/>
        </p:spPr>
        <p:txBody>
          <a:bodyPr anchor="ctr" anchorCtr="1"/>
          <a:lstStyle/>
          <a:p>
            <a:pPr algn="ctr" eaLnBrk="1" hangingPunct="1">
              <a:defRPr/>
            </a:pPr>
            <a:r>
              <a:rPr lang="en-US" altLang="zh-CN" sz="3200" b="1" dirty="0">
                <a:ea typeface="楷体_GB2312" pitchFamily="49" charset="-122"/>
                <a:cs typeface="Times New Roman" panose="02020603050405020304" pitchFamily="18" charset="0"/>
              </a:rPr>
              <a:t>2.5 Linux</a:t>
            </a:r>
            <a:r>
              <a:rPr lang="zh-CN" altLang="en-US" sz="3200" b="1" dirty="0">
                <a:ea typeface="楷体_GB2312" pitchFamily="49" charset="-122"/>
                <a:cs typeface="Times New Roman" panose="02020603050405020304" pitchFamily="18" charset="0"/>
              </a:rPr>
              <a:t>进程的链表结构</a:t>
            </a:r>
            <a:endParaRPr lang="zh-CN" altLang="en-US" sz="3200" b="1" dirty="0">
              <a:ea typeface="楷体_GB2312" pitchFamily="49" charset="-122"/>
              <a:cs typeface="Times New Roman" panose="02020603050405020304" pitchFamily="18"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Grp="1" noChangeArrowheads="1"/>
          </p:cNvSpPr>
          <p:nvPr>
            <p:ph type="body" idx="1"/>
          </p:nvPr>
        </p:nvSpPr>
        <p:spPr>
          <a:xfrm>
            <a:off x="323850" y="980728"/>
            <a:ext cx="8497887" cy="5272088"/>
          </a:xfrm>
        </p:spPr>
        <p:txBody>
          <a:bodyPr/>
          <a:lstStyle/>
          <a:p>
            <a:pPr eaLnBrk="1" hangingPunct="1">
              <a:lnSpc>
                <a:spcPct val="90000"/>
              </a:lnSpc>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等待队列使得进程可以在事件上进行的条件等待，并且当等待的条件为真时，由内核唤醒它们。尤其是对中断处理、进程同步和定时用处很大。</a:t>
            </a: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lnSpc>
                <a:spcPct val="90000"/>
              </a:lnSpc>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等待队列是以</a:t>
            </a:r>
            <a:r>
              <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双循环链表</a:t>
            </a:r>
            <a:r>
              <a:rPr lang="zh-CN" altLang="en-US" dirty="0">
                <a:latin typeface="Times New Roman" panose="02020603050405020304" pitchFamily="18" charset="0"/>
                <a:ea typeface="楷体_GB2312" pitchFamily="49" charset="-122"/>
                <a:cs typeface="Times New Roman" panose="02020603050405020304" pitchFamily="18" charset="0"/>
              </a:rPr>
              <a:t>为基础数据结构</a:t>
            </a:r>
            <a:r>
              <a:rPr lang="zh-CN" altLang="en-US" sz="2400" dirty="0">
                <a:latin typeface="Times New Roman" panose="02020603050405020304" pitchFamily="18" charset="0"/>
                <a:ea typeface="楷体_GB2312" pitchFamily="49" charset="-122"/>
                <a:cs typeface="Times New Roman" panose="02020603050405020304" pitchFamily="18" charset="0"/>
              </a:rPr>
              <a:t> </a:t>
            </a: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eaLnBrk="1" hangingPunct="1">
              <a:lnSpc>
                <a:spcPct val="90000"/>
              </a:lnSpc>
              <a:buFont typeface="Arial" panose="020B0604020202020204" pitchFamily="34" charset="0"/>
              <a:buChar char="•"/>
            </a:pP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lnSpc>
                <a:spcPct val="90000"/>
              </a:lnSpc>
              <a:buFont typeface="Arial" panose="020B0604020202020204" pitchFamily="34" charset="0"/>
              <a:buChar char="•"/>
            </a:pP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lnSpc>
                <a:spcPct val="90000"/>
              </a:lnSpc>
              <a:buFont typeface="Arial" panose="020B0604020202020204" pitchFamily="34" charset="0"/>
              <a:buChar char="•"/>
            </a:pP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lnSpc>
                <a:spcPct val="90000"/>
              </a:lnSpc>
              <a:buFont typeface="Arial" panose="020B0604020202020204" pitchFamily="34" charset="0"/>
              <a:buChar char="•"/>
            </a:pP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lnSpc>
                <a:spcPct val="90000"/>
              </a:lnSpc>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其元素包括指向进程描述符的指针。每个等待队列都有一个等待队列头</a:t>
            </a:r>
            <a:r>
              <a:rPr lang="en-US" altLang="zh-CN" dirty="0">
                <a:latin typeface="Times New Roman" panose="02020603050405020304" pitchFamily="18" charset="0"/>
                <a:ea typeface="楷体_GB2312" pitchFamily="49" charset="-122"/>
                <a:cs typeface="Times New Roman" panose="02020603050405020304" pitchFamily="18" charset="0"/>
              </a:rPr>
              <a:t>(</a:t>
            </a:r>
            <a:r>
              <a:rPr lang="en-US" altLang="zh-CN" dirty="0" err="1">
                <a:latin typeface="Times New Roman" panose="02020603050405020304" pitchFamily="18" charset="0"/>
                <a:ea typeface="楷体_GB2312" pitchFamily="49" charset="-122"/>
                <a:cs typeface="Times New Roman" panose="02020603050405020304" pitchFamily="18" charset="0"/>
              </a:rPr>
              <a:t>wait_queue_head</a:t>
            </a:r>
            <a:r>
              <a:rPr lang="en-US" altLang="zh-CN" dirty="0">
                <a:latin typeface="Times New Roman" panose="02020603050405020304" pitchFamily="18" charset="0"/>
                <a:ea typeface="楷体_GB2312" pitchFamily="49" charset="-122"/>
                <a:cs typeface="Times New Roman" panose="02020603050405020304" pitchFamily="18" charset="0"/>
              </a:rPr>
              <a:t>),</a:t>
            </a:r>
            <a:r>
              <a:rPr lang="zh-CN" altLang="en-US" dirty="0">
                <a:latin typeface="Times New Roman" panose="02020603050405020304" pitchFamily="18" charset="0"/>
                <a:ea typeface="楷体_GB2312" pitchFamily="49" charset="-122"/>
                <a:cs typeface="Times New Roman" panose="02020603050405020304" pitchFamily="18" charset="0"/>
              </a:rPr>
              <a:t>等待队列头是一个类型为</a:t>
            </a:r>
            <a:r>
              <a:rPr lang="en-US" altLang="zh-CN" dirty="0" err="1">
                <a:latin typeface="Times New Roman" panose="02020603050405020304" pitchFamily="18" charset="0"/>
                <a:ea typeface="楷体_GB2312" pitchFamily="49" charset="-122"/>
                <a:cs typeface="Times New Roman" panose="02020603050405020304" pitchFamily="18" charset="0"/>
              </a:rPr>
              <a:t>wait_queue_head_t</a:t>
            </a:r>
            <a:r>
              <a:rPr lang="zh-CN" altLang="en-US" dirty="0">
                <a:latin typeface="Times New Roman" panose="02020603050405020304" pitchFamily="18" charset="0"/>
                <a:ea typeface="楷体_GB2312" pitchFamily="49" charset="-122"/>
                <a:cs typeface="Times New Roman" panose="02020603050405020304" pitchFamily="18" charset="0"/>
              </a:rPr>
              <a:t>的数据结构。</a:t>
            </a:r>
            <a:endParaRPr lang="en-US" altLang="zh-CN" dirty="0">
              <a:latin typeface="Times New Roman" panose="02020603050405020304" pitchFamily="18" charset="0"/>
              <a:ea typeface="楷体_GB2312" pitchFamily="49" charset="-122"/>
              <a:cs typeface="Times New Roman" panose="02020603050405020304" pitchFamily="18" charset="0"/>
            </a:endParaRPr>
          </a:p>
        </p:txBody>
      </p:sp>
      <p:pic>
        <p:nvPicPr>
          <p:cNvPr id="15364"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71550" y="2708275"/>
            <a:ext cx="4886325"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a:spLocks noChangeArrowheads="1"/>
          </p:cNvSpPr>
          <p:nvPr/>
        </p:nvSpPr>
        <p:spPr bwMode="auto">
          <a:xfrm>
            <a:off x="323850" y="0"/>
            <a:ext cx="8229600" cy="1139825"/>
          </a:xfrm>
          <a:prstGeom prst="rect">
            <a:avLst/>
          </a:prstGeom>
          <a:noFill/>
          <a:ln w="9525">
            <a:noFill/>
            <a:miter lim="800000"/>
          </a:ln>
          <a:effectLst/>
        </p:spPr>
        <p:txBody>
          <a:bodyPr anchor="ctr" anchorCtr="1"/>
          <a:lstStyle/>
          <a:p>
            <a:pPr algn="ctr" eaLnBrk="1" hangingPunct="1">
              <a:defRPr/>
            </a:pPr>
            <a:r>
              <a:rPr lang="en-US" altLang="zh-CN" sz="3200" b="1" dirty="0">
                <a:ea typeface="楷体_GB2312" pitchFamily="49" charset="-122"/>
                <a:cs typeface="Times New Roman" panose="02020603050405020304" pitchFamily="18" charset="0"/>
              </a:rPr>
              <a:t>2.5 Linux</a:t>
            </a:r>
            <a:r>
              <a:rPr lang="zh-CN" altLang="en-US" sz="3200" b="1" dirty="0">
                <a:ea typeface="楷体_GB2312" pitchFamily="49" charset="-122"/>
                <a:cs typeface="Times New Roman" panose="02020603050405020304" pitchFamily="18" charset="0"/>
              </a:rPr>
              <a:t>进程的链表结构</a:t>
            </a:r>
            <a:endParaRPr lang="zh-CN" altLang="en-US" sz="3200" b="1" dirty="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3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p:cNvSpPr>
            <a:spLocks noGrp="1" noChangeArrowheads="1"/>
          </p:cNvSpPr>
          <p:nvPr>
            <p:ph type="body" idx="1"/>
          </p:nvPr>
        </p:nvSpPr>
        <p:spPr>
          <a:xfrm>
            <a:off x="323850" y="1196752"/>
            <a:ext cx="8291512" cy="5272087"/>
          </a:xfrm>
        </p:spPr>
        <p:txBody>
          <a:bodyPr/>
          <a:lstStyle/>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要唤醒等待队列中</a:t>
            </a:r>
            <a:r>
              <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所有</a:t>
            </a:r>
            <a:r>
              <a:rPr lang="zh-CN" altLang="en-US" dirty="0">
                <a:latin typeface="Times New Roman" panose="02020603050405020304" pitchFamily="18" charset="0"/>
                <a:ea typeface="楷体_GB2312" pitchFamily="49" charset="-122"/>
                <a:cs typeface="Times New Roman" panose="02020603050405020304" pitchFamily="18" charset="0"/>
              </a:rPr>
              <a:t>睡眠的进程有时并不方便。</a:t>
            </a: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例如</a:t>
            </a:r>
            <a:r>
              <a:rPr lang="en-US" altLang="zh-CN" dirty="0">
                <a:latin typeface="Times New Roman" panose="02020603050405020304" pitchFamily="18" charset="0"/>
                <a:ea typeface="楷体_GB2312" pitchFamily="49" charset="-122"/>
                <a:cs typeface="Times New Roman" panose="02020603050405020304" pitchFamily="18" charset="0"/>
              </a:rPr>
              <a:t>:</a:t>
            </a:r>
            <a:r>
              <a:rPr lang="zh-CN" altLang="en-US" dirty="0">
                <a:latin typeface="Times New Roman" panose="02020603050405020304" pitchFamily="18" charset="0"/>
                <a:ea typeface="楷体_GB2312" pitchFamily="49" charset="-122"/>
                <a:cs typeface="Times New Roman" panose="02020603050405020304" pitchFamily="18" charset="0"/>
              </a:rPr>
              <a:t>如果两个或多个进程正在等待互斥访问某一要释放的资源，仅唤醒等待队列中一个进程才有意义。</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sz="2800" dirty="0">
                <a:latin typeface="Times New Roman" panose="02020603050405020304" pitchFamily="18" charset="0"/>
                <a:ea typeface="楷体_GB2312" pitchFamily="49" charset="-122"/>
                <a:cs typeface="Times New Roman" panose="02020603050405020304" pitchFamily="18" charset="0"/>
              </a:rPr>
              <a:t>这个进程占有资源，而其他进程继续睡眠</a:t>
            </a:r>
            <a:r>
              <a:rPr lang="en-US" altLang="zh-CN" sz="2800" dirty="0">
                <a:latin typeface="Times New Roman" panose="02020603050405020304" pitchFamily="18" charset="0"/>
                <a:ea typeface="楷体_GB2312" pitchFamily="49" charset="-122"/>
                <a:cs typeface="Times New Roman" panose="02020603050405020304" pitchFamily="18" charset="0"/>
              </a:rPr>
              <a:t>.</a:t>
            </a:r>
            <a:endParaRPr lang="en-US" altLang="zh-CN" sz="2800"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sz="2800" dirty="0">
                <a:latin typeface="Times New Roman" panose="02020603050405020304" pitchFamily="18" charset="0"/>
                <a:ea typeface="楷体_GB2312" pitchFamily="49" charset="-122"/>
                <a:cs typeface="Times New Roman" panose="02020603050405020304" pitchFamily="18" charset="0"/>
              </a:rPr>
              <a:t>这就避免了所谓的</a:t>
            </a:r>
            <a:r>
              <a:rPr lang="en-US" altLang="zh-CN" sz="2800" dirty="0">
                <a:latin typeface="Times New Roman" panose="02020603050405020304" pitchFamily="18" charset="0"/>
                <a:ea typeface="楷体_GB2312" pitchFamily="49" charset="-122"/>
                <a:cs typeface="Times New Roman" panose="02020603050405020304" pitchFamily="18" charset="0"/>
              </a:rPr>
              <a:t>“</a:t>
            </a:r>
            <a:r>
              <a:rPr lang="zh-CN" altLang="en-US" sz="2800" dirty="0">
                <a:latin typeface="Times New Roman" panose="02020603050405020304" pitchFamily="18" charset="0"/>
                <a:ea typeface="楷体_GB2312" pitchFamily="49" charset="-122"/>
                <a:cs typeface="Times New Roman" panose="02020603050405020304" pitchFamily="18" charset="0"/>
              </a:rPr>
              <a:t>雷鸣般群兽</a:t>
            </a:r>
            <a:r>
              <a:rPr lang="en-US" altLang="zh-CN" sz="2800" dirty="0">
                <a:latin typeface="Times New Roman" panose="02020603050405020304" pitchFamily="18" charset="0"/>
                <a:ea typeface="楷体_GB2312" pitchFamily="49" charset="-122"/>
                <a:cs typeface="Times New Roman" panose="02020603050405020304" pitchFamily="18" charset="0"/>
              </a:rPr>
              <a:t>”</a:t>
            </a:r>
            <a:r>
              <a:rPr lang="zh-CN" altLang="en-US" sz="2800" dirty="0">
                <a:latin typeface="Times New Roman" panose="02020603050405020304" pitchFamily="18" charset="0"/>
                <a:ea typeface="楷体_GB2312" pitchFamily="49" charset="-122"/>
                <a:cs typeface="Times New Roman" panose="02020603050405020304" pitchFamily="18" charset="0"/>
              </a:rPr>
              <a:t>问题，即唤醒多个进程只为了竞争一个资源，而这个资源只能有一个进程访问，结果是 其他进程必须再次回去睡眠。</a:t>
            </a:r>
            <a:endParaRPr lang="zh-CN" altLang="en-US" sz="2800" dirty="0">
              <a:latin typeface="Times New Roman" panose="02020603050405020304" pitchFamily="18" charset="0"/>
              <a:ea typeface="楷体_GB2312" pitchFamily="49" charset="-122"/>
              <a:cs typeface="Times New Roman" panose="02020603050405020304" pitchFamily="18" charset="0"/>
            </a:endParaRPr>
          </a:p>
        </p:txBody>
      </p:sp>
      <p:sp>
        <p:nvSpPr>
          <p:cNvPr id="4" name="Rectangle 5"/>
          <p:cNvSpPr>
            <a:spLocks noChangeArrowheads="1"/>
          </p:cNvSpPr>
          <p:nvPr/>
        </p:nvSpPr>
        <p:spPr bwMode="auto">
          <a:xfrm>
            <a:off x="323850" y="0"/>
            <a:ext cx="8229600" cy="1139825"/>
          </a:xfrm>
          <a:prstGeom prst="rect">
            <a:avLst/>
          </a:prstGeom>
          <a:noFill/>
          <a:ln w="9525">
            <a:noFill/>
            <a:miter lim="800000"/>
          </a:ln>
          <a:effectLst/>
        </p:spPr>
        <p:txBody>
          <a:bodyPr anchor="ctr" anchorCtr="1"/>
          <a:lstStyle/>
          <a:p>
            <a:pPr algn="ctr" eaLnBrk="1" hangingPunct="1">
              <a:defRPr/>
            </a:pPr>
            <a:r>
              <a:rPr lang="en-US" altLang="zh-CN" sz="3200" b="1" dirty="0">
                <a:ea typeface="楷体_GB2312" pitchFamily="49" charset="-122"/>
                <a:cs typeface="Times New Roman" panose="02020603050405020304" pitchFamily="18" charset="0"/>
              </a:rPr>
              <a:t>2.5 Linux</a:t>
            </a:r>
            <a:r>
              <a:rPr lang="zh-CN" altLang="en-US" sz="3200" b="1" dirty="0">
                <a:ea typeface="楷体_GB2312" pitchFamily="49" charset="-122"/>
                <a:cs typeface="Times New Roman" panose="02020603050405020304" pitchFamily="18" charset="0"/>
              </a:rPr>
              <a:t>进程的链表结构</a:t>
            </a:r>
            <a:endParaRPr lang="zh-CN" altLang="en-US" sz="3200" b="1" dirty="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411">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411">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41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type="body" idx="1"/>
          </p:nvPr>
        </p:nvSpPr>
        <p:spPr>
          <a:xfrm>
            <a:off x="323850" y="1155069"/>
            <a:ext cx="8291512" cy="5272087"/>
          </a:xfrm>
        </p:spPr>
        <p:txBody>
          <a:bodyPr/>
          <a:lstStyle/>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有两种处于阻塞状态的进程</a:t>
            </a:r>
            <a:endParaRPr lang="en-US" altLang="zh-CN"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互斥进程</a:t>
            </a:r>
            <a:r>
              <a:rPr lang="en-US" altLang="zh-CN" dirty="0">
                <a:latin typeface="Times New Roman" panose="02020603050405020304" pitchFamily="18" charset="0"/>
                <a:ea typeface="楷体_GB2312" pitchFamily="49" charset="-122"/>
                <a:cs typeface="Times New Roman" panose="02020603050405020304" pitchFamily="18" charset="0"/>
              </a:rPr>
              <a:t>(</a:t>
            </a:r>
            <a:r>
              <a:rPr lang="zh-CN" altLang="en-US" dirty="0">
                <a:latin typeface="Times New Roman" panose="02020603050405020304" pitchFamily="18" charset="0"/>
                <a:ea typeface="楷体_GB2312" pitchFamily="49" charset="-122"/>
                <a:cs typeface="Times New Roman" panose="02020603050405020304" pitchFamily="18" charset="0"/>
              </a:rPr>
              <a:t>等待队列元素的</a:t>
            </a:r>
            <a:r>
              <a:rPr lang="en-US" altLang="zh-CN" dirty="0">
                <a:latin typeface="Times New Roman" panose="02020603050405020304" pitchFamily="18" charset="0"/>
                <a:ea typeface="楷体_GB2312" pitchFamily="49" charset="-122"/>
                <a:cs typeface="Times New Roman" panose="02020603050405020304" pitchFamily="18" charset="0"/>
              </a:rPr>
              <a:t>flag</a:t>
            </a:r>
            <a:r>
              <a:rPr lang="zh-CN" altLang="en-US" dirty="0">
                <a:latin typeface="Times New Roman" panose="02020603050405020304" pitchFamily="18" charset="0"/>
                <a:ea typeface="楷体_GB2312" pitchFamily="49" charset="-122"/>
                <a:cs typeface="Times New Roman" panose="02020603050405020304" pitchFamily="18" charset="0"/>
              </a:rPr>
              <a:t>字段为</a:t>
            </a:r>
            <a:r>
              <a:rPr lang="en-US" altLang="zh-CN" dirty="0">
                <a:latin typeface="Times New Roman" panose="02020603050405020304" pitchFamily="18" charset="0"/>
                <a:ea typeface="楷体_GB2312" pitchFamily="49" charset="-122"/>
                <a:cs typeface="Times New Roman" panose="02020603050405020304" pitchFamily="18" charset="0"/>
              </a:rPr>
              <a:t>1)</a:t>
            </a:r>
            <a:r>
              <a:rPr lang="zh-CN" altLang="en-US" dirty="0">
                <a:latin typeface="Times New Roman" panose="02020603050405020304" pitchFamily="18" charset="0"/>
                <a:ea typeface="楷体_GB2312" pitchFamily="49" charset="-122"/>
                <a:cs typeface="Times New Roman" panose="02020603050405020304" pitchFamily="18" charset="0"/>
              </a:rPr>
              <a:t>：由内核有选择地唤醒。</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非互斥进程</a:t>
            </a:r>
            <a:r>
              <a:rPr lang="en-US" altLang="zh-CN" dirty="0">
                <a:latin typeface="Times New Roman" panose="02020603050405020304" pitchFamily="18" charset="0"/>
                <a:ea typeface="楷体_GB2312" pitchFamily="49" charset="-122"/>
                <a:cs typeface="Times New Roman" panose="02020603050405020304" pitchFamily="18" charset="0"/>
              </a:rPr>
              <a:t>(flag</a:t>
            </a:r>
            <a:r>
              <a:rPr lang="zh-CN" altLang="en-US" dirty="0">
                <a:latin typeface="Times New Roman" panose="02020603050405020304" pitchFamily="18" charset="0"/>
                <a:ea typeface="楷体_GB2312" pitchFamily="49" charset="-122"/>
                <a:cs typeface="Times New Roman" panose="02020603050405020304" pitchFamily="18" charset="0"/>
              </a:rPr>
              <a:t>值为</a:t>
            </a:r>
            <a:r>
              <a:rPr lang="en-US" altLang="zh-CN" dirty="0">
                <a:latin typeface="Times New Roman" panose="02020603050405020304" pitchFamily="18" charset="0"/>
                <a:ea typeface="楷体_GB2312" pitchFamily="49" charset="-122"/>
                <a:cs typeface="Times New Roman" panose="02020603050405020304" pitchFamily="18" charset="0"/>
              </a:rPr>
              <a:t>0)</a:t>
            </a:r>
            <a:r>
              <a:rPr lang="zh-CN" altLang="en-US" dirty="0">
                <a:latin typeface="Times New Roman" panose="02020603050405020304" pitchFamily="18" charset="0"/>
                <a:ea typeface="楷体_GB2312" pitchFamily="49" charset="-122"/>
                <a:cs typeface="Times New Roman" panose="02020603050405020304" pitchFamily="18" charset="0"/>
              </a:rPr>
              <a:t>：总是由内核在事件发生时唤醒。</a:t>
            </a: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在等待队列上内核实现了一些操作函数</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2" eaLnBrk="1" hangingPunct="1">
              <a:buFont typeface="Arial" panose="020B0604020202020204" pitchFamily="34" charset="0"/>
              <a:buChar char="•"/>
            </a:pPr>
            <a:r>
              <a:rPr lang="en-US" altLang="zh-CN" sz="2600" b="1" dirty="0" err="1">
                <a:solidFill>
                  <a:srgbClr val="008080"/>
                </a:solidFill>
                <a:latin typeface="Times New Roman" panose="02020603050405020304" pitchFamily="18" charset="0"/>
                <a:ea typeface="楷体_GB2312" pitchFamily="49" charset="-122"/>
                <a:cs typeface="Times New Roman" panose="02020603050405020304" pitchFamily="18" charset="0"/>
              </a:rPr>
              <a:t>add_wait_queue</a:t>
            </a:r>
            <a:r>
              <a:rPr lang="en-US" altLang="zh-CN" sz="2600" b="1" dirty="0">
                <a:solidFill>
                  <a:srgbClr val="008080"/>
                </a:solidFill>
                <a:latin typeface="Times New Roman" panose="02020603050405020304" pitchFamily="18" charset="0"/>
                <a:ea typeface="楷体_GB2312" pitchFamily="49" charset="-122"/>
                <a:cs typeface="Times New Roman" panose="02020603050405020304" pitchFamily="18" charset="0"/>
              </a:rPr>
              <a:t>()</a:t>
            </a:r>
            <a:endParaRPr lang="en-US" altLang="zh-CN" sz="2600" b="1" dirty="0">
              <a:solidFill>
                <a:srgbClr val="008080"/>
              </a:solidFill>
              <a:latin typeface="Times New Roman" panose="02020603050405020304" pitchFamily="18" charset="0"/>
              <a:ea typeface="楷体_GB2312" pitchFamily="49" charset="-122"/>
              <a:cs typeface="Times New Roman" panose="02020603050405020304" pitchFamily="18" charset="0"/>
            </a:endParaRPr>
          </a:p>
          <a:p>
            <a:pPr lvl="2" eaLnBrk="1" hangingPunct="1">
              <a:buFont typeface="Arial" panose="020B0604020202020204" pitchFamily="34" charset="0"/>
              <a:buChar char="•"/>
            </a:pPr>
            <a:r>
              <a:rPr lang="en-US" altLang="zh-CN" sz="2600" b="1" dirty="0" err="1">
                <a:solidFill>
                  <a:srgbClr val="008080"/>
                </a:solidFill>
                <a:latin typeface="Times New Roman" panose="02020603050405020304" pitchFamily="18" charset="0"/>
                <a:ea typeface="楷体_GB2312" pitchFamily="49" charset="-122"/>
                <a:cs typeface="Times New Roman" panose="02020603050405020304" pitchFamily="18" charset="0"/>
              </a:rPr>
              <a:t>remove_wait_queue</a:t>
            </a:r>
            <a:r>
              <a:rPr lang="en-US" altLang="zh-CN" sz="2600" b="1" dirty="0">
                <a:solidFill>
                  <a:srgbClr val="008080"/>
                </a:solidFill>
                <a:latin typeface="Times New Roman" panose="02020603050405020304" pitchFamily="18" charset="0"/>
                <a:ea typeface="楷体_GB2312" pitchFamily="49" charset="-122"/>
                <a:cs typeface="Times New Roman" panose="02020603050405020304" pitchFamily="18" charset="0"/>
              </a:rPr>
              <a:t>()</a:t>
            </a:r>
            <a:endParaRPr lang="en-US" altLang="zh-CN" sz="2600" b="1" dirty="0">
              <a:solidFill>
                <a:srgbClr val="008080"/>
              </a:solidFill>
              <a:latin typeface="Times New Roman" panose="02020603050405020304" pitchFamily="18" charset="0"/>
              <a:ea typeface="楷体_GB2312" pitchFamily="49" charset="-122"/>
              <a:cs typeface="Times New Roman" panose="02020603050405020304" pitchFamily="18" charset="0"/>
            </a:endParaRPr>
          </a:p>
        </p:txBody>
      </p:sp>
      <p:sp>
        <p:nvSpPr>
          <p:cNvPr id="5" name="Rectangle 5"/>
          <p:cNvSpPr>
            <a:spLocks noChangeArrowheads="1"/>
          </p:cNvSpPr>
          <p:nvPr/>
        </p:nvSpPr>
        <p:spPr bwMode="auto">
          <a:xfrm>
            <a:off x="323850" y="0"/>
            <a:ext cx="8229600" cy="1139825"/>
          </a:xfrm>
          <a:prstGeom prst="rect">
            <a:avLst/>
          </a:prstGeom>
          <a:noFill/>
          <a:ln w="9525">
            <a:noFill/>
            <a:miter lim="800000"/>
          </a:ln>
          <a:effectLst/>
        </p:spPr>
        <p:txBody>
          <a:bodyPr anchor="ctr" anchorCtr="1"/>
          <a:lstStyle/>
          <a:p>
            <a:pPr algn="ctr" eaLnBrk="1" hangingPunct="1">
              <a:defRPr/>
            </a:pPr>
            <a:r>
              <a:rPr lang="en-US" altLang="zh-CN" sz="3200" b="1" dirty="0">
                <a:ea typeface="楷体_GB2312" pitchFamily="49" charset="-122"/>
                <a:cs typeface="Times New Roman" panose="02020603050405020304" pitchFamily="18" charset="0"/>
              </a:rPr>
              <a:t>2.5 Linux</a:t>
            </a:r>
            <a:r>
              <a:rPr lang="zh-CN" altLang="en-US" sz="3200" b="1" dirty="0">
                <a:ea typeface="楷体_GB2312" pitchFamily="49" charset="-122"/>
                <a:cs typeface="Times New Roman" panose="02020603050405020304" pitchFamily="18" charset="0"/>
              </a:rPr>
              <a:t>进程的链表结构</a:t>
            </a:r>
            <a:endParaRPr lang="zh-CN" altLang="en-US" sz="3200" b="1" dirty="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43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43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435">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435">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43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type="body" idx="1"/>
          </p:nvPr>
        </p:nvSpPr>
        <p:spPr/>
        <p:txBody>
          <a:bodyPr/>
          <a:lstStyle/>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等待一个特定事件的进程能调用下面几个函数中的任一个</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dirty="0" err="1">
                <a:latin typeface="Times New Roman" panose="02020603050405020304" pitchFamily="18" charset="0"/>
                <a:ea typeface="楷体_GB2312" pitchFamily="49" charset="-122"/>
                <a:cs typeface="Times New Roman" panose="02020603050405020304" pitchFamily="18" charset="0"/>
              </a:rPr>
              <a:t>sleep_on</a:t>
            </a:r>
            <a:r>
              <a:rPr lang="en-US" altLang="zh-CN" dirty="0">
                <a:latin typeface="Times New Roman" panose="02020603050405020304" pitchFamily="18" charset="0"/>
                <a:ea typeface="楷体_GB2312" pitchFamily="49" charset="-122"/>
                <a:cs typeface="Times New Roman" panose="02020603050405020304" pitchFamily="18" charset="0"/>
              </a:rPr>
              <a:t>()</a:t>
            </a:r>
            <a:endParaRPr lang="en-US" altLang="zh-CN"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dirty="0" err="1">
                <a:latin typeface="Times New Roman" panose="02020603050405020304" pitchFamily="18" charset="0"/>
                <a:ea typeface="楷体_GB2312" pitchFamily="49" charset="-122"/>
                <a:cs typeface="Times New Roman" panose="02020603050405020304" pitchFamily="18" charset="0"/>
              </a:rPr>
              <a:t>sleep_on_timeout</a:t>
            </a:r>
            <a:r>
              <a:rPr lang="en-US" altLang="zh-CN" dirty="0">
                <a:latin typeface="Times New Roman" panose="02020603050405020304" pitchFamily="18" charset="0"/>
                <a:ea typeface="楷体_GB2312" pitchFamily="49" charset="-122"/>
                <a:cs typeface="Times New Roman" panose="02020603050405020304" pitchFamily="18" charset="0"/>
              </a:rPr>
              <a:t>()</a:t>
            </a:r>
            <a:endParaRPr lang="en-US" altLang="zh-CN"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dirty="0" err="1">
                <a:latin typeface="Times New Roman" panose="02020603050405020304" pitchFamily="18" charset="0"/>
                <a:ea typeface="楷体_GB2312" pitchFamily="49" charset="-122"/>
                <a:cs typeface="Times New Roman" panose="02020603050405020304" pitchFamily="18" charset="0"/>
              </a:rPr>
              <a:t>interruptible_sleep_on</a:t>
            </a:r>
            <a:r>
              <a:rPr lang="en-US" altLang="zh-CN" dirty="0">
                <a:latin typeface="Times New Roman" panose="02020603050405020304" pitchFamily="18" charset="0"/>
                <a:ea typeface="楷体_GB2312" pitchFamily="49" charset="-122"/>
                <a:cs typeface="Times New Roman" panose="02020603050405020304" pitchFamily="18" charset="0"/>
              </a:rPr>
              <a:t>()</a:t>
            </a:r>
            <a:endParaRPr lang="en-US" altLang="zh-CN"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dirty="0" err="1">
                <a:latin typeface="Times New Roman" panose="02020603050405020304" pitchFamily="18" charset="0"/>
                <a:ea typeface="楷体_GB2312" pitchFamily="49" charset="-122"/>
                <a:cs typeface="Times New Roman" panose="02020603050405020304" pitchFamily="18" charset="0"/>
              </a:rPr>
              <a:t>interruptible_sleep_on_timeout</a:t>
            </a:r>
            <a:r>
              <a:rPr lang="en-US" altLang="zh-CN" dirty="0">
                <a:latin typeface="Times New Roman" panose="02020603050405020304" pitchFamily="18" charset="0"/>
                <a:ea typeface="楷体_GB2312" pitchFamily="49" charset="-122"/>
                <a:cs typeface="Times New Roman" panose="02020603050405020304" pitchFamily="18" charset="0"/>
              </a:rPr>
              <a:t>()</a:t>
            </a:r>
            <a:endParaRPr lang="en-US" altLang="zh-CN"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进程等待由需要等待的进程自己进行（调用）</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
        <p:nvSpPr>
          <p:cNvPr id="5" name="Rectangle 5"/>
          <p:cNvSpPr>
            <a:spLocks noChangeArrowheads="1"/>
          </p:cNvSpPr>
          <p:nvPr/>
        </p:nvSpPr>
        <p:spPr bwMode="auto">
          <a:xfrm>
            <a:off x="323850" y="0"/>
            <a:ext cx="8229600" cy="1139825"/>
          </a:xfrm>
          <a:prstGeom prst="rect">
            <a:avLst/>
          </a:prstGeom>
          <a:noFill/>
          <a:ln w="9525">
            <a:noFill/>
            <a:miter lim="800000"/>
          </a:ln>
          <a:effectLst/>
        </p:spPr>
        <p:txBody>
          <a:bodyPr anchor="ctr" anchorCtr="1"/>
          <a:lstStyle/>
          <a:p>
            <a:pPr algn="ctr" eaLnBrk="1" hangingPunct="1">
              <a:defRPr/>
            </a:pPr>
            <a:r>
              <a:rPr lang="en-US" altLang="zh-CN" sz="3200" b="1" dirty="0">
                <a:ea typeface="楷体_GB2312" pitchFamily="49" charset="-122"/>
                <a:cs typeface="Times New Roman" panose="02020603050405020304" pitchFamily="18" charset="0"/>
              </a:rPr>
              <a:t>2.5 Linux</a:t>
            </a:r>
            <a:r>
              <a:rPr lang="zh-CN" altLang="en-US" sz="3200" b="1" dirty="0">
                <a:ea typeface="楷体_GB2312" pitchFamily="49" charset="-122"/>
                <a:cs typeface="Times New Roman" panose="02020603050405020304" pitchFamily="18" charset="0"/>
              </a:rPr>
              <a:t>进程的链表结构</a:t>
            </a:r>
            <a:endParaRPr lang="zh-CN" altLang="en-US" sz="3200" b="1" dirty="0">
              <a:ea typeface="楷体_GB2312" pitchFamily="49" charset="-122"/>
              <a:cs typeface="Times New Roman" panose="02020603050405020304" pitchFamily="18"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11"/>
          <p:cNvSpPr>
            <a:spLocks noGrp="1" noChangeArrowheads="1"/>
          </p:cNvSpPr>
          <p:nvPr>
            <p:ph type="body" idx="1"/>
          </p:nvPr>
        </p:nvSpPr>
        <p:spPr>
          <a:xfrm>
            <a:off x="457200" y="1719263"/>
            <a:ext cx="8229600" cy="4411662"/>
          </a:xfrm>
        </p:spPr>
        <p:txBody>
          <a:bodyPr/>
          <a:lstStyle/>
          <a:p>
            <a:pPr eaLnBrk="1" hangingPunct="1"/>
            <a:endParaRPr lang="zh-CN" altLang="en-US"/>
          </a:p>
        </p:txBody>
      </p:sp>
      <p:pic>
        <p:nvPicPr>
          <p:cNvPr id="21508" name="Picture 1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9750" y="1704975"/>
            <a:ext cx="8207375" cy="424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0941" name="Rectangle 13"/>
          <p:cNvSpPr>
            <a:spLocks noChangeArrowheads="1"/>
          </p:cNvSpPr>
          <p:nvPr/>
        </p:nvSpPr>
        <p:spPr bwMode="auto">
          <a:xfrm>
            <a:off x="3492500" y="3644900"/>
            <a:ext cx="1727200" cy="360363"/>
          </a:xfrm>
          <a:prstGeom prst="rect">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380942" name="Rectangle 14"/>
          <p:cNvSpPr>
            <a:spLocks noChangeArrowheads="1"/>
          </p:cNvSpPr>
          <p:nvPr/>
        </p:nvSpPr>
        <p:spPr bwMode="auto">
          <a:xfrm>
            <a:off x="1258888" y="4365625"/>
            <a:ext cx="4752975" cy="360363"/>
          </a:xfrm>
          <a:prstGeom prst="rect">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380943" name="Rectangle 15"/>
          <p:cNvSpPr>
            <a:spLocks noChangeArrowheads="1"/>
          </p:cNvSpPr>
          <p:nvPr/>
        </p:nvSpPr>
        <p:spPr bwMode="auto">
          <a:xfrm>
            <a:off x="1258888" y="4724400"/>
            <a:ext cx="2520950" cy="360363"/>
          </a:xfrm>
          <a:prstGeom prst="rect">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380944" name="Rectangle 16"/>
          <p:cNvSpPr>
            <a:spLocks noChangeArrowheads="1"/>
          </p:cNvSpPr>
          <p:nvPr/>
        </p:nvSpPr>
        <p:spPr bwMode="auto">
          <a:xfrm>
            <a:off x="1258888" y="5156200"/>
            <a:ext cx="5400675" cy="360363"/>
          </a:xfrm>
          <a:prstGeom prst="rect">
            <a:avLst/>
          </a:prstGeom>
          <a:noFill/>
          <a:ln w="28575">
            <a:solidFill>
              <a:srgbClr val="FF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9" name="Rectangle 5"/>
          <p:cNvSpPr>
            <a:spLocks noChangeArrowheads="1"/>
          </p:cNvSpPr>
          <p:nvPr/>
        </p:nvSpPr>
        <p:spPr bwMode="auto">
          <a:xfrm>
            <a:off x="323850" y="0"/>
            <a:ext cx="8229600" cy="1139825"/>
          </a:xfrm>
          <a:prstGeom prst="rect">
            <a:avLst/>
          </a:prstGeom>
          <a:noFill/>
          <a:ln w="9525">
            <a:noFill/>
            <a:miter lim="800000"/>
          </a:ln>
          <a:effectLst/>
        </p:spPr>
        <p:txBody>
          <a:bodyPr anchor="ctr" anchorCtr="1"/>
          <a:lstStyle/>
          <a:p>
            <a:pPr algn="ctr" eaLnBrk="1" hangingPunct="1">
              <a:defRPr/>
            </a:pPr>
            <a:r>
              <a:rPr lang="en-US" altLang="zh-CN" sz="3200" b="1" dirty="0">
                <a:ea typeface="楷体_GB2312" pitchFamily="49" charset="-122"/>
                <a:cs typeface="Times New Roman" panose="02020603050405020304" pitchFamily="18" charset="0"/>
              </a:rPr>
              <a:t>2.5 Linux</a:t>
            </a:r>
            <a:r>
              <a:rPr lang="zh-CN" altLang="en-US" sz="3200" b="1" dirty="0">
                <a:ea typeface="楷体_GB2312" pitchFamily="49" charset="-122"/>
                <a:cs typeface="Times New Roman" panose="02020603050405020304" pitchFamily="18" charset="0"/>
              </a:rPr>
              <a:t>进程的链表结构</a:t>
            </a:r>
            <a:endParaRPr lang="zh-CN" altLang="en-US" sz="3200" b="1" dirty="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09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380941"/>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8094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380942"/>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8094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380943"/>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8094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38094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0941" grpId="0" animBg="1"/>
      <p:bldP spid="380941" grpId="1" animBg="1"/>
      <p:bldP spid="380942" grpId="0" animBg="1"/>
      <p:bldP spid="380942" grpId="1" animBg="1"/>
      <p:bldP spid="380943" grpId="0" animBg="1"/>
      <p:bldP spid="380943" grpId="1" animBg="1"/>
      <p:bldP spid="380944" grpId="0" animBg="1"/>
      <p:bldP spid="380944" grpId="1"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type="body" idx="1"/>
          </p:nvPr>
        </p:nvSpPr>
        <p:spPr/>
        <p:txBody>
          <a:bodyPr/>
          <a:lstStyle/>
          <a:p>
            <a:pPr eaLnBrk="1" hangingPunct="1">
              <a:buFont typeface="Arial" panose="020B0604020202020204" pitchFamily="34" charset="0"/>
              <a:buChar char="•"/>
            </a:pPr>
            <a:r>
              <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进程的唤醒：</a:t>
            </a:r>
            <a:r>
              <a:rPr lang="zh-CN" altLang="en-US" dirty="0">
                <a:latin typeface="Times New Roman" panose="02020603050405020304" pitchFamily="18" charset="0"/>
                <a:ea typeface="楷体_GB2312" pitchFamily="49" charset="-122"/>
                <a:cs typeface="Times New Roman" panose="02020603050405020304" pitchFamily="18" charset="0"/>
              </a:rPr>
              <a:t>利用</a:t>
            </a:r>
            <a:r>
              <a:rPr lang="en-US" altLang="zh-CN" dirty="0" err="1">
                <a:latin typeface="Times New Roman" panose="02020603050405020304" pitchFamily="18" charset="0"/>
                <a:ea typeface="楷体_GB2312" pitchFamily="49" charset="-122"/>
                <a:cs typeface="Times New Roman" panose="02020603050405020304" pitchFamily="18" charset="0"/>
              </a:rPr>
              <a:t>wake_up</a:t>
            </a:r>
            <a:r>
              <a:rPr lang="en-US" altLang="zh-CN" dirty="0">
                <a:latin typeface="Times New Roman" panose="02020603050405020304" pitchFamily="18" charset="0"/>
                <a:ea typeface="楷体_GB2312" pitchFamily="49" charset="-122"/>
                <a:cs typeface="Times New Roman" panose="02020603050405020304" pitchFamily="18" charset="0"/>
              </a:rPr>
              <a:t>()</a:t>
            </a:r>
            <a:r>
              <a:rPr lang="zh-CN" altLang="en-US" dirty="0">
                <a:latin typeface="Times New Roman" panose="02020603050405020304" pitchFamily="18" charset="0"/>
                <a:ea typeface="楷体_GB2312" pitchFamily="49" charset="-122"/>
                <a:cs typeface="Times New Roman" panose="02020603050405020304" pitchFamily="18" charset="0"/>
              </a:rPr>
              <a:t>或者</a:t>
            </a:r>
            <a:r>
              <a:rPr lang="en-US" altLang="zh-CN" dirty="0" err="1">
                <a:latin typeface="Times New Roman" panose="02020603050405020304" pitchFamily="18" charset="0"/>
                <a:ea typeface="楷体_GB2312" pitchFamily="49" charset="-122"/>
                <a:cs typeface="Times New Roman" panose="02020603050405020304" pitchFamily="18" charset="0"/>
              </a:rPr>
              <a:t>wake_up_interruptible</a:t>
            </a:r>
            <a:r>
              <a:rPr lang="en-US" altLang="zh-CN" dirty="0">
                <a:latin typeface="Times New Roman" panose="02020603050405020304" pitchFamily="18" charset="0"/>
                <a:ea typeface="楷体_GB2312" pitchFamily="49" charset="-122"/>
                <a:cs typeface="Times New Roman" panose="02020603050405020304" pitchFamily="18" charset="0"/>
              </a:rPr>
              <a:t>()</a:t>
            </a:r>
            <a:r>
              <a:rPr lang="zh-CN" altLang="en-US" dirty="0">
                <a:latin typeface="Times New Roman" panose="02020603050405020304" pitchFamily="18" charset="0"/>
                <a:ea typeface="楷体_GB2312" pitchFamily="49" charset="-122"/>
                <a:cs typeface="Times New Roman" panose="02020603050405020304" pitchFamily="18" charset="0"/>
              </a:rPr>
              <a:t>等一系列的宏，都让插入等待队列中的进程进入</a:t>
            </a:r>
            <a:r>
              <a:rPr lang="en-US" altLang="zh-CN" dirty="0">
                <a:latin typeface="Times New Roman" panose="02020603050405020304" pitchFamily="18" charset="0"/>
                <a:ea typeface="楷体_GB2312" pitchFamily="49" charset="-122"/>
                <a:cs typeface="Times New Roman" panose="02020603050405020304" pitchFamily="18" charset="0"/>
              </a:rPr>
              <a:t>TASK_RUNNING</a:t>
            </a:r>
            <a:r>
              <a:rPr lang="zh-CN" altLang="en-US" dirty="0">
                <a:latin typeface="Times New Roman" panose="02020603050405020304" pitchFamily="18" charset="0"/>
                <a:ea typeface="楷体_GB2312" pitchFamily="49" charset="-122"/>
                <a:cs typeface="Times New Roman" panose="02020603050405020304" pitchFamily="18" charset="0"/>
              </a:rPr>
              <a:t>状态</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pic>
        <p:nvPicPr>
          <p:cNvPr id="22532"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00113" y="3141663"/>
            <a:ext cx="5859462" cy="245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5"/>
          <p:cNvSpPr>
            <a:spLocks noChangeArrowheads="1"/>
          </p:cNvSpPr>
          <p:nvPr/>
        </p:nvSpPr>
        <p:spPr bwMode="auto">
          <a:xfrm>
            <a:off x="323850" y="0"/>
            <a:ext cx="8229600" cy="1139825"/>
          </a:xfrm>
          <a:prstGeom prst="rect">
            <a:avLst/>
          </a:prstGeom>
          <a:noFill/>
          <a:ln w="9525">
            <a:noFill/>
            <a:miter lim="800000"/>
          </a:ln>
          <a:effectLst/>
        </p:spPr>
        <p:txBody>
          <a:bodyPr anchor="ctr" anchorCtr="1"/>
          <a:lstStyle/>
          <a:p>
            <a:pPr algn="ctr" eaLnBrk="1" hangingPunct="1">
              <a:defRPr/>
            </a:pPr>
            <a:r>
              <a:rPr lang="en-US" altLang="zh-CN" sz="3200" b="1" dirty="0">
                <a:ea typeface="楷体_GB2312" pitchFamily="49" charset="-122"/>
                <a:cs typeface="Times New Roman" panose="02020603050405020304" pitchFamily="18" charset="0"/>
              </a:rPr>
              <a:t>2.5 Linux</a:t>
            </a:r>
            <a:r>
              <a:rPr lang="zh-CN" altLang="en-US" sz="3200" b="1" dirty="0">
                <a:ea typeface="楷体_GB2312" pitchFamily="49" charset="-122"/>
                <a:cs typeface="Times New Roman" panose="02020603050405020304" pitchFamily="18" charset="0"/>
              </a:rPr>
              <a:t>进程的链表结构</a:t>
            </a:r>
            <a:endParaRPr lang="zh-CN" altLang="en-US" sz="3200" b="1" dirty="0">
              <a:ea typeface="楷体_GB2312" pitchFamily="49" charset="-122"/>
              <a:cs typeface="Times New Roman" panose="02020603050405020304" pitchFamily="18"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楷体_GB2312" pitchFamily="49" charset="-122"/>
                <a:cs typeface="Times New Roman" panose="02020603050405020304" pitchFamily="18" charset="0"/>
              </a:rPr>
              <a:t>2.6 Linux</a:t>
            </a:r>
            <a:r>
              <a:rPr lang="zh-CN" altLang="en-US" dirty="0">
                <a:latin typeface="Times New Roman" panose="02020603050405020304" pitchFamily="18" charset="0"/>
                <a:ea typeface="楷体_GB2312" pitchFamily="49" charset="-122"/>
                <a:cs typeface="Times New Roman" panose="02020603050405020304" pitchFamily="18" charset="0"/>
              </a:rPr>
              <a:t>进程的家族关系</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
        <p:nvSpPr>
          <p:cNvPr id="23556" name="Rectangle 3"/>
          <p:cNvSpPr>
            <a:spLocks noGrp="1" noChangeArrowheads="1"/>
          </p:cNvSpPr>
          <p:nvPr>
            <p:ph type="body" idx="1"/>
          </p:nvPr>
        </p:nvSpPr>
        <p:spPr/>
        <p:txBody>
          <a:bodyPr/>
          <a:lstStyle/>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所有进程都是</a:t>
            </a:r>
            <a:r>
              <a:rPr lang="en-US" altLang="zh-CN" dirty="0" err="1">
                <a:solidFill>
                  <a:srgbClr val="FF0000"/>
                </a:solidFill>
                <a:latin typeface="Times New Roman" panose="02020603050405020304" pitchFamily="18" charset="0"/>
                <a:ea typeface="楷体_GB2312" pitchFamily="49" charset="-122"/>
                <a:cs typeface="Times New Roman" panose="02020603050405020304" pitchFamily="18" charset="0"/>
              </a:rPr>
              <a:t>init</a:t>
            </a:r>
            <a:r>
              <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进程</a:t>
            </a:r>
            <a:r>
              <a:rPr lang="en-US" altLang="zh-CN" dirty="0">
                <a:latin typeface="Times New Roman" panose="02020603050405020304" pitchFamily="18" charset="0"/>
                <a:ea typeface="楷体_GB2312" pitchFamily="49" charset="-122"/>
                <a:cs typeface="Times New Roman" panose="02020603050405020304" pitchFamily="18" charset="0"/>
              </a:rPr>
              <a:t>(</a:t>
            </a:r>
            <a:r>
              <a:rPr lang="en-US" altLang="zh-CN" dirty="0" err="1">
                <a:latin typeface="Times New Roman" panose="02020603050405020304" pitchFamily="18" charset="0"/>
                <a:ea typeface="楷体_GB2312" pitchFamily="49" charset="-122"/>
                <a:cs typeface="Times New Roman" panose="02020603050405020304" pitchFamily="18" charset="0"/>
              </a:rPr>
              <a:t>pid</a:t>
            </a:r>
            <a:r>
              <a:rPr lang="en-US" altLang="zh-CN" dirty="0">
                <a:latin typeface="Times New Roman" panose="02020603050405020304" pitchFamily="18" charset="0"/>
                <a:ea typeface="楷体_GB2312" pitchFamily="49" charset="-122"/>
                <a:cs typeface="Times New Roman" panose="02020603050405020304" pitchFamily="18" charset="0"/>
              </a:rPr>
              <a:t>=1)</a:t>
            </a:r>
            <a:r>
              <a:rPr lang="zh-CN" altLang="en-US" dirty="0">
                <a:latin typeface="Times New Roman" panose="02020603050405020304" pitchFamily="18" charset="0"/>
                <a:ea typeface="楷体_GB2312" pitchFamily="49" charset="-122"/>
                <a:cs typeface="Times New Roman" panose="02020603050405020304" pitchFamily="18" charset="0"/>
              </a:rPr>
              <a:t>的后代</a:t>
            </a: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每个进程必须有一个父进程</a:t>
            </a:r>
            <a:endParaRPr lang="en-US" altLang="zh-CN"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每个进程可以拥有零个或者多个子进程</a:t>
            </a:r>
            <a:endParaRPr lang="en-US" altLang="zh-CN"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具有相同父进程的进程称为兄弟</a:t>
            </a:r>
            <a:endParaRPr lang="en-US" altLang="zh-CN"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ransition>
    <p:wedg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type="body" idx="1"/>
          </p:nvPr>
        </p:nvSpPr>
        <p:spPr/>
        <p:txBody>
          <a:bodyPr/>
          <a:lstStyle/>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进程之间具有父子关系，进程的父子关系是树型组织。</a:t>
            </a: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hlinkClick r:id="rId1" action="ppaction://hlinkfile"/>
              </a:rPr>
              <a:t>进程描述符中</a:t>
            </a:r>
            <a:r>
              <a:rPr lang="zh-CN" altLang="en-US" dirty="0">
                <a:latin typeface="Times New Roman" panose="02020603050405020304" pitchFamily="18" charset="0"/>
                <a:ea typeface="楷体_GB2312" pitchFamily="49" charset="-122"/>
                <a:cs typeface="Times New Roman" panose="02020603050405020304" pitchFamily="18" charset="0"/>
              </a:rPr>
              <a:t>有几个域用来表示这样的关系</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pic>
        <p:nvPicPr>
          <p:cNvPr id="37581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3284538"/>
            <a:ext cx="6831013" cy="128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p:cNvSpPr>
            <a:spLocks noGrp="1" noChangeArrowheads="1"/>
          </p:cNvSpPr>
          <p:nvPr>
            <p:ph type="title"/>
          </p:nvPr>
        </p:nvSpPr>
        <p:spPr>
          <a:xfrm>
            <a:off x="611188" y="115888"/>
            <a:ext cx="7632700" cy="609600"/>
          </a:xfrm>
        </p:spPr>
        <p:txBody>
          <a:bodyPr/>
          <a:lstStyle/>
          <a:p>
            <a:pPr eaLnBrk="1" hangingPunct="1"/>
            <a:r>
              <a:rPr lang="en-US" altLang="zh-CN" dirty="0">
                <a:latin typeface="Times New Roman" panose="02020603050405020304" pitchFamily="18" charset="0"/>
                <a:ea typeface="楷体_GB2312" pitchFamily="49" charset="-122"/>
                <a:cs typeface="Times New Roman" panose="02020603050405020304" pitchFamily="18" charset="0"/>
              </a:rPr>
              <a:t>2.6 Linux</a:t>
            </a:r>
            <a:r>
              <a:rPr lang="zh-CN" altLang="en-US" dirty="0">
                <a:latin typeface="Times New Roman" panose="02020603050405020304" pitchFamily="18" charset="0"/>
                <a:ea typeface="楷体_GB2312" pitchFamily="49" charset="-122"/>
                <a:cs typeface="Times New Roman" panose="02020603050405020304" pitchFamily="18" charset="0"/>
              </a:rPr>
              <a:t>进程的家族关系</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75812"/>
                                        </p:tgtEl>
                                        <p:attrNameLst>
                                          <p:attrName>style.visibility</p:attrName>
                                        </p:attrNameLst>
                                      </p:cBhvr>
                                      <p:to>
                                        <p:strVal val="visible"/>
                                      </p:to>
                                    </p:set>
                                    <p:animEffect transition="in" filter="blinds(horizontal)">
                                      <p:cBhvr>
                                        <p:cTn id="7" dur="500"/>
                                        <p:tgtEl>
                                          <p:spTgt spid="3758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4"/>
          <p:cNvSpPr>
            <a:spLocks noGrp="1" noChangeArrowheads="1"/>
          </p:cNvSpPr>
          <p:nvPr>
            <p:ph type="body" sz="half" idx="1"/>
          </p:nvPr>
        </p:nvSpPr>
        <p:spPr>
          <a:xfrm>
            <a:off x="0" y="1052513"/>
            <a:ext cx="4267200" cy="5486400"/>
          </a:xfrm>
          <a:noFill/>
        </p:spPr>
        <p:txBody>
          <a:bodyPr/>
          <a:lstStyle/>
          <a:p>
            <a:pPr marL="609600" indent="-609600" eaLnBrk="1" hangingPunct="1"/>
            <a:endParaRPr lang="en-US" altLang="zh-CN" sz="24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en-US" altLang="zh-CN" sz="2400" dirty="0" err="1">
                <a:solidFill>
                  <a:srgbClr val="8B3A21"/>
                </a:solidFill>
                <a:latin typeface="Times New Roman" panose="02020603050405020304" pitchFamily="18" charset="0"/>
                <a:ea typeface="楷体_GB2312" pitchFamily="49" charset="-122"/>
                <a:cs typeface="Times New Roman" panose="02020603050405020304" pitchFamily="18" charset="0"/>
              </a:rPr>
              <a:t>p_opptr</a:t>
            </a:r>
            <a:r>
              <a:rPr lang="en-US" altLang="zh-CN" sz="2400" dirty="0">
                <a:solidFill>
                  <a:srgbClr val="8B3A21"/>
                </a:solidFill>
                <a:latin typeface="Times New Roman" panose="02020603050405020304" pitchFamily="18" charset="0"/>
                <a:ea typeface="楷体_GB2312" pitchFamily="49" charset="-122"/>
                <a:cs typeface="Times New Roman" panose="02020603050405020304" pitchFamily="18" charset="0"/>
              </a:rPr>
              <a:t> : </a:t>
            </a:r>
            <a:r>
              <a:rPr lang="en-US" altLang="zh-CN" sz="2400" dirty="0">
                <a:latin typeface="Times New Roman" panose="02020603050405020304" pitchFamily="18" charset="0"/>
                <a:ea typeface="楷体_GB2312" pitchFamily="49" charset="-122"/>
                <a:cs typeface="Times New Roman" panose="02020603050405020304" pitchFamily="18" charset="0"/>
              </a:rPr>
              <a:t>original parent  (1</a:t>
            </a:r>
            <a:r>
              <a:rPr lang="zh-CN" altLang="en-US" sz="2400" dirty="0">
                <a:latin typeface="Times New Roman" panose="02020603050405020304" pitchFamily="18" charset="0"/>
                <a:ea typeface="楷体_GB2312" pitchFamily="49" charset="-122"/>
                <a:cs typeface="Times New Roman" panose="02020603050405020304" pitchFamily="18" charset="0"/>
              </a:rPr>
              <a:t>号进程或者创建它的父进程</a:t>
            </a:r>
            <a:r>
              <a:rPr lang="en-US" altLang="zh-CN" sz="2400" dirty="0">
                <a:latin typeface="Times New Roman" panose="02020603050405020304" pitchFamily="18" charset="0"/>
                <a:ea typeface="楷体_GB2312" pitchFamily="49" charset="-122"/>
                <a:cs typeface="Times New Roman" panose="02020603050405020304" pitchFamily="18" charset="0"/>
              </a:rPr>
              <a:t>)</a:t>
            </a:r>
            <a:endParaRPr lang="en-US" altLang="zh-CN" sz="24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en-US" altLang="zh-CN" sz="2400" dirty="0" err="1">
                <a:solidFill>
                  <a:srgbClr val="8B3A21"/>
                </a:solidFill>
                <a:latin typeface="Times New Roman" panose="02020603050405020304" pitchFamily="18" charset="0"/>
                <a:ea typeface="楷体_GB2312" pitchFamily="49" charset="-122"/>
                <a:cs typeface="Times New Roman" panose="02020603050405020304" pitchFamily="18" charset="0"/>
              </a:rPr>
              <a:t>p_pptr</a:t>
            </a:r>
            <a:r>
              <a:rPr lang="en-US" altLang="zh-CN" sz="2400" dirty="0">
                <a:solidFill>
                  <a:srgbClr val="8B3A21"/>
                </a:solidFill>
                <a:latin typeface="Times New Roman" panose="02020603050405020304" pitchFamily="18" charset="0"/>
                <a:ea typeface="楷体_GB2312" pitchFamily="49" charset="-122"/>
                <a:cs typeface="Times New Roman" panose="02020603050405020304" pitchFamily="18" charset="0"/>
              </a:rPr>
              <a:t>:</a:t>
            </a:r>
            <a:r>
              <a:rPr lang="en-US" altLang="zh-CN" sz="2400" dirty="0">
                <a:latin typeface="Times New Roman" panose="02020603050405020304" pitchFamily="18" charset="0"/>
                <a:ea typeface="楷体_GB2312" pitchFamily="49" charset="-122"/>
                <a:cs typeface="Times New Roman" panose="02020603050405020304" pitchFamily="18" charset="0"/>
              </a:rPr>
              <a:t> </a:t>
            </a:r>
            <a:r>
              <a:rPr lang="zh-CN" altLang="en-US" sz="2400" dirty="0">
                <a:latin typeface="Times New Roman" panose="02020603050405020304" pitchFamily="18" charset="0"/>
                <a:ea typeface="楷体_GB2312" pitchFamily="49" charset="-122"/>
                <a:cs typeface="Times New Roman" panose="02020603050405020304" pitchFamily="18" charset="0"/>
              </a:rPr>
              <a:t>父进程，有时候是调试时的调试监管进程</a:t>
            </a:r>
            <a:endParaRPr lang="en-US" altLang="zh-CN" sz="24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en-US" altLang="zh-CN" sz="2400" dirty="0" err="1">
                <a:solidFill>
                  <a:srgbClr val="8B3A21"/>
                </a:solidFill>
                <a:latin typeface="Times New Roman" panose="02020603050405020304" pitchFamily="18" charset="0"/>
                <a:ea typeface="楷体_GB2312" pitchFamily="49" charset="-122"/>
                <a:cs typeface="Times New Roman" panose="02020603050405020304" pitchFamily="18" charset="0"/>
              </a:rPr>
              <a:t>p_cptr</a:t>
            </a:r>
            <a:r>
              <a:rPr lang="en-US" altLang="zh-CN" sz="2400" dirty="0">
                <a:solidFill>
                  <a:srgbClr val="8B3A21"/>
                </a:solidFill>
                <a:latin typeface="Times New Roman" panose="02020603050405020304" pitchFamily="18" charset="0"/>
                <a:ea typeface="楷体_GB2312" pitchFamily="49" charset="-122"/>
                <a:cs typeface="Times New Roman" panose="02020603050405020304" pitchFamily="18" charset="0"/>
              </a:rPr>
              <a:t>:</a:t>
            </a:r>
            <a:r>
              <a:rPr lang="en-US" altLang="zh-CN" sz="2400" dirty="0">
                <a:latin typeface="Times New Roman" panose="02020603050405020304" pitchFamily="18" charset="0"/>
                <a:ea typeface="楷体_GB2312" pitchFamily="49" charset="-122"/>
                <a:cs typeface="Times New Roman" panose="02020603050405020304" pitchFamily="18" charset="0"/>
              </a:rPr>
              <a:t> child (</a:t>
            </a:r>
            <a:r>
              <a:rPr lang="zh-CN" altLang="en-US" sz="2400" dirty="0">
                <a:latin typeface="Times New Roman" panose="02020603050405020304" pitchFamily="18" charset="0"/>
                <a:ea typeface="楷体_GB2312" pitchFamily="49" charset="-122"/>
                <a:cs typeface="Times New Roman" panose="02020603050405020304" pitchFamily="18" charset="0"/>
              </a:rPr>
              <a:t>指向自己最年轻的子进程</a:t>
            </a:r>
            <a:r>
              <a:rPr lang="en-US" altLang="zh-CN" sz="2400" dirty="0">
                <a:latin typeface="Times New Roman" panose="02020603050405020304" pitchFamily="18" charset="0"/>
                <a:ea typeface="楷体_GB2312" pitchFamily="49" charset="-122"/>
                <a:cs typeface="Times New Roman" panose="02020603050405020304" pitchFamily="18" charset="0"/>
              </a:rPr>
              <a:t>)</a:t>
            </a:r>
            <a:endParaRPr lang="en-US" altLang="zh-CN" sz="24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en-US" altLang="zh-CN" sz="2400" dirty="0" err="1">
                <a:solidFill>
                  <a:srgbClr val="8B3A21"/>
                </a:solidFill>
                <a:latin typeface="Times New Roman" panose="02020603050405020304" pitchFamily="18" charset="0"/>
                <a:ea typeface="楷体_GB2312" pitchFamily="49" charset="-122"/>
                <a:cs typeface="Times New Roman" panose="02020603050405020304" pitchFamily="18" charset="0"/>
              </a:rPr>
              <a:t>p_ysptr</a:t>
            </a:r>
            <a:r>
              <a:rPr lang="zh-CN" altLang="en-US" sz="2400" dirty="0">
                <a:solidFill>
                  <a:srgbClr val="8B3A21"/>
                </a:solidFill>
                <a:latin typeface="Times New Roman" panose="02020603050405020304" pitchFamily="18" charset="0"/>
                <a:ea typeface="楷体_GB2312" pitchFamily="49" charset="-122"/>
                <a:cs typeface="Times New Roman" panose="02020603050405020304" pitchFamily="18" charset="0"/>
              </a:rPr>
              <a:t>：</a:t>
            </a:r>
            <a:r>
              <a:rPr lang="zh-CN" altLang="en-US" sz="2400" dirty="0">
                <a:latin typeface="Times New Roman" panose="02020603050405020304" pitchFamily="18" charset="0"/>
                <a:ea typeface="楷体_GB2312" pitchFamily="49" charset="-122"/>
                <a:cs typeface="Times New Roman" panose="02020603050405020304" pitchFamily="18" charset="0"/>
              </a:rPr>
              <a:t>指向比自己年轻的兄弟进程</a:t>
            </a: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en-US" altLang="zh-CN" sz="2400" dirty="0" err="1">
                <a:solidFill>
                  <a:srgbClr val="8B3A21"/>
                </a:solidFill>
                <a:latin typeface="Times New Roman" panose="02020603050405020304" pitchFamily="18" charset="0"/>
                <a:ea typeface="楷体_GB2312" pitchFamily="49" charset="-122"/>
                <a:cs typeface="Times New Roman" panose="02020603050405020304" pitchFamily="18" charset="0"/>
              </a:rPr>
              <a:t>p_osptr</a:t>
            </a:r>
            <a:r>
              <a:rPr lang="zh-CN" altLang="en-US" sz="2400" dirty="0">
                <a:solidFill>
                  <a:srgbClr val="8B3A21"/>
                </a:solidFill>
                <a:latin typeface="Times New Roman" panose="02020603050405020304" pitchFamily="18" charset="0"/>
                <a:ea typeface="楷体_GB2312" pitchFamily="49" charset="-122"/>
                <a:cs typeface="Times New Roman" panose="02020603050405020304" pitchFamily="18" charset="0"/>
              </a:rPr>
              <a:t>：</a:t>
            </a:r>
            <a:r>
              <a:rPr lang="zh-CN" altLang="en-US" sz="2400" dirty="0">
                <a:latin typeface="Times New Roman" panose="02020603050405020304" pitchFamily="18" charset="0"/>
                <a:ea typeface="楷体_GB2312" pitchFamily="49" charset="-122"/>
                <a:cs typeface="Times New Roman" panose="02020603050405020304" pitchFamily="18" charset="0"/>
              </a:rPr>
              <a:t>指向比自己老的兄弟进程</a:t>
            </a:r>
            <a:endParaRPr lang="zh-CN" altLang="en-US" sz="2400" dirty="0">
              <a:latin typeface="Times New Roman" panose="02020603050405020304" pitchFamily="18" charset="0"/>
              <a:ea typeface="楷体_GB2312" pitchFamily="49" charset="-122"/>
              <a:cs typeface="Times New Roman" panose="02020603050405020304" pitchFamily="18" charset="0"/>
            </a:endParaRPr>
          </a:p>
        </p:txBody>
      </p:sp>
      <p:graphicFrame>
        <p:nvGraphicFramePr>
          <p:cNvPr id="25603" name="Object 5"/>
          <p:cNvGraphicFramePr>
            <a:graphicFrameLocks noChangeAspect="1"/>
          </p:cNvGraphicFramePr>
          <p:nvPr/>
        </p:nvGraphicFramePr>
        <p:xfrm>
          <a:off x="4357688" y="1714500"/>
          <a:ext cx="5005387" cy="3549650"/>
        </p:xfrm>
        <a:graphic>
          <a:graphicData uri="http://schemas.openxmlformats.org/presentationml/2006/ole">
            <mc:AlternateContent xmlns:mc="http://schemas.openxmlformats.org/markup-compatibility/2006">
              <mc:Choice xmlns:v="urn:schemas-microsoft-com:vml" Requires="v">
                <p:oleObj spid="_x0000_s1040" name="Acrobat Document" r:id="rId1" imgW="5076825" imgH="3600450" progId="AcroExch.Document.7">
                  <p:embed/>
                </p:oleObj>
              </mc:Choice>
              <mc:Fallback>
                <p:oleObj name="Acrobat Document" r:id="rId1" imgW="5076825" imgH="3600450" progId="AcroExch.Document.7">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57688" y="1714500"/>
                        <a:ext cx="5005387" cy="354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Rectangle 2"/>
          <p:cNvSpPr>
            <a:spLocks noGrp="1" noChangeArrowheads="1"/>
          </p:cNvSpPr>
          <p:nvPr>
            <p:ph type="title"/>
          </p:nvPr>
        </p:nvSpPr>
        <p:spPr>
          <a:xfrm>
            <a:off x="611188" y="115888"/>
            <a:ext cx="7632700" cy="609600"/>
          </a:xfrm>
        </p:spPr>
        <p:txBody>
          <a:bodyPr/>
          <a:lstStyle/>
          <a:p>
            <a:pPr eaLnBrk="1" hangingPunct="1"/>
            <a:r>
              <a:rPr lang="en-US" altLang="zh-CN" dirty="0">
                <a:latin typeface="Times New Roman" panose="02020603050405020304" pitchFamily="18" charset="0"/>
                <a:ea typeface="楷体_GB2312" pitchFamily="49" charset="-122"/>
                <a:cs typeface="Times New Roman" panose="02020603050405020304" pitchFamily="18" charset="0"/>
              </a:rPr>
              <a:t>2.6 Linux</a:t>
            </a:r>
            <a:r>
              <a:rPr lang="zh-CN" altLang="en-US" dirty="0">
                <a:latin typeface="Times New Roman" panose="02020603050405020304" pitchFamily="18" charset="0"/>
                <a:ea typeface="楷体_GB2312" pitchFamily="49" charset="-122"/>
                <a:cs typeface="Times New Roman" panose="02020603050405020304" pitchFamily="18" charset="0"/>
              </a:rPr>
              <a:t>进程的家族关系</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9"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00188" y="1011423"/>
            <a:ext cx="5286375" cy="317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4291013"/>
            <a:ext cx="6958012" cy="2338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2"/>
          <p:cNvSpPr>
            <a:spLocks noGrp="1" noChangeArrowheads="1"/>
          </p:cNvSpPr>
          <p:nvPr>
            <p:ph type="title"/>
          </p:nvPr>
        </p:nvSpPr>
        <p:spPr>
          <a:xfrm>
            <a:off x="611188" y="115888"/>
            <a:ext cx="7632700" cy="609600"/>
          </a:xfrm>
        </p:spPr>
        <p:txBody>
          <a:bodyPr/>
          <a:lstStyle/>
          <a:p>
            <a:pPr eaLnBrk="1" hangingPunct="1"/>
            <a:r>
              <a:rPr lang="en-US" altLang="zh-CN" dirty="0">
                <a:latin typeface="Times New Roman" panose="02020603050405020304" pitchFamily="18" charset="0"/>
                <a:ea typeface="楷体_GB2312" pitchFamily="49" charset="-122"/>
                <a:cs typeface="Times New Roman" panose="02020603050405020304" pitchFamily="18" charset="0"/>
              </a:rPr>
              <a:t>2.6 Linux</a:t>
            </a:r>
            <a:r>
              <a:rPr lang="zh-CN" altLang="en-US" dirty="0">
                <a:latin typeface="Times New Roman" panose="02020603050405020304" pitchFamily="18" charset="0"/>
                <a:ea typeface="楷体_GB2312" pitchFamily="49" charset="-122"/>
                <a:cs typeface="Times New Roman" panose="02020603050405020304" pitchFamily="18" charset="0"/>
              </a:rPr>
              <a:t>进程的家族关系</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内容占位符 2"/>
          <p:cNvSpPr>
            <a:spLocks noGrp="1"/>
          </p:cNvSpPr>
          <p:nvPr>
            <p:ph idx="1"/>
          </p:nvPr>
        </p:nvSpPr>
        <p:spPr>
          <a:xfrm>
            <a:off x="357188" y="928688"/>
            <a:ext cx="8429625" cy="5272087"/>
          </a:xfrm>
        </p:spPr>
        <p:txBody>
          <a:bodyPr/>
          <a:lstStyle/>
          <a:p>
            <a:pPr>
              <a:lnSpc>
                <a:spcPct val="110000"/>
              </a:lnSpc>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父进程也有</a:t>
            </a:r>
            <a:r>
              <a:rPr lang="zh-CN" altLang="en-US" sz="2400" dirty="0">
                <a:solidFill>
                  <a:srgbClr val="FF0000"/>
                </a:solidFill>
                <a:latin typeface="Times New Roman" panose="02020603050405020304" pitchFamily="18" charset="0"/>
                <a:ea typeface="楷体_GB2312" pitchFamily="49" charset="-122"/>
                <a:cs typeface="Times New Roman" panose="02020603050405020304" pitchFamily="18" charset="0"/>
              </a:rPr>
              <a:t>生父</a:t>
            </a:r>
            <a:r>
              <a:rPr lang="zh-CN" altLang="en-US" sz="2400" dirty="0">
                <a:latin typeface="Times New Roman" panose="02020603050405020304" pitchFamily="18" charset="0"/>
                <a:ea typeface="楷体_GB2312" pitchFamily="49" charset="-122"/>
                <a:cs typeface="Times New Roman" panose="02020603050405020304" pitchFamily="18" charset="0"/>
              </a:rPr>
              <a:t>和</a:t>
            </a:r>
            <a:r>
              <a:rPr lang="zh-CN" altLang="en-US" sz="2400" dirty="0">
                <a:solidFill>
                  <a:srgbClr val="FF0000"/>
                </a:solidFill>
                <a:latin typeface="Times New Roman" panose="02020603050405020304" pitchFamily="18" charset="0"/>
                <a:ea typeface="楷体_GB2312" pitchFamily="49" charset="-122"/>
                <a:cs typeface="Times New Roman" panose="02020603050405020304" pitchFamily="18" charset="0"/>
              </a:rPr>
              <a:t>养父</a:t>
            </a:r>
            <a:r>
              <a:rPr lang="zh-CN" altLang="en-US" sz="2400" dirty="0">
                <a:latin typeface="Times New Roman" panose="02020603050405020304" pitchFamily="18" charset="0"/>
                <a:ea typeface="楷体_GB2312" pitchFamily="49" charset="-122"/>
                <a:cs typeface="Times New Roman" panose="02020603050405020304" pitchFamily="18" charset="0"/>
              </a:rPr>
              <a:t>之分。在</a:t>
            </a:r>
            <a:r>
              <a:rPr lang="en-US" altLang="zh-CN" sz="2400" dirty="0" err="1">
                <a:latin typeface="Times New Roman" panose="02020603050405020304" pitchFamily="18" charset="0"/>
                <a:ea typeface="楷体_GB2312" pitchFamily="49" charset="-122"/>
                <a:cs typeface="Times New Roman" panose="02020603050405020304" pitchFamily="18" charset="0"/>
              </a:rPr>
              <a:t>task_struct</a:t>
            </a:r>
            <a:r>
              <a:rPr lang="zh-CN" altLang="en-US" sz="2400" dirty="0">
                <a:latin typeface="Times New Roman" panose="02020603050405020304" pitchFamily="18" charset="0"/>
                <a:ea typeface="楷体_GB2312" pitchFamily="49" charset="-122"/>
                <a:cs typeface="Times New Roman" panose="02020603050405020304" pitchFamily="18" charset="0"/>
              </a:rPr>
              <a:t>结构中有个指针</a:t>
            </a:r>
            <a:r>
              <a:rPr lang="en-US" altLang="zh-CN" sz="2400" dirty="0" err="1">
                <a:latin typeface="Times New Roman" panose="02020603050405020304" pitchFamily="18" charset="0"/>
                <a:ea typeface="楷体_GB2312" pitchFamily="49" charset="-122"/>
                <a:cs typeface="Times New Roman" panose="02020603050405020304" pitchFamily="18" charset="0"/>
              </a:rPr>
              <a:t>p_opptr</a:t>
            </a:r>
            <a:r>
              <a:rPr lang="zh-CN" altLang="en-US" sz="2400" dirty="0">
                <a:latin typeface="Times New Roman" panose="02020603050405020304" pitchFamily="18" charset="0"/>
                <a:ea typeface="楷体_GB2312" pitchFamily="49" charset="-122"/>
                <a:cs typeface="Times New Roman" panose="02020603050405020304" pitchFamily="18" charset="0"/>
              </a:rPr>
              <a:t>指向其“</a:t>
            </a:r>
            <a:r>
              <a:rPr lang="en-US" altLang="zh-CN" sz="2400" dirty="0">
                <a:latin typeface="Times New Roman" panose="02020603050405020304" pitchFamily="18" charset="0"/>
                <a:ea typeface="楷体_GB2312" pitchFamily="49" charset="-122"/>
                <a:cs typeface="Times New Roman" panose="02020603050405020304" pitchFamily="18" charset="0"/>
              </a:rPr>
              <a:t>original parent</a:t>
            </a:r>
            <a:r>
              <a:rPr lang="zh-CN" altLang="en-US" sz="2400" dirty="0">
                <a:latin typeface="Times New Roman" panose="02020603050405020304" pitchFamily="18" charset="0"/>
                <a:ea typeface="楷体_GB2312" pitchFamily="49" charset="-122"/>
                <a:cs typeface="Times New Roman" panose="02020603050405020304" pitchFamily="18" charset="0"/>
              </a:rPr>
              <a:t>”也就是生父。另外还有个指针</a:t>
            </a:r>
            <a:r>
              <a:rPr lang="en-US" altLang="zh-CN" sz="2400" dirty="0" err="1">
                <a:latin typeface="Times New Roman" panose="02020603050405020304" pitchFamily="18" charset="0"/>
                <a:ea typeface="楷体_GB2312" pitchFamily="49" charset="-122"/>
                <a:cs typeface="Times New Roman" panose="02020603050405020304" pitchFamily="18" charset="0"/>
              </a:rPr>
              <a:t>p_pptr</a:t>
            </a:r>
            <a:r>
              <a:rPr lang="zh-CN" altLang="en-US" sz="2400" dirty="0">
                <a:latin typeface="Times New Roman" panose="02020603050405020304" pitchFamily="18" charset="0"/>
                <a:ea typeface="楷体_GB2312" pitchFamily="49" charset="-122"/>
                <a:cs typeface="Times New Roman" panose="02020603050405020304" pitchFamily="18" charset="0"/>
              </a:rPr>
              <a:t>则指向养父。</a:t>
            </a:r>
            <a:endParaRPr lang="en-US" altLang="zh-CN" sz="2400" dirty="0">
              <a:latin typeface="Times New Roman" panose="02020603050405020304" pitchFamily="18" charset="0"/>
              <a:ea typeface="楷体_GB2312" pitchFamily="49" charset="-122"/>
              <a:cs typeface="Times New Roman" panose="02020603050405020304" pitchFamily="18" charset="0"/>
            </a:endParaRPr>
          </a:p>
          <a:p>
            <a:pPr>
              <a:lnSpc>
                <a:spcPct val="110000"/>
              </a:lnSpc>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一个进程在创建之初其生父和养父是一致的，两个指针指向同一个父进程，但是在运行中</a:t>
            </a:r>
            <a:r>
              <a:rPr lang="en-US" altLang="zh-CN" sz="2400" dirty="0" err="1">
                <a:latin typeface="Times New Roman" panose="02020603050405020304" pitchFamily="18" charset="0"/>
                <a:ea typeface="楷体_GB2312" pitchFamily="49" charset="-122"/>
                <a:cs typeface="Times New Roman" panose="02020603050405020304" pitchFamily="18" charset="0"/>
              </a:rPr>
              <a:t>p_pptr</a:t>
            </a:r>
            <a:r>
              <a:rPr lang="zh-CN" altLang="en-US" sz="2400" dirty="0">
                <a:latin typeface="Times New Roman" panose="02020603050405020304" pitchFamily="18" charset="0"/>
                <a:ea typeface="楷体_GB2312" pitchFamily="49" charset="-122"/>
                <a:cs typeface="Times New Roman" panose="02020603050405020304" pitchFamily="18" charset="0"/>
              </a:rPr>
              <a:t>可以暂时地改变。</a:t>
            </a:r>
            <a:endParaRPr lang="en-US" altLang="zh-CN" sz="2400" dirty="0">
              <a:latin typeface="Times New Roman" panose="02020603050405020304" pitchFamily="18" charset="0"/>
              <a:ea typeface="楷体_GB2312" pitchFamily="49" charset="-122"/>
              <a:cs typeface="Times New Roman" panose="02020603050405020304" pitchFamily="18" charset="0"/>
            </a:endParaRPr>
          </a:p>
          <a:p>
            <a:pPr>
              <a:lnSpc>
                <a:spcPct val="110000"/>
              </a:lnSpc>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这种改变发生在一个进程通过系统调用</a:t>
            </a:r>
            <a:r>
              <a:rPr lang="en-US" altLang="zh-CN" sz="2400" dirty="0" err="1">
                <a:latin typeface="Times New Roman" panose="02020603050405020304" pitchFamily="18" charset="0"/>
                <a:ea typeface="楷体_GB2312" pitchFamily="49" charset="-122"/>
                <a:cs typeface="Times New Roman" panose="02020603050405020304" pitchFamily="18" charset="0"/>
              </a:rPr>
              <a:t>ptrace</a:t>
            </a:r>
            <a:r>
              <a:rPr lang="en-US" altLang="zh-CN" sz="2400" dirty="0">
                <a:latin typeface="Times New Roman" panose="02020603050405020304" pitchFamily="18" charset="0"/>
                <a:ea typeface="楷体_GB2312" pitchFamily="49" charset="-122"/>
                <a:cs typeface="Times New Roman" panose="02020603050405020304" pitchFamily="18" charset="0"/>
              </a:rPr>
              <a:t>()</a:t>
            </a:r>
            <a:r>
              <a:rPr lang="zh-CN" altLang="en-US" sz="2400" dirty="0">
                <a:latin typeface="Times New Roman" panose="02020603050405020304" pitchFamily="18" charset="0"/>
                <a:ea typeface="楷体_GB2312" pitchFamily="49" charset="-122"/>
                <a:cs typeface="Times New Roman" panose="02020603050405020304" pitchFamily="18" charset="0"/>
              </a:rPr>
              <a:t>来跟踪另一个进程的时候，这时候被跟踪的进程的</a:t>
            </a:r>
            <a:r>
              <a:rPr lang="en-US" altLang="zh-CN" sz="2400" dirty="0" err="1">
                <a:latin typeface="Times New Roman" panose="02020603050405020304" pitchFamily="18" charset="0"/>
                <a:ea typeface="楷体_GB2312" pitchFamily="49" charset="-122"/>
                <a:cs typeface="Times New Roman" panose="02020603050405020304" pitchFamily="18" charset="0"/>
              </a:rPr>
              <a:t>p_pptr</a:t>
            </a:r>
            <a:r>
              <a:rPr lang="zh-CN" altLang="en-US" sz="2400" dirty="0">
                <a:latin typeface="Times New Roman" panose="02020603050405020304" pitchFamily="18" charset="0"/>
                <a:ea typeface="楷体_GB2312" pitchFamily="49" charset="-122"/>
                <a:cs typeface="Times New Roman" panose="02020603050405020304" pitchFamily="18" charset="0"/>
              </a:rPr>
              <a:t>的指针被设置成指向正在跟踪它的进程，那个进程就暂时成了被跟踪进程的养父。而被跟踪进程的</a:t>
            </a:r>
            <a:r>
              <a:rPr lang="en-US" altLang="zh-CN" sz="2400" dirty="0" err="1">
                <a:latin typeface="Times New Roman" panose="02020603050405020304" pitchFamily="18" charset="0"/>
                <a:ea typeface="楷体_GB2312" pitchFamily="49" charset="-122"/>
                <a:cs typeface="Times New Roman" panose="02020603050405020304" pitchFamily="18" charset="0"/>
              </a:rPr>
              <a:t>p_opptr</a:t>
            </a:r>
            <a:r>
              <a:rPr lang="zh-CN" altLang="en-US" sz="2400" dirty="0">
                <a:latin typeface="Times New Roman" panose="02020603050405020304" pitchFamily="18" charset="0"/>
                <a:ea typeface="楷体_GB2312" pitchFamily="49" charset="-122"/>
                <a:cs typeface="Times New Roman" panose="02020603050405020304" pitchFamily="18" charset="0"/>
              </a:rPr>
              <a:t>指向这个线程。</a:t>
            </a:r>
            <a:endParaRPr lang="en-US" altLang="zh-CN" sz="2400" dirty="0">
              <a:latin typeface="Times New Roman" panose="02020603050405020304" pitchFamily="18" charset="0"/>
              <a:ea typeface="楷体_GB2312" pitchFamily="49" charset="-122"/>
              <a:cs typeface="Times New Roman" panose="02020603050405020304" pitchFamily="18" charset="0"/>
            </a:endParaRPr>
          </a:p>
          <a:p>
            <a:pPr>
              <a:lnSpc>
                <a:spcPct val="110000"/>
              </a:lnSpc>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否则，就只好托付给系统中的</a:t>
            </a:r>
            <a:r>
              <a:rPr lang="en-US" altLang="zh-CN" sz="2400" dirty="0" err="1">
                <a:latin typeface="Times New Roman" panose="02020603050405020304" pitchFamily="18" charset="0"/>
                <a:ea typeface="楷体_GB2312" pitchFamily="49" charset="-122"/>
                <a:cs typeface="Times New Roman" panose="02020603050405020304" pitchFamily="18" charset="0"/>
              </a:rPr>
              <a:t>init</a:t>
            </a:r>
            <a:r>
              <a:rPr lang="zh-CN" altLang="en-US" sz="2400" dirty="0">
                <a:latin typeface="Times New Roman" panose="02020603050405020304" pitchFamily="18" charset="0"/>
                <a:ea typeface="楷体_GB2312" pitchFamily="49" charset="-122"/>
                <a:cs typeface="Times New Roman" panose="02020603050405020304" pitchFamily="18" charset="0"/>
              </a:rPr>
              <a:t>进程，所以这个</a:t>
            </a:r>
            <a:r>
              <a:rPr lang="en-US" altLang="zh-CN" sz="2400" dirty="0" err="1">
                <a:latin typeface="Times New Roman" panose="02020603050405020304" pitchFamily="18" charset="0"/>
                <a:ea typeface="楷体_GB2312" pitchFamily="49" charset="-122"/>
                <a:cs typeface="Times New Roman" panose="02020603050405020304" pitchFamily="18" charset="0"/>
              </a:rPr>
              <a:t>init</a:t>
            </a:r>
            <a:r>
              <a:rPr lang="zh-CN" altLang="en-US" sz="2400" dirty="0">
                <a:latin typeface="Times New Roman" panose="02020603050405020304" pitchFamily="18" charset="0"/>
                <a:ea typeface="楷体_GB2312" pitchFamily="49" charset="-122"/>
                <a:cs typeface="Times New Roman" panose="02020603050405020304" pitchFamily="18" charset="0"/>
              </a:rPr>
              <a:t>进程就好像是孤儿院。</a:t>
            </a:r>
            <a:endParaRPr lang="zh-CN" altLang="en-US" sz="2400" dirty="0">
              <a:latin typeface="Times New Roman" panose="02020603050405020304" pitchFamily="18" charset="0"/>
              <a:ea typeface="楷体_GB2312" pitchFamily="49" charset="-122"/>
              <a:cs typeface="Times New Roman" panose="02020603050405020304" pitchFamily="18" charset="0"/>
            </a:endParaRPr>
          </a:p>
        </p:txBody>
      </p:sp>
      <p:sp>
        <p:nvSpPr>
          <p:cNvPr id="5" name="Rectangle 2"/>
          <p:cNvSpPr>
            <a:spLocks noGrp="1" noChangeArrowheads="1"/>
          </p:cNvSpPr>
          <p:nvPr>
            <p:ph type="title"/>
          </p:nvPr>
        </p:nvSpPr>
        <p:spPr>
          <a:xfrm>
            <a:off x="611188" y="115888"/>
            <a:ext cx="7632700" cy="609600"/>
          </a:xfrm>
        </p:spPr>
        <p:txBody>
          <a:bodyPr/>
          <a:lstStyle/>
          <a:p>
            <a:pPr eaLnBrk="1" hangingPunct="1"/>
            <a:r>
              <a:rPr lang="en-US" altLang="zh-CN" dirty="0">
                <a:latin typeface="Times New Roman" panose="02020603050405020304" pitchFamily="18" charset="0"/>
                <a:ea typeface="楷体_GB2312" pitchFamily="49" charset="-122"/>
                <a:cs typeface="Times New Roman" panose="02020603050405020304" pitchFamily="18" charset="0"/>
              </a:rPr>
              <a:t>2.6 Linux</a:t>
            </a:r>
            <a:r>
              <a:rPr lang="zh-CN" altLang="en-US" dirty="0">
                <a:latin typeface="Times New Roman" panose="02020603050405020304" pitchFamily="18" charset="0"/>
                <a:ea typeface="楷体_GB2312" pitchFamily="49" charset="-122"/>
                <a:cs typeface="Times New Roman" panose="02020603050405020304" pitchFamily="18" charset="0"/>
              </a:rPr>
              <a:t>进程的家族关系</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6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6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65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noChangeArrowheads="1"/>
          </p:cNvSpPr>
          <p:nvPr>
            <p:ph type="body" idx="1"/>
          </p:nvPr>
        </p:nvSpPr>
        <p:spPr/>
        <p:txBody>
          <a:bodyPr/>
          <a:lstStyle/>
          <a:p>
            <a:pPr eaLnBrk="1" hangingPunct="1">
              <a:buFont typeface="Arial" panose="020B0604020202020204" pitchFamily="34" charset="0"/>
              <a:buChar char="•"/>
            </a:pPr>
            <a:r>
              <a:rPr lang="en-US" altLang="zh-CN" dirty="0">
                <a:latin typeface="Times New Roman" panose="02020603050405020304" pitchFamily="18" charset="0"/>
                <a:ea typeface="楷体_GB2312" pitchFamily="49" charset="-122"/>
                <a:cs typeface="Times New Roman" panose="02020603050405020304" pitchFamily="18" charset="0"/>
              </a:rPr>
              <a:t>Linux</a:t>
            </a:r>
            <a:r>
              <a:rPr lang="zh-CN" altLang="en-US" dirty="0">
                <a:latin typeface="Times New Roman" panose="02020603050405020304" pitchFamily="18" charset="0"/>
                <a:ea typeface="楷体_GB2312" pitchFamily="49" charset="-122"/>
                <a:cs typeface="Times New Roman" panose="02020603050405020304" pitchFamily="18" charset="0"/>
              </a:rPr>
              <a:t>中的</a:t>
            </a:r>
            <a:r>
              <a:rPr lang="en-US" altLang="zh-CN" dirty="0">
                <a:latin typeface="Times New Roman" panose="02020603050405020304" pitchFamily="18" charset="0"/>
                <a:ea typeface="楷体_GB2312" pitchFamily="49" charset="-122"/>
                <a:cs typeface="Times New Roman" panose="02020603050405020304" pitchFamily="18" charset="0"/>
              </a:rPr>
              <a:t>0</a:t>
            </a:r>
            <a:r>
              <a:rPr lang="zh-CN" altLang="en-US" dirty="0">
                <a:latin typeface="Times New Roman" panose="02020603050405020304" pitchFamily="18" charset="0"/>
                <a:ea typeface="楷体_GB2312" pitchFamily="49" charset="-122"/>
                <a:cs typeface="Times New Roman" panose="02020603050405020304" pitchFamily="18" charset="0"/>
              </a:rPr>
              <a:t>号进程</a:t>
            </a:r>
            <a:r>
              <a:rPr lang="en-US" altLang="zh-CN" dirty="0">
                <a:latin typeface="Times New Roman" panose="02020603050405020304" pitchFamily="18" charset="0"/>
                <a:ea typeface="楷体_GB2312" pitchFamily="49" charset="-122"/>
                <a:cs typeface="Times New Roman" panose="02020603050405020304" pitchFamily="18" charset="0"/>
              </a:rPr>
              <a:t>,</a:t>
            </a:r>
            <a:r>
              <a:rPr lang="zh-CN" altLang="en-US" dirty="0">
                <a:latin typeface="Times New Roman" panose="02020603050405020304" pitchFamily="18" charset="0"/>
                <a:ea typeface="楷体_GB2312" pitchFamily="49" charset="-122"/>
                <a:cs typeface="Times New Roman" panose="02020603050405020304" pitchFamily="18" charset="0"/>
              </a:rPr>
              <a:t> 是所有进程的祖先，在</a:t>
            </a:r>
            <a:r>
              <a:rPr lang="en-US" altLang="zh-CN" dirty="0">
                <a:latin typeface="Times New Roman" panose="02020603050405020304" pitchFamily="18" charset="0"/>
                <a:ea typeface="楷体_GB2312" pitchFamily="49" charset="-122"/>
                <a:cs typeface="Times New Roman" panose="02020603050405020304" pitchFamily="18" charset="0"/>
              </a:rPr>
              <a:t>OS</a:t>
            </a:r>
            <a:r>
              <a:rPr lang="zh-CN" altLang="en-US" dirty="0">
                <a:latin typeface="Times New Roman" panose="02020603050405020304" pitchFamily="18" charset="0"/>
                <a:ea typeface="楷体_GB2312" pitchFamily="49" charset="-122"/>
                <a:cs typeface="Times New Roman" panose="02020603050405020304" pitchFamily="18" charset="0"/>
              </a:rPr>
              <a:t>启动时创建。由它执行</a:t>
            </a:r>
            <a:r>
              <a:rPr lang="en-US" altLang="zh-CN" dirty="0" err="1">
                <a:latin typeface="Times New Roman" panose="02020603050405020304" pitchFamily="18" charset="0"/>
                <a:ea typeface="楷体_GB2312" pitchFamily="49" charset="-122"/>
                <a:cs typeface="Times New Roman" panose="02020603050405020304" pitchFamily="18" charset="0"/>
              </a:rPr>
              <a:t>cpu_idle</a:t>
            </a:r>
            <a:r>
              <a:rPr lang="en-US" altLang="zh-CN" dirty="0">
                <a:latin typeface="Times New Roman" panose="02020603050405020304" pitchFamily="18" charset="0"/>
                <a:ea typeface="楷体_GB2312" pitchFamily="49" charset="-122"/>
                <a:cs typeface="Times New Roman" panose="02020603050405020304" pitchFamily="18" charset="0"/>
              </a:rPr>
              <a:t>()</a:t>
            </a:r>
            <a:r>
              <a:rPr lang="zh-CN" altLang="en-US" dirty="0">
                <a:latin typeface="Times New Roman" panose="02020603050405020304" pitchFamily="18" charset="0"/>
                <a:ea typeface="楷体_GB2312" pitchFamily="49" charset="-122"/>
                <a:cs typeface="Times New Roman" panose="02020603050405020304" pitchFamily="18" charset="0"/>
              </a:rPr>
              <a:t>函数，当没有其他进程处于</a:t>
            </a:r>
            <a:r>
              <a:rPr lang="en-US" altLang="zh-CN" dirty="0">
                <a:latin typeface="Times New Roman" panose="02020603050405020304" pitchFamily="18" charset="0"/>
                <a:ea typeface="楷体_GB2312" pitchFamily="49" charset="-122"/>
                <a:cs typeface="Times New Roman" panose="02020603050405020304" pitchFamily="18" charset="0"/>
              </a:rPr>
              <a:t>TASK_RUNNING</a:t>
            </a:r>
            <a:r>
              <a:rPr lang="zh-CN" altLang="en-US" dirty="0">
                <a:latin typeface="Times New Roman" panose="02020603050405020304" pitchFamily="18" charset="0"/>
                <a:ea typeface="楷体_GB2312" pitchFamily="49" charset="-122"/>
                <a:cs typeface="Times New Roman" panose="02020603050405020304" pitchFamily="18" charset="0"/>
              </a:rPr>
              <a:t>的时候，调度程序会选择</a:t>
            </a:r>
            <a:r>
              <a:rPr lang="en-US" altLang="zh-CN" dirty="0">
                <a:latin typeface="Times New Roman" panose="02020603050405020304" pitchFamily="18" charset="0"/>
                <a:ea typeface="楷体_GB2312" pitchFamily="49" charset="-122"/>
                <a:cs typeface="Times New Roman" panose="02020603050405020304" pitchFamily="18" charset="0"/>
              </a:rPr>
              <a:t>0</a:t>
            </a:r>
            <a:r>
              <a:rPr lang="zh-CN" altLang="en-US" dirty="0">
                <a:latin typeface="Times New Roman" panose="02020603050405020304" pitchFamily="18" charset="0"/>
                <a:ea typeface="楷体_GB2312" pitchFamily="49" charset="-122"/>
                <a:cs typeface="Times New Roman" panose="02020603050405020304" pitchFamily="18" charset="0"/>
              </a:rPr>
              <a:t>号进程运行</a:t>
            </a: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en-US" altLang="zh-CN" dirty="0">
                <a:latin typeface="Times New Roman" panose="02020603050405020304" pitchFamily="18" charset="0"/>
                <a:ea typeface="楷体_GB2312" pitchFamily="49" charset="-122"/>
                <a:cs typeface="Times New Roman" panose="02020603050405020304" pitchFamily="18" charset="0"/>
              </a:rPr>
              <a:t>0</a:t>
            </a:r>
            <a:r>
              <a:rPr lang="zh-CN" altLang="en-US" dirty="0">
                <a:latin typeface="Times New Roman" panose="02020603050405020304" pitchFamily="18" charset="0"/>
                <a:ea typeface="楷体_GB2312" pitchFamily="49" charset="-122"/>
                <a:cs typeface="Times New Roman" panose="02020603050405020304" pitchFamily="18" charset="0"/>
              </a:rPr>
              <a:t>号进程创建</a:t>
            </a:r>
            <a:r>
              <a:rPr lang="en-US" altLang="zh-CN" dirty="0">
                <a:latin typeface="Times New Roman" panose="02020603050405020304" pitchFamily="18" charset="0"/>
                <a:ea typeface="楷体_GB2312" pitchFamily="49" charset="-122"/>
                <a:cs typeface="Times New Roman" panose="02020603050405020304" pitchFamily="18" charset="0"/>
              </a:rPr>
              <a:t>1</a:t>
            </a:r>
            <a:r>
              <a:rPr lang="zh-CN" altLang="en-US" dirty="0">
                <a:latin typeface="Times New Roman" panose="02020603050405020304" pitchFamily="18" charset="0"/>
                <a:ea typeface="楷体_GB2312" pitchFamily="49" charset="-122"/>
                <a:cs typeface="Times New Roman" panose="02020603050405020304" pitchFamily="18" charset="0"/>
              </a:rPr>
              <a:t>号进程，</a:t>
            </a:r>
            <a:r>
              <a:rPr lang="en-US" altLang="zh-CN" dirty="0">
                <a:latin typeface="Times New Roman" panose="02020603050405020304" pitchFamily="18" charset="0"/>
                <a:ea typeface="楷体_GB2312" pitchFamily="49" charset="-122"/>
                <a:cs typeface="Times New Roman" panose="02020603050405020304" pitchFamily="18" charset="0"/>
              </a:rPr>
              <a:t>1</a:t>
            </a:r>
            <a:r>
              <a:rPr lang="zh-CN" altLang="en-US" dirty="0">
                <a:latin typeface="Times New Roman" panose="02020603050405020304" pitchFamily="18" charset="0"/>
                <a:ea typeface="楷体_GB2312" pitchFamily="49" charset="-122"/>
                <a:cs typeface="Times New Roman" panose="02020603050405020304" pitchFamily="18" charset="0"/>
              </a:rPr>
              <a:t>号进程通常称为</a:t>
            </a:r>
            <a:r>
              <a:rPr lang="en-US" altLang="zh-CN" dirty="0" err="1">
                <a:latin typeface="Times New Roman" panose="02020603050405020304" pitchFamily="18" charset="0"/>
                <a:ea typeface="楷体_GB2312" pitchFamily="49" charset="-122"/>
                <a:cs typeface="Times New Roman" panose="02020603050405020304" pitchFamily="18" charset="0"/>
              </a:rPr>
              <a:t>init</a:t>
            </a:r>
            <a:r>
              <a:rPr lang="zh-CN" altLang="en-US" dirty="0">
                <a:latin typeface="Times New Roman" panose="02020603050405020304" pitchFamily="18" charset="0"/>
                <a:ea typeface="楷体_GB2312" pitchFamily="49" charset="-122"/>
                <a:cs typeface="Times New Roman" panose="02020603050405020304" pitchFamily="18" charset="0"/>
              </a:rPr>
              <a:t>进程。它首先创建一些后台进程来维护系统，然后进行系统配置，执行</a:t>
            </a:r>
            <a:r>
              <a:rPr lang="en-US" altLang="zh-CN" dirty="0">
                <a:latin typeface="Times New Roman" panose="02020603050405020304" pitchFamily="18" charset="0"/>
                <a:ea typeface="楷体_GB2312" pitchFamily="49" charset="-122"/>
                <a:cs typeface="Times New Roman" panose="02020603050405020304" pitchFamily="18" charset="0"/>
              </a:rPr>
              <a:t>shell</a:t>
            </a:r>
            <a:r>
              <a:rPr lang="zh-CN" altLang="en-US" dirty="0">
                <a:latin typeface="Times New Roman" panose="02020603050405020304" pitchFamily="18" charset="0"/>
                <a:ea typeface="楷体_GB2312" pitchFamily="49" charset="-122"/>
                <a:cs typeface="Times New Roman" panose="02020603050405020304" pitchFamily="18" charset="0"/>
              </a:rPr>
              <a:t>编写的初始化程序。然后转入用户态运行</a:t>
            </a: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思考题</a:t>
            </a:r>
            <a:r>
              <a:rPr lang="zh-CN" altLang="en-US" dirty="0">
                <a:latin typeface="Times New Roman" panose="02020603050405020304" pitchFamily="18" charset="0"/>
                <a:ea typeface="楷体_GB2312" pitchFamily="49" charset="-122"/>
                <a:cs typeface="Times New Roman" panose="02020603050405020304" pitchFamily="18" charset="0"/>
              </a:rPr>
              <a:t>：查资料，了解</a:t>
            </a:r>
            <a:r>
              <a:rPr lang="en-US" altLang="zh-CN" dirty="0">
                <a:latin typeface="Times New Roman" panose="02020603050405020304" pitchFamily="18" charset="0"/>
                <a:ea typeface="楷体_GB2312" pitchFamily="49" charset="-122"/>
                <a:cs typeface="Times New Roman" panose="02020603050405020304" pitchFamily="18" charset="0"/>
              </a:rPr>
              <a:t>Linux2.6</a:t>
            </a:r>
            <a:r>
              <a:rPr lang="zh-CN" altLang="en-US" dirty="0">
                <a:latin typeface="Times New Roman" panose="02020603050405020304" pitchFamily="18" charset="0"/>
                <a:ea typeface="楷体_GB2312" pitchFamily="49" charset="-122"/>
                <a:cs typeface="Times New Roman" panose="02020603050405020304" pitchFamily="18" charset="0"/>
              </a:rPr>
              <a:t>中的父子进程中间的</a:t>
            </a:r>
            <a:r>
              <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养父关系</a:t>
            </a:r>
            <a:r>
              <a:rPr lang="zh-CN" altLang="en-US" dirty="0">
                <a:latin typeface="Times New Roman" panose="02020603050405020304" pitchFamily="18" charset="0"/>
                <a:ea typeface="楷体_GB2312" pitchFamily="49" charset="-122"/>
                <a:cs typeface="Times New Roman" panose="02020603050405020304" pitchFamily="18" charset="0"/>
              </a:rPr>
              <a:t>。</a:t>
            </a: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
        <p:nvSpPr>
          <p:cNvPr id="4" name="Rectangle 2"/>
          <p:cNvSpPr>
            <a:spLocks noGrp="1" noChangeArrowheads="1"/>
          </p:cNvSpPr>
          <p:nvPr>
            <p:ph type="title"/>
          </p:nvPr>
        </p:nvSpPr>
        <p:spPr>
          <a:xfrm>
            <a:off x="611188" y="115888"/>
            <a:ext cx="7632700" cy="609600"/>
          </a:xfrm>
        </p:spPr>
        <p:txBody>
          <a:bodyPr/>
          <a:lstStyle/>
          <a:p>
            <a:pPr eaLnBrk="1" hangingPunct="1"/>
            <a:r>
              <a:rPr lang="en-US" altLang="zh-CN" dirty="0">
                <a:latin typeface="Times New Roman" panose="02020603050405020304" pitchFamily="18" charset="0"/>
                <a:ea typeface="楷体_GB2312" pitchFamily="49" charset="-122"/>
                <a:cs typeface="Times New Roman" panose="02020603050405020304" pitchFamily="18" charset="0"/>
              </a:rPr>
              <a:t>2.6 Linux</a:t>
            </a:r>
            <a:r>
              <a:rPr lang="zh-CN" altLang="en-US" dirty="0">
                <a:latin typeface="Times New Roman" panose="02020603050405020304" pitchFamily="18" charset="0"/>
                <a:ea typeface="楷体_GB2312" pitchFamily="49" charset="-122"/>
                <a:cs typeface="Times New Roman" panose="02020603050405020304" pitchFamily="18" charset="0"/>
              </a:rPr>
              <a:t>进程的家族关系</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3"/>
          <p:cNvSpPr>
            <a:spLocks noGrp="1" noChangeArrowheads="1"/>
          </p:cNvSpPr>
          <p:nvPr>
            <p:ph type="body" idx="1"/>
          </p:nvPr>
        </p:nvSpPr>
        <p:spPr/>
        <p:txBody>
          <a:bodyPr/>
          <a:lstStyle/>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获取父进程</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dirty="0" err="1">
                <a:latin typeface="Times New Roman" panose="02020603050405020304" pitchFamily="18" charset="0"/>
                <a:ea typeface="楷体_GB2312" pitchFamily="49" charset="-122"/>
                <a:cs typeface="Times New Roman" panose="02020603050405020304" pitchFamily="18" charset="0"/>
              </a:rPr>
              <a:t>struct</a:t>
            </a:r>
            <a:r>
              <a:rPr lang="en-US" altLang="zh-CN" dirty="0">
                <a:latin typeface="Times New Roman" panose="02020603050405020304" pitchFamily="18" charset="0"/>
                <a:ea typeface="楷体_GB2312" pitchFamily="49" charset="-122"/>
                <a:cs typeface="Times New Roman" panose="02020603050405020304" pitchFamily="18" charset="0"/>
              </a:rPr>
              <a:t> </a:t>
            </a:r>
            <a:r>
              <a:rPr lang="en-US" altLang="zh-CN" dirty="0" err="1">
                <a:latin typeface="Times New Roman" panose="02020603050405020304" pitchFamily="18" charset="0"/>
                <a:ea typeface="楷体_GB2312" pitchFamily="49" charset="-122"/>
                <a:cs typeface="Times New Roman" panose="02020603050405020304" pitchFamily="18" charset="0"/>
              </a:rPr>
              <a:t>task_struct</a:t>
            </a:r>
            <a:r>
              <a:rPr lang="en-US" altLang="zh-CN" dirty="0">
                <a:latin typeface="Times New Roman" panose="02020603050405020304" pitchFamily="18" charset="0"/>
                <a:ea typeface="楷体_GB2312" pitchFamily="49" charset="-122"/>
                <a:cs typeface="Times New Roman" panose="02020603050405020304" pitchFamily="18" charset="0"/>
              </a:rPr>
              <a:t> *</a:t>
            </a:r>
            <a:r>
              <a:rPr lang="en-US" altLang="zh-CN" dirty="0" err="1">
                <a:latin typeface="Times New Roman" panose="02020603050405020304" pitchFamily="18" charset="0"/>
                <a:ea typeface="楷体_GB2312" pitchFamily="49" charset="-122"/>
                <a:cs typeface="Times New Roman" panose="02020603050405020304" pitchFamily="18" charset="0"/>
              </a:rPr>
              <a:t>my_parent</a:t>
            </a:r>
            <a:r>
              <a:rPr lang="en-US" altLang="zh-CN" dirty="0">
                <a:latin typeface="Times New Roman" panose="02020603050405020304" pitchFamily="18" charset="0"/>
                <a:ea typeface="楷体_GB2312" pitchFamily="49" charset="-122"/>
                <a:cs typeface="Times New Roman" panose="02020603050405020304" pitchFamily="18" charset="0"/>
              </a:rPr>
              <a:t> = </a:t>
            </a:r>
            <a:r>
              <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rPr>
              <a:t>current-</a:t>
            </a:r>
            <a:r>
              <a:rPr lang="en-US" altLang="zh-CN" dirty="0">
                <a:latin typeface="Times New Roman" panose="02020603050405020304" pitchFamily="18" charset="0"/>
                <a:ea typeface="楷体_GB2312" pitchFamily="49" charset="-122"/>
                <a:cs typeface="Times New Roman" panose="02020603050405020304" pitchFamily="18" charset="0"/>
              </a:rPr>
              <a:t>&gt;parent</a:t>
            </a:r>
            <a:endParaRPr lang="en-US" altLang="zh-CN"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获取所有子进程（实质是遍历</a:t>
            </a:r>
            <a:r>
              <a:rPr lang="en-US" altLang="zh-CN" dirty="0" err="1">
                <a:latin typeface="Times New Roman" panose="02020603050405020304" pitchFamily="18" charset="0"/>
                <a:ea typeface="楷体_GB2312" pitchFamily="49" charset="-122"/>
                <a:cs typeface="Times New Roman" panose="02020603050405020304" pitchFamily="18" charset="0"/>
              </a:rPr>
              <a:t>list_head</a:t>
            </a:r>
            <a:r>
              <a:rPr lang="zh-CN" altLang="en-US" dirty="0">
                <a:latin typeface="Times New Roman" panose="02020603050405020304" pitchFamily="18" charset="0"/>
                <a:ea typeface="楷体_GB2312" pitchFamily="49" charset="-122"/>
                <a:cs typeface="Times New Roman" panose="02020603050405020304" pitchFamily="18" charset="0"/>
              </a:rPr>
              <a:t>结构）</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pic>
        <p:nvPicPr>
          <p:cNvPr id="29701"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71563" y="2928938"/>
            <a:ext cx="7715250" cy="200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2"/>
          <p:cNvSpPr>
            <a:spLocks noGrp="1" noChangeArrowheads="1"/>
          </p:cNvSpPr>
          <p:nvPr>
            <p:ph type="title"/>
          </p:nvPr>
        </p:nvSpPr>
        <p:spPr>
          <a:xfrm>
            <a:off x="611188" y="115888"/>
            <a:ext cx="7632700" cy="609600"/>
          </a:xfrm>
        </p:spPr>
        <p:txBody>
          <a:bodyPr/>
          <a:lstStyle/>
          <a:p>
            <a:pPr eaLnBrk="1" hangingPunct="1"/>
            <a:r>
              <a:rPr lang="en-US" altLang="zh-CN" dirty="0">
                <a:latin typeface="Times New Roman" panose="02020603050405020304" pitchFamily="18" charset="0"/>
                <a:ea typeface="楷体_GB2312" pitchFamily="49" charset="-122"/>
                <a:cs typeface="Times New Roman" panose="02020603050405020304" pitchFamily="18" charset="0"/>
              </a:rPr>
              <a:t>2.6 Linux</a:t>
            </a:r>
            <a:r>
              <a:rPr lang="zh-CN" altLang="en-US" dirty="0">
                <a:latin typeface="Times New Roman" panose="02020603050405020304" pitchFamily="18" charset="0"/>
                <a:ea typeface="楷体_GB2312" pitchFamily="49" charset="-122"/>
                <a:cs typeface="Times New Roman" panose="02020603050405020304" pitchFamily="18" charset="0"/>
              </a:rPr>
              <a:t>进程的家族关系</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ransition>
    <p:wedg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6"/>
          <p:cNvSpPr>
            <a:spLocks noGrp="1" noChangeArrowheads="1"/>
          </p:cNvSpPr>
          <p:nvPr>
            <p:ph type="title"/>
          </p:nvPr>
        </p:nvSpPr>
        <p:spPr>
          <a:xfrm>
            <a:off x="611188" y="0"/>
            <a:ext cx="7632700" cy="609600"/>
          </a:xfrm>
          <a:noFill/>
        </p:spPr>
        <p:txBody>
          <a:bodyPr/>
          <a:lstStyle/>
          <a:p>
            <a:pPr eaLnBrk="1" hangingPunct="1"/>
            <a:br>
              <a:rPr lang="zh-CN" altLang="en-US" dirty="0">
                <a:latin typeface="Times New Roman" panose="02020603050405020304" pitchFamily="18" charset="0"/>
                <a:ea typeface="楷体_GB2312" pitchFamily="49" charset="-122"/>
                <a:cs typeface="Times New Roman" panose="02020603050405020304" pitchFamily="18" charset="0"/>
              </a:rPr>
            </a:br>
            <a:r>
              <a:rPr lang="en-US" altLang="zh-CN" dirty="0">
                <a:latin typeface="Times New Roman" panose="02020603050405020304" pitchFamily="18" charset="0"/>
                <a:ea typeface="楷体_GB2312" pitchFamily="49" charset="-122"/>
                <a:cs typeface="Times New Roman" panose="02020603050405020304" pitchFamily="18" charset="0"/>
              </a:rPr>
              <a:t>2.7 Linux</a:t>
            </a:r>
            <a:r>
              <a:rPr lang="zh-CN" altLang="en-US" dirty="0">
                <a:latin typeface="Times New Roman" panose="02020603050405020304" pitchFamily="18" charset="0"/>
                <a:ea typeface="楷体_GB2312" pitchFamily="49" charset="-122"/>
                <a:cs typeface="Times New Roman" panose="02020603050405020304" pitchFamily="18" charset="0"/>
              </a:rPr>
              <a:t>中的进程控制</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
        <p:nvSpPr>
          <p:cNvPr id="30723" name="Rectangle 7"/>
          <p:cNvSpPr>
            <a:spLocks noGrp="1" noChangeArrowheads="1"/>
          </p:cNvSpPr>
          <p:nvPr>
            <p:ph type="body" idx="1"/>
          </p:nvPr>
        </p:nvSpPr>
        <p:spPr>
          <a:xfrm>
            <a:off x="395288" y="1319213"/>
            <a:ext cx="8291512" cy="5005387"/>
          </a:xfrm>
          <a:noFill/>
        </p:spPr>
        <p:txBody>
          <a:bodyPr/>
          <a:lstStyle/>
          <a:p>
            <a:pPr eaLnBrk="1" hangingPunct="1">
              <a:buFont typeface="Arial" panose="020B0604020202020204" pitchFamily="34" charset="0"/>
              <a:buChar char="•"/>
            </a:pPr>
            <a:r>
              <a:rPr lang="en-US" altLang="zh-CN" dirty="0">
                <a:latin typeface="Times New Roman" panose="02020603050405020304" pitchFamily="18" charset="0"/>
                <a:ea typeface="楷体_GB2312" pitchFamily="49" charset="-122"/>
                <a:cs typeface="Times New Roman" panose="02020603050405020304" pitchFamily="18" charset="0"/>
              </a:rPr>
              <a:t> Linux</a:t>
            </a:r>
            <a:r>
              <a:rPr lang="zh-CN" altLang="en-US" dirty="0">
                <a:latin typeface="Times New Roman" panose="02020603050405020304" pitchFamily="18" charset="0"/>
                <a:ea typeface="楷体_GB2312" pitchFamily="49" charset="-122"/>
                <a:cs typeface="Times New Roman" panose="02020603050405020304" pitchFamily="18" charset="0"/>
              </a:rPr>
              <a:t>进程的创建</a:t>
            </a: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 </a:t>
            </a:r>
            <a:r>
              <a:rPr lang="en-US" altLang="zh-CN" dirty="0">
                <a:latin typeface="Times New Roman" panose="02020603050405020304" pitchFamily="18" charset="0"/>
                <a:ea typeface="楷体_GB2312" pitchFamily="49" charset="-122"/>
                <a:cs typeface="Times New Roman" panose="02020603050405020304" pitchFamily="18" charset="0"/>
              </a:rPr>
              <a:t>Linux</a:t>
            </a:r>
            <a:r>
              <a:rPr lang="zh-CN" altLang="en-US" dirty="0">
                <a:latin typeface="Times New Roman" panose="02020603050405020304" pitchFamily="18" charset="0"/>
                <a:ea typeface="楷体_GB2312" pitchFamily="49" charset="-122"/>
                <a:cs typeface="Times New Roman" panose="02020603050405020304" pitchFamily="18" charset="0"/>
              </a:rPr>
              <a:t>进程的执行</a:t>
            </a: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 </a:t>
            </a:r>
            <a:r>
              <a:rPr lang="en-US" altLang="zh-CN" dirty="0">
                <a:latin typeface="Times New Roman" panose="02020603050405020304" pitchFamily="18" charset="0"/>
                <a:ea typeface="楷体_GB2312" pitchFamily="49" charset="-122"/>
                <a:cs typeface="Times New Roman" panose="02020603050405020304" pitchFamily="18" charset="0"/>
              </a:rPr>
              <a:t>Linux</a:t>
            </a:r>
            <a:r>
              <a:rPr lang="zh-CN" altLang="en-US" dirty="0">
                <a:latin typeface="Times New Roman" panose="02020603050405020304" pitchFamily="18" charset="0"/>
                <a:ea typeface="楷体_GB2312" pitchFamily="49" charset="-122"/>
                <a:cs typeface="Times New Roman" panose="02020603050405020304" pitchFamily="18" charset="0"/>
              </a:rPr>
              <a:t>进程的等待</a:t>
            </a: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en-US" altLang="zh-CN" dirty="0">
                <a:latin typeface="Times New Roman" panose="02020603050405020304" pitchFamily="18" charset="0"/>
                <a:ea typeface="楷体_GB2312" pitchFamily="49" charset="-122"/>
                <a:cs typeface="Times New Roman" panose="02020603050405020304" pitchFamily="18" charset="0"/>
              </a:rPr>
              <a:t> Linux</a:t>
            </a:r>
            <a:r>
              <a:rPr lang="zh-CN" altLang="en-US" dirty="0">
                <a:latin typeface="Times New Roman" panose="02020603050405020304" pitchFamily="18" charset="0"/>
                <a:ea typeface="楷体_GB2312" pitchFamily="49" charset="-122"/>
                <a:cs typeface="Times New Roman" panose="02020603050405020304" pitchFamily="18" charset="0"/>
              </a:rPr>
              <a:t>进程的终止</a:t>
            </a: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Rectangle 3"/>
          <p:cNvSpPr>
            <a:spLocks noGrp="1" noChangeArrowheads="1"/>
          </p:cNvSpPr>
          <p:nvPr>
            <p:ph type="body" idx="1"/>
          </p:nvPr>
        </p:nvSpPr>
        <p:spPr>
          <a:xfrm>
            <a:off x="611188" y="1214438"/>
            <a:ext cx="8532812" cy="5449887"/>
          </a:xfrm>
        </p:spPr>
        <p:txBody>
          <a:bodyPr/>
          <a:lstStyle/>
          <a:p>
            <a:pPr eaLnBrk="1" hangingPunct="1">
              <a:buFont typeface="Arial" panose="020B0604020202020204" pitchFamily="34" charset="0"/>
              <a:buChar char="•"/>
            </a:pPr>
            <a:r>
              <a:rPr lang="en-US" altLang="zh-CN" dirty="0">
                <a:latin typeface="Times New Roman" panose="02020603050405020304" pitchFamily="18" charset="0"/>
                <a:ea typeface="楷体_GB2312" pitchFamily="49" charset="-122"/>
                <a:cs typeface="Times New Roman" panose="02020603050405020304" pitchFamily="18" charset="0"/>
              </a:rPr>
              <a:t>Linux</a:t>
            </a:r>
            <a:r>
              <a:rPr lang="zh-CN" altLang="en-US" dirty="0">
                <a:latin typeface="Times New Roman" panose="02020603050405020304" pitchFamily="18" charset="0"/>
                <a:ea typeface="楷体_GB2312" pitchFamily="49" charset="-122"/>
                <a:cs typeface="Times New Roman" panose="02020603050405020304" pitchFamily="18" charset="0"/>
              </a:rPr>
              <a:t>的</a:t>
            </a:r>
            <a:r>
              <a:rPr lang="en-US" altLang="zh-CN" dirty="0">
                <a:latin typeface="Times New Roman" panose="02020603050405020304" pitchFamily="18" charset="0"/>
                <a:ea typeface="楷体_GB2312" pitchFamily="49" charset="-122"/>
                <a:cs typeface="Times New Roman" panose="02020603050405020304" pitchFamily="18" charset="0"/>
              </a:rPr>
              <a:t>0</a:t>
            </a:r>
            <a:r>
              <a:rPr lang="zh-CN" altLang="en-US" dirty="0">
                <a:latin typeface="Times New Roman" panose="02020603050405020304" pitchFamily="18" charset="0"/>
                <a:ea typeface="楷体_GB2312" pitchFamily="49" charset="-122"/>
                <a:cs typeface="Times New Roman" panose="02020603050405020304" pitchFamily="18" charset="0"/>
              </a:rPr>
              <a:t>号进程</a:t>
            </a:r>
            <a:endParaRPr lang="en-US" altLang="zh-CN" sz="2600"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sz="2200" dirty="0">
                <a:latin typeface="Times New Roman" panose="02020603050405020304" pitchFamily="18" charset="0"/>
                <a:ea typeface="楷体_GB2312" pitchFamily="49" charset="-122"/>
                <a:cs typeface="Times New Roman" panose="02020603050405020304" pitchFamily="18" charset="0"/>
              </a:rPr>
              <a:t>称为</a:t>
            </a:r>
            <a:r>
              <a:rPr lang="en-US" altLang="zh-CN" sz="2200" dirty="0">
                <a:solidFill>
                  <a:srgbClr val="FF0000"/>
                </a:solidFill>
                <a:latin typeface="Times New Roman" panose="02020603050405020304" pitchFamily="18" charset="0"/>
                <a:ea typeface="楷体_GB2312" pitchFamily="49" charset="-122"/>
                <a:cs typeface="Times New Roman" panose="02020603050405020304" pitchFamily="18" charset="0"/>
              </a:rPr>
              <a:t>0</a:t>
            </a:r>
            <a:r>
              <a:rPr lang="zh-CN" altLang="en-US" sz="2200" dirty="0">
                <a:solidFill>
                  <a:srgbClr val="FF0000"/>
                </a:solidFill>
                <a:latin typeface="Times New Roman" panose="02020603050405020304" pitchFamily="18" charset="0"/>
                <a:ea typeface="楷体_GB2312" pitchFamily="49" charset="-122"/>
                <a:cs typeface="Times New Roman" panose="02020603050405020304" pitchFamily="18" charset="0"/>
              </a:rPr>
              <a:t>号进程</a:t>
            </a:r>
            <a:r>
              <a:rPr lang="zh-CN" altLang="en-US" sz="2200" dirty="0">
                <a:latin typeface="Times New Roman" panose="02020603050405020304" pitchFamily="18" charset="0"/>
                <a:ea typeface="楷体_GB2312" pitchFamily="49" charset="-122"/>
                <a:cs typeface="Times New Roman" panose="02020603050405020304" pitchFamily="18" charset="0"/>
              </a:rPr>
              <a:t>或</a:t>
            </a:r>
            <a:r>
              <a:rPr lang="en-US" altLang="zh-CN" sz="2200" dirty="0">
                <a:solidFill>
                  <a:srgbClr val="FF0000"/>
                </a:solidFill>
                <a:latin typeface="Times New Roman" panose="02020603050405020304" pitchFamily="18" charset="0"/>
                <a:ea typeface="楷体_GB2312" pitchFamily="49" charset="-122"/>
                <a:cs typeface="Times New Roman" panose="02020603050405020304" pitchFamily="18" charset="0"/>
              </a:rPr>
              <a:t>idle</a:t>
            </a:r>
            <a:r>
              <a:rPr lang="zh-CN" altLang="en-US" sz="2200" dirty="0">
                <a:solidFill>
                  <a:srgbClr val="FF0000"/>
                </a:solidFill>
                <a:latin typeface="Times New Roman" panose="02020603050405020304" pitchFamily="18" charset="0"/>
                <a:ea typeface="楷体_GB2312" pitchFamily="49" charset="-122"/>
                <a:cs typeface="Times New Roman" panose="02020603050405020304" pitchFamily="18" charset="0"/>
              </a:rPr>
              <a:t>进程</a:t>
            </a:r>
            <a:r>
              <a:rPr lang="zh-CN" altLang="en-US" sz="2200" dirty="0">
                <a:latin typeface="Times New Roman" panose="02020603050405020304" pitchFamily="18" charset="0"/>
                <a:ea typeface="楷体_GB2312" pitchFamily="49" charset="-122"/>
                <a:cs typeface="Times New Roman" panose="02020603050405020304" pitchFamily="18" charset="0"/>
              </a:rPr>
              <a:t>或</a:t>
            </a:r>
            <a:r>
              <a:rPr lang="en-US" altLang="zh-CN" sz="2200" dirty="0">
                <a:solidFill>
                  <a:srgbClr val="FF0000"/>
                </a:solidFill>
                <a:latin typeface="Times New Roman" panose="02020603050405020304" pitchFamily="18" charset="0"/>
                <a:ea typeface="楷体_GB2312" pitchFamily="49" charset="-122"/>
                <a:cs typeface="Times New Roman" panose="02020603050405020304" pitchFamily="18" charset="0"/>
              </a:rPr>
              <a:t>swapper</a:t>
            </a:r>
            <a:r>
              <a:rPr lang="zh-CN" altLang="en-US" sz="2200" dirty="0">
                <a:solidFill>
                  <a:srgbClr val="FF0000"/>
                </a:solidFill>
                <a:latin typeface="Times New Roman" panose="02020603050405020304" pitchFamily="18" charset="0"/>
                <a:ea typeface="楷体_GB2312" pitchFamily="49" charset="-122"/>
                <a:cs typeface="Times New Roman" panose="02020603050405020304" pitchFamily="18" charset="0"/>
              </a:rPr>
              <a:t>进程</a:t>
            </a:r>
            <a:endParaRPr lang="en-US" altLang="zh-CN" sz="2200" dirty="0">
              <a:solidFill>
                <a:srgbClr val="FF0000"/>
              </a:solidFill>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sz="2200" dirty="0">
                <a:latin typeface="Times New Roman" panose="02020603050405020304" pitchFamily="18" charset="0"/>
                <a:ea typeface="楷体_GB2312" pitchFamily="49" charset="-122"/>
                <a:cs typeface="Times New Roman" panose="02020603050405020304" pitchFamily="18" charset="0"/>
              </a:rPr>
              <a:t>维护</a:t>
            </a:r>
            <a:r>
              <a:rPr lang="en-US" altLang="zh-CN" sz="2200" dirty="0">
                <a:latin typeface="Times New Roman" panose="02020603050405020304" pitchFamily="18" charset="0"/>
                <a:ea typeface="楷体_GB2312" pitchFamily="49" charset="-122"/>
                <a:cs typeface="Times New Roman" panose="02020603050405020304" pitchFamily="18" charset="0"/>
              </a:rPr>
              <a:t>Linux</a:t>
            </a:r>
            <a:r>
              <a:rPr lang="zh-CN" altLang="en-US" sz="2200" dirty="0">
                <a:latin typeface="Times New Roman" panose="02020603050405020304" pitchFamily="18" charset="0"/>
                <a:ea typeface="楷体_GB2312" pitchFamily="49" charset="-122"/>
                <a:cs typeface="Times New Roman" panose="02020603050405020304" pitchFamily="18" charset="0"/>
              </a:rPr>
              <a:t>内核代码段、数据段及堆栈</a:t>
            </a:r>
            <a:endParaRPr lang="en-US" altLang="zh-CN" sz="2200"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sz="2200" dirty="0">
                <a:latin typeface="Times New Roman" panose="02020603050405020304" pitchFamily="18" charset="0"/>
                <a:ea typeface="楷体_GB2312" pitchFamily="49" charset="-122"/>
                <a:cs typeface="Times New Roman" panose="02020603050405020304" pitchFamily="18" charset="0"/>
              </a:rPr>
              <a:t>是唯一一个通过</a:t>
            </a:r>
            <a:r>
              <a:rPr lang="zh-CN" altLang="en-US" sz="2200" dirty="0">
                <a:solidFill>
                  <a:srgbClr val="FF0000"/>
                </a:solidFill>
                <a:latin typeface="Times New Roman" panose="02020603050405020304" pitchFamily="18" charset="0"/>
                <a:ea typeface="楷体_GB2312" pitchFamily="49" charset="-122"/>
                <a:cs typeface="Times New Roman" panose="02020603050405020304" pitchFamily="18" charset="0"/>
              </a:rPr>
              <a:t>静态分配</a:t>
            </a:r>
            <a:r>
              <a:rPr lang="zh-CN" altLang="en-US" sz="2200" dirty="0">
                <a:latin typeface="Times New Roman" panose="02020603050405020304" pitchFamily="18" charset="0"/>
                <a:ea typeface="楷体_GB2312" pitchFamily="49" charset="-122"/>
                <a:cs typeface="Times New Roman" panose="02020603050405020304" pitchFamily="18" charset="0"/>
              </a:rPr>
              <a:t>创建的进程</a:t>
            </a:r>
            <a:r>
              <a:rPr lang="en-US" altLang="zh-CN" sz="2200" dirty="0">
                <a:latin typeface="Times New Roman" panose="02020603050405020304" pitchFamily="18" charset="0"/>
                <a:ea typeface="楷体_GB2312" pitchFamily="49" charset="-122"/>
                <a:cs typeface="Times New Roman" panose="02020603050405020304" pitchFamily="18" charset="0"/>
              </a:rPr>
              <a:t>[</a:t>
            </a:r>
            <a:r>
              <a:rPr lang="en-US" altLang="zh-CN" sz="2000" dirty="0">
                <a:latin typeface="Times New Roman" panose="02020603050405020304" pitchFamily="18" charset="0"/>
                <a:ea typeface="楷体_GB2312" pitchFamily="49" charset="-122"/>
                <a:cs typeface="Times New Roman" panose="02020603050405020304" pitchFamily="18" charset="0"/>
              </a:rPr>
              <a:t>arch/x86/kernel/</a:t>
            </a:r>
            <a:r>
              <a:rPr lang="en-US" altLang="zh-CN" sz="2000" dirty="0" err="1">
                <a:latin typeface="Times New Roman" panose="02020603050405020304" pitchFamily="18" charset="0"/>
                <a:ea typeface="楷体_GB2312" pitchFamily="49" charset="-122"/>
                <a:cs typeface="Times New Roman" panose="02020603050405020304" pitchFamily="18" charset="0"/>
              </a:rPr>
              <a:t>init_task.c</a:t>
            </a:r>
            <a:r>
              <a:rPr lang="en-US" altLang="zh-CN" sz="2000" dirty="0">
                <a:latin typeface="Times New Roman" panose="02020603050405020304" pitchFamily="18" charset="0"/>
                <a:ea typeface="楷体_GB2312" pitchFamily="49" charset="-122"/>
                <a:cs typeface="Times New Roman" panose="02020603050405020304" pitchFamily="18" charset="0"/>
              </a:rPr>
              <a:t>]</a:t>
            </a:r>
            <a:endParaRPr lang="en-US" altLang="zh-CN" sz="2000" dirty="0">
              <a:latin typeface="Times New Roman" panose="02020603050405020304" pitchFamily="18" charset="0"/>
              <a:ea typeface="楷体_GB2312" pitchFamily="49" charset="-122"/>
              <a:cs typeface="Times New Roman" panose="02020603050405020304" pitchFamily="18" charset="0"/>
            </a:endParaRPr>
          </a:p>
          <a:p>
            <a:pPr lvl="2" eaLnBrk="1" hangingPunct="1">
              <a:buFont typeface="Arial" panose="020B0604020202020204" pitchFamily="34" charset="0"/>
              <a:buChar char="•"/>
            </a:pPr>
            <a:r>
              <a:rPr lang="en-US" altLang="zh-CN" sz="2200" dirty="0">
                <a:latin typeface="Times New Roman" panose="02020603050405020304" pitchFamily="18" charset="0"/>
                <a:ea typeface="楷体_GB2312" pitchFamily="49" charset="-122"/>
                <a:cs typeface="Times New Roman" panose="02020603050405020304" pitchFamily="18" charset="0"/>
              </a:rPr>
              <a:t>INIT_MM, INIT_FS, INIT_FILES, INIT_SIGNALS, INIT_SIGHAND</a:t>
            </a:r>
            <a:r>
              <a:rPr lang="zh-CN" altLang="en-US" sz="2200" dirty="0">
                <a:latin typeface="Times New Roman" panose="02020603050405020304" pitchFamily="18" charset="0"/>
                <a:ea typeface="楷体_GB2312" pitchFamily="49" charset="-122"/>
                <a:cs typeface="Times New Roman" panose="02020603050405020304" pitchFamily="18" charset="0"/>
              </a:rPr>
              <a:t>等宏初始化进程描述符的各个对应域</a:t>
            </a:r>
            <a:endParaRPr lang="zh-CN" altLang="en-US" sz="2200" dirty="0">
              <a:latin typeface="Times New Roman" panose="02020603050405020304" pitchFamily="18" charset="0"/>
              <a:ea typeface="楷体_GB2312" pitchFamily="49" charset="-122"/>
              <a:cs typeface="Times New Roman" panose="02020603050405020304" pitchFamily="18" charset="0"/>
            </a:endParaRPr>
          </a:p>
          <a:p>
            <a:pPr lvl="2" eaLnBrk="1" hangingPunct="1">
              <a:buFont typeface="Arial" panose="020B0604020202020204" pitchFamily="34" charset="0"/>
              <a:buChar char="•"/>
            </a:pPr>
            <a:r>
              <a:rPr lang="en-US" altLang="zh-CN" sz="2200" dirty="0">
                <a:latin typeface="Times New Roman" panose="02020603050405020304" pitchFamily="18" charset="0"/>
                <a:ea typeface="楷体_GB2312" pitchFamily="49" charset="-122"/>
                <a:cs typeface="Times New Roman" panose="02020603050405020304" pitchFamily="18" charset="0"/>
              </a:rPr>
              <a:t>INIT_TASK</a:t>
            </a:r>
            <a:r>
              <a:rPr lang="zh-CN" altLang="en-US" sz="2200" dirty="0">
                <a:latin typeface="Times New Roman" panose="02020603050405020304" pitchFamily="18" charset="0"/>
                <a:ea typeface="楷体_GB2312" pitchFamily="49" charset="-122"/>
                <a:cs typeface="Times New Roman" panose="02020603050405020304" pitchFamily="18" charset="0"/>
              </a:rPr>
              <a:t>完成</a:t>
            </a:r>
            <a:r>
              <a:rPr lang="en-US" altLang="zh-CN" sz="2200" dirty="0" err="1">
                <a:latin typeface="Times New Roman" panose="02020603050405020304" pitchFamily="18" charset="0"/>
                <a:ea typeface="楷体_GB2312" pitchFamily="49" charset="-122"/>
                <a:cs typeface="Times New Roman" panose="02020603050405020304" pitchFamily="18" charset="0"/>
              </a:rPr>
              <a:t>init_task</a:t>
            </a:r>
            <a:r>
              <a:rPr lang="zh-CN" altLang="en-US" sz="2200" dirty="0">
                <a:latin typeface="Times New Roman" panose="02020603050405020304" pitchFamily="18" charset="0"/>
                <a:ea typeface="楷体_GB2312" pitchFamily="49" charset="-122"/>
                <a:cs typeface="Times New Roman" panose="02020603050405020304" pitchFamily="18" charset="0"/>
              </a:rPr>
              <a:t>变量中进程描述符初始化</a:t>
            </a:r>
            <a:endParaRPr lang="en-US" altLang="zh-CN" sz="2200" dirty="0">
              <a:latin typeface="Times New Roman" panose="02020603050405020304" pitchFamily="18" charset="0"/>
              <a:ea typeface="楷体_GB2312" pitchFamily="49" charset="-122"/>
              <a:cs typeface="Times New Roman" panose="02020603050405020304" pitchFamily="18" charset="0"/>
            </a:endParaRPr>
          </a:p>
          <a:p>
            <a:pPr lvl="2" eaLnBrk="1" hangingPunct="1">
              <a:buFont typeface="Arial" panose="020B0604020202020204" pitchFamily="34" charset="0"/>
              <a:buChar char="•"/>
            </a:pPr>
            <a:r>
              <a:rPr lang="en-US" altLang="zh-CN" sz="2200" dirty="0">
                <a:latin typeface="Times New Roman" panose="02020603050405020304" pitchFamily="18" charset="0"/>
                <a:ea typeface="楷体_GB2312" pitchFamily="49" charset="-122"/>
                <a:cs typeface="Times New Roman" panose="02020603050405020304" pitchFamily="18" charset="0"/>
              </a:rPr>
              <a:t>INIT_THREAD_INFO</a:t>
            </a:r>
            <a:r>
              <a:rPr lang="zh-CN" altLang="en-US" sz="2200" dirty="0">
                <a:latin typeface="Times New Roman" panose="02020603050405020304" pitchFamily="18" charset="0"/>
                <a:ea typeface="楷体_GB2312" pitchFamily="49" charset="-122"/>
                <a:cs typeface="Times New Roman" panose="02020603050405020304" pitchFamily="18" charset="0"/>
              </a:rPr>
              <a:t>完成对</a:t>
            </a:r>
            <a:r>
              <a:rPr lang="en-US" altLang="zh-CN" sz="2200" dirty="0" err="1">
                <a:latin typeface="Times New Roman" panose="02020603050405020304" pitchFamily="18" charset="0"/>
                <a:ea typeface="楷体_GB2312" pitchFamily="49" charset="-122"/>
                <a:cs typeface="Times New Roman" panose="02020603050405020304" pitchFamily="18" charset="0"/>
              </a:rPr>
              <a:t>init_thread_info</a:t>
            </a:r>
            <a:r>
              <a:rPr lang="zh-CN" altLang="en-US" sz="2200" dirty="0">
                <a:latin typeface="Times New Roman" panose="02020603050405020304" pitchFamily="18" charset="0"/>
                <a:ea typeface="楷体_GB2312" pitchFamily="49" charset="-122"/>
                <a:cs typeface="Times New Roman" panose="02020603050405020304" pitchFamily="18" charset="0"/>
              </a:rPr>
              <a:t>中</a:t>
            </a:r>
            <a:r>
              <a:rPr lang="en-US" altLang="zh-CN" sz="2200" dirty="0" err="1">
                <a:latin typeface="Times New Roman" panose="02020603050405020304" pitchFamily="18" charset="0"/>
                <a:ea typeface="楷体_GB2312" pitchFamily="49" charset="-122"/>
                <a:cs typeface="Times New Roman" panose="02020603050405020304" pitchFamily="18" charset="0"/>
              </a:rPr>
              <a:t>thread_info</a:t>
            </a:r>
            <a:r>
              <a:rPr lang="zh-CN" altLang="en-US" sz="2200" dirty="0">
                <a:latin typeface="Times New Roman" panose="02020603050405020304" pitchFamily="18" charset="0"/>
                <a:ea typeface="楷体_GB2312" pitchFamily="49" charset="-122"/>
                <a:cs typeface="Times New Roman" panose="02020603050405020304" pitchFamily="18" charset="0"/>
              </a:rPr>
              <a:t>及内核堆栈的初始化</a:t>
            </a:r>
            <a:endParaRPr lang="en-US" altLang="zh-CN" sz="2200" dirty="0">
              <a:latin typeface="Times New Roman" panose="02020603050405020304" pitchFamily="18" charset="0"/>
              <a:ea typeface="楷体_GB2312" pitchFamily="49" charset="-122"/>
              <a:cs typeface="Times New Roman" panose="02020603050405020304" pitchFamily="18" charset="0"/>
            </a:endParaRPr>
          </a:p>
          <a:p>
            <a:pPr lvl="2" eaLnBrk="1" hangingPunct="1">
              <a:buFont typeface="Arial" panose="020B0604020202020204" pitchFamily="34" charset="0"/>
              <a:buChar char="•"/>
            </a:pPr>
            <a:r>
              <a:rPr lang="zh-CN" altLang="en-US" sz="2200" dirty="0">
                <a:latin typeface="Times New Roman" panose="02020603050405020304" pitchFamily="18" charset="0"/>
                <a:ea typeface="楷体_GB2312" pitchFamily="49" charset="-122"/>
                <a:cs typeface="Times New Roman" panose="02020603050405020304" pitchFamily="18" charset="0"/>
              </a:rPr>
              <a:t>主内核页全局目录存放在</a:t>
            </a:r>
            <a:r>
              <a:rPr lang="en-US" altLang="zh-CN" sz="2200" dirty="0" err="1">
                <a:latin typeface="Times New Roman" panose="02020603050405020304" pitchFamily="18" charset="0"/>
                <a:ea typeface="楷体_GB2312" pitchFamily="49" charset="-122"/>
                <a:cs typeface="Times New Roman" panose="02020603050405020304" pitchFamily="18" charset="0"/>
              </a:rPr>
              <a:t>swapper_pg_dir</a:t>
            </a:r>
            <a:r>
              <a:rPr lang="zh-CN" altLang="en-US" sz="2200" dirty="0">
                <a:latin typeface="Times New Roman" panose="02020603050405020304" pitchFamily="18" charset="0"/>
                <a:ea typeface="楷体_GB2312" pitchFamily="49" charset="-122"/>
                <a:cs typeface="Times New Roman" panose="02020603050405020304" pitchFamily="18" charset="0"/>
              </a:rPr>
              <a:t>变量中</a:t>
            </a:r>
            <a:endParaRPr lang="zh-CN" altLang="en-US" sz="2200"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dirty="0" err="1">
                <a:solidFill>
                  <a:srgbClr val="FF0000"/>
                </a:solidFill>
                <a:latin typeface="Times New Roman" panose="02020603050405020304" pitchFamily="18" charset="0"/>
                <a:ea typeface="楷体_GB2312" pitchFamily="49" charset="-122"/>
                <a:cs typeface="Times New Roman" panose="02020603050405020304" pitchFamily="18" charset="0"/>
              </a:rPr>
              <a:t>start_kernel</a:t>
            </a:r>
            <a:r>
              <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函数</a:t>
            </a:r>
            <a:r>
              <a:rPr lang="en-US" altLang="zh-CN" dirty="0">
                <a:latin typeface="Times New Roman" panose="02020603050405020304" pitchFamily="18" charset="0"/>
                <a:ea typeface="楷体_GB2312" pitchFamily="49" charset="-122"/>
                <a:cs typeface="Times New Roman" panose="02020603050405020304" pitchFamily="18" charset="0"/>
              </a:rPr>
              <a:t>(/</a:t>
            </a:r>
            <a:r>
              <a:rPr lang="en-US" altLang="zh-CN" dirty="0" err="1">
                <a:latin typeface="Times New Roman" panose="02020603050405020304" pitchFamily="18" charset="0"/>
                <a:ea typeface="楷体_GB2312" pitchFamily="49" charset="-122"/>
                <a:cs typeface="Times New Roman" panose="02020603050405020304" pitchFamily="18" charset="0"/>
              </a:rPr>
              <a:t>init</a:t>
            </a:r>
            <a:r>
              <a:rPr lang="en-US" altLang="zh-CN" dirty="0">
                <a:latin typeface="Times New Roman" panose="02020603050405020304" pitchFamily="18" charset="0"/>
                <a:ea typeface="楷体_GB2312" pitchFamily="49" charset="-122"/>
                <a:cs typeface="Times New Roman" panose="02020603050405020304" pitchFamily="18" charset="0"/>
              </a:rPr>
              <a:t>/</a:t>
            </a:r>
            <a:r>
              <a:rPr lang="en-US" altLang="zh-CN" dirty="0" err="1">
                <a:latin typeface="Times New Roman" panose="02020603050405020304" pitchFamily="18" charset="0"/>
                <a:ea typeface="楷体_GB2312" pitchFamily="49" charset="-122"/>
                <a:cs typeface="Times New Roman" panose="02020603050405020304" pitchFamily="18" charset="0"/>
              </a:rPr>
              <a:t>main.c</a:t>
            </a:r>
            <a:r>
              <a:rPr lang="en-US" altLang="zh-CN" dirty="0">
                <a:latin typeface="Times New Roman" panose="02020603050405020304" pitchFamily="18" charset="0"/>
                <a:ea typeface="楷体_GB2312" pitchFamily="49" charset="-122"/>
                <a:cs typeface="Times New Roman" panose="02020603050405020304" pitchFamily="18" charset="0"/>
              </a:rPr>
              <a:t>)</a:t>
            </a:r>
            <a:r>
              <a:rPr lang="zh-CN" altLang="en-US" dirty="0">
                <a:latin typeface="Times New Roman" panose="02020603050405020304" pitchFamily="18" charset="0"/>
                <a:ea typeface="楷体_GB2312" pitchFamily="49" charset="-122"/>
                <a:cs typeface="Times New Roman" panose="02020603050405020304" pitchFamily="18" charset="0"/>
              </a:rPr>
              <a:t>初始化内核所需所有数据结构、激活中断、创建</a:t>
            </a:r>
            <a:r>
              <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rPr>
              <a:t>1</a:t>
            </a:r>
            <a:r>
              <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号内核线程</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
        <p:nvSpPr>
          <p:cNvPr id="6" name="Rectangle 6"/>
          <p:cNvSpPr>
            <a:spLocks noGrp="1" noChangeArrowheads="1"/>
          </p:cNvSpPr>
          <p:nvPr>
            <p:ph type="title"/>
          </p:nvPr>
        </p:nvSpPr>
        <p:spPr>
          <a:xfrm>
            <a:off x="611188" y="0"/>
            <a:ext cx="7632700" cy="609600"/>
          </a:xfrm>
          <a:noFill/>
        </p:spPr>
        <p:txBody>
          <a:bodyPr/>
          <a:lstStyle/>
          <a:p>
            <a:pPr eaLnBrk="1" hangingPunct="1"/>
            <a:br>
              <a:rPr lang="zh-CN" altLang="en-US" dirty="0">
                <a:latin typeface="Times New Roman" panose="02020603050405020304" pitchFamily="18" charset="0"/>
                <a:ea typeface="楷体_GB2312" pitchFamily="49" charset="-122"/>
                <a:cs typeface="Times New Roman" panose="02020603050405020304" pitchFamily="18" charset="0"/>
              </a:rPr>
            </a:br>
            <a:r>
              <a:rPr lang="en-US" altLang="zh-CN" dirty="0">
                <a:latin typeface="Times New Roman" panose="02020603050405020304" pitchFamily="18" charset="0"/>
                <a:ea typeface="楷体_GB2312" pitchFamily="49" charset="-122"/>
                <a:cs typeface="Times New Roman" panose="02020603050405020304" pitchFamily="18" charset="0"/>
              </a:rPr>
              <a:t>2.7 Linux</a:t>
            </a:r>
            <a:r>
              <a:rPr lang="zh-CN" altLang="en-US" dirty="0">
                <a:latin typeface="Times New Roman" panose="02020603050405020304" pitchFamily="18" charset="0"/>
                <a:ea typeface="楷体_GB2312" pitchFamily="49" charset="-122"/>
                <a:cs typeface="Times New Roman" panose="02020603050405020304" pitchFamily="18" charset="0"/>
              </a:rPr>
              <a:t>中的进程控制</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ransition>
    <p:wedg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3"/>
          <p:cNvSpPr>
            <a:spLocks noGrp="1" noChangeArrowheads="1"/>
          </p:cNvSpPr>
          <p:nvPr>
            <p:ph type="body" idx="1"/>
          </p:nvPr>
        </p:nvSpPr>
        <p:spPr/>
        <p:txBody>
          <a:bodyPr/>
          <a:lstStyle/>
          <a:p>
            <a:pPr eaLnBrk="1" hangingPunct="1">
              <a:buFont typeface="Arial" panose="020B0604020202020204" pitchFamily="34" charset="0"/>
              <a:buChar char="•"/>
            </a:pPr>
            <a:r>
              <a:rPr lang="en-US" altLang="zh-CN" dirty="0">
                <a:latin typeface="Times New Roman" panose="02020603050405020304" pitchFamily="18" charset="0"/>
                <a:ea typeface="楷体_GB2312" pitchFamily="49" charset="-122"/>
                <a:cs typeface="Times New Roman" panose="02020603050405020304" pitchFamily="18" charset="0"/>
              </a:rPr>
              <a:t>Linux</a:t>
            </a:r>
            <a:r>
              <a:rPr lang="zh-CN" altLang="en-US" dirty="0">
                <a:latin typeface="Times New Roman" panose="02020603050405020304" pitchFamily="18" charset="0"/>
                <a:ea typeface="楷体_GB2312" pitchFamily="49" charset="-122"/>
                <a:cs typeface="Times New Roman" panose="02020603050405020304" pitchFamily="18" charset="0"/>
              </a:rPr>
              <a:t>的</a:t>
            </a:r>
            <a:r>
              <a:rPr lang="en-US" altLang="zh-CN" dirty="0">
                <a:latin typeface="Times New Roman" panose="02020603050405020304" pitchFamily="18" charset="0"/>
                <a:ea typeface="楷体_GB2312" pitchFamily="49" charset="-122"/>
                <a:cs typeface="Times New Roman" panose="02020603050405020304" pitchFamily="18" charset="0"/>
              </a:rPr>
              <a:t>1</a:t>
            </a:r>
            <a:r>
              <a:rPr lang="zh-CN" altLang="en-US" dirty="0">
                <a:latin typeface="Times New Roman" panose="02020603050405020304" pitchFamily="18" charset="0"/>
                <a:ea typeface="楷体_GB2312" pitchFamily="49" charset="-122"/>
                <a:cs typeface="Times New Roman" panose="02020603050405020304" pitchFamily="18" charset="0"/>
              </a:rPr>
              <a:t>号内核进程</a:t>
            </a:r>
            <a:endParaRPr lang="en-US" altLang="zh-CN"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又称为</a:t>
            </a:r>
            <a:r>
              <a:rPr lang="en-US" altLang="zh-CN" dirty="0" err="1">
                <a:solidFill>
                  <a:srgbClr val="FF0000"/>
                </a:solidFill>
                <a:latin typeface="Times New Roman" panose="02020603050405020304" pitchFamily="18" charset="0"/>
                <a:ea typeface="楷体_GB2312" pitchFamily="49" charset="-122"/>
                <a:cs typeface="Times New Roman" panose="02020603050405020304" pitchFamily="18" charset="0"/>
              </a:rPr>
              <a:t>init</a:t>
            </a:r>
            <a:r>
              <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进程</a:t>
            </a:r>
            <a:r>
              <a:rPr lang="zh-CN" altLang="en-US" dirty="0">
                <a:latin typeface="Times New Roman" panose="02020603050405020304" pitchFamily="18" charset="0"/>
                <a:ea typeface="楷体_GB2312" pitchFamily="49" charset="-122"/>
                <a:cs typeface="Times New Roman" panose="02020603050405020304" pitchFamily="18" charset="0"/>
              </a:rPr>
              <a:t>（</a:t>
            </a:r>
            <a:r>
              <a:rPr lang="en-US" altLang="zh-CN" dirty="0">
                <a:latin typeface="Times New Roman" panose="02020603050405020304" pitchFamily="18" charset="0"/>
                <a:ea typeface="楷体_GB2312" pitchFamily="49" charset="-122"/>
                <a:cs typeface="Times New Roman" panose="02020603050405020304" pitchFamily="18" charset="0"/>
              </a:rPr>
              <a:t>PID=1</a:t>
            </a:r>
            <a:r>
              <a:rPr lang="zh-CN" altLang="en-US" dirty="0">
                <a:latin typeface="Times New Roman" panose="02020603050405020304" pitchFamily="18" charset="0"/>
                <a:ea typeface="楷体_GB2312" pitchFamily="49" charset="-122"/>
                <a:cs typeface="Times New Roman" panose="02020603050405020304" pitchFamily="18" charset="0"/>
              </a:rPr>
              <a:t>）</a:t>
            </a:r>
            <a:endPar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由</a:t>
            </a:r>
            <a:r>
              <a:rPr lang="en-US" altLang="zh-CN" dirty="0">
                <a:latin typeface="Times New Roman" panose="02020603050405020304" pitchFamily="18" charset="0"/>
                <a:ea typeface="楷体_GB2312" pitchFamily="49" charset="-122"/>
                <a:cs typeface="Times New Roman" panose="02020603050405020304" pitchFamily="18" charset="0"/>
              </a:rPr>
              <a:t>0</a:t>
            </a:r>
            <a:r>
              <a:rPr lang="zh-CN" altLang="en-US" dirty="0">
                <a:latin typeface="Times New Roman" panose="02020603050405020304" pitchFamily="18" charset="0"/>
                <a:ea typeface="楷体_GB2312" pitchFamily="49" charset="-122"/>
                <a:cs typeface="Times New Roman" panose="02020603050405020304" pitchFamily="18" charset="0"/>
              </a:rPr>
              <a:t>号进程在</a:t>
            </a:r>
            <a:r>
              <a:rPr lang="en-US" altLang="zh-CN" dirty="0" err="1">
                <a:latin typeface="Times New Roman" panose="02020603050405020304" pitchFamily="18" charset="0"/>
                <a:ea typeface="楷体_GB2312" pitchFamily="49" charset="-122"/>
                <a:cs typeface="Times New Roman" panose="02020603050405020304" pitchFamily="18" charset="0"/>
              </a:rPr>
              <a:t>start_kernel</a:t>
            </a:r>
            <a:r>
              <a:rPr lang="en-US" altLang="zh-CN" dirty="0">
                <a:latin typeface="Times New Roman" panose="02020603050405020304" pitchFamily="18" charset="0"/>
                <a:ea typeface="楷体_GB2312" pitchFamily="49" charset="-122"/>
                <a:cs typeface="Times New Roman" panose="02020603050405020304" pitchFamily="18" charset="0"/>
              </a:rPr>
              <a:t>()</a:t>
            </a:r>
            <a:r>
              <a:rPr lang="zh-CN" altLang="en-US" dirty="0">
                <a:latin typeface="Times New Roman" panose="02020603050405020304" pitchFamily="18" charset="0"/>
                <a:ea typeface="楷体_GB2312" pitchFamily="49" charset="-122"/>
                <a:cs typeface="Times New Roman" panose="02020603050405020304" pitchFamily="18" charset="0"/>
              </a:rPr>
              <a:t>函数中调用</a:t>
            </a:r>
            <a:r>
              <a:rPr lang="en-US" altLang="zh-CN" dirty="0" err="1">
                <a:solidFill>
                  <a:srgbClr val="FF0D0D"/>
                </a:solidFill>
                <a:latin typeface="Times New Roman" panose="02020603050405020304" pitchFamily="18" charset="0"/>
                <a:ea typeface="楷体_GB2312" pitchFamily="49" charset="-122"/>
                <a:cs typeface="Times New Roman" panose="02020603050405020304" pitchFamily="18" charset="0"/>
              </a:rPr>
              <a:t>rest_init</a:t>
            </a:r>
            <a:r>
              <a:rPr lang="zh-CN" altLang="en-US" dirty="0">
                <a:latin typeface="Times New Roman" panose="02020603050405020304" pitchFamily="18" charset="0"/>
                <a:ea typeface="楷体_GB2312" pitchFamily="49" charset="-122"/>
                <a:cs typeface="Times New Roman" panose="02020603050405020304" pitchFamily="18" charset="0"/>
              </a:rPr>
              <a:t>创建</a:t>
            </a: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调度程序选择到</a:t>
            </a:r>
            <a:r>
              <a:rPr lang="en-US" altLang="zh-CN" dirty="0" err="1">
                <a:latin typeface="Times New Roman" panose="02020603050405020304" pitchFamily="18" charset="0"/>
                <a:ea typeface="楷体_GB2312" pitchFamily="49" charset="-122"/>
                <a:cs typeface="Times New Roman" panose="02020603050405020304" pitchFamily="18" charset="0"/>
              </a:rPr>
              <a:t>init</a:t>
            </a:r>
            <a:r>
              <a:rPr lang="zh-CN" altLang="en-US" dirty="0">
                <a:latin typeface="Times New Roman" panose="02020603050405020304" pitchFamily="18" charset="0"/>
                <a:ea typeface="楷体_GB2312" pitchFamily="49" charset="-122"/>
                <a:cs typeface="Times New Roman" panose="02020603050405020304" pitchFamily="18" charset="0"/>
              </a:rPr>
              <a:t>进程时，</a:t>
            </a:r>
            <a:r>
              <a:rPr lang="en-US" altLang="zh-CN" dirty="0" err="1">
                <a:latin typeface="Times New Roman" panose="02020603050405020304" pitchFamily="18" charset="0"/>
                <a:ea typeface="楷体_GB2312" pitchFamily="49" charset="-122"/>
                <a:cs typeface="Times New Roman" panose="02020603050405020304" pitchFamily="18" charset="0"/>
              </a:rPr>
              <a:t>init</a:t>
            </a:r>
            <a:r>
              <a:rPr lang="zh-CN" altLang="en-US" dirty="0">
                <a:latin typeface="Times New Roman" panose="02020603050405020304" pitchFamily="18" charset="0"/>
                <a:ea typeface="楷体_GB2312" pitchFamily="49" charset="-122"/>
                <a:cs typeface="Times New Roman" panose="02020603050405020304" pitchFamily="18" charset="0"/>
              </a:rPr>
              <a:t>进程开始执行</a:t>
            </a:r>
            <a:r>
              <a:rPr lang="en-US" altLang="zh-CN" dirty="0" err="1">
                <a:solidFill>
                  <a:srgbClr val="FF0000"/>
                </a:solidFill>
                <a:latin typeface="Times New Roman" panose="02020603050405020304" pitchFamily="18" charset="0"/>
                <a:ea typeface="楷体_GB2312" pitchFamily="49" charset="-122"/>
                <a:cs typeface="Times New Roman" panose="02020603050405020304" pitchFamily="18" charset="0"/>
              </a:rPr>
              <a:t>init</a:t>
            </a:r>
            <a:r>
              <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函数</a:t>
            </a:r>
            <a:endPar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endParaRPr lang="en-US" altLang="zh-CN" dirty="0">
              <a:latin typeface="Times New Roman" panose="02020603050405020304" pitchFamily="18" charset="0"/>
              <a:ea typeface="楷体_GB2312" pitchFamily="49" charset="-122"/>
              <a:cs typeface="Times New Roman" panose="02020603050405020304" pitchFamily="18" charset="0"/>
            </a:endParaRPr>
          </a:p>
        </p:txBody>
      </p:sp>
      <p:pic>
        <p:nvPicPr>
          <p:cNvPr id="33797"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42988" y="2786063"/>
            <a:ext cx="8101012" cy="178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a:spLocks noGrp="1" noChangeArrowheads="1"/>
          </p:cNvSpPr>
          <p:nvPr>
            <p:ph type="title"/>
          </p:nvPr>
        </p:nvSpPr>
        <p:spPr>
          <a:xfrm>
            <a:off x="611188" y="0"/>
            <a:ext cx="7632700" cy="609600"/>
          </a:xfrm>
          <a:noFill/>
        </p:spPr>
        <p:txBody>
          <a:bodyPr/>
          <a:lstStyle/>
          <a:p>
            <a:pPr eaLnBrk="1" hangingPunct="1"/>
            <a:br>
              <a:rPr lang="zh-CN" altLang="en-US" dirty="0">
                <a:latin typeface="Times New Roman" panose="02020603050405020304" pitchFamily="18" charset="0"/>
                <a:ea typeface="楷体_GB2312" pitchFamily="49" charset="-122"/>
                <a:cs typeface="Times New Roman" panose="02020603050405020304" pitchFamily="18" charset="0"/>
              </a:rPr>
            </a:br>
            <a:r>
              <a:rPr lang="en-US" altLang="zh-CN" dirty="0">
                <a:latin typeface="Times New Roman" panose="02020603050405020304" pitchFamily="18" charset="0"/>
                <a:ea typeface="楷体_GB2312" pitchFamily="49" charset="-122"/>
                <a:cs typeface="Times New Roman" panose="02020603050405020304" pitchFamily="18" charset="0"/>
              </a:rPr>
              <a:t>2.7 Linux</a:t>
            </a:r>
            <a:r>
              <a:rPr lang="zh-CN" altLang="en-US" dirty="0">
                <a:latin typeface="Times New Roman" panose="02020603050405020304" pitchFamily="18" charset="0"/>
                <a:ea typeface="楷体_GB2312" pitchFamily="49" charset="-122"/>
                <a:cs typeface="Times New Roman" panose="02020603050405020304" pitchFamily="18" charset="0"/>
              </a:rPr>
              <a:t>中的进程控制</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ransition>
    <p:wedg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3"/>
          <p:cNvSpPr>
            <a:spLocks noGrp="1" noChangeArrowheads="1"/>
          </p:cNvSpPr>
          <p:nvPr>
            <p:ph type="body" idx="1"/>
          </p:nvPr>
        </p:nvSpPr>
        <p:spPr>
          <a:xfrm>
            <a:off x="467544" y="1052513"/>
            <a:ext cx="8291512" cy="5272087"/>
          </a:xfrm>
        </p:spPr>
        <p:txBody>
          <a:bodyPr/>
          <a:lstStyle/>
          <a:p>
            <a:pPr eaLnBrk="1" hangingPunct="1">
              <a:buFont typeface="Arial" panose="020B0604020202020204" pitchFamily="34" charset="0"/>
              <a:buChar char="•"/>
            </a:pPr>
            <a:r>
              <a:rPr lang="en-US" altLang="zh-CN" dirty="0" err="1">
                <a:latin typeface="Times New Roman" panose="02020603050405020304" pitchFamily="18" charset="0"/>
                <a:ea typeface="楷体_GB2312" pitchFamily="49" charset="-122"/>
                <a:cs typeface="Times New Roman" panose="02020603050405020304" pitchFamily="18" charset="0"/>
              </a:rPr>
              <a:t>init</a:t>
            </a:r>
            <a:r>
              <a:rPr lang="en-US" altLang="zh-CN" dirty="0">
                <a:latin typeface="Times New Roman" panose="02020603050405020304" pitchFamily="18" charset="0"/>
                <a:ea typeface="楷体_GB2312" pitchFamily="49" charset="-122"/>
                <a:cs typeface="Times New Roman" panose="02020603050405020304" pitchFamily="18" charset="0"/>
              </a:rPr>
              <a:t>()</a:t>
            </a:r>
            <a:r>
              <a:rPr lang="zh-CN" altLang="en-US" dirty="0">
                <a:latin typeface="Times New Roman" panose="02020603050405020304" pitchFamily="18" charset="0"/>
                <a:ea typeface="楷体_GB2312" pitchFamily="49" charset="-122"/>
                <a:cs typeface="Times New Roman" panose="02020603050405020304" pitchFamily="18" charset="0"/>
              </a:rPr>
              <a:t>函数说明</a:t>
            </a:r>
            <a:endParaRPr lang="en-US" altLang="zh-CN"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实现从内核态到用户态的切换</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为常规内核任务初始化一些必要的内核线程</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2" eaLnBrk="1" hangingPunct="1">
              <a:buFont typeface="Arial" panose="020B0604020202020204" pitchFamily="34" charset="0"/>
              <a:buChar char="•"/>
            </a:pPr>
            <a:r>
              <a:rPr lang="en-US" altLang="zh-CN" dirty="0" err="1">
                <a:latin typeface="Times New Roman" panose="02020603050405020304" pitchFamily="18" charset="0"/>
                <a:ea typeface="楷体_GB2312" pitchFamily="49" charset="-122"/>
                <a:cs typeface="Times New Roman" panose="02020603050405020304" pitchFamily="18" charset="0"/>
              </a:rPr>
              <a:t>kflushd</a:t>
            </a:r>
            <a:r>
              <a:rPr lang="zh-CN" altLang="en-US" dirty="0">
                <a:latin typeface="Times New Roman" panose="02020603050405020304" pitchFamily="18" charset="0"/>
                <a:ea typeface="楷体_GB2312" pitchFamily="49" charset="-122"/>
                <a:cs typeface="Times New Roman" panose="02020603050405020304" pitchFamily="18" charset="0"/>
              </a:rPr>
              <a:t>：刷新‘脏’缓冲区中内容到磁盘，归还内存</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2" eaLnBrk="1" hangingPunct="1">
              <a:buFont typeface="Arial" panose="020B0604020202020204" pitchFamily="34" charset="0"/>
              <a:buChar char="•"/>
            </a:pPr>
            <a:r>
              <a:rPr lang="en-US" altLang="zh-CN" dirty="0" err="1">
                <a:latin typeface="Times New Roman" panose="02020603050405020304" pitchFamily="18" charset="0"/>
                <a:ea typeface="楷体_GB2312" pitchFamily="49" charset="-122"/>
                <a:cs typeface="Times New Roman" panose="02020603050405020304" pitchFamily="18" charset="0"/>
              </a:rPr>
              <a:t>kswapd</a:t>
            </a:r>
            <a:r>
              <a:rPr lang="zh-CN" altLang="en-US" dirty="0">
                <a:latin typeface="Times New Roman" panose="02020603050405020304" pitchFamily="18" charset="0"/>
                <a:ea typeface="楷体_GB2312" pitchFamily="49" charset="-122"/>
                <a:cs typeface="Times New Roman" panose="02020603050405020304" pitchFamily="18" charset="0"/>
              </a:rPr>
              <a:t>：执行内存回收功能</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调用系统调用</a:t>
            </a:r>
            <a:r>
              <a:rPr lang="en-US" altLang="zh-CN" dirty="0" err="1">
                <a:latin typeface="Times New Roman" panose="02020603050405020304" pitchFamily="18" charset="0"/>
                <a:ea typeface="楷体_GB2312" pitchFamily="49" charset="-122"/>
                <a:cs typeface="Times New Roman" panose="02020603050405020304" pitchFamily="18" charset="0"/>
              </a:rPr>
              <a:t>execve</a:t>
            </a:r>
            <a:r>
              <a:rPr lang="en-US" altLang="zh-CN" dirty="0">
                <a:latin typeface="Times New Roman" panose="02020603050405020304" pitchFamily="18" charset="0"/>
                <a:ea typeface="楷体_GB2312" pitchFamily="49" charset="-122"/>
                <a:cs typeface="Times New Roman" panose="02020603050405020304" pitchFamily="18" charset="0"/>
              </a:rPr>
              <a:t>()</a:t>
            </a:r>
            <a:r>
              <a:rPr lang="zh-CN" altLang="en-US" dirty="0">
                <a:latin typeface="Times New Roman" panose="02020603050405020304" pitchFamily="18" charset="0"/>
                <a:ea typeface="楷体_GB2312" pitchFamily="49" charset="-122"/>
                <a:cs typeface="Times New Roman" panose="02020603050405020304" pitchFamily="18" charset="0"/>
              </a:rPr>
              <a:t>装入</a:t>
            </a:r>
            <a:r>
              <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可执行程序</a:t>
            </a:r>
            <a:r>
              <a:rPr lang="en-US" altLang="zh-CN" dirty="0" err="1">
                <a:solidFill>
                  <a:srgbClr val="FF0000"/>
                </a:solidFill>
                <a:latin typeface="Times New Roman" panose="02020603050405020304" pitchFamily="18" charset="0"/>
                <a:ea typeface="楷体_GB2312" pitchFamily="49" charset="-122"/>
                <a:cs typeface="Times New Roman" panose="02020603050405020304" pitchFamily="18" charset="0"/>
              </a:rPr>
              <a:t>init</a:t>
            </a:r>
            <a:endPar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endParaRPr>
          </a:p>
          <a:p>
            <a:pPr lvl="2" eaLnBrk="1" hangingPunct="1">
              <a:buFont typeface="Arial" panose="020B0604020202020204" pitchFamily="34" charset="0"/>
              <a:buChar char="•"/>
            </a:pPr>
            <a:r>
              <a:rPr lang="en-US" altLang="zh-CN" dirty="0" err="1">
                <a:latin typeface="Times New Roman" panose="02020603050405020304" pitchFamily="18" charset="0"/>
                <a:ea typeface="楷体_GB2312" pitchFamily="49" charset="-122"/>
                <a:cs typeface="Times New Roman" panose="02020603050405020304" pitchFamily="18" charset="0"/>
              </a:rPr>
              <a:t>init</a:t>
            </a:r>
            <a:r>
              <a:rPr lang="zh-CN" altLang="en-US" dirty="0">
                <a:latin typeface="Times New Roman" panose="02020603050405020304" pitchFamily="18" charset="0"/>
                <a:ea typeface="楷体_GB2312" pitchFamily="49" charset="-122"/>
                <a:cs typeface="Times New Roman" panose="02020603050405020304" pitchFamily="18" charset="0"/>
              </a:rPr>
              <a:t>内核线程变成一个</a:t>
            </a:r>
            <a:r>
              <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普通进程</a:t>
            </a:r>
            <a:r>
              <a:rPr lang="en-US" altLang="zh-CN" dirty="0">
                <a:latin typeface="Times New Roman" panose="02020603050405020304" pitchFamily="18" charset="0"/>
                <a:ea typeface="楷体_GB2312" pitchFamily="49" charset="-122"/>
                <a:cs typeface="Times New Roman" panose="02020603050405020304" pitchFamily="18" charset="0"/>
              </a:rPr>
              <a:t>(</a:t>
            </a:r>
            <a:r>
              <a:rPr lang="zh-CN" altLang="en-US" dirty="0">
                <a:latin typeface="Times New Roman" panose="02020603050405020304" pitchFamily="18" charset="0"/>
                <a:ea typeface="楷体_GB2312" pitchFamily="49" charset="-122"/>
                <a:cs typeface="Times New Roman" panose="02020603050405020304" pitchFamily="18" charset="0"/>
              </a:rPr>
              <a:t>拥有自己的进程内核数据结构</a:t>
            </a:r>
            <a:r>
              <a:rPr lang="en-US" altLang="zh-CN" dirty="0">
                <a:latin typeface="Times New Roman" panose="02020603050405020304" pitchFamily="18" charset="0"/>
                <a:ea typeface="楷体_GB2312" pitchFamily="49" charset="-122"/>
                <a:cs typeface="Times New Roman" panose="02020603050405020304" pitchFamily="18" charset="0"/>
              </a:rPr>
              <a:t>)</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2"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但</a:t>
            </a:r>
            <a:r>
              <a:rPr lang="en-US" altLang="zh-CN" dirty="0" err="1">
                <a:latin typeface="Times New Roman" panose="02020603050405020304" pitchFamily="18" charset="0"/>
                <a:ea typeface="楷体_GB2312" pitchFamily="49" charset="-122"/>
                <a:cs typeface="Times New Roman" panose="02020603050405020304" pitchFamily="18" charset="0"/>
              </a:rPr>
              <a:t>init</a:t>
            </a:r>
            <a:r>
              <a:rPr lang="zh-CN" altLang="en-US" dirty="0">
                <a:latin typeface="Times New Roman" panose="02020603050405020304" pitchFamily="18" charset="0"/>
                <a:ea typeface="楷体_GB2312" pitchFamily="49" charset="-122"/>
                <a:cs typeface="Times New Roman" panose="02020603050405020304" pitchFamily="18" charset="0"/>
              </a:rPr>
              <a:t>进程从不终止，因为它创建和监控操作系统外层的所有进程的活动</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
        <p:nvSpPr>
          <p:cNvPr id="7" name="Rectangle 6"/>
          <p:cNvSpPr>
            <a:spLocks noGrp="1" noChangeArrowheads="1"/>
          </p:cNvSpPr>
          <p:nvPr>
            <p:ph type="title"/>
          </p:nvPr>
        </p:nvSpPr>
        <p:spPr>
          <a:xfrm>
            <a:off x="611188" y="0"/>
            <a:ext cx="7632700" cy="609600"/>
          </a:xfrm>
          <a:noFill/>
        </p:spPr>
        <p:txBody>
          <a:bodyPr/>
          <a:lstStyle/>
          <a:p>
            <a:pPr eaLnBrk="1" hangingPunct="1"/>
            <a:br>
              <a:rPr lang="zh-CN" altLang="en-US" dirty="0">
                <a:latin typeface="Times New Roman" panose="02020603050405020304" pitchFamily="18" charset="0"/>
                <a:ea typeface="楷体_GB2312" pitchFamily="49" charset="-122"/>
                <a:cs typeface="Times New Roman" panose="02020603050405020304" pitchFamily="18" charset="0"/>
              </a:rPr>
            </a:br>
            <a:r>
              <a:rPr lang="en-US" altLang="zh-CN" dirty="0">
                <a:latin typeface="Times New Roman" panose="02020603050405020304" pitchFamily="18" charset="0"/>
                <a:ea typeface="楷体_GB2312" pitchFamily="49" charset="-122"/>
                <a:cs typeface="Times New Roman" panose="02020603050405020304" pitchFamily="18" charset="0"/>
              </a:rPr>
              <a:t>2.7 Linux</a:t>
            </a:r>
            <a:r>
              <a:rPr lang="zh-CN" altLang="en-US" dirty="0">
                <a:latin typeface="Times New Roman" panose="02020603050405020304" pitchFamily="18" charset="0"/>
                <a:ea typeface="楷体_GB2312" pitchFamily="49" charset="-122"/>
                <a:cs typeface="Times New Roman" panose="02020603050405020304" pitchFamily="18" charset="0"/>
              </a:rPr>
              <a:t>中的进程控制</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ransition>
    <p:wedg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3"/>
          <p:cNvSpPr>
            <a:spLocks noGrp="1" noChangeArrowheads="1"/>
          </p:cNvSpPr>
          <p:nvPr>
            <p:ph type="body" idx="1"/>
          </p:nvPr>
        </p:nvSpPr>
        <p:spPr/>
        <p:txBody>
          <a:bodyPr/>
          <a:lstStyle/>
          <a:p>
            <a:pPr eaLnBrk="1" hangingPunct="1">
              <a:buFont typeface="Arial" panose="020B0604020202020204" pitchFamily="34" charset="0"/>
              <a:buChar char="•"/>
            </a:pPr>
            <a:r>
              <a:rPr lang="zh-CN" altLang="en-US" sz="2600" dirty="0">
                <a:latin typeface="Times New Roman" panose="02020603050405020304" pitchFamily="18" charset="0"/>
                <a:ea typeface="楷体_GB2312" pitchFamily="49" charset="-122"/>
                <a:cs typeface="Times New Roman" panose="02020603050405020304" pitchFamily="18" charset="0"/>
              </a:rPr>
              <a:t>传统的</a:t>
            </a:r>
            <a:r>
              <a:rPr lang="en-US" altLang="zh-CN" sz="2600" dirty="0">
                <a:latin typeface="Times New Roman" panose="02020603050405020304" pitchFamily="18" charset="0"/>
                <a:ea typeface="楷体_GB2312" pitchFamily="49" charset="-122"/>
                <a:cs typeface="Times New Roman" panose="02020603050405020304" pitchFamily="18" charset="0"/>
              </a:rPr>
              <a:t>UNIX</a:t>
            </a:r>
            <a:r>
              <a:rPr lang="zh-CN" altLang="en-US" sz="2600" dirty="0">
                <a:latin typeface="Times New Roman" panose="02020603050405020304" pitchFamily="18" charset="0"/>
                <a:ea typeface="楷体_GB2312" pitchFamily="49" charset="-122"/>
                <a:cs typeface="Times New Roman" panose="02020603050405020304" pitchFamily="18" charset="0"/>
              </a:rPr>
              <a:t>操作系统采用统一的方式来创建进程</a:t>
            </a:r>
            <a:endParaRPr lang="zh-CN" altLang="en-US" sz="2600"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子进程</a:t>
            </a:r>
            <a:r>
              <a:rPr lang="zh-CN" altLang="en-US" sz="2400" dirty="0">
                <a:solidFill>
                  <a:srgbClr val="FF0000"/>
                </a:solidFill>
                <a:latin typeface="Times New Roman" panose="02020603050405020304" pitchFamily="18" charset="0"/>
                <a:ea typeface="楷体_GB2312" pitchFamily="49" charset="-122"/>
                <a:cs typeface="Times New Roman" panose="02020603050405020304" pitchFamily="18" charset="0"/>
              </a:rPr>
              <a:t>复制</a:t>
            </a:r>
            <a:r>
              <a:rPr lang="zh-CN" altLang="en-US" sz="2400" dirty="0">
                <a:latin typeface="Times New Roman" panose="02020603050405020304" pitchFamily="18" charset="0"/>
                <a:ea typeface="楷体_GB2312" pitchFamily="49" charset="-122"/>
                <a:cs typeface="Times New Roman" panose="02020603050405020304" pitchFamily="18" charset="0"/>
              </a:rPr>
              <a:t>父进程所拥有的资源</a:t>
            </a: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sz="2600" dirty="0">
                <a:latin typeface="Times New Roman" panose="02020603050405020304" pitchFamily="18" charset="0"/>
                <a:ea typeface="楷体_GB2312" pitchFamily="49" charset="-122"/>
                <a:cs typeface="Times New Roman" panose="02020603050405020304" pitchFamily="18" charset="0"/>
              </a:rPr>
              <a:t>缺点：</a:t>
            </a:r>
            <a:endParaRPr lang="zh-CN" altLang="en-US" sz="2600"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创建过程慢、效率低</a:t>
            </a: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事实上，子进程复制的很多资源是不会使用到的</a:t>
            </a: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sz="2600" dirty="0">
                <a:latin typeface="Times New Roman" panose="02020603050405020304" pitchFamily="18" charset="0"/>
                <a:ea typeface="楷体_GB2312" pitchFamily="49" charset="-122"/>
                <a:cs typeface="Times New Roman" panose="02020603050405020304" pitchFamily="18" charset="0"/>
              </a:rPr>
              <a:t>引入三种不同的机制来解决这个问题</a:t>
            </a:r>
            <a:endParaRPr lang="zh-CN" altLang="en-US" sz="2600"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写时复制技术</a:t>
            </a: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sz="2400" dirty="0" err="1">
                <a:latin typeface="Times New Roman" panose="02020603050405020304" pitchFamily="18" charset="0"/>
                <a:ea typeface="楷体_GB2312" pitchFamily="49" charset="-122"/>
                <a:cs typeface="Times New Roman" panose="02020603050405020304" pitchFamily="18" charset="0"/>
              </a:rPr>
              <a:t>sys_fork</a:t>
            </a:r>
            <a:r>
              <a:rPr lang="en-US" altLang="zh-CN" sz="2400" dirty="0">
                <a:latin typeface="Times New Roman" panose="02020603050405020304" pitchFamily="18" charset="0"/>
                <a:ea typeface="楷体_GB2312" pitchFamily="49" charset="-122"/>
                <a:cs typeface="Times New Roman" panose="02020603050405020304" pitchFamily="18" charset="0"/>
              </a:rPr>
              <a:t>()/</a:t>
            </a:r>
            <a:r>
              <a:rPr lang="en-US" altLang="zh-CN" sz="2400" dirty="0" err="1">
                <a:latin typeface="Times New Roman" panose="02020603050405020304" pitchFamily="18" charset="0"/>
                <a:ea typeface="楷体_GB2312" pitchFamily="49" charset="-122"/>
                <a:cs typeface="Times New Roman" panose="02020603050405020304" pitchFamily="18" charset="0"/>
              </a:rPr>
              <a:t>sys_clone</a:t>
            </a:r>
            <a:r>
              <a:rPr lang="en-US" altLang="zh-CN" sz="2400" dirty="0">
                <a:latin typeface="Times New Roman" panose="02020603050405020304" pitchFamily="18" charset="0"/>
                <a:ea typeface="楷体_GB2312" pitchFamily="49" charset="-122"/>
                <a:cs typeface="Times New Roman" panose="02020603050405020304" pitchFamily="18" charset="0"/>
              </a:rPr>
              <a:t>()/</a:t>
            </a:r>
            <a:r>
              <a:rPr lang="en-US" altLang="zh-CN" sz="2400" dirty="0" err="1">
                <a:latin typeface="Times New Roman" panose="02020603050405020304" pitchFamily="18" charset="0"/>
                <a:ea typeface="楷体_GB2312" pitchFamily="49" charset="-122"/>
                <a:cs typeface="Times New Roman" panose="02020603050405020304" pitchFamily="18" charset="0"/>
              </a:rPr>
              <a:t>sys_vfork</a:t>
            </a:r>
            <a:r>
              <a:rPr lang="en-US" altLang="zh-CN" sz="2400" dirty="0">
                <a:latin typeface="Times New Roman" panose="02020603050405020304" pitchFamily="18" charset="0"/>
                <a:ea typeface="楷体_GB2312" pitchFamily="49" charset="-122"/>
                <a:cs typeface="Times New Roman" panose="02020603050405020304" pitchFamily="18" charset="0"/>
              </a:rPr>
              <a:t>()</a:t>
            </a:r>
            <a:endParaRPr lang="en-US" altLang="zh-CN" sz="2400"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轻量级进程允许父子进程共享许多数据结构</a:t>
            </a:r>
            <a:r>
              <a:rPr lang="en-US" altLang="zh-CN" sz="2400" dirty="0">
                <a:latin typeface="Times New Roman" panose="02020603050405020304" pitchFamily="18" charset="0"/>
                <a:ea typeface="楷体_GB2312" pitchFamily="49" charset="-122"/>
                <a:cs typeface="Times New Roman" panose="02020603050405020304" pitchFamily="18" charset="0"/>
              </a:rPr>
              <a:t>;</a:t>
            </a:r>
            <a:r>
              <a:rPr lang="zh-CN" altLang="en-US" sz="2400" dirty="0">
                <a:latin typeface="Times New Roman" panose="02020603050405020304" pitchFamily="18" charset="0"/>
                <a:ea typeface="楷体_GB2312" pitchFamily="49" charset="-122"/>
                <a:cs typeface="Times New Roman" panose="02020603050405020304" pitchFamily="18" charset="0"/>
              </a:rPr>
              <a:t>阻塞父进程等</a:t>
            </a: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Wingdings" panose="05000000000000000000" pitchFamily="2" charset="2"/>
              <a:buNone/>
            </a:pPr>
            <a:endParaRPr lang="zh-CN" altLang="en-US" sz="2400" dirty="0">
              <a:latin typeface="Times New Roman" panose="02020603050405020304" pitchFamily="18" charset="0"/>
              <a:ea typeface="楷体_GB2312" pitchFamily="49" charset="-122"/>
              <a:cs typeface="Times New Roman" panose="02020603050405020304" pitchFamily="18" charset="0"/>
            </a:endParaRPr>
          </a:p>
        </p:txBody>
      </p:sp>
      <p:sp>
        <p:nvSpPr>
          <p:cNvPr id="5" name="Rectangle 6"/>
          <p:cNvSpPr>
            <a:spLocks noGrp="1" noChangeArrowheads="1"/>
          </p:cNvSpPr>
          <p:nvPr>
            <p:ph type="title"/>
          </p:nvPr>
        </p:nvSpPr>
        <p:spPr>
          <a:xfrm>
            <a:off x="611188" y="0"/>
            <a:ext cx="7632700" cy="609600"/>
          </a:xfrm>
          <a:noFill/>
        </p:spPr>
        <p:txBody>
          <a:bodyPr/>
          <a:lstStyle/>
          <a:p>
            <a:pPr eaLnBrk="1" hangingPunct="1"/>
            <a:br>
              <a:rPr lang="zh-CN" altLang="en-US" dirty="0">
                <a:latin typeface="Times New Roman" panose="02020603050405020304" pitchFamily="18" charset="0"/>
                <a:ea typeface="楷体_GB2312" pitchFamily="49" charset="-122"/>
                <a:cs typeface="Times New Roman" panose="02020603050405020304" pitchFamily="18" charset="0"/>
              </a:rPr>
            </a:br>
            <a:r>
              <a:rPr lang="en-US" altLang="zh-CN" dirty="0">
                <a:latin typeface="Times New Roman" panose="02020603050405020304" pitchFamily="18" charset="0"/>
                <a:ea typeface="楷体_GB2312" pitchFamily="49" charset="-122"/>
                <a:cs typeface="Times New Roman" panose="02020603050405020304" pitchFamily="18" charset="0"/>
              </a:rPr>
              <a:t>2.7 Linux</a:t>
            </a:r>
            <a:r>
              <a:rPr lang="zh-CN" altLang="en-US" dirty="0">
                <a:latin typeface="Times New Roman" panose="02020603050405020304" pitchFamily="18" charset="0"/>
                <a:ea typeface="楷体_GB2312" pitchFamily="49" charset="-122"/>
                <a:cs typeface="Times New Roman" panose="02020603050405020304" pitchFamily="18" charset="0"/>
              </a:rPr>
              <a:t>中的进程控制</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84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584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584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584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584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584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584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584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584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内容占位符 2"/>
          <p:cNvSpPr>
            <a:spLocks noGrp="1"/>
          </p:cNvSpPr>
          <p:nvPr>
            <p:ph idx="1"/>
          </p:nvPr>
        </p:nvSpPr>
        <p:spPr>
          <a:xfrm>
            <a:off x="428625" y="1285875"/>
            <a:ext cx="8291513" cy="5272088"/>
          </a:xfrm>
        </p:spPr>
        <p:txBody>
          <a:bodyPr/>
          <a:lstStyle/>
          <a:p>
            <a:pPr eaLnBrk="1" hangingPunct="1">
              <a:lnSpc>
                <a:spcPct val="90000"/>
              </a:lnSpc>
              <a:buFont typeface="Arial" panose="020B0604020202020204" pitchFamily="34" charset="0"/>
              <a:buChar char="•"/>
            </a:pPr>
            <a:r>
              <a:rPr lang="zh-CN" altLang="en-US" sz="2700" dirty="0">
                <a:latin typeface="Times New Roman" panose="02020603050405020304" pitchFamily="18" charset="0"/>
                <a:ea typeface="楷体_GB2312" pitchFamily="49" charset="-122"/>
                <a:cs typeface="Times New Roman" panose="02020603050405020304" pitchFamily="18" charset="0"/>
              </a:rPr>
              <a:t>写时复制技术允许父子进程</a:t>
            </a:r>
            <a:r>
              <a:rPr lang="zh-CN" altLang="en-US" sz="2700" dirty="0">
                <a:solidFill>
                  <a:srgbClr val="FF0000"/>
                </a:solidFill>
                <a:latin typeface="Times New Roman" panose="02020603050405020304" pitchFamily="18" charset="0"/>
                <a:ea typeface="楷体_GB2312" pitchFamily="49" charset="-122"/>
                <a:cs typeface="Times New Roman" panose="02020603050405020304" pitchFamily="18" charset="0"/>
              </a:rPr>
              <a:t>能读</a:t>
            </a:r>
            <a:r>
              <a:rPr lang="zh-CN" altLang="en-US" sz="2700" dirty="0">
                <a:latin typeface="Times New Roman" panose="02020603050405020304" pitchFamily="18" charset="0"/>
                <a:ea typeface="楷体_GB2312" pitchFamily="49" charset="-122"/>
                <a:cs typeface="Times New Roman" panose="02020603050405020304" pitchFamily="18" charset="0"/>
              </a:rPr>
              <a:t>相同的物理页。</a:t>
            </a:r>
            <a:endParaRPr lang="zh-CN" altLang="en-US" sz="2700" dirty="0">
              <a:latin typeface="Times New Roman" panose="02020603050405020304" pitchFamily="18" charset="0"/>
              <a:ea typeface="楷体_GB2312" pitchFamily="49" charset="-122"/>
              <a:cs typeface="Times New Roman" panose="02020603050405020304" pitchFamily="18" charset="0"/>
            </a:endParaRPr>
          </a:p>
          <a:p>
            <a:pPr eaLnBrk="1" hangingPunct="1">
              <a:lnSpc>
                <a:spcPct val="90000"/>
              </a:lnSpc>
              <a:buFont typeface="Arial" panose="020B0604020202020204" pitchFamily="34" charset="0"/>
              <a:buChar char="•"/>
            </a:pPr>
            <a:r>
              <a:rPr lang="zh-CN" altLang="en-US" sz="2700" dirty="0">
                <a:latin typeface="Times New Roman" panose="02020603050405020304" pitchFamily="18" charset="0"/>
                <a:ea typeface="楷体_GB2312" pitchFamily="49" charset="-122"/>
                <a:cs typeface="Times New Roman" panose="02020603050405020304" pitchFamily="18" charset="0"/>
              </a:rPr>
              <a:t>如果两者有一个进程试图</a:t>
            </a:r>
            <a:r>
              <a:rPr lang="zh-CN" altLang="en-US" sz="2700" dirty="0">
                <a:solidFill>
                  <a:srgbClr val="FF0000"/>
                </a:solidFill>
                <a:latin typeface="Times New Roman" panose="02020603050405020304" pitchFamily="18" charset="0"/>
                <a:ea typeface="楷体_GB2312" pitchFamily="49" charset="-122"/>
                <a:cs typeface="Times New Roman" panose="02020603050405020304" pitchFamily="18" charset="0"/>
              </a:rPr>
              <a:t>写</a:t>
            </a:r>
            <a:r>
              <a:rPr lang="zh-CN" altLang="en-US" sz="2700" dirty="0">
                <a:latin typeface="Times New Roman" panose="02020603050405020304" pitchFamily="18" charset="0"/>
                <a:ea typeface="楷体_GB2312" pitchFamily="49" charset="-122"/>
                <a:cs typeface="Times New Roman" panose="02020603050405020304" pitchFamily="18" charset="0"/>
              </a:rPr>
              <a:t>一个物理页，内核就把这个页的内容拷贝到一个新的物理页，并把这个新的物理页</a:t>
            </a:r>
            <a:r>
              <a:rPr lang="zh-CN" altLang="en-US" sz="2700" dirty="0">
                <a:solidFill>
                  <a:srgbClr val="FF0000"/>
                </a:solidFill>
                <a:latin typeface="Times New Roman" panose="02020603050405020304" pitchFamily="18" charset="0"/>
                <a:ea typeface="楷体_GB2312" pitchFamily="49" charset="-122"/>
                <a:cs typeface="Times New Roman" panose="02020603050405020304" pitchFamily="18" charset="0"/>
              </a:rPr>
              <a:t>分配</a:t>
            </a:r>
            <a:r>
              <a:rPr lang="zh-CN" altLang="en-US" sz="2700" dirty="0">
                <a:latin typeface="Times New Roman" panose="02020603050405020304" pitchFamily="18" charset="0"/>
                <a:ea typeface="楷体_GB2312" pitchFamily="49" charset="-122"/>
                <a:cs typeface="Times New Roman" panose="02020603050405020304" pitchFamily="18" charset="0"/>
              </a:rPr>
              <a:t>给正在写的进程</a:t>
            </a:r>
            <a:endParaRPr lang="zh-CN" altLang="en-US" sz="2700" dirty="0">
              <a:latin typeface="Times New Roman" panose="02020603050405020304" pitchFamily="18" charset="0"/>
              <a:ea typeface="楷体_GB2312" pitchFamily="49" charset="-122"/>
              <a:cs typeface="Times New Roman" panose="02020603050405020304" pitchFamily="18" charset="0"/>
            </a:endParaRPr>
          </a:p>
          <a:p>
            <a:pPr>
              <a:buFont typeface="Arial" panose="020B0604020202020204" pitchFamily="34" charset="0"/>
              <a:buChar char="•"/>
            </a:pPr>
            <a:r>
              <a:rPr lang="en-US" altLang="zh-CN" sz="2700" dirty="0">
                <a:latin typeface="Times New Roman" panose="02020603050405020304" pitchFamily="18" charset="0"/>
                <a:ea typeface="楷体_GB2312" pitchFamily="49" charset="-122"/>
                <a:cs typeface="Times New Roman" panose="02020603050405020304" pitchFamily="18" charset="0"/>
              </a:rPr>
              <a:t>fork()</a:t>
            </a:r>
            <a:r>
              <a:rPr lang="zh-CN" altLang="en-US" sz="2700" dirty="0">
                <a:latin typeface="Times New Roman" panose="02020603050405020304" pitchFamily="18" charset="0"/>
                <a:ea typeface="楷体_GB2312" pitchFamily="49" charset="-122"/>
                <a:cs typeface="Times New Roman" panose="02020603050405020304" pitchFamily="18" charset="0"/>
              </a:rPr>
              <a:t>与以往不同，实际开销只是复制父进程的</a:t>
            </a:r>
            <a:r>
              <a:rPr lang="zh-CN" altLang="en-US" sz="2700" dirty="0">
                <a:solidFill>
                  <a:srgbClr val="FF0000"/>
                </a:solidFill>
                <a:latin typeface="Times New Roman" panose="02020603050405020304" pitchFamily="18" charset="0"/>
                <a:ea typeface="楷体_GB2312" pitchFamily="49" charset="-122"/>
                <a:cs typeface="Times New Roman" panose="02020603050405020304" pitchFamily="18" charset="0"/>
              </a:rPr>
              <a:t>页表</a:t>
            </a:r>
            <a:r>
              <a:rPr lang="zh-CN" altLang="en-US" sz="2700" dirty="0">
                <a:latin typeface="Times New Roman" panose="02020603050405020304" pitchFamily="18" charset="0"/>
                <a:ea typeface="楷体_GB2312" pitchFamily="49" charset="-122"/>
                <a:cs typeface="Times New Roman" panose="02020603050405020304" pitchFamily="18" charset="0"/>
              </a:rPr>
              <a:t>以及给子进程创建唯一的</a:t>
            </a:r>
            <a:r>
              <a:rPr lang="en-US" altLang="zh-CN" sz="2700" dirty="0">
                <a:solidFill>
                  <a:srgbClr val="FF0000"/>
                </a:solidFill>
                <a:latin typeface="Times New Roman" panose="02020603050405020304" pitchFamily="18" charset="0"/>
                <a:ea typeface="楷体_GB2312" pitchFamily="49" charset="-122"/>
                <a:cs typeface="Times New Roman" panose="02020603050405020304" pitchFamily="18" charset="0"/>
              </a:rPr>
              <a:t>PCB</a:t>
            </a:r>
            <a:r>
              <a:rPr lang="zh-CN" altLang="en-US" sz="2700" dirty="0">
                <a:latin typeface="Times New Roman" panose="02020603050405020304" pitchFamily="18" charset="0"/>
                <a:ea typeface="楷体_GB2312" pitchFamily="49" charset="-122"/>
                <a:cs typeface="Times New Roman" panose="02020603050405020304" pitchFamily="18" charset="0"/>
              </a:rPr>
              <a:t>。  </a:t>
            </a:r>
            <a:endParaRPr lang="zh-CN" altLang="en-US" sz="2700" dirty="0">
              <a:latin typeface="Times New Roman" panose="02020603050405020304" pitchFamily="18" charset="0"/>
              <a:ea typeface="楷体_GB2312" pitchFamily="49" charset="-122"/>
              <a:cs typeface="Times New Roman" panose="02020603050405020304" pitchFamily="18" charset="0"/>
            </a:endParaRPr>
          </a:p>
          <a:p>
            <a:pPr>
              <a:lnSpc>
                <a:spcPct val="110000"/>
              </a:lnSpc>
              <a:buFont typeface="Arial" panose="020B0604020202020204" pitchFamily="34" charset="0"/>
              <a:buChar char="•"/>
            </a:pPr>
            <a:r>
              <a:rPr lang="zh-CN" altLang="en-US" sz="2700" dirty="0">
                <a:latin typeface="Times New Roman" panose="02020603050405020304" pitchFamily="18" charset="0"/>
                <a:ea typeface="楷体_GB2312" pitchFamily="49" charset="-122"/>
                <a:cs typeface="Times New Roman" panose="02020603050405020304" pitchFamily="18" charset="0"/>
              </a:rPr>
              <a:t>父进程的资源被设置为只读，当父进程或子进程试图修改某些内容时，内核才在修改前将该部分进行拷贝</a:t>
            </a:r>
            <a:r>
              <a:rPr lang="en-US" altLang="zh-CN" sz="2700" dirty="0">
                <a:latin typeface="Times New Roman" panose="02020603050405020304" pitchFamily="18" charset="0"/>
                <a:ea typeface="楷体_GB2312" pitchFamily="49" charset="-122"/>
                <a:cs typeface="Times New Roman" panose="02020603050405020304" pitchFamily="18" charset="0"/>
              </a:rPr>
              <a:t>——</a:t>
            </a:r>
            <a:r>
              <a:rPr lang="zh-CN" altLang="en-US" sz="2700" dirty="0">
                <a:latin typeface="Times New Roman" panose="02020603050405020304" pitchFamily="18" charset="0"/>
                <a:ea typeface="楷体_GB2312" pitchFamily="49" charset="-122"/>
                <a:cs typeface="Times New Roman" panose="02020603050405020304" pitchFamily="18" charset="0"/>
              </a:rPr>
              <a:t>写时复制</a:t>
            </a:r>
            <a:endParaRPr lang="zh-CN" altLang="en-US" sz="2700" dirty="0">
              <a:latin typeface="Times New Roman" panose="02020603050405020304" pitchFamily="18" charset="0"/>
              <a:ea typeface="楷体_GB2312" pitchFamily="49" charset="-122"/>
              <a:cs typeface="Times New Roman" panose="02020603050405020304" pitchFamily="18" charset="0"/>
            </a:endParaRPr>
          </a:p>
          <a:p>
            <a:endParaRPr lang="zh-CN" altLang="en-US" sz="2700" dirty="0">
              <a:ea typeface="楷体_GB2312" pitchFamily="49" charset="-122"/>
              <a:cs typeface="Times New Roman" panose="02020603050405020304" pitchFamily="18" charset="0"/>
            </a:endParaRPr>
          </a:p>
        </p:txBody>
      </p:sp>
      <p:sp>
        <p:nvSpPr>
          <p:cNvPr id="5" name="Rectangle 6"/>
          <p:cNvSpPr>
            <a:spLocks noGrp="1" noChangeArrowheads="1"/>
          </p:cNvSpPr>
          <p:nvPr>
            <p:ph type="title"/>
          </p:nvPr>
        </p:nvSpPr>
        <p:spPr>
          <a:xfrm>
            <a:off x="611188" y="0"/>
            <a:ext cx="7632700" cy="609600"/>
          </a:xfrm>
          <a:noFill/>
        </p:spPr>
        <p:txBody>
          <a:bodyPr/>
          <a:lstStyle/>
          <a:p>
            <a:pPr eaLnBrk="1" hangingPunct="1"/>
            <a:br>
              <a:rPr lang="zh-CN" altLang="en-US" dirty="0">
                <a:latin typeface="Times New Roman" panose="02020603050405020304" pitchFamily="18" charset="0"/>
                <a:ea typeface="楷体_GB2312" pitchFamily="49" charset="-122"/>
                <a:cs typeface="Times New Roman" panose="02020603050405020304" pitchFamily="18" charset="0"/>
              </a:rPr>
            </a:br>
            <a:r>
              <a:rPr lang="en-US" altLang="zh-CN" dirty="0">
                <a:latin typeface="Times New Roman" panose="02020603050405020304" pitchFamily="18" charset="0"/>
                <a:ea typeface="楷体_GB2312" pitchFamily="49" charset="-122"/>
                <a:cs typeface="Times New Roman" panose="02020603050405020304" pitchFamily="18" charset="0"/>
              </a:rPr>
              <a:t>2.7 Linux</a:t>
            </a:r>
            <a:r>
              <a:rPr lang="zh-CN" altLang="en-US" dirty="0">
                <a:latin typeface="Times New Roman" panose="02020603050405020304" pitchFamily="18" charset="0"/>
                <a:ea typeface="楷体_GB2312" pitchFamily="49" charset="-122"/>
                <a:cs typeface="Times New Roman" panose="02020603050405020304" pitchFamily="18" charset="0"/>
              </a:rPr>
              <a:t>中的进程控制</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8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8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686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686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noChangeArrowheads="1"/>
          </p:cNvSpPr>
          <p:nvPr>
            <p:ph type="body" idx="1"/>
          </p:nvPr>
        </p:nvSpPr>
        <p:spPr>
          <a:xfrm>
            <a:off x="281782" y="1052736"/>
            <a:ext cx="8291512" cy="5272087"/>
          </a:xfrm>
        </p:spPr>
        <p:txBody>
          <a:bodyPr/>
          <a:lstStyle/>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先通过复制页表项</a:t>
            </a:r>
            <a:r>
              <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共享</a:t>
            </a:r>
            <a:r>
              <a:rPr lang="zh-CN" altLang="en-US" dirty="0">
                <a:latin typeface="Times New Roman" panose="02020603050405020304" pitchFamily="18" charset="0"/>
                <a:ea typeface="楷体_GB2312" pitchFamily="49" charset="-122"/>
                <a:cs typeface="Times New Roman" panose="02020603050405020304" pitchFamily="18" charset="0"/>
              </a:rPr>
              <a:t>这个页面，将父、子进程可写虚拟内存页的页表项均标志为只读</a:t>
            </a: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当父或子进程向该内存页</a:t>
            </a:r>
            <a:r>
              <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写</a:t>
            </a:r>
            <a:r>
              <a:rPr lang="zh-CN" altLang="en-US" dirty="0">
                <a:latin typeface="Times New Roman" panose="02020603050405020304" pitchFamily="18" charset="0"/>
                <a:ea typeface="楷体_GB2312" pitchFamily="49" charset="-122"/>
                <a:cs typeface="Times New Roman" panose="02020603050405020304" pitchFamily="18" charset="0"/>
              </a:rPr>
              <a:t>入数据时，就会引起一次页面异常</a:t>
            </a:r>
            <a:r>
              <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缺页中断</a:t>
            </a:r>
            <a:r>
              <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dirty="0">
                <a:latin typeface="Times New Roman" panose="02020603050405020304" pitchFamily="18" charset="0"/>
                <a:ea typeface="楷体_GB2312" pitchFamily="49" charset="-122"/>
                <a:cs typeface="Times New Roman" panose="02020603050405020304" pitchFamily="18" charset="0"/>
              </a:rPr>
              <a:t>，页面异常处理程序将重新分配一个物理页面，并完成真正的内容复制</a:t>
            </a: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en-US" altLang="zh-CN" dirty="0">
                <a:latin typeface="Times New Roman" panose="02020603050405020304" pitchFamily="18" charset="0"/>
                <a:ea typeface="楷体_GB2312" pitchFamily="49" charset="-122"/>
                <a:cs typeface="Times New Roman" panose="02020603050405020304" pitchFamily="18" charset="0"/>
              </a:rPr>
              <a:t>fork()</a:t>
            </a:r>
            <a:r>
              <a:rPr lang="zh-CN" altLang="en-US" dirty="0">
                <a:latin typeface="Times New Roman" panose="02020603050405020304" pitchFamily="18" charset="0"/>
                <a:ea typeface="楷体_GB2312" pitchFamily="49" charset="-122"/>
                <a:cs typeface="Times New Roman" panose="02020603050405020304" pitchFamily="18" charset="0"/>
              </a:rPr>
              <a:t>调用：可理解为</a:t>
            </a:r>
            <a:r>
              <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逻辑拷贝</a:t>
            </a:r>
            <a:r>
              <a:rPr lang="zh-CN" altLang="en-US" dirty="0">
                <a:latin typeface="Times New Roman" panose="02020603050405020304" pitchFamily="18" charset="0"/>
                <a:ea typeface="楷体_GB2312" pitchFamily="49" charset="-122"/>
                <a:cs typeface="Times New Roman" panose="02020603050405020304" pitchFamily="18" charset="0"/>
              </a:rPr>
              <a:t>整个进程的地址空间，仅当试图修改页面才真正的拷贝</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
        <p:nvSpPr>
          <p:cNvPr id="5" name="Rectangle 6"/>
          <p:cNvSpPr>
            <a:spLocks noGrp="1" noChangeArrowheads="1"/>
          </p:cNvSpPr>
          <p:nvPr>
            <p:ph type="title"/>
          </p:nvPr>
        </p:nvSpPr>
        <p:spPr>
          <a:xfrm>
            <a:off x="611188" y="0"/>
            <a:ext cx="7632700" cy="609600"/>
          </a:xfrm>
          <a:noFill/>
        </p:spPr>
        <p:txBody>
          <a:bodyPr/>
          <a:lstStyle/>
          <a:p>
            <a:pPr eaLnBrk="1" hangingPunct="1"/>
            <a:br>
              <a:rPr lang="zh-CN" altLang="en-US" dirty="0">
                <a:latin typeface="Times New Roman" panose="02020603050405020304" pitchFamily="18" charset="0"/>
                <a:ea typeface="楷体_GB2312" pitchFamily="49" charset="-122"/>
                <a:cs typeface="Times New Roman" panose="02020603050405020304" pitchFamily="18" charset="0"/>
              </a:rPr>
            </a:br>
            <a:r>
              <a:rPr lang="en-US" altLang="zh-CN" dirty="0">
                <a:latin typeface="Times New Roman" panose="02020603050405020304" pitchFamily="18" charset="0"/>
                <a:ea typeface="楷体_GB2312" pitchFamily="49" charset="-122"/>
                <a:cs typeface="Times New Roman" panose="02020603050405020304" pitchFamily="18" charset="0"/>
              </a:rPr>
              <a:t>2.7 Linux</a:t>
            </a:r>
            <a:r>
              <a:rPr lang="zh-CN" altLang="en-US" dirty="0">
                <a:latin typeface="Times New Roman" panose="02020603050405020304" pitchFamily="18" charset="0"/>
                <a:ea typeface="楷体_GB2312" pitchFamily="49" charset="-122"/>
                <a:cs typeface="Times New Roman" panose="02020603050405020304" pitchFamily="18" charset="0"/>
              </a:rPr>
              <a:t>中的进程控制</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8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78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789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3"/>
          <p:cNvSpPr>
            <a:spLocks noGrp="1" noChangeArrowheads="1"/>
          </p:cNvSpPr>
          <p:nvPr>
            <p:ph type="body" idx="1"/>
          </p:nvPr>
        </p:nvSpPr>
        <p:spPr/>
        <p:txBody>
          <a:bodyPr/>
          <a:lstStyle/>
          <a:p>
            <a:pPr eaLnBrk="1" hangingPunct="1">
              <a:buFont typeface="Arial" panose="020B0604020202020204" pitchFamily="34" charset="0"/>
              <a:buChar char="•"/>
            </a:pPr>
            <a:r>
              <a:rPr lang="en-US" altLang="zh-CN" dirty="0">
                <a:latin typeface="Times New Roman" panose="02020603050405020304" pitchFamily="18" charset="0"/>
                <a:ea typeface="楷体_GB2312" pitchFamily="49" charset="-122"/>
                <a:cs typeface="Times New Roman" panose="02020603050405020304" pitchFamily="18" charset="0"/>
              </a:rPr>
              <a:t>Linux</a:t>
            </a:r>
            <a:r>
              <a:rPr lang="zh-CN" altLang="en-US" dirty="0">
                <a:latin typeface="Times New Roman" panose="02020603050405020304" pitchFamily="18" charset="0"/>
                <a:ea typeface="楷体_GB2312" pitchFamily="49" charset="-122"/>
                <a:cs typeface="Times New Roman" panose="02020603050405020304" pitchFamily="18" charset="0"/>
              </a:rPr>
              <a:t>提供了三个与进程创建相关的系统函数</a:t>
            </a:r>
            <a:r>
              <a:rPr lang="en-US" altLang="zh-CN" sz="2600" dirty="0" err="1">
                <a:solidFill>
                  <a:srgbClr val="FF0000"/>
                </a:solidFill>
                <a:latin typeface="Times New Roman" panose="02020603050405020304" pitchFamily="18" charset="0"/>
                <a:ea typeface="楷体_GB2312" pitchFamily="49" charset="-122"/>
                <a:cs typeface="Times New Roman" panose="02020603050405020304" pitchFamily="18" charset="0"/>
              </a:rPr>
              <a:t>sys_fork</a:t>
            </a:r>
            <a:r>
              <a:rPr lang="en-US" altLang="zh-CN" sz="2600"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en-US" altLang="zh-CN" sz="2600" dirty="0" err="1">
                <a:solidFill>
                  <a:srgbClr val="FF0000"/>
                </a:solidFill>
                <a:latin typeface="Times New Roman" panose="02020603050405020304" pitchFamily="18" charset="0"/>
                <a:ea typeface="楷体_GB2312" pitchFamily="49" charset="-122"/>
                <a:cs typeface="Times New Roman" panose="02020603050405020304" pitchFamily="18" charset="0"/>
              </a:rPr>
              <a:t>sys_clone</a:t>
            </a:r>
            <a:r>
              <a:rPr lang="en-US" altLang="zh-CN" sz="2600"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en-US" altLang="zh-CN" sz="2600" dirty="0" err="1">
                <a:solidFill>
                  <a:srgbClr val="FF0000"/>
                </a:solidFill>
                <a:latin typeface="Times New Roman" panose="02020603050405020304" pitchFamily="18" charset="0"/>
                <a:ea typeface="楷体_GB2312" pitchFamily="49" charset="-122"/>
                <a:cs typeface="Times New Roman" panose="02020603050405020304" pitchFamily="18" charset="0"/>
              </a:rPr>
              <a:t>sys_vfork</a:t>
            </a:r>
            <a:r>
              <a:rPr lang="en-US" altLang="zh-CN" sz="2600" dirty="0">
                <a:solidFill>
                  <a:srgbClr val="FF0000"/>
                </a:solidFill>
                <a:latin typeface="Times New Roman" panose="02020603050405020304" pitchFamily="18" charset="0"/>
                <a:ea typeface="楷体_GB2312" pitchFamily="49" charset="-122"/>
                <a:cs typeface="Times New Roman" panose="02020603050405020304" pitchFamily="18" charset="0"/>
              </a:rPr>
              <a:t>()</a:t>
            </a:r>
            <a:endParaRPr lang="en-US" altLang="zh-CN" sz="2600" dirty="0">
              <a:solidFill>
                <a:srgbClr val="FF0000"/>
              </a:solidFill>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其中，</a:t>
            </a:r>
            <a:r>
              <a:rPr lang="en-US" altLang="zh-CN" dirty="0" err="1">
                <a:latin typeface="Times New Roman" panose="02020603050405020304" pitchFamily="18" charset="0"/>
                <a:ea typeface="楷体_GB2312" pitchFamily="49" charset="-122"/>
                <a:cs typeface="Times New Roman" panose="02020603050405020304" pitchFamily="18" charset="0"/>
              </a:rPr>
              <a:t>sys_clone</a:t>
            </a:r>
            <a:r>
              <a:rPr lang="en-US" altLang="zh-CN" dirty="0">
                <a:latin typeface="Times New Roman" panose="02020603050405020304" pitchFamily="18" charset="0"/>
                <a:ea typeface="楷体_GB2312" pitchFamily="49" charset="-122"/>
                <a:cs typeface="Times New Roman" panose="02020603050405020304" pitchFamily="18" charset="0"/>
              </a:rPr>
              <a:t>()</a:t>
            </a:r>
            <a:r>
              <a:rPr lang="zh-CN" altLang="en-US" dirty="0">
                <a:latin typeface="Times New Roman" panose="02020603050405020304" pitchFamily="18" charset="0"/>
                <a:ea typeface="楷体_GB2312" pitchFamily="49" charset="-122"/>
                <a:cs typeface="Times New Roman" panose="02020603050405020304" pitchFamily="18" charset="0"/>
              </a:rPr>
              <a:t>创建轻量级进程，必须指定要共享的资源</a:t>
            </a: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en-US" altLang="zh-CN" sz="3000" dirty="0">
                <a:latin typeface="Times New Roman" panose="02020603050405020304" pitchFamily="18" charset="0"/>
                <a:ea typeface="楷体_GB2312" pitchFamily="49" charset="-122"/>
                <a:cs typeface="Times New Roman" panose="02020603050405020304" pitchFamily="18" charset="0"/>
              </a:rPr>
              <a:t>exec()</a:t>
            </a:r>
            <a:r>
              <a:rPr lang="zh-CN" altLang="en-US" sz="3000" dirty="0">
                <a:latin typeface="Times New Roman" panose="02020603050405020304" pitchFamily="18" charset="0"/>
                <a:ea typeface="楷体_GB2312" pitchFamily="49" charset="-122"/>
                <a:cs typeface="Times New Roman" panose="02020603050405020304" pitchFamily="18" charset="0"/>
              </a:rPr>
              <a:t>系统调用</a:t>
            </a:r>
            <a:r>
              <a:rPr lang="en-US" altLang="zh-CN" sz="3000" dirty="0">
                <a:latin typeface="Times New Roman" panose="02020603050405020304" pitchFamily="18" charset="0"/>
                <a:ea typeface="楷体_GB2312" pitchFamily="49" charset="-122"/>
                <a:cs typeface="Times New Roman" panose="02020603050405020304" pitchFamily="18" charset="0"/>
              </a:rPr>
              <a:t>:</a:t>
            </a:r>
            <a:r>
              <a:rPr lang="zh-CN" altLang="en-US" sz="3000" dirty="0">
                <a:latin typeface="Times New Roman" panose="02020603050405020304" pitchFamily="18" charset="0"/>
                <a:ea typeface="楷体_GB2312" pitchFamily="49" charset="-122"/>
                <a:cs typeface="Times New Roman" panose="02020603050405020304" pitchFamily="18" charset="0"/>
              </a:rPr>
              <a:t>执行一个新程序</a:t>
            </a:r>
            <a:endParaRPr lang="zh-CN" altLang="en-US" sz="30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en-US" altLang="zh-CN" sz="3000" dirty="0">
                <a:latin typeface="Times New Roman" panose="02020603050405020304" pitchFamily="18" charset="0"/>
                <a:ea typeface="楷体_GB2312" pitchFamily="49" charset="-122"/>
                <a:cs typeface="Times New Roman" panose="02020603050405020304" pitchFamily="18" charset="0"/>
              </a:rPr>
              <a:t>exit()</a:t>
            </a:r>
            <a:r>
              <a:rPr lang="zh-CN" altLang="en-US" sz="3000" dirty="0">
                <a:latin typeface="Times New Roman" panose="02020603050405020304" pitchFamily="18" charset="0"/>
                <a:ea typeface="楷体_GB2312" pitchFamily="49" charset="-122"/>
                <a:cs typeface="Times New Roman" panose="02020603050405020304" pitchFamily="18" charset="0"/>
              </a:rPr>
              <a:t>系统调用</a:t>
            </a:r>
            <a:r>
              <a:rPr lang="en-US" altLang="zh-CN" sz="3000" dirty="0">
                <a:latin typeface="Times New Roman" panose="02020603050405020304" pitchFamily="18" charset="0"/>
                <a:ea typeface="楷体_GB2312" pitchFamily="49" charset="-122"/>
                <a:cs typeface="Times New Roman" panose="02020603050405020304" pitchFamily="18" charset="0"/>
              </a:rPr>
              <a:t>:</a:t>
            </a:r>
            <a:r>
              <a:rPr lang="zh-CN" altLang="en-US" sz="3000" dirty="0">
                <a:latin typeface="Times New Roman" panose="02020603050405020304" pitchFamily="18" charset="0"/>
                <a:ea typeface="楷体_GB2312" pitchFamily="49" charset="-122"/>
                <a:cs typeface="Times New Roman" panose="02020603050405020304" pitchFamily="18" charset="0"/>
              </a:rPr>
              <a:t>终止进程（进程也可以因收到信号而终止）</a:t>
            </a:r>
            <a:endParaRPr lang="zh-CN" altLang="en-US" sz="3000" dirty="0">
              <a:latin typeface="Times New Roman" panose="02020603050405020304" pitchFamily="18" charset="0"/>
              <a:ea typeface="楷体_GB2312" pitchFamily="49" charset="-122"/>
              <a:cs typeface="Times New Roman" panose="02020603050405020304" pitchFamily="18" charset="0"/>
            </a:endParaRPr>
          </a:p>
        </p:txBody>
      </p:sp>
      <p:sp>
        <p:nvSpPr>
          <p:cNvPr id="5" name="Rectangle 6"/>
          <p:cNvSpPr>
            <a:spLocks noGrp="1" noChangeArrowheads="1"/>
          </p:cNvSpPr>
          <p:nvPr>
            <p:ph type="title"/>
          </p:nvPr>
        </p:nvSpPr>
        <p:spPr>
          <a:xfrm>
            <a:off x="611188" y="0"/>
            <a:ext cx="7632700" cy="609600"/>
          </a:xfrm>
          <a:noFill/>
        </p:spPr>
        <p:txBody>
          <a:bodyPr/>
          <a:lstStyle/>
          <a:p>
            <a:pPr eaLnBrk="1" hangingPunct="1"/>
            <a:br>
              <a:rPr lang="zh-CN" altLang="en-US" dirty="0">
                <a:latin typeface="Times New Roman" panose="02020603050405020304" pitchFamily="18" charset="0"/>
                <a:ea typeface="楷体_GB2312" pitchFamily="49" charset="-122"/>
                <a:cs typeface="Times New Roman" panose="02020603050405020304" pitchFamily="18" charset="0"/>
              </a:rPr>
            </a:br>
            <a:r>
              <a:rPr lang="en-US" altLang="zh-CN" dirty="0">
                <a:latin typeface="Times New Roman" panose="02020603050405020304" pitchFamily="18" charset="0"/>
                <a:ea typeface="楷体_GB2312" pitchFamily="49" charset="-122"/>
                <a:cs typeface="Times New Roman" panose="02020603050405020304" pitchFamily="18" charset="0"/>
              </a:rPr>
              <a:t>2.7 Linux</a:t>
            </a:r>
            <a:r>
              <a:rPr lang="zh-CN" altLang="en-US" dirty="0">
                <a:latin typeface="Times New Roman" panose="02020603050405020304" pitchFamily="18" charset="0"/>
                <a:ea typeface="楷体_GB2312" pitchFamily="49" charset="-122"/>
                <a:cs typeface="Times New Roman" panose="02020603050405020304" pitchFamily="18" charset="0"/>
              </a:rPr>
              <a:t>中的进程控制</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3"/>
          <p:cNvSpPr>
            <a:spLocks noGrp="1" noChangeArrowheads="1"/>
          </p:cNvSpPr>
          <p:nvPr>
            <p:ph type="body" idx="1"/>
          </p:nvPr>
        </p:nvSpPr>
        <p:spPr/>
        <p:txBody>
          <a:bodyPr/>
          <a:lstStyle/>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引入三种机制优化进程创建效率</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sz="2800" dirty="0">
                <a:latin typeface="Times New Roman" panose="02020603050405020304" pitchFamily="18" charset="0"/>
                <a:ea typeface="楷体_GB2312" pitchFamily="49" charset="-122"/>
                <a:cs typeface="Times New Roman" panose="02020603050405020304" pitchFamily="18" charset="0"/>
              </a:rPr>
              <a:t>写时复制技术（</a:t>
            </a:r>
            <a:r>
              <a:rPr lang="en-US" altLang="zh-CN" sz="2800" dirty="0">
                <a:latin typeface="Times New Roman" panose="02020603050405020304" pitchFamily="18" charset="0"/>
                <a:ea typeface="楷体_GB2312" pitchFamily="49" charset="-122"/>
                <a:cs typeface="Times New Roman" panose="02020603050405020304" pitchFamily="18" charset="0"/>
              </a:rPr>
              <a:t>Copy-On-Writing</a:t>
            </a:r>
            <a:r>
              <a:rPr lang="zh-CN" altLang="en-US" sz="2800" dirty="0">
                <a:latin typeface="Times New Roman" panose="02020603050405020304" pitchFamily="18" charset="0"/>
                <a:ea typeface="楷体_GB2312" pitchFamily="49" charset="-122"/>
                <a:cs typeface="Times New Roman" panose="02020603050405020304" pitchFamily="18" charset="0"/>
              </a:rPr>
              <a:t>）</a:t>
            </a:r>
            <a:endParaRPr lang="zh-CN" altLang="en-US" sz="2800"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sz="2800" dirty="0">
                <a:latin typeface="Times New Roman" panose="02020603050405020304" pitchFamily="18" charset="0"/>
                <a:ea typeface="楷体_GB2312" pitchFamily="49" charset="-122"/>
                <a:cs typeface="Times New Roman" panose="02020603050405020304" pitchFamily="18" charset="0"/>
              </a:rPr>
              <a:t>轻量级进程</a:t>
            </a:r>
            <a:endParaRPr lang="en-US" altLang="zh-CN" sz="2800" dirty="0">
              <a:latin typeface="Times New Roman" panose="02020603050405020304" pitchFamily="18" charset="0"/>
              <a:ea typeface="楷体_GB2312" pitchFamily="49" charset="-122"/>
              <a:cs typeface="Times New Roman" panose="02020603050405020304" pitchFamily="18" charset="0"/>
            </a:endParaRPr>
          </a:p>
          <a:p>
            <a:pPr lvl="2" eaLnBrk="1" hangingPunct="1">
              <a:buFont typeface="Arial" panose="020B0604020202020204" pitchFamily="34" charset="0"/>
              <a:buChar char="•"/>
            </a:pPr>
            <a:r>
              <a:rPr lang="zh-CN" altLang="en-US" sz="2800" dirty="0">
                <a:latin typeface="Times New Roman" panose="02020603050405020304" pitchFamily="18" charset="0"/>
                <a:ea typeface="楷体_GB2312" pitchFamily="49" charset="-122"/>
                <a:cs typeface="Times New Roman" panose="02020603050405020304" pitchFamily="18" charset="0"/>
              </a:rPr>
              <a:t>允许父子进程共享</a:t>
            </a:r>
            <a:r>
              <a:rPr lang="zh-CN" altLang="en-US" sz="2600" b="1" dirty="0">
                <a:solidFill>
                  <a:srgbClr val="FF0000"/>
                </a:solidFill>
                <a:latin typeface="Times New Roman" panose="02020603050405020304" pitchFamily="18" charset="0"/>
                <a:ea typeface="楷体_GB2312" pitchFamily="49" charset="-122"/>
                <a:cs typeface="Times New Roman" panose="02020603050405020304" pitchFamily="18" charset="0"/>
              </a:rPr>
              <a:t>页表、打开文件列表、信号处理</a:t>
            </a:r>
            <a:r>
              <a:rPr lang="zh-CN" altLang="en-US" sz="2800" dirty="0">
                <a:latin typeface="Times New Roman" panose="02020603050405020304" pitchFamily="18" charset="0"/>
                <a:ea typeface="楷体_GB2312" pitchFamily="49" charset="-122"/>
                <a:cs typeface="Times New Roman" panose="02020603050405020304" pitchFamily="18" charset="0"/>
              </a:rPr>
              <a:t>等数据结构</a:t>
            </a:r>
            <a:endParaRPr lang="en-US" altLang="zh-CN" sz="2800" dirty="0">
              <a:latin typeface="Times New Roman" panose="02020603050405020304" pitchFamily="18" charset="0"/>
              <a:ea typeface="楷体_GB2312" pitchFamily="49" charset="-122"/>
              <a:cs typeface="Times New Roman" panose="02020603050405020304" pitchFamily="18" charset="0"/>
            </a:endParaRPr>
          </a:p>
          <a:p>
            <a:pPr lvl="2" eaLnBrk="1" hangingPunct="1">
              <a:buFont typeface="Arial" panose="020B0604020202020204" pitchFamily="34" charset="0"/>
              <a:buChar char="•"/>
            </a:pPr>
            <a:r>
              <a:rPr lang="zh-CN" altLang="en-US" sz="2800" dirty="0">
                <a:latin typeface="Times New Roman" panose="02020603050405020304" pitchFamily="18" charset="0"/>
                <a:ea typeface="楷体_GB2312" pitchFamily="49" charset="-122"/>
                <a:cs typeface="Times New Roman" panose="02020603050405020304" pitchFamily="18" charset="0"/>
              </a:rPr>
              <a:t>但每个进程应该有自己的程序计数器、寄存器集合、核心栈和用户栈 </a:t>
            </a:r>
            <a:endParaRPr lang="zh-CN" altLang="en-US" sz="2800"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sz="2800" dirty="0" err="1">
                <a:latin typeface="Times New Roman" panose="02020603050405020304" pitchFamily="18" charset="0"/>
                <a:ea typeface="楷体_GB2312" pitchFamily="49" charset="-122"/>
                <a:cs typeface="Times New Roman" panose="02020603050405020304" pitchFamily="18" charset="0"/>
              </a:rPr>
              <a:t>vfork</a:t>
            </a:r>
            <a:r>
              <a:rPr lang="en-US" altLang="zh-CN" sz="2800" dirty="0">
                <a:latin typeface="Times New Roman" panose="02020603050405020304" pitchFamily="18" charset="0"/>
                <a:ea typeface="楷体_GB2312" pitchFamily="49" charset="-122"/>
                <a:cs typeface="Times New Roman" panose="02020603050405020304" pitchFamily="18" charset="0"/>
              </a:rPr>
              <a:t>()</a:t>
            </a:r>
            <a:endParaRPr lang="en-US" altLang="zh-CN" sz="2800" dirty="0">
              <a:latin typeface="Times New Roman" panose="02020603050405020304" pitchFamily="18" charset="0"/>
              <a:ea typeface="楷体_GB2312" pitchFamily="49" charset="-122"/>
              <a:cs typeface="Times New Roman" panose="02020603050405020304" pitchFamily="18" charset="0"/>
            </a:endParaRPr>
          </a:p>
          <a:p>
            <a:pPr lvl="2" eaLnBrk="1" hangingPunct="1">
              <a:buFont typeface="Arial" panose="020B0604020202020204" pitchFamily="34" charset="0"/>
              <a:buChar char="•"/>
            </a:pPr>
            <a:r>
              <a:rPr lang="zh-CN" altLang="en-US" sz="2800" dirty="0">
                <a:latin typeface="Times New Roman" panose="02020603050405020304" pitchFamily="18" charset="0"/>
                <a:ea typeface="楷体_GB2312" pitchFamily="49" charset="-122"/>
                <a:cs typeface="Times New Roman" panose="02020603050405020304" pitchFamily="18" charset="0"/>
              </a:rPr>
              <a:t>新进程可共享父进程的内存地址空间</a:t>
            </a:r>
            <a:endParaRPr lang="zh-CN" altLang="en-US" sz="2800" dirty="0">
              <a:latin typeface="Times New Roman" panose="02020603050405020304" pitchFamily="18" charset="0"/>
              <a:ea typeface="楷体_GB2312" pitchFamily="49" charset="-122"/>
              <a:cs typeface="Times New Roman" panose="02020603050405020304" pitchFamily="18" charset="0"/>
            </a:endParaRPr>
          </a:p>
        </p:txBody>
      </p:sp>
      <p:sp>
        <p:nvSpPr>
          <p:cNvPr id="5" name="Rectangle 6"/>
          <p:cNvSpPr>
            <a:spLocks noGrp="1" noChangeArrowheads="1"/>
          </p:cNvSpPr>
          <p:nvPr>
            <p:ph type="title"/>
          </p:nvPr>
        </p:nvSpPr>
        <p:spPr>
          <a:xfrm>
            <a:off x="611188" y="0"/>
            <a:ext cx="7632700" cy="609600"/>
          </a:xfrm>
          <a:noFill/>
        </p:spPr>
        <p:txBody>
          <a:bodyPr/>
          <a:lstStyle/>
          <a:p>
            <a:pPr eaLnBrk="1" hangingPunct="1"/>
            <a:br>
              <a:rPr lang="zh-CN" altLang="en-US" dirty="0">
                <a:latin typeface="Times New Roman" panose="02020603050405020304" pitchFamily="18" charset="0"/>
                <a:ea typeface="楷体_GB2312" pitchFamily="49" charset="-122"/>
                <a:cs typeface="Times New Roman" panose="02020603050405020304" pitchFamily="18" charset="0"/>
              </a:rPr>
            </a:br>
            <a:r>
              <a:rPr lang="en-US" altLang="zh-CN" dirty="0">
                <a:latin typeface="Times New Roman" panose="02020603050405020304" pitchFamily="18" charset="0"/>
                <a:ea typeface="楷体_GB2312" pitchFamily="49" charset="-122"/>
                <a:cs typeface="Times New Roman" panose="02020603050405020304" pitchFamily="18" charset="0"/>
              </a:rPr>
              <a:t>2.7 Linux</a:t>
            </a:r>
            <a:r>
              <a:rPr lang="zh-CN" altLang="en-US" dirty="0">
                <a:latin typeface="Times New Roman" panose="02020603050405020304" pitchFamily="18" charset="0"/>
                <a:ea typeface="楷体_GB2312" pitchFamily="49" charset="-122"/>
                <a:cs typeface="Times New Roman" panose="02020603050405020304" pitchFamily="18" charset="0"/>
              </a:rPr>
              <a:t>中的进程控制</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ransition>
    <p:wedg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Rectangle 3"/>
          <p:cNvSpPr>
            <a:spLocks noGrp="1" noChangeArrowheads="1"/>
          </p:cNvSpPr>
          <p:nvPr>
            <p:ph type="body" idx="1"/>
          </p:nvPr>
        </p:nvSpPr>
        <p:spPr/>
        <p:txBody>
          <a:bodyPr/>
          <a:lstStyle/>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在终端输入命令，由</a:t>
            </a:r>
            <a:r>
              <a:rPr lang="en-US" altLang="zh-CN" dirty="0">
                <a:latin typeface="Times New Roman" panose="02020603050405020304" pitchFamily="18" charset="0"/>
                <a:ea typeface="楷体_GB2312" pitchFamily="49" charset="-122"/>
                <a:cs typeface="Times New Roman" panose="02020603050405020304" pitchFamily="18" charset="0"/>
              </a:rPr>
              <a:t>shell</a:t>
            </a:r>
            <a:r>
              <a:rPr lang="zh-CN" altLang="en-US" dirty="0">
                <a:latin typeface="Times New Roman" panose="02020603050405020304" pitchFamily="18" charset="0"/>
                <a:ea typeface="楷体_GB2312" pitchFamily="49" charset="-122"/>
                <a:cs typeface="Times New Roman" panose="02020603050405020304" pitchFamily="18" charset="0"/>
              </a:rPr>
              <a:t>进程创建一个新进程</a:t>
            </a: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进程创建函数</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dirty="0" err="1">
                <a:latin typeface="Times New Roman" panose="02020603050405020304" pitchFamily="18" charset="0"/>
                <a:ea typeface="楷体_GB2312" pitchFamily="49" charset="-122"/>
                <a:cs typeface="Times New Roman" panose="02020603050405020304" pitchFamily="18" charset="0"/>
              </a:rPr>
              <a:t>pid_t</a:t>
            </a:r>
            <a:r>
              <a:rPr lang="en-US" altLang="zh-CN" dirty="0">
                <a:latin typeface="Times New Roman" panose="02020603050405020304" pitchFamily="18" charset="0"/>
                <a:ea typeface="楷体_GB2312" pitchFamily="49" charset="-122"/>
                <a:cs typeface="Times New Roman" panose="02020603050405020304" pitchFamily="18" charset="0"/>
              </a:rPr>
              <a:t> </a:t>
            </a:r>
            <a:r>
              <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rPr>
              <a:t>fork</a:t>
            </a:r>
            <a:r>
              <a:rPr lang="en-US" altLang="zh-CN" dirty="0">
                <a:latin typeface="Times New Roman" panose="02020603050405020304" pitchFamily="18" charset="0"/>
                <a:ea typeface="楷体_GB2312" pitchFamily="49" charset="-122"/>
                <a:cs typeface="Times New Roman" panose="02020603050405020304" pitchFamily="18" charset="0"/>
              </a:rPr>
              <a:t>(void);</a:t>
            </a:r>
            <a:endParaRPr lang="en-US" altLang="zh-CN"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dirty="0" err="1">
                <a:latin typeface="Times New Roman" panose="02020603050405020304" pitchFamily="18" charset="0"/>
                <a:ea typeface="楷体_GB2312" pitchFamily="49" charset="-122"/>
                <a:cs typeface="Times New Roman" panose="02020603050405020304" pitchFamily="18" charset="0"/>
              </a:rPr>
              <a:t>pid_t</a:t>
            </a:r>
            <a:r>
              <a:rPr lang="en-US" altLang="zh-CN" dirty="0">
                <a:latin typeface="Times New Roman" panose="02020603050405020304" pitchFamily="18" charset="0"/>
                <a:ea typeface="楷体_GB2312" pitchFamily="49" charset="-122"/>
                <a:cs typeface="Times New Roman" panose="02020603050405020304" pitchFamily="18" charset="0"/>
              </a:rPr>
              <a:t> </a:t>
            </a:r>
            <a:r>
              <a:rPr lang="en-US" altLang="zh-CN" dirty="0" err="1">
                <a:solidFill>
                  <a:srgbClr val="FF0000"/>
                </a:solidFill>
                <a:latin typeface="Times New Roman" panose="02020603050405020304" pitchFamily="18" charset="0"/>
                <a:ea typeface="楷体_GB2312" pitchFamily="49" charset="-122"/>
                <a:cs typeface="Times New Roman" panose="02020603050405020304" pitchFamily="18" charset="0"/>
              </a:rPr>
              <a:t>vfork</a:t>
            </a:r>
            <a:r>
              <a:rPr lang="en-US" altLang="zh-CN" dirty="0">
                <a:latin typeface="Times New Roman" panose="02020603050405020304" pitchFamily="18" charset="0"/>
                <a:ea typeface="楷体_GB2312" pitchFamily="49" charset="-122"/>
                <a:cs typeface="Times New Roman" panose="02020603050405020304" pitchFamily="18" charset="0"/>
              </a:rPr>
              <a:t>(void);</a:t>
            </a:r>
            <a:endParaRPr lang="en-US" altLang="zh-CN"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dirty="0">
                <a:latin typeface="Times New Roman" panose="02020603050405020304" pitchFamily="18" charset="0"/>
                <a:ea typeface="楷体_GB2312" pitchFamily="49" charset="-122"/>
                <a:cs typeface="Times New Roman" panose="02020603050405020304" pitchFamily="18" charset="0"/>
              </a:rPr>
              <a:t>int </a:t>
            </a:r>
            <a:r>
              <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rPr>
              <a:t>clone</a:t>
            </a:r>
            <a:r>
              <a:rPr lang="en-US" altLang="zh-CN" dirty="0">
                <a:latin typeface="Times New Roman" panose="02020603050405020304" pitchFamily="18" charset="0"/>
                <a:ea typeface="楷体_GB2312" pitchFamily="49" charset="-122"/>
                <a:cs typeface="Times New Roman" panose="02020603050405020304" pitchFamily="18" charset="0"/>
              </a:rPr>
              <a:t>(int (*</a:t>
            </a:r>
            <a:r>
              <a:rPr lang="en-US" altLang="zh-CN" dirty="0" err="1">
                <a:latin typeface="Times New Roman" panose="02020603050405020304" pitchFamily="18" charset="0"/>
                <a:ea typeface="楷体_GB2312" pitchFamily="49" charset="-122"/>
                <a:cs typeface="Times New Roman" panose="02020603050405020304" pitchFamily="18" charset="0"/>
              </a:rPr>
              <a:t>fn</a:t>
            </a:r>
            <a:r>
              <a:rPr lang="en-US" altLang="zh-CN" dirty="0">
                <a:latin typeface="Times New Roman" panose="02020603050405020304" pitchFamily="18" charset="0"/>
                <a:ea typeface="楷体_GB2312" pitchFamily="49" charset="-122"/>
                <a:cs typeface="Times New Roman" panose="02020603050405020304" pitchFamily="18" charset="0"/>
              </a:rPr>
              <a:t>)(void * </a:t>
            </a:r>
            <a:r>
              <a:rPr lang="en-US" altLang="zh-CN" dirty="0" err="1">
                <a:latin typeface="Times New Roman" panose="02020603050405020304" pitchFamily="18" charset="0"/>
                <a:ea typeface="楷体_GB2312" pitchFamily="49" charset="-122"/>
                <a:cs typeface="Times New Roman" panose="02020603050405020304" pitchFamily="18" charset="0"/>
              </a:rPr>
              <a:t>arg</a:t>
            </a:r>
            <a:r>
              <a:rPr lang="en-US" altLang="zh-CN" dirty="0">
                <a:latin typeface="Times New Roman" panose="02020603050405020304" pitchFamily="18" charset="0"/>
                <a:ea typeface="楷体_GB2312" pitchFamily="49" charset="-122"/>
                <a:cs typeface="Times New Roman" panose="02020603050405020304" pitchFamily="18" charset="0"/>
              </a:rPr>
              <a:t>), void *stack, int flags, void * </a:t>
            </a:r>
            <a:r>
              <a:rPr lang="en-US" altLang="zh-CN" dirty="0" err="1">
                <a:latin typeface="Times New Roman" panose="02020603050405020304" pitchFamily="18" charset="0"/>
                <a:ea typeface="楷体_GB2312" pitchFamily="49" charset="-122"/>
                <a:cs typeface="Times New Roman" panose="02020603050405020304" pitchFamily="18" charset="0"/>
              </a:rPr>
              <a:t>arg</a:t>
            </a:r>
            <a:r>
              <a:rPr lang="en-US" altLang="zh-CN" dirty="0">
                <a:latin typeface="Times New Roman" panose="02020603050405020304" pitchFamily="18" charset="0"/>
                <a:ea typeface="楷体_GB2312" pitchFamily="49" charset="-122"/>
                <a:cs typeface="Times New Roman" panose="02020603050405020304" pitchFamily="18" charset="0"/>
              </a:rPr>
              <a:t>)</a:t>
            </a:r>
            <a:r>
              <a:rPr lang="zh-CN" altLang="en-US" dirty="0">
                <a:latin typeface="Times New Roman" panose="02020603050405020304" pitchFamily="18" charset="0"/>
                <a:ea typeface="楷体_GB2312" pitchFamily="49" charset="-122"/>
                <a:cs typeface="Times New Roman" panose="02020603050405020304" pitchFamily="18" charset="0"/>
              </a:rPr>
              <a:t>； </a:t>
            </a:r>
            <a:endParaRPr lang="en-US" altLang="zh-CN" dirty="0">
              <a:latin typeface="Times New Roman" panose="02020603050405020304" pitchFamily="18" charset="0"/>
              <a:ea typeface="楷体_GB2312" pitchFamily="49" charset="-122"/>
              <a:cs typeface="Times New Roman" panose="02020603050405020304" pitchFamily="18" charset="0"/>
            </a:endParaRPr>
          </a:p>
          <a:p>
            <a:pPr lvl="2"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创建轻量级线程</a:t>
            </a: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三函数都调用同一内核函数</a:t>
            </a:r>
            <a:r>
              <a:rPr lang="en-US" altLang="zh-CN" dirty="0" err="1">
                <a:solidFill>
                  <a:srgbClr val="FF0D0D"/>
                </a:solidFill>
                <a:latin typeface="Times New Roman" panose="02020603050405020304" pitchFamily="18" charset="0"/>
                <a:ea typeface="楷体_GB2312" pitchFamily="49" charset="-122"/>
                <a:cs typeface="Times New Roman" panose="02020603050405020304" pitchFamily="18" charset="0"/>
              </a:rPr>
              <a:t>do_fork</a:t>
            </a:r>
            <a:r>
              <a:rPr lang="en-US" altLang="zh-CN" dirty="0">
                <a:solidFill>
                  <a:srgbClr val="FF0D0D"/>
                </a:solidFill>
                <a:latin typeface="Times New Roman" panose="02020603050405020304" pitchFamily="18" charset="0"/>
                <a:ea typeface="楷体_GB2312" pitchFamily="49" charset="-122"/>
                <a:cs typeface="Times New Roman" panose="02020603050405020304" pitchFamily="18" charset="0"/>
              </a:rPr>
              <a:t>( ) </a:t>
            </a:r>
            <a:r>
              <a:rPr lang="en-US" altLang="zh-CN" dirty="0">
                <a:latin typeface="Times New Roman" panose="02020603050405020304" pitchFamily="18" charset="0"/>
                <a:ea typeface="楷体_GB2312" pitchFamily="49" charset="-122"/>
                <a:cs typeface="Times New Roman" panose="02020603050405020304" pitchFamily="18" charset="0"/>
              </a:rPr>
              <a:t>[</a:t>
            </a:r>
            <a:r>
              <a:rPr lang="en-US" altLang="zh-CN" dirty="0">
                <a:solidFill>
                  <a:schemeClr val="tx2"/>
                </a:solidFill>
                <a:latin typeface="Times New Roman" panose="02020603050405020304" pitchFamily="18" charset="0"/>
                <a:ea typeface="楷体_GB2312" pitchFamily="49" charset="-122"/>
                <a:cs typeface="Times New Roman" panose="02020603050405020304" pitchFamily="18" charset="0"/>
              </a:rPr>
              <a:t>/kernel/</a:t>
            </a:r>
            <a:r>
              <a:rPr lang="en-US" altLang="zh-CN" dirty="0" err="1">
                <a:solidFill>
                  <a:schemeClr val="tx2"/>
                </a:solidFill>
                <a:latin typeface="Times New Roman" panose="02020603050405020304" pitchFamily="18" charset="0"/>
                <a:ea typeface="楷体_GB2312" pitchFamily="49" charset="-122"/>
                <a:cs typeface="Times New Roman" panose="02020603050405020304" pitchFamily="18" charset="0"/>
              </a:rPr>
              <a:t>fork.c</a:t>
            </a:r>
            <a:r>
              <a:rPr lang="en-US" altLang="zh-CN" dirty="0">
                <a:latin typeface="Times New Roman" panose="02020603050405020304" pitchFamily="18" charset="0"/>
                <a:ea typeface="楷体_GB2312" pitchFamily="49" charset="-122"/>
                <a:cs typeface="Times New Roman" panose="02020603050405020304" pitchFamily="18" charset="0"/>
              </a:rPr>
              <a:t>]</a:t>
            </a:r>
            <a:endParaRPr lang="en-US" altLang="zh-CN" dirty="0">
              <a:latin typeface="Times New Roman" panose="02020603050405020304" pitchFamily="18" charset="0"/>
              <a:ea typeface="楷体_GB2312" pitchFamily="49" charset="-122"/>
              <a:cs typeface="Times New Roman" panose="02020603050405020304" pitchFamily="18" charset="0"/>
            </a:endParaRPr>
          </a:p>
        </p:txBody>
      </p:sp>
      <p:sp>
        <p:nvSpPr>
          <p:cNvPr id="6" name="Rectangle 6"/>
          <p:cNvSpPr>
            <a:spLocks noGrp="1" noChangeArrowheads="1"/>
          </p:cNvSpPr>
          <p:nvPr>
            <p:ph type="title"/>
          </p:nvPr>
        </p:nvSpPr>
        <p:spPr>
          <a:xfrm>
            <a:off x="611188" y="0"/>
            <a:ext cx="7632700" cy="609600"/>
          </a:xfrm>
          <a:noFill/>
        </p:spPr>
        <p:txBody>
          <a:bodyPr/>
          <a:lstStyle/>
          <a:p>
            <a:pPr eaLnBrk="1" hangingPunct="1"/>
            <a:br>
              <a:rPr lang="zh-CN" altLang="en-US" dirty="0">
                <a:latin typeface="Times New Roman" panose="02020603050405020304" pitchFamily="18" charset="0"/>
                <a:ea typeface="楷体_GB2312" pitchFamily="49" charset="-122"/>
                <a:cs typeface="Times New Roman" panose="02020603050405020304" pitchFamily="18" charset="0"/>
              </a:rPr>
            </a:br>
            <a:r>
              <a:rPr lang="en-US" altLang="zh-CN" dirty="0">
                <a:latin typeface="Times New Roman" panose="02020603050405020304" pitchFamily="18" charset="0"/>
                <a:ea typeface="楷体_GB2312" pitchFamily="49" charset="-122"/>
                <a:cs typeface="Times New Roman" panose="02020603050405020304" pitchFamily="18" charset="0"/>
              </a:rPr>
              <a:t>2.7 Linux</a:t>
            </a:r>
            <a:r>
              <a:rPr lang="zh-CN" altLang="en-US" dirty="0">
                <a:latin typeface="Times New Roman" panose="02020603050405020304" pitchFamily="18" charset="0"/>
                <a:ea typeface="楷体_GB2312" pitchFamily="49" charset="-122"/>
                <a:cs typeface="Times New Roman" panose="02020603050405020304" pitchFamily="18" charset="0"/>
              </a:rPr>
              <a:t>中的进程控制</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ransition>
    <p:wedg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3"/>
          <p:cNvSpPr>
            <a:spLocks noGrp="1" noChangeArrowheads="1"/>
          </p:cNvSpPr>
          <p:nvPr>
            <p:ph type="body" idx="1"/>
          </p:nvPr>
        </p:nvSpPr>
        <p:spPr>
          <a:xfrm>
            <a:off x="357188" y="857250"/>
            <a:ext cx="8291512" cy="5272088"/>
          </a:xfrm>
        </p:spPr>
        <p:txBody>
          <a:bodyPr/>
          <a:lstStyle/>
          <a:p>
            <a:pPr eaLnBrk="1" hangingPunct="1">
              <a:buFont typeface="Arial" panose="020B0604020202020204" pitchFamily="34" charset="0"/>
              <a:buChar char="•"/>
            </a:pPr>
            <a:r>
              <a:rPr lang="zh-CN" altLang="en-US" sz="2200" dirty="0">
                <a:latin typeface="Times New Roman" panose="02020603050405020304" pitchFamily="18" charset="0"/>
                <a:ea typeface="楷体_GB2312" pitchFamily="49" charset="-122"/>
                <a:cs typeface="Times New Roman" panose="02020603050405020304" pitchFamily="18" charset="0"/>
              </a:rPr>
              <a:t>函数调用形式</a:t>
            </a:r>
            <a:endParaRPr lang="zh-CN" altLang="en-US" sz="2200"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sz="2200" dirty="0" err="1">
                <a:solidFill>
                  <a:srgbClr val="FF0000"/>
                </a:solidFill>
                <a:latin typeface="Times New Roman" panose="02020603050405020304" pitchFamily="18" charset="0"/>
                <a:ea typeface="楷体_GB2312" pitchFamily="49" charset="-122"/>
                <a:cs typeface="Times New Roman" panose="02020603050405020304" pitchFamily="18" charset="0"/>
              </a:rPr>
              <a:t>do_fork</a:t>
            </a:r>
            <a:r>
              <a:rPr lang="en-US" altLang="zh-CN" sz="2200" dirty="0">
                <a:latin typeface="Times New Roman" panose="02020603050405020304" pitchFamily="18" charset="0"/>
                <a:ea typeface="楷体_GB2312" pitchFamily="49" charset="-122"/>
                <a:cs typeface="Times New Roman" panose="02020603050405020304" pitchFamily="18" charset="0"/>
              </a:rPr>
              <a:t>(unsigned long </a:t>
            </a:r>
            <a:r>
              <a:rPr lang="en-US" altLang="zh-CN" sz="2200" dirty="0" err="1">
                <a:solidFill>
                  <a:srgbClr val="FF0D0D"/>
                </a:solidFill>
                <a:latin typeface="Times New Roman" panose="02020603050405020304" pitchFamily="18" charset="0"/>
                <a:ea typeface="楷体_GB2312" pitchFamily="49" charset="-122"/>
                <a:cs typeface="Times New Roman" panose="02020603050405020304" pitchFamily="18" charset="0"/>
              </a:rPr>
              <a:t>clone_flag</a:t>
            </a:r>
            <a:r>
              <a:rPr lang="en-US" altLang="zh-CN" sz="2200" dirty="0">
                <a:latin typeface="Times New Roman" panose="02020603050405020304" pitchFamily="18" charset="0"/>
                <a:ea typeface="楷体_GB2312" pitchFamily="49" charset="-122"/>
                <a:cs typeface="Times New Roman" panose="02020603050405020304" pitchFamily="18" charset="0"/>
              </a:rPr>
              <a:t>, </a:t>
            </a:r>
            <a:r>
              <a:rPr lang="en-US" altLang="en-US" sz="2200" dirty="0">
                <a:latin typeface="Times New Roman" panose="02020603050405020304" pitchFamily="18" charset="0"/>
                <a:ea typeface="楷体_GB2312" pitchFamily="49" charset="-122"/>
                <a:cs typeface="Times New Roman" panose="02020603050405020304" pitchFamily="18" charset="0"/>
              </a:rPr>
              <a:t>unsigned long </a:t>
            </a:r>
            <a:r>
              <a:rPr lang="en-US" altLang="en-US" sz="2200" dirty="0" err="1">
                <a:latin typeface="Times New Roman" panose="02020603050405020304" pitchFamily="18" charset="0"/>
                <a:ea typeface="楷体_GB2312" pitchFamily="49" charset="-122"/>
                <a:cs typeface="Times New Roman" panose="02020603050405020304" pitchFamily="18" charset="0"/>
              </a:rPr>
              <a:t>stack_start</a:t>
            </a:r>
            <a:r>
              <a:rPr lang="en-US" altLang="en-US" sz="2200" dirty="0">
                <a:latin typeface="Times New Roman" panose="02020603050405020304" pitchFamily="18" charset="0"/>
                <a:ea typeface="楷体_GB2312" pitchFamily="49" charset="-122"/>
                <a:cs typeface="Times New Roman" panose="02020603050405020304" pitchFamily="18" charset="0"/>
              </a:rPr>
              <a:t>, </a:t>
            </a:r>
            <a:r>
              <a:rPr lang="en-US" altLang="en-US" sz="2200" dirty="0" err="1">
                <a:latin typeface="Times New Roman" panose="02020603050405020304" pitchFamily="18" charset="0"/>
                <a:ea typeface="楷体_GB2312" pitchFamily="49" charset="-122"/>
                <a:cs typeface="Times New Roman" panose="02020603050405020304" pitchFamily="18" charset="0"/>
              </a:rPr>
              <a:t>struct</a:t>
            </a:r>
            <a:r>
              <a:rPr lang="en-US" altLang="en-US" sz="2200" dirty="0">
                <a:latin typeface="Times New Roman" panose="02020603050405020304" pitchFamily="18" charset="0"/>
                <a:ea typeface="楷体_GB2312" pitchFamily="49" charset="-122"/>
                <a:cs typeface="Times New Roman" panose="02020603050405020304" pitchFamily="18" charset="0"/>
              </a:rPr>
              <a:t> </a:t>
            </a:r>
            <a:r>
              <a:rPr lang="en-US" altLang="en-US" sz="2200" dirty="0" err="1">
                <a:latin typeface="Times New Roman" panose="02020603050405020304" pitchFamily="18" charset="0"/>
                <a:ea typeface="楷体_GB2312" pitchFamily="49" charset="-122"/>
                <a:cs typeface="Times New Roman" panose="02020603050405020304" pitchFamily="18" charset="0"/>
              </a:rPr>
              <a:t>pt_regs</a:t>
            </a:r>
            <a:r>
              <a:rPr lang="en-US" altLang="en-US" sz="2200" dirty="0">
                <a:latin typeface="Times New Roman" panose="02020603050405020304" pitchFamily="18" charset="0"/>
                <a:ea typeface="楷体_GB2312" pitchFamily="49" charset="-122"/>
                <a:cs typeface="Times New Roman" panose="02020603050405020304" pitchFamily="18" charset="0"/>
              </a:rPr>
              <a:t> *</a:t>
            </a:r>
            <a:r>
              <a:rPr lang="en-US" altLang="en-US" sz="2200" dirty="0" err="1">
                <a:latin typeface="Times New Roman" panose="02020603050405020304" pitchFamily="18" charset="0"/>
                <a:ea typeface="楷体_GB2312" pitchFamily="49" charset="-122"/>
                <a:cs typeface="Times New Roman" panose="02020603050405020304" pitchFamily="18" charset="0"/>
              </a:rPr>
              <a:t>regs</a:t>
            </a:r>
            <a:r>
              <a:rPr lang="en-US" altLang="en-US" sz="2200" dirty="0">
                <a:latin typeface="Times New Roman" panose="02020603050405020304" pitchFamily="18" charset="0"/>
                <a:ea typeface="楷体_GB2312" pitchFamily="49" charset="-122"/>
                <a:cs typeface="Times New Roman" panose="02020603050405020304" pitchFamily="18" charset="0"/>
              </a:rPr>
              <a:t>, unsigned long </a:t>
            </a:r>
            <a:r>
              <a:rPr lang="en-US" altLang="en-US" sz="2200" dirty="0" err="1">
                <a:latin typeface="Times New Roman" panose="02020603050405020304" pitchFamily="18" charset="0"/>
                <a:ea typeface="楷体_GB2312" pitchFamily="49" charset="-122"/>
                <a:cs typeface="Times New Roman" panose="02020603050405020304" pitchFamily="18" charset="0"/>
              </a:rPr>
              <a:t>stack_size</a:t>
            </a:r>
            <a:r>
              <a:rPr lang="en-US" altLang="en-US" sz="2200" dirty="0">
                <a:latin typeface="Times New Roman" panose="02020603050405020304" pitchFamily="18" charset="0"/>
                <a:ea typeface="楷体_GB2312" pitchFamily="49" charset="-122"/>
                <a:cs typeface="Times New Roman" panose="02020603050405020304" pitchFamily="18" charset="0"/>
              </a:rPr>
              <a:t>,</a:t>
            </a:r>
            <a:r>
              <a:rPr lang="en-US" altLang="zh-CN" sz="2200" dirty="0">
                <a:latin typeface="Times New Roman" panose="02020603050405020304" pitchFamily="18" charset="0"/>
                <a:ea typeface="楷体_GB2312" pitchFamily="49" charset="-122"/>
                <a:cs typeface="Times New Roman" panose="02020603050405020304" pitchFamily="18" charset="0"/>
              </a:rPr>
              <a:t> </a:t>
            </a:r>
            <a:r>
              <a:rPr lang="en-US" altLang="en-US" sz="2200" dirty="0" err="1">
                <a:latin typeface="Times New Roman" panose="02020603050405020304" pitchFamily="18" charset="0"/>
                <a:ea typeface="楷体_GB2312" pitchFamily="49" charset="-122"/>
                <a:cs typeface="Times New Roman" panose="02020603050405020304" pitchFamily="18" charset="0"/>
              </a:rPr>
              <a:t>int</a:t>
            </a:r>
            <a:r>
              <a:rPr lang="en-US" altLang="en-US" sz="2200" dirty="0">
                <a:latin typeface="Times New Roman" panose="02020603050405020304" pitchFamily="18" charset="0"/>
                <a:ea typeface="楷体_GB2312" pitchFamily="49" charset="-122"/>
                <a:cs typeface="Times New Roman" panose="02020603050405020304" pitchFamily="18" charset="0"/>
              </a:rPr>
              <a:t> _user *</a:t>
            </a:r>
            <a:r>
              <a:rPr lang="en-US" altLang="en-US" sz="2200" dirty="0" err="1">
                <a:latin typeface="Times New Roman" panose="02020603050405020304" pitchFamily="18" charset="0"/>
                <a:ea typeface="楷体_GB2312" pitchFamily="49" charset="-122"/>
                <a:cs typeface="Times New Roman" panose="02020603050405020304" pitchFamily="18" charset="0"/>
              </a:rPr>
              <a:t>parent_tidptr</a:t>
            </a:r>
            <a:r>
              <a:rPr lang="en-US" altLang="en-US" sz="2200" dirty="0">
                <a:latin typeface="Times New Roman" panose="02020603050405020304" pitchFamily="18" charset="0"/>
                <a:ea typeface="楷体_GB2312" pitchFamily="49" charset="-122"/>
                <a:cs typeface="Times New Roman" panose="02020603050405020304" pitchFamily="18" charset="0"/>
              </a:rPr>
              <a:t>, </a:t>
            </a:r>
            <a:r>
              <a:rPr lang="en-US" altLang="en-US" sz="2200" dirty="0" err="1">
                <a:latin typeface="Times New Roman" panose="02020603050405020304" pitchFamily="18" charset="0"/>
                <a:ea typeface="楷体_GB2312" pitchFamily="49" charset="-122"/>
                <a:cs typeface="Times New Roman" panose="02020603050405020304" pitchFamily="18" charset="0"/>
              </a:rPr>
              <a:t>int</a:t>
            </a:r>
            <a:r>
              <a:rPr lang="en-US" altLang="en-US" sz="2200" dirty="0">
                <a:latin typeface="Times New Roman" panose="02020603050405020304" pitchFamily="18" charset="0"/>
                <a:ea typeface="楷体_GB2312" pitchFamily="49" charset="-122"/>
                <a:cs typeface="Times New Roman" panose="02020603050405020304" pitchFamily="18" charset="0"/>
              </a:rPr>
              <a:t> _user *</a:t>
            </a:r>
            <a:r>
              <a:rPr lang="en-US" altLang="en-US" sz="2200" dirty="0" err="1">
                <a:latin typeface="Times New Roman" panose="02020603050405020304" pitchFamily="18" charset="0"/>
                <a:ea typeface="楷体_GB2312" pitchFamily="49" charset="-122"/>
                <a:cs typeface="Times New Roman" panose="02020603050405020304" pitchFamily="18" charset="0"/>
              </a:rPr>
              <a:t>child_tidptr</a:t>
            </a:r>
            <a:r>
              <a:rPr lang="en-US" altLang="en-US" sz="2200" dirty="0">
                <a:latin typeface="Times New Roman" panose="02020603050405020304" pitchFamily="18" charset="0"/>
                <a:ea typeface="楷体_GB2312" pitchFamily="49" charset="-122"/>
                <a:cs typeface="Times New Roman" panose="02020603050405020304" pitchFamily="18" charset="0"/>
              </a:rPr>
              <a:t>)</a:t>
            </a:r>
            <a:r>
              <a:rPr lang="zh-CN" altLang="en-US" sz="2200" dirty="0">
                <a:latin typeface="Times New Roman" panose="02020603050405020304" pitchFamily="18" charset="0"/>
                <a:ea typeface="楷体_GB2312" pitchFamily="49" charset="-122"/>
                <a:cs typeface="Times New Roman" panose="02020603050405020304" pitchFamily="18" charset="0"/>
              </a:rPr>
              <a:t>；</a:t>
            </a:r>
            <a:endParaRPr lang="zh-CN" altLang="en-US" sz="22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sz="2200" dirty="0">
                <a:latin typeface="Times New Roman" panose="02020603050405020304" pitchFamily="18" charset="0"/>
                <a:ea typeface="楷体_GB2312" pitchFamily="49" charset="-122"/>
                <a:cs typeface="Times New Roman" panose="02020603050405020304" pitchFamily="18" charset="0"/>
              </a:rPr>
              <a:t>参数说明</a:t>
            </a:r>
            <a:endParaRPr lang="en-US" altLang="zh-CN" sz="2200"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sz="2200" dirty="0" err="1">
                <a:latin typeface="Times New Roman" panose="02020603050405020304" pitchFamily="18" charset="0"/>
                <a:ea typeface="楷体_GB2312" pitchFamily="49" charset="-122"/>
                <a:cs typeface="Times New Roman" panose="02020603050405020304" pitchFamily="18" charset="0"/>
              </a:rPr>
              <a:t>clone_flag</a:t>
            </a:r>
            <a:r>
              <a:rPr lang="zh-CN" altLang="en-US" sz="2200" dirty="0">
                <a:latin typeface="Times New Roman" panose="02020603050405020304" pitchFamily="18" charset="0"/>
                <a:ea typeface="楷体_GB2312" pitchFamily="49" charset="-122"/>
                <a:cs typeface="Times New Roman" panose="02020603050405020304" pitchFamily="18" charset="0"/>
              </a:rPr>
              <a:t>：子进程创建相关标志</a:t>
            </a:r>
            <a:endParaRPr lang="en-US" altLang="zh-CN" sz="2200"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sz="2200" dirty="0" err="1">
                <a:latin typeface="Times New Roman" panose="02020603050405020304" pitchFamily="18" charset="0"/>
                <a:ea typeface="楷体_GB2312" pitchFamily="49" charset="-122"/>
                <a:cs typeface="Times New Roman" panose="02020603050405020304" pitchFamily="18" charset="0"/>
              </a:rPr>
              <a:t>stack_start</a:t>
            </a:r>
            <a:r>
              <a:rPr lang="zh-CN" altLang="en-US" sz="2200" dirty="0">
                <a:latin typeface="Times New Roman" panose="02020603050405020304" pitchFamily="18" charset="0"/>
                <a:ea typeface="楷体_GB2312" pitchFamily="49" charset="-122"/>
                <a:cs typeface="Times New Roman" panose="02020603050405020304" pitchFamily="18" charset="0"/>
              </a:rPr>
              <a:t>：将用户态堆栈指针赋给子进程的</a:t>
            </a:r>
            <a:r>
              <a:rPr lang="en-US" altLang="zh-CN" sz="2200" dirty="0" err="1">
                <a:latin typeface="Times New Roman" panose="02020603050405020304" pitchFamily="18" charset="0"/>
                <a:ea typeface="楷体_GB2312" pitchFamily="49" charset="-122"/>
                <a:cs typeface="Times New Roman" panose="02020603050405020304" pitchFamily="18" charset="0"/>
              </a:rPr>
              <a:t>esp</a:t>
            </a:r>
            <a:endParaRPr lang="en-US" altLang="zh-CN" sz="2200"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sz="2200" dirty="0" err="1">
                <a:latin typeface="Times New Roman" panose="02020603050405020304" pitchFamily="18" charset="0"/>
                <a:ea typeface="楷体_GB2312" pitchFamily="49" charset="-122"/>
                <a:cs typeface="Times New Roman" panose="02020603050405020304" pitchFamily="18" charset="0"/>
              </a:rPr>
              <a:t>regs</a:t>
            </a:r>
            <a:r>
              <a:rPr lang="zh-CN" altLang="en-US" sz="2200" dirty="0">
                <a:latin typeface="Times New Roman" panose="02020603050405020304" pitchFamily="18" charset="0"/>
                <a:ea typeface="楷体_GB2312" pitchFamily="49" charset="-122"/>
                <a:cs typeface="Times New Roman" panose="02020603050405020304" pitchFamily="18" charset="0"/>
              </a:rPr>
              <a:t>：指向通用寄存器值的指针</a:t>
            </a:r>
            <a:endParaRPr lang="en-US" altLang="zh-CN" sz="2200"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sz="2200" dirty="0" err="1">
                <a:latin typeface="Times New Roman" panose="02020603050405020304" pitchFamily="18" charset="0"/>
                <a:ea typeface="楷体_GB2312" pitchFamily="49" charset="-122"/>
                <a:cs typeface="Times New Roman" panose="02020603050405020304" pitchFamily="18" charset="0"/>
              </a:rPr>
              <a:t>stack_size</a:t>
            </a:r>
            <a:r>
              <a:rPr lang="zh-CN" altLang="en-US" sz="2200" dirty="0">
                <a:latin typeface="Times New Roman" panose="02020603050405020304" pitchFamily="18" charset="0"/>
                <a:ea typeface="楷体_GB2312" pitchFamily="49" charset="-122"/>
                <a:cs typeface="Times New Roman" panose="02020603050405020304" pitchFamily="18" charset="0"/>
              </a:rPr>
              <a:t>：未使用（总设为</a:t>
            </a:r>
            <a:r>
              <a:rPr lang="en-US" altLang="zh-CN" sz="2200" dirty="0">
                <a:latin typeface="Times New Roman" panose="02020603050405020304" pitchFamily="18" charset="0"/>
                <a:ea typeface="楷体_GB2312" pitchFamily="49" charset="-122"/>
                <a:cs typeface="Times New Roman" panose="02020603050405020304" pitchFamily="18" charset="0"/>
              </a:rPr>
              <a:t>0</a:t>
            </a:r>
            <a:r>
              <a:rPr lang="zh-CN" altLang="en-US" sz="2200" dirty="0">
                <a:latin typeface="Times New Roman" panose="02020603050405020304" pitchFamily="18" charset="0"/>
                <a:ea typeface="楷体_GB2312" pitchFamily="49" charset="-122"/>
                <a:cs typeface="Times New Roman" panose="02020603050405020304" pitchFamily="18" charset="0"/>
              </a:rPr>
              <a:t>）</a:t>
            </a:r>
            <a:endParaRPr lang="en-US" altLang="zh-CN" sz="2200"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sz="2200" dirty="0" err="1">
                <a:latin typeface="Times New Roman" panose="02020603050405020304" pitchFamily="18" charset="0"/>
                <a:ea typeface="楷体_GB2312" pitchFamily="49" charset="-122"/>
                <a:cs typeface="Times New Roman" panose="02020603050405020304" pitchFamily="18" charset="0"/>
              </a:rPr>
              <a:t>parent_tidptr</a:t>
            </a:r>
            <a:r>
              <a:rPr lang="zh-CN" altLang="en-US" sz="2200" dirty="0">
                <a:latin typeface="Times New Roman" panose="02020603050405020304" pitchFamily="18" charset="0"/>
                <a:ea typeface="楷体_GB2312" pitchFamily="49" charset="-122"/>
                <a:cs typeface="Times New Roman" panose="02020603050405020304" pitchFamily="18" charset="0"/>
              </a:rPr>
              <a:t>：父进程的用户态变量地址，若需父进程与新轻量级进程有相同</a:t>
            </a:r>
            <a:r>
              <a:rPr lang="en-US" altLang="zh-CN" sz="2200" dirty="0">
                <a:latin typeface="Times New Roman" panose="02020603050405020304" pitchFamily="18" charset="0"/>
                <a:ea typeface="楷体_GB2312" pitchFamily="49" charset="-122"/>
                <a:cs typeface="Times New Roman" panose="02020603050405020304" pitchFamily="18" charset="0"/>
              </a:rPr>
              <a:t>PID</a:t>
            </a:r>
            <a:r>
              <a:rPr lang="zh-CN" altLang="en-US" sz="2200" dirty="0">
                <a:latin typeface="Times New Roman" panose="02020603050405020304" pitchFamily="18" charset="0"/>
                <a:ea typeface="楷体_GB2312" pitchFamily="49" charset="-122"/>
                <a:cs typeface="Times New Roman" panose="02020603050405020304" pitchFamily="18" charset="0"/>
              </a:rPr>
              <a:t>，则需设置</a:t>
            </a:r>
            <a:r>
              <a:rPr lang="en-US" altLang="zh-CN" sz="2200" dirty="0">
                <a:latin typeface="Times New Roman" panose="02020603050405020304" pitchFamily="18" charset="0"/>
                <a:ea typeface="楷体_GB2312" pitchFamily="49" charset="-122"/>
                <a:cs typeface="Times New Roman" panose="02020603050405020304" pitchFamily="18" charset="0"/>
              </a:rPr>
              <a:t>CLONE_PARENT_SETTID</a:t>
            </a:r>
            <a:endParaRPr lang="en-US" altLang="zh-CN" sz="2200"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sz="2200" dirty="0" err="1">
                <a:latin typeface="Times New Roman" panose="02020603050405020304" pitchFamily="18" charset="0"/>
                <a:ea typeface="楷体_GB2312" pitchFamily="49" charset="-122"/>
                <a:cs typeface="Times New Roman" panose="02020603050405020304" pitchFamily="18" charset="0"/>
              </a:rPr>
              <a:t>child_tidptr</a:t>
            </a:r>
            <a:r>
              <a:rPr lang="zh-CN" altLang="en-US" sz="2200" dirty="0">
                <a:latin typeface="Times New Roman" panose="02020603050405020304" pitchFamily="18" charset="0"/>
                <a:ea typeface="楷体_GB2312" pitchFamily="49" charset="-122"/>
                <a:cs typeface="Times New Roman" panose="02020603050405020304" pitchFamily="18" charset="0"/>
              </a:rPr>
              <a:t>：新轻量级进程的用户态变量地址，若需让新进程具有同类进程的</a:t>
            </a:r>
            <a:r>
              <a:rPr lang="en-US" altLang="zh-CN" sz="2200" dirty="0">
                <a:latin typeface="Times New Roman" panose="02020603050405020304" pitchFamily="18" charset="0"/>
                <a:ea typeface="楷体_GB2312" pitchFamily="49" charset="-122"/>
                <a:cs typeface="Times New Roman" panose="02020603050405020304" pitchFamily="18" charset="0"/>
              </a:rPr>
              <a:t>PID</a:t>
            </a:r>
            <a:r>
              <a:rPr lang="zh-CN" altLang="en-US" sz="2200" dirty="0">
                <a:latin typeface="Times New Roman" panose="02020603050405020304" pitchFamily="18" charset="0"/>
                <a:ea typeface="楷体_GB2312" pitchFamily="49" charset="-122"/>
                <a:cs typeface="Times New Roman" panose="02020603050405020304" pitchFamily="18" charset="0"/>
              </a:rPr>
              <a:t> ，需设置</a:t>
            </a:r>
            <a:r>
              <a:rPr lang="en-US" altLang="zh-CN" sz="2200" dirty="0">
                <a:latin typeface="Times New Roman" panose="02020603050405020304" pitchFamily="18" charset="0"/>
                <a:ea typeface="楷体_GB2312" pitchFamily="49" charset="-122"/>
                <a:cs typeface="Times New Roman" panose="02020603050405020304" pitchFamily="18" charset="0"/>
              </a:rPr>
              <a:t>CLONE_CHILD_SETTID</a:t>
            </a:r>
            <a:endParaRPr lang="zh-CN" altLang="en-US" sz="2200" dirty="0">
              <a:latin typeface="Times New Roman" panose="02020603050405020304" pitchFamily="18" charset="0"/>
              <a:ea typeface="楷体_GB2312" pitchFamily="49" charset="-122"/>
              <a:cs typeface="Times New Roman" panose="02020603050405020304" pitchFamily="18" charset="0"/>
            </a:endParaRPr>
          </a:p>
        </p:txBody>
      </p:sp>
      <p:sp>
        <p:nvSpPr>
          <p:cNvPr id="6" name="Rectangle 6"/>
          <p:cNvSpPr>
            <a:spLocks noGrp="1" noChangeArrowheads="1"/>
          </p:cNvSpPr>
          <p:nvPr>
            <p:ph type="title"/>
          </p:nvPr>
        </p:nvSpPr>
        <p:spPr>
          <a:xfrm>
            <a:off x="611188" y="0"/>
            <a:ext cx="7632700" cy="609600"/>
          </a:xfrm>
          <a:noFill/>
        </p:spPr>
        <p:txBody>
          <a:bodyPr/>
          <a:lstStyle/>
          <a:p>
            <a:pPr eaLnBrk="1" hangingPunct="1"/>
            <a:br>
              <a:rPr lang="zh-CN" altLang="en-US" dirty="0">
                <a:latin typeface="Times New Roman" panose="02020603050405020304" pitchFamily="18" charset="0"/>
                <a:ea typeface="楷体_GB2312" pitchFamily="49" charset="-122"/>
                <a:cs typeface="Times New Roman" panose="02020603050405020304" pitchFamily="18" charset="0"/>
              </a:rPr>
            </a:br>
            <a:r>
              <a:rPr lang="en-US" altLang="zh-CN" dirty="0">
                <a:latin typeface="Times New Roman" panose="02020603050405020304" pitchFamily="18" charset="0"/>
                <a:ea typeface="楷体_GB2312" pitchFamily="49" charset="-122"/>
                <a:cs typeface="Times New Roman" panose="02020603050405020304" pitchFamily="18" charset="0"/>
              </a:rPr>
              <a:t>2.7 Linux</a:t>
            </a:r>
            <a:r>
              <a:rPr lang="zh-CN" altLang="en-US" dirty="0">
                <a:latin typeface="Times New Roman" panose="02020603050405020304" pitchFamily="18" charset="0"/>
                <a:ea typeface="楷体_GB2312" pitchFamily="49" charset="-122"/>
                <a:cs typeface="Times New Roman" panose="02020603050405020304" pitchFamily="18" charset="0"/>
              </a:rPr>
              <a:t>中的进程控制</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ransition>
    <p:wedg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a:xfrm>
            <a:off x="827088" y="6438060"/>
            <a:ext cx="7632700" cy="276944"/>
          </a:xfrm>
        </p:spPr>
        <p:txBody>
          <a:bodyPr/>
          <a:lstStyle/>
          <a:p>
            <a:pPr eaLnBrk="1" hangingPunct="1"/>
            <a:r>
              <a:rPr lang="zh-CN" altLang="en-US" sz="1600" dirty="0">
                <a:latin typeface="Times New Roman" panose="02020603050405020304" pitchFamily="18" charset="0"/>
                <a:ea typeface="楷体_GB2312" pitchFamily="49" charset="-122"/>
                <a:cs typeface="Times New Roman" panose="02020603050405020304" pitchFamily="18" charset="0"/>
              </a:rPr>
              <a:t>子进程创建</a:t>
            </a:r>
            <a:r>
              <a:rPr lang="en-US" altLang="zh-CN" sz="1600" dirty="0">
                <a:latin typeface="Times New Roman" panose="02020603050405020304" pitchFamily="18" charset="0"/>
                <a:ea typeface="楷体_GB2312" pitchFamily="49" charset="-122"/>
                <a:cs typeface="Times New Roman" panose="02020603050405020304" pitchFamily="18" charset="0"/>
              </a:rPr>
              <a:t>CLONE</a:t>
            </a:r>
            <a:r>
              <a:rPr lang="zh-CN" altLang="en-US" sz="1600" dirty="0">
                <a:latin typeface="Times New Roman" panose="02020603050405020304" pitchFamily="18" charset="0"/>
                <a:ea typeface="楷体_GB2312" pitchFamily="49" charset="-122"/>
                <a:cs typeface="Times New Roman" panose="02020603050405020304" pitchFamily="18" charset="0"/>
              </a:rPr>
              <a:t>参数标志说明</a:t>
            </a:r>
            <a:endParaRPr lang="zh-CN" altLang="en-US" sz="1600" dirty="0">
              <a:latin typeface="Times New Roman" panose="02020603050405020304" pitchFamily="18" charset="0"/>
              <a:ea typeface="楷体_GB2312" pitchFamily="49" charset="-122"/>
              <a:cs typeface="Times New Roman" panose="02020603050405020304" pitchFamily="18" charset="0"/>
            </a:endParaRPr>
          </a:p>
        </p:txBody>
      </p:sp>
      <p:sp>
        <p:nvSpPr>
          <p:cNvPr id="43012" name="Rectangle 3"/>
          <p:cNvSpPr>
            <a:spLocks noGrp="1" noChangeArrowheads="1"/>
          </p:cNvSpPr>
          <p:nvPr>
            <p:ph type="body" idx="1"/>
          </p:nvPr>
        </p:nvSpPr>
        <p:spPr/>
        <p:txBody>
          <a:bodyPr/>
          <a:lstStyle/>
          <a:p>
            <a:pPr eaLnBrk="1" hangingPunct="1"/>
            <a:endParaRPr lang="zh-CN" altLang="zh-CN"/>
          </a:p>
        </p:txBody>
      </p:sp>
      <p:pic>
        <p:nvPicPr>
          <p:cNvPr id="43013"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11188" y="981075"/>
            <a:ext cx="7848600" cy="542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6"/>
          <p:cNvSpPr txBox="1">
            <a:spLocks noChangeArrowheads="1"/>
          </p:cNvSpPr>
          <p:nvPr/>
        </p:nvSpPr>
        <p:spPr bwMode="black">
          <a:xfrm>
            <a:off x="611188" y="0"/>
            <a:ext cx="76327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2pPr>
            <a:lvl3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3pPr>
            <a:lvl4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4pPr>
            <a:lvl5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5pPr>
            <a:lvl6pPr marL="4572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6pPr>
            <a:lvl7pPr marL="9144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7pPr>
            <a:lvl8pPr marL="13716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8pPr>
            <a:lvl9pPr marL="18288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9pPr>
          </a:lstStyle>
          <a:p>
            <a:pPr eaLnBrk="1" hangingPunct="1"/>
            <a:br>
              <a:rPr lang="zh-CN" altLang="en-US" kern="0">
                <a:latin typeface="Times New Roman" panose="02020603050405020304" pitchFamily="18" charset="0"/>
                <a:ea typeface="楷体_GB2312" pitchFamily="49" charset="-122"/>
                <a:cs typeface="Times New Roman" panose="02020603050405020304" pitchFamily="18" charset="0"/>
              </a:rPr>
            </a:br>
            <a:r>
              <a:rPr lang="en-US" altLang="zh-CN" kern="0">
                <a:latin typeface="Times New Roman" panose="02020603050405020304" pitchFamily="18" charset="0"/>
                <a:ea typeface="楷体_GB2312" pitchFamily="49" charset="-122"/>
                <a:cs typeface="Times New Roman" panose="02020603050405020304" pitchFamily="18" charset="0"/>
              </a:rPr>
              <a:t>2.7 Linux</a:t>
            </a:r>
            <a:r>
              <a:rPr lang="zh-CN" altLang="en-US" kern="0">
                <a:latin typeface="Times New Roman" panose="02020603050405020304" pitchFamily="18" charset="0"/>
                <a:ea typeface="楷体_GB2312" pitchFamily="49" charset="-122"/>
                <a:cs typeface="Times New Roman" panose="02020603050405020304" pitchFamily="18" charset="0"/>
              </a:rPr>
              <a:t>中的进程控制</a:t>
            </a:r>
            <a:endParaRPr lang="zh-CN" altLang="en-US" kern="0"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ransition>
    <p:wedg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Rectangle 3"/>
          <p:cNvSpPr>
            <a:spLocks noGrp="1" noChangeArrowheads="1"/>
          </p:cNvSpPr>
          <p:nvPr>
            <p:ph type="body" idx="1"/>
          </p:nvPr>
        </p:nvSpPr>
        <p:spPr/>
        <p:txBody>
          <a:bodyPr/>
          <a:lstStyle/>
          <a:p>
            <a:pPr eaLnBrk="1" hangingPunct="1">
              <a:lnSpc>
                <a:spcPct val="90000"/>
              </a:lnSpc>
            </a:pPr>
            <a:endParaRPr lang="en-US" altLang="zh-CN" dirty="0">
              <a:latin typeface="Times New Roman" panose="02020603050405020304" pitchFamily="18" charset="0"/>
              <a:ea typeface="楷体_GB2312" pitchFamily="49" charset="-122"/>
              <a:cs typeface="Times New Roman" panose="02020603050405020304" pitchFamily="18" charset="0"/>
            </a:endParaRPr>
          </a:p>
          <a:p>
            <a:pPr eaLnBrk="1" hangingPunct="1">
              <a:lnSpc>
                <a:spcPct val="90000"/>
              </a:lnSpc>
            </a:pPr>
            <a:endParaRPr lang="en-US" altLang="zh-CN" dirty="0">
              <a:latin typeface="Times New Roman" panose="02020603050405020304" pitchFamily="18" charset="0"/>
              <a:ea typeface="楷体_GB2312" pitchFamily="49" charset="-122"/>
              <a:cs typeface="Times New Roman" panose="02020603050405020304" pitchFamily="18" charset="0"/>
            </a:endParaRPr>
          </a:p>
          <a:p>
            <a:pPr eaLnBrk="1" hangingPunct="1">
              <a:lnSpc>
                <a:spcPct val="90000"/>
              </a:lnSpc>
            </a:pPr>
            <a:endParaRPr lang="en-US" altLang="zh-CN" dirty="0">
              <a:latin typeface="Times New Roman" panose="02020603050405020304" pitchFamily="18" charset="0"/>
              <a:ea typeface="楷体_GB2312" pitchFamily="49" charset="-122"/>
              <a:cs typeface="Times New Roman" panose="02020603050405020304" pitchFamily="18" charset="0"/>
            </a:endParaRPr>
          </a:p>
          <a:p>
            <a:pPr eaLnBrk="1" hangingPunct="1">
              <a:lnSpc>
                <a:spcPct val="90000"/>
              </a:lnSpc>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说明</a:t>
            </a:r>
            <a:endParaRPr lang="en-US" altLang="zh-CN" dirty="0">
              <a:latin typeface="Times New Roman" panose="02020603050405020304" pitchFamily="18" charset="0"/>
              <a:ea typeface="楷体_GB2312" pitchFamily="49" charset="-122"/>
              <a:cs typeface="Times New Roman" panose="02020603050405020304" pitchFamily="18" charset="0"/>
            </a:endParaRPr>
          </a:p>
          <a:p>
            <a:pPr lvl="1" eaLnBrk="1" hangingPunct="1">
              <a:lnSpc>
                <a:spcPct val="90000"/>
              </a:lnSpc>
            </a:pPr>
            <a:r>
              <a:rPr lang="zh-CN" altLang="en-US" dirty="0">
                <a:latin typeface="Times New Roman" panose="02020603050405020304" pitchFamily="18" charset="0"/>
                <a:ea typeface="楷体_GB2312" pitchFamily="49" charset="-122"/>
                <a:cs typeface="Times New Roman" panose="02020603050405020304" pitchFamily="18" charset="0"/>
              </a:rPr>
              <a:t>子进程完全复制父进程的资源</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lnSpc>
                <a:spcPct val="90000"/>
              </a:lnSpc>
            </a:pPr>
            <a:r>
              <a:rPr lang="zh-CN" altLang="en-US" dirty="0">
                <a:latin typeface="Times New Roman" panose="02020603050405020304" pitchFamily="18" charset="0"/>
                <a:ea typeface="楷体_GB2312" pitchFamily="49" charset="-122"/>
                <a:cs typeface="Times New Roman" panose="02020603050405020304" pitchFamily="18" charset="0"/>
              </a:rPr>
              <a:t>子进程的执行独立于父进程</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lnSpc>
                <a:spcPct val="90000"/>
              </a:lnSpc>
            </a:pPr>
            <a:r>
              <a:rPr lang="zh-CN" altLang="en-US" dirty="0">
                <a:latin typeface="Times New Roman" panose="02020603050405020304" pitchFamily="18" charset="0"/>
                <a:ea typeface="楷体_GB2312" pitchFamily="49" charset="-122"/>
                <a:cs typeface="Times New Roman" panose="02020603050405020304" pitchFamily="18" charset="0"/>
              </a:rPr>
              <a:t>进程间数据共享需通过专门的通信机制来实现</a:t>
            </a: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lnSpc>
                <a:spcPct val="90000"/>
              </a:lnSpc>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返回值</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lnSpc>
                <a:spcPct val="90000"/>
              </a:lnSpc>
            </a:pPr>
            <a:r>
              <a:rPr lang="zh-CN" altLang="en-US" dirty="0">
                <a:latin typeface="Times New Roman" panose="02020603050405020304" pitchFamily="18" charset="0"/>
                <a:ea typeface="楷体_GB2312" pitchFamily="49" charset="-122"/>
                <a:cs typeface="Times New Roman" panose="02020603050405020304" pitchFamily="18" charset="0"/>
              </a:rPr>
              <a:t>父进程执行</a:t>
            </a:r>
            <a:r>
              <a:rPr lang="en-US" altLang="zh-CN" dirty="0">
                <a:latin typeface="Times New Roman" panose="02020603050405020304" pitchFamily="18" charset="0"/>
                <a:ea typeface="楷体_GB2312" pitchFamily="49" charset="-122"/>
                <a:cs typeface="Times New Roman" panose="02020603050405020304" pitchFamily="18" charset="0"/>
              </a:rPr>
              <a:t>fork()</a:t>
            </a:r>
            <a:r>
              <a:rPr lang="zh-CN" altLang="en-US" dirty="0">
                <a:latin typeface="Times New Roman" panose="02020603050405020304" pitchFamily="18" charset="0"/>
                <a:ea typeface="楷体_GB2312" pitchFamily="49" charset="-122"/>
                <a:cs typeface="Times New Roman" panose="02020603050405020304" pitchFamily="18" charset="0"/>
              </a:rPr>
              <a:t>返回子进程的</a:t>
            </a:r>
            <a:r>
              <a:rPr lang="en-US" altLang="zh-CN" dirty="0">
                <a:latin typeface="Times New Roman" panose="02020603050405020304" pitchFamily="18" charset="0"/>
                <a:ea typeface="楷体_GB2312" pitchFamily="49" charset="-122"/>
                <a:cs typeface="Times New Roman" panose="02020603050405020304" pitchFamily="18" charset="0"/>
              </a:rPr>
              <a:t>PID</a:t>
            </a:r>
            <a:r>
              <a:rPr lang="zh-CN" altLang="en-US" dirty="0">
                <a:latin typeface="Times New Roman" panose="02020603050405020304" pitchFamily="18" charset="0"/>
                <a:ea typeface="楷体_GB2312" pitchFamily="49" charset="-122"/>
                <a:cs typeface="Times New Roman" panose="02020603050405020304" pitchFamily="18" charset="0"/>
              </a:rPr>
              <a:t>值</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lnSpc>
                <a:spcPct val="90000"/>
              </a:lnSpc>
            </a:pPr>
            <a:r>
              <a:rPr lang="zh-CN" altLang="en-US" dirty="0">
                <a:latin typeface="Times New Roman" panose="02020603050405020304" pitchFamily="18" charset="0"/>
                <a:ea typeface="楷体_GB2312" pitchFamily="49" charset="-122"/>
                <a:cs typeface="Times New Roman" panose="02020603050405020304" pitchFamily="18" charset="0"/>
              </a:rPr>
              <a:t>子进程执行</a:t>
            </a:r>
            <a:r>
              <a:rPr lang="en-US" altLang="zh-CN" dirty="0">
                <a:latin typeface="Times New Roman" panose="02020603050405020304" pitchFamily="18" charset="0"/>
                <a:ea typeface="楷体_GB2312" pitchFamily="49" charset="-122"/>
                <a:cs typeface="Times New Roman" panose="02020603050405020304" pitchFamily="18" charset="0"/>
              </a:rPr>
              <a:t>fork()</a:t>
            </a:r>
            <a:r>
              <a:rPr lang="zh-CN" altLang="en-US" dirty="0">
                <a:latin typeface="Times New Roman" panose="02020603050405020304" pitchFamily="18" charset="0"/>
                <a:ea typeface="楷体_GB2312" pitchFamily="49" charset="-122"/>
                <a:cs typeface="Times New Roman" panose="02020603050405020304" pitchFamily="18" charset="0"/>
              </a:rPr>
              <a:t>返回</a:t>
            </a:r>
            <a:r>
              <a:rPr lang="en-US" altLang="zh-CN" dirty="0">
                <a:latin typeface="Times New Roman" panose="02020603050405020304" pitchFamily="18" charset="0"/>
                <a:ea typeface="楷体_GB2312" pitchFamily="49" charset="-122"/>
                <a:cs typeface="Times New Roman" panose="02020603050405020304" pitchFamily="18" charset="0"/>
              </a:rPr>
              <a:t>0</a:t>
            </a:r>
            <a:endParaRPr lang="en-US" altLang="zh-CN" dirty="0">
              <a:latin typeface="Times New Roman" panose="02020603050405020304" pitchFamily="18" charset="0"/>
              <a:ea typeface="楷体_GB2312" pitchFamily="49" charset="-122"/>
              <a:cs typeface="Times New Roman" panose="02020603050405020304" pitchFamily="18" charset="0"/>
            </a:endParaRPr>
          </a:p>
          <a:p>
            <a:pPr lvl="1" eaLnBrk="1" hangingPunct="1">
              <a:lnSpc>
                <a:spcPct val="90000"/>
              </a:lnSpc>
            </a:pPr>
            <a:r>
              <a:rPr lang="zh-CN" altLang="en-US" dirty="0">
                <a:latin typeface="Times New Roman" panose="02020603050405020304" pitchFamily="18" charset="0"/>
                <a:ea typeface="楷体_GB2312" pitchFamily="49" charset="-122"/>
                <a:cs typeface="Times New Roman" panose="02020603050405020304" pitchFamily="18" charset="0"/>
              </a:rPr>
              <a:t>调用失败返回</a:t>
            </a:r>
            <a:r>
              <a:rPr lang="en-US" altLang="zh-CN" dirty="0">
                <a:latin typeface="Times New Roman" panose="02020603050405020304" pitchFamily="18" charset="0"/>
                <a:ea typeface="楷体_GB2312" pitchFamily="49" charset="-122"/>
                <a:cs typeface="Times New Roman" panose="02020603050405020304" pitchFamily="18" charset="0"/>
              </a:rPr>
              <a:t>-1</a:t>
            </a:r>
            <a:endParaRPr lang="en-US" altLang="zh-CN" dirty="0">
              <a:latin typeface="Times New Roman" panose="02020603050405020304" pitchFamily="18" charset="0"/>
              <a:ea typeface="楷体_GB2312" pitchFamily="49" charset="-122"/>
              <a:cs typeface="Times New Roman" panose="02020603050405020304" pitchFamily="18" charset="0"/>
            </a:endParaRPr>
          </a:p>
        </p:txBody>
      </p:sp>
      <p:pic>
        <p:nvPicPr>
          <p:cNvPr id="44037"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14438" y="1428750"/>
            <a:ext cx="6024562" cy="1112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Oval 5"/>
          <p:cNvSpPr>
            <a:spLocks noChangeArrowheads="1"/>
          </p:cNvSpPr>
          <p:nvPr/>
        </p:nvSpPr>
        <p:spPr bwMode="auto">
          <a:xfrm>
            <a:off x="3643313" y="1857375"/>
            <a:ext cx="1214437" cy="433388"/>
          </a:xfrm>
          <a:prstGeom prst="ellipse">
            <a:avLst/>
          </a:prstGeom>
          <a:noFill/>
          <a:ln w="9525">
            <a:solidFill>
              <a:srgbClr val="FF0000"/>
            </a:solidFill>
            <a:round/>
          </a:ln>
          <a:effectLst/>
        </p:spPr>
        <p:txBody>
          <a:bodyPr anchor="ctr">
            <a:spAutoFit/>
          </a:bodyPr>
          <a:lstStyle/>
          <a:p>
            <a:pPr>
              <a:spcBef>
                <a:spcPct val="20000"/>
              </a:spcBef>
              <a:buClr>
                <a:srgbClr val="FF9900"/>
              </a:buClr>
              <a:buFont typeface="Wingdings" panose="05000000000000000000" pitchFamily="2" charset="2"/>
              <a:buNone/>
              <a:defRPr/>
            </a:pPr>
            <a:endParaRPr lang="zh-CN" altLang="en-US">
              <a:effectLst>
                <a:outerShdw blurRad="38100" dist="38100" dir="2700000" algn="tl">
                  <a:srgbClr val="000000">
                    <a:alpha val="43137"/>
                  </a:srgbClr>
                </a:outerShdw>
              </a:effectLst>
            </a:endParaRPr>
          </a:p>
        </p:txBody>
      </p:sp>
      <p:sp>
        <p:nvSpPr>
          <p:cNvPr id="8" name="Rectangle 6"/>
          <p:cNvSpPr>
            <a:spLocks noGrp="1" noChangeArrowheads="1"/>
          </p:cNvSpPr>
          <p:nvPr>
            <p:ph type="title"/>
          </p:nvPr>
        </p:nvSpPr>
        <p:spPr>
          <a:xfrm>
            <a:off x="611188" y="0"/>
            <a:ext cx="7632700" cy="609600"/>
          </a:xfrm>
          <a:noFill/>
        </p:spPr>
        <p:txBody>
          <a:bodyPr/>
          <a:lstStyle/>
          <a:p>
            <a:pPr eaLnBrk="1" hangingPunct="1"/>
            <a:br>
              <a:rPr lang="zh-CN" altLang="en-US" dirty="0">
                <a:latin typeface="Times New Roman" panose="02020603050405020304" pitchFamily="18" charset="0"/>
                <a:ea typeface="楷体_GB2312" pitchFamily="49" charset="-122"/>
                <a:cs typeface="Times New Roman" panose="02020603050405020304" pitchFamily="18" charset="0"/>
              </a:rPr>
            </a:br>
            <a:r>
              <a:rPr lang="en-US" altLang="zh-CN" dirty="0">
                <a:latin typeface="Times New Roman" panose="02020603050405020304" pitchFamily="18" charset="0"/>
                <a:ea typeface="楷体_GB2312" pitchFamily="49" charset="-122"/>
                <a:cs typeface="Times New Roman" panose="02020603050405020304" pitchFamily="18" charset="0"/>
              </a:rPr>
              <a:t>2.7 Linux</a:t>
            </a:r>
            <a:r>
              <a:rPr lang="zh-CN" altLang="en-US" dirty="0">
                <a:latin typeface="Times New Roman" panose="02020603050405020304" pitchFamily="18" charset="0"/>
                <a:ea typeface="楷体_GB2312" pitchFamily="49" charset="-122"/>
                <a:cs typeface="Times New Roman" panose="02020603050405020304" pitchFamily="18" charset="0"/>
              </a:rPr>
              <a:t>中的进程控制</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ransition>
    <p:wedg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Rectangle 3"/>
          <p:cNvSpPr>
            <a:spLocks noGrp="1" noChangeArrowheads="1"/>
          </p:cNvSpPr>
          <p:nvPr>
            <p:ph type="body" idx="1"/>
          </p:nvPr>
        </p:nvSpPr>
        <p:spPr>
          <a:xfrm>
            <a:off x="611188" y="1700213"/>
            <a:ext cx="8532812" cy="5761037"/>
          </a:xfrm>
        </p:spPr>
        <p:txBody>
          <a:bodyPr/>
          <a:lstStyle/>
          <a:p>
            <a:pPr eaLnBrk="1" hangingPunct="1">
              <a:lnSpc>
                <a:spcPct val="90000"/>
              </a:lnSpc>
              <a:buFont typeface="Arial" panose="020B0604020202020204" pitchFamily="34" charset="0"/>
              <a:buChar char="•"/>
            </a:pPr>
            <a:endParaRPr lang="en-US" altLang="zh-CN" sz="2600" dirty="0">
              <a:latin typeface="Times New Roman" panose="02020603050405020304" pitchFamily="18" charset="0"/>
              <a:ea typeface="楷体_GB2312" pitchFamily="49" charset="-122"/>
              <a:cs typeface="Times New Roman" panose="02020603050405020304" pitchFamily="18" charset="0"/>
            </a:endParaRPr>
          </a:p>
          <a:p>
            <a:pPr eaLnBrk="1" hangingPunct="1">
              <a:lnSpc>
                <a:spcPct val="90000"/>
              </a:lnSpc>
              <a:buFont typeface="Arial" panose="020B0604020202020204" pitchFamily="34" charset="0"/>
              <a:buChar char="•"/>
            </a:pPr>
            <a:r>
              <a:rPr lang="zh-CN" altLang="en-US" sz="2600" dirty="0">
                <a:latin typeface="Times New Roman" panose="02020603050405020304" pitchFamily="18" charset="0"/>
                <a:ea typeface="楷体_GB2312" pitchFamily="49" charset="-122"/>
                <a:cs typeface="Times New Roman" panose="02020603050405020304" pitchFamily="18" charset="0"/>
              </a:rPr>
              <a:t>说明</a:t>
            </a:r>
            <a:endParaRPr lang="en-US" altLang="zh-CN" sz="2600" dirty="0">
              <a:latin typeface="Times New Roman" panose="02020603050405020304" pitchFamily="18" charset="0"/>
              <a:ea typeface="楷体_GB2312" pitchFamily="49" charset="-122"/>
              <a:cs typeface="Times New Roman" panose="02020603050405020304" pitchFamily="18" charset="0"/>
            </a:endParaRPr>
          </a:p>
          <a:p>
            <a:pPr lvl="1" eaLnBrk="1" hangingPunct="1">
              <a:lnSpc>
                <a:spcPct val="90000"/>
              </a:lnSpc>
              <a:buFont typeface="Arial" panose="020B0604020202020204" pitchFamily="34" charset="0"/>
              <a:buChar char="•"/>
            </a:pPr>
            <a:r>
              <a:rPr lang="en-US" altLang="zh-CN" sz="2200" dirty="0" err="1">
                <a:latin typeface="Times New Roman" panose="02020603050405020304" pitchFamily="18" charset="0"/>
                <a:ea typeface="楷体_GB2312" pitchFamily="49" charset="-122"/>
                <a:cs typeface="Times New Roman" panose="02020603050405020304" pitchFamily="18" charset="0"/>
              </a:rPr>
              <a:t>vfork</a:t>
            </a:r>
            <a:r>
              <a:rPr lang="en-US" altLang="zh-CN" sz="2200" dirty="0">
                <a:latin typeface="Times New Roman" panose="02020603050405020304" pitchFamily="18" charset="0"/>
                <a:ea typeface="楷体_GB2312" pitchFamily="49" charset="-122"/>
                <a:cs typeface="Times New Roman" panose="02020603050405020304" pitchFamily="18" charset="0"/>
              </a:rPr>
              <a:t>()</a:t>
            </a:r>
            <a:r>
              <a:rPr lang="zh-CN" altLang="en-US" sz="2200" dirty="0">
                <a:latin typeface="Times New Roman" panose="02020603050405020304" pitchFamily="18" charset="0"/>
                <a:ea typeface="楷体_GB2312" pitchFamily="49" charset="-122"/>
                <a:cs typeface="Times New Roman" panose="02020603050405020304" pitchFamily="18" charset="0"/>
              </a:rPr>
              <a:t>创建的子进程与父进程</a:t>
            </a:r>
            <a:r>
              <a:rPr lang="zh-CN" altLang="en-US" sz="2200" dirty="0">
                <a:solidFill>
                  <a:srgbClr val="FF0000"/>
                </a:solidFill>
                <a:latin typeface="Times New Roman" panose="02020603050405020304" pitchFamily="18" charset="0"/>
                <a:ea typeface="楷体_GB2312" pitchFamily="49" charset="-122"/>
                <a:cs typeface="Times New Roman" panose="02020603050405020304" pitchFamily="18" charset="0"/>
              </a:rPr>
              <a:t>共享地址空间</a:t>
            </a:r>
            <a:endParaRPr lang="zh-CN" altLang="en-US" sz="2200" dirty="0">
              <a:solidFill>
                <a:srgbClr val="FF0000"/>
              </a:solidFill>
              <a:latin typeface="Times New Roman" panose="02020603050405020304" pitchFamily="18" charset="0"/>
              <a:ea typeface="楷体_GB2312" pitchFamily="49" charset="-122"/>
              <a:cs typeface="Times New Roman" panose="02020603050405020304" pitchFamily="18" charset="0"/>
            </a:endParaRPr>
          </a:p>
          <a:p>
            <a:pPr lvl="2" eaLnBrk="1" hangingPunct="1">
              <a:lnSpc>
                <a:spcPct val="90000"/>
              </a:lnSpc>
              <a:buFont typeface="Arial" panose="020B0604020202020204" pitchFamily="34" charset="0"/>
              <a:buChar char="•"/>
            </a:pPr>
            <a:r>
              <a:rPr lang="zh-CN" altLang="en-US" dirty="0">
                <a:solidFill>
                  <a:srgbClr val="008080"/>
                </a:solidFill>
                <a:latin typeface="Times New Roman" panose="02020603050405020304" pitchFamily="18" charset="0"/>
                <a:ea typeface="楷体_GB2312" pitchFamily="49" charset="-122"/>
                <a:cs typeface="Times New Roman" panose="02020603050405020304" pitchFamily="18" charset="0"/>
              </a:rPr>
              <a:t>子进程作为父进程的一个单独线程在其地址空间运行</a:t>
            </a:r>
            <a:endParaRPr lang="en-US" altLang="zh-CN" dirty="0">
              <a:solidFill>
                <a:srgbClr val="008080"/>
              </a:solidFill>
              <a:latin typeface="Times New Roman" panose="02020603050405020304" pitchFamily="18" charset="0"/>
              <a:ea typeface="楷体_GB2312" pitchFamily="49" charset="-122"/>
              <a:cs typeface="Times New Roman" panose="02020603050405020304" pitchFamily="18" charset="0"/>
            </a:endParaRPr>
          </a:p>
          <a:p>
            <a:pPr lvl="2" eaLnBrk="1" hangingPunct="1">
              <a:lnSpc>
                <a:spcPct val="90000"/>
              </a:lnSpc>
              <a:buFont typeface="Arial" panose="020B0604020202020204" pitchFamily="34" charset="0"/>
              <a:buChar char="•"/>
            </a:pPr>
            <a:r>
              <a:rPr lang="zh-CN" altLang="en-US" dirty="0">
                <a:solidFill>
                  <a:srgbClr val="008080"/>
                </a:solidFill>
                <a:latin typeface="Times New Roman" panose="02020603050405020304" pitchFamily="18" charset="0"/>
                <a:ea typeface="楷体_GB2312" pitchFamily="49" charset="-122"/>
                <a:cs typeface="Times New Roman" panose="02020603050405020304" pitchFamily="18" charset="0"/>
              </a:rPr>
              <a:t>子进程从父进程继承控制终端、信号标志位、可访问的主存区、环境变量和其他资源分配</a:t>
            </a:r>
            <a:endParaRPr lang="zh-CN" altLang="en-US" dirty="0">
              <a:solidFill>
                <a:srgbClr val="008080"/>
              </a:solidFill>
              <a:latin typeface="Times New Roman" panose="02020603050405020304" pitchFamily="18" charset="0"/>
              <a:ea typeface="楷体_GB2312" pitchFamily="49" charset="-122"/>
              <a:cs typeface="Times New Roman" panose="02020603050405020304" pitchFamily="18" charset="0"/>
            </a:endParaRPr>
          </a:p>
          <a:p>
            <a:pPr lvl="2" eaLnBrk="1" hangingPunct="1">
              <a:lnSpc>
                <a:spcPct val="90000"/>
              </a:lnSpc>
              <a:buFont typeface="Arial" panose="020B0604020202020204" pitchFamily="34" charset="0"/>
              <a:buChar char="•"/>
            </a:pPr>
            <a:r>
              <a:rPr lang="zh-CN" altLang="en-US" dirty="0">
                <a:solidFill>
                  <a:srgbClr val="008080"/>
                </a:solidFill>
                <a:latin typeface="Times New Roman" panose="02020603050405020304" pitchFamily="18" charset="0"/>
                <a:ea typeface="楷体_GB2312" pitchFamily="49" charset="-122"/>
                <a:cs typeface="Times New Roman" panose="02020603050405020304" pitchFamily="18" charset="0"/>
              </a:rPr>
              <a:t>子进程对虚拟空间任何数据的修改都可为父进程所见 </a:t>
            </a:r>
            <a:endParaRPr lang="zh-CN" altLang="en-US" dirty="0">
              <a:solidFill>
                <a:srgbClr val="008080"/>
              </a:solidFill>
              <a:latin typeface="Times New Roman" panose="02020603050405020304" pitchFamily="18" charset="0"/>
              <a:ea typeface="楷体_GB2312" pitchFamily="49" charset="-122"/>
              <a:cs typeface="Times New Roman" panose="02020603050405020304" pitchFamily="18" charset="0"/>
            </a:endParaRPr>
          </a:p>
          <a:p>
            <a:pPr lvl="2" eaLnBrk="1" hangingPunct="1">
              <a:lnSpc>
                <a:spcPct val="90000"/>
              </a:lnSpc>
              <a:buFont typeface="Arial" panose="020B0604020202020204" pitchFamily="34" charset="0"/>
              <a:buChar char="•"/>
            </a:pPr>
            <a:r>
              <a:rPr lang="zh-CN" altLang="en-US" dirty="0">
                <a:solidFill>
                  <a:srgbClr val="008080"/>
                </a:solidFill>
                <a:latin typeface="Times New Roman" panose="02020603050405020304" pitchFamily="18" charset="0"/>
                <a:ea typeface="楷体_GB2312" pitchFamily="49" charset="-122"/>
                <a:cs typeface="Times New Roman" panose="02020603050405020304" pitchFamily="18" charset="0"/>
              </a:rPr>
              <a:t>父进程将被阻塞，直到子进程调用</a:t>
            </a:r>
            <a:r>
              <a:rPr lang="en-US" altLang="zh-CN" dirty="0" err="1">
                <a:solidFill>
                  <a:srgbClr val="FF0000"/>
                </a:solidFill>
                <a:latin typeface="Times New Roman" panose="02020603050405020304" pitchFamily="18" charset="0"/>
                <a:ea typeface="楷体_GB2312" pitchFamily="49" charset="-122"/>
                <a:cs typeface="Times New Roman" panose="02020603050405020304" pitchFamily="18" charset="0"/>
              </a:rPr>
              <a:t>execve</a:t>
            </a:r>
            <a:r>
              <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dirty="0">
                <a:latin typeface="Times New Roman" panose="02020603050405020304" pitchFamily="18" charset="0"/>
                <a:ea typeface="楷体_GB2312" pitchFamily="49" charset="-122"/>
                <a:cs typeface="Times New Roman" panose="02020603050405020304" pitchFamily="18" charset="0"/>
              </a:rPr>
              <a:t>或</a:t>
            </a:r>
            <a:r>
              <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rPr>
              <a:t>exit()</a:t>
            </a:r>
            <a:endPar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endParaRPr>
          </a:p>
          <a:p>
            <a:pPr eaLnBrk="1" hangingPunct="1">
              <a:lnSpc>
                <a:spcPct val="90000"/>
              </a:lnSpc>
              <a:buFont typeface="Arial" panose="020B0604020202020204" pitchFamily="34" charset="0"/>
              <a:buChar char="•"/>
            </a:pPr>
            <a:r>
              <a:rPr lang="zh-CN" altLang="en-US" sz="2600" dirty="0">
                <a:latin typeface="Times New Roman" panose="02020603050405020304" pitchFamily="18" charset="0"/>
                <a:ea typeface="楷体_GB2312" pitchFamily="49" charset="-122"/>
                <a:cs typeface="Times New Roman" panose="02020603050405020304" pitchFamily="18" charset="0"/>
              </a:rPr>
              <a:t>与</a:t>
            </a:r>
            <a:r>
              <a:rPr lang="en-US" altLang="zh-CN" sz="2600" dirty="0">
                <a:latin typeface="Times New Roman" panose="02020603050405020304" pitchFamily="18" charset="0"/>
                <a:ea typeface="楷体_GB2312" pitchFamily="49" charset="-122"/>
                <a:cs typeface="Times New Roman" panose="02020603050405020304" pitchFamily="18" charset="0"/>
              </a:rPr>
              <a:t>fork()</a:t>
            </a:r>
            <a:r>
              <a:rPr lang="zh-CN" altLang="en-US" sz="2600" dirty="0">
                <a:latin typeface="Times New Roman" panose="02020603050405020304" pitchFamily="18" charset="0"/>
                <a:ea typeface="楷体_GB2312" pitchFamily="49" charset="-122"/>
                <a:cs typeface="Times New Roman" panose="02020603050405020304" pitchFamily="18" charset="0"/>
              </a:rPr>
              <a:t>的关系</a:t>
            </a:r>
            <a:endParaRPr lang="zh-CN" altLang="en-US" sz="2600" dirty="0">
              <a:latin typeface="Times New Roman" panose="02020603050405020304" pitchFamily="18" charset="0"/>
              <a:ea typeface="楷体_GB2312" pitchFamily="49" charset="-122"/>
              <a:cs typeface="Times New Roman" panose="02020603050405020304" pitchFamily="18" charset="0"/>
            </a:endParaRPr>
          </a:p>
          <a:p>
            <a:pPr lvl="1" eaLnBrk="1" hangingPunct="1">
              <a:lnSpc>
                <a:spcPct val="90000"/>
              </a:lnSpc>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功能相同，但</a:t>
            </a:r>
            <a:r>
              <a:rPr lang="en-US" altLang="zh-CN" dirty="0" err="1">
                <a:latin typeface="Times New Roman" panose="02020603050405020304" pitchFamily="18" charset="0"/>
                <a:ea typeface="楷体_GB2312" pitchFamily="49" charset="-122"/>
                <a:cs typeface="Times New Roman" panose="02020603050405020304" pitchFamily="18" charset="0"/>
              </a:rPr>
              <a:t>vfork</a:t>
            </a:r>
            <a:r>
              <a:rPr lang="en-US" altLang="zh-CN" dirty="0">
                <a:latin typeface="Times New Roman" panose="02020603050405020304" pitchFamily="18" charset="0"/>
                <a:ea typeface="楷体_GB2312" pitchFamily="49" charset="-122"/>
                <a:cs typeface="Times New Roman" panose="02020603050405020304" pitchFamily="18" charset="0"/>
              </a:rPr>
              <a:t>()</a:t>
            </a:r>
            <a:r>
              <a:rPr lang="zh-CN" altLang="en-US" dirty="0">
                <a:latin typeface="Times New Roman" panose="02020603050405020304" pitchFamily="18" charset="0"/>
                <a:ea typeface="楷体_GB2312" pitchFamily="49" charset="-122"/>
                <a:cs typeface="Times New Roman" panose="02020603050405020304" pitchFamily="18" charset="0"/>
              </a:rPr>
              <a:t>不拷贝父进程的页表项</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lnSpc>
                <a:spcPct val="90000"/>
              </a:lnSpc>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子进程只执行</a:t>
            </a:r>
            <a:r>
              <a:rPr lang="en-US" altLang="zh-CN" dirty="0">
                <a:latin typeface="Times New Roman" panose="02020603050405020304" pitchFamily="18" charset="0"/>
                <a:ea typeface="楷体_GB2312" pitchFamily="49" charset="-122"/>
                <a:cs typeface="Times New Roman" panose="02020603050405020304" pitchFamily="18" charset="0"/>
              </a:rPr>
              <a:t>exec()</a:t>
            </a:r>
            <a:r>
              <a:rPr lang="zh-CN" altLang="en-US" dirty="0">
                <a:latin typeface="Times New Roman" panose="02020603050405020304" pitchFamily="18" charset="0"/>
                <a:ea typeface="楷体_GB2312" pitchFamily="49" charset="-122"/>
                <a:cs typeface="Times New Roman" panose="02020603050405020304" pitchFamily="18" charset="0"/>
              </a:rPr>
              <a:t>时，</a:t>
            </a:r>
            <a:r>
              <a:rPr lang="en-US" altLang="zh-CN" dirty="0" err="1">
                <a:latin typeface="Times New Roman" panose="02020603050405020304" pitchFamily="18" charset="0"/>
                <a:ea typeface="楷体_GB2312" pitchFamily="49" charset="-122"/>
                <a:cs typeface="Times New Roman" panose="02020603050405020304" pitchFamily="18" charset="0"/>
              </a:rPr>
              <a:t>vfork</a:t>
            </a:r>
            <a:r>
              <a:rPr lang="en-US" altLang="zh-CN" dirty="0">
                <a:latin typeface="Times New Roman" panose="02020603050405020304" pitchFamily="18" charset="0"/>
                <a:ea typeface="楷体_GB2312" pitchFamily="49" charset="-122"/>
                <a:cs typeface="Times New Roman" panose="02020603050405020304" pitchFamily="18" charset="0"/>
              </a:rPr>
              <a:t>()</a:t>
            </a:r>
            <a:r>
              <a:rPr lang="zh-CN" altLang="en-US" dirty="0">
                <a:latin typeface="Times New Roman" panose="02020603050405020304" pitchFamily="18" charset="0"/>
                <a:ea typeface="楷体_GB2312" pitchFamily="49" charset="-122"/>
                <a:cs typeface="Times New Roman" panose="02020603050405020304" pitchFamily="18" charset="0"/>
              </a:rPr>
              <a:t>为首选</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pic>
        <p:nvPicPr>
          <p:cNvPr id="45061"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85813" y="1211263"/>
            <a:ext cx="8208962"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Oval 5"/>
          <p:cNvSpPr>
            <a:spLocks noChangeArrowheads="1"/>
          </p:cNvSpPr>
          <p:nvPr/>
        </p:nvSpPr>
        <p:spPr bwMode="auto">
          <a:xfrm>
            <a:off x="2713038" y="1635125"/>
            <a:ext cx="4286250" cy="433388"/>
          </a:xfrm>
          <a:prstGeom prst="ellipse">
            <a:avLst/>
          </a:prstGeom>
          <a:noFill/>
          <a:ln w="9525">
            <a:solidFill>
              <a:srgbClr val="FF0000"/>
            </a:solidFill>
            <a:round/>
          </a:ln>
          <a:effectLst/>
        </p:spPr>
        <p:txBody>
          <a:bodyPr anchor="ctr">
            <a:spAutoFit/>
          </a:bodyPr>
          <a:lstStyle/>
          <a:p>
            <a:pPr>
              <a:spcBef>
                <a:spcPct val="20000"/>
              </a:spcBef>
              <a:buClr>
                <a:srgbClr val="FF9900"/>
              </a:buClr>
              <a:buFont typeface="Wingdings" panose="05000000000000000000" pitchFamily="2" charset="2"/>
              <a:buNone/>
              <a:defRPr/>
            </a:pPr>
            <a:endParaRPr lang="zh-CN" altLang="en-US">
              <a:effectLst>
                <a:outerShdw blurRad="38100" dist="38100" dir="2700000" algn="tl">
                  <a:srgbClr val="000000">
                    <a:alpha val="43137"/>
                  </a:srgbClr>
                </a:outerShdw>
              </a:effectLst>
            </a:endParaRPr>
          </a:p>
        </p:txBody>
      </p:sp>
      <p:sp>
        <p:nvSpPr>
          <p:cNvPr id="8" name="Rectangle 6"/>
          <p:cNvSpPr>
            <a:spLocks noGrp="1" noChangeArrowheads="1"/>
          </p:cNvSpPr>
          <p:nvPr>
            <p:ph type="title"/>
          </p:nvPr>
        </p:nvSpPr>
        <p:spPr>
          <a:xfrm>
            <a:off x="611188" y="0"/>
            <a:ext cx="7632700" cy="609600"/>
          </a:xfrm>
          <a:noFill/>
        </p:spPr>
        <p:txBody>
          <a:bodyPr/>
          <a:lstStyle/>
          <a:p>
            <a:pPr eaLnBrk="1" hangingPunct="1"/>
            <a:br>
              <a:rPr lang="zh-CN" altLang="en-US" dirty="0">
                <a:latin typeface="Times New Roman" panose="02020603050405020304" pitchFamily="18" charset="0"/>
                <a:ea typeface="楷体_GB2312" pitchFamily="49" charset="-122"/>
                <a:cs typeface="Times New Roman" panose="02020603050405020304" pitchFamily="18" charset="0"/>
              </a:rPr>
            </a:br>
            <a:r>
              <a:rPr lang="en-US" altLang="zh-CN" dirty="0">
                <a:latin typeface="Times New Roman" panose="02020603050405020304" pitchFamily="18" charset="0"/>
                <a:ea typeface="楷体_GB2312" pitchFamily="49" charset="-122"/>
                <a:cs typeface="Times New Roman" panose="02020603050405020304" pitchFamily="18" charset="0"/>
              </a:rPr>
              <a:t>2.7 Linux</a:t>
            </a:r>
            <a:r>
              <a:rPr lang="zh-CN" altLang="en-US" dirty="0">
                <a:latin typeface="Times New Roman" panose="02020603050405020304" pitchFamily="18" charset="0"/>
                <a:ea typeface="楷体_GB2312" pitchFamily="49" charset="-122"/>
                <a:cs typeface="Times New Roman" panose="02020603050405020304" pitchFamily="18" charset="0"/>
              </a:rPr>
              <a:t>中的进程控制</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ransition>
    <p:wedg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lvl1pPr>
              <a:defRPr sz="2400">
                <a:solidFill>
                  <a:schemeClr val="tx1"/>
                </a:solidFill>
                <a:latin typeface="Times New Roman" panose="02020603050405020304" pitchFamily="18" charset="0"/>
                <a:ea typeface="新宋体" panose="02010609030101010101" pitchFamily="49" charset="-122"/>
              </a:defRPr>
            </a:lvl1pPr>
            <a:lvl2pPr marL="742950" indent="-285750">
              <a:defRPr sz="2400">
                <a:solidFill>
                  <a:schemeClr val="tx1"/>
                </a:solidFill>
                <a:latin typeface="Times New Roman" panose="02020603050405020304" pitchFamily="18" charset="0"/>
                <a:ea typeface="新宋体" panose="02010609030101010101" pitchFamily="49" charset="-122"/>
              </a:defRPr>
            </a:lvl2pPr>
            <a:lvl3pPr marL="1143000" indent="-228600">
              <a:defRPr sz="2400">
                <a:solidFill>
                  <a:schemeClr val="tx1"/>
                </a:solidFill>
                <a:latin typeface="Times New Roman" panose="02020603050405020304" pitchFamily="18" charset="0"/>
                <a:ea typeface="新宋体" panose="02010609030101010101" pitchFamily="49" charset="-122"/>
              </a:defRPr>
            </a:lvl3pPr>
            <a:lvl4pPr marL="1600200" indent="-228600">
              <a:defRPr sz="2400">
                <a:solidFill>
                  <a:schemeClr val="tx1"/>
                </a:solidFill>
                <a:latin typeface="Times New Roman" panose="02020603050405020304" pitchFamily="18" charset="0"/>
                <a:ea typeface="新宋体" panose="02010609030101010101" pitchFamily="49" charset="-122"/>
              </a:defRPr>
            </a:lvl4pPr>
            <a:lvl5pPr marL="2057400" indent="-228600">
              <a:defRPr sz="2400">
                <a:solidFill>
                  <a:schemeClr val="tx1"/>
                </a:solidFill>
                <a:latin typeface="Times New Roman" panose="02020603050405020304" pitchFamily="18" charset="0"/>
                <a:ea typeface="新宋体" panose="02010609030101010101"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新宋体" panose="02010609030101010101" pitchFamily="49" charset="-122"/>
              </a:defRPr>
            </a:lvl9pPr>
          </a:lstStyle>
          <a:p>
            <a:pPr>
              <a:defRPr/>
            </a:pPr>
            <a:fld id="{F3BC193F-1A3B-4F96-A71C-9629654A83AD}" type="slidenum">
              <a:rPr lang="en-US" altLang="zh-CN" sz="1200" smtClean="0">
                <a:latin typeface="Verdana" panose="020B0604030504040204" pitchFamily="34" charset="0"/>
                <a:ea typeface="Gulim" panose="020B0600000101010101" pitchFamily="34" charset="-127"/>
              </a:rPr>
            </a:fld>
            <a:endParaRPr lang="en-US" altLang="zh-CN" sz="1200">
              <a:latin typeface="Verdana" panose="020B0604030504040204" pitchFamily="34" charset="0"/>
              <a:ea typeface="Gulim" panose="020B0600000101010101" pitchFamily="34" charset="-127"/>
            </a:endParaRPr>
          </a:p>
        </p:txBody>
      </p:sp>
      <p:sp>
        <p:nvSpPr>
          <p:cNvPr id="46083" name="Rectangle 2"/>
          <p:cNvSpPr>
            <a:spLocks noGrp="1" noChangeArrowheads="1"/>
          </p:cNvSpPr>
          <p:nvPr>
            <p:ph type="title"/>
          </p:nvPr>
        </p:nvSpPr>
        <p:spPr>
          <a:xfrm>
            <a:off x="1296988" y="6381328"/>
            <a:ext cx="7632700" cy="609600"/>
          </a:xfrm>
        </p:spPr>
        <p:txBody>
          <a:bodyPr/>
          <a:lstStyle/>
          <a:p>
            <a:pPr eaLnBrk="1" hangingPunct="1"/>
            <a:r>
              <a:rPr lang="en-US" altLang="zh-CN" sz="2000" dirty="0" err="1">
                <a:latin typeface="Times New Roman" panose="02020603050405020304" pitchFamily="18" charset="0"/>
                <a:ea typeface="楷体_GB2312" pitchFamily="49" charset="-122"/>
                <a:cs typeface="Times New Roman" panose="02020603050405020304" pitchFamily="18" charset="0"/>
              </a:rPr>
              <a:t>vfork</a:t>
            </a:r>
            <a:r>
              <a:rPr lang="en-US" altLang="zh-CN" sz="2000" dirty="0">
                <a:latin typeface="Times New Roman" panose="02020603050405020304" pitchFamily="18" charset="0"/>
                <a:ea typeface="楷体_GB2312" pitchFamily="49" charset="-122"/>
                <a:cs typeface="Times New Roman" panose="02020603050405020304" pitchFamily="18" charset="0"/>
              </a:rPr>
              <a:t>()</a:t>
            </a:r>
            <a:r>
              <a:rPr lang="zh-CN" altLang="en-US" sz="2000" dirty="0">
                <a:latin typeface="Times New Roman" panose="02020603050405020304" pitchFamily="18" charset="0"/>
                <a:ea typeface="楷体_GB2312" pitchFamily="49" charset="-122"/>
                <a:cs typeface="Times New Roman" panose="02020603050405020304" pitchFamily="18" charset="0"/>
              </a:rPr>
              <a:t>调用的实现机制说明</a:t>
            </a:r>
            <a:endParaRPr lang="zh-CN" altLang="en-US" sz="2000" dirty="0">
              <a:latin typeface="Times New Roman" panose="02020603050405020304" pitchFamily="18" charset="0"/>
              <a:ea typeface="楷体_GB2312" pitchFamily="49" charset="-122"/>
              <a:cs typeface="Times New Roman" panose="02020603050405020304" pitchFamily="18" charset="0"/>
            </a:endParaRPr>
          </a:p>
        </p:txBody>
      </p:sp>
      <p:sp>
        <p:nvSpPr>
          <p:cNvPr id="46084" name="Rectangle 3"/>
          <p:cNvSpPr>
            <a:spLocks noGrp="1" noChangeArrowheads="1"/>
          </p:cNvSpPr>
          <p:nvPr>
            <p:ph type="body" idx="1"/>
          </p:nvPr>
        </p:nvSpPr>
        <p:spPr/>
        <p:txBody>
          <a:bodyPr/>
          <a:lstStyle/>
          <a:p>
            <a:pPr eaLnBrk="1" hangingPunct="1">
              <a:buFont typeface="Arial" panose="020B0604020202020204" pitchFamily="34" charset="0"/>
              <a:buChar char="•"/>
            </a:pPr>
            <a:r>
              <a:rPr lang="en-US" altLang="zh-CN" sz="2600" dirty="0" err="1">
                <a:latin typeface="Times New Roman" panose="02020603050405020304" pitchFamily="18" charset="0"/>
                <a:ea typeface="楷体_GB2312" pitchFamily="49" charset="-122"/>
                <a:cs typeface="Times New Roman" panose="02020603050405020304" pitchFamily="18" charset="0"/>
              </a:rPr>
              <a:t>copy_process</a:t>
            </a:r>
            <a:r>
              <a:rPr lang="en-US" altLang="zh-CN" sz="2600" dirty="0">
                <a:latin typeface="Times New Roman" panose="02020603050405020304" pitchFamily="18" charset="0"/>
                <a:ea typeface="楷体_GB2312" pitchFamily="49" charset="-122"/>
                <a:cs typeface="Times New Roman" panose="02020603050405020304" pitchFamily="18" charset="0"/>
              </a:rPr>
              <a:t>()</a:t>
            </a:r>
            <a:r>
              <a:rPr lang="zh-CN" altLang="en-US" sz="2600" dirty="0">
                <a:latin typeface="Times New Roman" panose="02020603050405020304" pitchFamily="18" charset="0"/>
                <a:ea typeface="楷体_GB2312" pitchFamily="49" charset="-122"/>
                <a:cs typeface="Times New Roman" panose="02020603050405020304" pitchFamily="18" charset="0"/>
              </a:rPr>
              <a:t>将</a:t>
            </a:r>
            <a:r>
              <a:rPr lang="en-US" altLang="zh-CN" sz="2600" dirty="0" err="1">
                <a:latin typeface="Times New Roman" panose="02020603050405020304" pitchFamily="18" charset="0"/>
                <a:ea typeface="楷体_GB2312" pitchFamily="49" charset="-122"/>
                <a:cs typeface="Times New Roman" panose="02020603050405020304" pitchFamily="18" charset="0"/>
              </a:rPr>
              <a:t>task_struct</a:t>
            </a:r>
            <a:r>
              <a:rPr lang="zh-CN" altLang="en-US" sz="2600" dirty="0">
                <a:latin typeface="Times New Roman" panose="02020603050405020304" pitchFamily="18" charset="0"/>
                <a:ea typeface="楷体_GB2312" pitchFamily="49" charset="-122"/>
                <a:cs typeface="Times New Roman" panose="02020603050405020304" pitchFamily="18" charset="0"/>
              </a:rPr>
              <a:t>的</a:t>
            </a:r>
            <a:r>
              <a:rPr lang="en-US" altLang="zh-CN" sz="2600" dirty="0" err="1">
                <a:solidFill>
                  <a:srgbClr val="FF0D0D"/>
                </a:solidFill>
                <a:latin typeface="Times New Roman" panose="02020603050405020304" pitchFamily="18" charset="0"/>
                <a:ea typeface="楷体_GB2312" pitchFamily="49" charset="-122"/>
                <a:cs typeface="Times New Roman" panose="02020603050405020304" pitchFamily="18" charset="0"/>
              </a:rPr>
              <a:t>vfork_done</a:t>
            </a:r>
            <a:r>
              <a:rPr lang="zh-CN" altLang="en-US" sz="2600" dirty="0">
                <a:latin typeface="Times New Roman" panose="02020603050405020304" pitchFamily="18" charset="0"/>
                <a:ea typeface="楷体_GB2312" pitchFamily="49" charset="-122"/>
                <a:cs typeface="Times New Roman" panose="02020603050405020304" pitchFamily="18" charset="0"/>
              </a:rPr>
              <a:t>设为</a:t>
            </a:r>
            <a:r>
              <a:rPr lang="en-US" altLang="zh-CN" sz="2600" dirty="0">
                <a:latin typeface="Times New Roman" panose="02020603050405020304" pitchFamily="18" charset="0"/>
                <a:ea typeface="楷体_GB2312" pitchFamily="49" charset="-122"/>
                <a:cs typeface="Times New Roman" panose="02020603050405020304" pitchFamily="18" charset="0"/>
              </a:rPr>
              <a:t>NULL</a:t>
            </a:r>
            <a:endParaRPr lang="zh-CN" altLang="en-US" sz="26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endParaRPr lang="en-US" altLang="zh-CN"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en-US" altLang="zh-CN" sz="2600" dirty="0" err="1">
                <a:latin typeface="Times New Roman" panose="02020603050405020304" pitchFamily="18" charset="0"/>
                <a:ea typeface="楷体_GB2312" pitchFamily="49" charset="-122"/>
                <a:cs typeface="Times New Roman" panose="02020603050405020304" pitchFamily="18" charset="0"/>
              </a:rPr>
              <a:t>do_fork</a:t>
            </a:r>
            <a:r>
              <a:rPr lang="en-US" altLang="zh-CN" sz="2600" dirty="0">
                <a:latin typeface="Times New Roman" panose="02020603050405020304" pitchFamily="18" charset="0"/>
                <a:ea typeface="楷体_GB2312" pitchFamily="49" charset="-122"/>
                <a:cs typeface="Times New Roman" panose="02020603050405020304" pitchFamily="18" charset="0"/>
              </a:rPr>
              <a:t>()</a:t>
            </a:r>
            <a:r>
              <a:rPr lang="zh-CN" altLang="en-US" sz="2600" dirty="0">
                <a:latin typeface="Times New Roman" panose="02020603050405020304" pitchFamily="18" charset="0"/>
                <a:ea typeface="楷体_GB2312" pitchFamily="49" charset="-122"/>
                <a:cs typeface="Times New Roman" panose="02020603050405020304" pitchFamily="18" charset="0"/>
              </a:rPr>
              <a:t> 将</a:t>
            </a:r>
            <a:r>
              <a:rPr lang="en-US" altLang="zh-CN" sz="2600" dirty="0" err="1">
                <a:latin typeface="Times New Roman" panose="02020603050405020304" pitchFamily="18" charset="0"/>
                <a:ea typeface="楷体_GB2312" pitchFamily="49" charset="-122"/>
                <a:cs typeface="Times New Roman" panose="02020603050405020304" pitchFamily="18" charset="0"/>
              </a:rPr>
              <a:t>vfork_done</a:t>
            </a:r>
            <a:r>
              <a:rPr lang="zh-CN" altLang="en-US" sz="2600" dirty="0">
                <a:latin typeface="Times New Roman" panose="02020603050405020304" pitchFamily="18" charset="0"/>
                <a:ea typeface="楷体_GB2312" pitchFamily="49" charset="-122"/>
                <a:cs typeface="Times New Roman" panose="02020603050405020304" pitchFamily="18" charset="0"/>
              </a:rPr>
              <a:t>指向一个特殊地址</a:t>
            </a:r>
            <a:endParaRPr lang="zh-CN" altLang="en-US" sz="2600"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endParaRPr lang="en-US" altLang="zh-CN"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endParaRPr lang="en-US" altLang="zh-CN"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endParaRPr lang="en-US" altLang="zh-CN" sz="26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sz="2600" dirty="0">
                <a:latin typeface="Times New Roman" panose="02020603050405020304" pitchFamily="18" charset="0"/>
                <a:ea typeface="楷体_GB2312" pitchFamily="49" charset="-122"/>
                <a:cs typeface="Times New Roman" panose="02020603050405020304" pitchFamily="18" charset="0"/>
              </a:rPr>
              <a:t>父进程阻塞直到子进程向其发送信号</a:t>
            </a:r>
            <a:endParaRPr lang="zh-CN" altLang="en-US" sz="2600" dirty="0">
              <a:latin typeface="Times New Roman" panose="02020603050405020304" pitchFamily="18" charset="0"/>
              <a:ea typeface="楷体_GB2312" pitchFamily="49" charset="-122"/>
              <a:cs typeface="Times New Roman" panose="02020603050405020304" pitchFamily="18" charset="0"/>
            </a:endParaRPr>
          </a:p>
        </p:txBody>
      </p:sp>
      <p:pic>
        <p:nvPicPr>
          <p:cNvPr id="46085"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28813" y="2786063"/>
            <a:ext cx="5245100"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8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938" y="4549869"/>
            <a:ext cx="8286750" cy="203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8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1643063"/>
            <a:ext cx="4452938"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Oval 5"/>
          <p:cNvSpPr>
            <a:spLocks noChangeArrowheads="1"/>
          </p:cNvSpPr>
          <p:nvPr/>
        </p:nvSpPr>
        <p:spPr bwMode="auto">
          <a:xfrm>
            <a:off x="1820863" y="3482975"/>
            <a:ext cx="4608512" cy="433388"/>
          </a:xfrm>
          <a:prstGeom prst="ellipse">
            <a:avLst/>
          </a:prstGeom>
          <a:noFill/>
          <a:ln w="9525">
            <a:solidFill>
              <a:srgbClr val="FF0000"/>
            </a:solidFill>
            <a:round/>
          </a:ln>
          <a:effectLst/>
        </p:spPr>
        <p:txBody>
          <a:bodyPr anchor="ctr">
            <a:spAutoFit/>
          </a:bodyPr>
          <a:lstStyle/>
          <a:p>
            <a:pPr>
              <a:spcBef>
                <a:spcPct val="20000"/>
              </a:spcBef>
              <a:buClr>
                <a:srgbClr val="FF9900"/>
              </a:buClr>
              <a:buFont typeface="Wingdings" panose="05000000000000000000" pitchFamily="2" charset="2"/>
              <a:buNone/>
              <a:defRPr/>
            </a:pPr>
            <a:endParaRPr lang="zh-CN" altLang="en-US">
              <a:effectLst>
                <a:outerShdw blurRad="38100" dist="38100" dir="2700000" algn="tl">
                  <a:srgbClr val="000000">
                    <a:alpha val="43137"/>
                  </a:srgbClr>
                </a:outerShdw>
              </a:effectLst>
            </a:endParaRPr>
          </a:p>
        </p:txBody>
      </p:sp>
      <p:sp>
        <p:nvSpPr>
          <p:cNvPr id="9" name="Oval 5"/>
          <p:cNvSpPr>
            <a:spLocks noChangeArrowheads="1"/>
          </p:cNvSpPr>
          <p:nvPr/>
        </p:nvSpPr>
        <p:spPr bwMode="auto">
          <a:xfrm>
            <a:off x="857250" y="4995863"/>
            <a:ext cx="4608513" cy="433387"/>
          </a:xfrm>
          <a:prstGeom prst="ellipse">
            <a:avLst/>
          </a:prstGeom>
          <a:noFill/>
          <a:ln w="9525">
            <a:solidFill>
              <a:srgbClr val="FF0000"/>
            </a:solidFill>
            <a:round/>
          </a:ln>
          <a:effectLst/>
        </p:spPr>
        <p:txBody>
          <a:bodyPr anchor="ctr">
            <a:spAutoFit/>
          </a:bodyPr>
          <a:lstStyle/>
          <a:p>
            <a:pPr>
              <a:spcBef>
                <a:spcPct val="20000"/>
              </a:spcBef>
              <a:buClr>
                <a:srgbClr val="FF9900"/>
              </a:buClr>
              <a:buFont typeface="Wingdings" panose="05000000000000000000" pitchFamily="2" charset="2"/>
              <a:buNone/>
              <a:defRPr/>
            </a:pPr>
            <a:endParaRPr lang="zh-CN" altLang="en-US">
              <a:effectLst>
                <a:outerShdw blurRad="38100" dist="38100" dir="2700000" algn="tl">
                  <a:srgbClr val="000000">
                    <a:alpha val="43137"/>
                  </a:srgbClr>
                </a:outerShdw>
              </a:effectLst>
            </a:endParaRPr>
          </a:p>
        </p:txBody>
      </p:sp>
      <p:sp>
        <p:nvSpPr>
          <p:cNvPr id="10" name="Rectangle 6"/>
          <p:cNvSpPr txBox="1">
            <a:spLocks noChangeArrowheads="1"/>
          </p:cNvSpPr>
          <p:nvPr/>
        </p:nvSpPr>
        <p:spPr bwMode="black">
          <a:xfrm>
            <a:off x="611188" y="0"/>
            <a:ext cx="76327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2pPr>
            <a:lvl3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3pPr>
            <a:lvl4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4pPr>
            <a:lvl5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5pPr>
            <a:lvl6pPr marL="4572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6pPr>
            <a:lvl7pPr marL="9144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7pPr>
            <a:lvl8pPr marL="13716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8pPr>
            <a:lvl9pPr marL="18288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9pPr>
          </a:lstStyle>
          <a:p>
            <a:pPr eaLnBrk="1" hangingPunct="1"/>
            <a:br>
              <a:rPr lang="zh-CN" altLang="en-US" kern="0">
                <a:latin typeface="Times New Roman" panose="02020603050405020304" pitchFamily="18" charset="0"/>
                <a:ea typeface="楷体_GB2312" pitchFamily="49" charset="-122"/>
                <a:cs typeface="Times New Roman" panose="02020603050405020304" pitchFamily="18" charset="0"/>
              </a:rPr>
            </a:br>
            <a:r>
              <a:rPr lang="en-US" altLang="zh-CN" kern="0">
                <a:latin typeface="Times New Roman" panose="02020603050405020304" pitchFamily="18" charset="0"/>
                <a:ea typeface="楷体_GB2312" pitchFamily="49" charset="-122"/>
                <a:cs typeface="Times New Roman" panose="02020603050405020304" pitchFamily="18" charset="0"/>
              </a:rPr>
              <a:t>2.7 Linux</a:t>
            </a:r>
            <a:r>
              <a:rPr lang="zh-CN" altLang="en-US" kern="0">
                <a:latin typeface="Times New Roman" panose="02020603050405020304" pitchFamily="18" charset="0"/>
                <a:ea typeface="楷体_GB2312" pitchFamily="49" charset="-122"/>
                <a:cs typeface="Times New Roman" panose="02020603050405020304" pitchFamily="18" charset="0"/>
              </a:rPr>
              <a:t>中的进程控制</a:t>
            </a:r>
            <a:endParaRPr lang="zh-CN" altLang="en-US" kern="0"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ransition>
    <p:wedg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a:spLocks noGrp="1" noChangeArrowheads="1"/>
          </p:cNvSpPr>
          <p:nvPr>
            <p:ph type="title"/>
          </p:nvPr>
        </p:nvSpPr>
        <p:spPr>
          <a:xfrm>
            <a:off x="724694" y="4947769"/>
            <a:ext cx="7632700" cy="609600"/>
          </a:xfrm>
        </p:spPr>
        <p:txBody>
          <a:bodyPr/>
          <a:lstStyle/>
          <a:p>
            <a:pPr eaLnBrk="1" hangingPunct="1"/>
            <a:r>
              <a:rPr lang="en-US" altLang="zh-CN" sz="2000" dirty="0" err="1">
                <a:solidFill>
                  <a:schemeClr val="bg2">
                    <a:lumMod val="25000"/>
                  </a:schemeClr>
                </a:solidFill>
                <a:latin typeface="Times New Roman" panose="02020603050405020304" pitchFamily="18" charset="0"/>
                <a:ea typeface="楷体_GB2312" pitchFamily="49" charset="-122"/>
                <a:cs typeface="Times New Roman" panose="02020603050405020304" pitchFamily="18" charset="0"/>
              </a:rPr>
              <a:t>vfork</a:t>
            </a:r>
            <a:r>
              <a:rPr lang="en-US" altLang="zh-CN" sz="2000" dirty="0">
                <a:solidFill>
                  <a:schemeClr val="bg2">
                    <a:lumMod val="25000"/>
                  </a:schemeClr>
                </a:solidFill>
                <a:latin typeface="Times New Roman" panose="02020603050405020304" pitchFamily="18" charset="0"/>
                <a:ea typeface="楷体_GB2312" pitchFamily="49" charset="-122"/>
                <a:cs typeface="Times New Roman" panose="02020603050405020304" pitchFamily="18" charset="0"/>
              </a:rPr>
              <a:t>()</a:t>
            </a:r>
            <a:r>
              <a:rPr lang="zh-CN" altLang="en-US" sz="2000" dirty="0">
                <a:solidFill>
                  <a:schemeClr val="bg2">
                    <a:lumMod val="25000"/>
                  </a:schemeClr>
                </a:solidFill>
                <a:latin typeface="Times New Roman" panose="02020603050405020304" pitchFamily="18" charset="0"/>
                <a:ea typeface="楷体_GB2312" pitchFamily="49" charset="-122"/>
                <a:cs typeface="Times New Roman" panose="02020603050405020304" pitchFamily="18" charset="0"/>
              </a:rPr>
              <a:t>调用的实现机制说明</a:t>
            </a:r>
            <a:endParaRPr lang="zh-CN" altLang="en-US" sz="2000" dirty="0">
              <a:solidFill>
                <a:schemeClr val="bg2">
                  <a:lumMod val="25000"/>
                </a:schemeClr>
              </a:solidFill>
              <a:latin typeface="Times New Roman" panose="02020603050405020304" pitchFamily="18" charset="0"/>
              <a:ea typeface="楷体_GB2312" pitchFamily="49" charset="-122"/>
              <a:cs typeface="Times New Roman" panose="02020603050405020304" pitchFamily="18" charset="0"/>
            </a:endParaRPr>
          </a:p>
        </p:txBody>
      </p:sp>
      <p:sp>
        <p:nvSpPr>
          <p:cNvPr id="47108" name="Rectangle 3"/>
          <p:cNvSpPr>
            <a:spLocks noGrp="1" noChangeArrowheads="1"/>
          </p:cNvSpPr>
          <p:nvPr>
            <p:ph type="body" idx="1"/>
          </p:nvPr>
        </p:nvSpPr>
        <p:spPr/>
        <p:txBody>
          <a:bodyPr/>
          <a:lstStyle/>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调用</a:t>
            </a:r>
            <a:r>
              <a:rPr lang="en-US" altLang="zh-CN" dirty="0" err="1">
                <a:latin typeface="Times New Roman" panose="02020603050405020304" pitchFamily="18" charset="0"/>
                <a:ea typeface="楷体_GB2312" pitchFamily="49" charset="-122"/>
                <a:cs typeface="Times New Roman" panose="02020603050405020304" pitchFamily="18" charset="0"/>
              </a:rPr>
              <a:t>mm_release</a:t>
            </a:r>
            <a:r>
              <a:rPr lang="en-US" altLang="zh-CN" dirty="0">
                <a:latin typeface="Times New Roman" panose="02020603050405020304" pitchFamily="18" charset="0"/>
                <a:ea typeface="楷体_GB2312" pitchFamily="49" charset="-122"/>
                <a:cs typeface="Times New Roman" panose="02020603050405020304" pitchFamily="18" charset="0"/>
              </a:rPr>
              <a:t>()</a:t>
            </a:r>
            <a:r>
              <a:rPr lang="zh-CN" altLang="en-US" dirty="0">
                <a:latin typeface="Times New Roman" panose="02020603050405020304" pitchFamily="18" charset="0"/>
                <a:ea typeface="楷体_GB2312" pitchFamily="49" charset="-122"/>
                <a:cs typeface="Times New Roman" panose="02020603050405020304" pitchFamily="18" charset="0"/>
              </a:rPr>
              <a:t>时，检查</a:t>
            </a:r>
            <a:r>
              <a:rPr lang="en-US" altLang="zh-CN" dirty="0" err="1">
                <a:latin typeface="Times New Roman" panose="02020603050405020304" pitchFamily="18" charset="0"/>
                <a:ea typeface="楷体_GB2312" pitchFamily="49" charset="-122"/>
                <a:cs typeface="Times New Roman" panose="02020603050405020304" pitchFamily="18" charset="0"/>
              </a:rPr>
              <a:t>vfork_done</a:t>
            </a:r>
            <a:r>
              <a:rPr lang="zh-CN" altLang="en-US" dirty="0">
                <a:latin typeface="Times New Roman" panose="02020603050405020304" pitchFamily="18" charset="0"/>
                <a:ea typeface="楷体_GB2312" pitchFamily="49" charset="-122"/>
                <a:cs typeface="Times New Roman" panose="02020603050405020304" pitchFamily="18" charset="0"/>
              </a:rPr>
              <a:t>是否为空</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r>
              <a:rPr lang="zh-CN" altLang="en-US" dirty="0">
                <a:latin typeface="Times New Roman" panose="02020603050405020304" pitchFamily="18" charset="0"/>
                <a:ea typeface="楷体_GB2312" pitchFamily="49" charset="-122"/>
                <a:cs typeface="Times New Roman" panose="02020603050405020304" pitchFamily="18" charset="0"/>
              </a:rPr>
              <a:t>若不为空，则向父进程发送信号</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pic>
        <p:nvPicPr>
          <p:cNvPr id="47109"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85875" y="2500313"/>
            <a:ext cx="6929438"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Oval 5"/>
          <p:cNvSpPr>
            <a:spLocks noChangeArrowheads="1"/>
          </p:cNvSpPr>
          <p:nvPr/>
        </p:nvSpPr>
        <p:spPr bwMode="auto">
          <a:xfrm>
            <a:off x="928688" y="4138613"/>
            <a:ext cx="4608512" cy="433387"/>
          </a:xfrm>
          <a:prstGeom prst="ellipse">
            <a:avLst/>
          </a:prstGeom>
          <a:noFill/>
          <a:ln w="9525">
            <a:solidFill>
              <a:srgbClr val="FF0000"/>
            </a:solidFill>
            <a:round/>
          </a:ln>
          <a:effectLst/>
        </p:spPr>
        <p:txBody>
          <a:bodyPr anchor="ctr">
            <a:spAutoFit/>
          </a:bodyPr>
          <a:lstStyle/>
          <a:p>
            <a:pPr>
              <a:spcBef>
                <a:spcPct val="20000"/>
              </a:spcBef>
              <a:buClr>
                <a:srgbClr val="FF9900"/>
              </a:buClr>
              <a:buFont typeface="Wingdings" panose="05000000000000000000" pitchFamily="2" charset="2"/>
              <a:buNone/>
              <a:defRPr/>
            </a:pPr>
            <a:endParaRPr lang="zh-CN" altLang="en-US">
              <a:effectLst>
                <a:outerShdw blurRad="38100" dist="38100" dir="2700000" algn="tl">
                  <a:srgbClr val="000000">
                    <a:alpha val="43137"/>
                  </a:srgbClr>
                </a:outerShdw>
              </a:effectLst>
            </a:endParaRPr>
          </a:p>
        </p:txBody>
      </p:sp>
      <p:sp>
        <p:nvSpPr>
          <p:cNvPr id="7" name="Rectangle 6"/>
          <p:cNvSpPr txBox="1">
            <a:spLocks noChangeArrowheads="1"/>
          </p:cNvSpPr>
          <p:nvPr/>
        </p:nvSpPr>
        <p:spPr bwMode="black">
          <a:xfrm>
            <a:off x="611188" y="0"/>
            <a:ext cx="76327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2pPr>
            <a:lvl3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3pPr>
            <a:lvl4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4pPr>
            <a:lvl5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5pPr>
            <a:lvl6pPr marL="4572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6pPr>
            <a:lvl7pPr marL="9144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7pPr>
            <a:lvl8pPr marL="13716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8pPr>
            <a:lvl9pPr marL="18288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9pPr>
          </a:lstStyle>
          <a:p>
            <a:pPr eaLnBrk="1" hangingPunct="1"/>
            <a:br>
              <a:rPr lang="zh-CN" altLang="en-US" kern="0">
                <a:latin typeface="Times New Roman" panose="02020603050405020304" pitchFamily="18" charset="0"/>
                <a:ea typeface="楷体_GB2312" pitchFamily="49" charset="-122"/>
                <a:cs typeface="Times New Roman" panose="02020603050405020304" pitchFamily="18" charset="0"/>
              </a:rPr>
            </a:br>
            <a:r>
              <a:rPr lang="en-US" altLang="zh-CN" kern="0">
                <a:latin typeface="Times New Roman" panose="02020603050405020304" pitchFamily="18" charset="0"/>
                <a:ea typeface="楷体_GB2312" pitchFamily="49" charset="-122"/>
                <a:cs typeface="Times New Roman" panose="02020603050405020304" pitchFamily="18" charset="0"/>
              </a:rPr>
              <a:t>2.7 Linux</a:t>
            </a:r>
            <a:r>
              <a:rPr lang="zh-CN" altLang="en-US" kern="0">
                <a:latin typeface="Times New Roman" panose="02020603050405020304" pitchFamily="18" charset="0"/>
                <a:ea typeface="楷体_GB2312" pitchFamily="49" charset="-122"/>
                <a:cs typeface="Times New Roman" panose="02020603050405020304" pitchFamily="18" charset="0"/>
              </a:rPr>
              <a:t>中的进程控制</a:t>
            </a:r>
            <a:endParaRPr lang="zh-CN" altLang="en-US" kern="0"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ransition>
    <p:wedg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2" name="Rectangle 3"/>
          <p:cNvSpPr>
            <a:spLocks noGrp="1" noChangeArrowheads="1"/>
          </p:cNvSpPr>
          <p:nvPr>
            <p:ph type="body" idx="1"/>
          </p:nvPr>
        </p:nvSpPr>
        <p:spPr/>
        <p:txBody>
          <a:bodyPr/>
          <a:lstStyle/>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函数原型</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dirty="0">
                <a:latin typeface="Times New Roman" panose="02020603050405020304" pitchFamily="18" charset="0"/>
                <a:ea typeface="楷体_GB2312" pitchFamily="49" charset="-122"/>
                <a:cs typeface="Times New Roman" panose="02020603050405020304" pitchFamily="18" charset="0"/>
              </a:rPr>
              <a:t>int clone(int (*</a:t>
            </a:r>
            <a:r>
              <a:rPr lang="en-US" altLang="zh-CN" dirty="0" err="1">
                <a:latin typeface="Times New Roman" panose="02020603050405020304" pitchFamily="18" charset="0"/>
                <a:ea typeface="楷体_GB2312" pitchFamily="49" charset="-122"/>
                <a:cs typeface="Times New Roman" panose="02020603050405020304" pitchFamily="18" charset="0"/>
              </a:rPr>
              <a:t>fn</a:t>
            </a:r>
            <a:r>
              <a:rPr lang="en-US" altLang="zh-CN" dirty="0">
                <a:latin typeface="Times New Roman" panose="02020603050405020304" pitchFamily="18" charset="0"/>
                <a:ea typeface="楷体_GB2312" pitchFamily="49" charset="-122"/>
                <a:cs typeface="Times New Roman" panose="02020603050405020304" pitchFamily="18" charset="0"/>
              </a:rPr>
              <a:t>)(void *), void *</a:t>
            </a:r>
            <a:r>
              <a:rPr lang="en-US" altLang="zh-CN" dirty="0" err="1">
                <a:latin typeface="Times New Roman" panose="02020603050405020304" pitchFamily="18" charset="0"/>
                <a:ea typeface="楷体_GB2312" pitchFamily="49" charset="-122"/>
                <a:cs typeface="Times New Roman" panose="02020603050405020304" pitchFamily="18" charset="0"/>
              </a:rPr>
              <a:t>child_stack</a:t>
            </a:r>
            <a:r>
              <a:rPr lang="en-US" altLang="zh-CN" dirty="0">
                <a:latin typeface="Times New Roman" panose="02020603050405020304" pitchFamily="18" charset="0"/>
                <a:ea typeface="楷体_GB2312" pitchFamily="49" charset="-122"/>
                <a:cs typeface="Times New Roman" panose="02020603050405020304" pitchFamily="18" charset="0"/>
              </a:rPr>
              <a:t>, int </a:t>
            </a:r>
            <a:r>
              <a:rPr lang="en-US" altLang="zh-CN" dirty="0" err="1">
                <a:solidFill>
                  <a:srgbClr val="FF0000"/>
                </a:solidFill>
                <a:latin typeface="Times New Roman" panose="02020603050405020304" pitchFamily="18" charset="0"/>
                <a:ea typeface="楷体_GB2312" pitchFamily="49" charset="-122"/>
                <a:cs typeface="Times New Roman" panose="02020603050405020304" pitchFamily="18" charset="0"/>
              </a:rPr>
              <a:t>clone_flag</a:t>
            </a:r>
            <a:r>
              <a:rPr lang="en-US" altLang="zh-CN" dirty="0">
                <a:latin typeface="Times New Roman" panose="02020603050405020304" pitchFamily="18" charset="0"/>
                <a:ea typeface="楷体_GB2312" pitchFamily="49" charset="-122"/>
                <a:cs typeface="Times New Roman" panose="02020603050405020304" pitchFamily="18" charset="0"/>
              </a:rPr>
              <a:t>, void *</a:t>
            </a:r>
            <a:r>
              <a:rPr lang="en-US" altLang="zh-CN" dirty="0" err="1">
                <a:latin typeface="Times New Roman" panose="02020603050405020304" pitchFamily="18" charset="0"/>
                <a:ea typeface="楷体_GB2312" pitchFamily="49" charset="-122"/>
                <a:cs typeface="Times New Roman" panose="02020603050405020304" pitchFamily="18" charset="0"/>
              </a:rPr>
              <a:t>arg</a:t>
            </a:r>
            <a:r>
              <a:rPr lang="en-US" altLang="zh-CN" dirty="0">
                <a:latin typeface="Times New Roman" panose="02020603050405020304" pitchFamily="18" charset="0"/>
                <a:ea typeface="楷体_GB2312" pitchFamily="49" charset="-122"/>
                <a:cs typeface="Times New Roman" panose="02020603050405020304" pitchFamily="18" charset="0"/>
              </a:rPr>
              <a:t>); </a:t>
            </a:r>
            <a:endParaRPr lang="en-US" altLang="zh-CN"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参数说明</a:t>
            </a:r>
            <a:endParaRPr lang="en-US" altLang="zh-CN"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dirty="0" err="1">
                <a:latin typeface="Times New Roman" panose="02020603050405020304" pitchFamily="18" charset="0"/>
                <a:ea typeface="楷体_GB2312" pitchFamily="49" charset="-122"/>
                <a:cs typeface="Times New Roman" panose="02020603050405020304" pitchFamily="18" charset="0"/>
              </a:rPr>
              <a:t>fn</a:t>
            </a:r>
            <a:r>
              <a:rPr lang="zh-CN" altLang="en-US" dirty="0">
                <a:latin typeface="Times New Roman" panose="02020603050405020304" pitchFamily="18" charset="0"/>
                <a:ea typeface="楷体_GB2312" pitchFamily="49" charset="-122"/>
                <a:cs typeface="Times New Roman" panose="02020603050405020304" pitchFamily="18" charset="0"/>
              </a:rPr>
              <a:t>：待执行的程序 </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dirty="0" err="1">
                <a:latin typeface="Times New Roman" panose="02020603050405020304" pitchFamily="18" charset="0"/>
                <a:ea typeface="楷体_GB2312" pitchFamily="49" charset="-122"/>
                <a:cs typeface="Times New Roman" panose="02020603050405020304" pitchFamily="18" charset="0"/>
              </a:rPr>
              <a:t>child_stack</a:t>
            </a:r>
            <a:r>
              <a:rPr lang="zh-CN" altLang="en-US" dirty="0">
                <a:latin typeface="Times New Roman" panose="02020603050405020304" pitchFamily="18" charset="0"/>
                <a:ea typeface="楷体_GB2312" pitchFamily="49" charset="-122"/>
                <a:cs typeface="Times New Roman" panose="02020603050405020304" pitchFamily="18" charset="0"/>
              </a:rPr>
              <a:t>：进程所使用的堆栈</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dirty="0" err="1">
                <a:latin typeface="Times New Roman" panose="02020603050405020304" pitchFamily="18" charset="0"/>
                <a:ea typeface="楷体_GB2312" pitchFamily="49" charset="-122"/>
                <a:cs typeface="Times New Roman" panose="02020603050405020304" pitchFamily="18" charset="0"/>
              </a:rPr>
              <a:t>clone_flag</a:t>
            </a:r>
            <a:r>
              <a:rPr lang="zh-CN" altLang="en-US" dirty="0">
                <a:latin typeface="Times New Roman" panose="02020603050405020304" pitchFamily="18" charset="0"/>
                <a:ea typeface="楷体_GB2312" pitchFamily="49" charset="-122"/>
                <a:cs typeface="Times New Roman" panose="02020603050405020304" pitchFamily="18" charset="0"/>
              </a:rPr>
              <a:t>：由用户指定，可以是多个标志的组合</a:t>
            </a:r>
            <a:endParaRPr lang="en-US" altLang="zh-CN"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dirty="0" err="1">
                <a:latin typeface="Times New Roman" panose="02020603050405020304" pitchFamily="18" charset="0"/>
                <a:ea typeface="楷体_GB2312" pitchFamily="49" charset="-122"/>
                <a:cs typeface="Times New Roman" panose="02020603050405020304" pitchFamily="18" charset="0"/>
              </a:rPr>
              <a:t>arg</a:t>
            </a:r>
            <a:r>
              <a:rPr lang="zh-CN" altLang="en-US" dirty="0">
                <a:latin typeface="Times New Roman" panose="02020603050405020304" pitchFamily="18" charset="0"/>
                <a:ea typeface="楷体_GB2312" pitchFamily="49" charset="-122"/>
                <a:cs typeface="Times New Roman" panose="02020603050405020304" pitchFamily="18" charset="0"/>
              </a:rPr>
              <a:t>：执行</a:t>
            </a:r>
            <a:r>
              <a:rPr lang="en-US" altLang="zh-CN" dirty="0" err="1">
                <a:latin typeface="Times New Roman" panose="02020603050405020304" pitchFamily="18" charset="0"/>
                <a:ea typeface="楷体_GB2312" pitchFamily="49" charset="-122"/>
                <a:cs typeface="Times New Roman" panose="02020603050405020304" pitchFamily="18" charset="0"/>
              </a:rPr>
              <a:t>fn</a:t>
            </a:r>
            <a:r>
              <a:rPr lang="zh-CN" altLang="en-US" dirty="0">
                <a:latin typeface="Times New Roman" panose="02020603050405020304" pitchFamily="18" charset="0"/>
                <a:ea typeface="楷体_GB2312" pitchFamily="49" charset="-122"/>
                <a:cs typeface="Times New Roman" panose="02020603050405020304" pitchFamily="18" charset="0"/>
              </a:rPr>
              <a:t>所需的参数</a:t>
            </a:r>
            <a:endParaRPr lang="en-US" altLang="zh-CN"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功能</a:t>
            </a:r>
            <a:endParaRPr lang="en-US" altLang="zh-CN"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创建轻量级进程</a:t>
            </a:r>
            <a:r>
              <a:rPr lang="en-US" altLang="zh-CN" dirty="0">
                <a:latin typeface="Times New Roman" panose="02020603050405020304" pitchFamily="18" charset="0"/>
                <a:ea typeface="楷体_GB2312" pitchFamily="49" charset="-122"/>
                <a:cs typeface="Times New Roman" panose="02020603050405020304" pitchFamily="18" charset="0"/>
              </a:rPr>
              <a:t>(LWP)</a:t>
            </a:r>
            <a:r>
              <a:rPr lang="zh-CN" altLang="en-US" dirty="0">
                <a:latin typeface="Times New Roman" panose="02020603050405020304" pitchFamily="18" charset="0"/>
                <a:ea typeface="楷体_GB2312" pitchFamily="49" charset="-122"/>
                <a:cs typeface="Times New Roman" panose="02020603050405020304" pitchFamily="18" charset="0"/>
              </a:rPr>
              <a:t>的系统调用</a:t>
            </a:r>
            <a:endParaRPr lang="en-US" altLang="zh-CN"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通过</a:t>
            </a:r>
            <a:r>
              <a:rPr lang="en-US" altLang="zh-CN" dirty="0" err="1">
                <a:latin typeface="Times New Roman" panose="02020603050405020304" pitchFamily="18" charset="0"/>
                <a:ea typeface="楷体_GB2312" pitchFamily="49" charset="-122"/>
                <a:cs typeface="Times New Roman" panose="02020603050405020304" pitchFamily="18" charset="0"/>
              </a:rPr>
              <a:t>clone_flag</a:t>
            </a:r>
            <a:r>
              <a:rPr lang="zh-CN" altLang="en-US" dirty="0">
                <a:latin typeface="Times New Roman" panose="02020603050405020304" pitchFamily="18" charset="0"/>
                <a:ea typeface="楷体_GB2312" pitchFamily="49" charset="-122"/>
                <a:cs typeface="Times New Roman" panose="02020603050405020304" pitchFamily="18" charset="0"/>
              </a:rPr>
              <a:t>控制</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
        <p:nvSpPr>
          <p:cNvPr id="6" name="Rectangle 6"/>
          <p:cNvSpPr>
            <a:spLocks noGrp="1" noChangeArrowheads="1"/>
          </p:cNvSpPr>
          <p:nvPr>
            <p:ph type="title"/>
          </p:nvPr>
        </p:nvSpPr>
        <p:spPr>
          <a:xfrm>
            <a:off x="611188" y="0"/>
            <a:ext cx="7632700" cy="609600"/>
          </a:xfrm>
          <a:noFill/>
        </p:spPr>
        <p:txBody>
          <a:bodyPr/>
          <a:lstStyle/>
          <a:p>
            <a:pPr eaLnBrk="1" hangingPunct="1"/>
            <a:br>
              <a:rPr lang="zh-CN" altLang="en-US" dirty="0">
                <a:latin typeface="Times New Roman" panose="02020603050405020304" pitchFamily="18" charset="0"/>
                <a:ea typeface="楷体_GB2312" pitchFamily="49" charset="-122"/>
                <a:cs typeface="Times New Roman" panose="02020603050405020304" pitchFamily="18" charset="0"/>
              </a:rPr>
            </a:br>
            <a:r>
              <a:rPr lang="en-US" altLang="zh-CN" dirty="0">
                <a:latin typeface="Times New Roman" panose="02020603050405020304" pitchFamily="18" charset="0"/>
                <a:ea typeface="楷体_GB2312" pitchFamily="49" charset="-122"/>
                <a:cs typeface="Times New Roman" panose="02020603050405020304" pitchFamily="18" charset="0"/>
              </a:rPr>
              <a:t>2.7 Linux</a:t>
            </a:r>
            <a:r>
              <a:rPr lang="zh-CN" altLang="en-US" dirty="0">
                <a:latin typeface="Times New Roman" panose="02020603050405020304" pitchFamily="18" charset="0"/>
                <a:ea typeface="楷体_GB2312" pitchFamily="49" charset="-122"/>
                <a:cs typeface="Times New Roman" panose="02020603050405020304" pitchFamily="18" charset="0"/>
              </a:rPr>
              <a:t>中的进程控制</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ransition>
    <p:wedg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内容占位符 2"/>
          <p:cNvSpPr>
            <a:spLocks noGrp="1"/>
          </p:cNvSpPr>
          <p:nvPr>
            <p:ph idx="1"/>
          </p:nvPr>
        </p:nvSpPr>
        <p:spPr>
          <a:xfrm>
            <a:off x="395288" y="1052513"/>
            <a:ext cx="8291512" cy="4032671"/>
          </a:xfrm>
        </p:spPr>
        <p:txBody>
          <a:bodyPr/>
          <a:lstStyle/>
          <a:p>
            <a:pPr eaLnBrk="1" hangingPunct="1"/>
            <a:endParaRPr lang="en-US" altLang="zh-CN" dirty="0">
              <a:latin typeface="Times New Roman" panose="02020603050405020304" pitchFamily="18" charset="0"/>
              <a:ea typeface="楷体_GB2312" pitchFamily="49" charset="-122"/>
              <a:cs typeface="Times New Roman" panose="02020603050405020304" pitchFamily="18" charset="0"/>
            </a:endParaRPr>
          </a:p>
          <a:p>
            <a:pPr eaLnBrk="1" hangingPunct="1"/>
            <a:endParaRPr lang="en-US" altLang="zh-CN" dirty="0">
              <a:latin typeface="Times New Roman" panose="02020603050405020304" pitchFamily="18" charset="0"/>
              <a:ea typeface="楷体_GB2312" pitchFamily="49" charset="-122"/>
              <a:cs typeface="Times New Roman" panose="02020603050405020304" pitchFamily="18" charset="0"/>
            </a:endParaRPr>
          </a:p>
          <a:p>
            <a:pPr eaLnBrk="1" hangingPunct="1"/>
            <a:endParaRPr lang="en-US" altLang="zh-CN" dirty="0">
              <a:latin typeface="Times New Roman" panose="02020603050405020304" pitchFamily="18" charset="0"/>
              <a:ea typeface="楷体_GB2312" pitchFamily="49" charset="-122"/>
              <a:cs typeface="Times New Roman" panose="02020603050405020304" pitchFamily="18" charset="0"/>
            </a:endParaRPr>
          </a:p>
          <a:p>
            <a:pPr eaLnBrk="1" hangingPunct="1"/>
            <a:endParaRPr lang="en-US" altLang="zh-CN" dirty="0">
              <a:latin typeface="Times New Roman" panose="02020603050405020304" pitchFamily="18" charset="0"/>
              <a:ea typeface="楷体_GB2312" pitchFamily="49" charset="-122"/>
              <a:cs typeface="Times New Roman" panose="02020603050405020304" pitchFamily="18" charset="0"/>
            </a:endParaRPr>
          </a:p>
          <a:p>
            <a:pPr eaLnBrk="1" hangingPunct="1"/>
            <a:endParaRPr lang="en-US" altLang="zh-CN" dirty="0">
              <a:latin typeface="Times New Roman" panose="02020603050405020304" pitchFamily="18" charset="0"/>
              <a:ea typeface="楷体_GB2312" pitchFamily="49" charset="-122"/>
              <a:cs typeface="Times New Roman" panose="02020603050405020304" pitchFamily="18" charset="0"/>
            </a:endParaRPr>
          </a:p>
          <a:p>
            <a:pPr eaLnBrk="1" hangingPunct="1"/>
            <a:endParaRPr lang="en-US" altLang="zh-CN" dirty="0">
              <a:latin typeface="Times New Roman" panose="02020603050405020304" pitchFamily="18" charset="0"/>
              <a:ea typeface="楷体_GB2312" pitchFamily="49" charset="-122"/>
              <a:cs typeface="Times New Roman" panose="02020603050405020304" pitchFamily="18" charset="0"/>
            </a:endParaRPr>
          </a:p>
          <a:p>
            <a:pPr eaLnBrk="1" hangingPunct="1"/>
            <a:endParaRPr lang="en-US" altLang="zh-CN" dirty="0">
              <a:latin typeface="Times New Roman" panose="02020603050405020304" pitchFamily="18" charset="0"/>
              <a:ea typeface="楷体_GB2312" pitchFamily="49" charset="-122"/>
              <a:cs typeface="Times New Roman" panose="02020603050405020304" pitchFamily="18" charset="0"/>
            </a:endParaRPr>
          </a:p>
          <a:p>
            <a:pPr eaLnBrk="1" hangingPunct="1"/>
            <a:endParaRPr lang="en-US" altLang="zh-CN"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en-US" altLang="zh-CN" sz="2500" dirty="0" err="1">
                <a:latin typeface="Times New Roman" panose="02020603050405020304" pitchFamily="18" charset="0"/>
                <a:ea typeface="楷体_GB2312" pitchFamily="49" charset="-122"/>
                <a:cs typeface="Times New Roman" panose="02020603050405020304" pitchFamily="18" charset="0"/>
              </a:rPr>
              <a:t>fn</a:t>
            </a:r>
            <a:r>
              <a:rPr lang="zh-CN" altLang="en-US" sz="2500" dirty="0">
                <a:latin typeface="Times New Roman" panose="02020603050405020304" pitchFamily="18" charset="0"/>
                <a:ea typeface="楷体_GB2312" pitchFamily="49" charset="-122"/>
                <a:cs typeface="Times New Roman" panose="02020603050405020304" pitchFamily="18" charset="0"/>
              </a:rPr>
              <a:t>及</a:t>
            </a:r>
            <a:r>
              <a:rPr lang="en-US" altLang="zh-CN" sz="2500" dirty="0" err="1">
                <a:latin typeface="Times New Roman" panose="02020603050405020304" pitchFamily="18" charset="0"/>
                <a:ea typeface="楷体_GB2312" pitchFamily="49" charset="-122"/>
                <a:cs typeface="Times New Roman" panose="02020603050405020304" pitchFamily="18" charset="0"/>
              </a:rPr>
              <a:t>arg</a:t>
            </a:r>
            <a:r>
              <a:rPr lang="zh-CN" altLang="en-US" sz="2500" dirty="0">
                <a:latin typeface="Times New Roman" panose="02020603050405020304" pitchFamily="18" charset="0"/>
                <a:ea typeface="楷体_GB2312" pitchFamily="49" charset="-122"/>
                <a:cs typeface="Times New Roman" panose="02020603050405020304" pitchFamily="18" charset="0"/>
              </a:rPr>
              <a:t>参数的获取</a:t>
            </a:r>
            <a:endParaRPr lang="en-US" altLang="zh-CN" sz="2500" dirty="0">
              <a:latin typeface="Times New Roman" panose="02020603050405020304" pitchFamily="18" charset="0"/>
              <a:ea typeface="楷体_GB2312" pitchFamily="49" charset="-122"/>
              <a:cs typeface="Times New Roman" panose="02020603050405020304" pitchFamily="18" charset="0"/>
            </a:endParaRPr>
          </a:p>
          <a:p>
            <a:pPr lvl="1" eaLnBrk="1" hangingPunct="1"/>
            <a:r>
              <a:rPr lang="en-US" altLang="zh-CN" sz="2500" dirty="0" err="1">
                <a:latin typeface="Times New Roman" panose="02020603050405020304" pitchFamily="18" charset="0"/>
                <a:ea typeface="楷体_GB2312" pitchFamily="49" charset="-122"/>
                <a:cs typeface="Times New Roman" panose="02020603050405020304" pitchFamily="18" charset="0"/>
              </a:rPr>
              <a:t>do_fork</a:t>
            </a:r>
            <a:r>
              <a:rPr lang="en-US" altLang="zh-CN" sz="2500" dirty="0">
                <a:latin typeface="Times New Roman" panose="02020603050405020304" pitchFamily="18" charset="0"/>
                <a:ea typeface="楷体_GB2312" pitchFamily="49" charset="-122"/>
                <a:cs typeface="Times New Roman" panose="02020603050405020304" pitchFamily="18" charset="0"/>
              </a:rPr>
              <a:t>()</a:t>
            </a:r>
            <a:r>
              <a:rPr lang="zh-CN" altLang="en-US" sz="2500" dirty="0">
                <a:latin typeface="Times New Roman" panose="02020603050405020304" pitchFamily="18" charset="0"/>
                <a:ea typeface="楷体_GB2312" pitchFamily="49" charset="-122"/>
                <a:cs typeface="Times New Roman" panose="02020603050405020304" pitchFamily="18" charset="0"/>
              </a:rPr>
              <a:t>返回时</a:t>
            </a:r>
            <a:r>
              <a:rPr lang="en-US" altLang="zh-CN" sz="2500" dirty="0">
                <a:latin typeface="Times New Roman" panose="02020603050405020304" pitchFamily="18" charset="0"/>
                <a:ea typeface="楷体_GB2312" pitchFamily="49" charset="-122"/>
                <a:cs typeface="Times New Roman" panose="02020603050405020304" pitchFamily="18" charset="0"/>
              </a:rPr>
              <a:t>,</a:t>
            </a:r>
            <a:r>
              <a:rPr lang="zh-CN" altLang="en-US" sz="2500" dirty="0">
                <a:latin typeface="Times New Roman" panose="02020603050405020304" pitchFamily="18" charset="0"/>
                <a:ea typeface="楷体_GB2312" pitchFamily="49" charset="-122"/>
                <a:cs typeface="Times New Roman" panose="02020603050405020304" pitchFamily="18" charset="0"/>
              </a:rPr>
              <a:t>可通过进程切换机制（</a:t>
            </a:r>
            <a:r>
              <a:rPr lang="en-US" altLang="zh-CN" sz="2500" dirty="0" err="1">
                <a:latin typeface="Times New Roman" panose="02020603050405020304" pitchFamily="18" charset="0"/>
                <a:ea typeface="楷体_GB2312" pitchFamily="49" charset="-122"/>
                <a:cs typeface="Times New Roman" panose="02020603050405020304" pitchFamily="18" charset="0"/>
              </a:rPr>
              <a:t>jmp+ret</a:t>
            </a:r>
            <a:r>
              <a:rPr lang="zh-CN" altLang="en-US" sz="2500" dirty="0">
                <a:latin typeface="Times New Roman" panose="02020603050405020304" pitchFamily="18" charset="0"/>
                <a:ea typeface="楷体_GB2312" pitchFamily="49" charset="-122"/>
                <a:cs typeface="Times New Roman" panose="02020603050405020304" pitchFamily="18" charset="0"/>
              </a:rPr>
              <a:t>）使</a:t>
            </a:r>
            <a:r>
              <a:rPr lang="en-US" altLang="zh-CN" sz="2500" dirty="0">
                <a:latin typeface="Times New Roman" panose="02020603050405020304" pitchFamily="18" charset="0"/>
                <a:ea typeface="楷体_GB2312" pitchFamily="49" charset="-122"/>
                <a:cs typeface="Times New Roman" panose="02020603050405020304" pitchFamily="18" charset="0"/>
              </a:rPr>
              <a:t>CPU</a:t>
            </a:r>
            <a:r>
              <a:rPr lang="zh-CN" altLang="en-US" sz="2500" dirty="0">
                <a:latin typeface="Times New Roman" panose="02020603050405020304" pitchFamily="18" charset="0"/>
                <a:ea typeface="楷体_GB2312" pitchFamily="49" charset="-122"/>
                <a:cs typeface="Times New Roman" panose="02020603050405020304" pitchFamily="18" charset="0"/>
              </a:rPr>
              <a:t>从</a:t>
            </a:r>
            <a:r>
              <a:rPr lang="en-US" altLang="zh-CN" sz="2500" dirty="0">
                <a:latin typeface="Times New Roman" panose="02020603050405020304" pitchFamily="18" charset="0"/>
                <a:ea typeface="楷体_GB2312" pitchFamily="49" charset="-122"/>
                <a:cs typeface="Times New Roman" panose="02020603050405020304" pitchFamily="18" charset="0"/>
              </a:rPr>
              <a:t>stack</a:t>
            </a:r>
            <a:r>
              <a:rPr lang="zh-CN" altLang="en-US" sz="2500" dirty="0">
                <a:latin typeface="Times New Roman" panose="02020603050405020304" pitchFamily="18" charset="0"/>
                <a:ea typeface="楷体_GB2312" pitchFamily="49" charset="-122"/>
                <a:cs typeface="Times New Roman" panose="02020603050405020304" pitchFamily="18" charset="0"/>
              </a:rPr>
              <a:t>中获取返回地址，并得到</a:t>
            </a:r>
            <a:r>
              <a:rPr lang="en-US" altLang="zh-CN" sz="2500" dirty="0" err="1">
                <a:latin typeface="Times New Roman" panose="02020603050405020304" pitchFamily="18" charset="0"/>
                <a:ea typeface="楷体_GB2312" pitchFamily="49" charset="-122"/>
                <a:cs typeface="Times New Roman" panose="02020603050405020304" pitchFamily="18" charset="0"/>
              </a:rPr>
              <a:t>fn</a:t>
            </a:r>
            <a:r>
              <a:rPr lang="zh-CN" altLang="en-US" sz="2500" dirty="0">
                <a:latin typeface="Times New Roman" panose="02020603050405020304" pitchFamily="18" charset="0"/>
                <a:ea typeface="楷体_GB2312" pitchFamily="49" charset="-122"/>
                <a:cs typeface="Times New Roman" panose="02020603050405020304" pitchFamily="18" charset="0"/>
              </a:rPr>
              <a:t>地址</a:t>
            </a:r>
            <a:endParaRPr lang="zh-CN" altLang="en-US" sz="2500" dirty="0">
              <a:latin typeface="Times New Roman" panose="02020603050405020304" pitchFamily="18" charset="0"/>
              <a:ea typeface="楷体_GB2312" pitchFamily="49" charset="-122"/>
              <a:cs typeface="Times New Roman" panose="02020603050405020304" pitchFamily="18" charset="0"/>
            </a:endParaRPr>
          </a:p>
        </p:txBody>
      </p:sp>
      <p:pic>
        <p:nvPicPr>
          <p:cNvPr id="49157"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58106" y="1052513"/>
            <a:ext cx="6357938" cy="410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Oval 5"/>
          <p:cNvSpPr>
            <a:spLocks noChangeArrowheads="1"/>
          </p:cNvSpPr>
          <p:nvPr/>
        </p:nvSpPr>
        <p:spPr bwMode="auto">
          <a:xfrm>
            <a:off x="928688" y="4365625"/>
            <a:ext cx="7216775" cy="617538"/>
          </a:xfrm>
          <a:prstGeom prst="ellipse">
            <a:avLst/>
          </a:prstGeom>
          <a:noFill/>
          <a:ln w="9525">
            <a:solidFill>
              <a:srgbClr val="FF0000"/>
            </a:solidFill>
            <a:round/>
          </a:ln>
          <a:effectLst/>
        </p:spPr>
        <p:txBody>
          <a:bodyPr anchor="ctr">
            <a:spAutoFit/>
          </a:bodyPr>
          <a:lstStyle/>
          <a:p>
            <a:pPr>
              <a:spcBef>
                <a:spcPct val="20000"/>
              </a:spcBef>
              <a:buClr>
                <a:srgbClr val="FF9900"/>
              </a:buClr>
              <a:buFont typeface="Wingdings" panose="05000000000000000000" pitchFamily="2" charset="2"/>
              <a:buNone/>
              <a:defRPr/>
            </a:pPr>
            <a:endParaRPr lang="zh-CN" altLang="en-US" dirty="0">
              <a:effectLst>
                <a:outerShdw blurRad="38100" dist="38100" dir="2700000" algn="tl">
                  <a:srgbClr val="000000">
                    <a:alpha val="43137"/>
                  </a:srgbClr>
                </a:outerShdw>
              </a:effectLst>
            </a:endParaRPr>
          </a:p>
        </p:txBody>
      </p:sp>
      <p:sp>
        <p:nvSpPr>
          <p:cNvPr id="8" name="Rectangle 6"/>
          <p:cNvSpPr>
            <a:spLocks noGrp="1" noChangeArrowheads="1"/>
          </p:cNvSpPr>
          <p:nvPr>
            <p:ph type="title"/>
          </p:nvPr>
        </p:nvSpPr>
        <p:spPr>
          <a:xfrm>
            <a:off x="611188" y="0"/>
            <a:ext cx="7632700" cy="609600"/>
          </a:xfrm>
          <a:noFill/>
        </p:spPr>
        <p:txBody>
          <a:bodyPr/>
          <a:lstStyle/>
          <a:p>
            <a:pPr eaLnBrk="1" hangingPunct="1"/>
            <a:br>
              <a:rPr lang="zh-CN" altLang="en-US" dirty="0">
                <a:latin typeface="Times New Roman" panose="02020603050405020304" pitchFamily="18" charset="0"/>
                <a:ea typeface="楷体_GB2312" pitchFamily="49" charset="-122"/>
                <a:cs typeface="Times New Roman" panose="02020603050405020304" pitchFamily="18" charset="0"/>
              </a:rPr>
            </a:br>
            <a:r>
              <a:rPr lang="en-US" altLang="zh-CN" dirty="0">
                <a:latin typeface="Times New Roman" panose="02020603050405020304" pitchFamily="18" charset="0"/>
                <a:ea typeface="楷体_GB2312" pitchFamily="49" charset="-122"/>
                <a:cs typeface="Times New Roman" panose="02020603050405020304" pitchFamily="18" charset="0"/>
              </a:rPr>
              <a:t>2.7 Linux</a:t>
            </a:r>
            <a:r>
              <a:rPr lang="zh-CN" altLang="en-US" dirty="0">
                <a:latin typeface="Times New Roman" panose="02020603050405020304" pitchFamily="18" charset="0"/>
                <a:ea typeface="楷体_GB2312" pitchFamily="49" charset="-122"/>
                <a:cs typeface="Times New Roman" panose="02020603050405020304" pitchFamily="18" charset="0"/>
              </a:rPr>
              <a:t>中的进程控制</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ransition>
    <p:wedg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p:cNvSpPr>
          <p:nvPr>
            <p:ph type="title"/>
          </p:nvPr>
        </p:nvSpPr>
        <p:spPr>
          <a:xfrm>
            <a:off x="755650" y="5424487"/>
            <a:ext cx="7632700" cy="609600"/>
          </a:xfrm>
        </p:spPr>
        <p:txBody>
          <a:bodyPr/>
          <a:lstStyle/>
          <a:p>
            <a:pPr eaLnBrk="1" hangingPunct="1"/>
            <a:r>
              <a:rPr lang="en-US" altLang="zh-CN" sz="2000" dirty="0">
                <a:solidFill>
                  <a:schemeClr val="bg2">
                    <a:lumMod val="25000"/>
                  </a:schemeClr>
                </a:solidFill>
                <a:latin typeface="Times New Roman" panose="02020603050405020304" pitchFamily="18" charset="0"/>
                <a:ea typeface="楷体_GB2312" pitchFamily="49" charset="-122"/>
                <a:cs typeface="Times New Roman" panose="02020603050405020304" pitchFamily="18" charset="0"/>
              </a:rPr>
              <a:t>clone()</a:t>
            </a:r>
            <a:r>
              <a:rPr lang="zh-CN" altLang="en-US" sz="2000" dirty="0">
                <a:solidFill>
                  <a:schemeClr val="bg2">
                    <a:lumMod val="25000"/>
                  </a:schemeClr>
                </a:solidFill>
                <a:latin typeface="Times New Roman" panose="02020603050405020304" pitchFamily="18" charset="0"/>
                <a:ea typeface="楷体_GB2312" pitchFamily="49" charset="-122"/>
                <a:cs typeface="Times New Roman" panose="02020603050405020304" pitchFamily="18" charset="0"/>
              </a:rPr>
              <a:t>函数的常用</a:t>
            </a:r>
            <a:r>
              <a:rPr lang="en-US" altLang="zh-CN" sz="2000" dirty="0">
                <a:solidFill>
                  <a:schemeClr val="bg2">
                    <a:lumMod val="25000"/>
                  </a:schemeClr>
                </a:solidFill>
                <a:latin typeface="Times New Roman" panose="02020603050405020304" pitchFamily="18" charset="0"/>
                <a:ea typeface="楷体_GB2312" pitchFamily="49" charset="-122"/>
                <a:cs typeface="Times New Roman" panose="02020603050405020304" pitchFamily="18" charset="0"/>
              </a:rPr>
              <a:t>CLONE</a:t>
            </a:r>
            <a:r>
              <a:rPr lang="zh-CN" altLang="en-US" sz="2000" dirty="0">
                <a:solidFill>
                  <a:schemeClr val="bg2">
                    <a:lumMod val="25000"/>
                  </a:schemeClr>
                </a:solidFill>
                <a:latin typeface="Times New Roman" panose="02020603050405020304" pitchFamily="18" charset="0"/>
                <a:ea typeface="楷体_GB2312" pitchFamily="49" charset="-122"/>
                <a:cs typeface="Times New Roman" panose="02020603050405020304" pitchFamily="18" charset="0"/>
              </a:rPr>
              <a:t>标志</a:t>
            </a:r>
            <a:endParaRPr lang="zh-CN" altLang="en-US" sz="2000" dirty="0">
              <a:solidFill>
                <a:schemeClr val="bg2">
                  <a:lumMod val="25000"/>
                </a:schemeClr>
              </a:solidFill>
              <a:latin typeface="Times New Roman" panose="02020603050405020304" pitchFamily="18" charset="0"/>
              <a:ea typeface="楷体_GB2312" pitchFamily="49" charset="-122"/>
              <a:cs typeface="Times New Roman" panose="02020603050405020304" pitchFamily="18" charset="0"/>
            </a:endParaRPr>
          </a:p>
        </p:txBody>
      </p:sp>
      <p:sp>
        <p:nvSpPr>
          <p:cNvPr id="50179" name="内容占位符 2"/>
          <p:cNvSpPr>
            <a:spLocks noGrp="1"/>
          </p:cNvSpPr>
          <p:nvPr>
            <p:ph idx="1"/>
          </p:nvPr>
        </p:nvSpPr>
        <p:spPr>
          <a:xfrm>
            <a:off x="395536" y="1357313"/>
            <a:ext cx="8291512" cy="5272087"/>
          </a:xfrm>
        </p:spPr>
        <p:txBody>
          <a:bodyPr/>
          <a:lstStyle/>
          <a:p>
            <a:pPr eaLnBrk="1" hangingPunct="1">
              <a:buFont typeface="Arial" panose="020B0604020202020204" pitchFamily="34" charset="0"/>
              <a:buChar char="•"/>
            </a:pPr>
            <a:r>
              <a:rPr lang="en-US" altLang="zh-CN" sz="2400" dirty="0">
                <a:latin typeface="Times New Roman" panose="02020603050405020304" pitchFamily="18" charset="0"/>
                <a:ea typeface="楷体_GB2312" pitchFamily="49" charset="-122"/>
                <a:cs typeface="Times New Roman" panose="02020603050405020304" pitchFamily="18" charset="0"/>
              </a:rPr>
              <a:t>CLONE_VM</a:t>
            </a:r>
            <a:r>
              <a:rPr lang="zh-CN" altLang="en-US" sz="2400" dirty="0">
                <a:latin typeface="Times New Roman" panose="02020603050405020304" pitchFamily="18" charset="0"/>
                <a:ea typeface="楷体_GB2312" pitchFamily="49" charset="-122"/>
                <a:cs typeface="Times New Roman" panose="02020603050405020304" pitchFamily="18" charset="0"/>
              </a:rPr>
              <a:t>：父子进程共享内存描述符及所有页表</a:t>
            </a: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en-US" altLang="zh-CN" sz="2400" dirty="0">
                <a:latin typeface="Times New Roman" panose="02020603050405020304" pitchFamily="18" charset="0"/>
                <a:ea typeface="楷体_GB2312" pitchFamily="49" charset="-122"/>
                <a:cs typeface="Times New Roman" panose="02020603050405020304" pitchFamily="18" charset="0"/>
              </a:rPr>
              <a:t>CLONE_FS</a:t>
            </a:r>
            <a:r>
              <a:rPr lang="zh-CN" altLang="en-US" sz="2400" dirty="0">
                <a:latin typeface="Times New Roman" panose="02020603050405020304" pitchFamily="18" charset="0"/>
                <a:ea typeface="楷体_GB2312" pitchFamily="49" charset="-122"/>
                <a:cs typeface="Times New Roman" panose="02020603050405020304" pitchFamily="18" charset="0"/>
              </a:rPr>
              <a:t>：父子进程共享文件系统信息</a:t>
            </a: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en-US" altLang="zh-CN" sz="2400" dirty="0">
                <a:latin typeface="Times New Roman" panose="02020603050405020304" pitchFamily="18" charset="0"/>
                <a:ea typeface="楷体_GB2312" pitchFamily="49" charset="-122"/>
                <a:cs typeface="Times New Roman" panose="02020603050405020304" pitchFamily="18" charset="0"/>
              </a:rPr>
              <a:t>CLONE_FILES</a:t>
            </a:r>
            <a:r>
              <a:rPr lang="zh-CN" altLang="en-US" sz="2400" dirty="0">
                <a:latin typeface="Times New Roman" panose="02020603050405020304" pitchFamily="18" charset="0"/>
                <a:ea typeface="楷体_GB2312" pitchFamily="49" charset="-122"/>
                <a:cs typeface="Times New Roman" panose="02020603050405020304" pitchFamily="18" charset="0"/>
              </a:rPr>
              <a:t>：父子进程共享文件描述符表</a:t>
            </a: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en-US" altLang="zh-CN" sz="2400" dirty="0">
                <a:latin typeface="Times New Roman" panose="02020603050405020304" pitchFamily="18" charset="0"/>
                <a:ea typeface="楷体_GB2312" pitchFamily="49" charset="-122"/>
                <a:cs typeface="Times New Roman" panose="02020603050405020304" pitchFamily="18" charset="0"/>
              </a:rPr>
              <a:t>CLONE_SIGHAND</a:t>
            </a:r>
            <a:r>
              <a:rPr lang="zh-CN" altLang="en-US" sz="2400" dirty="0">
                <a:latin typeface="Times New Roman" panose="02020603050405020304" pitchFamily="18" charset="0"/>
                <a:ea typeface="楷体_GB2312" pitchFamily="49" charset="-122"/>
                <a:cs typeface="Times New Roman" panose="02020603050405020304" pitchFamily="18" charset="0"/>
              </a:rPr>
              <a:t>：父子进程共享信号描述符</a:t>
            </a: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en-US" altLang="zh-CN" sz="2400" dirty="0">
                <a:latin typeface="Times New Roman" panose="02020603050405020304" pitchFamily="18" charset="0"/>
                <a:ea typeface="楷体_GB2312" pitchFamily="49" charset="-122"/>
                <a:cs typeface="Times New Roman" panose="02020603050405020304" pitchFamily="18" charset="0"/>
              </a:rPr>
              <a:t>CLONE_PTRACE</a:t>
            </a:r>
            <a:r>
              <a:rPr lang="zh-CN" altLang="en-US" sz="2400" dirty="0">
                <a:latin typeface="Times New Roman" panose="02020603050405020304" pitchFamily="18" charset="0"/>
                <a:ea typeface="楷体_GB2312" pitchFamily="49" charset="-122"/>
                <a:cs typeface="Times New Roman" panose="02020603050405020304" pitchFamily="18" charset="0"/>
              </a:rPr>
              <a:t>：若父进程被跟踪，子进程也被跟踪</a:t>
            </a: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en-US" altLang="zh-CN" sz="2400" dirty="0">
                <a:latin typeface="Times New Roman" panose="02020603050405020304" pitchFamily="18" charset="0"/>
                <a:ea typeface="楷体_GB2312" pitchFamily="49" charset="-122"/>
                <a:cs typeface="Times New Roman" panose="02020603050405020304" pitchFamily="18" charset="0"/>
              </a:rPr>
              <a:t>CLONE_PARENT</a:t>
            </a:r>
            <a:r>
              <a:rPr lang="zh-CN" altLang="en-US" sz="2400" dirty="0">
                <a:latin typeface="Times New Roman" panose="02020603050405020304" pitchFamily="18" charset="0"/>
                <a:ea typeface="楷体_GB2312" pitchFamily="49" charset="-122"/>
                <a:cs typeface="Times New Roman" panose="02020603050405020304" pitchFamily="18" charset="0"/>
              </a:rPr>
              <a:t>：父进程的</a:t>
            </a:r>
            <a:r>
              <a:rPr lang="en-US" altLang="zh-CN" sz="2400" dirty="0" err="1">
                <a:latin typeface="Times New Roman" panose="02020603050405020304" pitchFamily="18" charset="0"/>
                <a:ea typeface="楷体_GB2312" pitchFamily="49" charset="-122"/>
                <a:cs typeface="Times New Roman" panose="02020603050405020304" pitchFamily="18" charset="0"/>
              </a:rPr>
              <a:t>real_parent</a:t>
            </a:r>
            <a:r>
              <a:rPr lang="zh-CN" altLang="en-US" sz="2400" dirty="0">
                <a:latin typeface="Times New Roman" panose="02020603050405020304" pitchFamily="18" charset="0"/>
                <a:ea typeface="楷体_GB2312" pitchFamily="49" charset="-122"/>
                <a:cs typeface="Times New Roman" panose="02020603050405020304" pitchFamily="18" charset="0"/>
              </a:rPr>
              <a:t>登记为子进程的</a:t>
            </a:r>
            <a:r>
              <a:rPr lang="en-US" altLang="zh-CN" sz="2400" dirty="0">
                <a:latin typeface="Times New Roman" panose="02020603050405020304" pitchFamily="18" charset="0"/>
                <a:ea typeface="楷体_GB2312" pitchFamily="49" charset="-122"/>
                <a:cs typeface="Times New Roman" panose="02020603050405020304" pitchFamily="18" charset="0"/>
              </a:rPr>
              <a:t>parent</a:t>
            </a:r>
            <a:r>
              <a:rPr lang="zh-CN" altLang="en-US" sz="2400" dirty="0">
                <a:latin typeface="Times New Roman" panose="02020603050405020304" pitchFamily="18" charset="0"/>
                <a:ea typeface="楷体_GB2312" pitchFamily="49" charset="-122"/>
                <a:cs typeface="Times New Roman" panose="02020603050405020304" pitchFamily="18" charset="0"/>
              </a:rPr>
              <a:t>和</a:t>
            </a:r>
            <a:r>
              <a:rPr lang="en-US" altLang="zh-CN" sz="2400" dirty="0" err="1">
                <a:latin typeface="Times New Roman" panose="02020603050405020304" pitchFamily="18" charset="0"/>
                <a:ea typeface="楷体_GB2312" pitchFamily="49" charset="-122"/>
                <a:cs typeface="Times New Roman" panose="02020603050405020304" pitchFamily="18" charset="0"/>
              </a:rPr>
              <a:t>real_parent</a:t>
            </a:r>
            <a:endParaRPr lang="en-US" altLang="zh-CN" sz="24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en-US" altLang="zh-CN" sz="2400" dirty="0">
                <a:latin typeface="Times New Roman" panose="02020603050405020304" pitchFamily="18" charset="0"/>
                <a:ea typeface="楷体_GB2312" pitchFamily="49" charset="-122"/>
                <a:cs typeface="Times New Roman" panose="02020603050405020304" pitchFamily="18" charset="0"/>
              </a:rPr>
              <a:t>CLONE_THREAD</a:t>
            </a:r>
            <a:r>
              <a:rPr lang="zh-CN" altLang="en-US" sz="2400" dirty="0">
                <a:latin typeface="Times New Roman" panose="02020603050405020304" pitchFamily="18" charset="0"/>
                <a:ea typeface="楷体_GB2312" pitchFamily="49" charset="-122"/>
                <a:cs typeface="Times New Roman" panose="02020603050405020304" pitchFamily="18" charset="0"/>
              </a:rPr>
              <a:t>：子进程加入父进程的线程组</a:t>
            </a: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en-US" altLang="zh-CN" sz="2400" dirty="0">
                <a:latin typeface="Times New Roman" panose="02020603050405020304" pitchFamily="18" charset="0"/>
                <a:ea typeface="楷体_GB2312" pitchFamily="49" charset="-122"/>
                <a:cs typeface="Times New Roman" panose="02020603050405020304" pitchFamily="18" charset="0"/>
              </a:rPr>
              <a:t>CLONE_STOPPED</a:t>
            </a:r>
            <a:r>
              <a:rPr lang="zh-CN" altLang="en-US" sz="2400" dirty="0">
                <a:latin typeface="Times New Roman" panose="02020603050405020304" pitchFamily="18" charset="0"/>
                <a:ea typeface="楷体_GB2312" pitchFamily="49" charset="-122"/>
                <a:cs typeface="Times New Roman" panose="02020603050405020304" pitchFamily="18" charset="0"/>
              </a:rPr>
              <a:t>：创建新进程但不运行之</a:t>
            </a:r>
            <a:endParaRPr lang="zh-CN" altLang="en-US" sz="2400" dirty="0">
              <a:latin typeface="Times New Roman" panose="02020603050405020304" pitchFamily="18" charset="0"/>
              <a:ea typeface="楷体_GB2312" pitchFamily="49" charset="-122"/>
              <a:cs typeface="Times New Roman" panose="02020603050405020304" pitchFamily="18" charset="0"/>
            </a:endParaRPr>
          </a:p>
        </p:txBody>
      </p:sp>
      <p:sp>
        <p:nvSpPr>
          <p:cNvPr id="5" name="Rectangle 6"/>
          <p:cNvSpPr txBox="1">
            <a:spLocks noChangeArrowheads="1"/>
          </p:cNvSpPr>
          <p:nvPr/>
        </p:nvSpPr>
        <p:spPr bwMode="black">
          <a:xfrm>
            <a:off x="611188" y="0"/>
            <a:ext cx="76327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2pPr>
            <a:lvl3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3pPr>
            <a:lvl4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4pPr>
            <a:lvl5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5pPr>
            <a:lvl6pPr marL="4572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6pPr>
            <a:lvl7pPr marL="9144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7pPr>
            <a:lvl8pPr marL="13716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8pPr>
            <a:lvl9pPr marL="18288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9pPr>
          </a:lstStyle>
          <a:p>
            <a:pPr eaLnBrk="1" hangingPunct="1"/>
            <a:br>
              <a:rPr lang="zh-CN" altLang="en-US" kern="0">
                <a:latin typeface="Times New Roman" panose="02020603050405020304" pitchFamily="18" charset="0"/>
                <a:ea typeface="楷体_GB2312" pitchFamily="49" charset="-122"/>
                <a:cs typeface="Times New Roman" panose="02020603050405020304" pitchFamily="18" charset="0"/>
              </a:rPr>
            </a:br>
            <a:r>
              <a:rPr lang="en-US" altLang="zh-CN" kern="0">
                <a:latin typeface="Times New Roman" panose="02020603050405020304" pitchFamily="18" charset="0"/>
                <a:ea typeface="楷体_GB2312" pitchFamily="49" charset="-122"/>
                <a:cs typeface="Times New Roman" panose="02020603050405020304" pitchFamily="18" charset="0"/>
              </a:rPr>
              <a:t>2.7 Linux</a:t>
            </a:r>
            <a:r>
              <a:rPr lang="zh-CN" altLang="en-US" kern="0">
                <a:latin typeface="Times New Roman" panose="02020603050405020304" pitchFamily="18" charset="0"/>
                <a:ea typeface="楷体_GB2312" pitchFamily="49" charset="-122"/>
                <a:cs typeface="Times New Roman" panose="02020603050405020304" pitchFamily="18" charset="0"/>
              </a:rPr>
              <a:t>中的进程控制</a:t>
            </a:r>
            <a:endParaRPr lang="zh-CN" altLang="en-US" kern="0"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ransition>
    <p:wedg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Rectangle 3"/>
          <p:cNvSpPr>
            <a:spLocks noGrp="1" noChangeArrowheads="1"/>
          </p:cNvSpPr>
          <p:nvPr>
            <p:ph type="body" idx="1"/>
          </p:nvPr>
        </p:nvSpPr>
        <p:spPr/>
        <p:txBody>
          <a:bodyPr/>
          <a:lstStyle/>
          <a:p>
            <a:pPr eaLnBrk="1" hangingPunct="1"/>
            <a:endParaRPr lang="zh-CN" altLang="zh-CN"/>
          </a:p>
        </p:txBody>
      </p:sp>
      <p:pic>
        <p:nvPicPr>
          <p:cNvPr id="51205"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27088" y="2276475"/>
            <a:ext cx="8137525" cy="294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a:spLocks noGrp="1" noChangeArrowheads="1"/>
          </p:cNvSpPr>
          <p:nvPr>
            <p:ph type="title"/>
          </p:nvPr>
        </p:nvSpPr>
        <p:spPr>
          <a:xfrm>
            <a:off x="611188" y="0"/>
            <a:ext cx="7632700" cy="609600"/>
          </a:xfrm>
          <a:noFill/>
        </p:spPr>
        <p:txBody>
          <a:bodyPr/>
          <a:lstStyle/>
          <a:p>
            <a:pPr eaLnBrk="1" hangingPunct="1"/>
            <a:br>
              <a:rPr lang="zh-CN" altLang="en-US" dirty="0">
                <a:latin typeface="Times New Roman" panose="02020603050405020304" pitchFamily="18" charset="0"/>
                <a:ea typeface="楷体_GB2312" pitchFamily="49" charset="-122"/>
                <a:cs typeface="Times New Roman" panose="02020603050405020304" pitchFamily="18" charset="0"/>
              </a:rPr>
            </a:br>
            <a:r>
              <a:rPr lang="en-US" altLang="zh-CN" dirty="0">
                <a:latin typeface="Times New Roman" panose="02020603050405020304" pitchFamily="18" charset="0"/>
                <a:ea typeface="楷体_GB2312" pitchFamily="49" charset="-122"/>
                <a:cs typeface="Times New Roman" panose="02020603050405020304" pitchFamily="18" charset="0"/>
              </a:rPr>
              <a:t>2.7 Linux</a:t>
            </a:r>
            <a:r>
              <a:rPr lang="zh-CN" altLang="en-US" dirty="0">
                <a:latin typeface="Times New Roman" panose="02020603050405020304" pitchFamily="18" charset="0"/>
                <a:ea typeface="楷体_GB2312" pitchFamily="49" charset="-122"/>
                <a:cs typeface="Times New Roman" panose="02020603050405020304" pitchFamily="18" charset="0"/>
              </a:rPr>
              <a:t>中的进程控制</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ransition>
    <p:wedg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3"/>
          <p:cNvSpPr>
            <a:spLocks noGrp="1" noChangeArrowheads="1"/>
          </p:cNvSpPr>
          <p:nvPr>
            <p:ph type="body" idx="1"/>
          </p:nvPr>
        </p:nvSpPr>
        <p:spPr>
          <a:xfrm>
            <a:off x="323850" y="1196975"/>
            <a:ext cx="8424863" cy="5021263"/>
          </a:xfrm>
        </p:spPr>
        <p:txBody>
          <a:bodyPr/>
          <a:lstStyle/>
          <a:p>
            <a:pPr algn="just" eaLnBrk="1" hangingPunct="1">
              <a:buFont typeface="Arial" panose="020B0604020202020204" pitchFamily="34" charset="0"/>
              <a:buChar char="•"/>
            </a:pPr>
            <a:r>
              <a:rPr lang="en-US" altLang="zh-CN" sz="2600" dirty="0" err="1">
                <a:solidFill>
                  <a:srgbClr val="004182"/>
                </a:solidFill>
                <a:latin typeface="Times New Roman" panose="02020603050405020304" pitchFamily="18" charset="0"/>
                <a:ea typeface="楷体_GB2312" pitchFamily="49" charset="-122"/>
                <a:cs typeface="Times New Roman" panose="02020603050405020304" pitchFamily="18" charset="0"/>
              </a:rPr>
              <a:t>sys_fork</a:t>
            </a:r>
            <a:r>
              <a:rPr lang="en-US" altLang="zh-CN" sz="2600" dirty="0">
                <a:solidFill>
                  <a:srgbClr val="004182"/>
                </a:solidFill>
                <a:latin typeface="Times New Roman" panose="02020603050405020304" pitchFamily="18" charset="0"/>
                <a:ea typeface="楷体_GB2312" pitchFamily="49" charset="-122"/>
                <a:cs typeface="Times New Roman" panose="02020603050405020304" pitchFamily="18" charset="0"/>
              </a:rPr>
              <a:t>()</a:t>
            </a:r>
            <a:r>
              <a:rPr lang="zh-CN" altLang="en-US" sz="2600" dirty="0">
                <a:solidFill>
                  <a:srgbClr val="004182"/>
                </a:solidFill>
                <a:latin typeface="Times New Roman" panose="02020603050405020304" pitchFamily="18" charset="0"/>
                <a:ea typeface="楷体_GB2312" pitchFamily="49" charset="-122"/>
                <a:cs typeface="Times New Roman" panose="02020603050405020304" pitchFamily="18" charset="0"/>
              </a:rPr>
              <a:t>和</a:t>
            </a:r>
            <a:r>
              <a:rPr lang="en-US" altLang="zh-CN" sz="2600" dirty="0" err="1">
                <a:solidFill>
                  <a:srgbClr val="004182"/>
                </a:solidFill>
                <a:latin typeface="Times New Roman" panose="02020603050405020304" pitchFamily="18" charset="0"/>
                <a:ea typeface="楷体_GB2312" pitchFamily="49" charset="-122"/>
                <a:cs typeface="Times New Roman" panose="02020603050405020304" pitchFamily="18" charset="0"/>
              </a:rPr>
              <a:t>sys_clone</a:t>
            </a:r>
            <a:r>
              <a:rPr lang="en-US" altLang="zh-CN" sz="2600" dirty="0">
                <a:solidFill>
                  <a:srgbClr val="004182"/>
                </a:solidFill>
                <a:latin typeface="Times New Roman" panose="02020603050405020304" pitchFamily="18" charset="0"/>
                <a:ea typeface="楷体_GB2312" pitchFamily="49" charset="-122"/>
                <a:cs typeface="Times New Roman" panose="02020603050405020304" pitchFamily="18" charset="0"/>
              </a:rPr>
              <a:t>()</a:t>
            </a:r>
            <a:r>
              <a:rPr lang="zh-CN" altLang="en-US" sz="2600" dirty="0">
                <a:solidFill>
                  <a:srgbClr val="004182"/>
                </a:solidFill>
                <a:latin typeface="Times New Roman" panose="02020603050405020304" pitchFamily="18" charset="0"/>
                <a:ea typeface="楷体_GB2312" pitchFamily="49" charset="-122"/>
                <a:cs typeface="Times New Roman" panose="02020603050405020304" pitchFamily="18" charset="0"/>
              </a:rPr>
              <a:t>都通过调用</a:t>
            </a:r>
            <a:r>
              <a:rPr lang="en-US" altLang="zh-CN" sz="2600" dirty="0" err="1">
                <a:solidFill>
                  <a:srgbClr val="004182"/>
                </a:solidFill>
                <a:latin typeface="Times New Roman" panose="02020603050405020304" pitchFamily="18" charset="0"/>
                <a:ea typeface="楷体_GB2312" pitchFamily="49" charset="-122"/>
                <a:cs typeface="Times New Roman" panose="02020603050405020304" pitchFamily="18" charset="0"/>
              </a:rPr>
              <a:t>do_fork</a:t>
            </a:r>
            <a:r>
              <a:rPr lang="en-US" altLang="zh-CN" sz="2600" dirty="0">
                <a:solidFill>
                  <a:srgbClr val="004182"/>
                </a:solidFill>
                <a:latin typeface="Times New Roman" panose="02020603050405020304" pitchFamily="18" charset="0"/>
                <a:ea typeface="楷体_GB2312" pitchFamily="49" charset="-122"/>
                <a:cs typeface="Times New Roman" panose="02020603050405020304" pitchFamily="18" charset="0"/>
              </a:rPr>
              <a:t>()</a:t>
            </a:r>
            <a:r>
              <a:rPr lang="zh-CN" altLang="en-US" sz="2600" dirty="0">
                <a:solidFill>
                  <a:srgbClr val="004182"/>
                </a:solidFill>
                <a:latin typeface="Times New Roman" panose="02020603050405020304" pitchFamily="18" charset="0"/>
                <a:ea typeface="楷体_GB2312" pitchFamily="49" charset="-122"/>
                <a:cs typeface="Times New Roman" panose="02020603050405020304" pitchFamily="18" charset="0"/>
              </a:rPr>
              <a:t>函数来完成进程的创建</a:t>
            </a:r>
            <a:endParaRPr lang="zh-CN" altLang="en-US" sz="2600" dirty="0">
              <a:solidFill>
                <a:srgbClr val="004182"/>
              </a:solidFill>
              <a:latin typeface="Times New Roman" panose="02020603050405020304" pitchFamily="18" charset="0"/>
              <a:ea typeface="楷体_GB2312" pitchFamily="49" charset="-122"/>
              <a:cs typeface="Times New Roman" panose="02020603050405020304" pitchFamily="18" charset="0"/>
            </a:endParaRPr>
          </a:p>
          <a:p>
            <a:pPr algn="just" eaLnBrk="1" hangingPunct="1">
              <a:buFont typeface="Arial" panose="020B0604020202020204" pitchFamily="34" charset="0"/>
              <a:buChar char="•"/>
            </a:pPr>
            <a:r>
              <a:rPr lang="en-US" altLang="zh-CN" sz="2600" dirty="0" err="1">
                <a:solidFill>
                  <a:srgbClr val="FF0000"/>
                </a:solidFill>
                <a:latin typeface="Times New Roman" panose="02020603050405020304" pitchFamily="18" charset="0"/>
                <a:ea typeface="楷体_GB2312" pitchFamily="49" charset="-122"/>
                <a:cs typeface="Times New Roman" panose="02020603050405020304" pitchFamily="18" charset="0"/>
              </a:rPr>
              <a:t>sys_fork</a:t>
            </a:r>
            <a:r>
              <a:rPr lang="en-US" altLang="zh-CN" sz="2600"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en-US" altLang="zh-CN" sz="2600" dirty="0">
                <a:solidFill>
                  <a:srgbClr val="004182"/>
                </a:solidFill>
                <a:latin typeface="Times New Roman" panose="02020603050405020304" pitchFamily="18" charset="0"/>
                <a:ea typeface="楷体_GB2312" pitchFamily="49" charset="-122"/>
                <a:cs typeface="Times New Roman" panose="02020603050405020304" pitchFamily="18" charset="0"/>
              </a:rPr>
              <a:t>  </a:t>
            </a:r>
            <a:r>
              <a:rPr lang="zh-CN" altLang="en-US" sz="2600" dirty="0">
                <a:solidFill>
                  <a:srgbClr val="004182"/>
                </a:solidFill>
                <a:latin typeface="Times New Roman" panose="02020603050405020304" pitchFamily="18" charset="0"/>
                <a:ea typeface="楷体_GB2312" pitchFamily="49" charset="-122"/>
                <a:cs typeface="Times New Roman" panose="02020603050405020304" pitchFamily="18" charset="0"/>
              </a:rPr>
              <a:t>除了代码段外，父子进程不共享任何东西（各自有一份）</a:t>
            </a:r>
            <a:endParaRPr lang="zh-CN" altLang="en-US" sz="2600" dirty="0">
              <a:solidFill>
                <a:srgbClr val="004182"/>
              </a:solidFill>
              <a:latin typeface="Times New Roman" panose="02020603050405020304" pitchFamily="18" charset="0"/>
              <a:ea typeface="楷体_GB2312" pitchFamily="49" charset="-122"/>
              <a:cs typeface="Times New Roman" panose="02020603050405020304" pitchFamily="18" charset="0"/>
            </a:endParaRPr>
          </a:p>
          <a:p>
            <a:pPr algn="just" eaLnBrk="1" hangingPunct="1">
              <a:buFont typeface="Arial" panose="020B0604020202020204" pitchFamily="34" charset="0"/>
              <a:buChar char="•"/>
            </a:pPr>
            <a:r>
              <a:rPr lang="en-US" altLang="zh-CN" sz="2600" dirty="0" err="1">
                <a:solidFill>
                  <a:srgbClr val="FF0000"/>
                </a:solidFill>
                <a:latin typeface="Times New Roman" panose="02020603050405020304" pitchFamily="18" charset="0"/>
                <a:ea typeface="楷体_GB2312" pitchFamily="49" charset="-122"/>
                <a:cs typeface="Times New Roman" panose="02020603050405020304" pitchFamily="18" charset="0"/>
              </a:rPr>
              <a:t>sys_clone</a:t>
            </a:r>
            <a:r>
              <a:rPr lang="en-US" altLang="zh-CN" sz="2600"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600"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600" dirty="0">
                <a:solidFill>
                  <a:srgbClr val="004182"/>
                </a:solidFill>
                <a:latin typeface="Times New Roman" panose="02020603050405020304" pitchFamily="18" charset="0"/>
                <a:ea typeface="楷体_GB2312" pitchFamily="49" charset="-122"/>
                <a:cs typeface="Times New Roman" panose="02020603050405020304" pitchFamily="18" charset="0"/>
              </a:rPr>
              <a:t>有选择地对父进程进行复制，可根据提供的</a:t>
            </a:r>
            <a:r>
              <a:rPr lang="en-US" altLang="zh-CN" sz="2600" dirty="0" err="1">
                <a:solidFill>
                  <a:srgbClr val="004182"/>
                </a:solidFill>
                <a:latin typeface="Times New Roman" panose="02020603050405020304" pitchFamily="18" charset="0"/>
                <a:ea typeface="楷体_GB2312" pitchFamily="49" charset="-122"/>
                <a:cs typeface="Times New Roman" panose="02020603050405020304" pitchFamily="18" charset="0"/>
              </a:rPr>
              <a:t>clone_flags</a:t>
            </a:r>
            <a:r>
              <a:rPr lang="zh-CN" altLang="en-US" sz="2600" dirty="0">
                <a:solidFill>
                  <a:srgbClr val="004182"/>
                </a:solidFill>
                <a:latin typeface="Times New Roman" panose="02020603050405020304" pitchFamily="18" charset="0"/>
                <a:ea typeface="楷体_GB2312" pitchFamily="49" charset="-122"/>
                <a:cs typeface="Times New Roman" panose="02020603050405020304" pitchFamily="18" charset="0"/>
              </a:rPr>
              <a:t>决定共享的内容</a:t>
            </a:r>
            <a:endParaRPr lang="zh-CN" altLang="en-US" sz="2600" dirty="0">
              <a:solidFill>
                <a:srgbClr val="004182"/>
              </a:solidFill>
              <a:latin typeface="Times New Roman" panose="02020603050405020304" pitchFamily="18" charset="0"/>
              <a:ea typeface="楷体_GB2312" pitchFamily="49" charset="-122"/>
              <a:cs typeface="Times New Roman" panose="02020603050405020304" pitchFamily="18" charset="0"/>
            </a:endParaRPr>
          </a:p>
          <a:p>
            <a:pPr lvl="1" algn="just" eaLnBrk="1" hangingPunct="1">
              <a:buFont typeface="Arial" panose="020B0604020202020204" pitchFamily="34" charset="0"/>
              <a:buChar char="•"/>
            </a:pPr>
            <a:r>
              <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不提供标志：</a:t>
            </a:r>
            <a:r>
              <a:rPr lang="en-US" altLang="zh-CN" dirty="0" err="1">
                <a:solidFill>
                  <a:srgbClr val="004182"/>
                </a:solidFill>
                <a:latin typeface="Times New Roman" panose="02020603050405020304" pitchFamily="18" charset="0"/>
                <a:ea typeface="楷体_GB2312" pitchFamily="49" charset="-122"/>
                <a:cs typeface="Times New Roman" panose="02020603050405020304" pitchFamily="18" charset="0"/>
              </a:rPr>
              <a:t>sys_clone</a:t>
            </a:r>
            <a:r>
              <a:rPr lang="en-US" altLang="zh-CN" dirty="0">
                <a:solidFill>
                  <a:srgbClr val="004182"/>
                </a:solidFill>
                <a:latin typeface="Times New Roman" panose="02020603050405020304" pitchFamily="18" charset="0"/>
                <a:ea typeface="楷体_GB2312" pitchFamily="49" charset="-122"/>
                <a:cs typeface="Times New Roman" panose="02020603050405020304" pitchFamily="18" charset="0"/>
              </a:rPr>
              <a:t>()</a:t>
            </a:r>
            <a:r>
              <a:rPr lang="zh-CN" altLang="en-US" dirty="0">
                <a:solidFill>
                  <a:srgbClr val="004182"/>
                </a:solidFill>
                <a:latin typeface="Times New Roman" panose="02020603050405020304" pitchFamily="18" charset="0"/>
                <a:ea typeface="楷体_GB2312" pitchFamily="49" charset="-122"/>
                <a:cs typeface="Times New Roman" panose="02020603050405020304" pitchFamily="18" charset="0"/>
              </a:rPr>
              <a:t>与</a:t>
            </a:r>
            <a:r>
              <a:rPr lang="en-US" altLang="zh-CN" dirty="0" err="1">
                <a:solidFill>
                  <a:srgbClr val="004182"/>
                </a:solidFill>
                <a:latin typeface="Times New Roman" panose="02020603050405020304" pitchFamily="18" charset="0"/>
                <a:ea typeface="楷体_GB2312" pitchFamily="49" charset="-122"/>
                <a:cs typeface="Times New Roman" panose="02020603050405020304" pitchFamily="18" charset="0"/>
              </a:rPr>
              <a:t>sys_fork</a:t>
            </a:r>
            <a:r>
              <a:rPr lang="en-US" altLang="zh-CN" dirty="0">
                <a:solidFill>
                  <a:srgbClr val="004182"/>
                </a:solidFill>
                <a:latin typeface="Times New Roman" panose="02020603050405020304" pitchFamily="18" charset="0"/>
                <a:ea typeface="楷体_GB2312" pitchFamily="49" charset="-122"/>
                <a:cs typeface="Times New Roman" panose="02020603050405020304" pitchFamily="18" charset="0"/>
              </a:rPr>
              <a:t>()</a:t>
            </a:r>
            <a:r>
              <a:rPr lang="zh-CN" altLang="en-US" dirty="0">
                <a:solidFill>
                  <a:srgbClr val="004182"/>
                </a:solidFill>
                <a:latin typeface="Times New Roman" panose="02020603050405020304" pitchFamily="18" charset="0"/>
                <a:ea typeface="楷体_GB2312" pitchFamily="49" charset="-122"/>
                <a:cs typeface="Times New Roman" panose="02020603050405020304" pitchFamily="18" charset="0"/>
              </a:rPr>
              <a:t>相同</a:t>
            </a:r>
            <a:endParaRPr lang="zh-CN" altLang="en-US" dirty="0">
              <a:solidFill>
                <a:srgbClr val="004182"/>
              </a:solidFill>
              <a:latin typeface="Times New Roman" panose="02020603050405020304" pitchFamily="18" charset="0"/>
              <a:ea typeface="楷体_GB2312" pitchFamily="49" charset="-122"/>
              <a:cs typeface="Times New Roman" panose="02020603050405020304" pitchFamily="18" charset="0"/>
            </a:endParaRPr>
          </a:p>
          <a:p>
            <a:pPr lvl="1" algn="just" eaLnBrk="1" hangingPunct="1">
              <a:buFont typeface="Arial" panose="020B0604020202020204" pitchFamily="34" charset="0"/>
              <a:buChar char="•"/>
            </a:pPr>
            <a:r>
              <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提供标志：</a:t>
            </a:r>
            <a:r>
              <a:rPr lang="zh-CN" altLang="en-US" dirty="0">
                <a:solidFill>
                  <a:srgbClr val="004182"/>
                </a:solidFill>
                <a:latin typeface="Times New Roman" panose="02020603050405020304" pitchFamily="18" charset="0"/>
                <a:ea typeface="楷体_GB2312" pitchFamily="49" charset="-122"/>
                <a:cs typeface="Times New Roman" panose="02020603050405020304" pitchFamily="18" charset="0"/>
              </a:rPr>
              <a:t>根据标志进行相应进程的共享，就是传统的线程。如可共享页表、打开的文件列表、信号处理。因此， 利用</a:t>
            </a:r>
            <a:r>
              <a:rPr lang="en-US" altLang="zh-CN" dirty="0" err="1">
                <a:solidFill>
                  <a:schemeClr val="tx1"/>
                </a:solidFill>
                <a:latin typeface="Times New Roman" panose="02020603050405020304" pitchFamily="18" charset="0"/>
                <a:ea typeface="楷体_GB2312" pitchFamily="49" charset="-122"/>
                <a:cs typeface="Times New Roman" panose="02020603050405020304" pitchFamily="18" charset="0"/>
              </a:rPr>
              <a:t>sys_clone</a:t>
            </a:r>
            <a:r>
              <a:rPr lang="en-US" altLang="zh-CN" dirty="0">
                <a:solidFill>
                  <a:schemeClr val="tx1"/>
                </a:solidFill>
                <a:latin typeface="Times New Roman" panose="02020603050405020304" pitchFamily="18" charset="0"/>
                <a:ea typeface="楷体_GB2312" pitchFamily="49" charset="-122"/>
                <a:cs typeface="Times New Roman" panose="02020603050405020304" pitchFamily="18" charset="0"/>
              </a:rPr>
              <a:t>()</a:t>
            </a:r>
            <a:r>
              <a:rPr lang="zh-CN" altLang="en-US" dirty="0">
                <a:solidFill>
                  <a:srgbClr val="004182"/>
                </a:solidFill>
                <a:latin typeface="Times New Roman" panose="02020603050405020304" pitchFamily="18" charset="0"/>
                <a:ea typeface="楷体_GB2312" pitchFamily="49" charset="-122"/>
                <a:cs typeface="Times New Roman" panose="02020603050405020304" pitchFamily="18" charset="0"/>
              </a:rPr>
              <a:t>轻量级进程允许父子进程共享许多数据结构。</a:t>
            </a:r>
            <a:endParaRPr lang="zh-CN" altLang="en-US" dirty="0">
              <a:solidFill>
                <a:srgbClr val="004182"/>
              </a:solidFill>
              <a:latin typeface="Times New Roman" panose="02020603050405020304" pitchFamily="18" charset="0"/>
              <a:ea typeface="楷体_GB2312" pitchFamily="49" charset="-122"/>
              <a:cs typeface="Times New Roman" panose="02020603050405020304" pitchFamily="18" charset="0"/>
            </a:endParaRPr>
          </a:p>
          <a:p>
            <a:pPr lvl="1" algn="just" eaLnBrk="1" hangingPunct="1">
              <a:buFont typeface="Arial" panose="020B0604020202020204" pitchFamily="34" charset="0"/>
              <a:buChar char="•"/>
            </a:pPr>
            <a:endParaRPr lang="en-US" altLang="zh-CN" dirty="0">
              <a:solidFill>
                <a:srgbClr val="004182"/>
              </a:solidFill>
              <a:latin typeface="Times New Roman" panose="02020603050405020304" pitchFamily="18" charset="0"/>
              <a:ea typeface="楷体_GB2312" pitchFamily="49" charset="-122"/>
              <a:cs typeface="Times New Roman" panose="02020603050405020304" pitchFamily="18" charset="0"/>
            </a:endParaRPr>
          </a:p>
        </p:txBody>
      </p:sp>
      <p:sp>
        <p:nvSpPr>
          <p:cNvPr id="5" name="Rectangle 6"/>
          <p:cNvSpPr>
            <a:spLocks noGrp="1" noChangeArrowheads="1"/>
          </p:cNvSpPr>
          <p:nvPr>
            <p:ph type="title"/>
          </p:nvPr>
        </p:nvSpPr>
        <p:spPr>
          <a:xfrm>
            <a:off x="611188" y="0"/>
            <a:ext cx="7632700" cy="609600"/>
          </a:xfrm>
          <a:noFill/>
        </p:spPr>
        <p:txBody>
          <a:bodyPr/>
          <a:lstStyle/>
          <a:p>
            <a:pPr eaLnBrk="1" hangingPunct="1"/>
            <a:br>
              <a:rPr lang="zh-CN" altLang="en-US" dirty="0">
                <a:latin typeface="Times New Roman" panose="02020603050405020304" pitchFamily="18" charset="0"/>
                <a:ea typeface="楷体_GB2312" pitchFamily="49" charset="-122"/>
                <a:cs typeface="Times New Roman" panose="02020603050405020304" pitchFamily="18" charset="0"/>
              </a:rPr>
            </a:br>
            <a:r>
              <a:rPr lang="en-US" altLang="zh-CN" dirty="0">
                <a:latin typeface="Times New Roman" panose="02020603050405020304" pitchFamily="18" charset="0"/>
                <a:ea typeface="楷体_GB2312" pitchFamily="49" charset="-122"/>
                <a:cs typeface="Times New Roman" panose="02020603050405020304" pitchFamily="18" charset="0"/>
              </a:rPr>
              <a:t>2.7 Linux</a:t>
            </a:r>
            <a:r>
              <a:rPr lang="zh-CN" altLang="en-US" dirty="0">
                <a:latin typeface="Times New Roman" panose="02020603050405020304" pitchFamily="18" charset="0"/>
                <a:ea typeface="楷体_GB2312" pitchFamily="49" charset="-122"/>
                <a:cs typeface="Times New Roman" panose="02020603050405020304" pitchFamily="18" charset="0"/>
              </a:rPr>
              <a:t>中的进程控制</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2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222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2227">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2227">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222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3"/>
          <p:cNvSpPr>
            <a:spLocks noGrp="1" noChangeArrowheads="1"/>
          </p:cNvSpPr>
          <p:nvPr>
            <p:ph type="body" idx="1"/>
          </p:nvPr>
        </p:nvSpPr>
        <p:spPr>
          <a:xfrm>
            <a:off x="395288" y="981075"/>
            <a:ext cx="8208962" cy="4680173"/>
          </a:xfrm>
        </p:spPr>
        <p:txBody>
          <a:bodyPr/>
          <a:lstStyle/>
          <a:p>
            <a:pPr algn="just" eaLnBrk="1" hangingPunct="1">
              <a:buFont typeface="Wingdings" panose="05000000000000000000" pitchFamily="2" charset="2"/>
              <a:buNone/>
            </a:pPr>
            <a:r>
              <a:rPr lang="en-US" altLang="zh-CN" sz="2600"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600" dirty="0" err="1">
                <a:solidFill>
                  <a:srgbClr val="FF0000"/>
                </a:solidFill>
                <a:latin typeface="Times New Roman" panose="02020603050405020304" pitchFamily="18" charset="0"/>
                <a:ea typeface="楷体_GB2312" pitchFamily="49" charset="-122"/>
                <a:cs typeface="Times New Roman" panose="02020603050405020304" pitchFamily="18" charset="0"/>
              </a:rPr>
              <a:t>sys_vfork</a:t>
            </a:r>
            <a:r>
              <a:rPr lang="en-US" altLang="zh-CN" sz="2600"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sz="2600" dirty="0">
                <a:solidFill>
                  <a:srgbClr val="FF0000"/>
                </a:solidFill>
                <a:latin typeface="Times New Roman" panose="02020603050405020304" pitchFamily="18" charset="0"/>
                <a:ea typeface="楷体_GB2312" pitchFamily="49" charset="-122"/>
                <a:cs typeface="Times New Roman" panose="02020603050405020304" pitchFamily="18" charset="0"/>
              </a:rPr>
              <a:t>：</a:t>
            </a:r>
            <a:endParaRPr lang="zh-CN" altLang="en-US" sz="2600" dirty="0">
              <a:solidFill>
                <a:srgbClr val="FF0000"/>
              </a:solidFill>
              <a:latin typeface="Times New Roman" panose="02020603050405020304" pitchFamily="18" charset="0"/>
              <a:ea typeface="楷体_GB2312" pitchFamily="49" charset="-122"/>
              <a:cs typeface="Times New Roman" panose="02020603050405020304" pitchFamily="18" charset="0"/>
            </a:endParaRPr>
          </a:p>
          <a:p>
            <a:pPr algn="just" eaLnBrk="1" hangingPunct="1">
              <a:buFont typeface="Arial" panose="020B0604020202020204" pitchFamily="34" charset="0"/>
              <a:buChar char="•"/>
            </a:pPr>
            <a:r>
              <a:rPr lang="zh-CN" altLang="en-US" sz="2600" dirty="0">
                <a:solidFill>
                  <a:srgbClr val="004182"/>
                </a:solidFill>
                <a:latin typeface="Times New Roman" panose="02020603050405020304" pitchFamily="18" charset="0"/>
                <a:ea typeface="楷体_GB2312" pitchFamily="49" charset="-122"/>
                <a:cs typeface="Times New Roman" panose="02020603050405020304" pitchFamily="18" charset="0"/>
              </a:rPr>
              <a:t>  使用</a:t>
            </a:r>
            <a:r>
              <a:rPr lang="en-US" altLang="zh-CN" sz="2600" dirty="0" err="1">
                <a:solidFill>
                  <a:srgbClr val="004182"/>
                </a:solidFill>
                <a:latin typeface="Times New Roman" panose="02020603050405020304" pitchFamily="18" charset="0"/>
                <a:ea typeface="楷体_GB2312" pitchFamily="49" charset="-122"/>
                <a:cs typeface="Times New Roman" panose="02020603050405020304" pitchFamily="18" charset="0"/>
              </a:rPr>
              <a:t>vfork</a:t>
            </a:r>
            <a:r>
              <a:rPr lang="en-US" altLang="zh-CN" sz="2600" dirty="0">
                <a:solidFill>
                  <a:srgbClr val="004182"/>
                </a:solidFill>
                <a:latin typeface="Times New Roman" panose="02020603050405020304" pitchFamily="18" charset="0"/>
                <a:ea typeface="楷体_GB2312" pitchFamily="49" charset="-122"/>
                <a:cs typeface="Times New Roman" panose="02020603050405020304" pitchFamily="18" charset="0"/>
              </a:rPr>
              <a:t>()</a:t>
            </a:r>
            <a:r>
              <a:rPr lang="zh-CN" altLang="en-US" sz="2600" dirty="0">
                <a:solidFill>
                  <a:srgbClr val="004182"/>
                </a:solidFill>
                <a:latin typeface="Times New Roman" panose="02020603050405020304" pitchFamily="18" charset="0"/>
                <a:ea typeface="楷体_GB2312" pitchFamily="49" charset="-122"/>
                <a:cs typeface="Times New Roman" panose="02020603050405020304" pitchFamily="18" charset="0"/>
              </a:rPr>
              <a:t>创建的新进程能够共享父进程的内存地址空间。使用复制指针的方法使子进程与父进程的资源实现共享。</a:t>
            </a:r>
            <a:endParaRPr lang="zh-CN" altLang="en-US" sz="2600" dirty="0">
              <a:solidFill>
                <a:srgbClr val="004182"/>
              </a:solidFill>
              <a:latin typeface="Times New Roman" panose="02020603050405020304" pitchFamily="18" charset="0"/>
              <a:ea typeface="楷体_GB2312" pitchFamily="49" charset="-122"/>
              <a:cs typeface="Times New Roman" panose="02020603050405020304" pitchFamily="18" charset="0"/>
            </a:endParaRPr>
          </a:p>
          <a:p>
            <a:pPr algn="just" eaLnBrk="1" hangingPunct="1">
              <a:buFont typeface="Arial" panose="020B0604020202020204" pitchFamily="34" charset="0"/>
              <a:buChar char="•"/>
            </a:pPr>
            <a:r>
              <a:rPr lang="zh-CN" altLang="en-US" sz="2600" dirty="0">
                <a:solidFill>
                  <a:srgbClr val="004182"/>
                </a:solidFill>
                <a:latin typeface="Times New Roman" panose="02020603050405020304" pitchFamily="18" charset="0"/>
                <a:ea typeface="楷体_GB2312" pitchFamily="49" charset="-122"/>
                <a:cs typeface="Times New Roman" panose="02020603050405020304" pitchFamily="18" charset="0"/>
              </a:rPr>
              <a:t>  父进程在这个过程中被阻塞，直到子进程退出或者通过</a:t>
            </a:r>
            <a:r>
              <a:rPr lang="en-US" altLang="zh-CN" sz="2600" dirty="0">
                <a:solidFill>
                  <a:srgbClr val="004182"/>
                </a:solidFill>
                <a:latin typeface="Times New Roman" panose="02020603050405020304" pitchFamily="18" charset="0"/>
                <a:ea typeface="楷体_GB2312" pitchFamily="49" charset="-122"/>
                <a:cs typeface="Times New Roman" panose="02020603050405020304" pitchFamily="18" charset="0"/>
              </a:rPr>
              <a:t>exec()</a:t>
            </a:r>
            <a:r>
              <a:rPr lang="zh-CN" altLang="en-US" sz="2600" dirty="0">
                <a:solidFill>
                  <a:srgbClr val="004182"/>
                </a:solidFill>
                <a:latin typeface="Times New Roman" panose="02020603050405020304" pitchFamily="18" charset="0"/>
                <a:ea typeface="楷体_GB2312" pitchFamily="49" charset="-122"/>
                <a:cs typeface="Times New Roman" panose="02020603050405020304" pitchFamily="18" charset="0"/>
              </a:rPr>
              <a:t>执行一个新的程序</a:t>
            </a:r>
            <a:r>
              <a:rPr lang="en-US" altLang="zh-CN" sz="2600" dirty="0">
                <a:solidFill>
                  <a:srgbClr val="004182"/>
                </a:solidFill>
                <a:latin typeface="Times New Roman" panose="02020603050405020304" pitchFamily="18" charset="0"/>
                <a:ea typeface="楷体_GB2312" pitchFamily="49" charset="-122"/>
                <a:cs typeface="Times New Roman" panose="02020603050405020304" pitchFamily="18" charset="0"/>
              </a:rPr>
              <a:t>(</a:t>
            </a:r>
            <a:r>
              <a:rPr lang="zh-CN" altLang="en-US" sz="2600" dirty="0">
                <a:solidFill>
                  <a:srgbClr val="FF0000"/>
                </a:solidFill>
                <a:latin typeface="Times New Roman" panose="02020603050405020304" pitchFamily="18" charset="0"/>
                <a:ea typeface="楷体_GB2312" pitchFamily="49" charset="-122"/>
                <a:cs typeface="Times New Roman" panose="02020603050405020304" pitchFamily="18" charset="0"/>
              </a:rPr>
              <a:t>租用</a:t>
            </a:r>
            <a:r>
              <a:rPr lang="zh-CN" altLang="en-US" sz="2600" dirty="0">
                <a:solidFill>
                  <a:srgbClr val="004182"/>
                </a:solidFill>
                <a:latin typeface="Times New Roman" panose="02020603050405020304" pitchFamily="18" charset="0"/>
                <a:ea typeface="楷体_GB2312" pitchFamily="49" charset="-122"/>
                <a:cs typeface="Times New Roman" panose="02020603050405020304" pitchFamily="18" charset="0"/>
              </a:rPr>
              <a:t>父进程的地址空间</a:t>
            </a:r>
            <a:r>
              <a:rPr lang="en-US" altLang="zh-CN" sz="2600" dirty="0">
                <a:solidFill>
                  <a:srgbClr val="004182"/>
                </a:solidFill>
                <a:latin typeface="Times New Roman" panose="02020603050405020304" pitchFamily="18" charset="0"/>
                <a:ea typeface="楷体_GB2312" pitchFamily="49" charset="-122"/>
                <a:cs typeface="Times New Roman" panose="02020603050405020304" pitchFamily="18" charset="0"/>
              </a:rPr>
              <a:t>)</a:t>
            </a:r>
            <a:r>
              <a:rPr lang="zh-CN" altLang="en-US" sz="2600" dirty="0">
                <a:solidFill>
                  <a:srgbClr val="004182"/>
                </a:solidFill>
                <a:latin typeface="Times New Roman" panose="02020603050405020304" pitchFamily="18" charset="0"/>
                <a:ea typeface="楷体_GB2312" pitchFamily="49" charset="-122"/>
                <a:cs typeface="Times New Roman" panose="02020603050405020304" pitchFamily="18" charset="0"/>
              </a:rPr>
              <a:t>。因此，</a:t>
            </a:r>
            <a:r>
              <a:rPr lang="en-US" altLang="zh-CN" sz="2600" dirty="0" err="1">
                <a:solidFill>
                  <a:srgbClr val="004182"/>
                </a:solidFill>
                <a:latin typeface="Times New Roman" panose="02020603050405020304" pitchFamily="18" charset="0"/>
                <a:ea typeface="楷体_GB2312" pitchFamily="49" charset="-122"/>
                <a:cs typeface="Times New Roman" panose="02020603050405020304" pitchFamily="18" charset="0"/>
              </a:rPr>
              <a:t>sys_vfork</a:t>
            </a:r>
            <a:r>
              <a:rPr lang="en-US" altLang="zh-CN" sz="2600" dirty="0">
                <a:solidFill>
                  <a:srgbClr val="004182"/>
                </a:solidFill>
                <a:latin typeface="Times New Roman" panose="02020603050405020304" pitchFamily="18" charset="0"/>
                <a:ea typeface="楷体_GB2312" pitchFamily="49" charset="-122"/>
                <a:cs typeface="Times New Roman" panose="02020603050405020304" pitchFamily="18" charset="0"/>
              </a:rPr>
              <a:t>()</a:t>
            </a:r>
            <a:r>
              <a:rPr lang="zh-CN" altLang="en-US" sz="2600" dirty="0">
                <a:solidFill>
                  <a:srgbClr val="004182"/>
                </a:solidFill>
                <a:latin typeface="Times New Roman" panose="02020603050405020304" pitchFamily="18" charset="0"/>
                <a:ea typeface="楷体_GB2312" pitchFamily="49" charset="-122"/>
                <a:cs typeface="Times New Roman" panose="02020603050405020304" pitchFamily="18" charset="0"/>
              </a:rPr>
              <a:t>保证子进程先运行，在它调用</a:t>
            </a:r>
            <a:r>
              <a:rPr lang="en-US" altLang="zh-CN" sz="2600" dirty="0">
                <a:solidFill>
                  <a:srgbClr val="004182"/>
                </a:solidFill>
                <a:latin typeface="Times New Roman" panose="02020603050405020304" pitchFamily="18" charset="0"/>
                <a:ea typeface="楷体_GB2312" pitchFamily="49" charset="-122"/>
                <a:cs typeface="Times New Roman" panose="02020603050405020304" pitchFamily="18" charset="0"/>
              </a:rPr>
              <a:t>exec()</a:t>
            </a:r>
            <a:r>
              <a:rPr lang="zh-CN" altLang="en-US" sz="2600" dirty="0">
                <a:solidFill>
                  <a:srgbClr val="004182"/>
                </a:solidFill>
                <a:latin typeface="Times New Roman" panose="02020603050405020304" pitchFamily="18" charset="0"/>
                <a:ea typeface="楷体_GB2312" pitchFamily="49" charset="-122"/>
                <a:cs typeface="Times New Roman" panose="02020603050405020304" pitchFamily="18" charset="0"/>
              </a:rPr>
              <a:t>或</a:t>
            </a:r>
            <a:r>
              <a:rPr lang="en-US" altLang="zh-CN" sz="2600" dirty="0">
                <a:solidFill>
                  <a:srgbClr val="004182"/>
                </a:solidFill>
                <a:latin typeface="Times New Roman" panose="02020603050405020304" pitchFamily="18" charset="0"/>
                <a:ea typeface="楷体_GB2312" pitchFamily="49" charset="-122"/>
                <a:cs typeface="Times New Roman" panose="02020603050405020304" pitchFamily="18" charset="0"/>
              </a:rPr>
              <a:t>exit</a:t>
            </a:r>
            <a:r>
              <a:rPr lang="zh-CN" altLang="en-US" sz="2600" dirty="0">
                <a:solidFill>
                  <a:srgbClr val="004182"/>
                </a:solidFill>
                <a:latin typeface="Times New Roman" panose="02020603050405020304" pitchFamily="18" charset="0"/>
                <a:ea typeface="楷体_GB2312" pitchFamily="49" charset="-122"/>
                <a:cs typeface="Times New Roman" panose="02020603050405020304" pitchFamily="18" charset="0"/>
              </a:rPr>
              <a:t>之后父进程才可能被调度运行</a:t>
            </a:r>
            <a:r>
              <a:rPr lang="en-US" altLang="zh-CN" sz="2600" dirty="0">
                <a:solidFill>
                  <a:srgbClr val="004182"/>
                </a:solidFill>
                <a:latin typeface="Times New Roman" panose="02020603050405020304" pitchFamily="18" charset="0"/>
                <a:ea typeface="楷体_GB2312" pitchFamily="49" charset="-122"/>
                <a:cs typeface="Times New Roman" panose="02020603050405020304" pitchFamily="18" charset="0"/>
              </a:rPr>
              <a:t>.  </a:t>
            </a:r>
            <a:r>
              <a:rPr lang="zh-CN" altLang="en-US" sz="2600" dirty="0">
                <a:solidFill>
                  <a:srgbClr val="004182"/>
                </a:solidFill>
                <a:latin typeface="Times New Roman" panose="02020603050405020304" pitchFamily="18" charset="0"/>
                <a:ea typeface="楷体_GB2312" pitchFamily="49" charset="-122"/>
                <a:cs typeface="Times New Roman" panose="02020603050405020304" pitchFamily="18" charset="0"/>
              </a:rPr>
              <a:t>可以理解为：</a:t>
            </a:r>
            <a:r>
              <a:rPr lang="en-US" altLang="zh-CN" sz="2600" dirty="0" err="1">
                <a:solidFill>
                  <a:srgbClr val="004182"/>
                </a:solidFill>
                <a:latin typeface="Times New Roman" panose="02020603050405020304" pitchFamily="18" charset="0"/>
                <a:ea typeface="楷体_GB2312" pitchFamily="49" charset="-122"/>
                <a:cs typeface="Times New Roman" panose="02020603050405020304" pitchFamily="18" charset="0"/>
              </a:rPr>
              <a:t>vfork</a:t>
            </a:r>
            <a:r>
              <a:rPr lang="zh-CN" altLang="en-US" sz="2600" dirty="0">
                <a:solidFill>
                  <a:srgbClr val="004182"/>
                </a:solidFill>
                <a:latin typeface="Times New Roman" panose="02020603050405020304" pitchFamily="18" charset="0"/>
                <a:ea typeface="楷体_GB2312" pitchFamily="49" charset="-122"/>
                <a:cs typeface="Times New Roman" panose="02020603050405020304" pitchFamily="18" charset="0"/>
              </a:rPr>
              <a:t>创建新进程的目的是</a:t>
            </a:r>
            <a:r>
              <a:rPr lang="en-US" altLang="zh-CN" sz="2600" dirty="0">
                <a:solidFill>
                  <a:srgbClr val="004182"/>
                </a:solidFill>
                <a:latin typeface="Times New Roman" panose="02020603050405020304" pitchFamily="18" charset="0"/>
                <a:ea typeface="楷体_GB2312" pitchFamily="49" charset="-122"/>
                <a:cs typeface="Times New Roman" panose="02020603050405020304" pitchFamily="18" charset="0"/>
              </a:rPr>
              <a:t>exec()</a:t>
            </a:r>
            <a:r>
              <a:rPr lang="zh-CN" altLang="en-US" sz="2600" dirty="0">
                <a:solidFill>
                  <a:srgbClr val="004182"/>
                </a:solidFill>
                <a:latin typeface="Times New Roman" panose="02020603050405020304" pitchFamily="18" charset="0"/>
                <a:ea typeface="楷体_GB2312" pitchFamily="49" charset="-122"/>
                <a:cs typeface="Times New Roman" panose="02020603050405020304" pitchFamily="18" charset="0"/>
              </a:rPr>
              <a:t>一个新进程。</a:t>
            </a:r>
            <a:endParaRPr lang="zh-CN" altLang="en-US" sz="2600" dirty="0">
              <a:solidFill>
                <a:srgbClr val="004182"/>
              </a:solidFill>
              <a:latin typeface="Times New Roman" panose="02020603050405020304" pitchFamily="18" charset="0"/>
              <a:ea typeface="楷体_GB2312" pitchFamily="49" charset="-122"/>
              <a:cs typeface="Times New Roman" panose="02020603050405020304" pitchFamily="18" charset="0"/>
            </a:endParaRPr>
          </a:p>
        </p:txBody>
      </p:sp>
      <p:sp>
        <p:nvSpPr>
          <p:cNvPr id="5" name="Rectangle 6"/>
          <p:cNvSpPr>
            <a:spLocks noGrp="1" noChangeArrowheads="1"/>
          </p:cNvSpPr>
          <p:nvPr>
            <p:ph type="title"/>
          </p:nvPr>
        </p:nvSpPr>
        <p:spPr>
          <a:xfrm>
            <a:off x="611188" y="0"/>
            <a:ext cx="7632700" cy="609600"/>
          </a:xfrm>
          <a:noFill/>
        </p:spPr>
        <p:txBody>
          <a:bodyPr/>
          <a:lstStyle/>
          <a:p>
            <a:pPr eaLnBrk="1" hangingPunct="1"/>
            <a:br>
              <a:rPr lang="zh-CN" altLang="en-US" dirty="0">
                <a:latin typeface="Times New Roman" panose="02020603050405020304" pitchFamily="18" charset="0"/>
                <a:ea typeface="楷体_GB2312" pitchFamily="49" charset="-122"/>
                <a:cs typeface="Times New Roman" panose="02020603050405020304" pitchFamily="18" charset="0"/>
              </a:rPr>
            </a:br>
            <a:r>
              <a:rPr lang="en-US" altLang="zh-CN" dirty="0">
                <a:latin typeface="Times New Roman" panose="02020603050405020304" pitchFamily="18" charset="0"/>
                <a:ea typeface="楷体_GB2312" pitchFamily="49" charset="-122"/>
                <a:cs typeface="Times New Roman" panose="02020603050405020304" pitchFamily="18" charset="0"/>
              </a:rPr>
              <a:t>2.7 Linux</a:t>
            </a:r>
            <a:r>
              <a:rPr lang="zh-CN" altLang="en-US" dirty="0">
                <a:latin typeface="Times New Roman" panose="02020603050405020304" pitchFamily="18" charset="0"/>
                <a:ea typeface="楷体_GB2312" pitchFamily="49" charset="-122"/>
                <a:cs typeface="Times New Roman" panose="02020603050405020304" pitchFamily="18" charset="0"/>
              </a:rPr>
              <a:t>中的进程控制</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
        <p:nvSpPr>
          <p:cNvPr id="2" name="矩形 1"/>
          <p:cNvSpPr/>
          <p:nvPr/>
        </p:nvSpPr>
        <p:spPr>
          <a:xfrm>
            <a:off x="971600" y="5867135"/>
            <a:ext cx="7776864" cy="461665"/>
          </a:xfrm>
          <a:prstGeom prst="rect">
            <a:avLst/>
          </a:prstGeom>
        </p:spPr>
        <p:txBody>
          <a:bodyPr wrap="square">
            <a:spAutoFit/>
          </a:bodyPr>
          <a:lstStyle/>
          <a:p>
            <a:pPr eaLnBrk="1" hangingPunct="1">
              <a:buFont typeface="Wingdings" panose="05000000000000000000" pitchFamily="2" charset="2"/>
              <a:buNone/>
            </a:pPr>
            <a:r>
              <a:rPr lang="en-US" altLang="zh-CN" dirty="0" err="1">
                <a:solidFill>
                  <a:schemeClr val="tx1">
                    <a:lumMod val="75000"/>
                  </a:schemeClr>
                </a:solidFill>
                <a:ea typeface="楷体_GB2312" pitchFamily="49" charset="-122"/>
                <a:cs typeface="Times New Roman" panose="02020603050405020304" pitchFamily="18" charset="0"/>
              </a:rPr>
              <a:t>sys_vfork</a:t>
            </a:r>
            <a:r>
              <a:rPr lang="en-US" altLang="zh-CN" dirty="0">
                <a:solidFill>
                  <a:schemeClr val="tx1">
                    <a:lumMod val="75000"/>
                  </a:schemeClr>
                </a:solidFill>
                <a:ea typeface="楷体_GB2312" pitchFamily="49" charset="-122"/>
                <a:cs typeface="Times New Roman" panose="02020603050405020304" pitchFamily="18" charset="0"/>
              </a:rPr>
              <a:t>()</a:t>
            </a:r>
            <a:r>
              <a:rPr lang="zh-CN" altLang="en-US" dirty="0">
                <a:solidFill>
                  <a:schemeClr val="tx1">
                    <a:lumMod val="75000"/>
                  </a:schemeClr>
                </a:solidFill>
                <a:ea typeface="楷体_GB2312" pitchFamily="49" charset="-122"/>
                <a:cs typeface="Times New Roman" panose="02020603050405020304" pitchFamily="18" charset="0"/>
              </a:rPr>
              <a:t>在写时复制技术出现之后，就基本上不用它了</a:t>
            </a:r>
            <a:endParaRPr lang="zh-CN" altLang="en-US" dirty="0">
              <a:solidFill>
                <a:schemeClr val="tx1">
                  <a:lumMod val="75000"/>
                </a:schemeClr>
              </a:solidFill>
              <a:ea typeface="楷体_GB2312" pitchFamily="49" charset="-122"/>
              <a:cs typeface="Times New Roman" panose="02020603050405020304" pitchFamily="18" charset="0"/>
            </a:endParaRPr>
          </a:p>
        </p:txBody>
      </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27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4275">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7" name="Rectangle 3"/>
          <p:cNvSpPr>
            <a:spLocks noChangeArrowheads="1"/>
          </p:cNvSpPr>
          <p:nvPr/>
        </p:nvSpPr>
        <p:spPr bwMode="auto">
          <a:xfrm>
            <a:off x="457200" y="1600200"/>
            <a:ext cx="8229600" cy="4530725"/>
          </a:xfrm>
          <a:prstGeom prst="rect">
            <a:avLst/>
          </a:prstGeom>
          <a:noFill/>
          <a:ln w="9525">
            <a:noFill/>
            <a:miter lim="800000"/>
          </a:ln>
          <a:effectLst/>
        </p:spPr>
        <p:txBody>
          <a:bodyPr/>
          <a:lstStyle/>
          <a:p>
            <a:pPr marL="342900" indent="-342900" eaLnBrk="1" hangingPunct="1">
              <a:lnSpc>
                <a:spcPct val="90000"/>
              </a:lnSpc>
              <a:spcBef>
                <a:spcPct val="20000"/>
              </a:spcBef>
              <a:buClr>
                <a:schemeClr val="hlink"/>
              </a:buClr>
              <a:buSzPct val="60000"/>
              <a:buFont typeface="Wingdings" panose="05000000000000000000" pitchFamily="2" charset="2"/>
              <a:buChar char="n"/>
              <a:defRPr/>
            </a:pPr>
            <a:endParaRPr lang="zh-CN" altLang="en-US" sz="2800">
              <a:solidFill>
                <a:srgbClr val="000000"/>
              </a:solidFill>
              <a:latin typeface="宋体" panose="02010600030101010101" pitchFamily="2" charset="-122"/>
              <a:ea typeface="宋体" panose="02010600030101010101" pitchFamily="2" charset="-122"/>
            </a:endParaRPr>
          </a:p>
          <a:p>
            <a:pPr marL="342900" indent="-342900" eaLnBrk="1" hangingPunct="1">
              <a:lnSpc>
                <a:spcPct val="90000"/>
              </a:lnSpc>
              <a:spcBef>
                <a:spcPct val="20000"/>
              </a:spcBef>
              <a:buClr>
                <a:schemeClr val="hlink"/>
              </a:buClr>
              <a:buSzPct val="60000"/>
              <a:buFont typeface="Wingdings" panose="05000000000000000000" pitchFamily="2" charset="2"/>
              <a:buNone/>
              <a:defRPr/>
            </a:pPr>
            <a:r>
              <a:rPr lang="en-US" altLang="zh-CN" sz="2800">
                <a:latin typeface="Tahoma" panose="020B0604030504040204" pitchFamily="34" charset="0"/>
                <a:ea typeface="宋体" panose="02010600030101010101" pitchFamily="2" charset="-122"/>
              </a:rPr>
              <a:t>sys_fork()</a:t>
            </a:r>
            <a:endParaRPr lang="en-US" altLang="zh-CN" sz="2800">
              <a:latin typeface="Tahoma" panose="020B0604030504040204" pitchFamily="34" charset="0"/>
              <a:ea typeface="宋体" panose="02010600030101010101" pitchFamily="2" charset="-122"/>
            </a:endParaRPr>
          </a:p>
          <a:p>
            <a:pPr marL="342900" indent="-342900" eaLnBrk="1" hangingPunct="1">
              <a:lnSpc>
                <a:spcPct val="90000"/>
              </a:lnSpc>
              <a:spcBef>
                <a:spcPct val="20000"/>
              </a:spcBef>
              <a:buClr>
                <a:schemeClr val="hlink"/>
              </a:buClr>
              <a:buSzPct val="60000"/>
              <a:buFont typeface="Wingdings" panose="05000000000000000000" pitchFamily="2" charset="2"/>
              <a:buNone/>
              <a:defRPr/>
            </a:pPr>
            <a:r>
              <a:rPr lang="en-US" altLang="zh-CN" sz="2800">
                <a:latin typeface="Tahoma" panose="020B0604030504040204" pitchFamily="34" charset="0"/>
                <a:ea typeface="宋体" panose="02010600030101010101" pitchFamily="2" charset="-122"/>
              </a:rPr>
              <a:t>      |-</a:t>
            </a:r>
            <a:r>
              <a:rPr lang="en-US" altLang="zh-CN" sz="2800">
                <a:solidFill>
                  <a:srgbClr val="FF0000"/>
                </a:solidFill>
                <a:latin typeface="Tahoma" panose="020B0604030504040204" pitchFamily="34" charset="0"/>
                <a:ea typeface="宋体" panose="02010600030101010101" pitchFamily="2" charset="-122"/>
              </a:rPr>
              <a:t>do_fork()</a:t>
            </a:r>
            <a:endParaRPr lang="en-US" altLang="zh-CN" sz="2800">
              <a:solidFill>
                <a:srgbClr val="FF0000"/>
              </a:solidFill>
              <a:latin typeface="Tahoma" panose="020B0604030504040204" pitchFamily="34" charset="0"/>
              <a:ea typeface="宋体" panose="02010600030101010101" pitchFamily="2" charset="-122"/>
            </a:endParaRPr>
          </a:p>
          <a:p>
            <a:pPr marL="1600200" lvl="3" indent="-228600" eaLnBrk="1" hangingPunct="1">
              <a:lnSpc>
                <a:spcPct val="90000"/>
              </a:lnSpc>
              <a:spcBef>
                <a:spcPts val="15"/>
              </a:spcBef>
              <a:buClr>
                <a:schemeClr val="tx2"/>
              </a:buClr>
              <a:defRPr/>
            </a:pPr>
            <a:r>
              <a:rPr lang="en-US" altLang="zh-CN" sz="2800">
                <a:latin typeface="Tahoma" panose="020B0604030504040204" pitchFamily="34" charset="0"/>
                <a:ea typeface="宋体" panose="02010600030101010101" pitchFamily="2" charset="-122"/>
              </a:rPr>
              <a:t>   |-copy_process()</a:t>
            </a:r>
            <a:endParaRPr lang="en-US" altLang="zh-CN" sz="2800">
              <a:latin typeface="Tahoma" panose="020B0604030504040204" pitchFamily="34" charset="0"/>
              <a:ea typeface="宋体" panose="02010600030101010101" pitchFamily="2" charset="-122"/>
            </a:endParaRPr>
          </a:p>
          <a:p>
            <a:pPr marL="1600200" lvl="3" indent="-228600" eaLnBrk="1" hangingPunct="1">
              <a:lnSpc>
                <a:spcPct val="90000"/>
              </a:lnSpc>
              <a:spcBef>
                <a:spcPts val="15"/>
              </a:spcBef>
              <a:buClr>
                <a:schemeClr val="tx2"/>
              </a:buClr>
              <a:defRPr/>
            </a:pPr>
            <a:r>
              <a:rPr lang="en-US" altLang="zh-CN" sz="2800">
                <a:latin typeface="Tahoma" panose="020B0604030504040204" pitchFamily="34" charset="0"/>
                <a:ea typeface="宋体" panose="02010600030101010101" pitchFamily="2" charset="-122"/>
              </a:rPr>
              <a:t>              |-dup_task_struct()</a:t>
            </a:r>
            <a:endParaRPr lang="en-US" altLang="zh-CN" sz="2800">
              <a:latin typeface="Tahoma" panose="020B0604030504040204" pitchFamily="34" charset="0"/>
              <a:ea typeface="宋体" panose="02010600030101010101" pitchFamily="2" charset="-122"/>
            </a:endParaRPr>
          </a:p>
          <a:p>
            <a:pPr marL="1600200" lvl="3" indent="-228600" eaLnBrk="1" hangingPunct="1">
              <a:lnSpc>
                <a:spcPct val="90000"/>
              </a:lnSpc>
              <a:spcBef>
                <a:spcPts val="15"/>
              </a:spcBef>
              <a:buClr>
                <a:schemeClr val="tx2"/>
              </a:buClr>
              <a:defRPr/>
            </a:pPr>
            <a:r>
              <a:rPr lang="en-US" altLang="zh-CN" sz="2800">
                <a:latin typeface="Tahoma" panose="020B0604030504040204" pitchFamily="34" charset="0"/>
                <a:ea typeface="宋体" panose="02010600030101010101" pitchFamily="2" charset="-122"/>
              </a:rPr>
              <a:t>   |-wake_up_new_task()</a:t>
            </a:r>
            <a:endParaRPr lang="en-US" altLang="zh-CN" sz="2800">
              <a:latin typeface="Tahoma" panose="020B0604030504040204" pitchFamily="34" charset="0"/>
              <a:ea typeface="宋体" panose="02010600030101010101" pitchFamily="2" charset="-122"/>
            </a:endParaRPr>
          </a:p>
          <a:p>
            <a:pPr marL="342900" indent="-342900" eaLnBrk="1" hangingPunct="1">
              <a:lnSpc>
                <a:spcPct val="90000"/>
              </a:lnSpc>
              <a:spcBef>
                <a:spcPct val="20000"/>
              </a:spcBef>
              <a:buClr>
                <a:schemeClr val="hlink"/>
              </a:buClr>
              <a:buSzPct val="60000"/>
              <a:buFont typeface="Wingdings" panose="05000000000000000000" pitchFamily="2" charset="2"/>
              <a:buChar char="n"/>
              <a:defRPr/>
            </a:pPr>
            <a:endParaRPr lang="zh-CN" altLang="en-US" sz="2800">
              <a:effectLst>
                <a:outerShdw blurRad="38100" dist="38100" dir="2700000" algn="tl">
                  <a:srgbClr val="C0C0C0"/>
                </a:outerShdw>
              </a:effectLst>
              <a:latin typeface="Verdana" panose="020B0604030504040204" pitchFamily="34" charset="0"/>
              <a:ea typeface="宋体" panose="02010600030101010101" pitchFamily="2" charset="-122"/>
            </a:endParaRPr>
          </a:p>
        </p:txBody>
      </p:sp>
      <p:sp>
        <p:nvSpPr>
          <p:cNvPr id="5" name="Rectangle 6"/>
          <p:cNvSpPr>
            <a:spLocks noGrp="1" noChangeArrowheads="1"/>
          </p:cNvSpPr>
          <p:nvPr>
            <p:ph type="title"/>
          </p:nvPr>
        </p:nvSpPr>
        <p:spPr>
          <a:xfrm>
            <a:off x="611188" y="0"/>
            <a:ext cx="7632700" cy="609600"/>
          </a:xfrm>
          <a:noFill/>
        </p:spPr>
        <p:txBody>
          <a:bodyPr/>
          <a:lstStyle/>
          <a:p>
            <a:pPr eaLnBrk="1" hangingPunct="1"/>
            <a:br>
              <a:rPr lang="zh-CN" altLang="en-US" dirty="0">
                <a:latin typeface="Times New Roman" panose="02020603050405020304" pitchFamily="18" charset="0"/>
                <a:ea typeface="楷体_GB2312" pitchFamily="49" charset="-122"/>
                <a:cs typeface="Times New Roman" panose="02020603050405020304" pitchFamily="18" charset="0"/>
              </a:rPr>
            </a:br>
            <a:r>
              <a:rPr lang="en-US" altLang="zh-CN" dirty="0">
                <a:latin typeface="Times New Roman" panose="02020603050405020304" pitchFamily="18" charset="0"/>
                <a:ea typeface="楷体_GB2312" pitchFamily="49" charset="-122"/>
                <a:cs typeface="Times New Roman" panose="02020603050405020304" pitchFamily="18" charset="0"/>
              </a:rPr>
              <a:t>2.7 Linux</a:t>
            </a:r>
            <a:r>
              <a:rPr lang="zh-CN" altLang="en-US" dirty="0">
                <a:latin typeface="Times New Roman" panose="02020603050405020304" pitchFamily="18" charset="0"/>
                <a:ea typeface="楷体_GB2312" pitchFamily="49" charset="-122"/>
                <a:cs typeface="Times New Roman" panose="02020603050405020304" pitchFamily="18" charset="0"/>
              </a:rPr>
              <a:t>中的进程控制</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ransition>
    <p:checker dir="vert"/>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5"/>
          <p:cNvSpPr>
            <a:spLocks noGrp="1" noChangeArrowheads="1"/>
          </p:cNvSpPr>
          <p:nvPr>
            <p:ph type="body" idx="1"/>
          </p:nvPr>
        </p:nvSpPr>
        <p:spPr>
          <a:xfrm>
            <a:off x="457200" y="1719263"/>
            <a:ext cx="8229600" cy="4411662"/>
          </a:xfrm>
          <a:noFill/>
        </p:spPr>
        <p:txBody>
          <a:bodyPr/>
          <a:lstStyle/>
          <a:p>
            <a:pPr eaLnBrk="1" hangingPunct="1"/>
            <a:r>
              <a:rPr lang="zh-CN" altLang="en-US">
                <a:latin typeface="Times New Roman" panose="02020603050405020304" pitchFamily="18" charset="0"/>
                <a:ea typeface="楷体_GB2312" pitchFamily="49" charset="-122"/>
                <a:cs typeface="Times New Roman" panose="02020603050405020304" pitchFamily="18" charset="0"/>
              </a:rPr>
              <a:t>阅读   </a:t>
            </a:r>
            <a:r>
              <a:rPr lang="en-US" altLang="zh-CN">
                <a:latin typeface="Times New Roman" panose="02020603050405020304" pitchFamily="18" charset="0"/>
                <a:ea typeface="楷体_GB2312" pitchFamily="49" charset="-122"/>
                <a:cs typeface="Times New Roman" panose="02020603050405020304" pitchFamily="18" charset="0"/>
                <a:hlinkClick r:id="rId1" action="ppaction://hlinkfile"/>
              </a:rPr>
              <a:t>do_fork</a:t>
            </a:r>
            <a:r>
              <a:rPr lang="en-US" altLang="zh-CN">
                <a:latin typeface="Times New Roman" panose="02020603050405020304" pitchFamily="18" charset="0"/>
                <a:ea typeface="楷体_GB2312" pitchFamily="49" charset="-122"/>
                <a:cs typeface="Times New Roman" panose="02020603050405020304" pitchFamily="18" charset="0"/>
              </a:rPr>
              <a:t>()</a:t>
            </a:r>
            <a:r>
              <a:rPr lang="zh-CN" altLang="en-US">
                <a:latin typeface="Times New Roman" panose="02020603050405020304" pitchFamily="18" charset="0"/>
                <a:ea typeface="楷体_GB2312" pitchFamily="49" charset="-122"/>
                <a:cs typeface="Times New Roman" panose="02020603050405020304" pitchFamily="18" charset="0"/>
              </a:rPr>
              <a:t>，了解大致程序流程</a:t>
            </a:r>
            <a:endParaRPr lang="zh-CN" altLang="en-US">
              <a:latin typeface="Times New Roman" panose="02020603050405020304" pitchFamily="18" charset="0"/>
              <a:ea typeface="楷体_GB2312" pitchFamily="49" charset="-122"/>
              <a:cs typeface="Times New Roman" panose="02020603050405020304" pitchFamily="18" charset="0"/>
            </a:endParaRPr>
          </a:p>
          <a:p>
            <a:pPr eaLnBrk="1" hangingPunct="1"/>
            <a:r>
              <a:rPr lang="zh-CN" altLang="en-US">
                <a:latin typeface="Times New Roman" panose="02020603050405020304" pitchFamily="18" charset="0"/>
                <a:ea typeface="楷体_GB2312" pitchFamily="49" charset="-122"/>
                <a:cs typeface="Times New Roman" panose="02020603050405020304" pitchFamily="18" charset="0"/>
              </a:rPr>
              <a:t>？？？子进程从哪里开始执行，它的返回值是什么？</a:t>
            </a:r>
            <a:endParaRPr lang="zh-CN" altLang="en-US">
              <a:latin typeface="Times New Roman" panose="02020603050405020304" pitchFamily="18" charset="0"/>
              <a:ea typeface="楷体_GB2312" pitchFamily="49" charset="-122"/>
              <a:cs typeface="Times New Roman" panose="02020603050405020304" pitchFamily="18" charset="0"/>
            </a:endParaRPr>
          </a:p>
          <a:p>
            <a:pPr eaLnBrk="1" hangingPunct="1"/>
            <a:endParaRPr lang="zh-CN" altLang="en-US">
              <a:latin typeface="Times New Roman" panose="02020603050405020304" pitchFamily="18" charset="0"/>
              <a:ea typeface="楷体_GB2312" pitchFamily="49" charset="-122"/>
              <a:cs typeface="Times New Roman" panose="02020603050405020304" pitchFamily="18" charset="0"/>
            </a:endParaRPr>
          </a:p>
          <a:p>
            <a:pPr eaLnBrk="1" hangingPunct="1"/>
            <a:endParaRPr lang="zh-CN" altLang="en-US">
              <a:latin typeface="Times New Roman" panose="02020603050405020304" pitchFamily="18" charset="0"/>
              <a:ea typeface="楷体_GB2312" pitchFamily="49" charset="-122"/>
              <a:cs typeface="Times New Roman" panose="02020603050405020304" pitchFamily="18" charset="0"/>
            </a:endParaRPr>
          </a:p>
        </p:txBody>
      </p:sp>
      <p:sp>
        <p:nvSpPr>
          <p:cNvPr id="4" name="Rectangle 6"/>
          <p:cNvSpPr>
            <a:spLocks noGrp="1" noChangeArrowheads="1"/>
          </p:cNvSpPr>
          <p:nvPr>
            <p:ph type="title"/>
          </p:nvPr>
        </p:nvSpPr>
        <p:spPr>
          <a:xfrm>
            <a:off x="611188" y="0"/>
            <a:ext cx="7632700" cy="609600"/>
          </a:xfrm>
          <a:noFill/>
        </p:spPr>
        <p:txBody>
          <a:bodyPr/>
          <a:lstStyle/>
          <a:p>
            <a:pPr eaLnBrk="1" hangingPunct="1"/>
            <a:br>
              <a:rPr lang="zh-CN" altLang="en-US" dirty="0">
                <a:latin typeface="Times New Roman" panose="02020603050405020304" pitchFamily="18" charset="0"/>
                <a:ea typeface="楷体_GB2312" pitchFamily="49" charset="-122"/>
                <a:cs typeface="Times New Roman" panose="02020603050405020304" pitchFamily="18" charset="0"/>
              </a:rPr>
            </a:br>
            <a:r>
              <a:rPr lang="en-US" altLang="zh-CN" dirty="0">
                <a:latin typeface="Times New Roman" panose="02020603050405020304" pitchFamily="18" charset="0"/>
                <a:ea typeface="楷体_GB2312" pitchFamily="49" charset="-122"/>
                <a:cs typeface="Times New Roman" panose="02020603050405020304" pitchFamily="18" charset="0"/>
              </a:rPr>
              <a:t>2.7 Linux</a:t>
            </a:r>
            <a:r>
              <a:rPr lang="zh-CN" altLang="en-US" dirty="0">
                <a:latin typeface="Times New Roman" panose="02020603050405020304" pitchFamily="18" charset="0"/>
                <a:ea typeface="楷体_GB2312" pitchFamily="49" charset="-122"/>
                <a:cs typeface="Times New Roman" panose="02020603050405020304" pitchFamily="18" charset="0"/>
              </a:rPr>
              <a:t>中的进程控制</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Rectangle 3"/>
          <p:cNvSpPr>
            <a:spLocks noGrp="1" noChangeArrowheads="1"/>
          </p:cNvSpPr>
          <p:nvPr>
            <p:ph type="body" idx="1"/>
          </p:nvPr>
        </p:nvSpPr>
        <p:spPr>
          <a:xfrm>
            <a:off x="395536" y="1124744"/>
            <a:ext cx="8291512" cy="5272087"/>
          </a:xfrm>
        </p:spPr>
        <p:txBody>
          <a:bodyPr/>
          <a:lstStyle/>
          <a:p>
            <a:pPr eaLnBrk="1" hangingPunct="1"/>
            <a:r>
              <a:rPr lang="zh-CN" altLang="en-US" sz="3200" dirty="0">
                <a:latin typeface="Times New Roman" panose="02020603050405020304" pitchFamily="18" charset="0"/>
                <a:ea typeface="楷体_GB2312" pitchFamily="49" charset="-122"/>
                <a:cs typeface="Times New Roman" panose="02020603050405020304" pitchFamily="18" charset="0"/>
              </a:rPr>
              <a:t>大多情况下，子进程从</a:t>
            </a:r>
            <a:r>
              <a:rPr lang="en-US" altLang="zh-CN" sz="3200" dirty="0">
                <a:latin typeface="Times New Roman" panose="02020603050405020304" pitchFamily="18" charset="0"/>
                <a:ea typeface="楷体_GB2312" pitchFamily="49" charset="-122"/>
                <a:cs typeface="Times New Roman" panose="02020603050405020304" pitchFamily="18" charset="0"/>
              </a:rPr>
              <a:t>fork()</a:t>
            </a:r>
            <a:r>
              <a:rPr lang="zh-CN" altLang="en-US" sz="3200" dirty="0">
                <a:latin typeface="Times New Roman" panose="02020603050405020304" pitchFamily="18" charset="0"/>
                <a:ea typeface="楷体_GB2312" pitchFamily="49" charset="-122"/>
                <a:cs typeface="Times New Roman" panose="02020603050405020304" pitchFamily="18" charset="0"/>
              </a:rPr>
              <a:t>返回后都调用</a:t>
            </a:r>
            <a:r>
              <a:rPr lang="en-US" altLang="zh-CN" sz="3200" dirty="0">
                <a:latin typeface="Times New Roman" panose="02020603050405020304" pitchFamily="18" charset="0"/>
                <a:ea typeface="楷体_GB2312" pitchFamily="49" charset="-122"/>
                <a:cs typeface="Times New Roman" panose="02020603050405020304" pitchFamily="18" charset="0"/>
              </a:rPr>
              <a:t>exec()</a:t>
            </a:r>
            <a:r>
              <a:rPr lang="zh-CN" altLang="en-US" sz="3200" dirty="0">
                <a:latin typeface="Times New Roman" panose="02020603050405020304" pitchFamily="18" charset="0"/>
                <a:ea typeface="楷体_GB2312" pitchFamily="49" charset="-122"/>
                <a:cs typeface="Times New Roman" panose="02020603050405020304" pitchFamily="18" charset="0"/>
              </a:rPr>
              <a:t>函数来执行新的程序</a:t>
            </a:r>
            <a:endParaRPr lang="zh-CN" altLang="en-US" sz="3200" dirty="0">
              <a:latin typeface="Times New Roman" panose="02020603050405020304" pitchFamily="18" charset="0"/>
              <a:ea typeface="楷体_GB2312" pitchFamily="49" charset="-122"/>
              <a:cs typeface="Times New Roman" panose="02020603050405020304" pitchFamily="18" charset="0"/>
            </a:endParaRPr>
          </a:p>
          <a:p>
            <a:pPr lvl="1" eaLnBrk="1" hangingPunct="1"/>
            <a:r>
              <a:rPr lang="zh-CN" altLang="en-US" sz="2800" dirty="0">
                <a:latin typeface="Times New Roman" panose="02020603050405020304" pitchFamily="18" charset="0"/>
                <a:ea typeface="楷体_GB2312" pitchFamily="49" charset="-122"/>
                <a:cs typeface="Times New Roman" panose="02020603050405020304" pitchFamily="18" charset="0"/>
              </a:rPr>
              <a:t>进程调用</a:t>
            </a:r>
            <a:r>
              <a:rPr lang="en-US" altLang="zh-CN" sz="2800" dirty="0">
                <a:latin typeface="Times New Roman" panose="02020603050405020304" pitchFamily="18" charset="0"/>
                <a:ea typeface="楷体_GB2312" pitchFamily="49" charset="-122"/>
                <a:cs typeface="Times New Roman" panose="02020603050405020304" pitchFamily="18" charset="0"/>
              </a:rPr>
              <a:t>exec()</a:t>
            </a:r>
            <a:r>
              <a:rPr lang="zh-CN" altLang="en-US" sz="2800" dirty="0">
                <a:latin typeface="Times New Roman" panose="02020603050405020304" pitchFamily="18" charset="0"/>
                <a:ea typeface="楷体_GB2312" pitchFamily="49" charset="-122"/>
                <a:cs typeface="Times New Roman" panose="02020603050405020304" pitchFamily="18" charset="0"/>
              </a:rPr>
              <a:t>函数时，该进程完全由新程序替代，新程序从</a:t>
            </a:r>
            <a:r>
              <a:rPr lang="en-US" altLang="zh-CN" sz="2800" dirty="0">
                <a:latin typeface="Times New Roman" panose="02020603050405020304" pitchFamily="18" charset="0"/>
                <a:ea typeface="楷体_GB2312" pitchFamily="49" charset="-122"/>
                <a:cs typeface="Times New Roman" panose="02020603050405020304" pitchFamily="18" charset="0"/>
              </a:rPr>
              <a:t>main()</a:t>
            </a:r>
            <a:r>
              <a:rPr lang="zh-CN" altLang="en-US" sz="2800" dirty="0">
                <a:latin typeface="Times New Roman" panose="02020603050405020304" pitchFamily="18" charset="0"/>
                <a:ea typeface="楷体_GB2312" pitchFamily="49" charset="-122"/>
                <a:cs typeface="Times New Roman" panose="02020603050405020304" pitchFamily="18" charset="0"/>
              </a:rPr>
              <a:t>开始执行</a:t>
            </a:r>
            <a:endParaRPr lang="zh-CN" altLang="en-US" sz="2800" dirty="0">
              <a:latin typeface="Times New Roman" panose="02020603050405020304" pitchFamily="18" charset="0"/>
              <a:ea typeface="楷体_GB2312" pitchFamily="49" charset="-122"/>
              <a:cs typeface="Times New Roman" panose="02020603050405020304" pitchFamily="18" charset="0"/>
            </a:endParaRPr>
          </a:p>
          <a:p>
            <a:pPr lvl="1" eaLnBrk="1" hangingPunct="1"/>
            <a:r>
              <a:rPr lang="en-US" altLang="zh-CN" sz="2800" dirty="0">
                <a:latin typeface="Times New Roman" panose="02020603050405020304" pitchFamily="18" charset="0"/>
                <a:ea typeface="楷体_GB2312" pitchFamily="49" charset="-122"/>
                <a:cs typeface="Times New Roman" panose="02020603050405020304" pitchFamily="18" charset="0"/>
              </a:rPr>
              <a:t>exec()</a:t>
            </a:r>
            <a:r>
              <a:rPr lang="zh-CN" altLang="en-US" sz="2800" dirty="0">
                <a:latin typeface="Times New Roman" panose="02020603050405020304" pitchFamily="18" charset="0"/>
                <a:ea typeface="楷体_GB2312" pitchFamily="49" charset="-122"/>
                <a:cs typeface="Times New Roman" panose="02020603050405020304" pitchFamily="18" charset="0"/>
              </a:rPr>
              <a:t>并不创建新进程，前后进程</a:t>
            </a:r>
            <a:r>
              <a:rPr lang="en-US" altLang="zh-CN" sz="2800" dirty="0">
                <a:latin typeface="Times New Roman" panose="02020603050405020304" pitchFamily="18" charset="0"/>
                <a:ea typeface="楷体_GB2312" pitchFamily="49" charset="-122"/>
                <a:cs typeface="Times New Roman" panose="02020603050405020304" pitchFamily="18" charset="0"/>
              </a:rPr>
              <a:t>ID</a:t>
            </a:r>
            <a:r>
              <a:rPr lang="zh-CN" altLang="en-US" sz="2800" dirty="0">
                <a:latin typeface="Times New Roman" panose="02020603050405020304" pitchFamily="18" charset="0"/>
                <a:ea typeface="楷体_GB2312" pitchFamily="49" charset="-122"/>
                <a:cs typeface="Times New Roman" panose="02020603050405020304" pitchFamily="18" charset="0"/>
              </a:rPr>
              <a:t>不变，但用另外一个程序替代当前进程的正文、数据、堆栈等</a:t>
            </a: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lvl="1" eaLnBrk="1" hangingPunct="1"/>
            <a:endParaRPr lang="en-US" altLang="zh-CN" sz="1800" dirty="0">
              <a:latin typeface="Times New Roman" panose="02020603050405020304" pitchFamily="18" charset="0"/>
              <a:ea typeface="楷体_GB2312" pitchFamily="49" charset="-122"/>
              <a:cs typeface="Times New Roman" panose="02020603050405020304" pitchFamily="18" charset="0"/>
            </a:endParaRPr>
          </a:p>
        </p:txBody>
      </p:sp>
      <p:sp>
        <p:nvSpPr>
          <p:cNvPr id="5" name="Rectangle 6"/>
          <p:cNvSpPr>
            <a:spLocks noGrp="1" noChangeArrowheads="1"/>
          </p:cNvSpPr>
          <p:nvPr>
            <p:ph type="title"/>
          </p:nvPr>
        </p:nvSpPr>
        <p:spPr>
          <a:xfrm>
            <a:off x="611188" y="0"/>
            <a:ext cx="7632700" cy="609600"/>
          </a:xfrm>
          <a:noFill/>
        </p:spPr>
        <p:txBody>
          <a:bodyPr/>
          <a:lstStyle/>
          <a:p>
            <a:pPr eaLnBrk="1" hangingPunct="1"/>
            <a:br>
              <a:rPr lang="zh-CN" altLang="en-US" dirty="0">
                <a:latin typeface="Times New Roman" panose="02020603050405020304" pitchFamily="18" charset="0"/>
                <a:ea typeface="楷体_GB2312" pitchFamily="49" charset="-122"/>
                <a:cs typeface="Times New Roman" panose="02020603050405020304" pitchFamily="18" charset="0"/>
              </a:rPr>
            </a:br>
            <a:r>
              <a:rPr lang="en-US" altLang="zh-CN" dirty="0">
                <a:latin typeface="Times New Roman" panose="02020603050405020304" pitchFamily="18" charset="0"/>
                <a:ea typeface="楷体_GB2312" pitchFamily="49" charset="-122"/>
                <a:cs typeface="Times New Roman" panose="02020603050405020304" pitchFamily="18" charset="0"/>
              </a:rPr>
              <a:t>2.7 Linux</a:t>
            </a:r>
            <a:r>
              <a:rPr lang="zh-CN" altLang="en-US" dirty="0">
                <a:latin typeface="Times New Roman" panose="02020603050405020304" pitchFamily="18" charset="0"/>
                <a:ea typeface="楷体_GB2312" pitchFamily="49" charset="-122"/>
                <a:cs typeface="Times New Roman" panose="02020603050405020304" pitchFamily="18" charset="0"/>
              </a:rPr>
              <a:t>中的进程控制</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ransition>
    <p:wedg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Rectangle 3"/>
          <p:cNvSpPr>
            <a:spLocks noGrp="1" noChangeArrowheads="1"/>
          </p:cNvSpPr>
          <p:nvPr>
            <p:ph type="body" idx="1"/>
          </p:nvPr>
        </p:nvSpPr>
        <p:spPr/>
        <p:txBody>
          <a:bodyPr/>
          <a:lstStyle/>
          <a:p>
            <a:pPr eaLnBrk="1" hangingPunct="1"/>
            <a:endParaRPr lang="zh-CN" altLang="zh-CN"/>
          </a:p>
        </p:txBody>
      </p:sp>
      <p:pic>
        <p:nvPicPr>
          <p:cNvPr id="59396"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71563" y="2214563"/>
            <a:ext cx="7273925" cy="284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6"/>
          <p:cNvSpPr>
            <a:spLocks noGrp="1" noChangeArrowheads="1"/>
          </p:cNvSpPr>
          <p:nvPr>
            <p:ph type="title"/>
          </p:nvPr>
        </p:nvSpPr>
        <p:spPr>
          <a:xfrm>
            <a:off x="611188" y="0"/>
            <a:ext cx="7632700" cy="609600"/>
          </a:xfrm>
          <a:noFill/>
        </p:spPr>
        <p:txBody>
          <a:bodyPr/>
          <a:lstStyle/>
          <a:p>
            <a:pPr eaLnBrk="1" hangingPunct="1"/>
            <a:br>
              <a:rPr lang="zh-CN" altLang="en-US" dirty="0">
                <a:latin typeface="Times New Roman" panose="02020603050405020304" pitchFamily="18" charset="0"/>
                <a:ea typeface="楷体_GB2312" pitchFamily="49" charset="-122"/>
                <a:cs typeface="Times New Roman" panose="02020603050405020304" pitchFamily="18" charset="0"/>
              </a:rPr>
            </a:br>
            <a:r>
              <a:rPr lang="en-US" altLang="zh-CN" dirty="0">
                <a:latin typeface="Times New Roman" panose="02020603050405020304" pitchFamily="18" charset="0"/>
                <a:ea typeface="楷体_GB2312" pitchFamily="49" charset="-122"/>
                <a:cs typeface="Times New Roman" panose="02020603050405020304" pitchFamily="18" charset="0"/>
              </a:rPr>
              <a:t>2.7 Linux</a:t>
            </a:r>
            <a:r>
              <a:rPr lang="zh-CN" altLang="en-US" dirty="0">
                <a:latin typeface="Times New Roman" panose="02020603050405020304" pitchFamily="18" charset="0"/>
                <a:ea typeface="楷体_GB2312" pitchFamily="49" charset="-122"/>
                <a:cs typeface="Times New Roman" panose="02020603050405020304" pitchFamily="18" charset="0"/>
              </a:rPr>
              <a:t>中的进程控制</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ransition>
    <p:wedg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8"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9750" y="1484313"/>
            <a:ext cx="7342188" cy="257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0" name="Rectangle 6"/>
          <p:cNvSpPr>
            <a:spLocks noGrp="1" noChangeArrowheads="1"/>
          </p:cNvSpPr>
          <p:nvPr>
            <p:ph type="body" idx="1"/>
          </p:nvPr>
        </p:nvSpPr>
        <p:spPr>
          <a:xfrm>
            <a:off x="755650" y="4197350"/>
            <a:ext cx="8001000" cy="2039938"/>
          </a:xfrm>
          <a:noFill/>
        </p:spPr>
        <p:txBody>
          <a:bodyPr/>
          <a:lstStyle/>
          <a:p>
            <a:pPr eaLnBrk="1" hangingPunct="1"/>
            <a:r>
              <a:rPr lang="zh-CN" altLang="en-US">
                <a:latin typeface="Times New Roman" panose="02020603050405020304" pitchFamily="18" charset="0"/>
                <a:ea typeface="楷体_GB2312" pitchFamily="49" charset="-122"/>
                <a:cs typeface="Times New Roman" panose="02020603050405020304" pitchFamily="18" charset="0"/>
              </a:rPr>
              <a:t>用一个指定的可执行文件所描述的上下文代替进程的上下文</a:t>
            </a:r>
            <a:endParaRPr lang="zh-CN" altLang="en-US">
              <a:latin typeface="Times New Roman" panose="02020603050405020304" pitchFamily="18" charset="0"/>
              <a:ea typeface="楷体_GB2312" pitchFamily="49" charset="-122"/>
              <a:cs typeface="Times New Roman" panose="02020603050405020304" pitchFamily="18" charset="0"/>
            </a:endParaRPr>
          </a:p>
          <a:p>
            <a:pPr eaLnBrk="1" hangingPunct="1"/>
            <a:r>
              <a:rPr lang="zh-CN" altLang="en-US">
                <a:latin typeface="Times New Roman" panose="02020603050405020304" pitchFamily="18" charset="0"/>
                <a:ea typeface="楷体_GB2312" pitchFamily="49" charset="-122"/>
                <a:cs typeface="Times New Roman" panose="02020603050405020304" pitchFamily="18" charset="0"/>
                <a:sym typeface="Wingdings" panose="05000000000000000000" pitchFamily="2" charset="2"/>
              </a:rPr>
              <a:t></a:t>
            </a:r>
            <a:r>
              <a:rPr lang="zh-CN" altLang="en-US">
                <a:latin typeface="Times New Roman" panose="02020603050405020304" pitchFamily="18" charset="0"/>
                <a:ea typeface="楷体_GB2312" pitchFamily="49" charset="-122"/>
                <a:cs typeface="Times New Roman" panose="02020603050405020304" pitchFamily="18" charset="0"/>
              </a:rPr>
              <a:t>系统调用：</a:t>
            </a:r>
            <a:r>
              <a:rPr lang="en-US" altLang="zh-CN">
                <a:latin typeface="Times New Roman" panose="02020603050405020304" pitchFamily="18" charset="0"/>
                <a:ea typeface="楷体_GB2312" pitchFamily="49" charset="-122"/>
                <a:cs typeface="Times New Roman" panose="02020603050405020304" pitchFamily="18" charset="0"/>
              </a:rPr>
              <a:t>execve()</a:t>
            </a:r>
            <a:endParaRPr lang="en-US" altLang="zh-CN">
              <a:latin typeface="Times New Roman" panose="02020603050405020304" pitchFamily="18" charset="0"/>
              <a:ea typeface="楷体_GB2312" pitchFamily="49" charset="-122"/>
              <a:cs typeface="Times New Roman" panose="02020603050405020304" pitchFamily="18" charset="0"/>
            </a:endParaRPr>
          </a:p>
          <a:p>
            <a:pPr lvl="1" eaLnBrk="1" hangingPunct="1"/>
            <a:r>
              <a:rPr lang="en-US" altLang="zh-CN">
                <a:latin typeface="Times New Roman" panose="02020603050405020304" pitchFamily="18" charset="0"/>
                <a:ea typeface="楷体_GB2312" pitchFamily="49" charset="-122"/>
                <a:cs typeface="Times New Roman" panose="02020603050405020304" pitchFamily="18" charset="0"/>
              </a:rPr>
              <a:t>_</a:t>
            </a:r>
            <a:r>
              <a:rPr lang="en-US" altLang="zh-CN">
                <a:latin typeface="Times New Roman" panose="02020603050405020304" pitchFamily="18" charset="0"/>
                <a:ea typeface="楷体_GB2312" pitchFamily="49" charset="-122"/>
                <a:cs typeface="Times New Roman" panose="02020603050405020304" pitchFamily="18" charset="0"/>
                <a:hlinkClick r:id="rId2" action="ppaction://hlinkfile"/>
              </a:rPr>
              <a:t>sys_execve</a:t>
            </a:r>
            <a:r>
              <a:rPr lang="en-US" altLang="zh-CN">
                <a:latin typeface="Times New Roman" panose="02020603050405020304" pitchFamily="18" charset="0"/>
                <a:ea typeface="楷体_GB2312" pitchFamily="49" charset="-122"/>
                <a:cs typeface="Times New Roman" panose="02020603050405020304" pitchFamily="18" charset="0"/>
              </a:rPr>
              <a:t>()</a:t>
            </a:r>
            <a:endParaRPr lang="en-US" altLang="zh-CN">
              <a:latin typeface="Times New Roman" panose="02020603050405020304" pitchFamily="18" charset="0"/>
              <a:ea typeface="楷体_GB2312" pitchFamily="49" charset="-122"/>
              <a:cs typeface="Times New Roman" panose="02020603050405020304" pitchFamily="18" charset="0"/>
            </a:endParaRPr>
          </a:p>
        </p:txBody>
      </p:sp>
      <p:sp>
        <p:nvSpPr>
          <p:cNvPr id="515079" name="Oval 7"/>
          <p:cNvSpPr>
            <a:spLocks noChangeArrowheads="1"/>
          </p:cNvSpPr>
          <p:nvPr/>
        </p:nvSpPr>
        <p:spPr bwMode="auto">
          <a:xfrm>
            <a:off x="2916238" y="2205038"/>
            <a:ext cx="647700" cy="1944687"/>
          </a:xfrm>
          <a:prstGeom prst="ellipse">
            <a:avLst/>
          </a:prstGeom>
          <a:noFill/>
          <a:ln w="381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515080" name="Text Box 8"/>
          <p:cNvSpPr txBox="1">
            <a:spLocks noChangeArrowheads="1"/>
          </p:cNvSpPr>
          <p:nvPr/>
        </p:nvSpPr>
        <p:spPr bwMode="auto">
          <a:xfrm>
            <a:off x="3132138" y="2060575"/>
            <a:ext cx="2698750" cy="366713"/>
          </a:xfrm>
          <a:prstGeom prst="rect">
            <a:avLst/>
          </a:prstGeom>
          <a:solidFill>
            <a:srgbClr val="D8D8E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lang="zh-CN" altLang="en-US" sz="1800" b="0">
                <a:solidFill>
                  <a:srgbClr val="FF0000"/>
                </a:solidFill>
                <a:latin typeface="楷体_GB2312" pitchFamily="49" charset="-122"/>
                <a:ea typeface="楷体_GB2312" pitchFamily="49" charset="-122"/>
              </a:rPr>
              <a:t>指定被执行文件的路径名</a:t>
            </a:r>
            <a:endParaRPr lang="zh-CN" altLang="en-US" sz="1800" b="0">
              <a:solidFill>
                <a:srgbClr val="FF0000"/>
              </a:solidFill>
              <a:latin typeface="楷体_GB2312" pitchFamily="49" charset="-122"/>
              <a:ea typeface="楷体_GB2312" pitchFamily="49" charset="-122"/>
            </a:endParaRPr>
          </a:p>
        </p:txBody>
      </p:sp>
      <p:sp>
        <p:nvSpPr>
          <p:cNvPr id="8" name="Rectangle 6"/>
          <p:cNvSpPr>
            <a:spLocks noGrp="1" noChangeArrowheads="1"/>
          </p:cNvSpPr>
          <p:nvPr>
            <p:ph type="title"/>
          </p:nvPr>
        </p:nvSpPr>
        <p:spPr>
          <a:xfrm>
            <a:off x="611188" y="0"/>
            <a:ext cx="7632700" cy="609600"/>
          </a:xfrm>
          <a:noFill/>
        </p:spPr>
        <p:txBody>
          <a:bodyPr/>
          <a:lstStyle/>
          <a:p>
            <a:pPr eaLnBrk="1" hangingPunct="1"/>
            <a:br>
              <a:rPr lang="zh-CN" altLang="en-US" dirty="0">
                <a:latin typeface="Times New Roman" panose="02020603050405020304" pitchFamily="18" charset="0"/>
                <a:ea typeface="楷体_GB2312" pitchFamily="49" charset="-122"/>
                <a:cs typeface="Times New Roman" panose="02020603050405020304" pitchFamily="18" charset="0"/>
              </a:rPr>
            </a:br>
            <a:r>
              <a:rPr lang="en-US" altLang="zh-CN" dirty="0">
                <a:latin typeface="Times New Roman" panose="02020603050405020304" pitchFamily="18" charset="0"/>
                <a:ea typeface="楷体_GB2312" pitchFamily="49" charset="-122"/>
                <a:cs typeface="Times New Roman" panose="02020603050405020304" pitchFamily="18" charset="0"/>
              </a:rPr>
              <a:t>2.7 Linux</a:t>
            </a:r>
            <a:r>
              <a:rPr lang="zh-CN" altLang="en-US" dirty="0">
                <a:latin typeface="Times New Roman" panose="02020603050405020304" pitchFamily="18" charset="0"/>
                <a:ea typeface="楷体_GB2312" pitchFamily="49" charset="-122"/>
                <a:cs typeface="Times New Roman" panose="02020603050405020304" pitchFamily="18" charset="0"/>
              </a:rPr>
              <a:t>中的进程控制</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507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50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5079" grpId="0" animBg="1"/>
      <p:bldP spid="515080"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3"/>
          <p:cNvSpPr>
            <a:spLocks noGrp="1" noChangeArrowheads="1"/>
          </p:cNvSpPr>
          <p:nvPr>
            <p:ph type="body" idx="1"/>
          </p:nvPr>
        </p:nvSpPr>
        <p:spPr>
          <a:xfrm>
            <a:off x="323850" y="1052736"/>
            <a:ext cx="8147050" cy="5400452"/>
          </a:xfrm>
        </p:spPr>
        <p:txBody>
          <a:bodyPr/>
          <a:lstStyle/>
          <a:p>
            <a:pPr eaLnBrk="1" hangingPunct="1">
              <a:buFont typeface="Arial" panose="020B0604020202020204" pitchFamily="34" charset="0"/>
              <a:buChar char="•"/>
            </a:pPr>
            <a:r>
              <a:rPr lang="zh-CN" altLang="en-US" sz="2600" dirty="0">
                <a:latin typeface="Times New Roman" panose="02020603050405020304" pitchFamily="18" charset="0"/>
                <a:ea typeface="楷体_GB2312" pitchFamily="49" charset="-122"/>
                <a:cs typeface="Times New Roman" panose="02020603050405020304" pitchFamily="18" charset="0"/>
              </a:rPr>
              <a:t>很多情况下，子进程从</a:t>
            </a:r>
            <a:r>
              <a:rPr lang="en-US" altLang="zh-CN" sz="2600" dirty="0">
                <a:latin typeface="Times New Roman" panose="02020603050405020304" pitchFamily="18" charset="0"/>
                <a:ea typeface="楷体_GB2312" pitchFamily="49" charset="-122"/>
                <a:cs typeface="Times New Roman" panose="02020603050405020304" pitchFamily="18" charset="0"/>
              </a:rPr>
              <a:t>fork()</a:t>
            </a:r>
            <a:r>
              <a:rPr lang="zh-CN" altLang="en-US" sz="2600" dirty="0">
                <a:latin typeface="Times New Roman" panose="02020603050405020304" pitchFamily="18" charset="0"/>
                <a:ea typeface="楷体_GB2312" pitchFamily="49" charset="-122"/>
                <a:cs typeface="Times New Roman" panose="02020603050405020304" pitchFamily="18" charset="0"/>
              </a:rPr>
              <a:t>返回后</a:t>
            </a:r>
            <a:r>
              <a:rPr lang="en-US" altLang="zh-CN" sz="2600" dirty="0">
                <a:latin typeface="Times New Roman" panose="02020603050405020304" pitchFamily="18" charset="0"/>
                <a:ea typeface="楷体_GB2312" pitchFamily="49" charset="-122"/>
                <a:cs typeface="Times New Roman" panose="02020603050405020304" pitchFamily="18" charset="0"/>
              </a:rPr>
              <a:t>,</a:t>
            </a:r>
            <a:r>
              <a:rPr lang="zh-CN" altLang="en-US" sz="2600" dirty="0">
                <a:latin typeface="Times New Roman" panose="02020603050405020304" pitchFamily="18" charset="0"/>
                <a:ea typeface="楷体_GB2312" pitchFamily="49" charset="-122"/>
                <a:cs typeface="Times New Roman" panose="02020603050405020304" pitchFamily="18" charset="0"/>
              </a:rPr>
              <a:t>很多会调用</a:t>
            </a:r>
            <a:r>
              <a:rPr lang="en-US" altLang="zh-CN" sz="2600" dirty="0">
                <a:latin typeface="Times New Roman" panose="02020603050405020304" pitchFamily="18" charset="0"/>
                <a:ea typeface="楷体_GB2312" pitchFamily="49" charset="-122"/>
                <a:cs typeface="Times New Roman" panose="02020603050405020304" pitchFamily="18" charset="0"/>
              </a:rPr>
              <a:t>exec()</a:t>
            </a:r>
            <a:r>
              <a:rPr lang="zh-CN" altLang="en-US" sz="2600" dirty="0">
                <a:latin typeface="Times New Roman" panose="02020603050405020304" pitchFamily="18" charset="0"/>
                <a:ea typeface="楷体_GB2312" pitchFamily="49" charset="-122"/>
                <a:cs typeface="Times New Roman" panose="02020603050405020304" pitchFamily="18" charset="0"/>
              </a:rPr>
              <a:t>来开始执行新的程序，从而可以让父进程和子进程执行不同的任务。</a:t>
            </a:r>
            <a:endParaRPr lang="zh-CN" altLang="en-US" sz="26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sz="2600" dirty="0">
                <a:latin typeface="Times New Roman" panose="02020603050405020304" pitchFamily="18" charset="0"/>
                <a:ea typeface="楷体_GB2312" pitchFamily="49" charset="-122"/>
                <a:cs typeface="Times New Roman" panose="02020603050405020304" pitchFamily="18" charset="0"/>
              </a:rPr>
              <a:t>因此，子进程根本不需要读或者修改父进程拥有的所有资源。所以</a:t>
            </a:r>
            <a:r>
              <a:rPr lang="en-US" altLang="zh-CN" sz="2600" dirty="0">
                <a:latin typeface="Times New Roman" panose="02020603050405020304" pitchFamily="18" charset="0"/>
                <a:ea typeface="楷体_GB2312" pitchFamily="49" charset="-122"/>
                <a:cs typeface="Times New Roman" panose="02020603050405020304" pitchFamily="18" charset="0"/>
              </a:rPr>
              <a:t>fork()</a:t>
            </a:r>
            <a:r>
              <a:rPr lang="zh-CN" altLang="en-US" sz="2600" dirty="0">
                <a:latin typeface="Times New Roman" panose="02020603050405020304" pitchFamily="18" charset="0"/>
                <a:ea typeface="楷体_GB2312" pitchFamily="49" charset="-122"/>
                <a:cs typeface="Times New Roman" panose="02020603050405020304" pitchFamily="18" charset="0"/>
              </a:rPr>
              <a:t>中地址空间的复制依赖于</a:t>
            </a:r>
            <a:r>
              <a:rPr lang="en-US" altLang="zh-CN" sz="2600" dirty="0">
                <a:latin typeface="Times New Roman" panose="02020603050405020304" pitchFamily="18" charset="0"/>
                <a:ea typeface="楷体_GB2312" pitchFamily="49" charset="-122"/>
                <a:cs typeface="Times New Roman" panose="02020603050405020304" pitchFamily="18" charset="0"/>
              </a:rPr>
              <a:t>Copy On Write</a:t>
            </a:r>
            <a:r>
              <a:rPr lang="zh-CN" altLang="en-US" sz="2600" dirty="0">
                <a:latin typeface="Times New Roman" panose="02020603050405020304" pitchFamily="18" charset="0"/>
                <a:ea typeface="楷体_GB2312" pitchFamily="49" charset="-122"/>
                <a:cs typeface="Times New Roman" panose="02020603050405020304" pitchFamily="18" charset="0"/>
              </a:rPr>
              <a:t>技术，以降低</a:t>
            </a:r>
            <a:r>
              <a:rPr lang="en-US" altLang="zh-CN" sz="2600" dirty="0">
                <a:latin typeface="Times New Roman" panose="02020603050405020304" pitchFamily="18" charset="0"/>
                <a:ea typeface="楷体_GB2312" pitchFamily="49" charset="-122"/>
                <a:cs typeface="Times New Roman" panose="02020603050405020304" pitchFamily="18" charset="0"/>
              </a:rPr>
              <a:t>fork()</a:t>
            </a:r>
            <a:r>
              <a:rPr lang="zh-CN" altLang="en-US" sz="2600" dirty="0">
                <a:latin typeface="Times New Roman" panose="02020603050405020304" pitchFamily="18" charset="0"/>
                <a:ea typeface="楷体_GB2312" pitchFamily="49" charset="-122"/>
                <a:cs typeface="Times New Roman" panose="02020603050405020304" pitchFamily="18" charset="0"/>
              </a:rPr>
              <a:t>的开销。</a:t>
            </a:r>
            <a:endParaRPr lang="zh-CN" altLang="en-US" sz="2600" dirty="0">
              <a:latin typeface="Times New Roman" panose="02020603050405020304" pitchFamily="18" charset="0"/>
              <a:ea typeface="楷体_GB2312" pitchFamily="49" charset="-122"/>
              <a:cs typeface="Times New Roman" panose="02020603050405020304" pitchFamily="18" charset="0"/>
            </a:endParaRPr>
          </a:p>
          <a:p>
            <a:pPr eaLnBrk="1" hangingPunct="1">
              <a:lnSpc>
                <a:spcPct val="115000"/>
              </a:lnSpc>
              <a:buFont typeface="Arial" panose="020B0604020202020204" pitchFamily="34" charset="0"/>
              <a:buChar char="•"/>
            </a:pPr>
            <a:r>
              <a:rPr lang="zh-CN" altLang="en-US" sz="2600" dirty="0">
                <a:latin typeface="Times New Roman" panose="02020603050405020304" pitchFamily="18" charset="0"/>
                <a:ea typeface="楷体_GB2312" pitchFamily="49" charset="-122"/>
                <a:cs typeface="Times New Roman" panose="02020603050405020304" pitchFamily="18" charset="0"/>
              </a:rPr>
              <a:t>当进程调用</a:t>
            </a:r>
            <a:r>
              <a:rPr lang="en-US" altLang="zh-CN" sz="2600" dirty="0">
                <a:latin typeface="Times New Roman" panose="02020603050405020304" pitchFamily="18" charset="0"/>
                <a:ea typeface="楷体_GB2312" pitchFamily="49" charset="-122"/>
                <a:cs typeface="Times New Roman" panose="02020603050405020304" pitchFamily="18" charset="0"/>
              </a:rPr>
              <a:t>exec()</a:t>
            </a:r>
            <a:r>
              <a:rPr lang="zh-CN" altLang="en-US" sz="2600" dirty="0">
                <a:latin typeface="Times New Roman" panose="02020603050405020304" pitchFamily="18" charset="0"/>
                <a:ea typeface="楷体_GB2312" pitchFamily="49" charset="-122"/>
                <a:cs typeface="Times New Roman" panose="02020603050405020304" pitchFamily="18" charset="0"/>
              </a:rPr>
              <a:t>函数族时，先找到并打开给定的可执行程序文件，装入并运行目标程序。</a:t>
            </a:r>
            <a:endParaRPr lang="zh-CN" altLang="en-US" sz="2600" dirty="0">
              <a:latin typeface="Times New Roman" panose="02020603050405020304" pitchFamily="18" charset="0"/>
              <a:ea typeface="楷体_GB2312" pitchFamily="49" charset="-122"/>
              <a:cs typeface="Times New Roman" panose="02020603050405020304" pitchFamily="18" charset="0"/>
            </a:endParaRPr>
          </a:p>
          <a:p>
            <a:pPr eaLnBrk="1" hangingPunct="1">
              <a:lnSpc>
                <a:spcPct val="115000"/>
              </a:lnSpc>
              <a:buFont typeface="Arial" panose="020B0604020202020204" pitchFamily="34" charset="0"/>
              <a:buChar char="•"/>
            </a:pPr>
            <a:r>
              <a:rPr lang="zh-CN" altLang="en-US" sz="2600" dirty="0">
                <a:latin typeface="Times New Roman" panose="02020603050405020304" pitchFamily="18" charset="0"/>
                <a:ea typeface="楷体_GB2312" pitchFamily="49" charset="-122"/>
                <a:cs typeface="Times New Roman" panose="02020603050405020304" pitchFamily="18" charset="0"/>
              </a:rPr>
              <a:t>如果</a:t>
            </a:r>
            <a:r>
              <a:rPr lang="en-US" altLang="zh-CN" sz="2600" dirty="0">
                <a:latin typeface="Times New Roman" panose="02020603050405020304" pitchFamily="18" charset="0"/>
                <a:ea typeface="楷体_GB2312" pitchFamily="49" charset="-122"/>
                <a:cs typeface="Times New Roman" panose="02020603050405020304" pitchFamily="18" charset="0"/>
              </a:rPr>
              <a:t>exec()</a:t>
            </a:r>
            <a:r>
              <a:rPr lang="zh-CN" altLang="en-US" sz="2600" dirty="0">
                <a:latin typeface="Times New Roman" panose="02020603050405020304" pitchFamily="18" charset="0"/>
                <a:ea typeface="楷体_GB2312" pitchFamily="49" charset="-122"/>
                <a:cs typeface="Times New Roman" panose="02020603050405020304" pitchFamily="18" charset="0"/>
              </a:rPr>
              <a:t>成功，调用者进程将被覆盖，从新进程的入口地址开始执行。</a:t>
            </a:r>
            <a:endParaRPr lang="zh-CN" altLang="en-US" sz="2600" dirty="0">
              <a:latin typeface="Times New Roman" panose="02020603050405020304" pitchFamily="18" charset="0"/>
              <a:ea typeface="楷体_GB2312" pitchFamily="49" charset="-122"/>
              <a:cs typeface="Times New Roman" panose="02020603050405020304" pitchFamily="18" charset="0"/>
            </a:endParaRPr>
          </a:p>
        </p:txBody>
      </p:sp>
      <p:sp>
        <p:nvSpPr>
          <p:cNvPr id="5" name="Rectangle 6"/>
          <p:cNvSpPr>
            <a:spLocks noGrp="1" noChangeArrowheads="1"/>
          </p:cNvSpPr>
          <p:nvPr>
            <p:ph type="title"/>
          </p:nvPr>
        </p:nvSpPr>
        <p:spPr>
          <a:xfrm>
            <a:off x="611188" y="0"/>
            <a:ext cx="7632700" cy="609600"/>
          </a:xfrm>
          <a:noFill/>
        </p:spPr>
        <p:txBody>
          <a:bodyPr/>
          <a:lstStyle/>
          <a:p>
            <a:pPr eaLnBrk="1" hangingPunct="1"/>
            <a:br>
              <a:rPr lang="zh-CN" altLang="en-US" dirty="0">
                <a:latin typeface="Times New Roman" panose="02020603050405020304" pitchFamily="18" charset="0"/>
                <a:ea typeface="楷体_GB2312" pitchFamily="49" charset="-122"/>
                <a:cs typeface="Times New Roman" panose="02020603050405020304" pitchFamily="18" charset="0"/>
              </a:rPr>
            </a:br>
            <a:r>
              <a:rPr lang="en-US" altLang="zh-CN" dirty="0">
                <a:latin typeface="Times New Roman" panose="02020603050405020304" pitchFamily="18" charset="0"/>
                <a:ea typeface="楷体_GB2312" pitchFamily="49" charset="-122"/>
                <a:cs typeface="Times New Roman" panose="02020603050405020304" pitchFamily="18" charset="0"/>
              </a:rPr>
              <a:t>2.7 Linux</a:t>
            </a:r>
            <a:r>
              <a:rPr lang="zh-CN" altLang="en-US" dirty="0">
                <a:latin typeface="Times New Roman" panose="02020603050405020304" pitchFamily="18" charset="0"/>
                <a:ea typeface="楷体_GB2312" pitchFamily="49" charset="-122"/>
                <a:cs typeface="Times New Roman" panose="02020603050405020304" pitchFamily="18" charset="0"/>
              </a:rPr>
              <a:t>中的进程控制</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44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44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144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3"/>
          <p:cNvSpPr>
            <a:spLocks noGrp="1" noChangeArrowheads="1"/>
          </p:cNvSpPr>
          <p:nvPr>
            <p:ph type="body" idx="1"/>
          </p:nvPr>
        </p:nvSpPr>
        <p:spPr>
          <a:xfrm>
            <a:off x="323850" y="1052736"/>
            <a:ext cx="8147050" cy="5400452"/>
          </a:xfrm>
        </p:spPr>
        <p:txBody>
          <a:bodyPr/>
          <a:lstStyle/>
          <a:p>
            <a:pPr eaLnBrk="1" hangingPunct="1">
              <a:buFont typeface="Arial" panose="020B0604020202020204" pitchFamily="34" charset="0"/>
              <a:buChar char="•"/>
            </a:pPr>
            <a:r>
              <a:rPr lang="en-US" altLang="zh-CN" dirty="0">
                <a:latin typeface="Times New Roman" panose="02020603050405020304" pitchFamily="18" charset="0"/>
                <a:ea typeface="楷体_GB2312" pitchFamily="49" charset="-122"/>
                <a:cs typeface="Times New Roman" panose="02020603050405020304" pitchFamily="18" charset="0"/>
              </a:rPr>
              <a:t>exec()</a:t>
            </a:r>
            <a:r>
              <a:rPr lang="zh-CN" altLang="en-US" dirty="0">
                <a:latin typeface="Times New Roman" panose="02020603050405020304" pitchFamily="18" charset="0"/>
                <a:ea typeface="楷体_GB2312" pitchFamily="49" charset="-122"/>
                <a:cs typeface="Times New Roman" panose="02020603050405020304" pitchFamily="18" charset="0"/>
              </a:rPr>
              <a:t>并不创建新进程，前后进程</a:t>
            </a:r>
            <a:r>
              <a:rPr lang="en-US" altLang="zh-CN" dirty="0">
                <a:latin typeface="Times New Roman" panose="02020603050405020304" pitchFamily="18" charset="0"/>
                <a:ea typeface="楷体_GB2312" pitchFamily="49" charset="-122"/>
                <a:cs typeface="Times New Roman" panose="02020603050405020304" pitchFamily="18" charset="0"/>
              </a:rPr>
              <a:t>ID</a:t>
            </a:r>
            <a:r>
              <a:rPr lang="zh-CN" altLang="en-US" dirty="0">
                <a:latin typeface="Times New Roman" panose="02020603050405020304" pitchFamily="18" charset="0"/>
                <a:ea typeface="楷体_GB2312" pitchFamily="49" charset="-122"/>
                <a:cs typeface="Times New Roman" panose="02020603050405020304" pitchFamily="18" charset="0"/>
              </a:rPr>
              <a:t>是不变的。它是用另外一个程序替代了当前进程的正文，数据，堆和栈。</a:t>
            </a:r>
            <a:endParaRPr lang="en-US" altLang="zh-CN"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en-US" altLang="zh-CN" dirty="0">
                <a:latin typeface="Times New Roman" panose="02020603050405020304" pitchFamily="18" charset="0"/>
                <a:ea typeface="楷体_GB2312" pitchFamily="49" charset="-122"/>
                <a:cs typeface="Times New Roman" panose="02020603050405020304" pitchFamily="18" charset="0"/>
              </a:rPr>
              <a:t>exec()</a:t>
            </a:r>
            <a:r>
              <a:rPr lang="zh-CN" altLang="en-US" dirty="0">
                <a:latin typeface="Times New Roman" panose="02020603050405020304" pitchFamily="18" charset="0"/>
                <a:ea typeface="楷体_GB2312" pitchFamily="49" charset="-122"/>
                <a:cs typeface="Times New Roman" panose="02020603050405020304" pitchFamily="18" charset="0"/>
              </a:rPr>
              <a:t>函数族的函数执行成功后不会返回，因为调用进程的实体，包括代码段，数据段和堆栈等都已经被新的内容取代，只留下进程</a:t>
            </a:r>
            <a:r>
              <a:rPr lang="en-US" altLang="zh-CN" dirty="0">
                <a:latin typeface="Times New Roman" panose="02020603050405020304" pitchFamily="18" charset="0"/>
                <a:ea typeface="楷体_GB2312" pitchFamily="49" charset="-122"/>
                <a:cs typeface="Times New Roman" panose="02020603050405020304" pitchFamily="18" charset="0"/>
              </a:rPr>
              <a:t>ID</a:t>
            </a:r>
            <a:r>
              <a:rPr lang="zh-CN" altLang="en-US" dirty="0">
                <a:latin typeface="Times New Roman" panose="02020603050405020304" pitchFamily="18" charset="0"/>
                <a:ea typeface="楷体_GB2312" pitchFamily="49" charset="-122"/>
                <a:cs typeface="Times New Roman" panose="02020603050405020304" pitchFamily="18" charset="0"/>
              </a:rPr>
              <a:t>等一些表面上的信息仍保持原样</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
        <p:nvSpPr>
          <p:cNvPr id="5" name="Rectangle 6"/>
          <p:cNvSpPr>
            <a:spLocks noGrp="1" noChangeArrowheads="1"/>
          </p:cNvSpPr>
          <p:nvPr>
            <p:ph type="title"/>
          </p:nvPr>
        </p:nvSpPr>
        <p:spPr>
          <a:xfrm>
            <a:off x="611188" y="0"/>
            <a:ext cx="7632700" cy="609600"/>
          </a:xfrm>
          <a:noFill/>
        </p:spPr>
        <p:txBody>
          <a:bodyPr/>
          <a:lstStyle/>
          <a:p>
            <a:pPr eaLnBrk="1" hangingPunct="1"/>
            <a:br>
              <a:rPr lang="zh-CN" altLang="en-US" dirty="0">
                <a:latin typeface="Times New Roman" panose="02020603050405020304" pitchFamily="18" charset="0"/>
                <a:ea typeface="楷体_GB2312" pitchFamily="49" charset="-122"/>
                <a:cs typeface="Times New Roman" panose="02020603050405020304" pitchFamily="18" charset="0"/>
              </a:rPr>
            </a:br>
            <a:r>
              <a:rPr lang="en-US" altLang="zh-CN" dirty="0">
                <a:latin typeface="Times New Roman" panose="02020603050405020304" pitchFamily="18" charset="0"/>
                <a:ea typeface="楷体_GB2312" pitchFamily="49" charset="-122"/>
                <a:cs typeface="Times New Roman" panose="02020603050405020304" pitchFamily="18" charset="0"/>
              </a:rPr>
              <a:t>2.7 Linux</a:t>
            </a:r>
            <a:r>
              <a:rPr lang="zh-CN" altLang="en-US" dirty="0">
                <a:latin typeface="Times New Roman" panose="02020603050405020304" pitchFamily="18" charset="0"/>
                <a:ea typeface="楷体_GB2312" pitchFamily="49" charset="-122"/>
                <a:cs typeface="Times New Roman" panose="02020603050405020304" pitchFamily="18" charset="0"/>
              </a:rPr>
              <a:t>中的进程控制</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4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349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539" name="Group 3"/>
          <p:cNvGrpSpPr/>
          <p:nvPr/>
        </p:nvGrpSpPr>
        <p:grpSpPr bwMode="auto">
          <a:xfrm>
            <a:off x="762000" y="1371600"/>
            <a:ext cx="6146800" cy="5189538"/>
            <a:chOff x="496" y="862"/>
            <a:chExt cx="3808" cy="3269"/>
          </a:xfrm>
        </p:grpSpPr>
        <p:sp>
          <p:nvSpPr>
            <p:cNvPr id="65575" name="Freeform 4"/>
            <p:cNvSpPr/>
            <p:nvPr/>
          </p:nvSpPr>
          <p:spPr bwMode="auto">
            <a:xfrm>
              <a:off x="496" y="862"/>
              <a:ext cx="3808" cy="3269"/>
            </a:xfrm>
            <a:custGeom>
              <a:avLst/>
              <a:gdLst>
                <a:gd name="T0" fmla="*/ 0 w 3808"/>
                <a:gd name="T1" fmla="*/ 3160 h 3269"/>
                <a:gd name="T2" fmla="*/ 3699 w 3808"/>
                <a:gd name="T3" fmla="*/ 3160 h 3269"/>
                <a:gd name="T4" fmla="*/ 3699 w 3808"/>
                <a:gd name="T5" fmla="*/ 0 h 3269"/>
                <a:gd name="T6" fmla="*/ 3808 w 3808"/>
                <a:gd name="T7" fmla="*/ 109 h 3269"/>
                <a:gd name="T8" fmla="*/ 3808 w 3808"/>
                <a:gd name="T9" fmla="*/ 3269 h 3269"/>
                <a:gd name="T10" fmla="*/ 3699 w 3808"/>
                <a:gd name="T11" fmla="*/ 3160 h 3269"/>
                <a:gd name="T12" fmla="*/ 3808 w 3808"/>
                <a:gd name="T13" fmla="*/ 3269 h 3269"/>
                <a:gd name="T14" fmla="*/ 109 w 3808"/>
                <a:gd name="T15" fmla="*/ 3269 h 3269"/>
                <a:gd name="T16" fmla="*/ 0 w 3808"/>
                <a:gd name="T17" fmla="*/ 3160 h 326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808"/>
                <a:gd name="T28" fmla="*/ 0 h 3269"/>
                <a:gd name="T29" fmla="*/ 3808 w 3808"/>
                <a:gd name="T30" fmla="*/ 3269 h 326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808" h="3269">
                  <a:moveTo>
                    <a:pt x="0" y="3160"/>
                  </a:moveTo>
                  <a:lnTo>
                    <a:pt x="3699" y="3160"/>
                  </a:lnTo>
                  <a:lnTo>
                    <a:pt x="3699" y="0"/>
                  </a:lnTo>
                  <a:lnTo>
                    <a:pt x="3808" y="109"/>
                  </a:lnTo>
                  <a:lnTo>
                    <a:pt x="3808" y="3269"/>
                  </a:lnTo>
                  <a:lnTo>
                    <a:pt x="3699" y="3160"/>
                  </a:lnTo>
                  <a:lnTo>
                    <a:pt x="3808" y="3269"/>
                  </a:lnTo>
                  <a:lnTo>
                    <a:pt x="109" y="3269"/>
                  </a:lnTo>
                  <a:lnTo>
                    <a:pt x="0" y="3160"/>
                  </a:lnTo>
                  <a:close/>
                </a:path>
              </a:pathLst>
            </a:custGeom>
            <a:solidFill>
              <a:srgbClr val="999999"/>
            </a:solidFill>
            <a:ln w="4763">
              <a:solidFill>
                <a:srgbClr val="000000"/>
              </a:solidFill>
              <a:round/>
            </a:ln>
          </p:spPr>
          <p:txBody>
            <a:bodyPr/>
            <a:lstStyle/>
            <a:p>
              <a:endParaRPr lang="zh-CN" altLang="en-US"/>
            </a:p>
          </p:txBody>
        </p:sp>
        <p:sp>
          <p:nvSpPr>
            <p:cNvPr id="65576" name="Rectangle 5"/>
            <p:cNvSpPr>
              <a:spLocks noChangeArrowheads="1"/>
            </p:cNvSpPr>
            <p:nvPr/>
          </p:nvSpPr>
          <p:spPr bwMode="auto">
            <a:xfrm>
              <a:off x="496" y="862"/>
              <a:ext cx="3699" cy="3160"/>
            </a:xfrm>
            <a:prstGeom prst="rect">
              <a:avLst/>
            </a:prstGeom>
            <a:solidFill>
              <a:srgbClr val="FFFFFF"/>
            </a:solidFill>
            <a:ln w="4763">
              <a:solidFill>
                <a:srgbClr val="000000"/>
              </a:solidFill>
              <a:miter lim="800000"/>
            </a:ln>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grpSp>
      <p:sp>
        <p:nvSpPr>
          <p:cNvPr id="65540" name="Rectangle 6"/>
          <p:cNvSpPr>
            <a:spLocks noChangeArrowheads="1"/>
          </p:cNvSpPr>
          <p:nvPr/>
        </p:nvSpPr>
        <p:spPr bwMode="auto">
          <a:xfrm>
            <a:off x="863600" y="1531938"/>
            <a:ext cx="139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kumimoji="1" lang="en-US" altLang="zh-CN" sz="2000" b="0">
                <a:solidFill>
                  <a:srgbClr val="000000"/>
                </a:solidFill>
                <a:latin typeface="宋体" panose="02010600030101010101" pitchFamily="2" charset="-122"/>
                <a:ea typeface="宋体" panose="02010600030101010101" pitchFamily="2" charset="-122"/>
              </a:rPr>
              <a:t>int global;</a:t>
            </a:r>
            <a:endParaRPr kumimoji="1" lang="en-US" altLang="zh-CN" sz="2000" b="0">
              <a:solidFill>
                <a:schemeClr val="tx1"/>
              </a:solidFill>
              <a:latin typeface="Times New Roman" panose="02020603050405020304" pitchFamily="18" charset="0"/>
              <a:ea typeface="宋体" panose="02010600030101010101" pitchFamily="2" charset="-122"/>
            </a:endParaRPr>
          </a:p>
        </p:txBody>
      </p:sp>
      <p:sp>
        <p:nvSpPr>
          <p:cNvPr id="65541" name="Rectangle 7"/>
          <p:cNvSpPr>
            <a:spLocks noChangeArrowheads="1"/>
          </p:cNvSpPr>
          <p:nvPr/>
        </p:nvSpPr>
        <p:spPr bwMode="auto">
          <a:xfrm>
            <a:off x="863600" y="1809750"/>
            <a:ext cx="1016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kumimoji="1" lang="en-US" altLang="zh-CN" sz="2000" b="0">
                <a:solidFill>
                  <a:srgbClr val="000000"/>
                </a:solidFill>
                <a:latin typeface="宋体" panose="02010600030101010101" pitchFamily="2" charset="-122"/>
                <a:ea typeface="宋体" panose="02010600030101010101" pitchFamily="2" charset="-122"/>
              </a:rPr>
              <a:t>main() {</a:t>
            </a:r>
            <a:endParaRPr kumimoji="1" lang="en-US" altLang="zh-CN" sz="2000" b="0">
              <a:solidFill>
                <a:schemeClr val="tx1"/>
              </a:solidFill>
              <a:latin typeface="Times New Roman" panose="02020603050405020304" pitchFamily="18" charset="0"/>
              <a:ea typeface="宋体" panose="02010600030101010101" pitchFamily="2" charset="-122"/>
            </a:endParaRPr>
          </a:p>
        </p:txBody>
      </p:sp>
      <p:sp>
        <p:nvSpPr>
          <p:cNvPr id="65542" name="Rectangle 8"/>
          <p:cNvSpPr>
            <a:spLocks noChangeArrowheads="1"/>
          </p:cNvSpPr>
          <p:nvPr/>
        </p:nvSpPr>
        <p:spPr bwMode="auto">
          <a:xfrm>
            <a:off x="863600" y="2085975"/>
            <a:ext cx="1524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kumimoji="1" lang="zh-CN" altLang="en-US" sz="2000" b="0">
                <a:solidFill>
                  <a:srgbClr val="000000"/>
                </a:solidFill>
                <a:latin typeface="宋体" panose="02010600030101010101" pitchFamily="2" charset="-122"/>
                <a:ea typeface="宋体" panose="02010600030101010101" pitchFamily="2" charset="-122"/>
              </a:rPr>
              <a:t>  </a:t>
            </a:r>
            <a:r>
              <a:rPr kumimoji="1" lang="en-US" altLang="zh-CN" sz="2000" b="0">
                <a:solidFill>
                  <a:srgbClr val="000000"/>
                </a:solidFill>
                <a:latin typeface="宋体" panose="02010600030101010101" pitchFamily="2" charset="-122"/>
                <a:ea typeface="宋体" panose="02010600030101010101" pitchFamily="2" charset="-122"/>
              </a:rPr>
              <a:t>int local;</a:t>
            </a:r>
            <a:endParaRPr kumimoji="1" lang="en-US" altLang="zh-CN" sz="2000" b="0">
              <a:solidFill>
                <a:schemeClr val="tx1"/>
              </a:solidFill>
              <a:latin typeface="Times New Roman" panose="02020603050405020304" pitchFamily="18" charset="0"/>
              <a:ea typeface="宋体" panose="02010600030101010101" pitchFamily="2" charset="-122"/>
            </a:endParaRPr>
          </a:p>
        </p:txBody>
      </p:sp>
      <p:sp>
        <p:nvSpPr>
          <p:cNvPr id="65543" name="Rectangle 9"/>
          <p:cNvSpPr>
            <a:spLocks noChangeArrowheads="1"/>
          </p:cNvSpPr>
          <p:nvPr/>
        </p:nvSpPr>
        <p:spPr bwMode="auto">
          <a:xfrm>
            <a:off x="863600" y="2640013"/>
            <a:ext cx="368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kumimoji="1" lang="zh-CN" altLang="en-US" sz="2000" b="0">
                <a:solidFill>
                  <a:srgbClr val="000000"/>
                </a:solidFill>
                <a:latin typeface="宋体" panose="02010600030101010101" pitchFamily="2" charset="-122"/>
                <a:ea typeface="宋体" panose="02010600030101010101" pitchFamily="2" charset="-122"/>
              </a:rPr>
              <a:t>  </a:t>
            </a:r>
            <a:r>
              <a:rPr kumimoji="1" lang="en-US" altLang="zh-CN" sz="2000" b="0">
                <a:solidFill>
                  <a:srgbClr val="000000"/>
                </a:solidFill>
                <a:latin typeface="宋体" panose="02010600030101010101" pitchFamily="2" charset="-122"/>
                <a:ea typeface="宋体" panose="02010600030101010101" pitchFamily="2" charset="-122"/>
              </a:rPr>
              <a:t>if ((child=fork()) == -1) {</a:t>
            </a:r>
            <a:endParaRPr kumimoji="1" lang="en-US" altLang="zh-CN" sz="2000" b="0">
              <a:solidFill>
                <a:schemeClr val="tx1"/>
              </a:solidFill>
              <a:latin typeface="Times New Roman" panose="02020603050405020304" pitchFamily="18" charset="0"/>
              <a:ea typeface="宋体" panose="02010600030101010101" pitchFamily="2" charset="-122"/>
            </a:endParaRPr>
          </a:p>
        </p:txBody>
      </p:sp>
      <p:sp>
        <p:nvSpPr>
          <p:cNvPr id="65544" name="Rectangle 10"/>
          <p:cNvSpPr>
            <a:spLocks noChangeArrowheads="1"/>
          </p:cNvSpPr>
          <p:nvPr/>
        </p:nvSpPr>
        <p:spPr bwMode="auto">
          <a:xfrm>
            <a:off x="863600" y="2916238"/>
            <a:ext cx="1524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kumimoji="1" lang="zh-CN" altLang="en-US" sz="2000" b="0">
                <a:solidFill>
                  <a:srgbClr val="000000"/>
                </a:solidFill>
                <a:latin typeface="宋体" panose="02010600030101010101" pitchFamily="2" charset="-122"/>
                <a:ea typeface="宋体" panose="02010600030101010101" pitchFamily="2" charset="-122"/>
              </a:rPr>
              <a:t>    创建失败</a:t>
            </a:r>
            <a:endParaRPr kumimoji="1" lang="zh-CN" altLang="en-US" sz="2000" b="0">
              <a:solidFill>
                <a:schemeClr val="tx1"/>
              </a:solidFill>
              <a:latin typeface="Times New Roman" panose="02020603050405020304" pitchFamily="18" charset="0"/>
              <a:ea typeface="宋体" panose="02010600030101010101" pitchFamily="2" charset="-122"/>
            </a:endParaRPr>
          </a:p>
        </p:txBody>
      </p:sp>
      <p:sp>
        <p:nvSpPr>
          <p:cNvPr id="65545" name="Rectangle 11"/>
          <p:cNvSpPr>
            <a:spLocks noChangeArrowheads="1"/>
          </p:cNvSpPr>
          <p:nvPr/>
        </p:nvSpPr>
        <p:spPr bwMode="auto">
          <a:xfrm>
            <a:off x="863600" y="3192463"/>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kumimoji="1" lang="zh-CN" altLang="en-US" sz="2000" b="0">
                <a:solidFill>
                  <a:srgbClr val="000000"/>
                </a:solidFill>
                <a:latin typeface="宋体" panose="02010600030101010101" pitchFamily="2" charset="-122"/>
                <a:ea typeface="宋体" panose="02010600030101010101" pitchFamily="2" charset="-122"/>
              </a:rPr>
              <a:t>  </a:t>
            </a:r>
            <a:r>
              <a:rPr kumimoji="1" lang="en-US" altLang="zh-CN" sz="2000" b="0">
                <a:solidFill>
                  <a:srgbClr val="000000"/>
                </a:solidFill>
                <a:latin typeface="宋体" panose="02010600030101010101" pitchFamily="2" charset="-122"/>
                <a:ea typeface="宋体" panose="02010600030101010101" pitchFamily="2" charset="-122"/>
              </a:rPr>
              <a:t>}</a:t>
            </a:r>
            <a:endParaRPr kumimoji="1" lang="en-US" altLang="zh-CN" sz="2000" b="0">
              <a:solidFill>
                <a:schemeClr val="tx1"/>
              </a:solidFill>
              <a:latin typeface="Times New Roman" panose="02020603050405020304" pitchFamily="18" charset="0"/>
              <a:ea typeface="宋体" panose="02010600030101010101" pitchFamily="2" charset="-122"/>
            </a:endParaRPr>
          </a:p>
        </p:txBody>
      </p:sp>
      <p:sp>
        <p:nvSpPr>
          <p:cNvPr id="65546" name="Rectangle 12"/>
          <p:cNvSpPr>
            <a:spLocks noChangeArrowheads="1"/>
          </p:cNvSpPr>
          <p:nvPr/>
        </p:nvSpPr>
        <p:spPr bwMode="auto">
          <a:xfrm>
            <a:off x="863600" y="3470275"/>
            <a:ext cx="241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kumimoji="1" lang="zh-CN" altLang="en-US" sz="2000" b="0">
                <a:solidFill>
                  <a:srgbClr val="000000"/>
                </a:solidFill>
                <a:latin typeface="宋体" panose="02010600030101010101" pitchFamily="2" charset="-122"/>
                <a:ea typeface="宋体" panose="02010600030101010101" pitchFamily="2" charset="-122"/>
              </a:rPr>
              <a:t>  </a:t>
            </a:r>
            <a:r>
              <a:rPr kumimoji="1" lang="en-US" altLang="zh-CN" sz="2000" b="0">
                <a:solidFill>
                  <a:srgbClr val="000000"/>
                </a:solidFill>
                <a:latin typeface="宋体" panose="02010600030101010101" pitchFamily="2" charset="-122"/>
                <a:ea typeface="宋体" panose="02010600030101010101" pitchFamily="2" charset="-122"/>
              </a:rPr>
              <a:t>if (child == 0) {</a:t>
            </a:r>
            <a:endParaRPr kumimoji="1" lang="en-US" altLang="zh-CN" sz="2000" b="0">
              <a:solidFill>
                <a:schemeClr val="tx1"/>
              </a:solidFill>
              <a:latin typeface="Times New Roman" panose="02020603050405020304" pitchFamily="18" charset="0"/>
              <a:ea typeface="宋体" panose="02010600030101010101" pitchFamily="2" charset="-122"/>
            </a:endParaRPr>
          </a:p>
        </p:txBody>
      </p:sp>
      <p:sp>
        <p:nvSpPr>
          <p:cNvPr id="65547" name="Rectangle 13"/>
          <p:cNvSpPr>
            <a:spLocks noChangeArrowheads="1"/>
          </p:cNvSpPr>
          <p:nvPr/>
        </p:nvSpPr>
        <p:spPr bwMode="auto">
          <a:xfrm>
            <a:off x="863600" y="3746500"/>
            <a:ext cx="1270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kumimoji="1" lang="zh-CN" altLang="en-US" sz="2000" b="0">
                <a:solidFill>
                  <a:srgbClr val="000000"/>
                </a:solidFill>
                <a:latin typeface="宋体" panose="02010600030101010101" pitchFamily="2" charset="-122"/>
                <a:ea typeface="宋体" panose="02010600030101010101" pitchFamily="2" charset="-122"/>
              </a:rPr>
              <a:t>    子进程</a:t>
            </a:r>
            <a:endParaRPr kumimoji="1" lang="zh-CN" altLang="en-US" sz="2000" b="0">
              <a:solidFill>
                <a:schemeClr val="tx1"/>
              </a:solidFill>
              <a:latin typeface="Times New Roman" panose="02020603050405020304" pitchFamily="18" charset="0"/>
              <a:ea typeface="宋体" panose="02010600030101010101" pitchFamily="2" charset="-122"/>
            </a:endParaRPr>
          </a:p>
        </p:txBody>
      </p:sp>
      <p:sp>
        <p:nvSpPr>
          <p:cNvPr id="65548" name="Rectangle 14"/>
          <p:cNvSpPr>
            <a:spLocks noChangeArrowheads="1"/>
          </p:cNvSpPr>
          <p:nvPr/>
        </p:nvSpPr>
        <p:spPr bwMode="auto">
          <a:xfrm>
            <a:off x="863600" y="4300538"/>
            <a:ext cx="266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kumimoji="1" lang="zh-CN" altLang="en-US" sz="2000" b="0">
                <a:solidFill>
                  <a:srgbClr val="000000"/>
                </a:solidFill>
                <a:latin typeface="宋体" panose="02010600030101010101" pitchFamily="2" charset="-122"/>
                <a:ea typeface="宋体" panose="02010600030101010101" pitchFamily="2" charset="-122"/>
              </a:rPr>
              <a:t>    </a:t>
            </a:r>
            <a:r>
              <a:rPr kumimoji="1" lang="en-US" altLang="zh-CN" sz="2000" b="0">
                <a:solidFill>
                  <a:srgbClr val="000000"/>
                </a:solidFill>
                <a:latin typeface="宋体" panose="02010600030101010101" pitchFamily="2" charset="-122"/>
                <a:ea typeface="宋体" panose="02010600030101010101" pitchFamily="2" charset="-122"/>
              </a:rPr>
              <a:t>global=local + 2;</a:t>
            </a:r>
            <a:endParaRPr kumimoji="1" lang="en-US" altLang="zh-CN" sz="2000" b="0">
              <a:solidFill>
                <a:schemeClr val="tx1"/>
              </a:solidFill>
              <a:latin typeface="Times New Roman" panose="02020603050405020304" pitchFamily="18" charset="0"/>
              <a:ea typeface="宋体" panose="02010600030101010101" pitchFamily="2" charset="-122"/>
            </a:endParaRPr>
          </a:p>
        </p:txBody>
      </p:sp>
      <p:sp>
        <p:nvSpPr>
          <p:cNvPr id="65549" name="Rectangle 15"/>
          <p:cNvSpPr>
            <a:spLocks noChangeArrowheads="1"/>
          </p:cNvSpPr>
          <p:nvPr/>
        </p:nvSpPr>
        <p:spPr bwMode="auto">
          <a:xfrm>
            <a:off x="863600" y="4576763"/>
            <a:ext cx="139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kumimoji="1" lang="zh-CN" altLang="en-US" sz="2000" b="0">
                <a:solidFill>
                  <a:srgbClr val="000000"/>
                </a:solidFill>
                <a:latin typeface="宋体" panose="02010600030101010101" pitchFamily="2" charset="-122"/>
                <a:ea typeface="宋体" panose="02010600030101010101" pitchFamily="2" charset="-122"/>
              </a:rPr>
              <a:t>    </a:t>
            </a:r>
            <a:r>
              <a:rPr kumimoji="1" lang="en-US" altLang="zh-CN" sz="2000" b="0">
                <a:solidFill>
                  <a:srgbClr val="000000"/>
                </a:solidFill>
                <a:latin typeface="宋体" panose="02010600030101010101" pitchFamily="2" charset="-122"/>
                <a:ea typeface="宋体" panose="02010600030101010101" pitchFamily="2" charset="-122"/>
              </a:rPr>
              <a:t>exit();</a:t>
            </a:r>
            <a:endParaRPr kumimoji="1" lang="en-US" altLang="zh-CN" sz="2000" b="0">
              <a:solidFill>
                <a:schemeClr val="tx1"/>
              </a:solidFill>
              <a:latin typeface="Times New Roman" panose="02020603050405020304" pitchFamily="18" charset="0"/>
              <a:ea typeface="宋体" panose="02010600030101010101" pitchFamily="2" charset="-122"/>
            </a:endParaRPr>
          </a:p>
        </p:txBody>
      </p:sp>
      <p:sp>
        <p:nvSpPr>
          <p:cNvPr id="65550" name="Rectangle 16"/>
          <p:cNvSpPr>
            <a:spLocks noChangeArrowheads="1"/>
          </p:cNvSpPr>
          <p:nvPr/>
        </p:nvSpPr>
        <p:spPr bwMode="auto">
          <a:xfrm>
            <a:off x="863600" y="4854575"/>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kumimoji="1" lang="zh-CN" altLang="en-US" sz="2000" b="0">
                <a:solidFill>
                  <a:srgbClr val="000000"/>
                </a:solidFill>
                <a:latin typeface="宋体" panose="02010600030101010101" pitchFamily="2" charset="-122"/>
                <a:ea typeface="宋体" panose="02010600030101010101" pitchFamily="2" charset="-122"/>
              </a:rPr>
              <a:t>  </a:t>
            </a:r>
            <a:r>
              <a:rPr kumimoji="1" lang="en-US" altLang="zh-CN" sz="2000" b="0">
                <a:solidFill>
                  <a:srgbClr val="000000"/>
                </a:solidFill>
                <a:latin typeface="宋体" panose="02010600030101010101" pitchFamily="2" charset="-122"/>
                <a:ea typeface="宋体" panose="02010600030101010101" pitchFamily="2" charset="-122"/>
              </a:rPr>
              <a:t>}</a:t>
            </a:r>
            <a:endParaRPr kumimoji="1" lang="en-US" altLang="zh-CN" sz="2000" b="0">
              <a:solidFill>
                <a:schemeClr val="tx1"/>
              </a:solidFill>
              <a:latin typeface="Times New Roman" panose="02020603050405020304" pitchFamily="18" charset="0"/>
              <a:ea typeface="宋体" panose="02010600030101010101" pitchFamily="2" charset="-122"/>
            </a:endParaRPr>
          </a:p>
        </p:txBody>
      </p:sp>
      <p:sp>
        <p:nvSpPr>
          <p:cNvPr id="65551" name="Rectangle 17"/>
          <p:cNvSpPr>
            <a:spLocks noChangeArrowheads="1"/>
          </p:cNvSpPr>
          <p:nvPr/>
        </p:nvSpPr>
        <p:spPr bwMode="auto">
          <a:xfrm>
            <a:off x="863600" y="5130800"/>
            <a:ext cx="1016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kumimoji="1" lang="zh-CN" altLang="en-US" sz="2000" b="0">
                <a:solidFill>
                  <a:srgbClr val="000000"/>
                </a:solidFill>
                <a:latin typeface="宋体" panose="02010600030101010101" pitchFamily="2" charset="-122"/>
                <a:ea typeface="宋体" panose="02010600030101010101" pitchFamily="2" charset="-122"/>
              </a:rPr>
              <a:t>  父进程</a:t>
            </a:r>
            <a:endParaRPr kumimoji="1" lang="zh-CN" altLang="en-US" sz="2000" b="0">
              <a:solidFill>
                <a:schemeClr val="tx1"/>
              </a:solidFill>
              <a:latin typeface="Times New Roman" panose="02020603050405020304" pitchFamily="18" charset="0"/>
              <a:ea typeface="宋体" panose="02010600030101010101" pitchFamily="2" charset="-122"/>
            </a:endParaRPr>
          </a:p>
        </p:txBody>
      </p:sp>
      <p:sp>
        <p:nvSpPr>
          <p:cNvPr id="65552" name="Rectangle 18"/>
          <p:cNvSpPr>
            <a:spLocks noChangeArrowheads="1"/>
          </p:cNvSpPr>
          <p:nvPr/>
        </p:nvSpPr>
        <p:spPr bwMode="auto">
          <a:xfrm>
            <a:off x="863600" y="5407025"/>
            <a:ext cx="241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kumimoji="1" lang="zh-CN" altLang="en-US" sz="2000" b="0">
                <a:solidFill>
                  <a:srgbClr val="000000"/>
                </a:solidFill>
                <a:latin typeface="宋体" panose="02010600030101010101" pitchFamily="2" charset="-122"/>
                <a:ea typeface="宋体" panose="02010600030101010101" pitchFamily="2" charset="-122"/>
              </a:rPr>
              <a:t>  </a:t>
            </a:r>
            <a:r>
              <a:rPr kumimoji="1" lang="en-US" altLang="zh-CN" sz="2000" b="0">
                <a:solidFill>
                  <a:srgbClr val="000000"/>
                </a:solidFill>
                <a:latin typeface="宋体" panose="02010600030101010101" pitchFamily="2" charset="-122"/>
                <a:ea typeface="宋体" panose="02010600030101010101" pitchFamily="2" charset="-122"/>
              </a:rPr>
              <a:t>global=local + 1;</a:t>
            </a:r>
            <a:endParaRPr kumimoji="1" lang="en-US" altLang="zh-CN" sz="2000" b="0">
              <a:solidFill>
                <a:schemeClr val="tx1"/>
              </a:solidFill>
              <a:latin typeface="Times New Roman" panose="02020603050405020304" pitchFamily="18" charset="0"/>
              <a:ea typeface="宋体" panose="02010600030101010101" pitchFamily="2" charset="-122"/>
            </a:endParaRPr>
          </a:p>
        </p:txBody>
      </p:sp>
      <p:sp>
        <p:nvSpPr>
          <p:cNvPr id="65553" name="Rectangle 19"/>
          <p:cNvSpPr>
            <a:spLocks noChangeArrowheads="1"/>
          </p:cNvSpPr>
          <p:nvPr/>
        </p:nvSpPr>
        <p:spPr bwMode="auto">
          <a:xfrm>
            <a:off x="863600" y="5684838"/>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kumimoji="1" lang="zh-CN" altLang="en-US" sz="2000" b="0">
                <a:solidFill>
                  <a:srgbClr val="000000"/>
                </a:solidFill>
                <a:latin typeface="宋体" panose="02010600030101010101" pitchFamily="2" charset="-122"/>
                <a:ea typeface="宋体" panose="02010600030101010101" pitchFamily="2" charset="-122"/>
              </a:rPr>
              <a:t>  </a:t>
            </a:r>
            <a:r>
              <a:rPr kumimoji="1" lang="en-US" altLang="zh-CN" sz="2000" b="0">
                <a:solidFill>
                  <a:srgbClr val="000000"/>
                </a:solidFill>
                <a:latin typeface="宋体" panose="02010600030101010101" pitchFamily="2" charset="-122"/>
                <a:ea typeface="宋体" panose="02010600030101010101" pitchFamily="2" charset="-122"/>
              </a:rPr>
              <a:t>exit();</a:t>
            </a:r>
            <a:endParaRPr kumimoji="1" lang="en-US" altLang="zh-CN" sz="2000" b="0">
              <a:solidFill>
                <a:schemeClr val="tx1"/>
              </a:solidFill>
              <a:latin typeface="Times New Roman" panose="02020603050405020304" pitchFamily="18" charset="0"/>
              <a:ea typeface="宋体" panose="02010600030101010101" pitchFamily="2" charset="-122"/>
            </a:endParaRPr>
          </a:p>
        </p:txBody>
      </p:sp>
      <p:sp>
        <p:nvSpPr>
          <p:cNvPr id="65554" name="Rectangle 20"/>
          <p:cNvSpPr>
            <a:spLocks noChangeArrowheads="1"/>
          </p:cNvSpPr>
          <p:nvPr/>
        </p:nvSpPr>
        <p:spPr bwMode="auto">
          <a:xfrm>
            <a:off x="863600" y="5961063"/>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kumimoji="1" lang="en-US" altLang="zh-CN" sz="2000" b="0">
                <a:solidFill>
                  <a:srgbClr val="000000"/>
                </a:solidFill>
                <a:latin typeface="宋体" panose="02010600030101010101" pitchFamily="2" charset="-122"/>
                <a:ea typeface="宋体" panose="02010600030101010101" pitchFamily="2" charset="-122"/>
              </a:rPr>
              <a:t>}</a:t>
            </a:r>
            <a:endParaRPr kumimoji="1" lang="en-US" altLang="zh-CN" sz="2000" b="0">
              <a:solidFill>
                <a:schemeClr val="tx1"/>
              </a:solidFill>
              <a:latin typeface="Times New Roman" panose="02020603050405020304" pitchFamily="18" charset="0"/>
              <a:ea typeface="宋体" panose="02010600030101010101" pitchFamily="2" charset="-122"/>
            </a:endParaRPr>
          </a:p>
        </p:txBody>
      </p:sp>
      <p:sp>
        <p:nvSpPr>
          <p:cNvPr id="65555" name="Rectangle 21"/>
          <p:cNvSpPr>
            <a:spLocks noChangeArrowheads="1"/>
          </p:cNvSpPr>
          <p:nvPr/>
        </p:nvSpPr>
        <p:spPr bwMode="auto">
          <a:xfrm>
            <a:off x="3162300" y="3486150"/>
            <a:ext cx="3325813" cy="8239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65556" name="Freeform 22"/>
          <p:cNvSpPr>
            <a:spLocks noEditPoints="1"/>
          </p:cNvSpPr>
          <p:nvPr/>
        </p:nvSpPr>
        <p:spPr bwMode="auto">
          <a:xfrm>
            <a:off x="3162300" y="3486150"/>
            <a:ext cx="3325813" cy="823913"/>
          </a:xfrm>
          <a:custGeom>
            <a:avLst/>
            <a:gdLst>
              <a:gd name="T0" fmla="*/ 0 w 2095"/>
              <a:gd name="T1" fmla="*/ 2147483646 h 519"/>
              <a:gd name="T2" fmla="*/ 2147483646 w 2095"/>
              <a:gd name="T3" fmla="*/ 2147483646 h 519"/>
              <a:gd name="T4" fmla="*/ 0 w 2095"/>
              <a:gd name="T5" fmla="*/ 2147483646 h 519"/>
              <a:gd name="T6" fmla="*/ 0 w 2095"/>
              <a:gd name="T7" fmla="*/ 0 h 519"/>
              <a:gd name="T8" fmla="*/ 2147483646 w 2095"/>
              <a:gd name="T9" fmla="*/ 0 h 519"/>
              <a:gd name="T10" fmla="*/ 0 w 2095"/>
              <a:gd name="T11" fmla="*/ 0 h 519"/>
              <a:gd name="T12" fmla="*/ 0 60000 65536"/>
              <a:gd name="T13" fmla="*/ 0 60000 65536"/>
              <a:gd name="T14" fmla="*/ 0 60000 65536"/>
              <a:gd name="T15" fmla="*/ 0 60000 65536"/>
              <a:gd name="T16" fmla="*/ 0 60000 65536"/>
              <a:gd name="T17" fmla="*/ 0 60000 65536"/>
              <a:gd name="T18" fmla="*/ 0 w 2095"/>
              <a:gd name="T19" fmla="*/ 0 h 519"/>
              <a:gd name="T20" fmla="*/ 2095 w 2095"/>
              <a:gd name="T21" fmla="*/ 519 h 519"/>
            </a:gdLst>
            <a:ahLst/>
            <a:cxnLst>
              <a:cxn ang="T12">
                <a:pos x="T0" y="T1"/>
              </a:cxn>
              <a:cxn ang="T13">
                <a:pos x="T2" y="T3"/>
              </a:cxn>
              <a:cxn ang="T14">
                <a:pos x="T4" y="T5"/>
              </a:cxn>
              <a:cxn ang="T15">
                <a:pos x="T6" y="T7"/>
              </a:cxn>
              <a:cxn ang="T16">
                <a:pos x="T8" y="T9"/>
              </a:cxn>
              <a:cxn ang="T17">
                <a:pos x="T10" y="T11"/>
              </a:cxn>
            </a:cxnLst>
            <a:rect l="T18" t="T19" r="T20" b="T21"/>
            <a:pathLst>
              <a:path w="2095" h="519">
                <a:moveTo>
                  <a:pt x="0" y="519"/>
                </a:moveTo>
                <a:lnTo>
                  <a:pt x="2095" y="519"/>
                </a:lnTo>
                <a:lnTo>
                  <a:pt x="0" y="519"/>
                </a:lnTo>
                <a:close/>
                <a:moveTo>
                  <a:pt x="0" y="0"/>
                </a:moveTo>
                <a:lnTo>
                  <a:pt x="2095"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65557" name="Group 23"/>
          <p:cNvGrpSpPr/>
          <p:nvPr/>
        </p:nvGrpSpPr>
        <p:grpSpPr bwMode="auto">
          <a:xfrm>
            <a:off x="3162300" y="3486150"/>
            <a:ext cx="3543300" cy="825500"/>
            <a:chOff x="1992" y="2196"/>
            <a:chExt cx="2096" cy="520"/>
          </a:xfrm>
        </p:grpSpPr>
        <p:sp>
          <p:nvSpPr>
            <p:cNvPr id="65571" name="Line 24"/>
            <p:cNvSpPr>
              <a:spLocks noChangeShapeType="1"/>
            </p:cNvSpPr>
            <p:nvPr/>
          </p:nvSpPr>
          <p:spPr bwMode="auto">
            <a:xfrm>
              <a:off x="1992" y="2715"/>
              <a:ext cx="2095" cy="1"/>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5572" name="Line 25"/>
            <p:cNvSpPr>
              <a:spLocks noChangeShapeType="1"/>
            </p:cNvSpPr>
            <p:nvPr/>
          </p:nvSpPr>
          <p:spPr bwMode="auto">
            <a:xfrm>
              <a:off x="1992" y="2196"/>
              <a:ext cx="2095" cy="1"/>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5573" name="Line 26"/>
            <p:cNvSpPr>
              <a:spLocks noChangeShapeType="1"/>
            </p:cNvSpPr>
            <p:nvPr/>
          </p:nvSpPr>
          <p:spPr bwMode="auto">
            <a:xfrm flipV="1">
              <a:off x="1992" y="2196"/>
              <a:ext cx="1" cy="519"/>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5574" name="Line 27"/>
            <p:cNvSpPr>
              <a:spLocks noChangeShapeType="1"/>
            </p:cNvSpPr>
            <p:nvPr/>
          </p:nvSpPr>
          <p:spPr bwMode="auto">
            <a:xfrm flipV="1">
              <a:off x="4087" y="2196"/>
              <a:ext cx="1" cy="519"/>
            </a:xfrm>
            <a:prstGeom prst="line">
              <a:avLst/>
            </a:prstGeom>
            <a:noFill/>
            <a:ln w="4763">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65558" name="Rectangle 28"/>
          <p:cNvSpPr>
            <a:spLocks noChangeArrowheads="1"/>
          </p:cNvSpPr>
          <p:nvPr/>
        </p:nvSpPr>
        <p:spPr bwMode="auto">
          <a:xfrm>
            <a:off x="3238500" y="3492500"/>
            <a:ext cx="3429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kumimoji="1" lang="en-US" altLang="zh-CN" sz="2000" b="0">
                <a:solidFill>
                  <a:srgbClr val="000000"/>
                </a:solidFill>
                <a:latin typeface="宋体" panose="02010600030101010101" pitchFamily="2" charset="-122"/>
                <a:ea typeface="宋体" panose="02010600030101010101" pitchFamily="2" charset="-122"/>
              </a:rPr>
              <a:t>if (execlp("B",</a:t>
            </a:r>
            <a:r>
              <a:rPr kumimoji="1" lang="en-US" altLang="zh-CN" sz="2000" b="0">
                <a:solidFill>
                  <a:srgbClr val="000000"/>
                </a:solidFill>
                <a:latin typeface="Times New Roman" panose="02020603050405020304" pitchFamily="18" charset="0"/>
                <a:ea typeface="宋体" panose="02010600030101010101" pitchFamily="2" charset="-122"/>
              </a:rPr>
              <a:t>…</a:t>
            </a:r>
            <a:r>
              <a:rPr kumimoji="1" lang="en-US" altLang="zh-CN" sz="2000" b="0">
                <a:solidFill>
                  <a:srgbClr val="000000"/>
                </a:solidFill>
                <a:latin typeface="宋体" panose="02010600030101010101" pitchFamily="2" charset="-122"/>
                <a:ea typeface="宋体" panose="02010600030101010101" pitchFamily="2" charset="-122"/>
              </a:rPr>
              <a:t>) == -1) {</a:t>
            </a:r>
            <a:endParaRPr kumimoji="1" lang="en-US" altLang="zh-CN" sz="2000" b="0">
              <a:solidFill>
                <a:schemeClr val="tx1"/>
              </a:solidFill>
              <a:latin typeface="Times New Roman" panose="02020603050405020304" pitchFamily="18" charset="0"/>
              <a:ea typeface="宋体" panose="02010600030101010101" pitchFamily="2" charset="-122"/>
            </a:endParaRPr>
          </a:p>
        </p:txBody>
      </p:sp>
      <p:sp>
        <p:nvSpPr>
          <p:cNvPr id="65559" name="Rectangle 29"/>
          <p:cNvSpPr>
            <a:spLocks noChangeArrowheads="1"/>
          </p:cNvSpPr>
          <p:nvPr/>
        </p:nvSpPr>
        <p:spPr bwMode="auto">
          <a:xfrm>
            <a:off x="3238500" y="3770313"/>
            <a:ext cx="1778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kumimoji="1" lang="zh-CN" altLang="en-US" sz="2000" b="0">
                <a:solidFill>
                  <a:srgbClr val="000000"/>
                </a:solidFill>
                <a:latin typeface="宋体" panose="02010600030101010101" pitchFamily="2" charset="-122"/>
                <a:ea typeface="宋体" panose="02010600030101010101" pitchFamily="2" charset="-122"/>
              </a:rPr>
              <a:t>  加载程序失败</a:t>
            </a:r>
            <a:endParaRPr kumimoji="1" lang="zh-CN" altLang="en-US" sz="2000" b="0">
              <a:solidFill>
                <a:schemeClr val="tx1"/>
              </a:solidFill>
              <a:latin typeface="Times New Roman" panose="02020603050405020304" pitchFamily="18" charset="0"/>
              <a:ea typeface="宋体" panose="02010600030101010101" pitchFamily="2" charset="-122"/>
            </a:endParaRPr>
          </a:p>
        </p:txBody>
      </p:sp>
      <p:sp>
        <p:nvSpPr>
          <p:cNvPr id="65560" name="Rectangle 30"/>
          <p:cNvSpPr>
            <a:spLocks noChangeArrowheads="1"/>
          </p:cNvSpPr>
          <p:nvPr/>
        </p:nvSpPr>
        <p:spPr bwMode="auto">
          <a:xfrm>
            <a:off x="3238500" y="4046538"/>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kumimoji="1" lang="en-US" altLang="zh-CN" sz="2000" b="0">
                <a:solidFill>
                  <a:srgbClr val="000000"/>
                </a:solidFill>
                <a:latin typeface="宋体" panose="02010600030101010101" pitchFamily="2" charset="-122"/>
                <a:ea typeface="宋体" panose="02010600030101010101" pitchFamily="2" charset="-122"/>
              </a:rPr>
              <a:t>}</a:t>
            </a:r>
            <a:endParaRPr kumimoji="1" lang="en-US" altLang="zh-CN" sz="2000" b="0">
              <a:solidFill>
                <a:schemeClr val="tx1"/>
              </a:solidFill>
              <a:latin typeface="Times New Roman" panose="02020603050405020304" pitchFamily="18" charset="0"/>
              <a:ea typeface="宋体" panose="02010600030101010101" pitchFamily="2" charset="-122"/>
            </a:endParaRPr>
          </a:p>
        </p:txBody>
      </p:sp>
      <p:sp>
        <p:nvSpPr>
          <p:cNvPr id="65561" name="Freeform 31"/>
          <p:cNvSpPr/>
          <p:nvPr/>
        </p:nvSpPr>
        <p:spPr bwMode="auto">
          <a:xfrm>
            <a:off x="7178675" y="2233613"/>
            <a:ext cx="1554163" cy="1296987"/>
          </a:xfrm>
          <a:custGeom>
            <a:avLst/>
            <a:gdLst>
              <a:gd name="T0" fmla="*/ 0 w 979"/>
              <a:gd name="T1" fmla="*/ 2147483646 h 817"/>
              <a:gd name="T2" fmla="*/ 2147483646 w 979"/>
              <a:gd name="T3" fmla="*/ 2147483646 h 817"/>
              <a:gd name="T4" fmla="*/ 2147483646 w 979"/>
              <a:gd name="T5" fmla="*/ 0 h 817"/>
              <a:gd name="T6" fmla="*/ 2147483646 w 979"/>
              <a:gd name="T7" fmla="*/ 2147483646 h 817"/>
              <a:gd name="T8" fmla="*/ 2147483646 w 979"/>
              <a:gd name="T9" fmla="*/ 2147483646 h 817"/>
              <a:gd name="T10" fmla="*/ 2147483646 w 979"/>
              <a:gd name="T11" fmla="*/ 2147483646 h 817"/>
              <a:gd name="T12" fmla="*/ 2147483646 w 979"/>
              <a:gd name="T13" fmla="*/ 2147483646 h 817"/>
              <a:gd name="T14" fmla="*/ 2147483646 w 979"/>
              <a:gd name="T15" fmla="*/ 2147483646 h 817"/>
              <a:gd name="T16" fmla="*/ 0 w 979"/>
              <a:gd name="T17" fmla="*/ 2147483646 h 8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79"/>
              <a:gd name="T28" fmla="*/ 0 h 817"/>
              <a:gd name="T29" fmla="*/ 979 w 979"/>
              <a:gd name="T30" fmla="*/ 817 h 8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79" h="817">
                <a:moveTo>
                  <a:pt x="0" y="708"/>
                </a:moveTo>
                <a:lnTo>
                  <a:pt x="870" y="708"/>
                </a:lnTo>
                <a:lnTo>
                  <a:pt x="870" y="0"/>
                </a:lnTo>
                <a:lnTo>
                  <a:pt x="979" y="109"/>
                </a:lnTo>
                <a:lnTo>
                  <a:pt x="979" y="817"/>
                </a:lnTo>
                <a:lnTo>
                  <a:pt x="870" y="708"/>
                </a:lnTo>
                <a:lnTo>
                  <a:pt x="979" y="817"/>
                </a:lnTo>
                <a:lnTo>
                  <a:pt x="109" y="817"/>
                </a:lnTo>
                <a:lnTo>
                  <a:pt x="0" y="708"/>
                </a:lnTo>
                <a:close/>
              </a:path>
            </a:pathLst>
          </a:custGeom>
          <a:solidFill>
            <a:srgbClr val="999999"/>
          </a:solidFill>
          <a:ln w="4763">
            <a:solidFill>
              <a:srgbClr val="000000"/>
            </a:solidFill>
            <a:round/>
          </a:ln>
        </p:spPr>
        <p:txBody>
          <a:bodyPr/>
          <a:lstStyle/>
          <a:p>
            <a:endParaRPr lang="zh-CN" altLang="en-US"/>
          </a:p>
        </p:txBody>
      </p:sp>
      <p:sp>
        <p:nvSpPr>
          <p:cNvPr id="65562" name="Rectangle 32"/>
          <p:cNvSpPr>
            <a:spLocks noChangeArrowheads="1"/>
          </p:cNvSpPr>
          <p:nvPr/>
        </p:nvSpPr>
        <p:spPr bwMode="auto">
          <a:xfrm>
            <a:off x="7178675" y="2233613"/>
            <a:ext cx="1381125" cy="1123950"/>
          </a:xfrm>
          <a:prstGeom prst="rect">
            <a:avLst/>
          </a:prstGeom>
          <a:solidFill>
            <a:srgbClr val="FFFFFF"/>
          </a:solidFill>
          <a:ln w="4763">
            <a:solidFill>
              <a:srgbClr val="000000"/>
            </a:solidFill>
            <a:miter lim="800000"/>
          </a:ln>
        </p:spPr>
        <p:txBody>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spcBef>
                <a:spcPct val="0"/>
              </a:spcBef>
              <a:buClrTx/>
              <a:buFontTx/>
              <a:buNone/>
            </a:pPr>
            <a:endParaRPr lang="zh-CN" altLang="en-US" sz="2400" b="0">
              <a:solidFill>
                <a:schemeClr val="tx1"/>
              </a:solidFill>
              <a:latin typeface="Times New Roman" panose="02020603050405020304" pitchFamily="18" charset="0"/>
            </a:endParaRPr>
          </a:p>
        </p:txBody>
      </p:sp>
      <p:sp>
        <p:nvSpPr>
          <p:cNvPr id="65563" name="Rectangle 33"/>
          <p:cNvSpPr>
            <a:spLocks noChangeArrowheads="1"/>
          </p:cNvSpPr>
          <p:nvPr/>
        </p:nvSpPr>
        <p:spPr bwMode="auto">
          <a:xfrm>
            <a:off x="7254875" y="2249488"/>
            <a:ext cx="1016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kumimoji="1" lang="en-US" altLang="zh-CN" sz="2000" b="0">
                <a:solidFill>
                  <a:srgbClr val="000000"/>
                </a:solidFill>
                <a:latin typeface="宋体" panose="02010600030101010101" pitchFamily="2" charset="-122"/>
                <a:ea typeface="宋体" panose="02010600030101010101" pitchFamily="2" charset="-122"/>
              </a:rPr>
              <a:t>main() {</a:t>
            </a:r>
            <a:endParaRPr kumimoji="1" lang="en-US" altLang="zh-CN" sz="2000" b="0">
              <a:solidFill>
                <a:schemeClr val="tx1"/>
              </a:solidFill>
              <a:latin typeface="Times New Roman" panose="02020603050405020304" pitchFamily="18" charset="0"/>
              <a:ea typeface="宋体" panose="02010600030101010101" pitchFamily="2" charset="-122"/>
            </a:endParaRPr>
          </a:p>
        </p:txBody>
      </p:sp>
      <p:sp>
        <p:nvSpPr>
          <p:cNvPr id="65564" name="Rectangle 34"/>
          <p:cNvSpPr>
            <a:spLocks noChangeArrowheads="1"/>
          </p:cNvSpPr>
          <p:nvPr/>
        </p:nvSpPr>
        <p:spPr bwMode="auto">
          <a:xfrm>
            <a:off x="7254875" y="2803525"/>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kumimoji="1" lang="zh-CN" altLang="en-US" sz="2000" b="0">
                <a:solidFill>
                  <a:srgbClr val="000000"/>
                </a:solidFill>
                <a:latin typeface="宋体" panose="02010600030101010101" pitchFamily="2" charset="-122"/>
                <a:ea typeface="宋体" panose="02010600030101010101" pitchFamily="2" charset="-122"/>
              </a:rPr>
              <a:t>  </a:t>
            </a:r>
            <a:r>
              <a:rPr kumimoji="1" lang="en-US" altLang="zh-CN" sz="2000" b="0">
                <a:solidFill>
                  <a:srgbClr val="FF0000"/>
                </a:solidFill>
                <a:latin typeface="宋体" panose="02010600030101010101" pitchFamily="2" charset="-122"/>
                <a:ea typeface="宋体" panose="02010600030101010101" pitchFamily="2" charset="-122"/>
              </a:rPr>
              <a:t>exit();</a:t>
            </a:r>
            <a:endParaRPr kumimoji="1" lang="en-US" altLang="zh-CN" sz="2000" b="0">
              <a:solidFill>
                <a:srgbClr val="FF0000"/>
              </a:solidFill>
              <a:latin typeface="Times New Roman" panose="02020603050405020304" pitchFamily="18" charset="0"/>
              <a:ea typeface="宋体" panose="02010600030101010101" pitchFamily="2" charset="-122"/>
            </a:endParaRPr>
          </a:p>
        </p:txBody>
      </p:sp>
      <p:sp>
        <p:nvSpPr>
          <p:cNvPr id="65565" name="Rectangle 35"/>
          <p:cNvSpPr>
            <a:spLocks noChangeArrowheads="1"/>
          </p:cNvSpPr>
          <p:nvPr/>
        </p:nvSpPr>
        <p:spPr bwMode="auto">
          <a:xfrm>
            <a:off x="7254875" y="3079750"/>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kumimoji="1" lang="en-US" altLang="zh-CN" sz="2000" b="0">
                <a:solidFill>
                  <a:srgbClr val="000000"/>
                </a:solidFill>
                <a:latin typeface="宋体" panose="02010600030101010101" pitchFamily="2" charset="-122"/>
                <a:ea typeface="宋体" panose="02010600030101010101" pitchFamily="2" charset="-122"/>
              </a:rPr>
              <a:t>}</a:t>
            </a:r>
            <a:endParaRPr kumimoji="1" lang="en-US" altLang="zh-CN" sz="2000" b="0">
              <a:solidFill>
                <a:schemeClr val="tx1"/>
              </a:solidFill>
              <a:latin typeface="Times New Roman" panose="02020603050405020304" pitchFamily="18" charset="0"/>
              <a:ea typeface="宋体" panose="02010600030101010101" pitchFamily="2" charset="-122"/>
            </a:endParaRPr>
          </a:p>
        </p:txBody>
      </p:sp>
      <p:sp>
        <p:nvSpPr>
          <p:cNvPr id="65566" name="Freeform 36"/>
          <p:cNvSpPr/>
          <p:nvPr/>
        </p:nvSpPr>
        <p:spPr bwMode="auto">
          <a:xfrm>
            <a:off x="7096125" y="2665413"/>
            <a:ext cx="82550" cy="96837"/>
          </a:xfrm>
          <a:custGeom>
            <a:avLst/>
            <a:gdLst>
              <a:gd name="T0" fmla="*/ 0 w 52"/>
              <a:gd name="T1" fmla="*/ 2147483646 h 61"/>
              <a:gd name="T2" fmla="*/ 2147483646 w 52"/>
              <a:gd name="T3" fmla="*/ 2147483646 h 61"/>
              <a:gd name="T4" fmla="*/ 2147483646 w 52"/>
              <a:gd name="T5" fmla="*/ 0 h 61"/>
              <a:gd name="T6" fmla="*/ 0 w 52"/>
              <a:gd name="T7" fmla="*/ 2147483646 h 61"/>
              <a:gd name="T8" fmla="*/ 0 60000 65536"/>
              <a:gd name="T9" fmla="*/ 0 60000 65536"/>
              <a:gd name="T10" fmla="*/ 0 60000 65536"/>
              <a:gd name="T11" fmla="*/ 0 60000 65536"/>
              <a:gd name="T12" fmla="*/ 0 w 52"/>
              <a:gd name="T13" fmla="*/ 0 h 61"/>
              <a:gd name="T14" fmla="*/ 52 w 52"/>
              <a:gd name="T15" fmla="*/ 61 h 61"/>
            </a:gdLst>
            <a:ahLst/>
            <a:cxnLst>
              <a:cxn ang="T8">
                <a:pos x="T0" y="T1"/>
              </a:cxn>
              <a:cxn ang="T9">
                <a:pos x="T2" y="T3"/>
              </a:cxn>
              <a:cxn ang="T10">
                <a:pos x="T4" y="T5"/>
              </a:cxn>
              <a:cxn ang="T11">
                <a:pos x="T6" y="T7"/>
              </a:cxn>
            </a:cxnLst>
            <a:rect l="T12" t="T13" r="T14" b="T15"/>
            <a:pathLst>
              <a:path w="52" h="61">
                <a:moveTo>
                  <a:pt x="0" y="30"/>
                </a:moveTo>
                <a:lnTo>
                  <a:pt x="45" y="61"/>
                </a:lnTo>
                <a:lnTo>
                  <a:pt x="52" y="0"/>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65567" name="Freeform 37"/>
          <p:cNvSpPr/>
          <p:nvPr/>
        </p:nvSpPr>
        <p:spPr bwMode="auto">
          <a:xfrm>
            <a:off x="7096125" y="2665413"/>
            <a:ext cx="82550" cy="96837"/>
          </a:xfrm>
          <a:custGeom>
            <a:avLst/>
            <a:gdLst>
              <a:gd name="T0" fmla="*/ 0 w 52"/>
              <a:gd name="T1" fmla="*/ 2147483646 h 61"/>
              <a:gd name="T2" fmla="*/ 2147483646 w 52"/>
              <a:gd name="T3" fmla="*/ 2147483646 h 61"/>
              <a:gd name="T4" fmla="*/ 2147483646 w 52"/>
              <a:gd name="T5" fmla="*/ 0 h 61"/>
              <a:gd name="T6" fmla="*/ 0 w 52"/>
              <a:gd name="T7" fmla="*/ 2147483646 h 61"/>
              <a:gd name="T8" fmla="*/ 0 60000 65536"/>
              <a:gd name="T9" fmla="*/ 0 60000 65536"/>
              <a:gd name="T10" fmla="*/ 0 60000 65536"/>
              <a:gd name="T11" fmla="*/ 0 60000 65536"/>
              <a:gd name="T12" fmla="*/ 0 w 52"/>
              <a:gd name="T13" fmla="*/ 0 h 61"/>
              <a:gd name="T14" fmla="*/ 52 w 52"/>
              <a:gd name="T15" fmla="*/ 61 h 61"/>
            </a:gdLst>
            <a:ahLst/>
            <a:cxnLst>
              <a:cxn ang="T8">
                <a:pos x="T0" y="T1"/>
              </a:cxn>
              <a:cxn ang="T9">
                <a:pos x="T2" y="T3"/>
              </a:cxn>
              <a:cxn ang="T10">
                <a:pos x="T4" y="T5"/>
              </a:cxn>
              <a:cxn ang="T11">
                <a:pos x="T6" y="T7"/>
              </a:cxn>
            </a:cxnLst>
            <a:rect l="T12" t="T13" r="T14" b="T15"/>
            <a:pathLst>
              <a:path w="52" h="61">
                <a:moveTo>
                  <a:pt x="0" y="30"/>
                </a:moveTo>
                <a:lnTo>
                  <a:pt x="45" y="61"/>
                </a:lnTo>
                <a:lnTo>
                  <a:pt x="52" y="0"/>
                </a:lnTo>
                <a:lnTo>
                  <a:pt x="0" y="30"/>
                </a:lnTo>
              </a:path>
            </a:pathLst>
          </a:custGeom>
          <a:noFill/>
          <a:ln w="23813">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5568" name="Line 38"/>
          <p:cNvSpPr>
            <a:spLocks noChangeShapeType="1"/>
          </p:cNvSpPr>
          <p:nvPr/>
        </p:nvSpPr>
        <p:spPr bwMode="auto">
          <a:xfrm flipV="1">
            <a:off x="6488113" y="2736850"/>
            <a:ext cx="641350" cy="966788"/>
          </a:xfrm>
          <a:prstGeom prst="line">
            <a:avLst/>
          </a:prstGeom>
          <a:noFill/>
          <a:ln w="23813">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65569" name="Rectangle 39"/>
          <p:cNvSpPr>
            <a:spLocks noChangeArrowheads="1"/>
          </p:cNvSpPr>
          <p:nvPr/>
        </p:nvSpPr>
        <p:spPr bwMode="auto">
          <a:xfrm>
            <a:off x="2687638" y="1000125"/>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kumimoji="1" lang="en-US" altLang="zh-CN" sz="2000" b="0">
                <a:solidFill>
                  <a:srgbClr val="000000"/>
                </a:solidFill>
                <a:latin typeface="宋体" panose="02010600030101010101" pitchFamily="2" charset="-122"/>
                <a:ea typeface="宋体" panose="02010600030101010101" pitchFamily="2" charset="-122"/>
              </a:rPr>
              <a:t>Program A</a:t>
            </a:r>
            <a:endParaRPr kumimoji="1" lang="en-US" altLang="zh-CN" sz="2000" b="0">
              <a:solidFill>
                <a:schemeClr val="tx1"/>
              </a:solidFill>
              <a:latin typeface="Times New Roman" panose="02020603050405020304" pitchFamily="18" charset="0"/>
              <a:ea typeface="宋体" panose="02010600030101010101" pitchFamily="2" charset="-122"/>
            </a:endParaRPr>
          </a:p>
        </p:txBody>
      </p:sp>
      <p:sp>
        <p:nvSpPr>
          <p:cNvPr id="65570" name="Rectangle 40"/>
          <p:cNvSpPr>
            <a:spLocks noChangeArrowheads="1"/>
          </p:cNvSpPr>
          <p:nvPr/>
        </p:nvSpPr>
        <p:spPr bwMode="auto">
          <a:xfrm>
            <a:off x="7310438" y="1865313"/>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spcBef>
                <a:spcPct val="0"/>
              </a:spcBef>
              <a:buClrTx/>
              <a:buFontTx/>
              <a:buNone/>
            </a:pPr>
            <a:r>
              <a:rPr kumimoji="1" lang="en-US" altLang="zh-CN" sz="2000" b="0">
                <a:solidFill>
                  <a:srgbClr val="000000"/>
                </a:solidFill>
                <a:latin typeface="宋体" panose="02010600030101010101" pitchFamily="2" charset="-122"/>
                <a:ea typeface="宋体" panose="02010600030101010101" pitchFamily="2" charset="-122"/>
              </a:rPr>
              <a:t>Program B</a:t>
            </a:r>
            <a:endParaRPr kumimoji="1" lang="en-US" altLang="zh-CN" sz="2000" b="0">
              <a:solidFill>
                <a:schemeClr val="tx1"/>
              </a:solidFill>
              <a:latin typeface="Times New Roman" panose="02020603050405020304" pitchFamily="18" charset="0"/>
              <a:ea typeface="宋体" panose="02010600030101010101" pitchFamily="2" charset="-122"/>
            </a:endParaRPr>
          </a:p>
        </p:txBody>
      </p:sp>
      <p:sp>
        <p:nvSpPr>
          <p:cNvPr id="41" name="Rectangle 6"/>
          <p:cNvSpPr txBox="1">
            <a:spLocks noChangeArrowheads="1"/>
          </p:cNvSpPr>
          <p:nvPr/>
        </p:nvSpPr>
        <p:spPr>
          <a:xfrm>
            <a:off x="619538" y="134144"/>
            <a:ext cx="7632700" cy="609600"/>
          </a:xfrm>
          <a:prstGeom prst="rect">
            <a:avLst/>
          </a:prstGeom>
          <a:noFill/>
        </p:spPr>
        <p:txBody>
          <a:bodyPr/>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2pPr>
            <a:lvl3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3pPr>
            <a:lvl4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4pPr>
            <a:lvl5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5pPr>
            <a:lvl6pPr marL="4572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6pPr>
            <a:lvl7pPr marL="9144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7pPr>
            <a:lvl8pPr marL="13716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8pPr>
            <a:lvl9pPr marL="18288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9pPr>
          </a:lstStyle>
          <a:p>
            <a:pPr eaLnBrk="1" hangingPunct="1"/>
            <a:r>
              <a:rPr lang="en-US" altLang="zh-CN" kern="0" dirty="0">
                <a:latin typeface="Times New Roman" panose="02020603050405020304" pitchFamily="18" charset="0"/>
                <a:ea typeface="楷体_GB2312" pitchFamily="49" charset="-122"/>
                <a:cs typeface="Times New Roman" panose="02020603050405020304" pitchFamily="18" charset="0"/>
              </a:rPr>
              <a:t>2.7 Linux</a:t>
            </a:r>
            <a:r>
              <a:rPr lang="zh-CN" altLang="en-US" kern="0" dirty="0">
                <a:latin typeface="Times New Roman" panose="02020603050405020304" pitchFamily="18" charset="0"/>
                <a:ea typeface="楷体_GB2312" pitchFamily="49" charset="-122"/>
                <a:cs typeface="Times New Roman" panose="02020603050405020304" pitchFamily="18" charset="0"/>
              </a:rPr>
              <a:t>中的进程控制</a:t>
            </a:r>
            <a:endParaRPr lang="zh-CN" altLang="en-US" kern="0"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3"/>
          <p:cNvSpPr>
            <a:spLocks noGrp="1" noChangeArrowheads="1"/>
          </p:cNvSpPr>
          <p:nvPr>
            <p:ph type="body" idx="1"/>
          </p:nvPr>
        </p:nvSpPr>
        <p:spPr/>
        <p:txBody>
          <a:bodyPr/>
          <a:lstStyle/>
          <a:p>
            <a:pPr eaLnBrk="1" hangingPunct="1"/>
            <a:r>
              <a:rPr lang="zh-CN" altLang="en-US" sz="2400">
                <a:latin typeface="Times New Roman" panose="02020603050405020304" pitchFamily="18" charset="0"/>
                <a:ea typeface="楷体_GB2312" pitchFamily="49" charset="-122"/>
                <a:cs typeface="Times New Roman" panose="02020603050405020304" pitchFamily="18" charset="0"/>
              </a:rPr>
              <a:t>分开这两个系统调用是有好处的</a:t>
            </a:r>
            <a:endParaRPr lang="zh-CN" altLang="en-US" sz="2400">
              <a:latin typeface="Times New Roman" panose="02020603050405020304" pitchFamily="18" charset="0"/>
              <a:ea typeface="楷体_GB2312" pitchFamily="49" charset="-122"/>
              <a:cs typeface="Times New Roman" panose="02020603050405020304" pitchFamily="18" charset="0"/>
            </a:endParaRPr>
          </a:p>
          <a:p>
            <a:pPr lvl="1" eaLnBrk="1" hangingPunct="1"/>
            <a:r>
              <a:rPr lang="zh-CN" altLang="en-US" sz="2400">
                <a:latin typeface="Times New Roman" panose="02020603050405020304" pitchFamily="18" charset="0"/>
                <a:ea typeface="楷体_GB2312" pitchFamily="49" charset="-122"/>
                <a:cs typeface="Times New Roman" panose="02020603050405020304" pitchFamily="18" charset="0"/>
              </a:rPr>
              <a:t>比如服务器可以</a:t>
            </a:r>
            <a:r>
              <a:rPr lang="en-US" altLang="zh-CN" sz="2400">
                <a:latin typeface="Times New Roman" panose="02020603050405020304" pitchFamily="18" charset="0"/>
                <a:ea typeface="楷体_GB2312" pitchFamily="49" charset="-122"/>
                <a:cs typeface="Times New Roman" panose="02020603050405020304" pitchFamily="18" charset="0"/>
              </a:rPr>
              <a:t>fork()</a:t>
            </a:r>
            <a:r>
              <a:rPr lang="zh-CN" altLang="en-US" sz="2400">
                <a:latin typeface="Times New Roman" panose="02020603050405020304" pitchFamily="18" charset="0"/>
                <a:ea typeface="楷体_GB2312" pitchFamily="49" charset="-122"/>
                <a:cs typeface="Times New Roman" panose="02020603050405020304" pitchFamily="18" charset="0"/>
              </a:rPr>
              <a:t>许多进程</a:t>
            </a:r>
            <a:r>
              <a:rPr lang="en-US" altLang="zh-CN" sz="2400">
                <a:latin typeface="Times New Roman" panose="02020603050405020304" pitchFamily="18" charset="0"/>
                <a:ea typeface="楷体_GB2312" pitchFamily="49" charset="-122"/>
                <a:cs typeface="Times New Roman" panose="02020603050405020304" pitchFamily="18" charset="0"/>
              </a:rPr>
              <a:t>,</a:t>
            </a:r>
            <a:r>
              <a:rPr lang="zh-CN" altLang="en-US" sz="2400">
                <a:latin typeface="Times New Roman" panose="02020603050405020304" pitchFamily="18" charset="0"/>
                <a:ea typeface="楷体_GB2312" pitchFamily="49" charset="-122"/>
                <a:cs typeface="Times New Roman" panose="02020603050405020304" pitchFamily="18" charset="0"/>
              </a:rPr>
              <a:t>执行同一个程序</a:t>
            </a:r>
            <a:endParaRPr lang="zh-CN" altLang="en-US" sz="2400">
              <a:latin typeface="Times New Roman" panose="02020603050405020304" pitchFamily="18" charset="0"/>
              <a:ea typeface="楷体_GB2312" pitchFamily="49" charset="-122"/>
              <a:cs typeface="Times New Roman" panose="02020603050405020304" pitchFamily="18" charset="0"/>
            </a:endParaRPr>
          </a:p>
          <a:p>
            <a:pPr lvl="1" eaLnBrk="1" hangingPunct="1"/>
            <a:r>
              <a:rPr lang="zh-CN" altLang="en-US" sz="2400">
                <a:latin typeface="Times New Roman" panose="02020603050405020304" pitchFamily="18" charset="0"/>
                <a:ea typeface="楷体_GB2312" pitchFamily="49" charset="-122"/>
                <a:cs typeface="Times New Roman" panose="02020603050405020304" pitchFamily="18" charset="0"/>
              </a:rPr>
              <a:t>有时程序只是简单的</a:t>
            </a:r>
            <a:r>
              <a:rPr lang="en-US" altLang="zh-CN" sz="2400">
                <a:latin typeface="Times New Roman" panose="02020603050405020304" pitchFamily="18" charset="0"/>
                <a:ea typeface="楷体_GB2312" pitchFamily="49" charset="-122"/>
                <a:cs typeface="Times New Roman" panose="02020603050405020304" pitchFamily="18" charset="0"/>
              </a:rPr>
              <a:t>exec()</a:t>
            </a:r>
            <a:r>
              <a:rPr lang="zh-CN" altLang="en-US" sz="2400">
                <a:latin typeface="Times New Roman" panose="02020603050405020304" pitchFamily="18" charset="0"/>
                <a:ea typeface="楷体_GB2312" pitchFamily="49" charset="-122"/>
                <a:cs typeface="Times New Roman" panose="02020603050405020304" pitchFamily="18" charset="0"/>
              </a:rPr>
              <a:t>，执行一个新程序</a:t>
            </a:r>
            <a:endParaRPr lang="zh-CN" altLang="en-US" sz="2400">
              <a:latin typeface="Times New Roman" panose="02020603050405020304" pitchFamily="18" charset="0"/>
              <a:ea typeface="楷体_GB2312" pitchFamily="49" charset="-122"/>
              <a:cs typeface="Times New Roman" panose="02020603050405020304" pitchFamily="18" charset="0"/>
            </a:endParaRPr>
          </a:p>
          <a:p>
            <a:pPr lvl="1" eaLnBrk="1" hangingPunct="1"/>
            <a:r>
              <a:rPr lang="zh-CN" altLang="en-US" sz="2400">
                <a:latin typeface="Times New Roman" panose="02020603050405020304" pitchFamily="18" charset="0"/>
                <a:ea typeface="楷体_GB2312" pitchFamily="49" charset="-122"/>
                <a:cs typeface="Times New Roman" panose="02020603050405020304" pitchFamily="18" charset="0"/>
              </a:rPr>
              <a:t>在</a:t>
            </a:r>
            <a:r>
              <a:rPr lang="en-US" altLang="zh-CN" sz="2400">
                <a:latin typeface="Times New Roman" panose="02020603050405020304" pitchFamily="18" charset="0"/>
                <a:ea typeface="楷体_GB2312" pitchFamily="49" charset="-122"/>
                <a:cs typeface="Times New Roman" panose="02020603050405020304" pitchFamily="18" charset="0"/>
              </a:rPr>
              <a:t>fork</a:t>
            </a:r>
            <a:r>
              <a:rPr lang="zh-CN" altLang="en-US" sz="2400">
                <a:latin typeface="Times New Roman" panose="02020603050405020304" pitchFamily="18" charset="0"/>
                <a:ea typeface="楷体_GB2312" pitchFamily="49" charset="-122"/>
                <a:cs typeface="Times New Roman" panose="02020603050405020304" pitchFamily="18" charset="0"/>
              </a:rPr>
              <a:t>和</a:t>
            </a:r>
            <a:r>
              <a:rPr lang="en-US" altLang="zh-CN" sz="2400">
                <a:latin typeface="Times New Roman" panose="02020603050405020304" pitchFamily="18" charset="0"/>
                <a:ea typeface="楷体_GB2312" pitchFamily="49" charset="-122"/>
                <a:cs typeface="Times New Roman" panose="02020603050405020304" pitchFamily="18" charset="0"/>
              </a:rPr>
              <a:t>exec</a:t>
            </a:r>
            <a:r>
              <a:rPr lang="zh-CN" altLang="en-US" sz="2400">
                <a:latin typeface="Times New Roman" panose="02020603050405020304" pitchFamily="18" charset="0"/>
                <a:ea typeface="楷体_GB2312" pitchFamily="49" charset="-122"/>
                <a:cs typeface="Times New Roman" panose="02020603050405020304" pitchFamily="18" charset="0"/>
              </a:rPr>
              <a:t>之间，子进程可以有选择的执行一系列操作以确保程序以所希望的状态运行</a:t>
            </a:r>
            <a:endParaRPr lang="zh-CN" altLang="en-US" sz="2400">
              <a:latin typeface="Times New Roman" panose="02020603050405020304" pitchFamily="18" charset="0"/>
              <a:ea typeface="楷体_GB2312" pitchFamily="49" charset="-122"/>
              <a:cs typeface="Times New Roman" panose="02020603050405020304" pitchFamily="18" charset="0"/>
            </a:endParaRPr>
          </a:p>
          <a:p>
            <a:pPr lvl="2" eaLnBrk="1" hangingPunct="1"/>
            <a:r>
              <a:rPr lang="zh-CN" altLang="en-US">
                <a:latin typeface="Times New Roman" panose="02020603050405020304" pitchFamily="18" charset="0"/>
                <a:ea typeface="楷体_GB2312" pitchFamily="49" charset="-122"/>
                <a:cs typeface="Times New Roman" panose="02020603050405020304" pitchFamily="18" charset="0"/>
              </a:rPr>
              <a:t>重定向输入输出</a:t>
            </a:r>
            <a:endParaRPr lang="zh-CN" altLang="en-US">
              <a:latin typeface="Times New Roman" panose="02020603050405020304" pitchFamily="18" charset="0"/>
              <a:ea typeface="楷体_GB2312" pitchFamily="49" charset="-122"/>
              <a:cs typeface="Times New Roman" panose="02020603050405020304" pitchFamily="18" charset="0"/>
            </a:endParaRPr>
          </a:p>
          <a:p>
            <a:pPr lvl="2" eaLnBrk="1" hangingPunct="1"/>
            <a:r>
              <a:rPr lang="zh-CN" altLang="en-US">
                <a:latin typeface="Times New Roman" panose="02020603050405020304" pitchFamily="18" charset="0"/>
                <a:ea typeface="楷体_GB2312" pitchFamily="49" charset="-122"/>
                <a:cs typeface="Times New Roman" panose="02020603050405020304" pitchFamily="18" charset="0"/>
              </a:rPr>
              <a:t>关闭不需要的打开文件</a:t>
            </a:r>
            <a:endParaRPr lang="zh-CN" altLang="en-US">
              <a:latin typeface="Times New Roman" panose="02020603050405020304" pitchFamily="18" charset="0"/>
              <a:ea typeface="楷体_GB2312" pitchFamily="49" charset="-122"/>
              <a:cs typeface="Times New Roman" panose="02020603050405020304" pitchFamily="18" charset="0"/>
            </a:endParaRPr>
          </a:p>
          <a:p>
            <a:pPr lvl="2" eaLnBrk="1" hangingPunct="1"/>
            <a:r>
              <a:rPr lang="zh-CN" altLang="en-US">
                <a:latin typeface="Times New Roman" panose="02020603050405020304" pitchFamily="18" charset="0"/>
                <a:ea typeface="楷体_GB2312" pitchFamily="49" charset="-122"/>
                <a:cs typeface="Times New Roman" panose="02020603050405020304" pitchFamily="18" charset="0"/>
              </a:rPr>
              <a:t>改变</a:t>
            </a:r>
            <a:r>
              <a:rPr lang="en-US" altLang="zh-CN">
                <a:latin typeface="Times New Roman" panose="02020603050405020304" pitchFamily="18" charset="0"/>
                <a:ea typeface="楷体_GB2312" pitchFamily="49" charset="-122"/>
                <a:cs typeface="Times New Roman" panose="02020603050405020304" pitchFamily="18" charset="0"/>
              </a:rPr>
              <a:t>UID</a:t>
            </a:r>
            <a:r>
              <a:rPr lang="zh-CN" altLang="en-US">
                <a:latin typeface="Times New Roman" panose="02020603050405020304" pitchFamily="18" charset="0"/>
                <a:ea typeface="楷体_GB2312" pitchFamily="49" charset="-122"/>
                <a:cs typeface="Times New Roman" panose="02020603050405020304" pitchFamily="18" charset="0"/>
              </a:rPr>
              <a:t>或是进程组</a:t>
            </a:r>
            <a:endParaRPr lang="zh-CN" altLang="en-US">
              <a:latin typeface="Times New Roman" panose="02020603050405020304" pitchFamily="18" charset="0"/>
              <a:ea typeface="楷体_GB2312" pitchFamily="49" charset="-122"/>
              <a:cs typeface="Times New Roman" panose="02020603050405020304" pitchFamily="18" charset="0"/>
            </a:endParaRPr>
          </a:p>
          <a:p>
            <a:pPr lvl="2" eaLnBrk="1" hangingPunct="1"/>
            <a:r>
              <a:rPr lang="zh-CN" altLang="en-US">
                <a:latin typeface="Times New Roman" panose="02020603050405020304" pitchFamily="18" charset="0"/>
                <a:ea typeface="楷体_GB2312" pitchFamily="49" charset="-122"/>
                <a:cs typeface="Times New Roman" panose="02020603050405020304" pitchFamily="18" charset="0"/>
              </a:rPr>
              <a:t>重置信号处理程序</a:t>
            </a:r>
            <a:endParaRPr lang="zh-CN" altLang="en-US">
              <a:latin typeface="Times New Roman" panose="02020603050405020304" pitchFamily="18" charset="0"/>
              <a:ea typeface="楷体_GB2312" pitchFamily="49" charset="-122"/>
              <a:cs typeface="Times New Roman" panose="02020603050405020304" pitchFamily="18" charset="0"/>
            </a:endParaRPr>
          </a:p>
          <a:p>
            <a:pPr eaLnBrk="1" hangingPunct="1"/>
            <a:r>
              <a:rPr lang="zh-CN" altLang="en-US" sz="2400">
                <a:latin typeface="Times New Roman" panose="02020603050405020304" pitchFamily="18" charset="0"/>
                <a:ea typeface="楷体_GB2312" pitchFamily="49" charset="-122"/>
                <a:cs typeface="Times New Roman" panose="02020603050405020304" pitchFamily="18" charset="0"/>
              </a:rPr>
              <a:t>若单一的系统调用试图完成所有这些功能将是笨重、低效</a:t>
            </a:r>
            <a:endParaRPr lang="zh-CN" altLang="en-US" sz="2400">
              <a:latin typeface="Times New Roman" panose="02020603050405020304" pitchFamily="18" charset="0"/>
              <a:ea typeface="楷体_GB2312" pitchFamily="49" charset="-122"/>
              <a:cs typeface="Times New Roman" panose="02020603050405020304" pitchFamily="18" charset="0"/>
            </a:endParaRPr>
          </a:p>
          <a:p>
            <a:pPr lvl="1" eaLnBrk="1" hangingPunct="1"/>
            <a:r>
              <a:rPr lang="zh-CN" altLang="en-US" sz="2400">
                <a:latin typeface="Times New Roman" panose="02020603050405020304" pitchFamily="18" charset="0"/>
                <a:ea typeface="楷体_GB2312" pitchFamily="49" charset="-122"/>
                <a:cs typeface="Times New Roman" panose="02020603050405020304" pitchFamily="18" charset="0"/>
              </a:rPr>
              <a:t>现有的</a:t>
            </a:r>
            <a:r>
              <a:rPr lang="en-US" altLang="zh-CN" sz="2400">
                <a:latin typeface="Times New Roman" panose="02020603050405020304" pitchFamily="18" charset="0"/>
                <a:ea typeface="楷体_GB2312" pitchFamily="49" charset="-122"/>
                <a:cs typeface="Times New Roman" panose="02020603050405020304" pitchFamily="18" charset="0"/>
              </a:rPr>
              <a:t>fork-exec</a:t>
            </a:r>
            <a:r>
              <a:rPr lang="zh-CN" altLang="en-US" sz="2400">
                <a:latin typeface="Times New Roman" panose="02020603050405020304" pitchFamily="18" charset="0"/>
                <a:ea typeface="楷体_GB2312" pitchFamily="49" charset="-122"/>
                <a:cs typeface="Times New Roman" panose="02020603050405020304" pitchFamily="18" charset="0"/>
              </a:rPr>
              <a:t>框架灵活性更强</a:t>
            </a:r>
            <a:endParaRPr lang="zh-CN" altLang="en-US" sz="2400">
              <a:latin typeface="Times New Roman" panose="02020603050405020304" pitchFamily="18" charset="0"/>
              <a:ea typeface="楷体_GB2312" pitchFamily="49" charset="-122"/>
              <a:cs typeface="Times New Roman" panose="02020603050405020304" pitchFamily="18" charset="0"/>
            </a:endParaRPr>
          </a:p>
          <a:p>
            <a:pPr lvl="1" eaLnBrk="1" hangingPunct="1"/>
            <a:r>
              <a:rPr lang="zh-CN" altLang="en-US" sz="2400">
                <a:latin typeface="Times New Roman" panose="02020603050405020304" pitchFamily="18" charset="0"/>
                <a:ea typeface="楷体_GB2312" pitchFamily="49" charset="-122"/>
                <a:cs typeface="Times New Roman" panose="02020603050405020304" pitchFamily="18" charset="0"/>
              </a:rPr>
              <a:t>清晰，模块化强</a:t>
            </a:r>
            <a:endParaRPr lang="zh-CN" altLang="en-US" sz="2400">
              <a:latin typeface="Times New Roman" panose="02020603050405020304" pitchFamily="18" charset="0"/>
              <a:ea typeface="楷体_GB2312" pitchFamily="49" charset="-122"/>
              <a:cs typeface="Times New Roman" panose="02020603050405020304" pitchFamily="18" charset="0"/>
            </a:endParaRPr>
          </a:p>
        </p:txBody>
      </p:sp>
      <p:sp>
        <p:nvSpPr>
          <p:cNvPr id="5" name="Rectangle 6"/>
          <p:cNvSpPr>
            <a:spLocks noGrp="1" noChangeArrowheads="1"/>
          </p:cNvSpPr>
          <p:nvPr>
            <p:ph type="title"/>
          </p:nvPr>
        </p:nvSpPr>
        <p:spPr>
          <a:xfrm>
            <a:off x="611188" y="0"/>
            <a:ext cx="7632700" cy="609600"/>
          </a:xfrm>
          <a:noFill/>
        </p:spPr>
        <p:txBody>
          <a:bodyPr/>
          <a:lstStyle/>
          <a:p>
            <a:pPr eaLnBrk="1" hangingPunct="1"/>
            <a:br>
              <a:rPr lang="zh-CN" altLang="en-US" dirty="0">
                <a:latin typeface="Times New Roman" panose="02020603050405020304" pitchFamily="18" charset="0"/>
                <a:ea typeface="楷体_GB2312" pitchFamily="49" charset="-122"/>
                <a:cs typeface="Times New Roman" panose="02020603050405020304" pitchFamily="18" charset="0"/>
              </a:rPr>
            </a:br>
            <a:r>
              <a:rPr lang="en-US" altLang="zh-CN" dirty="0">
                <a:latin typeface="Times New Roman" panose="02020603050405020304" pitchFamily="18" charset="0"/>
                <a:ea typeface="楷体_GB2312" pitchFamily="49" charset="-122"/>
                <a:cs typeface="Times New Roman" panose="02020603050405020304" pitchFamily="18" charset="0"/>
              </a:rPr>
              <a:t>2.7 Linux</a:t>
            </a:r>
            <a:r>
              <a:rPr lang="zh-CN" altLang="en-US" dirty="0">
                <a:latin typeface="Times New Roman" panose="02020603050405020304" pitchFamily="18" charset="0"/>
                <a:ea typeface="楷体_GB2312" pitchFamily="49" charset="-122"/>
                <a:cs typeface="Times New Roman" panose="02020603050405020304" pitchFamily="18" charset="0"/>
              </a:rPr>
              <a:t>中的进程控制</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Rectangle 3"/>
          <p:cNvSpPr>
            <a:spLocks noGrp="1" noChangeArrowheads="1"/>
          </p:cNvSpPr>
          <p:nvPr>
            <p:ph type="body" idx="1"/>
          </p:nvPr>
        </p:nvSpPr>
        <p:spPr>
          <a:xfrm>
            <a:off x="395288" y="1268413"/>
            <a:ext cx="8362950" cy="5280025"/>
          </a:xfrm>
        </p:spPr>
        <p:txBody>
          <a:bodyPr/>
          <a:lstStyle/>
          <a:p>
            <a:pPr eaLnBrk="1" hangingPunct="1">
              <a:lnSpc>
                <a:spcPct val="110000"/>
              </a:lnSpc>
            </a:pPr>
            <a:r>
              <a:rPr lang="zh-CN" altLang="en-US" dirty="0">
                <a:latin typeface="Times New Roman" panose="02020603050405020304" pitchFamily="18" charset="0"/>
                <a:ea typeface="楷体_GB2312" pitchFamily="49" charset="-122"/>
                <a:cs typeface="Times New Roman" panose="02020603050405020304" pitchFamily="18" charset="0"/>
              </a:rPr>
              <a:t>创建子进程后，父进程的选择有以下几种：</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lnSpc>
                <a:spcPct val="110000"/>
              </a:lnSpc>
              <a:buFont typeface="Wingdings" panose="05000000000000000000" pitchFamily="2" charset="2"/>
              <a:buNone/>
            </a:pPr>
            <a:r>
              <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rPr>
              <a:t>(1) </a:t>
            </a:r>
            <a:r>
              <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父进程不理睬子进程，继续执行。</a:t>
            </a:r>
            <a:r>
              <a:rPr lang="zh-CN" altLang="en-US" dirty="0">
                <a:latin typeface="Times New Roman" panose="02020603050405020304" pitchFamily="18" charset="0"/>
                <a:ea typeface="楷体_GB2312" pitchFamily="49" charset="-122"/>
                <a:cs typeface="Times New Roman" panose="02020603050405020304" pitchFamily="18" charset="0"/>
              </a:rPr>
              <a:t>如果子进程先于父进程消亡的话，则内核会发送一个信号，通知父进程。</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lnSpc>
                <a:spcPct val="110000"/>
              </a:lnSpc>
              <a:buFont typeface="Wingdings" panose="05000000000000000000" pitchFamily="2" charset="2"/>
              <a:buNone/>
            </a:pPr>
            <a:r>
              <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rPr>
              <a:t>(2)</a:t>
            </a:r>
            <a:r>
              <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父进程暂停，睡眠，等待子进程结束后继续运行</a:t>
            </a:r>
            <a:endPar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endParaRPr>
          </a:p>
          <a:p>
            <a:pPr lvl="1" eaLnBrk="1" hangingPunct="1">
              <a:lnSpc>
                <a:spcPct val="110000"/>
              </a:lnSpc>
              <a:buFont typeface="Wingdings" panose="05000000000000000000" pitchFamily="2" charset="2"/>
              <a:buNone/>
            </a:pPr>
            <a:r>
              <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rPr>
              <a:t>(3)</a:t>
            </a:r>
            <a:r>
              <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父进程自行结束，使用</a:t>
            </a:r>
            <a:r>
              <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rPr>
              <a:t>exit</a:t>
            </a:r>
            <a:r>
              <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dirty="0">
                <a:solidFill>
                  <a:srgbClr val="981D14"/>
                </a:solidFill>
                <a:latin typeface="Times New Roman" panose="02020603050405020304" pitchFamily="18" charset="0"/>
                <a:ea typeface="楷体_GB2312" pitchFamily="49" charset="-122"/>
                <a:cs typeface="Times New Roman" panose="02020603050405020304" pitchFamily="18" charset="0"/>
              </a:rPr>
              <a:t>。</a:t>
            </a:r>
            <a:endParaRPr lang="zh-CN" altLang="en-US" dirty="0">
              <a:solidFill>
                <a:srgbClr val="981D14"/>
              </a:solidFill>
              <a:latin typeface="Times New Roman" panose="02020603050405020304" pitchFamily="18" charset="0"/>
              <a:ea typeface="楷体_GB2312" pitchFamily="49" charset="-122"/>
              <a:cs typeface="Times New Roman" panose="02020603050405020304" pitchFamily="18" charset="0"/>
            </a:endParaRPr>
          </a:p>
        </p:txBody>
      </p:sp>
      <p:sp>
        <p:nvSpPr>
          <p:cNvPr id="5" name="Rectangle 6"/>
          <p:cNvSpPr>
            <a:spLocks noGrp="1" noChangeArrowheads="1"/>
          </p:cNvSpPr>
          <p:nvPr>
            <p:ph type="title"/>
          </p:nvPr>
        </p:nvSpPr>
        <p:spPr>
          <a:xfrm>
            <a:off x="611188" y="0"/>
            <a:ext cx="7632700" cy="609600"/>
          </a:xfrm>
          <a:noFill/>
        </p:spPr>
        <p:txBody>
          <a:bodyPr/>
          <a:lstStyle/>
          <a:p>
            <a:pPr eaLnBrk="1" hangingPunct="1"/>
            <a:br>
              <a:rPr lang="zh-CN" altLang="en-US" dirty="0">
                <a:latin typeface="Times New Roman" panose="02020603050405020304" pitchFamily="18" charset="0"/>
                <a:ea typeface="楷体_GB2312" pitchFamily="49" charset="-122"/>
                <a:cs typeface="Times New Roman" panose="02020603050405020304" pitchFamily="18" charset="0"/>
              </a:rPr>
            </a:br>
            <a:r>
              <a:rPr lang="en-US" altLang="zh-CN" dirty="0">
                <a:latin typeface="Times New Roman" panose="02020603050405020304" pitchFamily="18" charset="0"/>
                <a:ea typeface="楷体_GB2312" pitchFamily="49" charset="-122"/>
                <a:cs typeface="Times New Roman" panose="02020603050405020304" pitchFamily="18" charset="0"/>
              </a:rPr>
              <a:t>2.7 Linux</a:t>
            </a:r>
            <a:r>
              <a:rPr lang="zh-CN" altLang="en-US" dirty="0">
                <a:latin typeface="Times New Roman" panose="02020603050405020304" pitchFamily="18" charset="0"/>
                <a:ea typeface="楷体_GB2312" pitchFamily="49" charset="-122"/>
                <a:cs typeface="Times New Roman" panose="02020603050405020304" pitchFamily="18" charset="0"/>
              </a:rPr>
              <a:t>中的进程控制</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3"/>
          <p:cNvSpPr>
            <a:spLocks noGrp="1" noChangeArrowheads="1"/>
          </p:cNvSpPr>
          <p:nvPr>
            <p:ph type="body" idx="1"/>
          </p:nvPr>
        </p:nvSpPr>
        <p:spPr>
          <a:xfrm>
            <a:off x="457200" y="1219200"/>
            <a:ext cx="8435975" cy="5410200"/>
          </a:xfrm>
        </p:spPr>
        <p:txBody>
          <a:bodyPr/>
          <a:lstStyle/>
          <a:p>
            <a:pPr eaLnBrk="1" hangingPunct="1"/>
            <a:r>
              <a:rPr lang="zh-CN" altLang="en-US">
                <a:latin typeface="Times New Roman" panose="02020603050405020304" pitchFamily="18" charset="0"/>
                <a:ea typeface="楷体_GB2312" pitchFamily="49" charset="-122"/>
                <a:cs typeface="Times New Roman" panose="02020603050405020304" pitchFamily="18" charset="0"/>
              </a:rPr>
              <a:t>父进程调用</a:t>
            </a:r>
            <a:r>
              <a:rPr lang="en-US" altLang="zh-CN">
                <a:latin typeface="Times New Roman" panose="02020603050405020304" pitchFamily="18" charset="0"/>
                <a:ea typeface="楷体_GB2312" pitchFamily="49" charset="-122"/>
                <a:cs typeface="Times New Roman" panose="02020603050405020304" pitchFamily="18" charset="0"/>
              </a:rPr>
              <a:t>wait()</a:t>
            </a:r>
            <a:r>
              <a:rPr lang="zh-CN" altLang="en-US">
                <a:latin typeface="Times New Roman" panose="02020603050405020304" pitchFamily="18" charset="0"/>
                <a:ea typeface="楷体_GB2312" pitchFamily="49" charset="-122"/>
                <a:cs typeface="Times New Roman" panose="02020603050405020304" pitchFamily="18" charset="0"/>
              </a:rPr>
              <a:t>类系统调用检查子进程是否终止</a:t>
            </a:r>
            <a:endParaRPr lang="zh-CN" altLang="en-US">
              <a:latin typeface="Times New Roman" panose="02020603050405020304" pitchFamily="18" charset="0"/>
              <a:ea typeface="楷体_GB2312" pitchFamily="49" charset="-122"/>
              <a:cs typeface="Times New Roman" panose="02020603050405020304" pitchFamily="18" charset="0"/>
            </a:endParaRPr>
          </a:p>
          <a:p>
            <a:pPr eaLnBrk="1" hangingPunct="1">
              <a:lnSpc>
                <a:spcPct val="110000"/>
              </a:lnSpc>
            </a:pPr>
            <a:r>
              <a:rPr lang="zh-CN" altLang="en-US">
                <a:latin typeface="Times New Roman" panose="02020603050405020304" pitchFamily="18" charset="0"/>
                <a:ea typeface="楷体_GB2312" pitchFamily="49" charset="-122"/>
                <a:cs typeface="Times New Roman" panose="02020603050405020304" pitchFamily="18" charset="0"/>
              </a:rPr>
              <a:t>父进程调用</a:t>
            </a:r>
            <a:r>
              <a:rPr lang="en-US" altLang="zh-CN">
                <a:latin typeface="Times New Roman" panose="02020603050405020304" pitchFamily="18" charset="0"/>
                <a:ea typeface="楷体_GB2312" pitchFamily="49" charset="-122"/>
                <a:cs typeface="Times New Roman" panose="02020603050405020304" pitchFamily="18" charset="0"/>
              </a:rPr>
              <a:t>wait()</a:t>
            </a:r>
            <a:r>
              <a:rPr lang="zh-CN" altLang="en-US">
                <a:latin typeface="Times New Roman" panose="02020603050405020304" pitchFamily="18" charset="0"/>
                <a:ea typeface="楷体_GB2312" pitchFamily="49" charset="-122"/>
                <a:cs typeface="Times New Roman" panose="02020603050405020304" pitchFamily="18" charset="0"/>
              </a:rPr>
              <a:t>后进入阻塞队列中。当子进程结束时会产生一个终止状态字，系统内核再向父进程发出</a:t>
            </a:r>
            <a:r>
              <a:rPr lang="en-US" altLang="zh-CN">
                <a:latin typeface="Times New Roman" panose="02020603050405020304" pitchFamily="18" charset="0"/>
                <a:ea typeface="楷体_GB2312" pitchFamily="49" charset="-122"/>
                <a:cs typeface="Times New Roman" panose="02020603050405020304" pitchFamily="18" charset="0"/>
              </a:rPr>
              <a:t>SIGCHILD</a:t>
            </a:r>
            <a:r>
              <a:rPr lang="zh-CN" altLang="en-US">
                <a:latin typeface="Times New Roman" panose="02020603050405020304" pitchFamily="18" charset="0"/>
                <a:ea typeface="楷体_GB2312" pitchFamily="49" charset="-122"/>
                <a:cs typeface="Times New Roman" panose="02020603050405020304" pitchFamily="18" charset="0"/>
              </a:rPr>
              <a:t>信号。当接收到信号时，父进程提取子进程的终止状态字，从</a:t>
            </a:r>
            <a:r>
              <a:rPr lang="en-US" altLang="zh-CN">
                <a:latin typeface="Times New Roman" panose="02020603050405020304" pitchFamily="18" charset="0"/>
                <a:ea typeface="楷体_GB2312" pitchFamily="49" charset="-122"/>
                <a:cs typeface="Times New Roman" panose="02020603050405020304" pitchFamily="18" charset="0"/>
              </a:rPr>
              <a:t>wait()</a:t>
            </a:r>
            <a:r>
              <a:rPr lang="zh-CN" altLang="en-US">
                <a:latin typeface="Times New Roman" panose="02020603050405020304" pitchFamily="18" charset="0"/>
                <a:ea typeface="楷体_GB2312" pitchFamily="49" charset="-122"/>
                <a:cs typeface="Times New Roman" panose="02020603050405020304" pitchFamily="18" charset="0"/>
              </a:rPr>
              <a:t>返回到原程序。</a:t>
            </a:r>
            <a:endParaRPr lang="zh-CN" altLang="en-US">
              <a:latin typeface="Times New Roman" panose="02020603050405020304" pitchFamily="18" charset="0"/>
              <a:ea typeface="楷体_GB2312" pitchFamily="49" charset="-122"/>
              <a:cs typeface="Times New Roman" panose="02020603050405020304" pitchFamily="18" charset="0"/>
            </a:endParaRPr>
          </a:p>
          <a:p>
            <a:pPr eaLnBrk="1" hangingPunct="1">
              <a:lnSpc>
                <a:spcPct val="110000"/>
              </a:lnSpc>
            </a:pPr>
            <a:r>
              <a:rPr lang="en-US" altLang="zh-CN">
                <a:latin typeface="Times New Roman" panose="02020603050405020304" pitchFamily="18" charset="0"/>
                <a:ea typeface="楷体_GB2312" pitchFamily="49" charset="-122"/>
                <a:cs typeface="Times New Roman" panose="02020603050405020304" pitchFamily="18" charset="0"/>
              </a:rPr>
              <a:t>Wait()</a:t>
            </a:r>
            <a:r>
              <a:rPr lang="zh-CN" altLang="en-US">
                <a:latin typeface="Times New Roman" panose="02020603050405020304" pitchFamily="18" charset="0"/>
                <a:ea typeface="楷体_GB2312" pitchFamily="49" charset="-122"/>
                <a:cs typeface="Times New Roman" panose="02020603050405020304" pitchFamily="18" charset="0"/>
              </a:rPr>
              <a:t>系统调用的作用</a:t>
            </a:r>
            <a:endParaRPr lang="zh-CN" altLang="en-US">
              <a:latin typeface="Times New Roman" panose="02020603050405020304" pitchFamily="18" charset="0"/>
              <a:ea typeface="楷体_GB2312" pitchFamily="49" charset="-122"/>
              <a:cs typeface="Times New Roman" panose="02020603050405020304" pitchFamily="18" charset="0"/>
            </a:endParaRPr>
          </a:p>
          <a:p>
            <a:pPr lvl="1" eaLnBrk="1" hangingPunct="1">
              <a:lnSpc>
                <a:spcPct val="110000"/>
              </a:lnSpc>
            </a:pPr>
            <a:r>
              <a:rPr lang="zh-CN" altLang="en-US" sz="2800">
                <a:latin typeface="Times New Roman" panose="02020603050405020304" pitchFamily="18" charset="0"/>
                <a:ea typeface="楷体_GB2312" pitchFamily="49" charset="-122"/>
                <a:cs typeface="Times New Roman" panose="02020603050405020304" pitchFamily="18" charset="0"/>
              </a:rPr>
              <a:t>获取子进程终止的消息</a:t>
            </a:r>
            <a:endParaRPr lang="zh-CN" altLang="en-US" sz="2800">
              <a:latin typeface="Times New Roman" panose="02020603050405020304" pitchFamily="18" charset="0"/>
              <a:ea typeface="楷体_GB2312" pitchFamily="49" charset="-122"/>
              <a:cs typeface="Times New Roman" panose="02020603050405020304" pitchFamily="18" charset="0"/>
            </a:endParaRPr>
          </a:p>
          <a:p>
            <a:pPr lvl="1" eaLnBrk="1" hangingPunct="1">
              <a:lnSpc>
                <a:spcPct val="110000"/>
              </a:lnSpc>
            </a:pPr>
            <a:r>
              <a:rPr lang="zh-CN" altLang="en-US" sz="2800">
                <a:latin typeface="Times New Roman" panose="02020603050405020304" pitchFamily="18" charset="0"/>
                <a:ea typeface="楷体_GB2312" pitchFamily="49" charset="-122"/>
                <a:cs typeface="Times New Roman" panose="02020603050405020304" pitchFamily="18" charset="0"/>
              </a:rPr>
              <a:t>清除子进程的所有独占资源</a:t>
            </a:r>
            <a:endParaRPr lang="zh-CN" altLang="en-US" sz="2800">
              <a:latin typeface="Times New Roman" panose="02020603050405020304" pitchFamily="18" charset="0"/>
              <a:ea typeface="楷体_GB2312" pitchFamily="49" charset="-122"/>
              <a:cs typeface="Times New Roman" panose="02020603050405020304" pitchFamily="18" charset="0"/>
            </a:endParaRPr>
          </a:p>
        </p:txBody>
      </p:sp>
      <p:sp>
        <p:nvSpPr>
          <p:cNvPr id="5" name="Rectangle 6"/>
          <p:cNvSpPr>
            <a:spLocks noGrp="1" noChangeArrowheads="1"/>
          </p:cNvSpPr>
          <p:nvPr>
            <p:ph type="title"/>
          </p:nvPr>
        </p:nvSpPr>
        <p:spPr>
          <a:xfrm>
            <a:off x="611188" y="0"/>
            <a:ext cx="7632700" cy="609600"/>
          </a:xfrm>
          <a:noFill/>
        </p:spPr>
        <p:txBody>
          <a:bodyPr/>
          <a:lstStyle/>
          <a:p>
            <a:pPr eaLnBrk="1" hangingPunct="1"/>
            <a:br>
              <a:rPr lang="zh-CN" altLang="en-US" dirty="0">
                <a:latin typeface="Times New Roman" panose="02020603050405020304" pitchFamily="18" charset="0"/>
                <a:ea typeface="楷体_GB2312" pitchFamily="49" charset="-122"/>
                <a:cs typeface="Times New Roman" panose="02020603050405020304" pitchFamily="18" charset="0"/>
              </a:rPr>
            </a:br>
            <a:r>
              <a:rPr lang="en-US" altLang="zh-CN" dirty="0">
                <a:latin typeface="Times New Roman" panose="02020603050405020304" pitchFamily="18" charset="0"/>
                <a:ea typeface="楷体_GB2312" pitchFamily="49" charset="-122"/>
                <a:cs typeface="Times New Roman" panose="02020603050405020304" pitchFamily="18" charset="0"/>
              </a:rPr>
              <a:t>2.7 Linux</a:t>
            </a:r>
            <a:r>
              <a:rPr lang="zh-CN" altLang="en-US" dirty="0">
                <a:latin typeface="Times New Roman" panose="02020603050405020304" pitchFamily="18" charset="0"/>
                <a:ea typeface="楷体_GB2312" pitchFamily="49" charset="-122"/>
                <a:cs typeface="Times New Roman" panose="02020603050405020304" pitchFamily="18" charset="0"/>
              </a:rPr>
              <a:t>中的进程控制</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Rectangle 3"/>
          <p:cNvSpPr>
            <a:spLocks noGrp="1" noChangeArrowheads="1"/>
          </p:cNvSpPr>
          <p:nvPr>
            <p:ph type="body" idx="1"/>
          </p:nvPr>
        </p:nvSpPr>
        <p:spPr>
          <a:xfrm>
            <a:off x="323850" y="1125538"/>
            <a:ext cx="8305800" cy="5410200"/>
          </a:xfrm>
        </p:spPr>
        <p:txBody>
          <a:bodyPr/>
          <a:lstStyle/>
          <a:p>
            <a:pPr eaLnBrk="1" hangingPunct="1">
              <a:lnSpc>
                <a:spcPct val="90000"/>
              </a:lnSpc>
            </a:pPr>
            <a:r>
              <a:rPr lang="en-US" altLang="zh-CN">
                <a:latin typeface="Times New Roman" panose="02020603050405020304" pitchFamily="18" charset="0"/>
                <a:ea typeface="楷体_GB2312" pitchFamily="49" charset="-122"/>
                <a:cs typeface="Times New Roman" panose="02020603050405020304" pitchFamily="18" charset="0"/>
                <a:hlinkClick r:id="rId1" action="ppaction://hlinkfile"/>
              </a:rPr>
              <a:t>sys_wait4()</a:t>
            </a:r>
            <a:r>
              <a:rPr lang="zh-CN" altLang="en-US">
                <a:latin typeface="Times New Roman" panose="02020603050405020304" pitchFamily="18" charset="0"/>
                <a:ea typeface="楷体_GB2312" pitchFamily="49" charset="-122"/>
                <a:cs typeface="Times New Roman" panose="02020603050405020304" pitchFamily="18" charset="0"/>
              </a:rPr>
              <a:t>算法的基本思路：</a:t>
            </a:r>
            <a:endParaRPr lang="zh-CN" altLang="en-US">
              <a:latin typeface="Times New Roman" panose="02020603050405020304" pitchFamily="18" charset="0"/>
              <a:ea typeface="楷体_GB2312" pitchFamily="49" charset="-122"/>
              <a:cs typeface="Times New Roman" panose="02020603050405020304" pitchFamily="18" charset="0"/>
            </a:endParaRPr>
          </a:p>
          <a:p>
            <a:pPr lvl="1" eaLnBrk="1" hangingPunct="1">
              <a:lnSpc>
                <a:spcPct val="90000"/>
              </a:lnSpc>
            </a:pPr>
            <a:r>
              <a:rPr lang="zh-CN" altLang="en-US">
                <a:latin typeface="Times New Roman" panose="02020603050405020304" pitchFamily="18" charset="0"/>
                <a:ea typeface="楷体_GB2312" pitchFamily="49" charset="-122"/>
                <a:cs typeface="Times New Roman" panose="02020603050405020304" pitchFamily="18" charset="0"/>
              </a:rPr>
              <a:t>搜索当前进程的所有子进程，</a:t>
            </a:r>
            <a:endParaRPr lang="zh-CN" altLang="en-US">
              <a:latin typeface="Times New Roman" panose="02020603050405020304" pitchFamily="18" charset="0"/>
              <a:ea typeface="楷体_GB2312" pitchFamily="49" charset="-122"/>
              <a:cs typeface="Times New Roman" panose="02020603050405020304" pitchFamily="18" charset="0"/>
            </a:endParaRPr>
          </a:p>
          <a:p>
            <a:pPr lvl="2" eaLnBrk="1" hangingPunct="1">
              <a:lnSpc>
                <a:spcPct val="90000"/>
              </a:lnSpc>
            </a:pPr>
            <a:r>
              <a:rPr lang="zh-CN" altLang="en-US">
                <a:latin typeface="Times New Roman" panose="02020603050405020304" pitchFamily="18" charset="0"/>
                <a:ea typeface="楷体_GB2312" pitchFamily="49" charset="-122"/>
                <a:cs typeface="Times New Roman" panose="02020603050405020304" pitchFamily="18" charset="0"/>
              </a:rPr>
              <a:t>如果父进程没有子进程， 则出错返回。</a:t>
            </a:r>
            <a:endParaRPr lang="zh-CN" altLang="en-US">
              <a:latin typeface="Times New Roman" panose="02020603050405020304" pitchFamily="18" charset="0"/>
              <a:ea typeface="楷体_GB2312" pitchFamily="49" charset="-122"/>
              <a:cs typeface="Times New Roman" panose="02020603050405020304" pitchFamily="18" charset="0"/>
            </a:endParaRPr>
          </a:p>
          <a:p>
            <a:pPr lvl="2" eaLnBrk="1" hangingPunct="1">
              <a:lnSpc>
                <a:spcPct val="90000"/>
              </a:lnSpc>
            </a:pPr>
            <a:r>
              <a:rPr lang="zh-CN" altLang="en-US">
                <a:latin typeface="Times New Roman" panose="02020603050405020304" pitchFamily="18" charset="0"/>
                <a:ea typeface="楷体_GB2312" pitchFamily="49" charset="-122"/>
                <a:cs typeface="Times New Roman" panose="02020603050405020304" pitchFamily="18" charset="0"/>
              </a:rPr>
              <a:t>如果找到一个满足要求的子进程，但都不处于僵死态，则父进程或者睡眠等待， 以后由相应信号唤醒，或者立即返回</a:t>
            </a:r>
            <a:endParaRPr lang="en-US" altLang="zh-CN">
              <a:latin typeface="Times New Roman" panose="02020603050405020304" pitchFamily="18" charset="0"/>
              <a:ea typeface="楷体_GB2312" pitchFamily="49" charset="-122"/>
              <a:cs typeface="Times New Roman" panose="02020603050405020304" pitchFamily="18" charset="0"/>
            </a:endParaRPr>
          </a:p>
          <a:p>
            <a:pPr lvl="2" eaLnBrk="1" hangingPunct="1">
              <a:lnSpc>
                <a:spcPct val="90000"/>
              </a:lnSpc>
            </a:pPr>
            <a:r>
              <a:rPr lang="zh-CN" altLang="en-US">
                <a:latin typeface="Times New Roman" panose="02020603050405020304" pitchFamily="18" charset="0"/>
                <a:ea typeface="楷体_GB2312" pitchFamily="49" charset="-122"/>
                <a:cs typeface="Times New Roman" panose="02020603050405020304" pitchFamily="18" charset="0"/>
              </a:rPr>
              <a:t>如果找到一个满足要求的子进程，则返回子进程的进程号，把子进程的</a:t>
            </a:r>
            <a:r>
              <a:rPr lang="en-US" altLang="zh-CN">
                <a:latin typeface="Times New Roman" panose="02020603050405020304" pitchFamily="18" charset="0"/>
                <a:ea typeface="楷体_GB2312" pitchFamily="49" charset="-122"/>
                <a:cs typeface="Times New Roman" panose="02020603050405020304" pitchFamily="18" charset="0"/>
              </a:rPr>
              <a:t>CPU</a:t>
            </a:r>
            <a:r>
              <a:rPr lang="zh-CN" altLang="en-US">
                <a:latin typeface="Times New Roman" panose="02020603050405020304" pitchFamily="18" charset="0"/>
                <a:ea typeface="楷体_GB2312" pitchFamily="49" charset="-122"/>
                <a:cs typeface="Times New Roman" panose="02020603050405020304" pitchFamily="18" charset="0"/>
              </a:rPr>
              <a:t>使用时间等加到父进程上，释放子进程占用的 </a:t>
            </a:r>
            <a:r>
              <a:rPr lang="en-US" altLang="zh-CN">
                <a:latin typeface="Times New Roman" panose="02020603050405020304" pitchFamily="18" charset="0"/>
                <a:ea typeface="楷体_GB2312" pitchFamily="49" charset="-122"/>
                <a:cs typeface="Times New Roman" panose="02020603050405020304" pitchFamily="18" charset="0"/>
              </a:rPr>
              <a:t>task_struct</a:t>
            </a:r>
            <a:r>
              <a:rPr lang="zh-CN" altLang="en-US">
                <a:latin typeface="Times New Roman" panose="02020603050405020304" pitchFamily="18" charset="0"/>
                <a:ea typeface="楷体_GB2312" pitchFamily="49" charset="-122"/>
                <a:cs typeface="Times New Roman" panose="02020603050405020304" pitchFamily="18" charset="0"/>
              </a:rPr>
              <a:t>和系统堆栈，以供新进程使用（将其释放）。</a:t>
            </a:r>
            <a:endParaRPr lang="zh-CN" altLang="en-US">
              <a:latin typeface="Times New Roman" panose="02020603050405020304" pitchFamily="18" charset="0"/>
              <a:ea typeface="楷体_GB2312" pitchFamily="49" charset="-122"/>
              <a:cs typeface="Times New Roman" panose="02020603050405020304" pitchFamily="18" charset="0"/>
            </a:endParaRPr>
          </a:p>
          <a:p>
            <a:pPr eaLnBrk="1" hangingPunct="1">
              <a:lnSpc>
                <a:spcPct val="90000"/>
              </a:lnSpc>
            </a:pPr>
            <a:r>
              <a:rPr lang="en-US" altLang="zh-CN">
                <a:latin typeface="Times New Roman" panose="02020603050405020304" pitchFamily="18" charset="0"/>
                <a:ea typeface="楷体_GB2312" pitchFamily="49" charset="-122"/>
                <a:cs typeface="Times New Roman" panose="02020603050405020304" pitchFamily="18" charset="0"/>
                <a:hlinkClick r:id="rId2" action="ppaction://hlinkfile"/>
              </a:rPr>
              <a:t>release()</a:t>
            </a:r>
            <a:r>
              <a:rPr lang="zh-CN" altLang="en-US">
                <a:latin typeface="Times New Roman" panose="02020603050405020304" pitchFamily="18" charset="0"/>
                <a:ea typeface="楷体_GB2312" pitchFamily="49" charset="-122"/>
                <a:cs typeface="Times New Roman" panose="02020603050405020304" pitchFamily="18" charset="0"/>
              </a:rPr>
              <a:t>的唯一参数是要回收进程的</a:t>
            </a:r>
            <a:r>
              <a:rPr lang="en-US" altLang="zh-CN">
                <a:latin typeface="Times New Roman" panose="02020603050405020304" pitchFamily="18" charset="0"/>
                <a:ea typeface="楷体_GB2312" pitchFamily="49" charset="-122"/>
                <a:cs typeface="Times New Roman" panose="02020603050405020304" pitchFamily="18" charset="0"/>
              </a:rPr>
              <a:t>task_struct</a:t>
            </a:r>
            <a:r>
              <a:rPr lang="zh-CN" altLang="en-US">
                <a:latin typeface="Times New Roman" panose="02020603050405020304" pitchFamily="18" charset="0"/>
                <a:ea typeface="楷体_GB2312" pitchFamily="49" charset="-122"/>
                <a:cs typeface="Times New Roman" panose="02020603050405020304" pitchFamily="18" charset="0"/>
              </a:rPr>
              <a:t>结构，与该结构相关的大部分资源已经在</a:t>
            </a:r>
            <a:r>
              <a:rPr lang="en-US" altLang="zh-CN">
                <a:latin typeface="Times New Roman" panose="02020603050405020304" pitchFamily="18" charset="0"/>
                <a:ea typeface="楷体_GB2312" pitchFamily="49" charset="-122"/>
                <a:cs typeface="Times New Roman" panose="02020603050405020304" pitchFamily="18" charset="0"/>
              </a:rPr>
              <a:t>exit</a:t>
            </a:r>
            <a:r>
              <a:rPr lang="zh-CN" altLang="en-US">
                <a:latin typeface="Times New Roman" panose="02020603050405020304" pitchFamily="18" charset="0"/>
                <a:ea typeface="楷体_GB2312" pitchFamily="49" charset="-122"/>
                <a:cs typeface="Times New Roman" panose="02020603050405020304" pitchFamily="18" charset="0"/>
              </a:rPr>
              <a:t>中释放掉了。</a:t>
            </a:r>
            <a:endParaRPr lang="zh-CN" altLang="en-US">
              <a:latin typeface="Times New Roman" panose="02020603050405020304" pitchFamily="18" charset="0"/>
              <a:ea typeface="楷体_GB2312" pitchFamily="49" charset="-122"/>
              <a:cs typeface="Times New Roman" panose="02020603050405020304" pitchFamily="18" charset="0"/>
            </a:endParaRPr>
          </a:p>
        </p:txBody>
      </p:sp>
      <p:sp>
        <p:nvSpPr>
          <p:cNvPr id="5" name="Rectangle 6"/>
          <p:cNvSpPr>
            <a:spLocks noGrp="1" noChangeArrowheads="1"/>
          </p:cNvSpPr>
          <p:nvPr>
            <p:ph type="title"/>
          </p:nvPr>
        </p:nvSpPr>
        <p:spPr>
          <a:xfrm>
            <a:off x="611188" y="0"/>
            <a:ext cx="7632700" cy="609600"/>
          </a:xfrm>
          <a:noFill/>
        </p:spPr>
        <p:txBody>
          <a:bodyPr/>
          <a:lstStyle/>
          <a:p>
            <a:pPr eaLnBrk="1" hangingPunct="1"/>
            <a:br>
              <a:rPr lang="zh-CN" altLang="en-US" dirty="0">
                <a:latin typeface="Times New Roman" panose="02020603050405020304" pitchFamily="18" charset="0"/>
                <a:ea typeface="楷体_GB2312" pitchFamily="49" charset="-122"/>
                <a:cs typeface="Times New Roman" panose="02020603050405020304" pitchFamily="18" charset="0"/>
              </a:rPr>
            </a:br>
            <a:r>
              <a:rPr lang="en-US" altLang="zh-CN" dirty="0">
                <a:latin typeface="Times New Roman" panose="02020603050405020304" pitchFamily="18" charset="0"/>
                <a:ea typeface="楷体_GB2312" pitchFamily="49" charset="-122"/>
                <a:cs typeface="Times New Roman" panose="02020603050405020304" pitchFamily="18" charset="0"/>
              </a:rPr>
              <a:t>2.7 Linux</a:t>
            </a:r>
            <a:r>
              <a:rPr lang="zh-CN" altLang="en-US" dirty="0">
                <a:latin typeface="Times New Roman" panose="02020603050405020304" pitchFamily="18" charset="0"/>
                <a:ea typeface="楷体_GB2312" pitchFamily="49" charset="-122"/>
                <a:cs typeface="Times New Roman" panose="02020603050405020304" pitchFamily="18" charset="0"/>
              </a:rPr>
              <a:t>中的进程控制</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3"/>
          <p:cNvSpPr>
            <a:spLocks noGrp="1" noChangeArrowheads="1"/>
          </p:cNvSpPr>
          <p:nvPr>
            <p:ph type="body" idx="1"/>
          </p:nvPr>
        </p:nvSpPr>
        <p:spPr/>
        <p:txBody>
          <a:bodyPr/>
          <a:lstStyle/>
          <a:p>
            <a:pPr eaLnBrk="1" hangingPunct="1">
              <a:spcBef>
                <a:spcPts val="300"/>
              </a:spcBef>
            </a:pPr>
            <a:r>
              <a:rPr lang="zh-CN" altLang="en-US">
                <a:latin typeface="Times New Roman" panose="02020603050405020304" pitchFamily="18" charset="0"/>
                <a:ea typeface="楷体_GB2312" pitchFamily="49" charset="-122"/>
                <a:cs typeface="Times New Roman" panose="02020603050405020304" pitchFamily="18" charset="0"/>
              </a:rPr>
              <a:t>函数原型</a:t>
            </a:r>
            <a:endParaRPr lang="zh-CN" altLang="en-US">
              <a:latin typeface="Times New Roman" panose="02020603050405020304" pitchFamily="18" charset="0"/>
              <a:ea typeface="楷体_GB2312" pitchFamily="49" charset="-122"/>
              <a:cs typeface="Times New Roman" panose="02020603050405020304" pitchFamily="18" charset="0"/>
            </a:endParaRPr>
          </a:p>
          <a:p>
            <a:pPr lvl="1" eaLnBrk="1" hangingPunct="1">
              <a:spcBef>
                <a:spcPts val="300"/>
              </a:spcBef>
            </a:pPr>
            <a:r>
              <a:rPr lang="en-US" altLang="zh-CN">
                <a:latin typeface="Times New Roman" panose="02020603050405020304" pitchFamily="18" charset="0"/>
                <a:ea typeface="楷体_GB2312" pitchFamily="49" charset="-122"/>
                <a:cs typeface="Times New Roman" panose="02020603050405020304" pitchFamily="18" charset="0"/>
              </a:rPr>
              <a:t>pid_t wait(int *status);</a:t>
            </a:r>
            <a:endParaRPr lang="en-US" altLang="zh-CN">
              <a:latin typeface="Times New Roman" panose="02020603050405020304" pitchFamily="18" charset="0"/>
              <a:ea typeface="楷体_GB2312" pitchFamily="49" charset="-122"/>
              <a:cs typeface="Times New Roman" panose="02020603050405020304" pitchFamily="18" charset="0"/>
            </a:endParaRPr>
          </a:p>
          <a:p>
            <a:pPr lvl="1" eaLnBrk="1" hangingPunct="1">
              <a:spcBef>
                <a:spcPts val="300"/>
              </a:spcBef>
            </a:pPr>
            <a:r>
              <a:rPr lang="en-US" altLang="zh-CN">
                <a:latin typeface="Times New Roman" panose="02020603050405020304" pitchFamily="18" charset="0"/>
                <a:ea typeface="楷体_GB2312" pitchFamily="49" charset="-122"/>
                <a:cs typeface="Times New Roman" panose="02020603050405020304" pitchFamily="18" charset="0"/>
              </a:rPr>
              <a:t>pid_t waitpid(pid_t pid, int *status, int options);</a:t>
            </a:r>
            <a:endParaRPr lang="en-US" altLang="zh-CN">
              <a:latin typeface="Times New Roman" panose="02020603050405020304" pitchFamily="18" charset="0"/>
              <a:ea typeface="楷体_GB2312" pitchFamily="49" charset="-122"/>
              <a:cs typeface="Times New Roman" panose="02020603050405020304" pitchFamily="18" charset="0"/>
            </a:endParaRPr>
          </a:p>
          <a:p>
            <a:pPr eaLnBrk="1" hangingPunct="1">
              <a:spcBef>
                <a:spcPts val="300"/>
              </a:spcBef>
            </a:pPr>
            <a:r>
              <a:rPr lang="zh-CN" altLang="en-US">
                <a:latin typeface="Times New Roman" panose="02020603050405020304" pitchFamily="18" charset="0"/>
                <a:ea typeface="楷体_GB2312" pitchFamily="49" charset="-122"/>
                <a:cs typeface="Times New Roman" panose="02020603050405020304" pitchFamily="18" charset="0"/>
              </a:rPr>
              <a:t>说明</a:t>
            </a:r>
            <a:endParaRPr lang="en-US" altLang="zh-CN">
              <a:latin typeface="Times New Roman" panose="02020603050405020304" pitchFamily="18" charset="0"/>
              <a:ea typeface="楷体_GB2312" pitchFamily="49" charset="-122"/>
              <a:cs typeface="Times New Roman" panose="02020603050405020304" pitchFamily="18" charset="0"/>
            </a:endParaRPr>
          </a:p>
          <a:p>
            <a:pPr lvl="1" eaLnBrk="1" hangingPunct="1">
              <a:spcBef>
                <a:spcPts val="300"/>
              </a:spcBef>
            </a:pPr>
            <a:r>
              <a:rPr lang="zh-CN" altLang="en-US">
                <a:latin typeface="Times New Roman" panose="02020603050405020304" pitchFamily="18" charset="0"/>
                <a:ea typeface="楷体_GB2312" pitchFamily="49" charset="-122"/>
                <a:cs typeface="Times New Roman" panose="02020603050405020304" pitchFamily="18" charset="0"/>
              </a:rPr>
              <a:t>均通过</a:t>
            </a:r>
            <a:r>
              <a:rPr lang="en-US" altLang="zh-CN">
                <a:solidFill>
                  <a:srgbClr val="FF0D0D"/>
                </a:solidFill>
                <a:latin typeface="Times New Roman" panose="02020603050405020304" pitchFamily="18" charset="0"/>
                <a:ea typeface="楷体_GB2312" pitchFamily="49" charset="-122"/>
                <a:cs typeface="Times New Roman" panose="02020603050405020304" pitchFamily="18" charset="0"/>
              </a:rPr>
              <a:t>wait4()</a:t>
            </a:r>
            <a:r>
              <a:rPr lang="zh-CN" altLang="en-US">
                <a:latin typeface="Times New Roman" panose="02020603050405020304" pitchFamily="18" charset="0"/>
                <a:ea typeface="楷体_GB2312" pitchFamily="49" charset="-122"/>
                <a:cs typeface="Times New Roman" panose="02020603050405020304" pitchFamily="18" charset="0"/>
              </a:rPr>
              <a:t>系统调用实现</a:t>
            </a:r>
            <a:endParaRPr lang="zh-CN" altLang="en-US">
              <a:latin typeface="Times New Roman" panose="02020603050405020304" pitchFamily="18" charset="0"/>
              <a:ea typeface="楷体_GB2312" pitchFamily="49" charset="-122"/>
              <a:cs typeface="Times New Roman" panose="02020603050405020304" pitchFamily="18" charset="0"/>
            </a:endParaRPr>
          </a:p>
          <a:p>
            <a:pPr lvl="1" eaLnBrk="1" hangingPunct="1">
              <a:spcBef>
                <a:spcPts val="300"/>
              </a:spcBef>
            </a:pPr>
            <a:r>
              <a:rPr lang="zh-CN" altLang="en-US">
                <a:latin typeface="Times New Roman" panose="02020603050405020304" pitchFamily="18" charset="0"/>
                <a:ea typeface="楷体_GB2312" pitchFamily="49" charset="-122"/>
                <a:cs typeface="Times New Roman" panose="02020603050405020304" pitchFamily="18" charset="0"/>
              </a:rPr>
              <a:t>进程终止时，会向父进程发送</a:t>
            </a:r>
            <a:r>
              <a:rPr lang="en-US" altLang="zh-CN">
                <a:solidFill>
                  <a:srgbClr val="FF0D0D"/>
                </a:solidFill>
                <a:latin typeface="Times New Roman" panose="02020603050405020304" pitchFamily="18" charset="0"/>
                <a:ea typeface="楷体_GB2312" pitchFamily="49" charset="-122"/>
                <a:cs typeface="Times New Roman" panose="02020603050405020304" pitchFamily="18" charset="0"/>
              </a:rPr>
              <a:t>SIGCHLD</a:t>
            </a:r>
            <a:r>
              <a:rPr lang="zh-CN" altLang="en-US">
                <a:latin typeface="Times New Roman" panose="02020603050405020304" pitchFamily="18" charset="0"/>
                <a:ea typeface="楷体_GB2312" pitchFamily="49" charset="-122"/>
                <a:cs typeface="Times New Roman" panose="02020603050405020304" pitchFamily="18" charset="0"/>
              </a:rPr>
              <a:t>信号</a:t>
            </a:r>
            <a:endParaRPr lang="zh-CN" altLang="en-US">
              <a:latin typeface="Times New Roman" panose="02020603050405020304" pitchFamily="18" charset="0"/>
              <a:ea typeface="楷体_GB2312" pitchFamily="49" charset="-122"/>
              <a:cs typeface="Times New Roman" panose="02020603050405020304" pitchFamily="18" charset="0"/>
            </a:endParaRPr>
          </a:p>
          <a:p>
            <a:pPr eaLnBrk="1" hangingPunct="1">
              <a:spcBef>
                <a:spcPts val="300"/>
              </a:spcBef>
            </a:pPr>
            <a:r>
              <a:rPr lang="zh-CN" altLang="en-US">
                <a:latin typeface="Times New Roman" panose="02020603050405020304" pitchFamily="18" charset="0"/>
                <a:ea typeface="楷体_GB2312" pitchFamily="49" charset="-122"/>
                <a:cs typeface="Times New Roman" panose="02020603050405020304" pitchFamily="18" charset="0"/>
              </a:rPr>
              <a:t>调用</a:t>
            </a:r>
            <a:r>
              <a:rPr lang="en-US" altLang="zh-CN">
                <a:latin typeface="Times New Roman" panose="02020603050405020304" pitchFamily="18" charset="0"/>
                <a:ea typeface="楷体_GB2312" pitchFamily="49" charset="-122"/>
                <a:cs typeface="Times New Roman" panose="02020603050405020304" pitchFamily="18" charset="0"/>
              </a:rPr>
              <a:t>wait( )</a:t>
            </a:r>
            <a:r>
              <a:rPr lang="zh-CN" altLang="en-US">
                <a:latin typeface="Times New Roman" panose="02020603050405020304" pitchFamily="18" charset="0"/>
                <a:ea typeface="楷体_GB2312" pitchFamily="49" charset="-122"/>
                <a:cs typeface="Times New Roman" panose="02020603050405020304" pitchFamily="18" charset="0"/>
              </a:rPr>
              <a:t>和</a:t>
            </a:r>
            <a:r>
              <a:rPr lang="en-US" altLang="zh-CN">
                <a:latin typeface="Times New Roman" panose="02020603050405020304" pitchFamily="18" charset="0"/>
                <a:ea typeface="楷体_GB2312" pitchFamily="49" charset="-122"/>
                <a:cs typeface="Times New Roman" panose="02020603050405020304" pitchFamily="18" charset="0"/>
              </a:rPr>
              <a:t>waitpid( )</a:t>
            </a:r>
            <a:r>
              <a:rPr lang="zh-CN" altLang="en-US">
                <a:latin typeface="Times New Roman" panose="02020603050405020304" pitchFamily="18" charset="0"/>
                <a:ea typeface="楷体_GB2312" pitchFamily="49" charset="-122"/>
                <a:cs typeface="Times New Roman" panose="02020603050405020304" pitchFamily="18" charset="0"/>
              </a:rPr>
              <a:t>的进程的可能状态</a:t>
            </a:r>
            <a:endParaRPr lang="zh-CN" altLang="en-US">
              <a:latin typeface="Times New Roman" panose="02020603050405020304" pitchFamily="18" charset="0"/>
              <a:ea typeface="楷体_GB2312" pitchFamily="49" charset="-122"/>
              <a:cs typeface="Times New Roman" panose="02020603050405020304" pitchFamily="18" charset="0"/>
            </a:endParaRPr>
          </a:p>
          <a:p>
            <a:pPr lvl="1" eaLnBrk="1" hangingPunct="1">
              <a:spcBef>
                <a:spcPts val="300"/>
              </a:spcBef>
            </a:pPr>
            <a:r>
              <a:rPr lang="zh-CN" altLang="en-US">
                <a:latin typeface="Times New Roman" panose="02020603050405020304" pitchFamily="18" charset="0"/>
                <a:ea typeface="楷体_GB2312" pitchFamily="49" charset="-122"/>
                <a:cs typeface="Times New Roman" panose="02020603050405020304" pitchFamily="18" charset="0"/>
              </a:rPr>
              <a:t>阻塞</a:t>
            </a:r>
            <a:endParaRPr lang="en-US" altLang="zh-CN">
              <a:latin typeface="Times New Roman" panose="02020603050405020304" pitchFamily="18" charset="0"/>
              <a:ea typeface="楷体_GB2312" pitchFamily="49" charset="-122"/>
              <a:cs typeface="Times New Roman" panose="02020603050405020304" pitchFamily="18" charset="0"/>
            </a:endParaRPr>
          </a:p>
          <a:p>
            <a:pPr lvl="2" eaLnBrk="1" hangingPunct="1">
              <a:spcBef>
                <a:spcPts val="300"/>
              </a:spcBef>
            </a:pPr>
            <a:r>
              <a:rPr lang="zh-CN" altLang="en-US">
                <a:latin typeface="Times New Roman" panose="02020603050405020304" pitchFamily="18" charset="0"/>
                <a:ea typeface="楷体_GB2312" pitchFamily="49" charset="-122"/>
                <a:cs typeface="Times New Roman" panose="02020603050405020304" pitchFamily="18" charset="0"/>
              </a:rPr>
              <a:t>如果子进程还在运行</a:t>
            </a:r>
            <a:endParaRPr lang="zh-CN" altLang="en-US">
              <a:latin typeface="Times New Roman" panose="02020603050405020304" pitchFamily="18" charset="0"/>
              <a:ea typeface="楷体_GB2312" pitchFamily="49" charset="-122"/>
              <a:cs typeface="Times New Roman" panose="02020603050405020304" pitchFamily="18" charset="0"/>
            </a:endParaRPr>
          </a:p>
          <a:p>
            <a:pPr lvl="1" eaLnBrk="1" hangingPunct="1">
              <a:spcBef>
                <a:spcPts val="300"/>
              </a:spcBef>
            </a:pPr>
            <a:r>
              <a:rPr lang="zh-CN" altLang="en-US">
                <a:latin typeface="Times New Roman" panose="02020603050405020304" pitchFamily="18" charset="0"/>
                <a:ea typeface="楷体_GB2312" pitchFamily="49" charset="-122"/>
                <a:cs typeface="Times New Roman" panose="02020603050405020304" pitchFamily="18" charset="0"/>
              </a:rPr>
              <a:t>正常返回</a:t>
            </a:r>
            <a:endParaRPr lang="en-US" altLang="zh-CN">
              <a:latin typeface="Times New Roman" panose="02020603050405020304" pitchFamily="18" charset="0"/>
              <a:ea typeface="楷体_GB2312" pitchFamily="49" charset="-122"/>
              <a:cs typeface="Times New Roman" panose="02020603050405020304" pitchFamily="18" charset="0"/>
            </a:endParaRPr>
          </a:p>
          <a:p>
            <a:pPr lvl="2" eaLnBrk="1" hangingPunct="1">
              <a:spcBef>
                <a:spcPts val="300"/>
              </a:spcBef>
            </a:pPr>
            <a:r>
              <a:rPr lang="zh-CN" altLang="en-US">
                <a:latin typeface="Times New Roman" panose="02020603050405020304" pitchFamily="18" charset="0"/>
                <a:ea typeface="楷体_GB2312" pitchFamily="49" charset="-122"/>
                <a:cs typeface="Times New Roman" panose="02020603050405020304" pitchFamily="18" charset="0"/>
              </a:rPr>
              <a:t>返回子进程的终止状态（其中一个子进程终止</a:t>
            </a:r>
            <a:r>
              <a:rPr lang="en-US" altLang="zh-CN">
                <a:latin typeface="Times New Roman" panose="02020603050405020304" pitchFamily="18" charset="0"/>
                <a:ea typeface="楷体_GB2312" pitchFamily="49" charset="-122"/>
                <a:cs typeface="Times New Roman" panose="02020603050405020304" pitchFamily="18" charset="0"/>
              </a:rPr>
              <a:t>)</a:t>
            </a:r>
            <a:endParaRPr lang="en-US" altLang="zh-CN">
              <a:latin typeface="Times New Roman" panose="02020603050405020304" pitchFamily="18" charset="0"/>
              <a:ea typeface="楷体_GB2312" pitchFamily="49" charset="-122"/>
              <a:cs typeface="Times New Roman" panose="02020603050405020304" pitchFamily="18" charset="0"/>
            </a:endParaRPr>
          </a:p>
          <a:p>
            <a:pPr lvl="1" eaLnBrk="1" hangingPunct="1">
              <a:spcBef>
                <a:spcPts val="300"/>
              </a:spcBef>
            </a:pPr>
            <a:r>
              <a:rPr lang="zh-CN" altLang="en-US">
                <a:latin typeface="Times New Roman" panose="02020603050405020304" pitchFamily="18" charset="0"/>
                <a:ea typeface="楷体_GB2312" pitchFamily="49" charset="-122"/>
                <a:cs typeface="Times New Roman" panose="02020603050405020304" pitchFamily="18" charset="0"/>
              </a:rPr>
              <a:t>出错返回</a:t>
            </a:r>
            <a:endParaRPr lang="en-US" altLang="zh-CN">
              <a:latin typeface="Times New Roman" panose="02020603050405020304" pitchFamily="18" charset="0"/>
              <a:ea typeface="楷体_GB2312" pitchFamily="49" charset="-122"/>
              <a:cs typeface="Times New Roman" panose="02020603050405020304" pitchFamily="18" charset="0"/>
            </a:endParaRPr>
          </a:p>
          <a:p>
            <a:pPr lvl="2" eaLnBrk="1" hangingPunct="1">
              <a:spcBef>
                <a:spcPts val="300"/>
              </a:spcBef>
            </a:pPr>
            <a:r>
              <a:rPr lang="zh-CN" altLang="en-US">
                <a:latin typeface="Times New Roman" panose="02020603050405020304" pitchFamily="18" charset="0"/>
                <a:ea typeface="楷体_GB2312" pitchFamily="49" charset="-122"/>
                <a:cs typeface="Times New Roman" panose="02020603050405020304" pitchFamily="18" charset="0"/>
              </a:rPr>
              <a:t>没有子进程</a:t>
            </a:r>
            <a:endParaRPr lang="zh-CN" altLang="en-US">
              <a:latin typeface="Times New Roman" panose="02020603050405020304" pitchFamily="18" charset="0"/>
              <a:ea typeface="楷体_GB2312" pitchFamily="49" charset="-122"/>
              <a:cs typeface="Times New Roman" panose="02020603050405020304" pitchFamily="18" charset="0"/>
            </a:endParaRPr>
          </a:p>
        </p:txBody>
      </p:sp>
      <p:sp>
        <p:nvSpPr>
          <p:cNvPr id="5" name="Rectangle 6"/>
          <p:cNvSpPr>
            <a:spLocks noGrp="1" noChangeArrowheads="1"/>
          </p:cNvSpPr>
          <p:nvPr>
            <p:ph type="title"/>
          </p:nvPr>
        </p:nvSpPr>
        <p:spPr>
          <a:xfrm>
            <a:off x="611188" y="0"/>
            <a:ext cx="7632700" cy="609600"/>
          </a:xfrm>
          <a:noFill/>
        </p:spPr>
        <p:txBody>
          <a:bodyPr/>
          <a:lstStyle/>
          <a:p>
            <a:pPr eaLnBrk="1" hangingPunct="1"/>
            <a:br>
              <a:rPr lang="zh-CN" altLang="en-US" dirty="0">
                <a:latin typeface="Times New Roman" panose="02020603050405020304" pitchFamily="18" charset="0"/>
                <a:ea typeface="楷体_GB2312" pitchFamily="49" charset="-122"/>
                <a:cs typeface="Times New Roman" panose="02020603050405020304" pitchFamily="18" charset="0"/>
              </a:rPr>
            </a:br>
            <a:r>
              <a:rPr lang="en-US" altLang="zh-CN" dirty="0">
                <a:latin typeface="Times New Roman" panose="02020603050405020304" pitchFamily="18" charset="0"/>
                <a:ea typeface="楷体_GB2312" pitchFamily="49" charset="-122"/>
                <a:cs typeface="Times New Roman" panose="02020603050405020304" pitchFamily="18" charset="0"/>
              </a:rPr>
              <a:t>2.7 Linux</a:t>
            </a:r>
            <a:r>
              <a:rPr lang="zh-CN" altLang="en-US" dirty="0">
                <a:latin typeface="Times New Roman" panose="02020603050405020304" pitchFamily="18" charset="0"/>
                <a:ea typeface="楷体_GB2312" pitchFamily="49" charset="-122"/>
                <a:cs typeface="Times New Roman" panose="02020603050405020304" pitchFamily="18" charset="0"/>
              </a:rPr>
              <a:t>中的进程控制</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ransition>
    <p:wedge/>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noChangeArrowheads="1"/>
          </p:cNvSpPr>
          <p:nvPr>
            <p:ph type="body" idx="1"/>
          </p:nvPr>
        </p:nvSpPr>
        <p:spPr/>
        <p:txBody>
          <a:bodyPr/>
          <a:lstStyle/>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撤销时机</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主动撤销：执行完代码，通知内核释放进程的资源</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被动撤消：内核强迫杀死进程</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2"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进程接收到一个不能处理或忽视的信号</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2"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在内核态产生一个不可恢复的</a:t>
            </a:r>
            <a:r>
              <a:rPr lang="en-US" altLang="zh-CN" dirty="0">
                <a:latin typeface="Times New Roman" panose="02020603050405020304" pitchFamily="18" charset="0"/>
                <a:ea typeface="楷体_GB2312" pitchFamily="49" charset="-122"/>
                <a:cs typeface="Times New Roman" panose="02020603050405020304" pitchFamily="18" charset="0"/>
              </a:rPr>
              <a:t>CPU</a:t>
            </a:r>
            <a:r>
              <a:rPr lang="zh-CN" altLang="en-US" dirty="0">
                <a:latin typeface="Times New Roman" panose="02020603050405020304" pitchFamily="18" charset="0"/>
                <a:ea typeface="楷体_GB2312" pitchFamily="49" charset="-122"/>
                <a:cs typeface="Times New Roman" panose="02020603050405020304" pitchFamily="18" charset="0"/>
              </a:rPr>
              <a:t>异常，而内核此时正代表该进程在运行</a:t>
            </a: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撤消相关进程状态</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进程已死，但必须保存它的描述符，在得到通知后才可以删除</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僵死状态，表明进程已死，但需要等待父进程删除（如通过</a:t>
            </a:r>
            <a:r>
              <a:rPr lang="en-US" altLang="zh-CN" dirty="0">
                <a:latin typeface="Times New Roman" panose="02020603050405020304" pitchFamily="18" charset="0"/>
                <a:ea typeface="楷体_GB2312" pitchFamily="49" charset="-122"/>
                <a:cs typeface="Times New Roman" panose="02020603050405020304" pitchFamily="18" charset="0"/>
              </a:rPr>
              <a:t>wait()</a:t>
            </a:r>
            <a:r>
              <a:rPr lang="zh-CN" altLang="en-US" dirty="0">
                <a:latin typeface="Times New Roman" panose="02020603050405020304" pitchFamily="18" charset="0"/>
                <a:ea typeface="楷体_GB2312" pitchFamily="49" charset="-122"/>
                <a:cs typeface="Times New Roman" panose="02020603050405020304" pitchFamily="18" charset="0"/>
              </a:rPr>
              <a:t>）</a:t>
            </a:r>
            <a:endParaRPr lang="en-US" altLang="zh-CN" dirty="0">
              <a:latin typeface="Times New Roman" panose="02020603050405020304" pitchFamily="18" charset="0"/>
              <a:ea typeface="楷体_GB2312" pitchFamily="49" charset="-122"/>
              <a:cs typeface="Times New Roman" panose="02020603050405020304" pitchFamily="18" charset="0"/>
            </a:endParaRPr>
          </a:p>
        </p:txBody>
      </p:sp>
      <p:sp>
        <p:nvSpPr>
          <p:cNvPr id="5" name="Rectangle 6"/>
          <p:cNvSpPr>
            <a:spLocks noGrp="1" noChangeArrowheads="1"/>
          </p:cNvSpPr>
          <p:nvPr>
            <p:ph type="title"/>
          </p:nvPr>
        </p:nvSpPr>
        <p:spPr>
          <a:xfrm>
            <a:off x="611188" y="0"/>
            <a:ext cx="7632700" cy="609600"/>
          </a:xfrm>
          <a:noFill/>
        </p:spPr>
        <p:txBody>
          <a:bodyPr/>
          <a:lstStyle/>
          <a:p>
            <a:pPr eaLnBrk="1" hangingPunct="1"/>
            <a:br>
              <a:rPr lang="zh-CN" altLang="en-US" dirty="0">
                <a:latin typeface="Times New Roman" panose="02020603050405020304" pitchFamily="18" charset="0"/>
                <a:ea typeface="楷体_GB2312" pitchFamily="49" charset="-122"/>
                <a:cs typeface="Times New Roman" panose="02020603050405020304" pitchFamily="18" charset="0"/>
              </a:rPr>
            </a:br>
            <a:r>
              <a:rPr lang="en-US" altLang="zh-CN" dirty="0">
                <a:latin typeface="Times New Roman" panose="02020603050405020304" pitchFamily="18" charset="0"/>
                <a:ea typeface="楷体_GB2312" pitchFamily="49" charset="-122"/>
                <a:cs typeface="Times New Roman" panose="02020603050405020304" pitchFamily="18" charset="0"/>
              </a:rPr>
              <a:t>2.7 Linux</a:t>
            </a:r>
            <a:r>
              <a:rPr lang="zh-CN" altLang="en-US" dirty="0">
                <a:latin typeface="Times New Roman" panose="02020603050405020304" pitchFamily="18" charset="0"/>
                <a:ea typeface="楷体_GB2312" pitchFamily="49" charset="-122"/>
                <a:cs typeface="Times New Roman" panose="02020603050405020304" pitchFamily="18" charset="0"/>
              </a:rPr>
              <a:t>中的进程控制</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ransition>
    <p:wedge/>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p:cNvSpPr>
            <a:spLocks noGrp="1" noChangeArrowheads="1"/>
          </p:cNvSpPr>
          <p:nvPr>
            <p:ph type="body" idx="1"/>
          </p:nvPr>
        </p:nvSpPr>
        <p:spPr/>
        <p:txBody>
          <a:bodyPr/>
          <a:lstStyle/>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进程终止</a:t>
            </a:r>
            <a:endParaRPr lang="en-US" altLang="zh-CN"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释放进程占有的大部分资源</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进程终止的一般方式是</a:t>
            </a:r>
            <a:r>
              <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rPr>
              <a:t>exit()</a:t>
            </a:r>
            <a:r>
              <a:rPr lang="zh-CN" altLang="en-US" dirty="0">
                <a:latin typeface="Times New Roman" panose="02020603050405020304" pitchFamily="18" charset="0"/>
                <a:ea typeface="楷体_GB2312" pitchFamily="49" charset="-122"/>
                <a:cs typeface="Times New Roman" panose="02020603050405020304" pitchFamily="18" charset="0"/>
              </a:rPr>
              <a:t>或</a:t>
            </a:r>
            <a:r>
              <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rPr>
              <a:t>_exit()</a:t>
            </a:r>
            <a:r>
              <a:rPr lang="zh-CN" altLang="en-US" dirty="0">
                <a:latin typeface="Times New Roman" panose="02020603050405020304" pitchFamily="18" charset="0"/>
                <a:ea typeface="楷体_GB2312" pitchFamily="49" charset="-122"/>
                <a:cs typeface="Times New Roman" panose="02020603050405020304" pitchFamily="18" charset="0"/>
              </a:rPr>
              <a:t>系统调用</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2"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该系统调用可由编程者明确地在代码中插入</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2"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控制流到达主过程最后一条语句时，自动执行</a:t>
            </a:r>
            <a:r>
              <a:rPr lang="en-US" altLang="zh-CN" dirty="0">
                <a:latin typeface="Times New Roman" panose="02020603050405020304" pitchFamily="18" charset="0"/>
                <a:ea typeface="楷体_GB2312" pitchFamily="49" charset="-122"/>
                <a:cs typeface="Times New Roman" panose="02020603050405020304" pitchFamily="18" charset="0"/>
              </a:rPr>
              <a:t>exit()</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信号机制</a:t>
            </a: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进程删除 </a:t>
            </a:r>
            <a:endParaRPr lang="en-US" altLang="zh-CN"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彻底删除进程的所有数据结构</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父进程调用</a:t>
            </a:r>
            <a:r>
              <a:rPr lang="en-US" altLang="zh-CN" dirty="0">
                <a:latin typeface="Times New Roman" panose="02020603050405020304" pitchFamily="18" charset="0"/>
                <a:ea typeface="楷体_GB2312" pitchFamily="49" charset="-122"/>
                <a:cs typeface="Times New Roman" panose="02020603050405020304" pitchFamily="18" charset="0"/>
              </a:rPr>
              <a:t>wait()</a:t>
            </a:r>
            <a:r>
              <a:rPr lang="zh-CN" altLang="en-US" dirty="0">
                <a:latin typeface="Times New Roman" panose="02020603050405020304" pitchFamily="18" charset="0"/>
                <a:ea typeface="楷体_GB2312" pitchFamily="49" charset="-122"/>
                <a:cs typeface="Times New Roman" panose="02020603050405020304" pitchFamily="18" charset="0"/>
              </a:rPr>
              <a:t>类系统调用获知子进程合法终止后，即可删除该进程。</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
        <p:nvSpPr>
          <p:cNvPr id="5" name="Rectangle 6"/>
          <p:cNvSpPr>
            <a:spLocks noGrp="1" noChangeArrowheads="1"/>
          </p:cNvSpPr>
          <p:nvPr>
            <p:ph type="title"/>
          </p:nvPr>
        </p:nvSpPr>
        <p:spPr>
          <a:xfrm>
            <a:off x="611188" y="0"/>
            <a:ext cx="7632700" cy="609600"/>
          </a:xfrm>
          <a:noFill/>
        </p:spPr>
        <p:txBody>
          <a:bodyPr/>
          <a:lstStyle/>
          <a:p>
            <a:pPr eaLnBrk="1" hangingPunct="1"/>
            <a:br>
              <a:rPr lang="zh-CN" altLang="en-US" dirty="0">
                <a:latin typeface="Times New Roman" panose="02020603050405020304" pitchFamily="18" charset="0"/>
                <a:ea typeface="楷体_GB2312" pitchFamily="49" charset="-122"/>
                <a:cs typeface="Times New Roman" panose="02020603050405020304" pitchFamily="18" charset="0"/>
              </a:rPr>
            </a:br>
            <a:r>
              <a:rPr lang="en-US" altLang="zh-CN" dirty="0">
                <a:latin typeface="Times New Roman" panose="02020603050405020304" pitchFamily="18" charset="0"/>
                <a:ea typeface="楷体_GB2312" pitchFamily="49" charset="-122"/>
                <a:cs typeface="Times New Roman" panose="02020603050405020304" pitchFamily="18" charset="0"/>
              </a:rPr>
              <a:t>2.7 Linux</a:t>
            </a:r>
            <a:r>
              <a:rPr lang="zh-CN" altLang="en-US" dirty="0">
                <a:latin typeface="Times New Roman" panose="02020603050405020304" pitchFamily="18" charset="0"/>
                <a:ea typeface="楷体_GB2312" pitchFamily="49" charset="-122"/>
                <a:cs typeface="Times New Roman" panose="02020603050405020304" pitchFamily="18" charset="0"/>
              </a:rPr>
              <a:t>中的进程控制</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ransition>
    <p:wedge/>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type="body" idx="1"/>
          </p:nvPr>
        </p:nvSpPr>
        <p:spPr/>
        <p:txBody>
          <a:bodyPr/>
          <a:lstStyle/>
          <a:p>
            <a:pPr eaLnBrk="1" hangingPunct="1">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进程终止函数原型</a:t>
            </a: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sz="2000" dirty="0">
                <a:latin typeface="Times New Roman" panose="02020603050405020304" pitchFamily="18" charset="0"/>
                <a:ea typeface="楷体_GB2312" pitchFamily="49" charset="-122"/>
                <a:cs typeface="Times New Roman" panose="02020603050405020304" pitchFamily="18" charset="0"/>
              </a:rPr>
              <a:t>exit(</a:t>
            </a:r>
            <a:r>
              <a:rPr lang="en-US" altLang="zh-CN" sz="2000" dirty="0" err="1">
                <a:latin typeface="Times New Roman" panose="02020603050405020304" pitchFamily="18" charset="0"/>
                <a:ea typeface="楷体_GB2312" pitchFamily="49" charset="-122"/>
                <a:cs typeface="Times New Roman" panose="02020603050405020304" pitchFamily="18" charset="0"/>
              </a:rPr>
              <a:t>int</a:t>
            </a:r>
            <a:r>
              <a:rPr lang="en-US" altLang="zh-CN" sz="2000" dirty="0">
                <a:latin typeface="Times New Roman" panose="02020603050405020304" pitchFamily="18" charset="0"/>
                <a:ea typeface="楷体_GB2312" pitchFamily="49" charset="-122"/>
                <a:cs typeface="Times New Roman" panose="02020603050405020304" pitchFamily="18" charset="0"/>
              </a:rPr>
              <a:t> status)  </a:t>
            </a:r>
            <a:endParaRPr lang="en-US" altLang="zh-CN" sz="2000"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sz="2000" dirty="0">
                <a:latin typeface="Times New Roman" panose="02020603050405020304" pitchFamily="18" charset="0"/>
                <a:ea typeface="楷体_GB2312" pitchFamily="49" charset="-122"/>
                <a:cs typeface="Times New Roman" panose="02020603050405020304" pitchFamily="18" charset="0"/>
              </a:rPr>
              <a:t>_exit(</a:t>
            </a:r>
            <a:r>
              <a:rPr lang="en-US" altLang="zh-CN" sz="2000" dirty="0" err="1">
                <a:latin typeface="Times New Roman" panose="02020603050405020304" pitchFamily="18" charset="0"/>
                <a:ea typeface="楷体_GB2312" pitchFamily="49" charset="-122"/>
                <a:cs typeface="Times New Roman" panose="02020603050405020304" pitchFamily="18" charset="0"/>
              </a:rPr>
              <a:t>int</a:t>
            </a:r>
            <a:r>
              <a:rPr lang="en-US" altLang="zh-CN" sz="2000" dirty="0">
                <a:latin typeface="Times New Roman" panose="02020603050405020304" pitchFamily="18" charset="0"/>
                <a:ea typeface="楷体_GB2312" pitchFamily="49" charset="-122"/>
                <a:cs typeface="Times New Roman" panose="02020603050405020304" pitchFamily="18" charset="0"/>
              </a:rPr>
              <a:t> status) </a:t>
            </a:r>
            <a:endParaRPr lang="en-US" altLang="zh-CN" sz="20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en-US" altLang="zh-CN" sz="2400" dirty="0">
                <a:latin typeface="Times New Roman" panose="02020603050405020304" pitchFamily="18" charset="0"/>
                <a:ea typeface="楷体_GB2312" pitchFamily="49" charset="-122"/>
                <a:cs typeface="Times New Roman" panose="02020603050405020304" pitchFamily="18" charset="0"/>
              </a:rPr>
              <a:t>status</a:t>
            </a:r>
            <a:r>
              <a:rPr lang="zh-CN" altLang="en-US" sz="2400" dirty="0">
                <a:latin typeface="Times New Roman" panose="02020603050405020304" pitchFamily="18" charset="0"/>
                <a:ea typeface="楷体_GB2312" pitchFamily="49" charset="-122"/>
                <a:cs typeface="Times New Roman" panose="02020603050405020304" pitchFamily="18" charset="0"/>
              </a:rPr>
              <a:t>说明</a:t>
            </a: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sz="2000" dirty="0">
                <a:latin typeface="Times New Roman" panose="02020603050405020304" pitchFamily="18" charset="0"/>
                <a:ea typeface="楷体_GB2312" pitchFamily="49" charset="-122"/>
                <a:cs typeface="Times New Roman" panose="02020603050405020304" pitchFamily="18" charset="0"/>
              </a:rPr>
              <a:t>正常结束时返回</a:t>
            </a:r>
            <a:r>
              <a:rPr lang="en-US" altLang="zh-CN" sz="2000" dirty="0">
                <a:latin typeface="Times New Roman" panose="02020603050405020304" pitchFamily="18" charset="0"/>
                <a:ea typeface="楷体_GB2312" pitchFamily="49" charset="-122"/>
                <a:cs typeface="Times New Roman" panose="02020603050405020304" pitchFamily="18" charset="0"/>
              </a:rPr>
              <a:t>0</a:t>
            </a:r>
            <a:r>
              <a:rPr lang="zh-CN" altLang="en-US" sz="2000" dirty="0">
                <a:latin typeface="Times New Roman" panose="02020603050405020304" pitchFamily="18" charset="0"/>
                <a:ea typeface="楷体_GB2312" pitchFamily="49" charset="-122"/>
                <a:cs typeface="Times New Roman" panose="02020603050405020304" pitchFamily="18" charset="0"/>
              </a:rPr>
              <a:t>，否则表示出错信息</a:t>
            </a:r>
            <a:endParaRPr lang="zh-CN" altLang="en-US" sz="20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两函数共性</a:t>
            </a: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sz="2000" dirty="0">
                <a:latin typeface="Times New Roman" panose="02020603050405020304" pitchFamily="18" charset="0"/>
                <a:ea typeface="楷体_GB2312" pitchFamily="49" charset="-122"/>
                <a:cs typeface="Times New Roman" panose="02020603050405020304" pitchFamily="18" charset="0"/>
              </a:rPr>
              <a:t>都通过</a:t>
            </a:r>
            <a:r>
              <a:rPr lang="en-US" altLang="zh-CN" sz="2000" dirty="0" err="1">
                <a:solidFill>
                  <a:srgbClr val="FF0D0D"/>
                </a:solidFill>
                <a:latin typeface="Times New Roman" panose="02020603050405020304" pitchFamily="18" charset="0"/>
                <a:ea typeface="楷体_GB2312" pitchFamily="49" charset="-122"/>
                <a:cs typeface="Times New Roman" panose="02020603050405020304" pitchFamily="18" charset="0"/>
              </a:rPr>
              <a:t>do_exit</a:t>
            </a:r>
            <a:r>
              <a:rPr lang="en-US" altLang="zh-CN" sz="2000" dirty="0">
                <a:solidFill>
                  <a:srgbClr val="FF0D0D"/>
                </a:solidFill>
                <a:latin typeface="Times New Roman" panose="02020603050405020304" pitchFamily="18" charset="0"/>
                <a:ea typeface="楷体_GB2312" pitchFamily="49" charset="-122"/>
                <a:cs typeface="Times New Roman" panose="02020603050405020304" pitchFamily="18" charset="0"/>
              </a:rPr>
              <a:t>()</a:t>
            </a:r>
            <a:r>
              <a:rPr lang="en-US" altLang="zh-CN" sz="2000" dirty="0">
                <a:latin typeface="Times New Roman" panose="02020603050405020304" pitchFamily="18" charset="0"/>
                <a:ea typeface="楷体_GB2312" pitchFamily="49" charset="-122"/>
                <a:cs typeface="Times New Roman" panose="02020603050405020304" pitchFamily="18" charset="0"/>
              </a:rPr>
              <a:t> </a:t>
            </a:r>
            <a:r>
              <a:rPr lang="zh-CN" altLang="en-US" sz="2000" dirty="0">
                <a:latin typeface="Times New Roman" panose="02020603050405020304" pitchFamily="18" charset="0"/>
                <a:ea typeface="楷体_GB2312" pitchFamily="49" charset="-122"/>
                <a:cs typeface="Times New Roman" panose="02020603050405020304" pitchFamily="18" charset="0"/>
              </a:rPr>
              <a:t>系统调用</a:t>
            </a:r>
            <a:endParaRPr lang="zh-CN" altLang="en-US" sz="2000"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endParaRPr lang="zh-CN" altLang="en-US" sz="2000"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endParaRPr lang="zh-CN" altLang="en-US" sz="2000"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endParaRPr lang="zh-CN" altLang="en-US" sz="2000"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endParaRPr lang="zh-CN" altLang="en-US" sz="20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两函数区别</a:t>
            </a: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sz="2000" dirty="0">
                <a:latin typeface="Times New Roman" panose="02020603050405020304" pitchFamily="18" charset="0"/>
                <a:ea typeface="楷体_GB2312" pitchFamily="49" charset="-122"/>
                <a:cs typeface="Times New Roman" panose="02020603050405020304" pitchFamily="18" charset="0"/>
              </a:rPr>
              <a:t>_exit()</a:t>
            </a:r>
            <a:r>
              <a:rPr lang="zh-CN" altLang="en-US" sz="2000" dirty="0">
                <a:latin typeface="Times New Roman" panose="02020603050405020304" pitchFamily="18" charset="0"/>
                <a:ea typeface="楷体_GB2312" pitchFamily="49" charset="-122"/>
                <a:cs typeface="Times New Roman" panose="02020603050405020304" pitchFamily="18" charset="0"/>
              </a:rPr>
              <a:t>直接使进程停止工作，做清除和销毁工作</a:t>
            </a:r>
            <a:endParaRPr lang="zh-CN" altLang="en-US" sz="2000"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sz="2000" dirty="0">
                <a:latin typeface="Times New Roman" panose="02020603050405020304" pitchFamily="18" charset="0"/>
                <a:ea typeface="楷体_GB2312" pitchFamily="49" charset="-122"/>
                <a:cs typeface="Times New Roman" panose="02020603050405020304" pitchFamily="18" charset="0"/>
              </a:rPr>
              <a:t>exit()</a:t>
            </a:r>
            <a:r>
              <a:rPr lang="zh-CN" altLang="en-US" sz="2000" dirty="0">
                <a:latin typeface="Times New Roman" panose="02020603050405020304" pitchFamily="18" charset="0"/>
                <a:ea typeface="楷体_GB2312" pitchFamily="49" charset="-122"/>
                <a:cs typeface="Times New Roman" panose="02020603050405020304" pitchFamily="18" charset="0"/>
              </a:rPr>
              <a:t>在调用</a:t>
            </a:r>
            <a:r>
              <a:rPr lang="en-US" altLang="zh-CN" sz="2000" dirty="0" err="1">
                <a:latin typeface="Times New Roman" panose="02020603050405020304" pitchFamily="18" charset="0"/>
                <a:ea typeface="楷体_GB2312" pitchFamily="49" charset="-122"/>
                <a:cs typeface="Times New Roman" panose="02020603050405020304" pitchFamily="18" charset="0"/>
              </a:rPr>
              <a:t>do_exit</a:t>
            </a:r>
            <a:r>
              <a:rPr lang="en-US" altLang="zh-CN" sz="2000" dirty="0">
                <a:latin typeface="Times New Roman" panose="02020603050405020304" pitchFamily="18" charset="0"/>
                <a:ea typeface="楷体_GB2312" pitchFamily="49" charset="-122"/>
                <a:cs typeface="Times New Roman" panose="02020603050405020304" pitchFamily="18" charset="0"/>
              </a:rPr>
              <a:t>()</a:t>
            </a:r>
            <a:r>
              <a:rPr lang="zh-CN" altLang="en-US" sz="2000" dirty="0">
                <a:latin typeface="Times New Roman" panose="02020603050405020304" pitchFamily="18" charset="0"/>
                <a:ea typeface="楷体_GB2312" pitchFamily="49" charset="-122"/>
                <a:cs typeface="Times New Roman" panose="02020603050405020304" pitchFamily="18" charset="0"/>
              </a:rPr>
              <a:t>系统调用前检查文件打开情况，清理</a:t>
            </a:r>
            <a:r>
              <a:rPr lang="en-US" altLang="zh-CN" sz="2000" dirty="0">
                <a:latin typeface="Times New Roman" panose="02020603050405020304" pitchFamily="18" charset="0"/>
                <a:ea typeface="楷体_GB2312" pitchFamily="49" charset="-122"/>
                <a:cs typeface="Times New Roman" panose="02020603050405020304" pitchFamily="18" charset="0"/>
              </a:rPr>
              <a:t>I/O</a:t>
            </a:r>
            <a:r>
              <a:rPr lang="zh-CN" altLang="en-US" sz="2000" dirty="0">
                <a:latin typeface="Times New Roman" panose="02020603050405020304" pitchFamily="18" charset="0"/>
                <a:ea typeface="楷体_GB2312" pitchFamily="49" charset="-122"/>
                <a:cs typeface="Times New Roman" panose="02020603050405020304" pitchFamily="18" charset="0"/>
              </a:rPr>
              <a:t>缓冲</a:t>
            </a:r>
            <a:endParaRPr lang="zh-CN" altLang="en-US" sz="2000" dirty="0">
              <a:latin typeface="Times New Roman" panose="02020603050405020304" pitchFamily="18" charset="0"/>
              <a:ea typeface="楷体_GB2312" pitchFamily="49" charset="-122"/>
              <a:cs typeface="Times New Roman" panose="02020603050405020304" pitchFamily="18" charset="0"/>
            </a:endParaRPr>
          </a:p>
        </p:txBody>
      </p:sp>
      <p:pic>
        <p:nvPicPr>
          <p:cNvPr id="7172"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908175" y="4052888"/>
            <a:ext cx="6192838"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6"/>
          <p:cNvSpPr>
            <a:spLocks noGrp="1" noChangeArrowheads="1"/>
          </p:cNvSpPr>
          <p:nvPr>
            <p:ph type="title"/>
          </p:nvPr>
        </p:nvSpPr>
        <p:spPr>
          <a:xfrm>
            <a:off x="611188" y="0"/>
            <a:ext cx="7632700" cy="609600"/>
          </a:xfrm>
          <a:noFill/>
        </p:spPr>
        <p:txBody>
          <a:bodyPr/>
          <a:lstStyle/>
          <a:p>
            <a:pPr eaLnBrk="1" hangingPunct="1"/>
            <a:br>
              <a:rPr lang="zh-CN" altLang="en-US" dirty="0">
                <a:latin typeface="Times New Roman" panose="02020603050405020304" pitchFamily="18" charset="0"/>
                <a:ea typeface="楷体_GB2312" pitchFamily="49" charset="-122"/>
                <a:cs typeface="Times New Roman" panose="02020603050405020304" pitchFamily="18" charset="0"/>
              </a:rPr>
            </a:br>
            <a:r>
              <a:rPr lang="en-US" altLang="zh-CN" dirty="0">
                <a:latin typeface="Times New Roman" panose="02020603050405020304" pitchFamily="18" charset="0"/>
                <a:ea typeface="楷体_GB2312" pitchFamily="49" charset="-122"/>
                <a:cs typeface="Times New Roman" panose="02020603050405020304" pitchFamily="18" charset="0"/>
              </a:rPr>
              <a:t>2.7 Linux</a:t>
            </a:r>
            <a:r>
              <a:rPr lang="zh-CN" altLang="en-US" dirty="0">
                <a:latin typeface="Times New Roman" panose="02020603050405020304" pitchFamily="18" charset="0"/>
                <a:ea typeface="楷体_GB2312" pitchFamily="49" charset="-122"/>
                <a:cs typeface="Times New Roman" panose="02020603050405020304" pitchFamily="18" charset="0"/>
              </a:rPr>
              <a:t>中的进程控制</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ransition>
    <p:wedge/>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281782" y="980728"/>
            <a:ext cx="8291512" cy="5272087"/>
          </a:xfrm>
        </p:spPr>
        <p:txBody>
          <a:bodyPr/>
          <a:lstStyle/>
          <a:p>
            <a:pPr eaLnBrk="1" hangingPunct="1">
              <a:lnSpc>
                <a:spcPct val="110000"/>
              </a:lnSpc>
              <a:buFont typeface="Arial" panose="020B0604020202020204" pitchFamily="34" charset="0"/>
              <a:buChar char="•"/>
            </a:pPr>
            <a:r>
              <a:rPr lang="zh-CN" altLang="en-US" sz="2500" dirty="0">
                <a:latin typeface="Times New Roman" panose="02020603050405020304" pitchFamily="18" charset="0"/>
                <a:ea typeface="楷体_GB2312" pitchFamily="49" charset="-122"/>
                <a:cs typeface="Times New Roman" panose="02020603050405020304" pitchFamily="18" charset="0"/>
              </a:rPr>
              <a:t>进程终止时要作的几件事</a:t>
            </a:r>
            <a:endParaRPr lang="zh-CN" altLang="en-US" sz="2500" dirty="0">
              <a:latin typeface="Times New Roman" panose="02020603050405020304" pitchFamily="18" charset="0"/>
              <a:ea typeface="楷体_GB2312" pitchFamily="49" charset="-122"/>
              <a:cs typeface="Times New Roman" panose="02020603050405020304" pitchFamily="18" charset="0"/>
            </a:endParaRPr>
          </a:p>
          <a:p>
            <a:pPr lvl="1" eaLnBrk="1" hangingPunct="1">
              <a:lnSpc>
                <a:spcPct val="110000"/>
              </a:lnSpc>
              <a:buFont typeface="Arial" panose="020B0604020202020204" pitchFamily="34" charset="0"/>
              <a:buChar char="•"/>
            </a:pPr>
            <a:r>
              <a:rPr lang="zh-CN" altLang="en-US" sz="2500" dirty="0">
                <a:latin typeface="Times New Roman" panose="02020603050405020304" pitchFamily="18" charset="0"/>
                <a:ea typeface="楷体_GB2312" pitchFamily="49" charset="-122"/>
                <a:cs typeface="Times New Roman" panose="02020603050405020304" pitchFamily="18" charset="0"/>
              </a:rPr>
              <a:t>通知父进程自己将要终止，通常利用信号</a:t>
            </a:r>
            <a:r>
              <a:rPr lang="zh-CN" altLang="en-US" sz="2500" dirty="0">
                <a:solidFill>
                  <a:srgbClr val="FF0000"/>
                </a:solidFill>
                <a:latin typeface="Times New Roman" panose="02020603050405020304" pitchFamily="18" charset="0"/>
                <a:ea typeface="楷体_GB2312" pitchFamily="49" charset="-122"/>
                <a:cs typeface="Times New Roman" panose="02020603050405020304" pitchFamily="18" charset="0"/>
              </a:rPr>
              <a:t>通知</a:t>
            </a:r>
            <a:r>
              <a:rPr lang="zh-CN" altLang="en-US" sz="2500" dirty="0">
                <a:latin typeface="Times New Roman" panose="02020603050405020304" pitchFamily="18" charset="0"/>
                <a:ea typeface="楷体_GB2312" pitchFamily="49" charset="-122"/>
                <a:cs typeface="Times New Roman" panose="02020603050405020304" pitchFamily="18" charset="0"/>
              </a:rPr>
              <a:t>机制，这可以通过</a:t>
            </a:r>
            <a:r>
              <a:rPr lang="en-US" altLang="zh-CN" sz="2500" dirty="0">
                <a:latin typeface="Times New Roman" panose="02020603050405020304" pitchFamily="18" charset="0"/>
                <a:ea typeface="楷体_GB2312" pitchFamily="49" charset="-122"/>
                <a:cs typeface="Times New Roman" panose="02020603050405020304" pitchFamily="18" charset="0"/>
              </a:rPr>
              <a:t>exit</a:t>
            </a:r>
            <a:r>
              <a:rPr lang="zh-CN" altLang="en-US" sz="2500" dirty="0">
                <a:latin typeface="Times New Roman" panose="02020603050405020304" pitchFamily="18" charset="0"/>
                <a:ea typeface="楷体_GB2312" pitchFamily="49" charset="-122"/>
                <a:cs typeface="Times New Roman" panose="02020603050405020304" pitchFamily="18" charset="0"/>
              </a:rPr>
              <a:t>函数实现</a:t>
            </a:r>
            <a:endParaRPr lang="zh-CN" altLang="en-US" sz="2500" dirty="0">
              <a:latin typeface="Times New Roman" panose="02020603050405020304" pitchFamily="18" charset="0"/>
              <a:ea typeface="楷体_GB2312" pitchFamily="49" charset="-122"/>
              <a:cs typeface="Times New Roman" panose="02020603050405020304" pitchFamily="18" charset="0"/>
            </a:endParaRPr>
          </a:p>
          <a:p>
            <a:pPr lvl="1" eaLnBrk="1" hangingPunct="1">
              <a:lnSpc>
                <a:spcPct val="110000"/>
              </a:lnSpc>
              <a:buFont typeface="Arial" panose="020B0604020202020204" pitchFamily="34" charset="0"/>
              <a:buChar char="•"/>
            </a:pPr>
            <a:r>
              <a:rPr lang="zh-CN" altLang="en-US" sz="2500" dirty="0">
                <a:latin typeface="Times New Roman" panose="02020603050405020304" pitchFamily="18" charset="0"/>
                <a:ea typeface="楷体_GB2312" pitchFamily="49" charset="-122"/>
                <a:cs typeface="Times New Roman" panose="02020603050405020304" pitchFamily="18" charset="0"/>
              </a:rPr>
              <a:t>父进程要有相应的机制</a:t>
            </a:r>
            <a:r>
              <a:rPr lang="zh-CN" altLang="en-US" sz="2500" dirty="0">
                <a:solidFill>
                  <a:srgbClr val="FF0000"/>
                </a:solidFill>
                <a:latin typeface="Times New Roman" panose="02020603050405020304" pitchFamily="18" charset="0"/>
                <a:ea typeface="楷体_GB2312" pitchFamily="49" charset="-122"/>
                <a:cs typeface="Times New Roman" panose="02020603050405020304" pitchFamily="18" charset="0"/>
              </a:rPr>
              <a:t>响应</a:t>
            </a:r>
            <a:r>
              <a:rPr lang="zh-CN" altLang="en-US" sz="2500" dirty="0">
                <a:latin typeface="Times New Roman" panose="02020603050405020304" pitchFamily="18" charset="0"/>
                <a:ea typeface="楷体_GB2312" pitchFamily="49" charset="-122"/>
                <a:cs typeface="Times New Roman" panose="02020603050405020304" pitchFamily="18" charset="0"/>
              </a:rPr>
              <a:t>子进程的终止信号。通过信号处理程序和</a:t>
            </a:r>
            <a:r>
              <a:rPr lang="en-US" altLang="zh-CN" sz="2500" dirty="0">
                <a:solidFill>
                  <a:schemeClr val="tx1"/>
                </a:solidFill>
                <a:latin typeface="Times New Roman" panose="02020603050405020304" pitchFamily="18" charset="0"/>
                <a:ea typeface="楷体_GB2312" pitchFamily="49" charset="-122"/>
                <a:cs typeface="Times New Roman" panose="02020603050405020304" pitchFamily="18" charset="0"/>
              </a:rPr>
              <a:t>wait4()</a:t>
            </a:r>
            <a:r>
              <a:rPr lang="zh-CN" altLang="en-US" sz="2500" dirty="0">
                <a:latin typeface="Times New Roman" panose="02020603050405020304" pitchFamily="18" charset="0"/>
                <a:ea typeface="楷体_GB2312" pitchFamily="49" charset="-122"/>
                <a:cs typeface="Times New Roman" panose="02020603050405020304" pitchFamily="18" charset="0"/>
              </a:rPr>
              <a:t>函数实现</a:t>
            </a:r>
            <a:endParaRPr lang="zh-CN" altLang="en-US" sz="2500" dirty="0">
              <a:latin typeface="Times New Roman" panose="02020603050405020304" pitchFamily="18" charset="0"/>
              <a:ea typeface="楷体_GB2312" pitchFamily="49" charset="-122"/>
              <a:cs typeface="Times New Roman" panose="02020603050405020304" pitchFamily="18" charset="0"/>
            </a:endParaRPr>
          </a:p>
          <a:p>
            <a:pPr lvl="1" eaLnBrk="1" hangingPunct="1">
              <a:lnSpc>
                <a:spcPct val="110000"/>
              </a:lnSpc>
              <a:buFont typeface="Arial" panose="020B0604020202020204" pitchFamily="34" charset="0"/>
              <a:buChar char="•"/>
            </a:pPr>
            <a:r>
              <a:rPr lang="zh-CN" altLang="en-US" sz="2500" dirty="0">
                <a:latin typeface="Times New Roman" panose="02020603050405020304" pitchFamily="18" charset="0"/>
                <a:ea typeface="楷体_GB2312" pitchFamily="49" charset="-122"/>
                <a:cs typeface="Times New Roman" panose="02020603050405020304" pitchFamily="18" charset="0"/>
              </a:rPr>
              <a:t>当父进程在子进程前终止时，要为其找一个父进程，如</a:t>
            </a:r>
            <a:r>
              <a:rPr lang="en-US" altLang="zh-CN" sz="2500" dirty="0" err="1">
                <a:latin typeface="Times New Roman" panose="02020603050405020304" pitchFamily="18" charset="0"/>
                <a:ea typeface="楷体_GB2312" pitchFamily="49" charset="-122"/>
                <a:cs typeface="Times New Roman" panose="02020603050405020304" pitchFamily="18" charset="0"/>
              </a:rPr>
              <a:t>init</a:t>
            </a:r>
            <a:r>
              <a:rPr lang="zh-CN" altLang="en-US" sz="2500" dirty="0">
                <a:latin typeface="Times New Roman" panose="02020603050405020304" pitchFamily="18" charset="0"/>
                <a:ea typeface="楷体_GB2312" pitchFamily="49" charset="-122"/>
                <a:cs typeface="Times New Roman" panose="02020603050405020304" pitchFamily="18" charset="0"/>
              </a:rPr>
              <a:t>进程</a:t>
            </a:r>
            <a:endParaRPr lang="zh-CN" altLang="en-US" sz="2500" dirty="0">
              <a:latin typeface="Times New Roman" panose="02020603050405020304" pitchFamily="18" charset="0"/>
              <a:ea typeface="楷体_GB2312" pitchFamily="49" charset="-122"/>
              <a:cs typeface="Times New Roman" panose="02020603050405020304" pitchFamily="18" charset="0"/>
            </a:endParaRPr>
          </a:p>
          <a:p>
            <a:pPr eaLnBrk="1" hangingPunct="1">
              <a:lnSpc>
                <a:spcPct val="110000"/>
              </a:lnSpc>
              <a:buFont typeface="Arial" panose="020B0604020202020204" pitchFamily="34" charset="0"/>
              <a:buChar char="•"/>
            </a:pPr>
            <a:r>
              <a:rPr lang="zh-CN" altLang="en-US" sz="2500" dirty="0">
                <a:latin typeface="Times New Roman" panose="02020603050405020304" pitchFamily="18" charset="0"/>
                <a:ea typeface="楷体_GB2312" pitchFamily="49" charset="-122"/>
                <a:cs typeface="Times New Roman" panose="02020603050405020304" pitchFamily="18" charset="0"/>
              </a:rPr>
              <a:t>进程的终止分</a:t>
            </a:r>
            <a:r>
              <a:rPr lang="en-US" altLang="zh-CN" sz="2500" dirty="0">
                <a:latin typeface="Times New Roman" panose="02020603050405020304" pitchFamily="18" charset="0"/>
                <a:ea typeface="楷体_GB2312" pitchFamily="49" charset="-122"/>
                <a:cs typeface="Times New Roman" panose="02020603050405020304" pitchFamily="18" charset="0"/>
              </a:rPr>
              <a:t>2</a:t>
            </a:r>
            <a:r>
              <a:rPr lang="zh-CN" altLang="en-US" sz="2500" dirty="0">
                <a:latin typeface="Times New Roman" panose="02020603050405020304" pitchFamily="18" charset="0"/>
                <a:ea typeface="楷体_GB2312" pitchFamily="49" charset="-122"/>
                <a:cs typeface="Times New Roman" panose="02020603050405020304" pitchFamily="18" charset="0"/>
              </a:rPr>
              <a:t>步：</a:t>
            </a:r>
            <a:endParaRPr lang="zh-CN" altLang="en-US" sz="2500" dirty="0">
              <a:latin typeface="Times New Roman" panose="02020603050405020304" pitchFamily="18" charset="0"/>
              <a:ea typeface="楷体_GB2312" pitchFamily="49" charset="-122"/>
              <a:cs typeface="Times New Roman" panose="02020603050405020304" pitchFamily="18" charset="0"/>
            </a:endParaRPr>
          </a:p>
          <a:p>
            <a:pPr lvl="1" eaLnBrk="1" hangingPunct="1">
              <a:lnSpc>
                <a:spcPct val="110000"/>
              </a:lnSpc>
              <a:buFont typeface="Arial" panose="020B0604020202020204" pitchFamily="34" charset="0"/>
              <a:buChar char="•"/>
            </a:pPr>
            <a:r>
              <a:rPr lang="zh-CN" altLang="en-US" sz="2500" dirty="0">
                <a:latin typeface="Times New Roman" panose="02020603050405020304" pitchFamily="18" charset="0"/>
                <a:ea typeface="楷体_GB2312" pitchFamily="49" charset="-122"/>
                <a:cs typeface="Times New Roman" panose="02020603050405020304" pitchFamily="18" charset="0"/>
              </a:rPr>
              <a:t>自己调用函数</a:t>
            </a:r>
            <a:r>
              <a:rPr lang="en-US" altLang="zh-CN" sz="2500" dirty="0">
                <a:latin typeface="Times New Roman" panose="02020603050405020304" pitchFamily="18" charset="0"/>
                <a:ea typeface="楷体_GB2312" pitchFamily="49" charset="-122"/>
                <a:cs typeface="Times New Roman" panose="02020603050405020304" pitchFamily="18" charset="0"/>
              </a:rPr>
              <a:t>exit()</a:t>
            </a:r>
            <a:r>
              <a:rPr lang="zh-CN" altLang="en-US" sz="2500" dirty="0">
                <a:latin typeface="Times New Roman" panose="02020603050405020304" pitchFamily="18" charset="0"/>
                <a:ea typeface="楷体_GB2312" pitchFamily="49" charset="-122"/>
                <a:cs typeface="Times New Roman" panose="02020603050405020304" pitchFamily="18" charset="0"/>
              </a:rPr>
              <a:t>将自己的状态变为僵死状态，而后向父进程发送终止信号。</a:t>
            </a:r>
            <a:endParaRPr lang="zh-CN" altLang="en-US" sz="2500" dirty="0">
              <a:latin typeface="Times New Roman" panose="02020603050405020304" pitchFamily="18" charset="0"/>
              <a:ea typeface="楷体_GB2312" pitchFamily="49" charset="-122"/>
              <a:cs typeface="Times New Roman" panose="02020603050405020304" pitchFamily="18" charset="0"/>
            </a:endParaRPr>
          </a:p>
          <a:p>
            <a:pPr lvl="1" eaLnBrk="1" hangingPunct="1">
              <a:lnSpc>
                <a:spcPct val="110000"/>
              </a:lnSpc>
              <a:buFont typeface="Arial" panose="020B0604020202020204" pitchFamily="34" charset="0"/>
              <a:buChar char="•"/>
            </a:pPr>
            <a:r>
              <a:rPr lang="zh-CN" altLang="en-US" sz="2500" dirty="0">
                <a:latin typeface="Times New Roman" panose="02020603050405020304" pitchFamily="18" charset="0"/>
                <a:ea typeface="楷体_GB2312" pitchFamily="49" charset="-122"/>
                <a:cs typeface="Times New Roman" panose="02020603050405020304" pitchFamily="18" charset="0"/>
              </a:rPr>
              <a:t>由父进程调用</a:t>
            </a:r>
            <a:r>
              <a:rPr lang="en-US" altLang="zh-CN" sz="2500" dirty="0">
                <a:latin typeface="Times New Roman" panose="02020603050405020304" pitchFamily="18" charset="0"/>
                <a:ea typeface="楷体_GB2312" pitchFamily="49" charset="-122"/>
                <a:cs typeface="Times New Roman" panose="02020603050405020304" pitchFamily="18" charset="0"/>
              </a:rPr>
              <a:t>wait()</a:t>
            </a:r>
            <a:r>
              <a:rPr lang="zh-CN" altLang="en-US" sz="2500" dirty="0">
                <a:latin typeface="Times New Roman" panose="02020603050405020304" pitchFamily="18" charset="0"/>
                <a:ea typeface="楷体_GB2312" pitchFamily="49" charset="-122"/>
                <a:cs typeface="Times New Roman" panose="02020603050405020304" pitchFamily="18" charset="0"/>
              </a:rPr>
              <a:t>函数，回收僵死状态的子进程，将其从内存中彻底清除。</a:t>
            </a:r>
            <a:r>
              <a:rPr lang="zh-CN" altLang="en-US" sz="2500" dirty="0">
                <a:solidFill>
                  <a:srgbClr val="8B3A21"/>
                </a:solidFill>
                <a:latin typeface="Times New Roman" panose="02020603050405020304" pitchFamily="18" charset="0"/>
                <a:ea typeface="楷体_GB2312" pitchFamily="49" charset="-122"/>
                <a:cs typeface="Times New Roman" panose="02020603050405020304" pitchFamily="18" charset="0"/>
              </a:rPr>
              <a:t> </a:t>
            </a:r>
            <a:endParaRPr lang="zh-CN" altLang="en-US" sz="2500" b="0" dirty="0">
              <a:solidFill>
                <a:srgbClr val="2B5681"/>
              </a:solidFill>
              <a:latin typeface="Times New Roman" panose="02020603050405020304" pitchFamily="18" charset="0"/>
              <a:ea typeface="楷体_GB2312" pitchFamily="49" charset="-122"/>
              <a:cs typeface="Times New Roman" panose="02020603050405020304" pitchFamily="18" charset="0"/>
            </a:endParaRPr>
          </a:p>
        </p:txBody>
      </p:sp>
      <p:sp>
        <p:nvSpPr>
          <p:cNvPr id="5" name="Rectangle 6"/>
          <p:cNvSpPr>
            <a:spLocks noGrp="1" noChangeArrowheads="1"/>
          </p:cNvSpPr>
          <p:nvPr>
            <p:ph type="title"/>
          </p:nvPr>
        </p:nvSpPr>
        <p:spPr>
          <a:xfrm>
            <a:off x="611188" y="0"/>
            <a:ext cx="7632700" cy="609600"/>
          </a:xfrm>
          <a:noFill/>
        </p:spPr>
        <p:txBody>
          <a:bodyPr/>
          <a:lstStyle/>
          <a:p>
            <a:pPr eaLnBrk="1" hangingPunct="1"/>
            <a:br>
              <a:rPr lang="zh-CN" altLang="en-US" dirty="0">
                <a:latin typeface="Times New Roman" panose="02020603050405020304" pitchFamily="18" charset="0"/>
                <a:ea typeface="楷体_GB2312" pitchFamily="49" charset="-122"/>
                <a:cs typeface="Times New Roman" panose="02020603050405020304" pitchFamily="18" charset="0"/>
              </a:rPr>
            </a:br>
            <a:r>
              <a:rPr lang="en-US" altLang="zh-CN" dirty="0">
                <a:latin typeface="Times New Roman" panose="02020603050405020304" pitchFamily="18" charset="0"/>
                <a:ea typeface="楷体_GB2312" pitchFamily="49" charset="-122"/>
                <a:cs typeface="Times New Roman" panose="02020603050405020304" pitchFamily="18" charset="0"/>
              </a:rPr>
              <a:t>2.7 Linux</a:t>
            </a:r>
            <a:r>
              <a:rPr lang="zh-CN" altLang="en-US" dirty="0">
                <a:latin typeface="Times New Roman" panose="02020603050405020304" pitchFamily="18" charset="0"/>
                <a:ea typeface="楷体_GB2312" pitchFamily="49" charset="-122"/>
                <a:cs typeface="Times New Roman" panose="02020603050405020304" pitchFamily="18" charset="0"/>
              </a:rPr>
              <a:t>中的进程控制</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19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19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19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19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195">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19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type="body" idx="1"/>
          </p:nvPr>
        </p:nvSpPr>
        <p:spPr/>
        <p:txBody>
          <a:bodyPr/>
          <a:lstStyle/>
          <a:p>
            <a:pPr eaLnBrk="1" hangingPunct="1">
              <a:buFont typeface="Arial" panose="020B0604020202020204" pitchFamily="34" charset="0"/>
              <a:buChar char="•"/>
            </a:pPr>
            <a:r>
              <a:rPr lang="zh-CN" altLang="en-US" sz="2600" dirty="0">
                <a:solidFill>
                  <a:srgbClr val="FF0000"/>
                </a:solidFill>
                <a:latin typeface="Times New Roman" panose="02020603050405020304" pitchFamily="18" charset="0"/>
                <a:ea typeface="楷体_GB2312" pitchFamily="49" charset="-122"/>
                <a:cs typeface="Times New Roman" panose="02020603050405020304" pitchFamily="18" charset="0"/>
              </a:rPr>
              <a:t>进程终止的一般方式是</a:t>
            </a:r>
            <a:r>
              <a:rPr lang="en-US" altLang="zh-CN" sz="2600" dirty="0">
                <a:solidFill>
                  <a:srgbClr val="FF0000"/>
                </a:solidFill>
                <a:latin typeface="Times New Roman" panose="02020603050405020304" pitchFamily="18" charset="0"/>
                <a:ea typeface="楷体_GB2312" pitchFamily="49" charset="-122"/>
                <a:cs typeface="Times New Roman" panose="02020603050405020304" pitchFamily="18" charset="0"/>
              </a:rPr>
              <a:t>exit()</a:t>
            </a:r>
            <a:r>
              <a:rPr lang="zh-CN" altLang="en-US" sz="2600" dirty="0">
                <a:solidFill>
                  <a:srgbClr val="FF0000"/>
                </a:solidFill>
                <a:latin typeface="Times New Roman" panose="02020603050405020304" pitchFamily="18" charset="0"/>
                <a:ea typeface="楷体_GB2312" pitchFamily="49" charset="-122"/>
                <a:cs typeface="Times New Roman" panose="02020603050405020304" pitchFamily="18" charset="0"/>
              </a:rPr>
              <a:t>系统调用</a:t>
            </a:r>
            <a:endParaRPr lang="zh-CN" altLang="en-US" sz="2600" dirty="0">
              <a:solidFill>
                <a:srgbClr val="FF0000"/>
              </a:solidFill>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solidFill>
                  <a:srgbClr val="2B5681"/>
                </a:solidFill>
                <a:latin typeface="Times New Roman" panose="02020603050405020304" pitchFamily="18" charset="0"/>
                <a:ea typeface="楷体_GB2312" pitchFamily="49" charset="-122"/>
                <a:cs typeface="Times New Roman" panose="02020603050405020304" pitchFamily="18" charset="0"/>
              </a:rPr>
              <a:t>这个系统调用可能由编程者明确的在代码中插入</a:t>
            </a:r>
            <a:endParaRPr lang="zh-CN" altLang="en-US" dirty="0">
              <a:solidFill>
                <a:srgbClr val="2B5681"/>
              </a:solidFill>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solidFill>
                  <a:srgbClr val="2B5681"/>
                </a:solidFill>
                <a:latin typeface="Times New Roman" panose="02020603050405020304" pitchFamily="18" charset="0"/>
                <a:ea typeface="楷体_GB2312" pitchFamily="49" charset="-122"/>
                <a:cs typeface="Times New Roman" panose="02020603050405020304" pitchFamily="18" charset="0"/>
              </a:rPr>
              <a:t>另外，在控制流到达主过程</a:t>
            </a:r>
            <a:r>
              <a:rPr lang="en-US" altLang="zh-CN" dirty="0">
                <a:solidFill>
                  <a:srgbClr val="2B5681"/>
                </a:solidFill>
                <a:latin typeface="Times New Roman" panose="02020603050405020304" pitchFamily="18" charset="0"/>
                <a:ea typeface="楷体_GB2312" pitchFamily="49" charset="-122"/>
                <a:cs typeface="Times New Roman" panose="02020603050405020304" pitchFamily="18" charset="0"/>
              </a:rPr>
              <a:t>[C</a:t>
            </a:r>
            <a:r>
              <a:rPr lang="zh-CN" altLang="en-US" dirty="0">
                <a:solidFill>
                  <a:srgbClr val="2B5681"/>
                </a:solidFill>
                <a:latin typeface="Times New Roman" panose="02020603050405020304" pitchFamily="18" charset="0"/>
                <a:ea typeface="楷体_GB2312" pitchFamily="49" charset="-122"/>
                <a:cs typeface="Times New Roman" panose="02020603050405020304" pitchFamily="18" charset="0"/>
              </a:rPr>
              <a:t>中的</a:t>
            </a:r>
            <a:r>
              <a:rPr lang="en-US" altLang="zh-CN" dirty="0">
                <a:solidFill>
                  <a:srgbClr val="2B5681"/>
                </a:solidFill>
                <a:latin typeface="Times New Roman" panose="02020603050405020304" pitchFamily="18" charset="0"/>
                <a:ea typeface="楷体_GB2312" pitchFamily="49" charset="-122"/>
                <a:cs typeface="Times New Roman" panose="02020603050405020304" pitchFamily="18" charset="0"/>
              </a:rPr>
              <a:t>main()</a:t>
            </a:r>
            <a:r>
              <a:rPr lang="zh-CN" altLang="en-US" dirty="0">
                <a:solidFill>
                  <a:srgbClr val="2B5681"/>
                </a:solidFill>
                <a:latin typeface="Times New Roman" panose="02020603050405020304" pitchFamily="18" charset="0"/>
                <a:ea typeface="楷体_GB2312" pitchFamily="49" charset="-122"/>
                <a:cs typeface="Times New Roman" panose="02020603050405020304" pitchFamily="18" charset="0"/>
              </a:rPr>
              <a:t>函数</a:t>
            </a:r>
            <a:r>
              <a:rPr lang="en-US" altLang="zh-CN" dirty="0">
                <a:solidFill>
                  <a:srgbClr val="2B5681"/>
                </a:solidFill>
                <a:latin typeface="Times New Roman" panose="02020603050405020304" pitchFamily="18" charset="0"/>
                <a:ea typeface="楷体_GB2312" pitchFamily="49" charset="-122"/>
                <a:cs typeface="Times New Roman" panose="02020603050405020304" pitchFamily="18" charset="0"/>
              </a:rPr>
              <a:t>]</a:t>
            </a:r>
            <a:r>
              <a:rPr lang="zh-CN" altLang="en-US" dirty="0">
                <a:solidFill>
                  <a:srgbClr val="2B5681"/>
                </a:solidFill>
                <a:latin typeface="Times New Roman" panose="02020603050405020304" pitchFamily="18" charset="0"/>
                <a:ea typeface="楷体_GB2312" pitchFamily="49" charset="-122"/>
                <a:cs typeface="Times New Roman" panose="02020603050405020304" pitchFamily="18" charset="0"/>
              </a:rPr>
              <a:t>的最后一条语句时，执行</a:t>
            </a:r>
            <a:r>
              <a:rPr lang="en-US" altLang="zh-CN" dirty="0">
                <a:solidFill>
                  <a:srgbClr val="2B5681"/>
                </a:solidFill>
                <a:latin typeface="Times New Roman" panose="02020603050405020304" pitchFamily="18" charset="0"/>
                <a:ea typeface="楷体_GB2312" pitchFamily="49" charset="-122"/>
                <a:cs typeface="Times New Roman" panose="02020603050405020304" pitchFamily="18" charset="0"/>
              </a:rPr>
              <a:t>exit()</a:t>
            </a:r>
            <a:r>
              <a:rPr lang="zh-CN" altLang="en-US" dirty="0">
                <a:solidFill>
                  <a:srgbClr val="2B5681"/>
                </a:solidFill>
                <a:latin typeface="Times New Roman" panose="02020603050405020304" pitchFamily="18" charset="0"/>
                <a:ea typeface="楷体_GB2312" pitchFamily="49" charset="-122"/>
                <a:cs typeface="Times New Roman" panose="02020603050405020304" pitchFamily="18" charset="0"/>
              </a:rPr>
              <a:t>系统调用</a:t>
            </a:r>
            <a:endParaRPr lang="zh-CN" altLang="en-US" dirty="0">
              <a:solidFill>
                <a:srgbClr val="2B5681"/>
              </a:solidFill>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sz="2600" dirty="0">
                <a:solidFill>
                  <a:srgbClr val="FF0000"/>
                </a:solidFill>
                <a:latin typeface="Times New Roman" panose="02020603050405020304" pitchFamily="18" charset="0"/>
                <a:ea typeface="楷体_GB2312" pitchFamily="49" charset="-122"/>
                <a:cs typeface="Times New Roman" panose="02020603050405020304" pitchFamily="18" charset="0"/>
              </a:rPr>
              <a:t>内核可以强迫进程终止</a:t>
            </a:r>
            <a:endParaRPr lang="zh-CN" altLang="en-US" sz="2600" dirty="0">
              <a:solidFill>
                <a:srgbClr val="FF0000"/>
              </a:solidFill>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solidFill>
                  <a:srgbClr val="2B5681"/>
                </a:solidFill>
                <a:latin typeface="Times New Roman" panose="02020603050405020304" pitchFamily="18" charset="0"/>
                <a:ea typeface="楷体_GB2312" pitchFamily="49" charset="-122"/>
                <a:cs typeface="Times New Roman" panose="02020603050405020304" pitchFamily="18" charset="0"/>
              </a:rPr>
              <a:t>当进程接收到一个不能处理或忽视的信号时</a:t>
            </a:r>
            <a:endParaRPr lang="zh-CN" altLang="en-US" dirty="0">
              <a:solidFill>
                <a:srgbClr val="2B5681"/>
              </a:solidFill>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solidFill>
                  <a:srgbClr val="2B5681"/>
                </a:solidFill>
                <a:latin typeface="Times New Roman" panose="02020603050405020304" pitchFamily="18" charset="0"/>
                <a:ea typeface="楷体_GB2312" pitchFamily="49" charset="-122"/>
                <a:cs typeface="Times New Roman" panose="02020603050405020304" pitchFamily="18" charset="0"/>
              </a:rPr>
              <a:t>当在内核态产生一个不可恢复的</a:t>
            </a:r>
            <a:r>
              <a:rPr lang="en-US" altLang="zh-CN" dirty="0">
                <a:solidFill>
                  <a:srgbClr val="2B5681"/>
                </a:solidFill>
                <a:latin typeface="Times New Roman" panose="02020603050405020304" pitchFamily="18" charset="0"/>
                <a:ea typeface="楷体_GB2312" pitchFamily="49" charset="-122"/>
                <a:cs typeface="Times New Roman" panose="02020603050405020304" pitchFamily="18" charset="0"/>
              </a:rPr>
              <a:t>CPU</a:t>
            </a:r>
            <a:r>
              <a:rPr lang="zh-CN" altLang="en-US" dirty="0">
                <a:solidFill>
                  <a:srgbClr val="2B5681"/>
                </a:solidFill>
                <a:latin typeface="Times New Roman" panose="02020603050405020304" pitchFamily="18" charset="0"/>
                <a:ea typeface="楷体_GB2312" pitchFamily="49" charset="-122"/>
                <a:cs typeface="Times New Roman" panose="02020603050405020304" pitchFamily="18" charset="0"/>
              </a:rPr>
              <a:t>异常而内核此时正代表该进程在运行</a:t>
            </a:r>
            <a:endParaRPr lang="zh-CN" altLang="en-US" dirty="0">
              <a:solidFill>
                <a:srgbClr val="2B5681"/>
              </a:solidFill>
              <a:latin typeface="Times New Roman" panose="02020603050405020304" pitchFamily="18" charset="0"/>
              <a:ea typeface="楷体_GB2312" pitchFamily="49" charset="-122"/>
              <a:cs typeface="Times New Roman" panose="02020603050405020304" pitchFamily="18" charset="0"/>
            </a:endParaRPr>
          </a:p>
        </p:txBody>
      </p:sp>
      <p:sp>
        <p:nvSpPr>
          <p:cNvPr id="5" name="Rectangle 6"/>
          <p:cNvSpPr>
            <a:spLocks noGrp="1" noChangeArrowheads="1"/>
          </p:cNvSpPr>
          <p:nvPr>
            <p:ph type="title"/>
          </p:nvPr>
        </p:nvSpPr>
        <p:spPr>
          <a:xfrm>
            <a:off x="611188" y="0"/>
            <a:ext cx="7632700" cy="609600"/>
          </a:xfrm>
          <a:noFill/>
        </p:spPr>
        <p:txBody>
          <a:bodyPr/>
          <a:lstStyle/>
          <a:p>
            <a:pPr eaLnBrk="1" hangingPunct="1"/>
            <a:br>
              <a:rPr lang="zh-CN" altLang="en-US" dirty="0">
                <a:latin typeface="Times New Roman" panose="02020603050405020304" pitchFamily="18" charset="0"/>
                <a:ea typeface="楷体_GB2312" pitchFamily="49" charset="-122"/>
                <a:cs typeface="Times New Roman" panose="02020603050405020304" pitchFamily="18" charset="0"/>
              </a:rPr>
            </a:br>
            <a:r>
              <a:rPr lang="en-US" altLang="zh-CN" dirty="0">
                <a:latin typeface="Times New Roman" panose="02020603050405020304" pitchFamily="18" charset="0"/>
                <a:ea typeface="楷体_GB2312" pitchFamily="49" charset="-122"/>
                <a:cs typeface="Times New Roman" panose="02020603050405020304" pitchFamily="18" charset="0"/>
              </a:rPr>
              <a:t>2.7 Linux</a:t>
            </a:r>
            <a:r>
              <a:rPr lang="zh-CN" altLang="en-US" dirty="0">
                <a:latin typeface="Times New Roman" panose="02020603050405020304" pitchFamily="18" charset="0"/>
                <a:ea typeface="楷体_GB2312" pitchFamily="49" charset="-122"/>
                <a:cs typeface="Times New Roman" panose="02020603050405020304" pitchFamily="18" charset="0"/>
              </a:rPr>
              <a:t>中的进程控制</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type="body" idx="1"/>
          </p:nvPr>
        </p:nvSpPr>
        <p:spPr/>
        <p:txBody>
          <a:bodyPr/>
          <a:lstStyle/>
          <a:p>
            <a:pPr eaLnBrk="1" hangingPunct="1">
              <a:lnSpc>
                <a:spcPct val="90000"/>
              </a:lnSpc>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进程终止使用</a:t>
            </a:r>
            <a:r>
              <a:rPr lang="en-US" altLang="zh-CN" sz="2400" dirty="0">
                <a:latin typeface="Times New Roman" panose="02020603050405020304" pitchFamily="18" charset="0"/>
                <a:ea typeface="楷体_GB2312" pitchFamily="49" charset="-122"/>
                <a:cs typeface="Times New Roman" panose="02020603050405020304" pitchFamily="18" charset="0"/>
              </a:rPr>
              <a:t>exit</a:t>
            </a:r>
            <a:r>
              <a:rPr lang="zh-CN" altLang="en-US" sz="2400" dirty="0">
                <a:latin typeface="Times New Roman" panose="02020603050405020304" pitchFamily="18" charset="0"/>
                <a:ea typeface="楷体_GB2312" pitchFamily="49" charset="-122"/>
                <a:cs typeface="Times New Roman" panose="02020603050405020304" pitchFamily="18" charset="0"/>
              </a:rPr>
              <a:t>系统调用</a:t>
            </a: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eaLnBrk="1" hangingPunct="1">
              <a:lnSpc>
                <a:spcPct val="90000"/>
              </a:lnSpc>
              <a:buFont typeface="Arial" panose="020B0604020202020204" pitchFamily="34" charset="0"/>
              <a:buChar char="•"/>
            </a:pP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eaLnBrk="1" hangingPunct="1">
              <a:lnSpc>
                <a:spcPct val="90000"/>
              </a:lnSpc>
              <a:buFont typeface="Arial" panose="020B0604020202020204" pitchFamily="34" charset="0"/>
              <a:buChar char="•"/>
            </a:pP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eaLnBrk="1" hangingPunct="1">
              <a:lnSpc>
                <a:spcPct val="90000"/>
              </a:lnSpc>
              <a:buFont typeface="Arial" panose="020B0604020202020204" pitchFamily="34" charset="0"/>
              <a:buChar char="•"/>
            </a:pP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eaLnBrk="1" hangingPunct="1">
              <a:lnSpc>
                <a:spcPct val="90000"/>
              </a:lnSpc>
              <a:buFont typeface="Arial" panose="020B0604020202020204" pitchFamily="34" charset="0"/>
              <a:buChar char="•"/>
            </a:pP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eaLnBrk="1" hangingPunct="1">
              <a:lnSpc>
                <a:spcPct val="90000"/>
              </a:lnSpc>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删除进程</a:t>
            </a:r>
            <a:br>
              <a:rPr lang="zh-CN" altLang="en-US" sz="2400" dirty="0">
                <a:latin typeface="Times New Roman" panose="02020603050405020304" pitchFamily="18" charset="0"/>
                <a:ea typeface="楷体_GB2312" pitchFamily="49" charset="-122"/>
                <a:cs typeface="Times New Roman" panose="02020603050405020304" pitchFamily="18" charset="0"/>
              </a:rPr>
            </a:br>
            <a:r>
              <a:rPr lang="zh-CN" altLang="en-US" sz="2400" dirty="0">
                <a:latin typeface="Times New Roman" panose="02020603050405020304" pitchFamily="18" charset="0"/>
                <a:ea typeface="楷体_GB2312" pitchFamily="49" charset="-122"/>
                <a:cs typeface="Times New Roman" panose="02020603050405020304" pitchFamily="18" charset="0"/>
              </a:rPr>
              <a:t>在父进程调用</a:t>
            </a:r>
            <a:r>
              <a:rPr lang="en-US" altLang="zh-CN" sz="2400" dirty="0">
                <a:latin typeface="Times New Roman" panose="02020603050405020304" pitchFamily="18" charset="0"/>
                <a:ea typeface="楷体_GB2312" pitchFamily="49" charset="-122"/>
                <a:cs typeface="Times New Roman" panose="02020603050405020304" pitchFamily="18" charset="0"/>
              </a:rPr>
              <a:t>wait()</a:t>
            </a:r>
            <a:r>
              <a:rPr lang="zh-CN" altLang="en-US" sz="2400" dirty="0">
                <a:latin typeface="Times New Roman" panose="02020603050405020304" pitchFamily="18" charset="0"/>
                <a:ea typeface="楷体_GB2312" pitchFamily="49" charset="-122"/>
                <a:cs typeface="Times New Roman" panose="02020603050405020304" pitchFamily="18" charset="0"/>
              </a:rPr>
              <a:t>类系统调用检查子进程是否合法终止以后，就可以删除这个进程</a:t>
            </a: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eaLnBrk="1" hangingPunct="1">
              <a:lnSpc>
                <a:spcPct val="90000"/>
              </a:lnSpc>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若子进程包含终止代号，则父进程通过</a:t>
            </a:r>
            <a:r>
              <a:rPr lang="en-US" altLang="zh-CN" sz="2400" dirty="0">
                <a:latin typeface="Times New Roman" panose="02020603050405020304" pitchFamily="18" charset="0"/>
                <a:ea typeface="楷体_GB2312" pitchFamily="49" charset="-122"/>
                <a:cs typeface="Times New Roman" panose="02020603050405020304" pitchFamily="18" charset="0"/>
              </a:rPr>
              <a:t>release()</a:t>
            </a:r>
            <a:r>
              <a:rPr lang="zh-CN" altLang="en-US" sz="2400" dirty="0">
                <a:latin typeface="Times New Roman" panose="02020603050405020304" pitchFamily="18" charset="0"/>
                <a:ea typeface="楷体_GB2312" pitchFamily="49" charset="-122"/>
                <a:cs typeface="Times New Roman" panose="02020603050405020304" pitchFamily="18" charset="0"/>
              </a:rPr>
              <a:t>释放僵死进程的描述符</a:t>
            </a: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lvl="1" eaLnBrk="1" hangingPunct="1">
              <a:lnSpc>
                <a:spcPct val="90000"/>
              </a:lnSpc>
              <a:buFont typeface="Arial" panose="020B0604020202020204" pitchFamily="34" charset="0"/>
              <a:buChar char="•"/>
            </a:pPr>
            <a:r>
              <a:rPr lang="zh-CN" altLang="en-US" sz="2200" dirty="0">
                <a:latin typeface="Times New Roman" panose="02020603050405020304" pitchFamily="18" charset="0"/>
                <a:ea typeface="楷体_GB2312" pitchFamily="49" charset="-122"/>
                <a:cs typeface="Times New Roman" panose="02020603050405020304" pitchFamily="18" charset="0"/>
              </a:rPr>
              <a:t>释放进程</a:t>
            </a:r>
            <a:r>
              <a:rPr lang="en-US" altLang="zh-CN" sz="2200" dirty="0">
                <a:latin typeface="Times New Roman" panose="02020603050405020304" pitchFamily="18" charset="0"/>
                <a:ea typeface="楷体_GB2312" pitchFamily="49" charset="-122"/>
                <a:cs typeface="Times New Roman" panose="02020603050405020304" pitchFamily="18" charset="0"/>
              </a:rPr>
              <a:t>id</a:t>
            </a:r>
            <a:endParaRPr lang="en-US" altLang="zh-CN" sz="2200" dirty="0">
              <a:latin typeface="Times New Roman" panose="02020603050405020304" pitchFamily="18" charset="0"/>
              <a:ea typeface="楷体_GB2312" pitchFamily="49" charset="-122"/>
              <a:cs typeface="Times New Roman" panose="02020603050405020304" pitchFamily="18" charset="0"/>
            </a:endParaRPr>
          </a:p>
          <a:p>
            <a:pPr lvl="1" eaLnBrk="1" hangingPunct="1">
              <a:lnSpc>
                <a:spcPct val="90000"/>
              </a:lnSpc>
              <a:buFont typeface="Arial" panose="020B0604020202020204" pitchFamily="34" charset="0"/>
              <a:buChar char="•"/>
            </a:pPr>
            <a:r>
              <a:rPr lang="zh-CN" altLang="en-US" sz="2200" dirty="0">
                <a:latin typeface="Times New Roman" panose="02020603050405020304" pitchFamily="18" charset="0"/>
                <a:ea typeface="楷体_GB2312" pitchFamily="49" charset="-122"/>
                <a:cs typeface="Times New Roman" panose="02020603050405020304" pitchFamily="18" charset="0"/>
              </a:rPr>
              <a:t>从进程链表中删除进程描述符</a:t>
            </a:r>
            <a:endParaRPr lang="zh-CN" altLang="en-US" sz="2200" dirty="0">
              <a:latin typeface="Times New Roman" panose="02020603050405020304" pitchFamily="18" charset="0"/>
              <a:ea typeface="楷体_GB2312" pitchFamily="49" charset="-122"/>
              <a:cs typeface="Times New Roman" panose="02020603050405020304" pitchFamily="18" charset="0"/>
            </a:endParaRPr>
          </a:p>
          <a:p>
            <a:pPr lvl="1" eaLnBrk="1" hangingPunct="1">
              <a:lnSpc>
                <a:spcPct val="90000"/>
              </a:lnSpc>
              <a:buFont typeface="Arial" panose="020B0604020202020204" pitchFamily="34" charset="0"/>
              <a:buChar char="•"/>
            </a:pPr>
            <a:r>
              <a:rPr lang="zh-CN" altLang="en-US" sz="2200" dirty="0">
                <a:latin typeface="Times New Roman" panose="02020603050405020304" pitchFamily="18" charset="0"/>
                <a:ea typeface="楷体_GB2312" pitchFamily="49" charset="-122"/>
                <a:cs typeface="Times New Roman" panose="02020603050405020304" pitchFamily="18" charset="0"/>
              </a:rPr>
              <a:t>释放存放进程描述符的内存区</a:t>
            </a:r>
            <a:endParaRPr lang="zh-CN" altLang="en-US" sz="2200" dirty="0">
              <a:latin typeface="Times New Roman" panose="02020603050405020304" pitchFamily="18" charset="0"/>
              <a:ea typeface="楷体_GB2312" pitchFamily="49" charset="-122"/>
              <a:cs typeface="Times New Roman" panose="02020603050405020304" pitchFamily="18" charset="0"/>
            </a:endParaRPr>
          </a:p>
          <a:p>
            <a:pPr eaLnBrk="1" hangingPunct="1">
              <a:lnSpc>
                <a:spcPct val="90000"/>
              </a:lnSpc>
            </a:pPr>
            <a:endParaRPr lang="zh-CN" altLang="en-US" sz="2400" dirty="0">
              <a:latin typeface="Times New Roman" panose="02020603050405020304" pitchFamily="18" charset="0"/>
              <a:ea typeface="楷体_GB2312" pitchFamily="49" charset="-122"/>
              <a:cs typeface="Times New Roman" panose="02020603050405020304" pitchFamily="18" charset="0"/>
            </a:endParaRPr>
          </a:p>
        </p:txBody>
      </p:sp>
      <p:pic>
        <p:nvPicPr>
          <p:cNvPr id="11268"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76375" y="1557338"/>
            <a:ext cx="6192838"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6"/>
          <p:cNvSpPr>
            <a:spLocks noGrp="1" noChangeArrowheads="1"/>
          </p:cNvSpPr>
          <p:nvPr>
            <p:ph type="title"/>
          </p:nvPr>
        </p:nvSpPr>
        <p:spPr>
          <a:xfrm>
            <a:off x="611188" y="0"/>
            <a:ext cx="7632700" cy="609600"/>
          </a:xfrm>
          <a:noFill/>
        </p:spPr>
        <p:txBody>
          <a:bodyPr/>
          <a:lstStyle/>
          <a:p>
            <a:pPr eaLnBrk="1" hangingPunct="1"/>
            <a:br>
              <a:rPr lang="zh-CN" altLang="en-US" dirty="0">
                <a:latin typeface="Times New Roman" panose="02020603050405020304" pitchFamily="18" charset="0"/>
                <a:ea typeface="楷体_GB2312" pitchFamily="49" charset="-122"/>
                <a:cs typeface="Times New Roman" panose="02020603050405020304" pitchFamily="18" charset="0"/>
              </a:rPr>
            </a:br>
            <a:r>
              <a:rPr lang="en-US" altLang="zh-CN" dirty="0">
                <a:latin typeface="Times New Roman" panose="02020603050405020304" pitchFamily="18" charset="0"/>
                <a:ea typeface="楷体_GB2312" pitchFamily="49" charset="-122"/>
                <a:cs typeface="Times New Roman" panose="02020603050405020304" pitchFamily="18" charset="0"/>
              </a:rPr>
              <a:t>2.7 Linux</a:t>
            </a:r>
            <a:r>
              <a:rPr lang="zh-CN" altLang="en-US" dirty="0">
                <a:latin typeface="Times New Roman" panose="02020603050405020304" pitchFamily="18" charset="0"/>
                <a:ea typeface="楷体_GB2312" pitchFamily="49" charset="-122"/>
                <a:cs typeface="Times New Roman" panose="02020603050405020304" pitchFamily="18" charset="0"/>
              </a:rPr>
              <a:t>中的进程控制</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Grp="1" noChangeArrowheads="1"/>
          </p:cNvSpPr>
          <p:nvPr>
            <p:ph type="body" idx="1"/>
          </p:nvPr>
        </p:nvSpPr>
        <p:spPr>
          <a:xfrm>
            <a:off x="395288" y="1052513"/>
            <a:ext cx="8641208" cy="5272087"/>
          </a:xfrm>
        </p:spPr>
        <p:txBody>
          <a:bodyPr/>
          <a:lstStyle/>
          <a:p>
            <a:pPr eaLnBrk="1" hangingPunct="1">
              <a:buFont typeface="Arial" panose="020B0604020202020204" pitchFamily="34" charset="0"/>
              <a:buChar char="•"/>
            </a:pPr>
            <a:r>
              <a:rPr lang="en-US" altLang="zh-CN" sz="2400" dirty="0">
                <a:latin typeface="Times New Roman" panose="02020603050405020304" pitchFamily="18" charset="0"/>
                <a:ea typeface="楷体_GB2312" pitchFamily="49" charset="-122"/>
                <a:cs typeface="Times New Roman" panose="02020603050405020304" pitchFamily="18" charset="0"/>
              </a:rPr>
              <a:t>C</a:t>
            </a:r>
            <a:r>
              <a:rPr lang="zh-CN" altLang="en-US" sz="2400" dirty="0">
                <a:latin typeface="Times New Roman" panose="02020603050405020304" pitchFamily="18" charset="0"/>
                <a:ea typeface="楷体_GB2312" pitchFamily="49" charset="-122"/>
                <a:cs typeface="Times New Roman" panose="02020603050405020304" pitchFamily="18" charset="0"/>
              </a:rPr>
              <a:t>编译程序总是把</a:t>
            </a:r>
            <a:r>
              <a:rPr lang="en-US" altLang="zh-CN" sz="2400" dirty="0">
                <a:latin typeface="Times New Roman" panose="02020603050405020304" pitchFamily="18" charset="0"/>
                <a:ea typeface="楷体_GB2312" pitchFamily="49" charset="-122"/>
                <a:cs typeface="Times New Roman" panose="02020603050405020304" pitchFamily="18" charset="0"/>
              </a:rPr>
              <a:t>exit()</a:t>
            </a:r>
            <a:r>
              <a:rPr lang="zh-CN" altLang="en-US" sz="2400" dirty="0">
                <a:latin typeface="Times New Roman" panose="02020603050405020304" pitchFamily="18" charset="0"/>
                <a:ea typeface="楷体_GB2312" pitchFamily="49" charset="-122"/>
                <a:cs typeface="Times New Roman" panose="02020603050405020304" pitchFamily="18" charset="0"/>
              </a:rPr>
              <a:t>插入到</a:t>
            </a:r>
            <a:r>
              <a:rPr lang="en-US" altLang="zh-CN" sz="2400" dirty="0">
                <a:latin typeface="Times New Roman" panose="02020603050405020304" pitchFamily="18" charset="0"/>
                <a:ea typeface="楷体_GB2312" pitchFamily="49" charset="-122"/>
                <a:cs typeface="Times New Roman" panose="02020603050405020304" pitchFamily="18" charset="0"/>
              </a:rPr>
              <a:t>main()</a:t>
            </a:r>
            <a:r>
              <a:rPr lang="zh-CN" altLang="en-US" sz="2400" dirty="0">
                <a:latin typeface="Times New Roman" panose="02020603050405020304" pitchFamily="18" charset="0"/>
                <a:ea typeface="楷体_GB2312" pitchFamily="49" charset="-122"/>
                <a:cs typeface="Times New Roman" panose="02020603050405020304" pitchFamily="18" charset="0"/>
              </a:rPr>
              <a:t>的最后一条语句之后，</a:t>
            </a:r>
            <a:r>
              <a:rPr lang="en-US" altLang="zh-CN" sz="2400" dirty="0">
                <a:latin typeface="Times New Roman" panose="02020603050405020304" pitchFamily="18" charset="0"/>
                <a:ea typeface="楷体_GB2312" pitchFamily="49" charset="-122"/>
                <a:cs typeface="Times New Roman" panose="02020603050405020304" pitchFamily="18" charset="0"/>
              </a:rPr>
              <a:t>exit()</a:t>
            </a:r>
            <a:r>
              <a:rPr lang="zh-CN" altLang="en-US" sz="2400" dirty="0">
                <a:latin typeface="Times New Roman" panose="02020603050405020304" pitchFamily="18" charset="0"/>
                <a:ea typeface="楷体_GB2312" pitchFamily="49" charset="-122"/>
                <a:cs typeface="Times New Roman" panose="02020603050405020304" pitchFamily="18" charset="0"/>
              </a:rPr>
              <a:t>调用</a:t>
            </a:r>
            <a:r>
              <a:rPr lang="en-US" altLang="zh-CN" sz="2400" dirty="0">
                <a:latin typeface="Times New Roman" panose="02020603050405020304" pitchFamily="18" charset="0"/>
                <a:ea typeface="楷体_GB2312" pitchFamily="49" charset="-122"/>
                <a:cs typeface="Times New Roman" panose="02020603050405020304" pitchFamily="18" charset="0"/>
              </a:rPr>
              <a:t>_exit()</a:t>
            </a:r>
            <a:r>
              <a:rPr lang="zh-CN" altLang="en-US" sz="2400" dirty="0">
                <a:latin typeface="Times New Roman" panose="02020603050405020304" pitchFamily="18" charset="0"/>
                <a:ea typeface="楷体_GB2312" pitchFamily="49" charset="-122"/>
                <a:cs typeface="Times New Roman" panose="02020603050405020304" pitchFamily="18" charset="0"/>
              </a:rPr>
              <a:t>系统调用</a:t>
            </a:r>
            <a:r>
              <a:rPr lang="en-US" altLang="zh-CN" sz="2400" dirty="0">
                <a:latin typeface="Times New Roman" panose="02020603050405020304" pitchFamily="18" charset="0"/>
                <a:ea typeface="楷体_GB2312" pitchFamily="49" charset="-122"/>
                <a:cs typeface="Times New Roman" panose="02020603050405020304" pitchFamily="18" charset="0"/>
              </a:rPr>
              <a:t>(kernel/</a:t>
            </a:r>
            <a:r>
              <a:rPr lang="en-US" altLang="zh-CN" sz="2400" dirty="0" err="1">
                <a:latin typeface="Times New Roman" panose="02020603050405020304" pitchFamily="18" charset="0"/>
                <a:ea typeface="楷体_GB2312" pitchFamily="49" charset="-122"/>
                <a:cs typeface="Times New Roman" panose="02020603050405020304" pitchFamily="18" charset="0"/>
              </a:rPr>
              <a:t>exit.c</a:t>
            </a:r>
            <a:r>
              <a:rPr lang="zh-CN" altLang="en-US" sz="2400" dirty="0">
                <a:latin typeface="Times New Roman" panose="02020603050405020304" pitchFamily="18" charset="0"/>
                <a:ea typeface="楷体_GB2312" pitchFamily="49" charset="-122"/>
                <a:cs typeface="Times New Roman" panose="02020603050405020304" pitchFamily="18" charset="0"/>
              </a:rPr>
              <a:t>中</a:t>
            </a:r>
            <a:r>
              <a:rPr lang="en-US" altLang="zh-CN" sz="2400" dirty="0">
                <a:latin typeface="Times New Roman" panose="02020603050405020304" pitchFamily="18" charset="0"/>
                <a:ea typeface="楷体_GB2312" pitchFamily="49" charset="-122"/>
                <a:cs typeface="Times New Roman" panose="02020603050405020304" pitchFamily="18" charset="0"/>
              </a:rPr>
              <a:t>)</a:t>
            </a:r>
            <a:endParaRPr lang="en-US" altLang="zh-CN" sz="24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en-US" altLang="zh-CN" sz="2400" dirty="0">
                <a:latin typeface="Times New Roman" panose="02020603050405020304" pitchFamily="18" charset="0"/>
                <a:ea typeface="楷体_GB2312" pitchFamily="49" charset="-122"/>
                <a:cs typeface="Times New Roman" panose="02020603050405020304" pitchFamily="18" charset="0"/>
              </a:rPr>
              <a:t>_exit() </a:t>
            </a:r>
            <a:r>
              <a:rPr lang="zh-CN" altLang="en-US" sz="2400" dirty="0">
                <a:latin typeface="Times New Roman" panose="02020603050405020304" pitchFamily="18" charset="0"/>
                <a:ea typeface="楷体_GB2312" pitchFamily="49" charset="-122"/>
                <a:cs typeface="Times New Roman" panose="02020603050405020304" pitchFamily="18" charset="0"/>
              </a:rPr>
              <a:t>调用</a:t>
            </a:r>
            <a:r>
              <a:rPr lang="en-US" altLang="zh-CN" sz="2400" dirty="0" err="1">
                <a:latin typeface="Times New Roman" panose="02020603050405020304" pitchFamily="18" charset="0"/>
                <a:ea typeface="楷体_GB2312" pitchFamily="49" charset="-122"/>
                <a:cs typeface="Times New Roman" panose="02020603050405020304" pitchFamily="18" charset="0"/>
              </a:rPr>
              <a:t>do_exit</a:t>
            </a:r>
            <a:r>
              <a:rPr lang="en-US" altLang="zh-CN" sz="2400" dirty="0">
                <a:latin typeface="Times New Roman" panose="02020603050405020304" pitchFamily="18" charset="0"/>
                <a:ea typeface="楷体_GB2312" pitchFamily="49" charset="-122"/>
                <a:cs typeface="Times New Roman" panose="02020603050405020304" pitchFamily="18" charset="0"/>
              </a:rPr>
              <a:t>()</a:t>
            </a:r>
            <a:r>
              <a:rPr lang="zh-CN" altLang="en-US" sz="2400" dirty="0">
                <a:latin typeface="Times New Roman" panose="02020603050405020304" pitchFamily="18" charset="0"/>
                <a:ea typeface="楷体_GB2312" pitchFamily="49" charset="-122"/>
                <a:cs typeface="Times New Roman" panose="02020603050405020304" pitchFamily="18" charset="0"/>
              </a:rPr>
              <a:t>释放进程所占资源，终止进程</a:t>
            </a: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函数</a:t>
            </a:r>
            <a:r>
              <a:rPr lang="en-US" altLang="zh-CN" sz="2400" dirty="0" err="1">
                <a:latin typeface="Times New Roman" panose="02020603050405020304" pitchFamily="18" charset="0"/>
                <a:ea typeface="楷体_GB2312" pitchFamily="49" charset="-122"/>
                <a:cs typeface="Times New Roman" panose="02020603050405020304" pitchFamily="18" charset="0"/>
              </a:rPr>
              <a:t>do_exit</a:t>
            </a:r>
            <a:r>
              <a:rPr lang="en-US" altLang="zh-CN" sz="2400" dirty="0">
                <a:latin typeface="Times New Roman" panose="02020603050405020304" pitchFamily="18" charset="0"/>
                <a:ea typeface="楷体_GB2312" pitchFamily="49" charset="-122"/>
                <a:cs typeface="Times New Roman" panose="02020603050405020304" pitchFamily="18" charset="0"/>
              </a:rPr>
              <a:t>()</a:t>
            </a:r>
            <a:r>
              <a:rPr lang="zh-CN" altLang="en-US" sz="2400" dirty="0">
                <a:latin typeface="Times New Roman" panose="02020603050405020304" pitchFamily="18" charset="0"/>
                <a:ea typeface="楷体_GB2312" pitchFamily="49" charset="-122"/>
                <a:cs typeface="Times New Roman" panose="02020603050405020304" pitchFamily="18" charset="0"/>
              </a:rPr>
              <a:t>释放进程占用的大部分资源</a:t>
            </a: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sz="2200" dirty="0" err="1">
                <a:latin typeface="Times New Roman" panose="02020603050405020304" pitchFamily="18" charset="0"/>
                <a:ea typeface="楷体_GB2312" pitchFamily="49" charset="-122"/>
                <a:cs typeface="Times New Roman" panose="02020603050405020304" pitchFamily="18" charset="0"/>
              </a:rPr>
              <a:t>do_exit</a:t>
            </a:r>
            <a:r>
              <a:rPr lang="en-US" altLang="zh-CN" sz="2200" dirty="0">
                <a:latin typeface="Times New Roman" panose="02020603050405020304" pitchFamily="18" charset="0"/>
                <a:ea typeface="楷体_GB2312" pitchFamily="49" charset="-122"/>
                <a:cs typeface="Times New Roman" panose="02020603050405020304" pitchFamily="18" charset="0"/>
              </a:rPr>
              <a:t>()</a:t>
            </a:r>
            <a:r>
              <a:rPr lang="zh-CN" altLang="en-US" sz="2200" dirty="0">
                <a:latin typeface="Times New Roman" panose="02020603050405020304" pitchFamily="18" charset="0"/>
                <a:ea typeface="楷体_GB2312" pitchFamily="49" charset="-122"/>
                <a:cs typeface="Times New Roman" panose="02020603050405020304" pitchFamily="18" charset="0"/>
              </a:rPr>
              <a:t>调用</a:t>
            </a:r>
            <a:r>
              <a:rPr lang="en-US" altLang="zh-CN" sz="2200" dirty="0">
                <a:latin typeface="Times New Roman" panose="02020603050405020304" pitchFamily="18" charset="0"/>
                <a:ea typeface="楷体_GB2312" pitchFamily="49" charset="-122"/>
                <a:cs typeface="Times New Roman" panose="02020603050405020304" pitchFamily="18" charset="0"/>
              </a:rPr>
              <a:t>__</a:t>
            </a:r>
            <a:r>
              <a:rPr lang="en-US" altLang="zh-CN" sz="2200" dirty="0" err="1">
                <a:latin typeface="Times New Roman" panose="02020603050405020304" pitchFamily="18" charset="0"/>
                <a:ea typeface="楷体_GB2312" pitchFamily="49" charset="-122"/>
                <a:cs typeface="Times New Roman" panose="02020603050405020304" pitchFamily="18" charset="0"/>
              </a:rPr>
              <a:t>exit_mm</a:t>
            </a:r>
            <a:r>
              <a:rPr lang="en-US" altLang="zh-CN" sz="2200" dirty="0">
                <a:latin typeface="Times New Roman" panose="02020603050405020304" pitchFamily="18" charset="0"/>
                <a:ea typeface="楷体_GB2312" pitchFamily="49" charset="-122"/>
                <a:cs typeface="Times New Roman" panose="02020603050405020304" pitchFamily="18" charset="0"/>
              </a:rPr>
              <a:t>(),__</a:t>
            </a:r>
            <a:r>
              <a:rPr lang="en-US" altLang="zh-CN" sz="2200" dirty="0" err="1">
                <a:latin typeface="Times New Roman" panose="02020603050405020304" pitchFamily="18" charset="0"/>
                <a:ea typeface="楷体_GB2312" pitchFamily="49" charset="-122"/>
                <a:cs typeface="Times New Roman" panose="02020603050405020304" pitchFamily="18" charset="0"/>
              </a:rPr>
              <a:t>exit_files</a:t>
            </a:r>
            <a:r>
              <a:rPr lang="en-US" altLang="zh-CN" sz="2200" dirty="0">
                <a:latin typeface="Times New Roman" panose="02020603050405020304" pitchFamily="18" charset="0"/>
                <a:ea typeface="楷体_GB2312" pitchFamily="49" charset="-122"/>
                <a:cs typeface="Times New Roman" panose="02020603050405020304" pitchFamily="18" charset="0"/>
              </a:rPr>
              <a:t>(),__</a:t>
            </a:r>
            <a:r>
              <a:rPr lang="en-US" altLang="zh-CN" sz="2200" dirty="0" err="1">
                <a:latin typeface="Times New Roman" panose="02020603050405020304" pitchFamily="18" charset="0"/>
                <a:ea typeface="楷体_GB2312" pitchFamily="49" charset="-122"/>
                <a:cs typeface="Times New Roman" panose="02020603050405020304" pitchFamily="18" charset="0"/>
              </a:rPr>
              <a:t>exit_fs</a:t>
            </a:r>
            <a:r>
              <a:rPr lang="en-US" altLang="zh-CN" sz="2200" dirty="0">
                <a:latin typeface="Times New Roman" panose="02020603050405020304" pitchFamily="18" charset="0"/>
                <a:ea typeface="楷体_GB2312" pitchFamily="49" charset="-122"/>
                <a:cs typeface="Times New Roman" panose="02020603050405020304" pitchFamily="18" charset="0"/>
              </a:rPr>
              <a:t>()</a:t>
            </a:r>
            <a:r>
              <a:rPr lang="zh-CN" altLang="en-US" sz="2200" dirty="0">
                <a:latin typeface="Times New Roman" panose="02020603050405020304" pitchFamily="18" charset="0"/>
                <a:ea typeface="楷体_GB2312" pitchFamily="49" charset="-122"/>
                <a:cs typeface="Times New Roman" panose="02020603050405020304" pitchFamily="18" charset="0"/>
              </a:rPr>
              <a:t>以及</a:t>
            </a:r>
            <a:r>
              <a:rPr lang="en-US" altLang="zh-CN" sz="2200" dirty="0">
                <a:latin typeface="Times New Roman" panose="02020603050405020304" pitchFamily="18" charset="0"/>
                <a:ea typeface="楷体_GB2312" pitchFamily="49" charset="-122"/>
                <a:cs typeface="Times New Roman" panose="02020603050405020304" pitchFamily="18" charset="0"/>
              </a:rPr>
              <a:t>__</a:t>
            </a:r>
            <a:r>
              <a:rPr lang="en-US" altLang="zh-CN" sz="2200" dirty="0" err="1">
                <a:latin typeface="Times New Roman" panose="02020603050405020304" pitchFamily="18" charset="0"/>
                <a:ea typeface="楷体_GB2312" pitchFamily="49" charset="-122"/>
                <a:cs typeface="Times New Roman" panose="02020603050405020304" pitchFamily="18" charset="0"/>
              </a:rPr>
              <a:t>exit_sighand</a:t>
            </a:r>
            <a:r>
              <a:rPr lang="en-US" altLang="zh-CN" sz="2200" dirty="0">
                <a:latin typeface="Times New Roman" panose="02020603050405020304" pitchFamily="18" charset="0"/>
                <a:ea typeface="楷体_GB2312" pitchFamily="49" charset="-122"/>
                <a:cs typeface="Times New Roman" panose="02020603050405020304" pitchFamily="18" charset="0"/>
              </a:rPr>
              <a:t>()</a:t>
            </a:r>
            <a:endParaRPr lang="en-US" altLang="zh-CN" sz="22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进程进入</a:t>
            </a:r>
            <a:r>
              <a:rPr lang="en-US" altLang="zh-CN" sz="2400" dirty="0">
                <a:latin typeface="Times New Roman" panose="02020603050405020304" pitchFamily="18" charset="0"/>
                <a:ea typeface="楷体_GB2312" pitchFamily="49" charset="-122"/>
                <a:cs typeface="Times New Roman" panose="02020603050405020304" pitchFamily="18" charset="0"/>
              </a:rPr>
              <a:t>TASK_ZOMBIE</a:t>
            </a:r>
            <a:r>
              <a:rPr lang="zh-CN" altLang="en-US" sz="2400" dirty="0">
                <a:latin typeface="Times New Roman" panose="02020603050405020304" pitchFamily="18" charset="0"/>
                <a:ea typeface="楷体_GB2312" pitchFamily="49" charset="-122"/>
                <a:cs typeface="Times New Roman" panose="02020603050405020304" pitchFamily="18" charset="0"/>
              </a:rPr>
              <a:t>状态（成为僵尸进程），内核调用</a:t>
            </a:r>
            <a:r>
              <a:rPr lang="en-US" altLang="zh-CN" sz="2400" dirty="0" err="1">
                <a:latin typeface="Times New Roman" panose="02020603050405020304" pitchFamily="18" charset="0"/>
                <a:ea typeface="楷体_GB2312" pitchFamily="49" charset="-122"/>
                <a:cs typeface="Times New Roman" panose="02020603050405020304" pitchFamily="18" charset="0"/>
              </a:rPr>
              <a:t>exit_notify</a:t>
            </a:r>
            <a:r>
              <a:rPr lang="en-US" altLang="zh-CN" sz="2400" dirty="0">
                <a:latin typeface="Times New Roman" panose="02020603050405020304" pitchFamily="18" charset="0"/>
                <a:ea typeface="楷体_GB2312" pitchFamily="49" charset="-122"/>
                <a:cs typeface="Times New Roman" panose="02020603050405020304" pitchFamily="18" charset="0"/>
              </a:rPr>
              <a:t>()</a:t>
            </a:r>
            <a:r>
              <a:rPr lang="zh-CN" altLang="en-US" sz="2400" dirty="0">
                <a:latin typeface="Times New Roman" panose="02020603050405020304" pitchFamily="18" charset="0"/>
                <a:ea typeface="楷体_GB2312" pitchFamily="49" charset="-122"/>
                <a:cs typeface="Times New Roman" panose="02020603050405020304" pitchFamily="18" charset="0"/>
              </a:rPr>
              <a:t>通知父进程料理后事。当父进程调用了</a:t>
            </a:r>
            <a:r>
              <a:rPr lang="en-US" altLang="zh-CN" sz="2400" dirty="0">
                <a:latin typeface="Times New Roman" panose="02020603050405020304" pitchFamily="18" charset="0"/>
                <a:ea typeface="楷体_GB2312" pitchFamily="49" charset="-122"/>
                <a:cs typeface="Times New Roman" panose="02020603050405020304" pitchFamily="18" charset="0"/>
              </a:rPr>
              <a:t>wait</a:t>
            </a:r>
            <a:r>
              <a:rPr lang="zh-CN" altLang="en-US" sz="2400" dirty="0">
                <a:latin typeface="Times New Roman" panose="02020603050405020304" pitchFamily="18" charset="0"/>
                <a:ea typeface="楷体_GB2312" pitchFamily="49" charset="-122"/>
                <a:cs typeface="Times New Roman" panose="02020603050405020304" pitchFamily="18" charset="0"/>
              </a:rPr>
              <a:t>（）函数族后，僵尸进程所占有的</a:t>
            </a:r>
            <a:r>
              <a:rPr lang="en-US" altLang="zh-CN" sz="2400" dirty="0" err="1">
                <a:latin typeface="Times New Roman" panose="02020603050405020304" pitchFamily="18" charset="0"/>
                <a:ea typeface="楷体_GB2312" pitchFamily="49" charset="-122"/>
                <a:cs typeface="Times New Roman" panose="02020603050405020304" pitchFamily="18" charset="0"/>
              </a:rPr>
              <a:t>task_struct</a:t>
            </a:r>
            <a:r>
              <a:rPr lang="zh-CN" altLang="en-US" sz="2400" dirty="0">
                <a:latin typeface="Times New Roman" panose="02020603050405020304" pitchFamily="18" charset="0"/>
                <a:ea typeface="楷体_GB2312" pitchFamily="49" charset="-122"/>
                <a:cs typeface="Times New Roman" panose="02020603050405020304" pitchFamily="18" charset="0"/>
              </a:rPr>
              <a:t>空间才被回收。</a:t>
            </a: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如果父亲先于子进程结束，则由父亲的父亲进程或者</a:t>
            </a:r>
            <a:r>
              <a:rPr lang="en-US" altLang="zh-CN" sz="2400" dirty="0" err="1">
                <a:latin typeface="Times New Roman" panose="02020603050405020304" pitchFamily="18" charset="0"/>
                <a:ea typeface="楷体_GB2312" pitchFamily="49" charset="-122"/>
                <a:cs typeface="Times New Roman" panose="02020603050405020304" pitchFamily="18" charset="0"/>
              </a:rPr>
              <a:t>init</a:t>
            </a:r>
            <a:r>
              <a:rPr lang="zh-CN" altLang="en-US" sz="2400" dirty="0">
                <a:latin typeface="Times New Roman" panose="02020603050405020304" pitchFamily="18" charset="0"/>
                <a:ea typeface="楷体_GB2312" pitchFamily="49" charset="-122"/>
                <a:cs typeface="Times New Roman" panose="02020603050405020304" pitchFamily="18" charset="0"/>
              </a:rPr>
              <a:t>进程来完成回收任务。</a:t>
            </a: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lvl="1" eaLnBrk="1" hangingPunct="1">
              <a:lnSpc>
                <a:spcPct val="80000"/>
              </a:lnSpc>
            </a:pPr>
            <a:endParaRPr lang="zh-CN" altLang="en-US" sz="2200" dirty="0">
              <a:latin typeface="Times New Roman" panose="02020603050405020304" pitchFamily="18" charset="0"/>
              <a:ea typeface="楷体_GB2312" pitchFamily="49" charset="-122"/>
              <a:cs typeface="Times New Roman" panose="02020603050405020304" pitchFamily="18" charset="0"/>
            </a:endParaRPr>
          </a:p>
          <a:p>
            <a:pPr eaLnBrk="1" hangingPunct="1">
              <a:lnSpc>
                <a:spcPct val="80000"/>
              </a:lnSpc>
            </a:pP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eaLnBrk="1" hangingPunct="1">
              <a:lnSpc>
                <a:spcPct val="80000"/>
              </a:lnSpc>
              <a:buFont typeface="Wingdings" panose="05000000000000000000" pitchFamily="2" charset="2"/>
              <a:buNone/>
            </a:pPr>
            <a:endParaRPr lang="en-US" altLang="zh-CN" sz="1200" dirty="0">
              <a:latin typeface="Times New Roman" panose="02020603050405020304" pitchFamily="18" charset="0"/>
              <a:ea typeface="楷体_GB2312" pitchFamily="49" charset="-122"/>
              <a:cs typeface="Times New Roman" panose="02020603050405020304" pitchFamily="18" charset="0"/>
            </a:endParaRPr>
          </a:p>
          <a:p>
            <a:pPr eaLnBrk="1" hangingPunct="1">
              <a:lnSpc>
                <a:spcPct val="80000"/>
              </a:lnSpc>
              <a:buFont typeface="Wingdings" panose="05000000000000000000" pitchFamily="2" charset="2"/>
              <a:buNone/>
            </a:pPr>
            <a:r>
              <a:rPr lang="en-US" altLang="zh-CN" sz="1200" dirty="0">
                <a:latin typeface="Times New Roman" panose="02020603050405020304" pitchFamily="18" charset="0"/>
                <a:ea typeface="楷体_GB2312" pitchFamily="49" charset="-122"/>
                <a:cs typeface="Times New Roman" panose="02020603050405020304" pitchFamily="18" charset="0"/>
              </a:rPr>
              <a:t>            </a:t>
            </a:r>
            <a:endParaRPr lang="zh-CN" altLang="en-US" sz="1200" dirty="0">
              <a:latin typeface="Times New Roman" panose="02020603050405020304" pitchFamily="18" charset="0"/>
              <a:ea typeface="楷体_GB2312" pitchFamily="49" charset="-122"/>
              <a:cs typeface="Times New Roman" panose="02020603050405020304" pitchFamily="18" charset="0"/>
            </a:endParaRPr>
          </a:p>
        </p:txBody>
      </p:sp>
      <p:sp>
        <p:nvSpPr>
          <p:cNvPr id="5" name="Rectangle 6"/>
          <p:cNvSpPr>
            <a:spLocks noGrp="1" noChangeArrowheads="1"/>
          </p:cNvSpPr>
          <p:nvPr>
            <p:ph type="title"/>
          </p:nvPr>
        </p:nvSpPr>
        <p:spPr>
          <a:xfrm>
            <a:off x="611188" y="0"/>
            <a:ext cx="7632700" cy="609600"/>
          </a:xfrm>
          <a:noFill/>
        </p:spPr>
        <p:txBody>
          <a:bodyPr/>
          <a:lstStyle/>
          <a:p>
            <a:pPr eaLnBrk="1" hangingPunct="1"/>
            <a:br>
              <a:rPr lang="zh-CN" altLang="en-US" dirty="0">
                <a:latin typeface="Times New Roman" panose="02020603050405020304" pitchFamily="18" charset="0"/>
                <a:ea typeface="楷体_GB2312" pitchFamily="49" charset="-122"/>
                <a:cs typeface="Times New Roman" panose="02020603050405020304" pitchFamily="18" charset="0"/>
              </a:rPr>
            </a:br>
            <a:r>
              <a:rPr lang="en-US" altLang="zh-CN" dirty="0">
                <a:latin typeface="Times New Roman" panose="02020603050405020304" pitchFamily="18" charset="0"/>
                <a:ea typeface="楷体_GB2312" pitchFamily="49" charset="-122"/>
                <a:cs typeface="Times New Roman" panose="02020603050405020304" pitchFamily="18" charset="0"/>
              </a:rPr>
              <a:t>2.7 Linux</a:t>
            </a:r>
            <a:r>
              <a:rPr lang="zh-CN" altLang="en-US" dirty="0">
                <a:latin typeface="Times New Roman" panose="02020603050405020304" pitchFamily="18" charset="0"/>
                <a:ea typeface="楷体_GB2312" pitchFamily="49" charset="-122"/>
                <a:cs typeface="Times New Roman" panose="02020603050405020304" pitchFamily="18" charset="0"/>
              </a:rPr>
              <a:t>中的进程控制</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29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291">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291">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291">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291">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29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p:cNvSpPr>
            <a:spLocks noGrp="1" noChangeArrowheads="1"/>
          </p:cNvSpPr>
          <p:nvPr>
            <p:ph type="body" idx="1"/>
          </p:nvPr>
        </p:nvSpPr>
        <p:spPr>
          <a:xfrm>
            <a:off x="426244" y="1052736"/>
            <a:ext cx="8538244" cy="5272087"/>
          </a:xfrm>
        </p:spPr>
        <p:txBody>
          <a:bodyPr/>
          <a:lstStyle/>
          <a:p>
            <a:pPr eaLnBrk="1" hangingPunct="1">
              <a:buFont typeface="Arial" panose="020B0604020202020204" pitchFamily="34" charset="0"/>
              <a:buChar char="•"/>
            </a:pPr>
            <a:r>
              <a:rPr lang="en-US" altLang="zh-CN" dirty="0" err="1">
                <a:latin typeface="Times New Roman" panose="02020603050405020304" pitchFamily="18" charset="0"/>
                <a:ea typeface="楷体_GB2312" pitchFamily="49" charset="-122"/>
                <a:cs typeface="Times New Roman" panose="02020603050405020304" pitchFamily="18" charset="0"/>
                <a:hlinkClick r:id="rId1" action="ppaction://hlinkfile"/>
              </a:rPr>
              <a:t>do_exit</a:t>
            </a:r>
            <a:r>
              <a:rPr lang="en-US" altLang="zh-CN" dirty="0">
                <a:latin typeface="Times New Roman" panose="02020603050405020304" pitchFamily="18" charset="0"/>
                <a:ea typeface="楷体_GB2312" pitchFamily="49" charset="-122"/>
                <a:cs typeface="Times New Roman" panose="02020603050405020304" pitchFamily="18" charset="0"/>
                <a:hlinkClick r:id="rId1" action="ppaction://hlinkfile"/>
              </a:rPr>
              <a:t>()</a:t>
            </a:r>
            <a:r>
              <a:rPr lang="zh-CN" altLang="en-US" dirty="0">
                <a:latin typeface="Times New Roman" panose="02020603050405020304" pitchFamily="18" charset="0"/>
                <a:ea typeface="楷体_GB2312" pitchFamily="49" charset="-122"/>
                <a:cs typeface="Times New Roman" panose="02020603050405020304" pitchFamily="18" charset="0"/>
              </a:rPr>
              <a:t>函数删除内核对终止进程的大部分引用：</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信号量队列中的进程描述符</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删除进程描述符中与分页、文件系统、打开文件描述符和信号处理相关数据结构</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减小进程所用模块的引用计数</a:t>
            </a: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将进程描述符的</a:t>
            </a:r>
            <a:r>
              <a:rPr lang="en-US" altLang="zh-CN" dirty="0" err="1">
                <a:latin typeface="Times New Roman" panose="02020603050405020304" pitchFamily="18" charset="0"/>
                <a:ea typeface="楷体_GB2312" pitchFamily="49" charset="-122"/>
                <a:cs typeface="Times New Roman" panose="02020603050405020304" pitchFamily="18" charset="0"/>
              </a:rPr>
              <a:t>exit_code</a:t>
            </a:r>
            <a:r>
              <a:rPr lang="zh-CN" altLang="en-US" dirty="0">
                <a:latin typeface="Times New Roman" panose="02020603050405020304" pitchFamily="18" charset="0"/>
                <a:ea typeface="楷体_GB2312" pitchFamily="49" charset="-122"/>
                <a:cs typeface="Times New Roman" panose="02020603050405020304" pitchFamily="18" charset="0"/>
              </a:rPr>
              <a:t>字段设置为终止代号</a:t>
            </a: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更新父子进程亲属关系，强制将自己的子进程作为其它某个进程的子进程，以等待该父进程来删除</a:t>
            </a: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调用</a:t>
            </a:r>
            <a:r>
              <a:rPr lang="en-US" altLang="zh-CN" dirty="0">
                <a:latin typeface="Times New Roman" panose="02020603050405020304" pitchFamily="18" charset="0"/>
                <a:ea typeface="楷体_GB2312" pitchFamily="49" charset="-122"/>
                <a:cs typeface="Times New Roman" panose="02020603050405020304" pitchFamily="18" charset="0"/>
              </a:rPr>
              <a:t>schedule()</a:t>
            </a:r>
            <a:r>
              <a:rPr lang="zh-CN" altLang="en-US" dirty="0">
                <a:latin typeface="Times New Roman" panose="02020603050405020304" pitchFamily="18" charset="0"/>
                <a:ea typeface="楷体_GB2312" pitchFamily="49" charset="-122"/>
                <a:cs typeface="Times New Roman" panose="02020603050405020304" pitchFamily="18" charset="0"/>
              </a:rPr>
              <a:t>进行调度</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
        <p:nvSpPr>
          <p:cNvPr id="5" name="Rectangle 6"/>
          <p:cNvSpPr>
            <a:spLocks noGrp="1" noChangeArrowheads="1"/>
          </p:cNvSpPr>
          <p:nvPr>
            <p:ph type="title"/>
          </p:nvPr>
        </p:nvSpPr>
        <p:spPr>
          <a:xfrm>
            <a:off x="611188" y="0"/>
            <a:ext cx="7632700" cy="609600"/>
          </a:xfrm>
          <a:noFill/>
        </p:spPr>
        <p:txBody>
          <a:bodyPr/>
          <a:lstStyle/>
          <a:p>
            <a:pPr eaLnBrk="1" hangingPunct="1"/>
            <a:br>
              <a:rPr lang="zh-CN" altLang="en-US" dirty="0">
                <a:latin typeface="Times New Roman" panose="02020603050405020304" pitchFamily="18" charset="0"/>
                <a:ea typeface="楷体_GB2312" pitchFamily="49" charset="-122"/>
                <a:cs typeface="Times New Roman" panose="02020603050405020304" pitchFamily="18" charset="0"/>
              </a:rPr>
            </a:br>
            <a:r>
              <a:rPr lang="en-US" altLang="zh-CN" dirty="0">
                <a:latin typeface="Times New Roman" panose="02020603050405020304" pitchFamily="18" charset="0"/>
                <a:ea typeface="楷体_GB2312" pitchFamily="49" charset="-122"/>
                <a:cs typeface="Times New Roman" panose="02020603050405020304" pitchFamily="18" charset="0"/>
              </a:rPr>
              <a:t>2.7 Linux</a:t>
            </a:r>
            <a:r>
              <a:rPr lang="zh-CN" altLang="en-US" dirty="0">
                <a:latin typeface="Times New Roman" panose="02020603050405020304" pitchFamily="18" charset="0"/>
                <a:ea typeface="楷体_GB2312" pitchFamily="49" charset="-122"/>
                <a:cs typeface="Times New Roman" panose="02020603050405020304" pitchFamily="18" charset="0"/>
              </a:rPr>
              <a:t>中的进程控制</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31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31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31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315">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315">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31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body" idx="1"/>
          </p:nvPr>
        </p:nvSpPr>
        <p:spPr>
          <a:xfrm>
            <a:off x="467544" y="919163"/>
            <a:ext cx="8496944" cy="5327650"/>
          </a:xfrm>
        </p:spPr>
        <p:txBody>
          <a:bodyPr/>
          <a:lstStyle/>
          <a:p>
            <a:pPr>
              <a:buFont typeface="Arial" panose="020B0604020202020204" pitchFamily="34" charset="0"/>
              <a:buChar char="•"/>
            </a:pPr>
            <a:r>
              <a:rPr lang="zh-CN" altLang="en-US" dirty="0">
                <a:latin typeface="楷体_GB2312" pitchFamily="49" charset="-122"/>
                <a:ea typeface="楷体_GB2312" pitchFamily="49" charset="-122"/>
              </a:rPr>
              <a:t>进程运行结束时要释放相应的资源，通过</a:t>
            </a:r>
            <a:r>
              <a:rPr lang="en-US" altLang="zh-CN" dirty="0">
                <a:latin typeface="楷体_GB2312" pitchFamily="49" charset="-122"/>
                <a:ea typeface="楷体_GB2312" pitchFamily="49" charset="-122"/>
              </a:rPr>
              <a:t>exit()</a:t>
            </a:r>
            <a:r>
              <a:rPr lang="zh-CN" altLang="en-US" dirty="0">
                <a:latin typeface="楷体_GB2312" pitchFamily="49" charset="-122"/>
                <a:ea typeface="楷体_GB2312" pitchFamily="49" charset="-122"/>
              </a:rPr>
              <a:t>调用实现（显式或隐式）</a:t>
            </a:r>
            <a:endParaRPr lang="zh-CN" altLang="en-US" dirty="0">
              <a:latin typeface="楷体_GB2312" pitchFamily="49" charset="-122"/>
              <a:ea typeface="楷体_GB2312" pitchFamily="49" charset="-122"/>
            </a:endParaRPr>
          </a:p>
          <a:p>
            <a:pPr>
              <a:buFont typeface="Arial" panose="020B0604020202020204" pitchFamily="34" charset="0"/>
              <a:buChar char="•"/>
            </a:pPr>
            <a:r>
              <a:rPr lang="en-US" altLang="zh-CN" dirty="0">
                <a:latin typeface="楷体_GB2312" pitchFamily="49" charset="-122"/>
                <a:ea typeface="楷体_GB2312" pitchFamily="49" charset="-122"/>
              </a:rPr>
              <a:t>exit()</a:t>
            </a:r>
            <a:r>
              <a:rPr lang="zh-CN" altLang="en-US" dirty="0">
                <a:latin typeface="楷体_GB2312" pitchFamily="49" charset="-122"/>
                <a:ea typeface="楷体_GB2312" pitchFamily="49" charset="-122"/>
              </a:rPr>
              <a:t>实现时调用了</a:t>
            </a:r>
            <a:r>
              <a:rPr lang="en-US" altLang="zh-CN" dirty="0" err="1">
                <a:latin typeface="楷体_GB2312" pitchFamily="49" charset="-122"/>
                <a:ea typeface="楷体_GB2312" pitchFamily="49" charset="-122"/>
              </a:rPr>
              <a:t>do_exit</a:t>
            </a:r>
            <a:r>
              <a:rPr lang="en-US" altLang="zh-CN" dirty="0">
                <a:latin typeface="楷体_GB2312" pitchFamily="49" charset="-122"/>
                <a:ea typeface="楷体_GB2312" pitchFamily="49" charset="-122"/>
              </a:rPr>
              <a:t>()</a:t>
            </a:r>
            <a:r>
              <a:rPr lang="zh-CN" altLang="en-US" dirty="0">
                <a:latin typeface="楷体_GB2312" pitchFamily="49" charset="-122"/>
                <a:ea typeface="楷体_GB2312" pitchFamily="49" charset="-122"/>
              </a:rPr>
              <a:t>完成以下工作</a:t>
            </a:r>
            <a:endParaRPr lang="zh-CN" altLang="en-US" dirty="0">
              <a:latin typeface="楷体_GB2312" pitchFamily="49" charset="-122"/>
              <a:ea typeface="楷体_GB2312" pitchFamily="49" charset="-122"/>
            </a:endParaRPr>
          </a:p>
          <a:p>
            <a:pPr lvl="1">
              <a:buFont typeface="Arial" panose="020B0604020202020204" pitchFamily="34" charset="0"/>
              <a:buChar char="•"/>
            </a:pPr>
            <a:r>
              <a:rPr lang="en-US" altLang="zh-CN" sz="2400" dirty="0" err="1">
                <a:latin typeface="楷体_GB2312" pitchFamily="49" charset="-122"/>
                <a:ea typeface="楷体_GB2312" pitchFamily="49" charset="-122"/>
              </a:rPr>
              <a:t>Task_struct</a:t>
            </a:r>
            <a:r>
              <a:rPr lang="zh-CN" altLang="en-US" sz="2400" dirty="0">
                <a:latin typeface="楷体_GB2312" pitchFamily="49" charset="-122"/>
                <a:ea typeface="楷体_GB2312" pitchFamily="49" charset="-122"/>
              </a:rPr>
              <a:t>中标志成员设为：</a:t>
            </a:r>
            <a:r>
              <a:rPr lang="en-US" altLang="zh-CN" sz="2400" dirty="0">
                <a:latin typeface="楷体_GB2312" pitchFamily="49" charset="-122"/>
                <a:ea typeface="楷体_GB2312" pitchFamily="49" charset="-122"/>
              </a:rPr>
              <a:t>PF_EXITING</a:t>
            </a:r>
            <a:endParaRPr lang="en-US" altLang="zh-CN" sz="2400" dirty="0">
              <a:latin typeface="楷体_GB2312" pitchFamily="49" charset="-122"/>
              <a:ea typeface="楷体_GB2312" pitchFamily="49" charset="-122"/>
            </a:endParaRPr>
          </a:p>
          <a:p>
            <a:pPr lvl="1">
              <a:buFont typeface="Arial" panose="020B0604020202020204" pitchFamily="34" charset="0"/>
              <a:buChar char="•"/>
            </a:pPr>
            <a:r>
              <a:rPr lang="zh-CN" altLang="en-US" sz="2400" dirty="0">
                <a:latin typeface="楷体_GB2312" pitchFamily="49" charset="-122"/>
                <a:ea typeface="楷体_GB2312" pitchFamily="49" charset="-122"/>
              </a:rPr>
              <a:t>调用</a:t>
            </a:r>
            <a:r>
              <a:rPr lang="en-US" altLang="zh-CN" sz="2400" dirty="0">
                <a:latin typeface="楷体_GB2312" pitchFamily="49" charset="-122"/>
                <a:ea typeface="楷体_GB2312" pitchFamily="49" charset="-122"/>
              </a:rPr>
              <a:t>__</a:t>
            </a:r>
            <a:r>
              <a:rPr lang="en-US" altLang="zh-CN" sz="2400" dirty="0" err="1">
                <a:latin typeface="楷体_GB2312" pitchFamily="49" charset="-122"/>
                <a:ea typeface="楷体_GB2312" pitchFamily="49" charset="-122"/>
              </a:rPr>
              <a:t>exit_mm</a:t>
            </a:r>
            <a:r>
              <a:rPr lang="en-US" altLang="zh-CN" sz="2400" dirty="0">
                <a:latin typeface="楷体_GB2312" pitchFamily="49" charset="-122"/>
                <a:ea typeface="楷体_GB2312" pitchFamily="49" charset="-122"/>
              </a:rPr>
              <a:t>()</a:t>
            </a:r>
            <a:endParaRPr lang="en-US" altLang="zh-CN" sz="2400" dirty="0">
              <a:latin typeface="楷体_GB2312" pitchFamily="49" charset="-122"/>
              <a:ea typeface="楷体_GB2312" pitchFamily="49" charset="-122"/>
            </a:endParaRPr>
          </a:p>
          <a:p>
            <a:pPr lvl="1">
              <a:buFont typeface="Arial" panose="020B0604020202020204" pitchFamily="34" charset="0"/>
              <a:buChar char="•"/>
            </a:pPr>
            <a:r>
              <a:rPr lang="zh-CN" altLang="en-US" sz="2400" dirty="0">
                <a:latin typeface="楷体_GB2312" pitchFamily="49" charset="-122"/>
                <a:ea typeface="楷体_GB2312" pitchFamily="49" charset="-122"/>
              </a:rPr>
              <a:t>调用</a:t>
            </a:r>
            <a:r>
              <a:rPr lang="en-US" altLang="zh-CN" sz="2400" dirty="0" err="1">
                <a:latin typeface="楷体_GB2312" pitchFamily="49" charset="-122"/>
                <a:ea typeface="楷体_GB2312" pitchFamily="49" charset="-122"/>
              </a:rPr>
              <a:t>sem</a:t>
            </a:r>
            <a:r>
              <a:rPr lang="en-US" altLang="zh-CN" sz="2400" dirty="0">
                <a:latin typeface="楷体_GB2312" pitchFamily="49" charset="-122"/>
                <a:ea typeface="楷体_GB2312" pitchFamily="49" charset="-122"/>
              </a:rPr>
              <a:t>__exit()</a:t>
            </a:r>
            <a:endParaRPr lang="en-US" altLang="zh-CN" sz="2400" dirty="0">
              <a:latin typeface="楷体_GB2312" pitchFamily="49" charset="-122"/>
              <a:ea typeface="楷体_GB2312" pitchFamily="49" charset="-122"/>
            </a:endParaRPr>
          </a:p>
          <a:p>
            <a:pPr lvl="1">
              <a:buFont typeface="Arial" panose="020B0604020202020204" pitchFamily="34" charset="0"/>
              <a:buChar char="•"/>
            </a:pPr>
            <a:r>
              <a:rPr lang="zh-CN" altLang="en-US" sz="2400" dirty="0">
                <a:latin typeface="楷体_GB2312" pitchFamily="49" charset="-122"/>
                <a:ea typeface="楷体_GB2312" pitchFamily="49" charset="-122"/>
              </a:rPr>
              <a:t>调用</a:t>
            </a:r>
            <a:r>
              <a:rPr lang="en-US" altLang="zh-CN" sz="2400" dirty="0">
                <a:latin typeface="楷体_GB2312" pitchFamily="49" charset="-122"/>
                <a:ea typeface="楷体_GB2312" pitchFamily="49" charset="-122"/>
              </a:rPr>
              <a:t>__</a:t>
            </a:r>
            <a:r>
              <a:rPr lang="en-US" altLang="zh-CN" sz="2400" dirty="0" err="1">
                <a:latin typeface="楷体_GB2312" pitchFamily="49" charset="-122"/>
                <a:ea typeface="楷体_GB2312" pitchFamily="49" charset="-122"/>
              </a:rPr>
              <a:t>exit_files</a:t>
            </a:r>
            <a:r>
              <a:rPr lang="en-US" altLang="zh-CN" sz="2400" dirty="0">
                <a:latin typeface="楷体_GB2312" pitchFamily="49" charset="-122"/>
                <a:ea typeface="楷体_GB2312" pitchFamily="49" charset="-122"/>
              </a:rPr>
              <a:t>(),__</a:t>
            </a:r>
            <a:r>
              <a:rPr lang="en-US" altLang="zh-CN" sz="2400" dirty="0" err="1">
                <a:latin typeface="楷体_GB2312" pitchFamily="49" charset="-122"/>
                <a:ea typeface="楷体_GB2312" pitchFamily="49" charset="-122"/>
              </a:rPr>
              <a:t>exit_fs</a:t>
            </a:r>
            <a:r>
              <a:rPr lang="en-US" altLang="zh-CN" sz="2400" dirty="0">
                <a:latin typeface="楷体_GB2312" pitchFamily="49" charset="-122"/>
                <a:ea typeface="楷体_GB2312" pitchFamily="49" charset="-122"/>
              </a:rPr>
              <a:t>(),exit__</a:t>
            </a:r>
            <a:r>
              <a:rPr lang="en-US" altLang="zh-CN" sz="2400" dirty="0" err="1">
                <a:latin typeface="楷体_GB2312" pitchFamily="49" charset="-122"/>
                <a:ea typeface="楷体_GB2312" pitchFamily="49" charset="-122"/>
              </a:rPr>
              <a:t>name_space,exit_sighand</a:t>
            </a:r>
            <a:endParaRPr lang="en-US" altLang="zh-CN" sz="2400" dirty="0">
              <a:latin typeface="楷体_GB2312" pitchFamily="49" charset="-122"/>
              <a:ea typeface="楷体_GB2312" pitchFamily="49" charset="-122"/>
            </a:endParaRPr>
          </a:p>
          <a:p>
            <a:pPr lvl="1">
              <a:buFont typeface="Arial" panose="020B0604020202020204" pitchFamily="34" charset="0"/>
              <a:buChar char="•"/>
            </a:pPr>
            <a:r>
              <a:rPr lang="zh-CN" altLang="en-US" sz="2400" dirty="0">
                <a:latin typeface="楷体_GB2312" pitchFamily="49" charset="-122"/>
                <a:ea typeface="楷体_GB2312" pitchFamily="49" charset="-122"/>
              </a:rPr>
              <a:t>退出代码替换为</a:t>
            </a:r>
            <a:r>
              <a:rPr lang="en-US" altLang="zh-CN" sz="2400" dirty="0">
                <a:latin typeface="楷体_GB2312" pitchFamily="49" charset="-122"/>
                <a:ea typeface="楷体_GB2312" pitchFamily="49" charset="-122"/>
              </a:rPr>
              <a:t>EXIT()</a:t>
            </a:r>
            <a:r>
              <a:rPr lang="zh-CN" altLang="en-US" sz="2400" dirty="0">
                <a:latin typeface="楷体_GB2312" pitchFamily="49" charset="-122"/>
                <a:ea typeface="楷体_GB2312" pitchFamily="49" charset="-122"/>
              </a:rPr>
              <a:t>提供的代码</a:t>
            </a:r>
            <a:endParaRPr lang="zh-CN" altLang="en-US" sz="2400" dirty="0">
              <a:latin typeface="楷体_GB2312" pitchFamily="49" charset="-122"/>
              <a:ea typeface="楷体_GB2312" pitchFamily="49" charset="-122"/>
            </a:endParaRPr>
          </a:p>
          <a:p>
            <a:pPr lvl="1">
              <a:buFont typeface="Arial" panose="020B0604020202020204" pitchFamily="34" charset="0"/>
              <a:buChar char="•"/>
            </a:pPr>
            <a:r>
              <a:rPr lang="zh-CN" altLang="en-US" sz="2400" dirty="0">
                <a:latin typeface="楷体_GB2312" pitchFamily="49" charset="-122"/>
                <a:ea typeface="楷体_GB2312" pitchFamily="49" charset="-122"/>
              </a:rPr>
              <a:t>调用</a:t>
            </a:r>
            <a:r>
              <a:rPr lang="en-US" altLang="zh-CN" sz="2400" dirty="0" err="1">
                <a:latin typeface="楷体_GB2312" pitchFamily="49" charset="-122"/>
                <a:ea typeface="楷体_GB2312" pitchFamily="49" charset="-122"/>
              </a:rPr>
              <a:t>Exit_notify</a:t>
            </a:r>
            <a:r>
              <a:rPr lang="en-US" altLang="zh-CN" sz="2400" dirty="0">
                <a:latin typeface="楷体_GB2312" pitchFamily="49" charset="-122"/>
                <a:ea typeface="楷体_GB2312" pitchFamily="49" charset="-122"/>
              </a:rPr>
              <a:t>()</a:t>
            </a:r>
            <a:r>
              <a:rPr lang="zh-CN" altLang="en-US" sz="2400" dirty="0">
                <a:latin typeface="楷体_GB2312" pitchFamily="49" charset="-122"/>
                <a:ea typeface="楷体_GB2312" pitchFamily="49" charset="-122"/>
              </a:rPr>
              <a:t>向父进程发信号，（标为</a:t>
            </a:r>
            <a:r>
              <a:rPr lang="en-US" altLang="zh-CN" sz="2400" dirty="0">
                <a:latin typeface="楷体_GB2312" pitchFamily="49" charset="-122"/>
                <a:ea typeface="楷体_GB2312" pitchFamily="49" charset="-122"/>
              </a:rPr>
              <a:t>ZOOMBIE)</a:t>
            </a:r>
            <a:endParaRPr lang="en-US" altLang="zh-CN" sz="2400" dirty="0">
              <a:latin typeface="楷体_GB2312" pitchFamily="49" charset="-122"/>
              <a:ea typeface="楷体_GB2312" pitchFamily="49" charset="-122"/>
            </a:endParaRPr>
          </a:p>
          <a:p>
            <a:pPr lvl="1">
              <a:buFont typeface="Arial" panose="020B0604020202020204" pitchFamily="34" charset="0"/>
              <a:buChar char="•"/>
            </a:pPr>
            <a:r>
              <a:rPr lang="zh-CN" altLang="en-US" sz="2400" dirty="0">
                <a:latin typeface="楷体_GB2312" pitchFamily="49" charset="-122"/>
                <a:ea typeface="楷体_GB2312" pitchFamily="49" charset="-122"/>
              </a:rPr>
              <a:t>调用</a:t>
            </a:r>
            <a:r>
              <a:rPr lang="en-US" altLang="zh-CN" sz="2400" dirty="0" err="1">
                <a:latin typeface="楷体_GB2312" pitchFamily="49" charset="-122"/>
                <a:ea typeface="楷体_GB2312" pitchFamily="49" charset="-122"/>
              </a:rPr>
              <a:t>shedule</a:t>
            </a:r>
            <a:r>
              <a:rPr lang="zh-CN" altLang="en-US" sz="2400" dirty="0">
                <a:latin typeface="楷体_GB2312" pitchFamily="49" charset="-122"/>
                <a:ea typeface="楷体_GB2312" pitchFamily="49" charset="-122"/>
              </a:rPr>
              <a:t>切换到其他进程</a:t>
            </a:r>
            <a:endParaRPr lang="zh-CN" altLang="en-US" sz="2400" dirty="0">
              <a:latin typeface="楷体_GB2312" pitchFamily="49" charset="-122"/>
              <a:ea typeface="楷体_GB2312" pitchFamily="49" charset="-122"/>
            </a:endParaRPr>
          </a:p>
          <a:p>
            <a:endParaRPr lang="en-US" altLang="zh-CN" sz="2400" dirty="0"/>
          </a:p>
        </p:txBody>
      </p:sp>
      <p:sp>
        <p:nvSpPr>
          <p:cNvPr id="5" name="Rectangle 6"/>
          <p:cNvSpPr>
            <a:spLocks noGrp="1" noChangeArrowheads="1"/>
          </p:cNvSpPr>
          <p:nvPr>
            <p:ph type="title"/>
          </p:nvPr>
        </p:nvSpPr>
        <p:spPr>
          <a:xfrm>
            <a:off x="611188" y="0"/>
            <a:ext cx="7632700" cy="609600"/>
          </a:xfrm>
          <a:noFill/>
        </p:spPr>
        <p:txBody>
          <a:bodyPr/>
          <a:lstStyle/>
          <a:p>
            <a:pPr eaLnBrk="1" hangingPunct="1"/>
            <a:br>
              <a:rPr lang="zh-CN" altLang="en-US" dirty="0">
                <a:latin typeface="Times New Roman" panose="02020603050405020304" pitchFamily="18" charset="0"/>
                <a:ea typeface="楷体_GB2312" pitchFamily="49" charset="-122"/>
                <a:cs typeface="Times New Roman" panose="02020603050405020304" pitchFamily="18" charset="0"/>
              </a:rPr>
            </a:br>
            <a:r>
              <a:rPr lang="en-US" altLang="zh-CN" dirty="0">
                <a:latin typeface="Times New Roman" panose="02020603050405020304" pitchFamily="18" charset="0"/>
                <a:ea typeface="楷体_GB2312" pitchFamily="49" charset="-122"/>
                <a:cs typeface="Times New Roman" panose="02020603050405020304" pitchFamily="18" charset="0"/>
              </a:rPr>
              <a:t>2.7 Linux</a:t>
            </a:r>
            <a:r>
              <a:rPr lang="zh-CN" altLang="en-US" dirty="0">
                <a:latin typeface="Times New Roman" panose="02020603050405020304" pitchFamily="18" charset="0"/>
                <a:ea typeface="楷体_GB2312" pitchFamily="49" charset="-122"/>
                <a:cs typeface="Times New Roman" panose="02020603050405020304" pitchFamily="18" charset="0"/>
              </a:rPr>
              <a:t>中的进程控制</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Grp="1" noChangeArrowheads="1"/>
          </p:cNvSpPr>
          <p:nvPr>
            <p:ph type="body" idx="1"/>
          </p:nvPr>
        </p:nvSpPr>
        <p:spPr>
          <a:xfrm>
            <a:off x="685800" y="1412875"/>
            <a:ext cx="7772400" cy="4683125"/>
          </a:xfrm>
        </p:spPr>
        <p:txBody>
          <a:bodyPr/>
          <a:lstStyle/>
          <a:p>
            <a:pPr>
              <a:buFont typeface="Arial" panose="020B0604020202020204" pitchFamily="34" charset="0"/>
              <a:buChar char="•"/>
            </a:pPr>
            <a:r>
              <a:rPr lang="zh-CN" altLang="en-US" dirty="0">
                <a:latin typeface="楷体_GB2312" pitchFamily="49" charset="-122"/>
                <a:ea typeface="楷体_GB2312" pitchFamily="49" charset="-122"/>
              </a:rPr>
              <a:t>进程终止时，删除进程描述符</a:t>
            </a:r>
            <a:endParaRPr lang="zh-CN" altLang="en-US" dirty="0">
              <a:latin typeface="楷体_GB2312" pitchFamily="49" charset="-122"/>
              <a:ea typeface="楷体_GB2312" pitchFamily="49" charset="-122"/>
            </a:endParaRPr>
          </a:p>
          <a:p>
            <a:pPr lvl="1">
              <a:buFont typeface="Arial" panose="020B0604020202020204" pitchFamily="34" charset="0"/>
              <a:buChar char="•"/>
            </a:pPr>
            <a:r>
              <a:rPr lang="zh-CN" altLang="en-US" sz="2400" dirty="0">
                <a:latin typeface="楷体_GB2312" pitchFamily="49" charset="-122"/>
                <a:ea typeface="楷体_GB2312" pitchFamily="49" charset="-122"/>
              </a:rPr>
              <a:t>父进程得知子进程终止的消息后才能删除子进程的描述符。（思考：若父进程异常终止，将会发生什么情况）</a:t>
            </a:r>
            <a:endParaRPr lang="zh-CN" altLang="en-US" sz="2400" dirty="0">
              <a:latin typeface="楷体_GB2312" pitchFamily="49" charset="-122"/>
              <a:ea typeface="楷体_GB2312" pitchFamily="49" charset="-122"/>
            </a:endParaRPr>
          </a:p>
          <a:p>
            <a:pPr lvl="1">
              <a:buFont typeface="Arial" panose="020B0604020202020204" pitchFamily="34" charset="0"/>
              <a:buChar char="•"/>
            </a:pPr>
            <a:r>
              <a:rPr lang="zh-CN" altLang="en-US" sz="2400" dirty="0">
                <a:latin typeface="楷体_GB2312" pitchFamily="49" charset="-122"/>
                <a:ea typeface="楷体_GB2312" pitchFamily="49" charset="-122"/>
              </a:rPr>
              <a:t>父进程</a:t>
            </a:r>
            <a:r>
              <a:rPr lang="en-US" altLang="zh-CN" sz="2400" dirty="0">
                <a:latin typeface="楷体_GB2312" pitchFamily="49" charset="-122"/>
                <a:ea typeface="楷体_GB2312" pitchFamily="49" charset="-122"/>
              </a:rPr>
              <a:t>WAIT()</a:t>
            </a:r>
            <a:r>
              <a:rPr lang="zh-CN" altLang="en-US" sz="2400" dirty="0">
                <a:latin typeface="楷体_GB2312" pitchFamily="49" charset="-122"/>
                <a:ea typeface="楷体_GB2312" pitchFamily="49" charset="-122"/>
              </a:rPr>
              <a:t>，返回时可以根据代码做相应动作（或者</a:t>
            </a:r>
            <a:r>
              <a:rPr lang="en-US" altLang="zh-CN" sz="2400" dirty="0">
                <a:latin typeface="楷体_GB2312" pitchFamily="49" charset="-122"/>
                <a:ea typeface="楷体_GB2312" pitchFamily="49" charset="-122"/>
              </a:rPr>
              <a:t>IGNORE</a:t>
            </a:r>
            <a:r>
              <a:rPr lang="zh-CN" altLang="en-US" sz="2400" dirty="0">
                <a:latin typeface="楷体_GB2312" pitchFamily="49" charset="-122"/>
                <a:ea typeface="楷体_GB2312" pitchFamily="49" charset="-122"/>
              </a:rPr>
              <a:t>），动作完成后真正释放描述符（调用</a:t>
            </a:r>
            <a:r>
              <a:rPr lang="en-US" altLang="zh-CN" sz="2400" dirty="0" err="1">
                <a:latin typeface="楷体_GB2312" pitchFamily="49" charset="-122"/>
                <a:ea typeface="楷体_GB2312" pitchFamily="49" charset="-122"/>
              </a:rPr>
              <a:t>release_task</a:t>
            </a:r>
            <a:r>
              <a:rPr lang="zh-CN" altLang="en-US" sz="2400" dirty="0">
                <a:latin typeface="楷体_GB2312" pitchFamily="49" charset="-122"/>
                <a:ea typeface="楷体_GB2312" pitchFamily="49" charset="-122"/>
              </a:rPr>
              <a:t>）</a:t>
            </a:r>
            <a:endParaRPr lang="zh-CN" altLang="en-US" sz="2400" dirty="0">
              <a:latin typeface="楷体_GB2312" pitchFamily="49" charset="-122"/>
              <a:ea typeface="楷体_GB2312" pitchFamily="49" charset="-122"/>
            </a:endParaRPr>
          </a:p>
          <a:p>
            <a:pPr lvl="2">
              <a:buFont typeface="Arial" panose="020B0604020202020204" pitchFamily="34" charset="0"/>
              <a:buChar char="•"/>
            </a:pPr>
            <a:r>
              <a:rPr lang="zh-CN" altLang="en-US" sz="2000" dirty="0">
                <a:latin typeface="楷体_GB2312" pitchFamily="49" charset="-122"/>
                <a:ea typeface="楷体_GB2312" pitchFamily="49" charset="-122"/>
              </a:rPr>
              <a:t>调用</a:t>
            </a:r>
            <a:r>
              <a:rPr lang="en-US" altLang="zh-CN" sz="2000" dirty="0" err="1">
                <a:latin typeface="楷体_GB2312" pitchFamily="49" charset="-122"/>
                <a:ea typeface="楷体_GB2312" pitchFamily="49" charset="-122"/>
              </a:rPr>
              <a:t>free_uid</a:t>
            </a:r>
            <a:r>
              <a:rPr lang="en-US" altLang="zh-CN" sz="2000" dirty="0">
                <a:latin typeface="楷体_GB2312" pitchFamily="49" charset="-122"/>
                <a:ea typeface="楷体_GB2312" pitchFamily="49" charset="-122"/>
              </a:rPr>
              <a:t>:</a:t>
            </a:r>
            <a:r>
              <a:rPr lang="zh-CN" altLang="en-US" sz="2000" dirty="0">
                <a:latin typeface="楷体_GB2312" pitchFamily="49" charset="-122"/>
                <a:ea typeface="楷体_GB2312" pitchFamily="49" charset="-122"/>
              </a:rPr>
              <a:t>进程记数</a:t>
            </a:r>
            <a:endParaRPr lang="zh-CN" altLang="en-US" sz="2000" dirty="0">
              <a:latin typeface="楷体_GB2312" pitchFamily="49" charset="-122"/>
              <a:ea typeface="楷体_GB2312" pitchFamily="49" charset="-122"/>
            </a:endParaRPr>
          </a:p>
          <a:p>
            <a:pPr lvl="2">
              <a:buFont typeface="Arial" panose="020B0604020202020204" pitchFamily="34" charset="0"/>
              <a:buChar char="•"/>
            </a:pPr>
            <a:r>
              <a:rPr lang="en-US" altLang="zh-CN" sz="2000" dirty="0" err="1">
                <a:latin typeface="楷体_GB2312" pitchFamily="49" charset="-122"/>
                <a:ea typeface="楷体_GB2312" pitchFamily="49" charset="-122"/>
              </a:rPr>
              <a:t>Unhash_process</a:t>
            </a:r>
            <a:r>
              <a:rPr lang="en-US" altLang="zh-CN" sz="2000" dirty="0">
                <a:latin typeface="楷体_GB2312" pitchFamily="49" charset="-122"/>
                <a:ea typeface="楷体_GB2312" pitchFamily="49" charset="-122"/>
              </a:rPr>
              <a:t>()</a:t>
            </a:r>
            <a:r>
              <a:rPr lang="zh-CN" altLang="en-US" sz="2000" dirty="0">
                <a:latin typeface="楷体_GB2312" pitchFamily="49" charset="-122"/>
                <a:ea typeface="楷体_GB2312" pitchFamily="49" charset="-122"/>
              </a:rPr>
              <a:t>：删除</a:t>
            </a:r>
            <a:r>
              <a:rPr lang="en-US" altLang="zh-CN" sz="2000" dirty="0" err="1">
                <a:latin typeface="楷体_GB2312" pitchFamily="49" charset="-122"/>
                <a:ea typeface="楷体_GB2312" pitchFamily="49" charset="-122"/>
              </a:rPr>
              <a:t>pidhash</a:t>
            </a:r>
            <a:r>
              <a:rPr lang="zh-CN" altLang="en-US" sz="2000" dirty="0">
                <a:latin typeface="楷体_GB2312" pitchFamily="49" charset="-122"/>
                <a:ea typeface="楷体_GB2312" pitchFamily="49" charset="-122"/>
              </a:rPr>
              <a:t>中的项同时删除</a:t>
            </a:r>
            <a:r>
              <a:rPr lang="en-US" altLang="zh-CN" sz="2000" dirty="0" err="1">
                <a:latin typeface="楷体_GB2312" pitchFamily="49" charset="-122"/>
                <a:ea typeface="楷体_GB2312" pitchFamily="49" charset="-122"/>
              </a:rPr>
              <a:t>task_list</a:t>
            </a:r>
            <a:r>
              <a:rPr lang="zh-CN" altLang="en-US" sz="2000" dirty="0">
                <a:latin typeface="楷体_GB2312" pitchFamily="49" charset="-122"/>
                <a:ea typeface="楷体_GB2312" pitchFamily="49" charset="-122"/>
              </a:rPr>
              <a:t>中的项</a:t>
            </a:r>
            <a:endParaRPr lang="zh-CN" altLang="en-US" sz="2000" dirty="0">
              <a:latin typeface="楷体_GB2312" pitchFamily="49" charset="-122"/>
              <a:ea typeface="楷体_GB2312" pitchFamily="49" charset="-122"/>
            </a:endParaRPr>
          </a:p>
          <a:p>
            <a:pPr lvl="2">
              <a:buFont typeface="Arial" panose="020B0604020202020204" pitchFamily="34" charset="0"/>
              <a:buChar char="•"/>
            </a:pPr>
            <a:r>
              <a:rPr lang="zh-CN" altLang="en-US" sz="2000" dirty="0">
                <a:latin typeface="楷体_GB2312" pitchFamily="49" charset="-122"/>
                <a:ea typeface="楷体_GB2312" pitchFamily="49" charset="-122"/>
              </a:rPr>
              <a:t>若有</a:t>
            </a:r>
            <a:r>
              <a:rPr lang="en-US" altLang="zh-CN" sz="2000" dirty="0">
                <a:latin typeface="楷体_GB2312" pitchFamily="49" charset="-122"/>
                <a:ea typeface="楷体_GB2312" pitchFamily="49" charset="-122"/>
              </a:rPr>
              <a:t>trace</a:t>
            </a:r>
            <a:r>
              <a:rPr lang="zh-CN" altLang="en-US" sz="2000" dirty="0">
                <a:latin typeface="楷体_GB2312" pitchFamily="49" charset="-122"/>
                <a:ea typeface="楷体_GB2312" pitchFamily="49" charset="-122"/>
              </a:rPr>
              <a:t>删除</a:t>
            </a:r>
            <a:r>
              <a:rPr lang="en-US" altLang="zh-CN" sz="2000" dirty="0" err="1">
                <a:latin typeface="楷体_GB2312" pitchFamily="49" charset="-122"/>
                <a:ea typeface="楷体_GB2312" pitchFamily="49" charset="-122"/>
              </a:rPr>
              <a:t>ptrace_list</a:t>
            </a:r>
            <a:r>
              <a:rPr lang="zh-CN" altLang="en-US" sz="2000" dirty="0">
                <a:latin typeface="楷体_GB2312" pitchFamily="49" charset="-122"/>
                <a:ea typeface="楷体_GB2312" pitchFamily="49" charset="-122"/>
              </a:rPr>
              <a:t>对应项</a:t>
            </a:r>
            <a:endParaRPr lang="zh-CN" altLang="en-US" sz="2000" dirty="0">
              <a:latin typeface="楷体_GB2312" pitchFamily="49" charset="-122"/>
              <a:ea typeface="楷体_GB2312" pitchFamily="49" charset="-122"/>
            </a:endParaRPr>
          </a:p>
          <a:p>
            <a:pPr lvl="2">
              <a:buFont typeface="Arial" panose="020B0604020202020204" pitchFamily="34" charset="0"/>
              <a:buChar char="•"/>
            </a:pPr>
            <a:r>
              <a:rPr lang="zh-CN" altLang="en-US" sz="2000" dirty="0">
                <a:latin typeface="楷体_GB2312" pitchFamily="49" charset="-122"/>
                <a:ea typeface="楷体_GB2312" pitchFamily="49" charset="-122"/>
              </a:rPr>
              <a:t>调用</a:t>
            </a:r>
            <a:r>
              <a:rPr lang="en-US" altLang="zh-CN" sz="2000" dirty="0" err="1">
                <a:latin typeface="楷体_GB2312" pitchFamily="49" charset="-122"/>
                <a:ea typeface="楷体_GB2312" pitchFamily="49" charset="-122"/>
              </a:rPr>
              <a:t>put_task_struct</a:t>
            </a:r>
            <a:r>
              <a:rPr lang="zh-CN" altLang="en-US" sz="2000" dirty="0">
                <a:latin typeface="楷体_GB2312" pitchFamily="49" charset="-122"/>
                <a:ea typeface="楷体_GB2312" pitchFamily="49" charset="-122"/>
              </a:rPr>
              <a:t>释放描述符，（内核栈、</a:t>
            </a:r>
            <a:r>
              <a:rPr lang="en-US" altLang="zh-CN" sz="2000" dirty="0" err="1">
                <a:latin typeface="楷体_GB2312" pitchFamily="49" charset="-122"/>
                <a:ea typeface="楷体_GB2312" pitchFamily="49" charset="-122"/>
              </a:rPr>
              <a:t>threadinfo</a:t>
            </a:r>
            <a:r>
              <a:rPr lang="zh-CN" altLang="en-US" sz="2000" dirty="0">
                <a:latin typeface="楷体_GB2312" pitchFamily="49" charset="-122"/>
                <a:ea typeface="楷体_GB2312" pitchFamily="49" charset="-122"/>
              </a:rPr>
              <a:t>所占的页、</a:t>
            </a:r>
            <a:r>
              <a:rPr lang="en-US" altLang="zh-CN" sz="2000" dirty="0">
                <a:latin typeface="楷体_GB2312" pitchFamily="49" charset="-122"/>
                <a:ea typeface="楷体_GB2312" pitchFamily="49" charset="-122"/>
              </a:rPr>
              <a:t>slab</a:t>
            </a:r>
            <a:r>
              <a:rPr lang="zh-CN" altLang="en-US" sz="2000" dirty="0">
                <a:latin typeface="楷体_GB2312" pitchFamily="49" charset="-122"/>
                <a:ea typeface="楷体_GB2312" pitchFamily="49" charset="-122"/>
              </a:rPr>
              <a:t>高速缓存。</a:t>
            </a:r>
            <a:endParaRPr lang="zh-CN" altLang="en-US" sz="2000" dirty="0">
              <a:latin typeface="楷体_GB2312" pitchFamily="49" charset="-122"/>
              <a:ea typeface="楷体_GB2312" pitchFamily="49" charset="-122"/>
            </a:endParaRPr>
          </a:p>
          <a:p>
            <a:pPr lvl="2"/>
            <a:endParaRPr lang="en-US" altLang="zh-CN" sz="1800" dirty="0"/>
          </a:p>
          <a:p>
            <a:pPr lvl="1">
              <a:buFontTx/>
              <a:buNone/>
            </a:pPr>
            <a:endParaRPr lang="en-US" altLang="zh-CN" sz="2000" dirty="0"/>
          </a:p>
        </p:txBody>
      </p:sp>
      <p:sp>
        <p:nvSpPr>
          <p:cNvPr id="5" name="Rectangle 6"/>
          <p:cNvSpPr>
            <a:spLocks noGrp="1" noChangeArrowheads="1"/>
          </p:cNvSpPr>
          <p:nvPr>
            <p:ph type="title"/>
          </p:nvPr>
        </p:nvSpPr>
        <p:spPr>
          <a:xfrm>
            <a:off x="611188" y="0"/>
            <a:ext cx="7632700" cy="609600"/>
          </a:xfrm>
          <a:noFill/>
        </p:spPr>
        <p:txBody>
          <a:bodyPr/>
          <a:lstStyle/>
          <a:p>
            <a:pPr eaLnBrk="1" hangingPunct="1"/>
            <a:br>
              <a:rPr lang="zh-CN" altLang="en-US" dirty="0">
                <a:latin typeface="Times New Roman" panose="02020603050405020304" pitchFamily="18" charset="0"/>
                <a:ea typeface="楷体_GB2312" pitchFamily="49" charset="-122"/>
                <a:cs typeface="Times New Roman" panose="02020603050405020304" pitchFamily="18" charset="0"/>
              </a:rPr>
            </a:br>
            <a:r>
              <a:rPr lang="en-US" altLang="zh-CN" dirty="0">
                <a:latin typeface="Times New Roman" panose="02020603050405020304" pitchFamily="18" charset="0"/>
                <a:ea typeface="楷体_GB2312" pitchFamily="49" charset="-122"/>
                <a:cs typeface="Times New Roman" panose="02020603050405020304" pitchFamily="18" charset="0"/>
              </a:rPr>
              <a:t>2.7 Linux</a:t>
            </a:r>
            <a:r>
              <a:rPr lang="zh-CN" altLang="en-US" dirty="0">
                <a:latin typeface="Times New Roman" panose="02020603050405020304" pitchFamily="18" charset="0"/>
                <a:ea typeface="楷体_GB2312" pitchFamily="49" charset="-122"/>
                <a:cs typeface="Times New Roman" panose="02020603050405020304" pitchFamily="18" charset="0"/>
              </a:rPr>
              <a:t>中的进程控制</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tLang="zh-CN" dirty="0">
                <a:latin typeface="Times New Roman" panose="02020603050405020304" pitchFamily="18" charset="0"/>
                <a:ea typeface="楷体_GB2312" pitchFamily="49" charset="-122"/>
                <a:cs typeface="Times New Roman" panose="02020603050405020304" pitchFamily="18" charset="0"/>
              </a:rPr>
              <a:t>2.8  Linux</a:t>
            </a:r>
            <a:r>
              <a:rPr lang="zh-CN" altLang="en-US" dirty="0">
                <a:latin typeface="Times New Roman" panose="02020603050405020304" pitchFamily="18" charset="0"/>
                <a:ea typeface="楷体_GB2312" pitchFamily="49" charset="-122"/>
                <a:cs typeface="Times New Roman" panose="02020603050405020304" pitchFamily="18" charset="0"/>
              </a:rPr>
              <a:t>线程实现机制</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
        <p:nvSpPr>
          <p:cNvPr id="16387" name="Rectangle 5"/>
          <p:cNvSpPr>
            <a:spLocks noGrp="1" noChangeArrowheads="1"/>
          </p:cNvSpPr>
          <p:nvPr>
            <p:ph type="body" idx="1"/>
          </p:nvPr>
        </p:nvSpPr>
        <p:spPr/>
        <p:txBody>
          <a:bodyPr/>
          <a:lstStyle/>
          <a:p>
            <a:pPr eaLnBrk="1" hangingPunct="1">
              <a:buClr>
                <a:srgbClr val="FF0000"/>
              </a:buClr>
              <a:buFont typeface="Arial" panose="020B0604020202020204" pitchFamily="34" charset="0"/>
              <a:buChar char="•"/>
            </a:pPr>
            <a:r>
              <a:rPr lang="en-US" altLang="zh-CN" dirty="0">
                <a:latin typeface="Times New Roman" panose="02020603050405020304" pitchFamily="18" charset="0"/>
                <a:ea typeface="楷体_GB2312" pitchFamily="49" charset="-122"/>
                <a:cs typeface="Times New Roman" panose="02020603050405020304" pitchFamily="18" charset="0"/>
              </a:rPr>
              <a:t>Linux</a:t>
            </a:r>
            <a:r>
              <a:rPr lang="zh-CN" altLang="en-US" dirty="0">
                <a:latin typeface="Times New Roman" panose="02020603050405020304" pitchFamily="18" charset="0"/>
                <a:ea typeface="楷体_GB2312" pitchFamily="49" charset="-122"/>
                <a:cs typeface="Times New Roman" panose="02020603050405020304" pitchFamily="18" charset="0"/>
              </a:rPr>
              <a:t>的线程描述机制</a:t>
            </a:r>
            <a:endParaRPr lang="en-US" altLang="zh-CN" dirty="0">
              <a:latin typeface="Times New Roman" panose="02020603050405020304" pitchFamily="18" charset="0"/>
              <a:ea typeface="楷体_GB2312" pitchFamily="49" charset="-122"/>
              <a:cs typeface="Times New Roman" panose="02020603050405020304" pitchFamily="18" charset="0"/>
            </a:endParaRPr>
          </a:p>
          <a:p>
            <a:pPr eaLnBrk="1" hangingPunct="1">
              <a:buClr>
                <a:srgbClr val="FF0000"/>
              </a:buClr>
              <a:buFont typeface="Arial" panose="020B0604020202020204" pitchFamily="34" charset="0"/>
              <a:buChar char="•"/>
            </a:pPr>
            <a:r>
              <a:rPr lang="en-US" altLang="zh-CN" dirty="0">
                <a:latin typeface="Times New Roman" panose="02020603050405020304" pitchFamily="18" charset="0"/>
                <a:ea typeface="楷体_GB2312" pitchFamily="49" charset="-122"/>
                <a:cs typeface="Times New Roman" panose="02020603050405020304" pitchFamily="18" charset="0"/>
              </a:rPr>
              <a:t>Linux</a:t>
            </a:r>
            <a:r>
              <a:rPr lang="zh-CN" altLang="en-US" dirty="0">
                <a:latin typeface="Times New Roman" panose="02020603050405020304" pitchFamily="18" charset="0"/>
                <a:ea typeface="楷体_GB2312" pitchFamily="49" charset="-122"/>
                <a:cs typeface="Times New Roman" panose="02020603050405020304" pitchFamily="18" charset="0"/>
              </a:rPr>
              <a:t>的线程分类</a:t>
            </a:r>
            <a:endParaRPr lang="en-US" altLang="zh-CN" dirty="0">
              <a:latin typeface="Times New Roman" panose="02020603050405020304" pitchFamily="18" charset="0"/>
              <a:ea typeface="楷体_GB2312" pitchFamily="49" charset="-122"/>
              <a:cs typeface="Times New Roman" panose="02020603050405020304" pitchFamily="18" charset="0"/>
            </a:endParaRPr>
          </a:p>
          <a:p>
            <a:pPr eaLnBrk="1" hangingPunct="1">
              <a:buClr>
                <a:srgbClr val="FF0000"/>
              </a:buClr>
              <a:buFont typeface="Arial" panose="020B0604020202020204" pitchFamily="34" charset="0"/>
              <a:buChar char="•"/>
            </a:pPr>
            <a:r>
              <a:rPr lang="en-US" altLang="zh-CN" dirty="0">
                <a:latin typeface="Times New Roman" panose="02020603050405020304" pitchFamily="18" charset="0"/>
                <a:ea typeface="楷体_GB2312" pitchFamily="49" charset="-122"/>
                <a:cs typeface="Times New Roman" panose="02020603050405020304" pitchFamily="18" charset="0"/>
              </a:rPr>
              <a:t>Linux</a:t>
            </a:r>
            <a:r>
              <a:rPr lang="zh-CN" altLang="en-US" dirty="0">
                <a:latin typeface="Times New Roman" panose="02020603050405020304" pitchFamily="18" charset="0"/>
                <a:ea typeface="楷体_GB2312" pitchFamily="49" charset="-122"/>
                <a:cs typeface="Times New Roman" panose="02020603050405020304" pitchFamily="18" charset="0"/>
              </a:rPr>
              <a:t>线程的创建</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ransition>
    <p:wedge/>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p:cNvSpPr>
            <a:spLocks noGrp="1" noChangeArrowheads="1"/>
          </p:cNvSpPr>
          <p:nvPr>
            <p:ph type="body" idx="1"/>
          </p:nvPr>
        </p:nvSpPr>
        <p:spPr/>
        <p:txBody>
          <a:bodyPr/>
          <a:lstStyle/>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其他多线程操作系统</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通过两种数据结构来表示线程和进程：</a:t>
            </a:r>
            <a:r>
              <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进程</a:t>
            </a:r>
            <a:r>
              <a:rPr lang="zh-CN" altLang="en-US" dirty="0">
                <a:latin typeface="Times New Roman" panose="02020603050405020304" pitchFamily="18" charset="0"/>
                <a:ea typeface="楷体_GB2312" pitchFamily="49" charset="-122"/>
                <a:cs typeface="Times New Roman" panose="02020603050405020304" pitchFamily="18" charset="0"/>
              </a:rPr>
              <a:t>和</a:t>
            </a:r>
            <a:r>
              <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线程表项</a:t>
            </a:r>
            <a:endParaRPr lang="en-US" altLang="zh-CN"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每个进程可以指向若干个线程，调度器在进程的时间片内再调度线程</a:t>
            </a: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en-US" altLang="zh-CN" dirty="0">
                <a:latin typeface="Times New Roman" panose="02020603050405020304" pitchFamily="18" charset="0"/>
                <a:ea typeface="楷体_GB2312" pitchFamily="49" charset="-122"/>
                <a:cs typeface="Times New Roman" panose="02020603050405020304" pitchFamily="18" charset="0"/>
              </a:rPr>
              <a:t>Linux</a:t>
            </a:r>
            <a:r>
              <a:rPr lang="zh-CN" altLang="en-US" dirty="0">
                <a:latin typeface="Times New Roman" panose="02020603050405020304" pitchFamily="18" charset="0"/>
                <a:ea typeface="楷体_GB2312" pitchFamily="49" charset="-122"/>
                <a:cs typeface="Times New Roman" panose="02020603050405020304" pitchFamily="18" charset="0"/>
              </a:rPr>
              <a:t>操作系统</a:t>
            </a:r>
            <a:endParaRPr lang="en-US" altLang="zh-CN"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从内核角度，没有线程概念，所有线程当做进程来实现</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线程被视为与其他进程共享某些资源的进程，都有自己的进程描述符</a:t>
            </a:r>
            <a:r>
              <a:rPr lang="en-US" altLang="zh-CN" dirty="0" err="1">
                <a:solidFill>
                  <a:srgbClr val="FF0D0D"/>
                </a:solidFill>
                <a:latin typeface="Times New Roman" panose="02020603050405020304" pitchFamily="18" charset="0"/>
                <a:ea typeface="楷体_GB2312" pitchFamily="49" charset="-122"/>
                <a:cs typeface="Times New Roman" panose="02020603050405020304" pitchFamily="18" charset="0"/>
              </a:rPr>
              <a:t>task_struct</a:t>
            </a:r>
            <a:endParaRPr lang="en-US" altLang="zh-CN" dirty="0">
              <a:solidFill>
                <a:srgbClr val="FF0D0D"/>
              </a:solidFill>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内核没有针对线程的调度算法或数据结构</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
        <p:nvSpPr>
          <p:cNvPr id="5" name="Rectangle 6"/>
          <p:cNvSpPr>
            <a:spLocks noGrp="1" noChangeArrowheads="1"/>
          </p:cNvSpPr>
          <p:nvPr>
            <p:ph type="title"/>
          </p:nvPr>
        </p:nvSpPr>
        <p:spPr>
          <a:xfrm>
            <a:off x="611188" y="0"/>
            <a:ext cx="7632700" cy="609600"/>
          </a:xfrm>
          <a:noFill/>
        </p:spPr>
        <p:txBody>
          <a:bodyPr/>
          <a:lstStyle/>
          <a:p>
            <a:pPr eaLnBrk="1" hangingPunct="1"/>
            <a:br>
              <a:rPr lang="zh-CN" altLang="en-US" dirty="0">
                <a:latin typeface="Times New Roman" panose="02020603050405020304" pitchFamily="18" charset="0"/>
                <a:ea typeface="楷体_GB2312" pitchFamily="49" charset="-122"/>
                <a:cs typeface="Times New Roman" panose="02020603050405020304" pitchFamily="18" charset="0"/>
              </a:rPr>
            </a:br>
            <a:r>
              <a:rPr lang="en-US" altLang="zh-CN" dirty="0">
                <a:latin typeface="Times New Roman" panose="02020603050405020304" pitchFamily="18" charset="0"/>
                <a:ea typeface="楷体_GB2312" pitchFamily="49" charset="-122"/>
                <a:cs typeface="Times New Roman" panose="02020603050405020304" pitchFamily="18" charset="0"/>
              </a:rPr>
              <a:t>2.8  Linux</a:t>
            </a:r>
            <a:r>
              <a:rPr lang="zh-CN" altLang="en-US" dirty="0">
                <a:latin typeface="Times New Roman" panose="02020603050405020304" pitchFamily="18" charset="0"/>
                <a:ea typeface="楷体_GB2312" pitchFamily="49" charset="-122"/>
                <a:cs typeface="Times New Roman" panose="02020603050405020304" pitchFamily="18" charset="0"/>
              </a:rPr>
              <a:t>线程实现机制</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ransition>
    <p:wedge/>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内容占位符 2"/>
          <p:cNvSpPr>
            <a:spLocks noGrp="1"/>
          </p:cNvSpPr>
          <p:nvPr>
            <p:ph idx="1"/>
          </p:nvPr>
        </p:nvSpPr>
        <p:spPr/>
        <p:txBody>
          <a:bodyPr/>
          <a:lstStyle/>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举例（包含两个线程的进程）</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r>
              <a:rPr lang="zh-CN" altLang="en-US" dirty="0">
                <a:latin typeface="Times New Roman" panose="02020603050405020304" pitchFamily="18" charset="0"/>
                <a:ea typeface="楷体_GB2312" pitchFamily="49" charset="-122"/>
                <a:cs typeface="Times New Roman" panose="02020603050405020304" pitchFamily="18" charset="0"/>
              </a:rPr>
              <a:t>对于非</a:t>
            </a:r>
            <a:r>
              <a:rPr lang="en-US" altLang="zh-CN" dirty="0">
                <a:latin typeface="Times New Roman" panose="02020603050405020304" pitchFamily="18" charset="0"/>
                <a:ea typeface="楷体_GB2312" pitchFamily="49" charset="-122"/>
                <a:cs typeface="Times New Roman" panose="02020603050405020304" pitchFamily="18" charset="0"/>
              </a:rPr>
              <a:t>Linux</a:t>
            </a:r>
            <a:r>
              <a:rPr lang="zh-CN" altLang="en-US" dirty="0">
                <a:latin typeface="Times New Roman" panose="02020603050405020304" pitchFamily="18" charset="0"/>
                <a:ea typeface="楷体_GB2312" pitchFamily="49" charset="-122"/>
                <a:cs typeface="Times New Roman" panose="02020603050405020304" pitchFamily="18" charset="0"/>
              </a:rPr>
              <a:t>系统</a:t>
            </a:r>
            <a:endParaRPr lang="en-US" altLang="zh-CN" dirty="0">
              <a:latin typeface="Times New Roman" panose="02020603050405020304" pitchFamily="18" charset="0"/>
              <a:ea typeface="楷体_GB2312" pitchFamily="49" charset="-122"/>
              <a:cs typeface="Times New Roman" panose="02020603050405020304" pitchFamily="18" charset="0"/>
            </a:endParaRPr>
          </a:p>
          <a:p>
            <a:pPr lvl="2" eaLnBrk="1" hangingPunct="1"/>
            <a:r>
              <a:rPr lang="zh-CN" altLang="en-US" dirty="0">
                <a:latin typeface="Times New Roman" panose="02020603050405020304" pitchFamily="18" charset="0"/>
                <a:ea typeface="楷体_GB2312" pitchFamily="49" charset="-122"/>
                <a:cs typeface="Times New Roman" panose="02020603050405020304" pitchFamily="18" charset="0"/>
              </a:rPr>
              <a:t>有一个包含</a:t>
            </a:r>
            <a:r>
              <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两个不同线程指针</a:t>
            </a:r>
            <a:r>
              <a:rPr lang="zh-CN" altLang="en-US" dirty="0">
                <a:latin typeface="Times New Roman" panose="02020603050405020304" pitchFamily="18" charset="0"/>
                <a:ea typeface="楷体_GB2312" pitchFamily="49" charset="-122"/>
                <a:cs typeface="Times New Roman" panose="02020603050405020304" pitchFamily="18" charset="0"/>
              </a:rPr>
              <a:t>的进程描述符</a:t>
            </a:r>
            <a:endParaRPr lang="en-US" altLang="zh-CN" dirty="0">
              <a:latin typeface="Times New Roman" panose="02020603050405020304" pitchFamily="18" charset="0"/>
              <a:ea typeface="楷体_GB2312" pitchFamily="49" charset="-122"/>
              <a:cs typeface="Times New Roman" panose="02020603050405020304" pitchFamily="18" charset="0"/>
            </a:endParaRPr>
          </a:p>
          <a:p>
            <a:pPr lvl="2" eaLnBrk="1" hangingPunct="1"/>
            <a:r>
              <a:rPr lang="zh-CN" altLang="en-US" dirty="0">
                <a:latin typeface="Times New Roman" panose="02020603050405020304" pitchFamily="18" charset="0"/>
                <a:ea typeface="楷体_GB2312" pitchFamily="49" charset="-122"/>
                <a:cs typeface="Times New Roman" panose="02020603050405020304" pitchFamily="18" charset="0"/>
              </a:rPr>
              <a:t>每个线程指针描述其独占资源</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r>
              <a:rPr lang="zh-CN" altLang="en-US" dirty="0">
                <a:latin typeface="Times New Roman" panose="02020603050405020304" pitchFamily="18" charset="0"/>
                <a:ea typeface="楷体_GB2312" pitchFamily="49" charset="-122"/>
                <a:cs typeface="Times New Roman" panose="02020603050405020304" pitchFamily="18" charset="0"/>
              </a:rPr>
              <a:t>对于</a:t>
            </a:r>
            <a:r>
              <a:rPr lang="en-US" altLang="zh-CN" dirty="0">
                <a:latin typeface="Times New Roman" panose="02020603050405020304" pitchFamily="18" charset="0"/>
                <a:ea typeface="楷体_GB2312" pitchFamily="49" charset="-122"/>
                <a:cs typeface="Times New Roman" panose="02020603050405020304" pitchFamily="18" charset="0"/>
              </a:rPr>
              <a:t>Linux</a:t>
            </a:r>
            <a:r>
              <a:rPr lang="zh-CN" altLang="en-US" dirty="0">
                <a:latin typeface="Times New Roman" panose="02020603050405020304" pitchFamily="18" charset="0"/>
                <a:ea typeface="楷体_GB2312" pitchFamily="49" charset="-122"/>
                <a:cs typeface="Times New Roman" panose="02020603050405020304" pitchFamily="18" charset="0"/>
              </a:rPr>
              <a:t>系统</a:t>
            </a:r>
            <a:endParaRPr lang="en-US" altLang="zh-CN" dirty="0">
              <a:latin typeface="Times New Roman" panose="02020603050405020304" pitchFamily="18" charset="0"/>
              <a:ea typeface="楷体_GB2312" pitchFamily="49" charset="-122"/>
              <a:cs typeface="Times New Roman" panose="02020603050405020304" pitchFamily="18" charset="0"/>
            </a:endParaRPr>
          </a:p>
          <a:p>
            <a:pPr lvl="2" eaLnBrk="1" hangingPunct="1"/>
            <a:r>
              <a:rPr lang="zh-CN" altLang="en-US" dirty="0">
                <a:latin typeface="Times New Roman" panose="02020603050405020304" pitchFamily="18" charset="0"/>
                <a:ea typeface="楷体_GB2312" pitchFamily="49" charset="-122"/>
                <a:cs typeface="Times New Roman" panose="02020603050405020304" pitchFamily="18" charset="0"/>
              </a:rPr>
              <a:t>创建两个进程并分配</a:t>
            </a:r>
            <a:r>
              <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两个普通</a:t>
            </a:r>
            <a:r>
              <a:rPr lang="en-US" altLang="zh-CN" dirty="0" err="1">
                <a:solidFill>
                  <a:srgbClr val="FF0000"/>
                </a:solidFill>
                <a:latin typeface="Times New Roman" panose="02020603050405020304" pitchFamily="18" charset="0"/>
                <a:ea typeface="楷体_GB2312" pitchFamily="49" charset="-122"/>
                <a:cs typeface="Times New Roman" panose="02020603050405020304" pitchFamily="18" charset="0"/>
              </a:rPr>
              <a:t>task_struct</a:t>
            </a:r>
            <a:r>
              <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结构</a:t>
            </a:r>
            <a:endPar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endParaRPr>
          </a:p>
          <a:p>
            <a:pPr lvl="2" eaLnBrk="1" hangingPunct="1"/>
            <a:r>
              <a:rPr lang="zh-CN" altLang="en-US" dirty="0">
                <a:latin typeface="Times New Roman" panose="02020603050405020304" pitchFamily="18" charset="0"/>
                <a:ea typeface="楷体_GB2312" pitchFamily="49" charset="-122"/>
                <a:cs typeface="Times New Roman" panose="02020603050405020304" pitchFamily="18" charset="0"/>
              </a:rPr>
              <a:t>建立两个进程时只要指定它们共享的某些资源</a:t>
            </a:r>
            <a:endParaRPr lang="en-US" altLang="zh-CN" dirty="0">
              <a:latin typeface="Times New Roman" panose="02020603050405020304" pitchFamily="18" charset="0"/>
              <a:ea typeface="楷体_GB2312" pitchFamily="49" charset="-122"/>
              <a:cs typeface="Times New Roman" panose="02020603050405020304" pitchFamily="18" charset="0"/>
            </a:endParaRPr>
          </a:p>
          <a:p>
            <a:pPr eaLnBrk="1" hangingPunct="1"/>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
        <p:nvSpPr>
          <p:cNvPr id="8" name="矩形 7"/>
          <p:cNvSpPr/>
          <p:nvPr/>
        </p:nvSpPr>
        <p:spPr>
          <a:xfrm>
            <a:off x="1857375" y="6286500"/>
            <a:ext cx="1471613" cy="369888"/>
          </a:xfrm>
          <a:prstGeom prst="rect">
            <a:avLst/>
          </a:prstGeom>
        </p:spPr>
        <p:txBody>
          <a:bodyPr wrap="none">
            <a:spAutoFit/>
          </a:bodyPr>
          <a:lstStyle/>
          <a:p>
            <a:pPr>
              <a:spcBef>
                <a:spcPct val="20000"/>
              </a:spcBef>
              <a:buClr>
                <a:srgbClr val="FF9900"/>
              </a:buClr>
              <a:buFont typeface="Wingdings" panose="05000000000000000000" pitchFamily="2" charset="2"/>
              <a:buNone/>
              <a:defRPr/>
            </a:pPr>
            <a:r>
              <a:rPr lang="zh-CN" altLang="en-US" sz="1800" b="1" dirty="0">
                <a:solidFill>
                  <a:srgbClr val="0000FF"/>
                </a:solidFill>
                <a:effectLst>
                  <a:outerShdw blurRad="38100" dist="38100" dir="2700000" algn="tl">
                    <a:srgbClr val="000000">
                      <a:alpha val="43137"/>
                    </a:srgbClr>
                  </a:outerShdw>
                </a:effectLst>
              </a:rPr>
              <a:t>非</a:t>
            </a:r>
            <a:r>
              <a:rPr lang="en-US" altLang="zh-CN" sz="1800" b="1" dirty="0">
                <a:solidFill>
                  <a:srgbClr val="0000FF"/>
                </a:solidFill>
                <a:effectLst>
                  <a:outerShdw blurRad="38100" dist="38100" dir="2700000" algn="tl">
                    <a:srgbClr val="000000">
                      <a:alpha val="43137"/>
                    </a:srgbClr>
                  </a:outerShdw>
                </a:effectLst>
              </a:rPr>
              <a:t>Linux</a:t>
            </a:r>
            <a:r>
              <a:rPr lang="zh-CN" altLang="en-US" sz="1800" b="1" dirty="0">
                <a:solidFill>
                  <a:srgbClr val="0000FF"/>
                </a:solidFill>
                <a:effectLst>
                  <a:outerShdw blurRad="38100" dist="38100" dir="2700000" algn="tl">
                    <a:srgbClr val="000000">
                      <a:alpha val="43137"/>
                    </a:srgbClr>
                  </a:outerShdw>
                </a:effectLst>
              </a:rPr>
              <a:t>系统</a:t>
            </a:r>
            <a:endParaRPr lang="zh-CN" altLang="en-US" sz="1800" b="1" dirty="0">
              <a:solidFill>
                <a:srgbClr val="0000FF"/>
              </a:solidFill>
              <a:effectLst>
                <a:outerShdw blurRad="38100" dist="38100" dir="2700000" algn="tl">
                  <a:srgbClr val="000000">
                    <a:alpha val="43137"/>
                  </a:srgbClr>
                </a:outerShdw>
              </a:effectLst>
            </a:endParaRPr>
          </a:p>
        </p:txBody>
      </p:sp>
      <p:sp>
        <p:nvSpPr>
          <p:cNvPr id="9" name="矩形 8"/>
          <p:cNvSpPr/>
          <p:nvPr/>
        </p:nvSpPr>
        <p:spPr>
          <a:xfrm>
            <a:off x="5500688" y="6286500"/>
            <a:ext cx="1239837" cy="369888"/>
          </a:xfrm>
          <a:prstGeom prst="rect">
            <a:avLst/>
          </a:prstGeom>
        </p:spPr>
        <p:txBody>
          <a:bodyPr wrap="none">
            <a:spAutoFit/>
          </a:bodyPr>
          <a:lstStyle/>
          <a:p>
            <a:pPr>
              <a:spcBef>
                <a:spcPct val="20000"/>
              </a:spcBef>
              <a:buClr>
                <a:srgbClr val="FF9900"/>
              </a:buClr>
              <a:buFont typeface="Wingdings" panose="05000000000000000000" pitchFamily="2" charset="2"/>
              <a:buNone/>
              <a:defRPr/>
            </a:pPr>
            <a:r>
              <a:rPr lang="en-US" altLang="zh-CN" sz="1800" b="1" dirty="0">
                <a:solidFill>
                  <a:srgbClr val="0000FF"/>
                </a:solidFill>
                <a:effectLst>
                  <a:outerShdw blurRad="38100" dist="38100" dir="2700000" algn="tl">
                    <a:srgbClr val="000000">
                      <a:alpha val="43137"/>
                    </a:srgbClr>
                  </a:outerShdw>
                </a:effectLst>
              </a:rPr>
              <a:t>Linux</a:t>
            </a:r>
            <a:r>
              <a:rPr lang="zh-CN" altLang="en-US" sz="1800" b="1" dirty="0">
                <a:solidFill>
                  <a:srgbClr val="0000FF"/>
                </a:solidFill>
                <a:effectLst>
                  <a:outerShdw blurRad="38100" dist="38100" dir="2700000" algn="tl">
                    <a:srgbClr val="000000">
                      <a:alpha val="43137"/>
                    </a:srgbClr>
                  </a:outerShdw>
                </a:effectLst>
              </a:rPr>
              <a:t>系统</a:t>
            </a:r>
            <a:endParaRPr lang="zh-CN" altLang="en-US" sz="1800" b="1" dirty="0">
              <a:solidFill>
                <a:srgbClr val="0000FF"/>
              </a:solidFill>
              <a:effectLst>
                <a:outerShdw blurRad="38100" dist="38100" dir="2700000" algn="tl">
                  <a:srgbClr val="000000">
                    <a:alpha val="43137"/>
                  </a:srgbClr>
                </a:outerShdw>
              </a:effectLst>
            </a:endParaRPr>
          </a:p>
        </p:txBody>
      </p:sp>
      <p:pic>
        <p:nvPicPr>
          <p:cNvPr id="1843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92275" y="4365625"/>
            <a:ext cx="2428875" cy="183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3800" y="4292600"/>
            <a:ext cx="2533650" cy="204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6"/>
          <p:cNvSpPr>
            <a:spLocks noGrp="1" noChangeArrowheads="1"/>
          </p:cNvSpPr>
          <p:nvPr>
            <p:ph type="title"/>
          </p:nvPr>
        </p:nvSpPr>
        <p:spPr>
          <a:xfrm>
            <a:off x="611188" y="0"/>
            <a:ext cx="7632700" cy="609600"/>
          </a:xfrm>
          <a:noFill/>
        </p:spPr>
        <p:txBody>
          <a:bodyPr/>
          <a:lstStyle/>
          <a:p>
            <a:pPr eaLnBrk="1" hangingPunct="1"/>
            <a:br>
              <a:rPr lang="zh-CN" altLang="en-US" dirty="0">
                <a:latin typeface="Times New Roman" panose="02020603050405020304" pitchFamily="18" charset="0"/>
                <a:ea typeface="楷体_GB2312" pitchFamily="49" charset="-122"/>
                <a:cs typeface="Times New Roman" panose="02020603050405020304" pitchFamily="18" charset="0"/>
              </a:rPr>
            </a:br>
            <a:r>
              <a:rPr lang="en-US" altLang="zh-CN" dirty="0">
                <a:latin typeface="Times New Roman" panose="02020603050405020304" pitchFamily="18" charset="0"/>
                <a:ea typeface="楷体_GB2312" pitchFamily="49" charset="-122"/>
                <a:cs typeface="Times New Roman" panose="02020603050405020304" pitchFamily="18" charset="0"/>
              </a:rPr>
              <a:t>2.8  Linux</a:t>
            </a:r>
            <a:r>
              <a:rPr lang="zh-CN" altLang="en-US" dirty="0">
                <a:latin typeface="Times New Roman" panose="02020603050405020304" pitchFamily="18" charset="0"/>
                <a:ea typeface="楷体_GB2312" pitchFamily="49" charset="-122"/>
                <a:cs typeface="Times New Roman" panose="02020603050405020304" pitchFamily="18" charset="0"/>
              </a:rPr>
              <a:t>线程实现机制</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ransition>
    <p:wedge/>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p:txBody>
          <a:bodyPr/>
          <a:lstStyle/>
          <a:p>
            <a:pPr eaLnBrk="1" hangingPunct="1">
              <a:lnSpc>
                <a:spcPct val="90000"/>
              </a:lnSpc>
              <a:buFont typeface="Arial" panose="020B0604020202020204" pitchFamily="34" charset="0"/>
              <a:buChar char="•"/>
            </a:pPr>
            <a:r>
              <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rPr>
              <a:t>Linux</a:t>
            </a:r>
            <a:r>
              <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内核中没有线程的概念</a:t>
            </a:r>
            <a:endPar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endParaRPr>
          </a:p>
          <a:p>
            <a:pPr lvl="1" eaLnBrk="1" hangingPunct="1">
              <a:lnSpc>
                <a:spcPct val="90000"/>
              </a:lnSpc>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没有针对所谓线程的调度策略</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lnSpc>
                <a:spcPct val="90000"/>
              </a:lnSpc>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没有数据结构用来表示一个线程</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lnSpc>
                <a:spcPct val="90000"/>
              </a:lnSpc>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一般线程的概念在</a:t>
            </a:r>
            <a:r>
              <a:rPr lang="en-US" altLang="zh-CN" dirty="0" err="1">
                <a:latin typeface="Times New Roman" panose="02020603050405020304" pitchFamily="18" charset="0"/>
                <a:ea typeface="楷体_GB2312" pitchFamily="49" charset="-122"/>
                <a:cs typeface="Times New Roman" panose="02020603050405020304" pitchFamily="18" charset="0"/>
              </a:rPr>
              <a:t>linux</a:t>
            </a:r>
            <a:r>
              <a:rPr lang="zh-CN" altLang="en-US" dirty="0">
                <a:latin typeface="Times New Roman" panose="02020603050405020304" pitchFamily="18" charset="0"/>
                <a:ea typeface="楷体_GB2312" pitchFamily="49" charset="-122"/>
                <a:cs typeface="Times New Roman" panose="02020603050405020304" pitchFamily="18" charset="0"/>
              </a:rPr>
              <a:t>中只是表现为一组共享资源的进程</a:t>
            </a:r>
            <a:r>
              <a:rPr lang="en-US" altLang="zh-CN" dirty="0">
                <a:latin typeface="Times New Roman" panose="02020603050405020304" pitchFamily="18" charset="0"/>
                <a:ea typeface="楷体_GB2312" pitchFamily="49" charset="-122"/>
                <a:cs typeface="Times New Roman" panose="02020603050405020304" pitchFamily="18" charset="0"/>
              </a:rPr>
              <a:t>(</a:t>
            </a:r>
            <a:r>
              <a:rPr lang="zh-CN" altLang="en-US" dirty="0">
                <a:latin typeface="Times New Roman" panose="02020603050405020304" pitchFamily="18" charset="0"/>
                <a:ea typeface="楷体_GB2312" pitchFamily="49" charset="-122"/>
                <a:cs typeface="Times New Roman" panose="02020603050405020304" pitchFamily="18" charset="0"/>
              </a:rPr>
              <a:t>每个这样的进程都有自己的进程描述符</a:t>
            </a:r>
            <a:r>
              <a:rPr lang="en-US" altLang="zh-CN" dirty="0">
                <a:latin typeface="Times New Roman" panose="02020603050405020304" pitchFamily="18" charset="0"/>
                <a:ea typeface="楷体_GB2312" pitchFamily="49" charset="-122"/>
                <a:cs typeface="Times New Roman" panose="02020603050405020304" pitchFamily="18" charset="0"/>
              </a:rPr>
              <a:t>)</a:t>
            </a:r>
            <a:endParaRPr lang="en-US" altLang="zh-CN" dirty="0">
              <a:latin typeface="Times New Roman" panose="02020603050405020304" pitchFamily="18" charset="0"/>
              <a:ea typeface="楷体_GB2312" pitchFamily="49" charset="-122"/>
              <a:cs typeface="Times New Roman" panose="02020603050405020304" pitchFamily="18" charset="0"/>
            </a:endParaRPr>
          </a:p>
          <a:p>
            <a:pPr eaLnBrk="1" hangingPunct="1">
              <a:lnSpc>
                <a:spcPct val="90000"/>
              </a:lnSpc>
              <a:buFont typeface="Arial" panose="020B0604020202020204" pitchFamily="34" charset="0"/>
              <a:buChar char="•"/>
            </a:pPr>
            <a:r>
              <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在其他系统中</a:t>
            </a:r>
            <a:r>
              <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比如</a:t>
            </a:r>
            <a:r>
              <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rPr>
              <a:t>windows)</a:t>
            </a:r>
            <a:endPar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endParaRPr>
          </a:p>
          <a:p>
            <a:pPr lvl="1" eaLnBrk="1" hangingPunct="1">
              <a:lnSpc>
                <a:spcPct val="90000"/>
              </a:lnSpc>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线程是实实在在的一种运行抽象，提供了比进程更轻更快的调度单元</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lnSpc>
                <a:spcPct val="90000"/>
              </a:lnSpc>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在</a:t>
            </a:r>
            <a:r>
              <a:rPr lang="en-US" altLang="zh-CN" dirty="0">
                <a:latin typeface="Times New Roman" panose="02020603050405020304" pitchFamily="18" charset="0"/>
                <a:ea typeface="楷体_GB2312" pitchFamily="49" charset="-122"/>
                <a:cs typeface="Times New Roman" panose="02020603050405020304" pitchFamily="18" charset="0"/>
              </a:rPr>
              <a:t>Linux</a:t>
            </a:r>
            <a:r>
              <a:rPr lang="zh-CN" altLang="en-US" dirty="0">
                <a:latin typeface="Times New Roman" panose="02020603050405020304" pitchFamily="18" charset="0"/>
                <a:ea typeface="楷体_GB2312" pitchFamily="49" charset="-122"/>
                <a:cs typeface="Times New Roman" panose="02020603050405020304" pitchFamily="18" charset="0"/>
              </a:rPr>
              <a:t>中“线程”仅仅是表示多个进程共享资源的一种说法</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
        <p:nvSpPr>
          <p:cNvPr id="5" name="Rectangle 6"/>
          <p:cNvSpPr>
            <a:spLocks noGrp="1" noChangeArrowheads="1"/>
          </p:cNvSpPr>
          <p:nvPr>
            <p:ph type="title"/>
          </p:nvPr>
        </p:nvSpPr>
        <p:spPr>
          <a:xfrm>
            <a:off x="611188" y="0"/>
            <a:ext cx="7632700" cy="609600"/>
          </a:xfrm>
          <a:noFill/>
        </p:spPr>
        <p:txBody>
          <a:bodyPr/>
          <a:lstStyle/>
          <a:p>
            <a:pPr eaLnBrk="1" hangingPunct="1"/>
            <a:br>
              <a:rPr lang="zh-CN" altLang="en-US" dirty="0">
                <a:latin typeface="Times New Roman" panose="02020603050405020304" pitchFamily="18" charset="0"/>
                <a:ea typeface="楷体_GB2312" pitchFamily="49" charset="-122"/>
                <a:cs typeface="Times New Roman" panose="02020603050405020304" pitchFamily="18" charset="0"/>
              </a:rPr>
            </a:br>
            <a:r>
              <a:rPr lang="en-US" altLang="zh-CN" dirty="0">
                <a:latin typeface="Times New Roman" panose="02020603050405020304" pitchFamily="18" charset="0"/>
                <a:ea typeface="楷体_GB2312" pitchFamily="49" charset="-122"/>
                <a:cs typeface="Times New Roman" panose="02020603050405020304" pitchFamily="18" charset="0"/>
              </a:rPr>
              <a:t>2.8  Linux</a:t>
            </a:r>
            <a:r>
              <a:rPr lang="zh-CN" altLang="en-US" dirty="0">
                <a:latin typeface="Times New Roman" panose="02020603050405020304" pitchFamily="18" charset="0"/>
                <a:ea typeface="楷体_GB2312" pitchFamily="49" charset="-122"/>
                <a:cs typeface="Times New Roman" panose="02020603050405020304" pitchFamily="18" charset="0"/>
              </a:rPr>
              <a:t>线程实现机制</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45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45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59">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459">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459">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45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内容占位符 2"/>
          <p:cNvSpPr>
            <a:spLocks noGrp="1"/>
          </p:cNvSpPr>
          <p:nvPr>
            <p:ph idx="1"/>
          </p:nvPr>
        </p:nvSpPr>
        <p:spPr>
          <a:xfrm>
            <a:off x="0" y="857250"/>
            <a:ext cx="8964487" cy="3291830"/>
          </a:xfrm>
        </p:spPr>
        <p:txBody>
          <a:bodyPr/>
          <a:lstStyle/>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用户线程</a:t>
            </a:r>
            <a:endParaRPr lang="en-US" altLang="zh-CN"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存在于用户空间中，通过线程库来实现</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线程创建和调度都在用户空间进行，以进程为单位调度</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buSzPct val="90000"/>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特点</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2" eaLnBrk="1" hangingPunct="1">
              <a:buSzPct val="90000"/>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同一进程内的线程切换不需要转换到内核</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2" eaLnBrk="1" hangingPunct="1">
              <a:buSzPct val="90000"/>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系统调度阻塞问题，不能充分利用多处理器</a:t>
            </a:r>
            <a:endParaRPr lang="en-US" altLang="zh-CN" dirty="0">
              <a:latin typeface="Times New Roman" panose="02020603050405020304" pitchFamily="18" charset="0"/>
              <a:ea typeface="楷体_GB2312" pitchFamily="49" charset="-122"/>
              <a:cs typeface="Times New Roman" panose="02020603050405020304" pitchFamily="18" charset="0"/>
            </a:endParaRPr>
          </a:p>
        </p:txBody>
      </p:sp>
      <p:sp>
        <p:nvSpPr>
          <p:cNvPr id="5" name="Rectangle 6"/>
          <p:cNvSpPr>
            <a:spLocks noGrp="1" noChangeArrowheads="1"/>
          </p:cNvSpPr>
          <p:nvPr>
            <p:ph type="title"/>
          </p:nvPr>
        </p:nvSpPr>
        <p:spPr>
          <a:xfrm>
            <a:off x="611188" y="0"/>
            <a:ext cx="7632700" cy="609600"/>
          </a:xfrm>
          <a:noFill/>
        </p:spPr>
        <p:txBody>
          <a:bodyPr/>
          <a:lstStyle/>
          <a:p>
            <a:pPr eaLnBrk="1" hangingPunct="1"/>
            <a:br>
              <a:rPr lang="zh-CN" altLang="en-US" dirty="0">
                <a:latin typeface="Times New Roman" panose="02020603050405020304" pitchFamily="18" charset="0"/>
                <a:ea typeface="楷体_GB2312" pitchFamily="49" charset="-122"/>
                <a:cs typeface="Times New Roman" panose="02020603050405020304" pitchFamily="18" charset="0"/>
              </a:rPr>
            </a:br>
            <a:r>
              <a:rPr lang="en-US" altLang="zh-CN" dirty="0">
                <a:latin typeface="Times New Roman" panose="02020603050405020304" pitchFamily="18" charset="0"/>
                <a:ea typeface="楷体_GB2312" pitchFamily="49" charset="-122"/>
                <a:cs typeface="Times New Roman" panose="02020603050405020304" pitchFamily="18" charset="0"/>
              </a:rPr>
              <a:t>2.8  Linux</a:t>
            </a:r>
            <a:r>
              <a:rPr lang="zh-CN" altLang="en-US" dirty="0">
                <a:latin typeface="Times New Roman" panose="02020603050405020304" pitchFamily="18" charset="0"/>
                <a:ea typeface="楷体_GB2312" pitchFamily="49" charset="-122"/>
                <a:cs typeface="Times New Roman" panose="02020603050405020304" pitchFamily="18" charset="0"/>
              </a:rPr>
              <a:t>线程实现机制</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
        <p:nvSpPr>
          <p:cNvPr id="2" name="矩形 1"/>
          <p:cNvSpPr/>
          <p:nvPr/>
        </p:nvSpPr>
        <p:spPr>
          <a:xfrm>
            <a:off x="0" y="3717032"/>
            <a:ext cx="8604448" cy="2763834"/>
          </a:xfrm>
          <a:prstGeom prst="rect">
            <a:avLst/>
          </a:prstGeom>
        </p:spPr>
        <p:txBody>
          <a:bodyPr wrap="square">
            <a:spAutoFit/>
          </a:bodyPr>
          <a:lstStyle/>
          <a:p>
            <a:pPr marL="342900" indent="-342900" eaLnBrk="1" hangingPunct="1">
              <a:spcBef>
                <a:spcPct val="20000"/>
              </a:spcBef>
              <a:buClr>
                <a:schemeClr val="accent2"/>
              </a:buClr>
              <a:buFont typeface="Arial" panose="020B0604020202020204" pitchFamily="34" charset="0"/>
              <a:buChar char="•"/>
            </a:pPr>
            <a:r>
              <a:rPr lang="zh-CN" altLang="en-US" sz="2800" b="1" dirty="0">
                <a:solidFill>
                  <a:srgbClr val="2B5681"/>
                </a:solidFill>
                <a:ea typeface="楷体_GB2312" pitchFamily="49" charset="-122"/>
                <a:cs typeface="Times New Roman" panose="02020603050405020304" pitchFamily="18" charset="0"/>
              </a:rPr>
              <a:t>内核线程</a:t>
            </a:r>
            <a:endParaRPr lang="en-US" altLang="zh-CN" sz="2800" b="1" dirty="0">
              <a:solidFill>
                <a:srgbClr val="2B5681"/>
              </a:solidFill>
              <a:ea typeface="楷体_GB2312" pitchFamily="49" charset="-122"/>
              <a:cs typeface="Times New Roman" panose="02020603050405020304" pitchFamily="18" charset="0"/>
            </a:endParaRPr>
          </a:p>
          <a:p>
            <a:pPr marL="742950" lvl="1" indent="-285750" eaLnBrk="1" hangingPunct="1">
              <a:spcBef>
                <a:spcPct val="20000"/>
              </a:spcBef>
              <a:buClr>
                <a:schemeClr val="tx2"/>
              </a:buClr>
              <a:buSzPct val="60000"/>
              <a:buFont typeface="Arial" panose="020B0604020202020204" pitchFamily="34" charset="0"/>
              <a:buChar char="•"/>
            </a:pPr>
            <a:r>
              <a:rPr lang="zh-CN" altLang="en-US" sz="2600" b="1" dirty="0">
                <a:solidFill>
                  <a:srgbClr val="008080"/>
                </a:solidFill>
                <a:ea typeface="楷体_GB2312" pitchFamily="49" charset="-122"/>
                <a:cs typeface="Times New Roman" panose="02020603050405020304" pitchFamily="18" charset="0"/>
              </a:rPr>
              <a:t>在内核空间内执行线程的创建、调度和管理，慢于用户线程的创建和管理</a:t>
            </a:r>
            <a:endParaRPr lang="zh-CN" altLang="en-US" sz="2600" b="1" dirty="0">
              <a:solidFill>
                <a:srgbClr val="008080"/>
              </a:solidFill>
              <a:ea typeface="楷体_GB2312" pitchFamily="49" charset="-122"/>
              <a:cs typeface="Times New Roman" panose="02020603050405020304" pitchFamily="18" charset="0"/>
            </a:endParaRPr>
          </a:p>
          <a:p>
            <a:pPr marL="742950" lvl="1" indent="-285750" eaLnBrk="1" hangingPunct="1">
              <a:spcBef>
                <a:spcPct val="20000"/>
              </a:spcBef>
              <a:buClr>
                <a:schemeClr val="tx2"/>
              </a:buClr>
              <a:buSzPct val="60000"/>
              <a:buFont typeface="Arial" panose="020B0604020202020204" pitchFamily="34" charset="0"/>
              <a:buChar char="•"/>
            </a:pPr>
            <a:r>
              <a:rPr lang="zh-CN" altLang="en-US" sz="2600" b="1" dirty="0">
                <a:solidFill>
                  <a:srgbClr val="008080"/>
                </a:solidFill>
                <a:ea typeface="楷体_GB2312" pitchFamily="49" charset="-122"/>
                <a:cs typeface="Times New Roman" panose="02020603050405020304" pitchFamily="18" charset="0"/>
              </a:rPr>
              <a:t>支持多处理器，支持用户进程中的多线程、内核线程切换的速度快</a:t>
            </a:r>
            <a:endParaRPr lang="zh-CN" altLang="en-US" sz="2600" b="1" dirty="0">
              <a:solidFill>
                <a:srgbClr val="008080"/>
              </a:solidFill>
              <a:ea typeface="楷体_GB2312" pitchFamily="49" charset="-122"/>
              <a:cs typeface="Times New Roman" panose="02020603050405020304" pitchFamily="18" charset="0"/>
            </a:endParaRPr>
          </a:p>
          <a:p>
            <a:pPr marL="742950" lvl="1" indent="-285750" eaLnBrk="1" hangingPunct="1">
              <a:spcBef>
                <a:spcPct val="20000"/>
              </a:spcBef>
              <a:buClr>
                <a:schemeClr val="tx2"/>
              </a:buClr>
              <a:buSzPct val="60000"/>
              <a:buFont typeface="Arial" panose="020B0604020202020204" pitchFamily="34" charset="0"/>
              <a:buChar char="•"/>
            </a:pPr>
            <a:r>
              <a:rPr lang="zh-CN" altLang="en-US" sz="2600" b="1" dirty="0">
                <a:solidFill>
                  <a:srgbClr val="008080"/>
                </a:solidFill>
                <a:ea typeface="楷体_GB2312" pitchFamily="49" charset="-122"/>
                <a:cs typeface="Times New Roman" panose="02020603050405020304" pitchFamily="18" charset="0"/>
              </a:rPr>
              <a:t>对用户的线程切换来说，系统开销大</a:t>
            </a:r>
            <a:endParaRPr lang="zh-CN" altLang="en-US" sz="2600" b="1" dirty="0">
              <a:solidFill>
                <a:srgbClr val="008080"/>
              </a:solidFill>
              <a:ea typeface="楷体_GB2312" pitchFamily="49" charset="-122"/>
              <a:cs typeface="Times New Roman" panose="02020603050405020304" pitchFamily="18" charset="0"/>
            </a:endParaRPr>
          </a:p>
        </p:txBody>
      </p:sp>
    </p:spTree>
  </p:cSld>
  <p:clrMapOvr>
    <a:masterClrMapping/>
  </p:clrMapOvr>
  <p:transition>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type="body" idx="1"/>
          </p:nvPr>
        </p:nvSpPr>
        <p:spPr>
          <a:xfrm>
            <a:off x="250825" y="1052513"/>
            <a:ext cx="8893175" cy="5272087"/>
          </a:xfrm>
        </p:spPr>
        <p:txBody>
          <a:bodyPr/>
          <a:lstStyle/>
          <a:p>
            <a:pPr eaLnBrk="1" hangingPunct="1">
              <a:buFont typeface="Arial" panose="020B0604020202020204" pitchFamily="34" charset="0"/>
              <a:buChar char="•"/>
            </a:pPr>
            <a:r>
              <a:rPr lang="en-US" altLang="zh-CN" sz="2400" dirty="0">
                <a:latin typeface="Times New Roman" panose="02020603050405020304" pitchFamily="18" charset="0"/>
                <a:ea typeface="楷体_GB2312" pitchFamily="49" charset="-122"/>
                <a:cs typeface="Times New Roman" panose="02020603050405020304" pitchFamily="18" charset="0"/>
              </a:rPr>
              <a:t>Linux</a:t>
            </a:r>
            <a:r>
              <a:rPr lang="zh-CN" altLang="en-US" sz="2400" dirty="0">
                <a:latin typeface="Times New Roman" panose="02020603050405020304" pitchFamily="18" charset="0"/>
                <a:ea typeface="楷体_GB2312" pitchFamily="49" charset="-122"/>
                <a:cs typeface="Times New Roman" panose="02020603050405020304" pitchFamily="18" charset="0"/>
              </a:rPr>
              <a:t>线程的创建函数调用形式</a:t>
            </a: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sz="2200" dirty="0" err="1">
                <a:latin typeface="Times New Roman" panose="02020603050405020304" pitchFamily="18" charset="0"/>
                <a:ea typeface="楷体_GB2312" pitchFamily="49" charset="-122"/>
                <a:cs typeface="Times New Roman" panose="02020603050405020304" pitchFamily="18" charset="0"/>
              </a:rPr>
              <a:t>int</a:t>
            </a:r>
            <a:r>
              <a:rPr lang="en-US" altLang="zh-CN" sz="2200" dirty="0">
                <a:latin typeface="Times New Roman" panose="02020603050405020304" pitchFamily="18" charset="0"/>
                <a:ea typeface="楷体_GB2312" pitchFamily="49" charset="-122"/>
                <a:cs typeface="Times New Roman" panose="02020603050405020304" pitchFamily="18" charset="0"/>
              </a:rPr>
              <a:t> clone(</a:t>
            </a:r>
            <a:r>
              <a:rPr lang="en-US" altLang="zh-CN" sz="2200" dirty="0" err="1">
                <a:solidFill>
                  <a:srgbClr val="FF0000"/>
                </a:solidFill>
                <a:latin typeface="Times New Roman" panose="02020603050405020304" pitchFamily="18" charset="0"/>
                <a:ea typeface="楷体_GB2312" pitchFamily="49" charset="-122"/>
                <a:cs typeface="Times New Roman" panose="02020603050405020304" pitchFamily="18" charset="0"/>
              </a:rPr>
              <a:t>int</a:t>
            </a:r>
            <a:r>
              <a:rPr lang="en-US" altLang="zh-CN" sz="2200" dirty="0">
                <a:solidFill>
                  <a:srgbClr val="FF0000"/>
                </a:solidFill>
                <a:latin typeface="Times New Roman" panose="02020603050405020304" pitchFamily="18" charset="0"/>
                <a:ea typeface="楷体_GB2312" pitchFamily="49" charset="-122"/>
                <a:cs typeface="Times New Roman" panose="02020603050405020304" pitchFamily="18" charset="0"/>
              </a:rPr>
              <a:t> (*</a:t>
            </a:r>
            <a:r>
              <a:rPr lang="en-US" altLang="zh-CN" sz="2200" dirty="0" err="1">
                <a:solidFill>
                  <a:srgbClr val="FF0000"/>
                </a:solidFill>
                <a:latin typeface="Times New Roman" panose="02020603050405020304" pitchFamily="18" charset="0"/>
                <a:ea typeface="楷体_GB2312" pitchFamily="49" charset="-122"/>
                <a:cs typeface="Times New Roman" panose="02020603050405020304" pitchFamily="18" charset="0"/>
              </a:rPr>
              <a:t>fn</a:t>
            </a:r>
            <a:r>
              <a:rPr lang="en-US" altLang="zh-CN" sz="2200" dirty="0">
                <a:solidFill>
                  <a:srgbClr val="FF0000"/>
                </a:solidFill>
                <a:latin typeface="Times New Roman" panose="02020603050405020304" pitchFamily="18" charset="0"/>
                <a:ea typeface="楷体_GB2312" pitchFamily="49" charset="-122"/>
                <a:cs typeface="Times New Roman" panose="02020603050405020304" pitchFamily="18" charset="0"/>
              </a:rPr>
              <a:t>)(void * </a:t>
            </a:r>
            <a:r>
              <a:rPr lang="en-US" altLang="zh-CN" sz="2200" dirty="0" err="1">
                <a:solidFill>
                  <a:srgbClr val="FF0000"/>
                </a:solidFill>
                <a:latin typeface="Times New Roman" panose="02020603050405020304" pitchFamily="18" charset="0"/>
                <a:ea typeface="楷体_GB2312" pitchFamily="49" charset="-122"/>
                <a:cs typeface="Times New Roman" panose="02020603050405020304" pitchFamily="18" charset="0"/>
              </a:rPr>
              <a:t>arg</a:t>
            </a:r>
            <a:r>
              <a:rPr lang="en-US" altLang="zh-CN" sz="2200" dirty="0">
                <a:solidFill>
                  <a:srgbClr val="FF0000"/>
                </a:solidFill>
                <a:latin typeface="Times New Roman" panose="02020603050405020304" pitchFamily="18" charset="0"/>
                <a:ea typeface="楷体_GB2312" pitchFamily="49" charset="-122"/>
                <a:cs typeface="Times New Roman" panose="02020603050405020304" pitchFamily="18" charset="0"/>
              </a:rPr>
              <a:t>)</a:t>
            </a:r>
            <a:r>
              <a:rPr lang="en-US" altLang="zh-CN" sz="2200" dirty="0">
                <a:latin typeface="Times New Roman" panose="02020603050405020304" pitchFamily="18" charset="0"/>
                <a:ea typeface="楷体_GB2312" pitchFamily="49" charset="-122"/>
                <a:cs typeface="Times New Roman" panose="02020603050405020304" pitchFamily="18" charset="0"/>
              </a:rPr>
              <a:t>, void *stack, </a:t>
            </a:r>
            <a:r>
              <a:rPr lang="en-US" altLang="zh-CN" sz="2200" dirty="0" err="1">
                <a:latin typeface="Times New Roman" panose="02020603050405020304" pitchFamily="18" charset="0"/>
                <a:ea typeface="楷体_GB2312" pitchFamily="49" charset="-122"/>
                <a:cs typeface="Times New Roman" panose="02020603050405020304" pitchFamily="18" charset="0"/>
              </a:rPr>
              <a:t>int</a:t>
            </a:r>
            <a:r>
              <a:rPr lang="en-US" altLang="zh-CN" sz="2200" dirty="0">
                <a:latin typeface="Times New Roman" panose="02020603050405020304" pitchFamily="18" charset="0"/>
                <a:ea typeface="楷体_GB2312" pitchFamily="49" charset="-122"/>
                <a:cs typeface="Times New Roman" panose="02020603050405020304" pitchFamily="18" charset="0"/>
              </a:rPr>
              <a:t> flags, </a:t>
            </a:r>
            <a:r>
              <a:rPr lang="en-US" altLang="zh-CN" sz="2200" dirty="0">
                <a:solidFill>
                  <a:srgbClr val="FF0000"/>
                </a:solidFill>
                <a:latin typeface="Times New Roman" panose="02020603050405020304" pitchFamily="18" charset="0"/>
                <a:ea typeface="楷体_GB2312" pitchFamily="49" charset="-122"/>
                <a:cs typeface="Times New Roman" panose="02020603050405020304" pitchFamily="18" charset="0"/>
              </a:rPr>
              <a:t>void * </a:t>
            </a:r>
            <a:r>
              <a:rPr lang="en-US" altLang="zh-CN" sz="2200" dirty="0" err="1">
                <a:solidFill>
                  <a:srgbClr val="FF0000"/>
                </a:solidFill>
                <a:latin typeface="Times New Roman" panose="02020603050405020304" pitchFamily="18" charset="0"/>
                <a:ea typeface="楷体_GB2312" pitchFamily="49" charset="-122"/>
                <a:cs typeface="Times New Roman" panose="02020603050405020304" pitchFamily="18" charset="0"/>
              </a:rPr>
              <a:t>arg</a:t>
            </a:r>
            <a:r>
              <a:rPr lang="en-US" altLang="zh-CN" sz="2200" dirty="0">
                <a:latin typeface="Times New Roman" panose="02020603050405020304" pitchFamily="18" charset="0"/>
                <a:ea typeface="楷体_GB2312" pitchFamily="49" charset="-122"/>
                <a:cs typeface="Times New Roman" panose="02020603050405020304" pitchFamily="18" charset="0"/>
              </a:rPr>
              <a:t>); </a:t>
            </a:r>
            <a:endParaRPr lang="en-US" altLang="zh-CN" sz="2200"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sz="2200" dirty="0" err="1">
                <a:latin typeface="Times New Roman" panose="02020603050405020304" pitchFamily="18" charset="0"/>
                <a:ea typeface="楷体_GB2312" pitchFamily="49" charset="-122"/>
                <a:cs typeface="Times New Roman" panose="02020603050405020304" pitchFamily="18" charset="0"/>
              </a:rPr>
              <a:t>int</a:t>
            </a:r>
            <a:r>
              <a:rPr lang="en-US" altLang="zh-CN" sz="2200" dirty="0">
                <a:latin typeface="Times New Roman" panose="02020603050405020304" pitchFamily="18" charset="0"/>
                <a:ea typeface="楷体_GB2312" pitchFamily="49" charset="-122"/>
                <a:cs typeface="Times New Roman" panose="02020603050405020304" pitchFamily="18" charset="0"/>
              </a:rPr>
              <a:t> </a:t>
            </a:r>
            <a:r>
              <a:rPr lang="en-US" altLang="zh-CN" sz="2200" dirty="0" err="1">
                <a:latin typeface="Times New Roman" panose="02020603050405020304" pitchFamily="18" charset="0"/>
                <a:ea typeface="楷体_GB2312" pitchFamily="49" charset="-122"/>
                <a:cs typeface="Times New Roman" panose="02020603050405020304" pitchFamily="18" charset="0"/>
              </a:rPr>
              <a:t>pthread_create</a:t>
            </a:r>
            <a:r>
              <a:rPr lang="en-US" altLang="zh-CN" sz="2200" dirty="0">
                <a:latin typeface="Times New Roman" panose="02020603050405020304" pitchFamily="18" charset="0"/>
                <a:ea typeface="楷体_GB2312" pitchFamily="49" charset="-122"/>
                <a:cs typeface="Times New Roman" panose="02020603050405020304" pitchFamily="18" charset="0"/>
              </a:rPr>
              <a:t>(</a:t>
            </a:r>
            <a:r>
              <a:rPr lang="en-US" altLang="zh-CN" sz="2200" dirty="0" err="1">
                <a:latin typeface="Times New Roman" panose="02020603050405020304" pitchFamily="18" charset="0"/>
                <a:ea typeface="楷体_GB2312" pitchFamily="49" charset="-122"/>
                <a:cs typeface="Times New Roman" panose="02020603050405020304" pitchFamily="18" charset="0"/>
              </a:rPr>
              <a:t>pthread_t</a:t>
            </a:r>
            <a:r>
              <a:rPr lang="en-US" altLang="zh-CN" sz="2200" dirty="0">
                <a:latin typeface="Times New Roman" panose="02020603050405020304" pitchFamily="18" charset="0"/>
                <a:ea typeface="楷体_GB2312" pitchFamily="49" charset="-122"/>
                <a:cs typeface="Times New Roman" panose="02020603050405020304" pitchFamily="18" charset="0"/>
              </a:rPr>
              <a:t> *restrict </a:t>
            </a:r>
            <a:r>
              <a:rPr lang="en-US" altLang="zh-CN" sz="2200" dirty="0" err="1">
                <a:latin typeface="Times New Roman" panose="02020603050405020304" pitchFamily="18" charset="0"/>
                <a:ea typeface="楷体_GB2312" pitchFamily="49" charset="-122"/>
                <a:cs typeface="Times New Roman" panose="02020603050405020304" pitchFamily="18" charset="0"/>
              </a:rPr>
              <a:t>tidp</a:t>
            </a:r>
            <a:r>
              <a:rPr lang="en-US" altLang="zh-CN" sz="2200" dirty="0">
                <a:latin typeface="Times New Roman" panose="02020603050405020304" pitchFamily="18" charset="0"/>
                <a:ea typeface="楷体_GB2312" pitchFamily="49" charset="-122"/>
                <a:cs typeface="Times New Roman" panose="02020603050405020304" pitchFamily="18" charset="0"/>
              </a:rPr>
              <a:t>, </a:t>
            </a:r>
            <a:r>
              <a:rPr lang="en-US" altLang="zh-CN" sz="2200" dirty="0" err="1">
                <a:latin typeface="Times New Roman" panose="02020603050405020304" pitchFamily="18" charset="0"/>
                <a:ea typeface="楷体_GB2312" pitchFamily="49" charset="-122"/>
                <a:cs typeface="Times New Roman" panose="02020603050405020304" pitchFamily="18" charset="0"/>
              </a:rPr>
              <a:t>const</a:t>
            </a:r>
            <a:r>
              <a:rPr lang="en-US" altLang="zh-CN" sz="2200" dirty="0">
                <a:latin typeface="Times New Roman" panose="02020603050405020304" pitchFamily="18" charset="0"/>
                <a:ea typeface="楷体_GB2312" pitchFamily="49" charset="-122"/>
                <a:cs typeface="Times New Roman" panose="02020603050405020304" pitchFamily="18" charset="0"/>
              </a:rPr>
              <a:t> </a:t>
            </a:r>
            <a:r>
              <a:rPr lang="en-US" altLang="zh-CN" sz="2200" dirty="0" err="1">
                <a:latin typeface="Times New Roman" panose="02020603050405020304" pitchFamily="18" charset="0"/>
                <a:ea typeface="楷体_GB2312" pitchFamily="49" charset="-122"/>
                <a:cs typeface="Times New Roman" panose="02020603050405020304" pitchFamily="18" charset="0"/>
              </a:rPr>
              <a:t>pthread_attr_t</a:t>
            </a:r>
            <a:r>
              <a:rPr lang="en-US" altLang="zh-CN" sz="2200" dirty="0">
                <a:latin typeface="Times New Roman" panose="02020603050405020304" pitchFamily="18" charset="0"/>
                <a:ea typeface="楷体_GB2312" pitchFamily="49" charset="-122"/>
                <a:cs typeface="Times New Roman" panose="02020603050405020304" pitchFamily="18" charset="0"/>
              </a:rPr>
              <a:t> *restrict </a:t>
            </a:r>
            <a:r>
              <a:rPr lang="en-US" altLang="zh-CN" sz="2200" dirty="0" err="1">
                <a:latin typeface="Times New Roman" panose="02020603050405020304" pitchFamily="18" charset="0"/>
                <a:ea typeface="楷体_GB2312" pitchFamily="49" charset="-122"/>
                <a:cs typeface="Times New Roman" panose="02020603050405020304" pitchFamily="18" charset="0"/>
              </a:rPr>
              <a:t>attr</a:t>
            </a:r>
            <a:r>
              <a:rPr lang="en-US" altLang="zh-CN" sz="2200" dirty="0">
                <a:latin typeface="Times New Roman" panose="02020603050405020304" pitchFamily="18" charset="0"/>
                <a:ea typeface="楷体_GB2312" pitchFamily="49" charset="-122"/>
                <a:cs typeface="Times New Roman" panose="02020603050405020304" pitchFamily="18" charset="0"/>
              </a:rPr>
              <a:t>, </a:t>
            </a:r>
            <a:r>
              <a:rPr lang="en-US" altLang="zh-CN" sz="2200" dirty="0">
                <a:solidFill>
                  <a:srgbClr val="FF0000"/>
                </a:solidFill>
                <a:latin typeface="Times New Roman" panose="02020603050405020304" pitchFamily="18" charset="0"/>
                <a:ea typeface="楷体_GB2312" pitchFamily="49" charset="-122"/>
                <a:cs typeface="Times New Roman" panose="02020603050405020304" pitchFamily="18" charset="0"/>
              </a:rPr>
              <a:t>void *(*</a:t>
            </a:r>
            <a:r>
              <a:rPr lang="en-US" altLang="zh-CN" sz="2200" dirty="0" err="1">
                <a:solidFill>
                  <a:srgbClr val="FF0000"/>
                </a:solidFill>
                <a:latin typeface="Times New Roman" panose="02020603050405020304" pitchFamily="18" charset="0"/>
                <a:ea typeface="楷体_GB2312" pitchFamily="49" charset="-122"/>
                <a:cs typeface="Times New Roman" panose="02020603050405020304" pitchFamily="18" charset="0"/>
              </a:rPr>
              <a:t>start_rtn</a:t>
            </a:r>
            <a:r>
              <a:rPr lang="en-US" altLang="zh-CN" sz="2200" dirty="0">
                <a:solidFill>
                  <a:srgbClr val="FF0000"/>
                </a:solidFill>
                <a:latin typeface="Times New Roman" panose="02020603050405020304" pitchFamily="18" charset="0"/>
                <a:ea typeface="楷体_GB2312" pitchFamily="49" charset="-122"/>
                <a:cs typeface="Times New Roman" panose="02020603050405020304" pitchFamily="18" charset="0"/>
              </a:rPr>
              <a:t>)(void)</a:t>
            </a:r>
            <a:r>
              <a:rPr lang="en-US" altLang="zh-CN" sz="2200" dirty="0">
                <a:latin typeface="Times New Roman" panose="02020603050405020304" pitchFamily="18" charset="0"/>
                <a:ea typeface="楷体_GB2312" pitchFamily="49" charset="-122"/>
                <a:cs typeface="Times New Roman" panose="02020603050405020304" pitchFamily="18" charset="0"/>
              </a:rPr>
              <a:t>, </a:t>
            </a:r>
            <a:r>
              <a:rPr lang="en-US" altLang="zh-CN" sz="2200" dirty="0">
                <a:solidFill>
                  <a:srgbClr val="FF0000"/>
                </a:solidFill>
                <a:latin typeface="Times New Roman" panose="02020603050405020304" pitchFamily="18" charset="0"/>
                <a:ea typeface="楷体_GB2312" pitchFamily="49" charset="-122"/>
                <a:cs typeface="Times New Roman" panose="02020603050405020304" pitchFamily="18" charset="0"/>
              </a:rPr>
              <a:t>void *restrict </a:t>
            </a:r>
            <a:r>
              <a:rPr lang="en-US" altLang="zh-CN" sz="2200" dirty="0" err="1">
                <a:solidFill>
                  <a:srgbClr val="FF0000"/>
                </a:solidFill>
                <a:latin typeface="Times New Roman" panose="02020603050405020304" pitchFamily="18" charset="0"/>
                <a:ea typeface="楷体_GB2312" pitchFamily="49" charset="-122"/>
                <a:cs typeface="Times New Roman" panose="02020603050405020304" pitchFamily="18" charset="0"/>
              </a:rPr>
              <a:t>arg</a:t>
            </a:r>
            <a:r>
              <a:rPr lang="en-US" altLang="zh-CN" sz="2200" dirty="0">
                <a:latin typeface="Times New Roman" panose="02020603050405020304" pitchFamily="18" charset="0"/>
                <a:ea typeface="楷体_GB2312" pitchFamily="49" charset="-122"/>
                <a:cs typeface="Times New Roman" panose="02020603050405020304" pitchFamily="18" charset="0"/>
              </a:rPr>
              <a:t>);</a:t>
            </a:r>
            <a:endParaRPr lang="en-US" altLang="zh-CN" sz="2200" dirty="0">
              <a:latin typeface="Times New Roman" panose="02020603050405020304" pitchFamily="18" charset="0"/>
              <a:ea typeface="楷体_GB2312" pitchFamily="49" charset="-122"/>
              <a:cs typeface="Times New Roman" panose="02020603050405020304" pitchFamily="18" charset="0"/>
            </a:endParaRPr>
          </a:p>
          <a:p>
            <a:pPr lvl="2" eaLnBrk="1" hangingPunct="1">
              <a:buFont typeface="Arial" panose="020B0604020202020204" pitchFamily="34" charset="0"/>
              <a:buChar char="•"/>
            </a:pPr>
            <a:r>
              <a:rPr lang="en-US" altLang="zh-CN" sz="2200" dirty="0" err="1">
                <a:latin typeface="Times New Roman" panose="02020603050405020304" pitchFamily="18" charset="0"/>
                <a:ea typeface="楷体_GB2312" pitchFamily="49" charset="-122"/>
                <a:cs typeface="Times New Roman" panose="02020603050405020304" pitchFamily="18" charset="0"/>
              </a:rPr>
              <a:t>tidp</a:t>
            </a:r>
            <a:r>
              <a:rPr lang="en-US" altLang="zh-CN" sz="2200" dirty="0">
                <a:latin typeface="Times New Roman" panose="02020603050405020304" pitchFamily="18" charset="0"/>
                <a:ea typeface="楷体_GB2312" pitchFamily="49" charset="-122"/>
                <a:cs typeface="Times New Roman" panose="02020603050405020304" pitchFamily="18" charset="0"/>
              </a:rPr>
              <a:t>:</a:t>
            </a:r>
            <a:r>
              <a:rPr lang="zh-CN" altLang="en-US" sz="2200" dirty="0">
                <a:latin typeface="Times New Roman" panose="02020603050405020304" pitchFamily="18" charset="0"/>
                <a:ea typeface="楷体_GB2312" pitchFamily="49" charset="-122"/>
                <a:cs typeface="Times New Roman" panose="02020603050405020304" pitchFamily="18" charset="0"/>
              </a:rPr>
              <a:t>新线程的线程描述表指针</a:t>
            </a:r>
            <a:endParaRPr lang="zh-CN" altLang="en-US" sz="2200" dirty="0">
              <a:latin typeface="Times New Roman" panose="02020603050405020304" pitchFamily="18" charset="0"/>
              <a:ea typeface="楷体_GB2312" pitchFamily="49" charset="-122"/>
              <a:cs typeface="Times New Roman" panose="02020603050405020304" pitchFamily="18" charset="0"/>
            </a:endParaRPr>
          </a:p>
          <a:p>
            <a:pPr lvl="2" eaLnBrk="1" hangingPunct="1">
              <a:buFont typeface="Arial" panose="020B0604020202020204" pitchFamily="34" charset="0"/>
              <a:buChar char="•"/>
            </a:pPr>
            <a:r>
              <a:rPr lang="en-US" altLang="zh-CN" sz="2200" dirty="0" err="1">
                <a:latin typeface="Times New Roman" panose="02020603050405020304" pitchFamily="18" charset="0"/>
                <a:ea typeface="楷体_GB2312" pitchFamily="49" charset="-122"/>
                <a:cs typeface="Times New Roman" panose="02020603050405020304" pitchFamily="18" charset="0"/>
              </a:rPr>
              <a:t>attr</a:t>
            </a:r>
            <a:r>
              <a:rPr lang="en-US" altLang="zh-CN" sz="2200" dirty="0">
                <a:latin typeface="Times New Roman" panose="02020603050405020304" pitchFamily="18" charset="0"/>
                <a:ea typeface="楷体_GB2312" pitchFamily="49" charset="-122"/>
                <a:cs typeface="Times New Roman" panose="02020603050405020304" pitchFamily="18" charset="0"/>
              </a:rPr>
              <a:t>:</a:t>
            </a:r>
            <a:r>
              <a:rPr lang="zh-CN" altLang="en-US" sz="2200" dirty="0">
                <a:latin typeface="Times New Roman" panose="02020603050405020304" pitchFamily="18" charset="0"/>
                <a:ea typeface="楷体_GB2312" pitchFamily="49" charset="-122"/>
                <a:cs typeface="Times New Roman" panose="02020603050405020304" pitchFamily="18" charset="0"/>
              </a:rPr>
              <a:t>为新线程定义不同属性</a:t>
            </a:r>
            <a:r>
              <a:rPr lang="en-US" altLang="zh-CN" sz="2200" dirty="0">
                <a:latin typeface="Times New Roman" panose="02020603050405020304" pitchFamily="18" charset="0"/>
                <a:ea typeface="楷体_GB2312" pitchFamily="49" charset="-122"/>
                <a:cs typeface="Times New Roman" panose="02020603050405020304" pitchFamily="18" charset="0"/>
              </a:rPr>
              <a:t>(</a:t>
            </a:r>
            <a:r>
              <a:rPr lang="zh-CN" altLang="en-US" sz="2200" dirty="0">
                <a:latin typeface="Times New Roman" panose="02020603050405020304" pitchFamily="18" charset="0"/>
                <a:ea typeface="楷体_GB2312" pitchFamily="49" charset="-122"/>
                <a:cs typeface="Times New Roman" panose="02020603050405020304" pitchFamily="18" charset="0"/>
              </a:rPr>
              <a:t>如栈尺寸</a:t>
            </a:r>
            <a:r>
              <a:rPr lang="en-US" altLang="zh-CN" sz="2200" dirty="0">
                <a:latin typeface="Times New Roman" panose="02020603050405020304" pitchFamily="18" charset="0"/>
                <a:ea typeface="楷体_GB2312" pitchFamily="49" charset="-122"/>
                <a:cs typeface="Times New Roman" panose="02020603050405020304" pitchFamily="18" charset="0"/>
              </a:rPr>
              <a:t>)</a:t>
            </a:r>
            <a:r>
              <a:rPr lang="zh-CN" altLang="en-US" sz="2200" dirty="0">
                <a:latin typeface="Times New Roman" panose="02020603050405020304" pitchFamily="18" charset="0"/>
                <a:ea typeface="楷体_GB2312" pitchFamily="49" charset="-122"/>
                <a:cs typeface="Times New Roman" panose="02020603050405020304" pitchFamily="18" charset="0"/>
              </a:rPr>
              <a:t>默认为</a:t>
            </a:r>
            <a:r>
              <a:rPr lang="en-US" altLang="zh-CN" sz="2200" dirty="0">
                <a:latin typeface="Times New Roman" panose="02020603050405020304" pitchFamily="18" charset="0"/>
                <a:ea typeface="楷体_GB2312" pitchFamily="49" charset="-122"/>
                <a:cs typeface="Times New Roman" panose="02020603050405020304" pitchFamily="18" charset="0"/>
              </a:rPr>
              <a:t>NULL</a:t>
            </a:r>
            <a:endParaRPr lang="en-US" altLang="zh-CN" sz="2200" dirty="0">
              <a:latin typeface="Times New Roman" panose="02020603050405020304" pitchFamily="18" charset="0"/>
              <a:ea typeface="楷体_GB2312" pitchFamily="49" charset="-122"/>
              <a:cs typeface="Times New Roman" panose="02020603050405020304" pitchFamily="18" charset="0"/>
            </a:endParaRPr>
          </a:p>
          <a:p>
            <a:pPr lvl="2" eaLnBrk="1" hangingPunct="1">
              <a:buFont typeface="Arial" panose="020B0604020202020204" pitchFamily="34" charset="0"/>
              <a:buChar char="•"/>
            </a:pPr>
            <a:r>
              <a:rPr lang="zh-CN" altLang="en-US" sz="2200" dirty="0">
                <a:latin typeface="Times New Roman" panose="02020603050405020304" pitchFamily="18" charset="0"/>
                <a:ea typeface="楷体_GB2312" pitchFamily="49" charset="-122"/>
                <a:cs typeface="Times New Roman" panose="02020603050405020304" pitchFamily="18" charset="0"/>
              </a:rPr>
              <a:t>第三个和第四个参数指定执行的函数</a:t>
            </a:r>
            <a:r>
              <a:rPr lang="en-US" altLang="zh-CN" sz="2200" dirty="0" err="1">
                <a:latin typeface="Times New Roman" panose="02020603050405020304" pitchFamily="18" charset="0"/>
                <a:ea typeface="楷体_GB2312" pitchFamily="49" charset="-122"/>
                <a:cs typeface="Times New Roman" panose="02020603050405020304" pitchFamily="18" charset="0"/>
              </a:rPr>
              <a:t>start_rtn</a:t>
            </a:r>
            <a:r>
              <a:rPr lang="zh-CN" altLang="en-US" sz="2200" dirty="0">
                <a:latin typeface="Times New Roman" panose="02020603050405020304" pitchFamily="18" charset="0"/>
                <a:ea typeface="楷体_GB2312" pitchFamily="49" charset="-122"/>
                <a:cs typeface="Times New Roman" panose="02020603050405020304" pitchFamily="18" charset="0"/>
              </a:rPr>
              <a:t>和传递给函数的参数</a:t>
            </a:r>
            <a:r>
              <a:rPr lang="en-US" altLang="zh-CN" sz="2200" dirty="0" err="1">
                <a:latin typeface="Times New Roman" panose="02020603050405020304" pitchFamily="18" charset="0"/>
                <a:ea typeface="楷体_GB2312" pitchFamily="49" charset="-122"/>
                <a:cs typeface="Times New Roman" panose="02020603050405020304" pitchFamily="18" charset="0"/>
              </a:rPr>
              <a:t>arg</a:t>
            </a:r>
            <a:endParaRPr lang="en-US" altLang="zh-CN" sz="22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sz="2200" dirty="0">
                <a:latin typeface="Times New Roman" panose="02020603050405020304" pitchFamily="18" charset="0"/>
                <a:ea typeface="楷体_GB2312" pitchFamily="49" charset="-122"/>
                <a:cs typeface="Times New Roman" panose="02020603050405020304" pitchFamily="18" charset="0"/>
              </a:rPr>
              <a:t>两者区别</a:t>
            </a:r>
            <a:endParaRPr lang="zh-CN" altLang="en-US" sz="2200"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sz="2200" dirty="0">
                <a:latin typeface="Times New Roman" panose="02020603050405020304" pitchFamily="18" charset="0"/>
                <a:ea typeface="楷体_GB2312" pitchFamily="49" charset="-122"/>
                <a:cs typeface="Times New Roman" panose="02020603050405020304" pitchFamily="18" charset="0"/>
              </a:rPr>
              <a:t>clone()</a:t>
            </a:r>
            <a:r>
              <a:rPr lang="zh-CN" altLang="en-US" sz="2200" dirty="0">
                <a:latin typeface="Times New Roman" panose="02020603050405020304" pitchFamily="18" charset="0"/>
                <a:ea typeface="楷体_GB2312" pitchFamily="49" charset="-122"/>
                <a:cs typeface="Times New Roman" panose="02020603050405020304" pitchFamily="18" charset="0"/>
              </a:rPr>
              <a:t>：创建内核支持的用户线程，对内核可见且由内核调度</a:t>
            </a:r>
            <a:endParaRPr lang="zh-CN" altLang="en-US" sz="2200"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sz="2200" dirty="0" err="1">
                <a:latin typeface="Times New Roman" panose="02020603050405020304" pitchFamily="18" charset="0"/>
                <a:ea typeface="楷体_GB2312" pitchFamily="49" charset="-122"/>
                <a:cs typeface="Times New Roman" panose="02020603050405020304" pitchFamily="18" charset="0"/>
              </a:rPr>
              <a:t>pthread_create</a:t>
            </a:r>
            <a:r>
              <a:rPr lang="en-US" altLang="zh-CN" sz="2200" dirty="0">
                <a:latin typeface="Times New Roman" panose="02020603050405020304" pitchFamily="18" charset="0"/>
                <a:ea typeface="楷体_GB2312" pitchFamily="49" charset="-122"/>
                <a:cs typeface="Times New Roman" panose="02020603050405020304" pitchFamily="18" charset="0"/>
              </a:rPr>
              <a:t>()</a:t>
            </a:r>
            <a:r>
              <a:rPr lang="zh-CN" altLang="en-US" sz="2200" dirty="0">
                <a:latin typeface="Times New Roman" panose="02020603050405020304" pitchFamily="18" charset="0"/>
                <a:ea typeface="楷体_GB2312" pitchFamily="49" charset="-122"/>
                <a:cs typeface="Times New Roman" panose="02020603050405020304" pitchFamily="18" charset="0"/>
              </a:rPr>
              <a:t>：由基于</a:t>
            </a:r>
            <a:r>
              <a:rPr lang="en-US" altLang="zh-CN" sz="2200" dirty="0">
                <a:latin typeface="Times New Roman" panose="02020603050405020304" pitchFamily="18" charset="0"/>
                <a:ea typeface="楷体_GB2312" pitchFamily="49" charset="-122"/>
                <a:cs typeface="Times New Roman" panose="02020603050405020304" pitchFamily="18" charset="0"/>
              </a:rPr>
              <a:t>POSIX</a:t>
            </a:r>
            <a:r>
              <a:rPr lang="zh-CN" altLang="en-US" sz="2200" dirty="0">
                <a:latin typeface="Times New Roman" panose="02020603050405020304" pitchFamily="18" charset="0"/>
                <a:ea typeface="楷体_GB2312" pitchFamily="49" charset="-122"/>
                <a:cs typeface="Times New Roman" panose="02020603050405020304" pitchFamily="18" charset="0"/>
              </a:rPr>
              <a:t>标准的线程库创建的用户线程</a:t>
            </a:r>
            <a:endParaRPr lang="en-US" altLang="zh-CN" sz="2200" dirty="0">
              <a:latin typeface="Times New Roman" panose="02020603050405020304" pitchFamily="18" charset="0"/>
              <a:ea typeface="楷体_GB2312" pitchFamily="49" charset="-122"/>
              <a:cs typeface="Times New Roman" panose="02020603050405020304" pitchFamily="18" charset="0"/>
            </a:endParaRPr>
          </a:p>
          <a:p>
            <a:pPr lvl="2" eaLnBrk="1" hangingPunct="1">
              <a:buFont typeface="Arial" panose="020B0604020202020204" pitchFamily="34" charset="0"/>
              <a:buChar char="•"/>
            </a:pPr>
            <a:r>
              <a:rPr lang="zh-CN" altLang="en-US" sz="2200" dirty="0">
                <a:latin typeface="Times New Roman" panose="02020603050405020304" pitchFamily="18" charset="0"/>
                <a:ea typeface="楷体_GB2312" pitchFamily="49" charset="-122"/>
                <a:cs typeface="Times New Roman" panose="02020603050405020304" pitchFamily="18" charset="0"/>
              </a:rPr>
              <a:t>但在</a:t>
            </a:r>
            <a:r>
              <a:rPr lang="en-US" altLang="zh-CN" sz="2200" dirty="0">
                <a:latin typeface="Times New Roman" panose="02020603050405020304" pitchFamily="18" charset="0"/>
                <a:ea typeface="楷体_GB2312" pitchFamily="49" charset="-122"/>
                <a:cs typeface="Times New Roman" panose="02020603050405020304" pitchFamily="18" charset="0"/>
              </a:rPr>
              <a:t>Linux</a:t>
            </a:r>
            <a:r>
              <a:rPr lang="zh-CN" altLang="en-US" sz="2200" dirty="0">
                <a:latin typeface="Times New Roman" panose="02020603050405020304" pitchFamily="18" charset="0"/>
                <a:ea typeface="楷体_GB2312" pitchFamily="49" charset="-122"/>
                <a:cs typeface="Times New Roman" panose="02020603050405020304" pitchFamily="18" charset="0"/>
              </a:rPr>
              <a:t>里，</a:t>
            </a:r>
            <a:r>
              <a:rPr lang="en-US" altLang="zh-CN" sz="2200" dirty="0">
                <a:latin typeface="Times New Roman" panose="02020603050405020304" pitchFamily="18" charset="0"/>
                <a:ea typeface="楷体_GB2312" pitchFamily="49" charset="-122"/>
                <a:cs typeface="Times New Roman" panose="02020603050405020304" pitchFamily="18" charset="0"/>
              </a:rPr>
              <a:t> </a:t>
            </a:r>
            <a:r>
              <a:rPr lang="en-US" altLang="zh-CN" sz="2200" dirty="0" err="1">
                <a:latin typeface="Times New Roman" panose="02020603050405020304" pitchFamily="18" charset="0"/>
                <a:ea typeface="楷体_GB2312" pitchFamily="49" charset="-122"/>
                <a:cs typeface="Times New Roman" panose="02020603050405020304" pitchFamily="18" charset="0"/>
              </a:rPr>
              <a:t>pthread_create</a:t>
            </a:r>
            <a:r>
              <a:rPr lang="en-US" altLang="zh-CN" sz="2200" dirty="0">
                <a:latin typeface="Times New Roman" panose="02020603050405020304" pitchFamily="18" charset="0"/>
                <a:ea typeface="楷体_GB2312" pitchFamily="49" charset="-122"/>
                <a:cs typeface="Times New Roman" panose="02020603050405020304" pitchFamily="18" charset="0"/>
              </a:rPr>
              <a:t>()</a:t>
            </a:r>
            <a:r>
              <a:rPr lang="zh-CN" altLang="en-US" sz="2200" dirty="0">
                <a:latin typeface="Times New Roman" panose="02020603050405020304" pitchFamily="18" charset="0"/>
                <a:ea typeface="楷体_GB2312" pitchFamily="49" charset="-122"/>
                <a:cs typeface="Times New Roman" panose="02020603050405020304" pitchFamily="18" charset="0"/>
              </a:rPr>
              <a:t>最终调用</a:t>
            </a:r>
            <a:r>
              <a:rPr lang="en-US" altLang="zh-CN" sz="2200" dirty="0">
                <a:latin typeface="Times New Roman" panose="02020603050405020304" pitchFamily="18" charset="0"/>
                <a:ea typeface="楷体_GB2312" pitchFamily="49" charset="-122"/>
                <a:cs typeface="Times New Roman" panose="02020603050405020304" pitchFamily="18" charset="0"/>
              </a:rPr>
              <a:t>clone()</a:t>
            </a:r>
            <a:r>
              <a:rPr lang="zh-CN" altLang="en-US" sz="2200" dirty="0">
                <a:latin typeface="Times New Roman" panose="02020603050405020304" pitchFamily="18" charset="0"/>
                <a:ea typeface="楷体_GB2312" pitchFamily="49" charset="-122"/>
                <a:cs typeface="Times New Roman" panose="02020603050405020304" pitchFamily="18" charset="0"/>
              </a:rPr>
              <a:t>实现</a:t>
            </a:r>
            <a:endParaRPr lang="en-US" altLang="zh-CN" sz="2200" dirty="0">
              <a:latin typeface="Times New Roman" panose="02020603050405020304" pitchFamily="18" charset="0"/>
              <a:ea typeface="楷体_GB2312" pitchFamily="49" charset="-122"/>
              <a:cs typeface="Times New Roman" panose="02020603050405020304" pitchFamily="18" charset="0"/>
            </a:endParaRPr>
          </a:p>
        </p:txBody>
      </p:sp>
      <p:sp>
        <p:nvSpPr>
          <p:cNvPr id="6" name="Rectangle 6"/>
          <p:cNvSpPr>
            <a:spLocks noGrp="1" noChangeArrowheads="1"/>
          </p:cNvSpPr>
          <p:nvPr>
            <p:ph type="title"/>
          </p:nvPr>
        </p:nvSpPr>
        <p:spPr>
          <a:xfrm>
            <a:off x="611188" y="0"/>
            <a:ext cx="7632700" cy="609600"/>
          </a:xfrm>
          <a:noFill/>
        </p:spPr>
        <p:txBody>
          <a:bodyPr/>
          <a:lstStyle/>
          <a:p>
            <a:pPr eaLnBrk="1" hangingPunct="1"/>
            <a:br>
              <a:rPr lang="zh-CN" altLang="en-US" dirty="0">
                <a:latin typeface="Times New Roman" panose="02020603050405020304" pitchFamily="18" charset="0"/>
                <a:ea typeface="楷体_GB2312" pitchFamily="49" charset="-122"/>
                <a:cs typeface="Times New Roman" panose="02020603050405020304" pitchFamily="18" charset="0"/>
              </a:rPr>
            </a:br>
            <a:r>
              <a:rPr lang="en-US" altLang="zh-CN" dirty="0">
                <a:latin typeface="Times New Roman" panose="02020603050405020304" pitchFamily="18" charset="0"/>
                <a:ea typeface="楷体_GB2312" pitchFamily="49" charset="-122"/>
                <a:cs typeface="Times New Roman" panose="02020603050405020304" pitchFamily="18" charset="0"/>
              </a:rPr>
              <a:t>2.8  Linux</a:t>
            </a:r>
            <a:r>
              <a:rPr lang="zh-CN" altLang="en-US" dirty="0">
                <a:latin typeface="Times New Roman" panose="02020603050405020304" pitchFamily="18" charset="0"/>
                <a:ea typeface="楷体_GB2312" pitchFamily="49" charset="-122"/>
                <a:cs typeface="Times New Roman" panose="02020603050405020304" pitchFamily="18" charset="0"/>
              </a:rPr>
              <a:t>线程实现机制</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ransition>
    <p:wedge/>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3"/>
          <p:cNvSpPr>
            <a:spLocks noGrp="1" noChangeArrowheads="1"/>
          </p:cNvSpPr>
          <p:nvPr>
            <p:ph type="body" idx="1"/>
          </p:nvPr>
        </p:nvSpPr>
        <p:spPr>
          <a:xfrm>
            <a:off x="395536" y="1044549"/>
            <a:ext cx="8532812" cy="5589587"/>
          </a:xfrm>
        </p:spPr>
        <p:txBody>
          <a:bodyPr/>
          <a:lstStyle/>
          <a:p>
            <a:pPr eaLnBrk="1" hangingPunct="1">
              <a:buFont typeface="Arial" panose="020B0604020202020204" pitchFamily="34" charset="0"/>
              <a:buChar char="•"/>
            </a:pPr>
            <a:r>
              <a:rPr lang="en-US" altLang="zh-CN" dirty="0">
                <a:latin typeface="Times New Roman" panose="02020603050405020304" pitchFamily="18" charset="0"/>
                <a:ea typeface="楷体_GB2312" pitchFamily="49" charset="-122"/>
                <a:cs typeface="Times New Roman" panose="02020603050405020304" pitchFamily="18" charset="0"/>
              </a:rPr>
              <a:t>Linux</a:t>
            </a:r>
            <a:r>
              <a:rPr lang="zh-CN" altLang="en-US" dirty="0">
                <a:latin typeface="Times New Roman" panose="02020603050405020304" pitchFamily="18" charset="0"/>
                <a:ea typeface="楷体_GB2312" pitchFamily="49" charset="-122"/>
                <a:cs typeface="Times New Roman" panose="02020603050405020304" pitchFamily="18" charset="0"/>
              </a:rPr>
              <a:t>内核线程独立运行在内核空间的标准进程，支持内核在后台执行一些操作</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刷新磁盘高速缓存</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交换出不用的页框</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维护网络链接等待</a:t>
            </a:r>
            <a:endParaRPr lang="zh-CN" altLang="en-US"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与普通进程的区别</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只运行在内核态，内核线程没有独立的地址空间（</a:t>
            </a:r>
            <a:r>
              <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rPr>
              <a:t>mm</a:t>
            </a:r>
            <a:r>
              <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指针被设置为</a:t>
            </a:r>
            <a:r>
              <a:rPr lang="en-US" altLang="zh-CN" dirty="0">
                <a:solidFill>
                  <a:srgbClr val="FF0000"/>
                </a:solidFill>
                <a:latin typeface="Times New Roman" panose="02020603050405020304" pitchFamily="18" charset="0"/>
                <a:ea typeface="楷体_GB2312" pitchFamily="49" charset="-122"/>
                <a:cs typeface="Times New Roman" panose="02020603050405020304" pitchFamily="18" charset="0"/>
              </a:rPr>
              <a:t>NULL</a:t>
            </a:r>
            <a:r>
              <a:rPr lang="zh-CN" altLang="en-US" dirty="0">
                <a:latin typeface="Times New Roman" panose="02020603050405020304" pitchFamily="18" charset="0"/>
                <a:ea typeface="楷体_GB2312" pitchFamily="49" charset="-122"/>
                <a:cs typeface="Times New Roman" panose="02020603050405020304" pitchFamily="18" charset="0"/>
              </a:rPr>
              <a:t>）</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每个内核线程执行一个</a:t>
            </a:r>
            <a:r>
              <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rPr>
              <a:t>单独的内核函数</a:t>
            </a:r>
            <a:endParaRPr lang="zh-CN" altLang="en-US" dirty="0">
              <a:solidFill>
                <a:srgbClr val="FF0000"/>
              </a:solidFill>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只使用大于</a:t>
            </a:r>
            <a:r>
              <a:rPr lang="en-US" altLang="zh-CN" dirty="0">
                <a:latin typeface="Times New Roman" panose="02020603050405020304" pitchFamily="18" charset="0"/>
                <a:ea typeface="楷体_GB2312" pitchFamily="49" charset="-122"/>
                <a:cs typeface="Times New Roman" panose="02020603050405020304" pitchFamily="18" charset="0"/>
              </a:rPr>
              <a:t>PAGE_OFFSET</a:t>
            </a:r>
            <a:r>
              <a:rPr lang="zh-CN" altLang="en-US" dirty="0">
                <a:latin typeface="Times New Roman" panose="02020603050405020304" pitchFamily="18" charset="0"/>
                <a:ea typeface="楷体_GB2312" pitchFamily="49" charset="-122"/>
                <a:cs typeface="Times New Roman" panose="02020603050405020304" pitchFamily="18" charset="0"/>
              </a:rPr>
              <a:t>的线性地址空间</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
        <p:nvSpPr>
          <p:cNvPr id="6" name="Rectangle 6"/>
          <p:cNvSpPr>
            <a:spLocks noGrp="1" noChangeArrowheads="1"/>
          </p:cNvSpPr>
          <p:nvPr>
            <p:ph type="title"/>
          </p:nvPr>
        </p:nvSpPr>
        <p:spPr>
          <a:xfrm>
            <a:off x="611188" y="0"/>
            <a:ext cx="7632700" cy="609600"/>
          </a:xfrm>
          <a:noFill/>
        </p:spPr>
        <p:txBody>
          <a:bodyPr/>
          <a:lstStyle/>
          <a:p>
            <a:pPr eaLnBrk="1" hangingPunct="1"/>
            <a:br>
              <a:rPr lang="zh-CN" altLang="en-US" dirty="0">
                <a:latin typeface="Times New Roman" panose="02020603050405020304" pitchFamily="18" charset="0"/>
                <a:ea typeface="楷体_GB2312" pitchFamily="49" charset="-122"/>
                <a:cs typeface="Times New Roman" panose="02020603050405020304" pitchFamily="18" charset="0"/>
              </a:rPr>
            </a:br>
            <a:r>
              <a:rPr lang="en-US" altLang="zh-CN" dirty="0">
                <a:latin typeface="Times New Roman" panose="02020603050405020304" pitchFamily="18" charset="0"/>
                <a:ea typeface="楷体_GB2312" pitchFamily="49" charset="-122"/>
                <a:cs typeface="Times New Roman" panose="02020603050405020304" pitchFamily="18" charset="0"/>
              </a:rPr>
              <a:t>2.8  Linux</a:t>
            </a:r>
            <a:r>
              <a:rPr lang="zh-CN" altLang="en-US" dirty="0">
                <a:latin typeface="Times New Roman" panose="02020603050405020304" pitchFamily="18" charset="0"/>
                <a:ea typeface="楷体_GB2312" pitchFamily="49" charset="-122"/>
                <a:cs typeface="Times New Roman" panose="02020603050405020304" pitchFamily="18" charset="0"/>
              </a:rPr>
              <a:t>线程实现机制</a:t>
            </a:r>
            <a:endParaRPr lang="zh-CN" altLang="en-US"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ransition>
    <p:wedg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53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532">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532">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532">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2532">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532">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532">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53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2" grpId="0" build="p"/>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Text Box 2"/>
          <p:cNvSpPr txBox="1">
            <a:spLocks noChangeArrowheads="1"/>
          </p:cNvSpPr>
          <p:nvPr/>
        </p:nvSpPr>
        <p:spPr bwMode="auto">
          <a:xfrm>
            <a:off x="4746625" y="5953125"/>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lvl1pPr>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742950" indent="-28575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algn="ctr">
              <a:spcBef>
                <a:spcPct val="50000"/>
              </a:spcBef>
              <a:buClrTx/>
              <a:buFontTx/>
              <a:buNone/>
            </a:pPr>
            <a:endParaRPr kumimoji="1" lang="zh-CN" altLang="en-US" sz="2400" b="0">
              <a:solidFill>
                <a:schemeClr val="tx1"/>
              </a:solidFill>
              <a:latin typeface="Times New Roman" panose="02020603050405020304" pitchFamily="18" charset="0"/>
            </a:endParaRPr>
          </a:p>
        </p:txBody>
      </p:sp>
      <p:sp>
        <p:nvSpPr>
          <p:cNvPr id="353285" name="Rectangle 5"/>
          <p:cNvSpPr>
            <a:spLocks noChangeArrowheads="1"/>
          </p:cNvSpPr>
          <p:nvPr/>
        </p:nvSpPr>
        <p:spPr bwMode="auto">
          <a:xfrm>
            <a:off x="539750" y="981075"/>
            <a:ext cx="8280400"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Font typeface="Wingdings" panose="05000000000000000000" pitchFamily="2" charset="2"/>
              <a:buChar char="u"/>
              <a:defRPr sz="2800" b="1">
                <a:solidFill>
                  <a:srgbClr val="2B5681"/>
                </a:solidFill>
                <a:latin typeface="新宋体" panose="02010609030101010101" pitchFamily="49" charset="-122"/>
                <a:ea typeface="新宋体" panose="02010609030101010101" pitchFamily="49" charset="-122"/>
              </a:defRPr>
            </a:lvl1pPr>
            <a:lvl2pPr marL="342900" indent="-342900">
              <a:spcBef>
                <a:spcPct val="20000"/>
              </a:spcBef>
              <a:buClr>
                <a:schemeClr val="tx2"/>
              </a:buClr>
              <a:buSzPct val="60000"/>
              <a:buFont typeface="Wingdings" panose="05000000000000000000" pitchFamily="2" charset="2"/>
              <a:buChar char="n"/>
              <a:defRPr sz="2600" b="1">
                <a:solidFill>
                  <a:srgbClr val="008080"/>
                </a:solidFill>
                <a:latin typeface="新宋体" panose="02010609030101010101" pitchFamily="49" charset="-122"/>
                <a:ea typeface="新宋体" panose="02010609030101010101" pitchFamily="49" charset="-122"/>
              </a:defRPr>
            </a:lvl2pPr>
            <a:lvl3pPr marL="1143000" indent="-228600">
              <a:spcBef>
                <a:spcPct val="20000"/>
              </a:spcBef>
              <a:buClr>
                <a:schemeClr val="folHlink"/>
              </a:buClr>
              <a:buSzPct val="60000"/>
              <a:buFont typeface="Wingdings" panose="05000000000000000000" pitchFamily="2" charset="2"/>
              <a:buChar char="n"/>
              <a:defRPr sz="2400">
                <a:solidFill>
                  <a:srgbClr val="339966"/>
                </a:solidFill>
                <a:latin typeface="新宋体" panose="02010609030101010101" pitchFamily="49" charset="-122"/>
                <a:ea typeface="新宋体" panose="02010609030101010101" pitchFamily="49" charset="-122"/>
              </a:defRPr>
            </a:lvl3pPr>
            <a:lvl4pPr marL="1600200" indent="-228600">
              <a:spcBef>
                <a:spcPct val="20000"/>
              </a:spcBef>
              <a:buClr>
                <a:schemeClr val="tx1"/>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4pPr>
            <a:lvl5pPr marL="2057400" indent="-228600">
              <a:spcBef>
                <a:spcPct val="20000"/>
              </a:spcBef>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5pPr>
            <a:lvl6pPr marL="25146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6pPr>
            <a:lvl7pPr marL="29718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7pPr>
            <a:lvl8pPr marL="34290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8pPr>
            <a:lvl9pPr marL="3886200" indent="-228600" eaLnBrk="0" fontAlgn="base" hangingPunct="0">
              <a:spcBef>
                <a:spcPct val="20000"/>
              </a:spcBef>
              <a:spcAft>
                <a:spcPct val="0"/>
              </a:spcAft>
              <a:buClr>
                <a:schemeClr val="hlink"/>
              </a:buClr>
              <a:buSzPct val="60000"/>
              <a:buFont typeface="Wingdings" panose="05000000000000000000" pitchFamily="2" charset="2"/>
              <a:buChar char="n"/>
              <a:defRPr sz="2000">
                <a:solidFill>
                  <a:schemeClr val="tx2"/>
                </a:solidFill>
                <a:latin typeface="新宋体" panose="02010609030101010101" pitchFamily="49" charset="-122"/>
                <a:ea typeface="新宋体" panose="02010609030101010101" pitchFamily="49" charset="-122"/>
              </a:defRPr>
            </a:lvl9pPr>
          </a:lstStyle>
          <a:p>
            <a:pPr eaLnBrk="1" hangingPunct="1">
              <a:lnSpc>
                <a:spcPct val="90000"/>
              </a:lnSpc>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没事闲逛的</a:t>
            </a:r>
            <a:r>
              <a:rPr lang="en-US" altLang="zh-CN" sz="2400" dirty="0">
                <a:latin typeface="Times New Roman" panose="02020603050405020304" pitchFamily="18" charset="0"/>
                <a:ea typeface="楷体_GB2312" pitchFamily="49" charset="-122"/>
                <a:cs typeface="Times New Roman" panose="02020603050405020304" pitchFamily="18" charset="0"/>
              </a:rPr>
              <a:t>0</a:t>
            </a:r>
            <a:r>
              <a:rPr lang="zh-CN" altLang="en-US" sz="2400" dirty="0">
                <a:latin typeface="Times New Roman" panose="02020603050405020304" pitchFamily="18" charset="0"/>
                <a:ea typeface="楷体_GB2312" pitchFamily="49" charset="-122"/>
                <a:cs typeface="Times New Roman" panose="02020603050405020304" pitchFamily="18" charset="0"/>
              </a:rPr>
              <a:t>号进程</a:t>
            </a:r>
            <a:r>
              <a:rPr lang="en-US" altLang="zh-CN" sz="2400" dirty="0">
                <a:latin typeface="Times New Roman" panose="02020603050405020304" pitchFamily="18" charset="0"/>
                <a:ea typeface="楷体_GB2312" pitchFamily="49" charset="-122"/>
                <a:cs typeface="Times New Roman" panose="02020603050405020304" pitchFamily="18" charset="0"/>
              </a:rPr>
              <a:t>——</a:t>
            </a:r>
            <a:r>
              <a:rPr lang="zh-CN" altLang="en-US" sz="2400" dirty="0">
                <a:latin typeface="Times New Roman" panose="02020603050405020304" pitchFamily="18" charset="0"/>
                <a:ea typeface="楷体_GB2312" pitchFamily="49" charset="-122"/>
                <a:cs typeface="Times New Roman" panose="02020603050405020304" pitchFamily="18" charset="0"/>
              </a:rPr>
              <a:t>从无到有诞生的第一个内核线程，执行</a:t>
            </a:r>
            <a:r>
              <a:rPr lang="en-US" altLang="zh-CN" sz="2400" dirty="0" err="1">
                <a:latin typeface="Times New Roman" panose="02020603050405020304" pitchFamily="18" charset="0"/>
                <a:ea typeface="楷体_GB2312" pitchFamily="49" charset="-122"/>
                <a:cs typeface="Times New Roman" panose="02020603050405020304" pitchFamily="18" charset="0"/>
              </a:rPr>
              <a:t>cpu_idle</a:t>
            </a:r>
            <a:r>
              <a:rPr lang="en-US" altLang="zh-CN" sz="2400" dirty="0">
                <a:latin typeface="Times New Roman" panose="02020603050405020304" pitchFamily="18" charset="0"/>
                <a:ea typeface="楷体_GB2312" pitchFamily="49" charset="-122"/>
                <a:cs typeface="Times New Roman" panose="02020603050405020304" pitchFamily="18" charset="0"/>
              </a:rPr>
              <a:t>()</a:t>
            </a:r>
            <a:r>
              <a:rPr lang="zh-CN" altLang="en-US" sz="2400" dirty="0">
                <a:latin typeface="Times New Roman" panose="02020603050405020304" pitchFamily="18" charset="0"/>
                <a:ea typeface="楷体_GB2312" pitchFamily="49" charset="-122"/>
                <a:cs typeface="Times New Roman" panose="02020603050405020304" pitchFamily="18" charset="0"/>
              </a:rPr>
              <a:t>函数（省电又少热）。</a:t>
            </a: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eaLnBrk="1" hangingPunct="1">
              <a:lnSpc>
                <a:spcPct val="90000"/>
              </a:lnSpc>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既是内核线程也是</a:t>
            </a:r>
            <a:r>
              <a:rPr lang="en-US" altLang="zh-CN" sz="2400" dirty="0">
                <a:latin typeface="Times New Roman" panose="02020603050405020304" pitchFamily="18" charset="0"/>
                <a:ea typeface="楷体_GB2312" pitchFamily="49" charset="-122"/>
                <a:cs typeface="Times New Roman" panose="02020603050405020304" pitchFamily="18" charset="0"/>
              </a:rPr>
              <a:t>1</a:t>
            </a:r>
            <a:r>
              <a:rPr lang="zh-CN" altLang="en-US" sz="2400" dirty="0">
                <a:latin typeface="Times New Roman" panose="02020603050405020304" pitchFamily="18" charset="0"/>
                <a:ea typeface="楷体_GB2312" pitchFamily="49" charset="-122"/>
                <a:cs typeface="Times New Roman" panose="02020603050405020304" pitchFamily="18" charset="0"/>
              </a:rPr>
              <a:t>号用户进程的</a:t>
            </a:r>
            <a:r>
              <a:rPr lang="en-US" altLang="zh-CN" sz="2400" dirty="0" err="1">
                <a:latin typeface="Times New Roman" panose="02020603050405020304" pitchFamily="18" charset="0"/>
                <a:ea typeface="楷体_GB2312" pitchFamily="49" charset="-122"/>
                <a:cs typeface="Times New Roman" panose="02020603050405020304" pitchFamily="18" charset="0"/>
              </a:rPr>
              <a:t>init</a:t>
            </a:r>
            <a:r>
              <a:rPr lang="zh-CN" altLang="en-US" sz="2400" dirty="0">
                <a:latin typeface="Times New Roman" panose="02020603050405020304" pitchFamily="18" charset="0"/>
                <a:ea typeface="楷体_GB2312" pitchFamily="49" charset="-122"/>
                <a:cs typeface="Times New Roman" panose="02020603050405020304" pitchFamily="18" charset="0"/>
              </a:rPr>
              <a:t>。</a:t>
            </a: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eaLnBrk="1" hangingPunct="1">
              <a:lnSpc>
                <a:spcPct val="90000"/>
              </a:lnSpc>
              <a:buFont typeface="Arial" panose="020B0604020202020204" pitchFamily="34" charset="0"/>
              <a:buChar char="•"/>
            </a:pPr>
            <a:r>
              <a:rPr lang="en-US" altLang="zh-CN" sz="2400" dirty="0" err="1">
                <a:latin typeface="Times New Roman" panose="02020603050405020304" pitchFamily="18" charset="0"/>
                <a:ea typeface="楷体_GB2312" pitchFamily="49" charset="-122"/>
                <a:cs typeface="Times New Roman" panose="02020603050405020304" pitchFamily="18" charset="0"/>
              </a:rPr>
              <a:t>Init</a:t>
            </a:r>
            <a:r>
              <a:rPr lang="zh-CN" altLang="en-US" sz="2400" dirty="0">
                <a:latin typeface="Times New Roman" panose="02020603050405020304" pitchFamily="18" charset="0"/>
                <a:ea typeface="楷体_GB2312" pitchFamily="49" charset="-122"/>
                <a:cs typeface="Times New Roman" panose="02020603050405020304" pitchFamily="18" charset="0"/>
              </a:rPr>
              <a:t>内核线程被调度到时，执行内核函数</a:t>
            </a:r>
            <a:r>
              <a:rPr lang="en-US" altLang="zh-CN" sz="2400" dirty="0" err="1">
                <a:latin typeface="Times New Roman" panose="02020603050405020304" pitchFamily="18" charset="0"/>
                <a:ea typeface="楷体_GB2312" pitchFamily="49" charset="-122"/>
                <a:cs typeface="Times New Roman" panose="02020603050405020304" pitchFamily="18" charset="0"/>
              </a:rPr>
              <a:t>init</a:t>
            </a:r>
            <a:r>
              <a:rPr lang="en-US" altLang="zh-CN" sz="2400" dirty="0">
                <a:latin typeface="Times New Roman" panose="02020603050405020304" pitchFamily="18" charset="0"/>
                <a:ea typeface="楷体_GB2312" pitchFamily="49" charset="-122"/>
                <a:cs typeface="Times New Roman" panose="02020603050405020304" pitchFamily="18" charset="0"/>
              </a:rPr>
              <a:t>()</a:t>
            </a:r>
            <a:r>
              <a:rPr lang="zh-CN" altLang="en-US" sz="2400" dirty="0">
                <a:latin typeface="Times New Roman" panose="02020603050405020304" pitchFamily="18" charset="0"/>
                <a:ea typeface="楷体_GB2312" pitchFamily="49" charset="-122"/>
                <a:cs typeface="Times New Roman" panose="02020603050405020304" pitchFamily="18" charset="0"/>
              </a:rPr>
              <a:t>，将会四次调用</a:t>
            </a:r>
            <a:r>
              <a:rPr lang="en-US" altLang="zh-CN" sz="2400" dirty="0" err="1">
                <a:latin typeface="Times New Roman" panose="02020603050405020304" pitchFamily="18" charset="0"/>
                <a:ea typeface="楷体_GB2312" pitchFamily="49" charset="-122"/>
                <a:cs typeface="Times New Roman" panose="02020603050405020304" pitchFamily="18" charset="0"/>
              </a:rPr>
              <a:t>kernel_thread</a:t>
            </a:r>
            <a:r>
              <a:rPr lang="zh-CN" altLang="en-US" sz="2400" dirty="0">
                <a:latin typeface="Times New Roman" panose="02020603050405020304" pitchFamily="18" charset="0"/>
                <a:ea typeface="楷体_GB2312" pitchFamily="49" charset="-122"/>
                <a:cs typeface="Times New Roman" panose="02020603050405020304" pitchFamily="18" charset="0"/>
              </a:rPr>
              <a:t>，为常规内核任务初始化四个内核线程：</a:t>
            </a: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lvl="1" eaLnBrk="1" hangingPunct="1">
              <a:lnSpc>
                <a:spcPct val="90000"/>
              </a:lnSpc>
              <a:buClr>
                <a:schemeClr val="accent2"/>
              </a:buClr>
              <a:buSzTx/>
              <a:buFont typeface="Arial" panose="020B0604020202020204" pitchFamily="34" charset="0"/>
              <a:buChar char="•"/>
            </a:pPr>
            <a:r>
              <a:rPr lang="en-US" altLang="zh-CN" sz="2400" dirty="0" err="1">
                <a:solidFill>
                  <a:srgbClr val="2B5681"/>
                </a:solidFill>
                <a:latin typeface="Times New Roman" panose="02020603050405020304" pitchFamily="18" charset="0"/>
                <a:ea typeface="楷体_GB2312" pitchFamily="49" charset="-122"/>
                <a:cs typeface="Times New Roman" panose="02020603050405020304" pitchFamily="18" charset="0"/>
              </a:rPr>
              <a:t>kflushd</a:t>
            </a:r>
            <a:r>
              <a:rPr lang="en-US" altLang="zh-CN" sz="2400" dirty="0">
                <a:solidFill>
                  <a:srgbClr val="2B5681"/>
                </a:solidFill>
                <a:latin typeface="Times New Roman" panose="02020603050405020304" pitchFamily="18" charset="0"/>
                <a:ea typeface="楷体_GB2312" pitchFamily="49" charset="-122"/>
                <a:cs typeface="Times New Roman" panose="02020603050405020304" pitchFamily="18" charset="0"/>
              </a:rPr>
              <a:t> (</a:t>
            </a:r>
            <a:r>
              <a:rPr lang="zh-CN" altLang="en-US" sz="2400" dirty="0">
                <a:solidFill>
                  <a:srgbClr val="2B5681"/>
                </a:solidFill>
                <a:latin typeface="Times New Roman" panose="02020603050405020304" pitchFamily="18" charset="0"/>
                <a:ea typeface="楷体_GB2312" pitchFamily="49" charset="-122"/>
                <a:cs typeface="Times New Roman" panose="02020603050405020304" pitchFamily="18" charset="0"/>
              </a:rPr>
              <a:t>即</a:t>
            </a:r>
            <a:r>
              <a:rPr lang="en-US" altLang="zh-CN" sz="2400" dirty="0" err="1">
                <a:solidFill>
                  <a:srgbClr val="2B5681"/>
                </a:solidFill>
                <a:latin typeface="Times New Roman" panose="02020603050405020304" pitchFamily="18" charset="0"/>
                <a:ea typeface="楷体_GB2312" pitchFamily="49" charset="-122"/>
                <a:cs typeface="Times New Roman" panose="02020603050405020304" pitchFamily="18" charset="0"/>
              </a:rPr>
              <a:t>bdflush</a:t>
            </a:r>
            <a:r>
              <a:rPr lang="en-US" altLang="zh-CN" sz="2400" dirty="0">
                <a:solidFill>
                  <a:srgbClr val="2B5681"/>
                </a:solidFill>
                <a:latin typeface="Times New Roman" panose="02020603050405020304" pitchFamily="18" charset="0"/>
                <a:ea typeface="楷体_GB2312" pitchFamily="49" charset="-122"/>
                <a:cs typeface="Times New Roman" panose="02020603050405020304" pitchFamily="18" charset="0"/>
              </a:rPr>
              <a:t>)</a:t>
            </a:r>
            <a:r>
              <a:rPr lang="zh-CN" altLang="en-US" sz="2400" dirty="0">
                <a:solidFill>
                  <a:srgbClr val="2B5681"/>
                </a:solidFill>
                <a:latin typeface="Times New Roman" panose="02020603050405020304" pitchFamily="18" charset="0"/>
                <a:ea typeface="楷体_GB2312" pitchFamily="49" charset="-122"/>
                <a:cs typeface="Times New Roman" panose="02020603050405020304" pitchFamily="18" charset="0"/>
              </a:rPr>
              <a:t>线程：刷新“脏”缓冲区中的内容到磁盘以归还内存。</a:t>
            </a:r>
            <a:endParaRPr lang="zh-CN" altLang="en-US" sz="2400" dirty="0">
              <a:solidFill>
                <a:srgbClr val="2B5681"/>
              </a:solidFill>
              <a:latin typeface="Times New Roman" panose="02020603050405020304" pitchFamily="18" charset="0"/>
              <a:ea typeface="楷体_GB2312" pitchFamily="49" charset="-122"/>
              <a:cs typeface="Times New Roman" panose="02020603050405020304" pitchFamily="18" charset="0"/>
            </a:endParaRPr>
          </a:p>
          <a:p>
            <a:pPr lvl="1" eaLnBrk="1" hangingPunct="1">
              <a:lnSpc>
                <a:spcPct val="90000"/>
              </a:lnSpc>
              <a:buClr>
                <a:schemeClr val="accent2"/>
              </a:buClr>
              <a:buSzTx/>
              <a:buFont typeface="Arial" panose="020B0604020202020204" pitchFamily="34" charset="0"/>
              <a:buChar char="•"/>
            </a:pPr>
            <a:r>
              <a:rPr lang="en-US" altLang="zh-CN" sz="2400" dirty="0" err="1">
                <a:solidFill>
                  <a:srgbClr val="2B5681"/>
                </a:solidFill>
                <a:latin typeface="Times New Roman" panose="02020603050405020304" pitchFamily="18" charset="0"/>
                <a:ea typeface="楷体_GB2312" pitchFamily="49" charset="-122"/>
                <a:cs typeface="Times New Roman" panose="02020603050405020304" pitchFamily="18" charset="0"/>
              </a:rPr>
              <a:t>Kupdate</a:t>
            </a:r>
            <a:r>
              <a:rPr lang="zh-CN" altLang="en-US" sz="2400" dirty="0">
                <a:solidFill>
                  <a:srgbClr val="2B5681"/>
                </a:solidFill>
                <a:latin typeface="Times New Roman" panose="02020603050405020304" pitchFamily="18" charset="0"/>
                <a:ea typeface="楷体_GB2312" pitchFamily="49" charset="-122"/>
                <a:cs typeface="Times New Roman" panose="02020603050405020304" pitchFamily="18" charset="0"/>
              </a:rPr>
              <a:t>线程：刷新旧的“脏”缓冲区中的内容到磁盘以减少文件系统不一致的风险。 </a:t>
            </a:r>
            <a:endParaRPr lang="zh-CN" altLang="en-US" sz="2400" dirty="0">
              <a:solidFill>
                <a:srgbClr val="2B5681"/>
              </a:solidFill>
              <a:latin typeface="Times New Roman" panose="02020603050405020304" pitchFamily="18" charset="0"/>
              <a:ea typeface="楷体_GB2312" pitchFamily="49" charset="-122"/>
              <a:cs typeface="Times New Roman" panose="02020603050405020304" pitchFamily="18" charset="0"/>
            </a:endParaRPr>
          </a:p>
          <a:p>
            <a:pPr lvl="1" eaLnBrk="1" hangingPunct="1">
              <a:lnSpc>
                <a:spcPct val="90000"/>
              </a:lnSpc>
              <a:buClr>
                <a:schemeClr val="accent2"/>
              </a:buClr>
              <a:buSzTx/>
              <a:buFont typeface="Arial" panose="020B0604020202020204" pitchFamily="34" charset="0"/>
              <a:buChar char="•"/>
            </a:pPr>
            <a:r>
              <a:rPr lang="en-US" altLang="zh-CN" sz="2400" dirty="0" err="1">
                <a:solidFill>
                  <a:srgbClr val="2B5681"/>
                </a:solidFill>
                <a:latin typeface="Times New Roman" panose="02020603050405020304" pitchFamily="18" charset="0"/>
                <a:ea typeface="楷体_GB2312" pitchFamily="49" charset="-122"/>
                <a:cs typeface="Times New Roman" panose="02020603050405020304" pitchFamily="18" charset="0"/>
              </a:rPr>
              <a:t>Kpiod</a:t>
            </a:r>
            <a:r>
              <a:rPr lang="zh-CN" altLang="en-US" sz="2400" dirty="0">
                <a:solidFill>
                  <a:srgbClr val="2B5681"/>
                </a:solidFill>
                <a:latin typeface="Times New Roman" panose="02020603050405020304" pitchFamily="18" charset="0"/>
                <a:ea typeface="楷体_GB2312" pitchFamily="49" charset="-122"/>
                <a:cs typeface="Times New Roman" panose="02020603050405020304" pitchFamily="18" charset="0"/>
              </a:rPr>
              <a:t>线程：把属于共享内存映射的页面交换出去。 </a:t>
            </a:r>
            <a:endParaRPr lang="zh-CN" altLang="en-US" sz="2400" dirty="0">
              <a:solidFill>
                <a:srgbClr val="2B5681"/>
              </a:solidFill>
              <a:latin typeface="Times New Roman" panose="02020603050405020304" pitchFamily="18" charset="0"/>
              <a:ea typeface="楷体_GB2312" pitchFamily="49" charset="-122"/>
              <a:cs typeface="Times New Roman" panose="02020603050405020304" pitchFamily="18" charset="0"/>
            </a:endParaRPr>
          </a:p>
          <a:p>
            <a:pPr lvl="1" eaLnBrk="1" hangingPunct="1">
              <a:lnSpc>
                <a:spcPct val="90000"/>
              </a:lnSpc>
              <a:buClr>
                <a:schemeClr val="accent2"/>
              </a:buClr>
              <a:buSzTx/>
              <a:buFont typeface="Arial" panose="020B0604020202020204" pitchFamily="34" charset="0"/>
              <a:buChar char="•"/>
            </a:pPr>
            <a:r>
              <a:rPr lang="en-US" altLang="zh-CN" sz="2400" dirty="0" err="1">
                <a:solidFill>
                  <a:srgbClr val="2B5681"/>
                </a:solidFill>
                <a:latin typeface="Times New Roman" panose="02020603050405020304" pitchFamily="18" charset="0"/>
                <a:ea typeface="楷体_GB2312" pitchFamily="49" charset="-122"/>
                <a:cs typeface="Times New Roman" panose="02020603050405020304" pitchFamily="18" charset="0"/>
              </a:rPr>
              <a:t>Kswapd</a:t>
            </a:r>
            <a:r>
              <a:rPr lang="zh-CN" altLang="en-US" sz="2400" dirty="0">
                <a:solidFill>
                  <a:srgbClr val="2B5681"/>
                </a:solidFill>
                <a:latin typeface="Times New Roman" panose="02020603050405020304" pitchFamily="18" charset="0"/>
                <a:ea typeface="楷体_GB2312" pitchFamily="49" charset="-122"/>
                <a:cs typeface="Times New Roman" panose="02020603050405020304" pitchFamily="18" charset="0"/>
              </a:rPr>
              <a:t>线程：执行内存回收功能。 </a:t>
            </a:r>
            <a:endParaRPr lang="zh-CN" altLang="en-US" sz="2400" dirty="0">
              <a:solidFill>
                <a:srgbClr val="2B5681"/>
              </a:solidFill>
              <a:latin typeface="Times New Roman" panose="02020603050405020304" pitchFamily="18" charset="0"/>
              <a:ea typeface="楷体_GB2312" pitchFamily="49" charset="-122"/>
              <a:cs typeface="Times New Roman" panose="02020603050405020304" pitchFamily="18" charset="0"/>
            </a:endParaRPr>
          </a:p>
          <a:p>
            <a:pPr eaLnBrk="1" hangingPunct="1">
              <a:lnSpc>
                <a:spcPct val="90000"/>
              </a:lnSpc>
              <a:buFont typeface="Arial" panose="020B0604020202020204" pitchFamily="34" charset="0"/>
              <a:buChar char="•"/>
            </a:pPr>
            <a:r>
              <a:rPr lang="en-US" altLang="zh-CN" sz="2400" dirty="0" err="1">
                <a:latin typeface="Times New Roman" panose="02020603050405020304" pitchFamily="18" charset="0"/>
                <a:ea typeface="楷体_GB2312" pitchFamily="49" charset="-122"/>
                <a:cs typeface="Times New Roman" panose="02020603050405020304" pitchFamily="18" charset="0"/>
              </a:rPr>
              <a:t>init</a:t>
            </a:r>
            <a:r>
              <a:rPr lang="zh-CN" altLang="en-US" sz="2400" dirty="0">
                <a:latin typeface="Times New Roman" panose="02020603050405020304" pitchFamily="18" charset="0"/>
                <a:ea typeface="楷体_GB2312" pitchFamily="49" charset="-122"/>
                <a:cs typeface="Times New Roman" panose="02020603050405020304" pitchFamily="18" charset="0"/>
              </a:rPr>
              <a:t>内核函数调用</a:t>
            </a:r>
            <a:r>
              <a:rPr lang="en-US" altLang="zh-CN" sz="2400" dirty="0" err="1">
                <a:latin typeface="Times New Roman" panose="02020603050405020304" pitchFamily="18" charset="0"/>
                <a:ea typeface="楷体_GB2312" pitchFamily="49" charset="-122"/>
                <a:cs typeface="Times New Roman" panose="02020603050405020304" pitchFamily="18" charset="0"/>
              </a:rPr>
              <a:t>execve</a:t>
            </a:r>
            <a:r>
              <a:rPr lang="en-US" altLang="zh-CN" sz="2400" dirty="0">
                <a:latin typeface="Times New Roman" panose="02020603050405020304" pitchFamily="18" charset="0"/>
                <a:ea typeface="楷体_GB2312" pitchFamily="49" charset="-122"/>
                <a:cs typeface="Times New Roman" panose="02020603050405020304" pitchFamily="18" charset="0"/>
              </a:rPr>
              <a:t>()</a:t>
            </a:r>
            <a:r>
              <a:rPr lang="zh-CN" altLang="en-US" sz="2400" dirty="0">
                <a:latin typeface="Times New Roman" panose="02020603050405020304" pitchFamily="18" charset="0"/>
                <a:ea typeface="楷体_GB2312" pitchFamily="49" charset="-122"/>
                <a:cs typeface="Times New Roman" panose="02020603050405020304" pitchFamily="18" charset="0"/>
              </a:rPr>
              <a:t>，装入用户态下的可执行程序</a:t>
            </a:r>
            <a:r>
              <a:rPr lang="en-US" altLang="zh-CN" sz="2400" dirty="0" err="1">
                <a:latin typeface="Times New Roman" panose="02020603050405020304" pitchFamily="18" charset="0"/>
                <a:ea typeface="楷体_GB2312" pitchFamily="49" charset="-122"/>
                <a:cs typeface="Times New Roman" panose="02020603050405020304" pitchFamily="18" charset="0"/>
              </a:rPr>
              <a:t>sbin</a:t>
            </a:r>
            <a:r>
              <a:rPr lang="en-US" altLang="zh-CN" sz="2400" dirty="0">
                <a:latin typeface="Times New Roman" panose="02020603050405020304" pitchFamily="18" charset="0"/>
                <a:ea typeface="楷体_GB2312" pitchFamily="49" charset="-122"/>
                <a:cs typeface="Times New Roman" panose="02020603050405020304" pitchFamily="18" charset="0"/>
              </a:rPr>
              <a:t>/</a:t>
            </a:r>
            <a:r>
              <a:rPr lang="en-US" altLang="zh-CN" sz="2400" dirty="0" err="1">
                <a:latin typeface="Times New Roman" panose="02020603050405020304" pitchFamily="18" charset="0"/>
                <a:ea typeface="楷体_GB2312" pitchFamily="49" charset="-122"/>
                <a:cs typeface="Times New Roman" panose="02020603050405020304" pitchFamily="18" charset="0"/>
              </a:rPr>
              <a:t>init</a:t>
            </a:r>
            <a:r>
              <a:rPr lang="zh-CN" altLang="en-US" sz="2400" dirty="0">
                <a:latin typeface="Times New Roman" panose="02020603050405020304" pitchFamily="18" charset="0"/>
                <a:ea typeface="楷体_GB2312" pitchFamily="49" charset="-122"/>
                <a:cs typeface="Times New Roman" panose="02020603050405020304" pitchFamily="18" charset="0"/>
              </a:rPr>
              <a:t>，用户态下的第</a:t>
            </a:r>
            <a:r>
              <a:rPr lang="en-US" altLang="zh-CN" sz="2400" dirty="0">
                <a:latin typeface="Times New Roman" panose="02020603050405020304" pitchFamily="18" charset="0"/>
                <a:ea typeface="楷体_GB2312" pitchFamily="49" charset="-122"/>
                <a:cs typeface="Times New Roman" panose="02020603050405020304" pitchFamily="18" charset="0"/>
              </a:rPr>
              <a:t>1</a:t>
            </a:r>
            <a:r>
              <a:rPr lang="zh-CN" altLang="en-US" sz="2400" dirty="0">
                <a:latin typeface="Times New Roman" panose="02020603050405020304" pitchFamily="18" charset="0"/>
                <a:ea typeface="楷体_GB2312" pitchFamily="49" charset="-122"/>
                <a:cs typeface="Times New Roman" panose="02020603050405020304" pitchFamily="18" charset="0"/>
              </a:rPr>
              <a:t>个进程</a:t>
            </a:r>
            <a:r>
              <a:rPr lang="en-US" altLang="zh-CN" sz="2400" dirty="0" err="1">
                <a:latin typeface="Times New Roman" panose="02020603050405020304" pitchFamily="18" charset="0"/>
                <a:ea typeface="楷体_GB2312" pitchFamily="49" charset="-122"/>
                <a:cs typeface="Times New Roman" panose="02020603050405020304" pitchFamily="18" charset="0"/>
              </a:rPr>
              <a:t>init</a:t>
            </a:r>
            <a:r>
              <a:rPr lang="zh-CN" altLang="en-US" sz="2400" dirty="0">
                <a:latin typeface="Times New Roman" panose="02020603050405020304" pitchFamily="18" charset="0"/>
                <a:ea typeface="楷体_GB2312" pitchFamily="49" charset="-122"/>
                <a:cs typeface="Times New Roman" panose="02020603050405020304" pitchFamily="18" charset="0"/>
              </a:rPr>
              <a:t>就产生了。</a:t>
            </a:r>
            <a:endParaRPr lang="zh-CN" altLang="en-US" sz="2400" dirty="0">
              <a:latin typeface="Times New Roman" panose="02020603050405020304" pitchFamily="18" charset="0"/>
              <a:ea typeface="楷体_GB2312" pitchFamily="49" charset="-122"/>
              <a:cs typeface="Times New Roman" panose="02020603050405020304" pitchFamily="18" charset="0"/>
            </a:endParaRPr>
          </a:p>
        </p:txBody>
      </p:sp>
      <p:sp>
        <p:nvSpPr>
          <p:cNvPr id="6" name="Rectangle 6"/>
          <p:cNvSpPr txBox="1">
            <a:spLocks noChangeArrowheads="1"/>
          </p:cNvSpPr>
          <p:nvPr/>
        </p:nvSpPr>
        <p:spPr>
          <a:xfrm>
            <a:off x="611188" y="227112"/>
            <a:ext cx="7632700" cy="609600"/>
          </a:xfrm>
          <a:prstGeom prst="rect">
            <a:avLst/>
          </a:prstGeom>
          <a:noFill/>
        </p:spPr>
        <p:txBody>
          <a:bodyPr/>
          <a:lstStyle>
            <a:lvl1pPr algn="ctr" rtl="0" eaLnBrk="0" fontAlgn="base" hangingPunct="0">
              <a:spcBef>
                <a:spcPct val="0"/>
              </a:spcBef>
              <a:spcAft>
                <a:spcPct val="0"/>
              </a:spcAft>
              <a:defRPr sz="3200" b="1">
                <a:solidFill>
                  <a:schemeClr val="tx1"/>
                </a:solidFill>
                <a:latin typeface="+mj-lt"/>
                <a:ea typeface="+mj-ea"/>
                <a:cs typeface="+mj-cs"/>
              </a:defRPr>
            </a:lvl1pPr>
            <a:lvl2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2pPr>
            <a:lvl3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3pPr>
            <a:lvl4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4pPr>
            <a:lvl5pPr algn="ctr" rtl="0" eaLnBrk="0" fontAlgn="base" hangingPunct="0">
              <a:spcBef>
                <a:spcPct val="0"/>
              </a:spcBef>
              <a:spcAft>
                <a:spcPct val="0"/>
              </a:spcAft>
              <a:defRPr sz="3200" b="1">
                <a:solidFill>
                  <a:schemeClr val="tx1"/>
                </a:solidFill>
                <a:latin typeface="黑体" panose="02010609060101010101" pitchFamily="2" charset="-122"/>
                <a:ea typeface="黑体" panose="02010609060101010101" pitchFamily="2" charset="-122"/>
              </a:defRPr>
            </a:lvl5pPr>
            <a:lvl6pPr marL="4572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6pPr>
            <a:lvl7pPr marL="9144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7pPr>
            <a:lvl8pPr marL="13716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8pPr>
            <a:lvl9pPr marL="1828800" algn="ctr" rtl="0" fontAlgn="base">
              <a:spcBef>
                <a:spcPct val="0"/>
              </a:spcBef>
              <a:spcAft>
                <a:spcPct val="0"/>
              </a:spcAft>
              <a:defRPr sz="3200" b="1">
                <a:solidFill>
                  <a:schemeClr val="tx1"/>
                </a:solidFill>
                <a:latin typeface="黑体" panose="02010609060101010101" pitchFamily="2" charset="-122"/>
                <a:ea typeface="黑体" panose="02010609060101010101" pitchFamily="2" charset="-122"/>
              </a:defRPr>
            </a:lvl9pPr>
          </a:lstStyle>
          <a:p>
            <a:pPr eaLnBrk="1" hangingPunct="1"/>
            <a:r>
              <a:rPr lang="en-US" altLang="zh-CN" dirty="0">
                <a:latin typeface="Times New Roman" panose="02020603050405020304" pitchFamily="18" charset="0"/>
                <a:ea typeface="楷体_GB2312" pitchFamily="49" charset="-122"/>
                <a:cs typeface="Times New Roman" panose="02020603050405020304" pitchFamily="18" charset="0"/>
              </a:rPr>
              <a:t>2.8  Linux</a:t>
            </a:r>
            <a:r>
              <a:rPr lang="zh-CN" altLang="en-US" dirty="0">
                <a:latin typeface="Times New Roman" panose="02020603050405020304" pitchFamily="18" charset="0"/>
                <a:ea typeface="楷体_GB2312" pitchFamily="49" charset="-122"/>
                <a:cs typeface="Times New Roman" panose="02020603050405020304" pitchFamily="18" charset="0"/>
              </a:rPr>
              <a:t>线程实现机制</a:t>
            </a:r>
            <a:endParaRPr lang="zh-CN" altLang="en-US" kern="0"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ransition>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353285">
                                            <p:txEl>
                                              <p:pRg st="2" end="2"/>
                                            </p:txEl>
                                          </p:spTgt>
                                        </p:tgtEl>
                                        <p:attrNameLst>
                                          <p:attrName>style.visibility</p:attrName>
                                        </p:attrNameLst>
                                      </p:cBhvr>
                                      <p:to>
                                        <p:strVal val="visible"/>
                                      </p:to>
                                    </p:set>
                                    <p:animEffect transition="in" filter="box(out)">
                                      <p:cBhvr>
                                        <p:cTn id="7" dur="500"/>
                                        <p:tgtEl>
                                          <p:spTgt spid="353285">
                                            <p:txEl>
                                              <p:pRg st="2" end="2"/>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1"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353285">
                                            <p:txEl>
                                              <p:pRg st="3" end="3"/>
                                            </p:txEl>
                                          </p:spTgt>
                                        </p:tgtEl>
                                        <p:attrNameLst>
                                          <p:attrName>style.visibility</p:attrName>
                                        </p:attrNameLst>
                                      </p:cBhvr>
                                      <p:to>
                                        <p:strVal val="visible"/>
                                      </p:to>
                                    </p:set>
                                    <p:animEffect transition="in" filter="box(out)">
                                      <p:cBhvr>
                                        <p:cTn id="12" dur="500"/>
                                        <p:tgtEl>
                                          <p:spTgt spid="353285">
                                            <p:txEl>
                                              <p:pRg st="3" end="3"/>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1"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353285">
                                            <p:txEl>
                                              <p:pRg st="4" end="4"/>
                                            </p:txEl>
                                          </p:spTgt>
                                        </p:tgtEl>
                                        <p:attrNameLst>
                                          <p:attrName>style.visibility</p:attrName>
                                        </p:attrNameLst>
                                      </p:cBhvr>
                                      <p:to>
                                        <p:strVal val="visible"/>
                                      </p:to>
                                    </p:set>
                                    <p:animEffect transition="in" filter="box(out)">
                                      <p:cBhvr>
                                        <p:cTn id="17" dur="500"/>
                                        <p:tgtEl>
                                          <p:spTgt spid="353285">
                                            <p:txEl>
                                              <p:pRg st="4" end="4"/>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1"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353285">
                                            <p:txEl>
                                              <p:pRg st="5" end="5"/>
                                            </p:txEl>
                                          </p:spTgt>
                                        </p:tgtEl>
                                        <p:attrNameLst>
                                          <p:attrName>style.visibility</p:attrName>
                                        </p:attrNameLst>
                                      </p:cBhvr>
                                      <p:to>
                                        <p:strVal val="visible"/>
                                      </p:to>
                                    </p:set>
                                    <p:animEffect transition="in" filter="box(out)">
                                      <p:cBhvr>
                                        <p:cTn id="22" dur="500"/>
                                        <p:tgtEl>
                                          <p:spTgt spid="353285">
                                            <p:txEl>
                                              <p:pRg st="5" end="5"/>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1"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353285">
                                            <p:txEl>
                                              <p:pRg st="6" end="6"/>
                                            </p:txEl>
                                          </p:spTgt>
                                        </p:tgtEl>
                                        <p:attrNameLst>
                                          <p:attrName>style.visibility</p:attrName>
                                        </p:attrNameLst>
                                      </p:cBhvr>
                                      <p:to>
                                        <p:strVal val="visible"/>
                                      </p:to>
                                    </p:set>
                                    <p:animEffect transition="in" filter="box(out)">
                                      <p:cBhvr>
                                        <p:cTn id="27" dur="500"/>
                                        <p:tgtEl>
                                          <p:spTgt spid="353285">
                                            <p:txEl>
                                              <p:pRg st="6" end="6"/>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1"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353285">
                                            <p:txEl>
                                              <p:pRg st="7" end="7"/>
                                            </p:txEl>
                                          </p:spTgt>
                                        </p:tgtEl>
                                        <p:attrNameLst>
                                          <p:attrName>style.visibility</p:attrName>
                                        </p:attrNameLst>
                                      </p:cBhvr>
                                      <p:to>
                                        <p:strVal val="visible"/>
                                      </p:to>
                                    </p:set>
                                    <p:animEffect transition="in" filter="box(out)">
                                      <p:cBhvr>
                                        <p:cTn id="32" dur="500"/>
                                        <p:tgtEl>
                                          <p:spTgt spid="353285">
                                            <p:txEl>
                                              <p:pRg st="7" end="7"/>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1"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3285" grpId="0" bldLvl="3" autoUpdateAnimBg="0" build="p"/>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pPr eaLnBrk="1" hangingPunct="1"/>
            <a:r>
              <a:rPr lang="zh-CN" altLang="en-US">
                <a:latin typeface="Times New Roman" panose="02020603050405020304" pitchFamily="18" charset="0"/>
                <a:ea typeface="楷体_GB2312" pitchFamily="49" charset="-122"/>
                <a:cs typeface="Times New Roman" panose="02020603050405020304" pitchFamily="18" charset="0"/>
              </a:rPr>
              <a:t>本章知识点小结</a:t>
            </a:r>
            <a:endParaRPr lang="zh-CN" altLang="en-US">
              <a:latin typeface="Times New Roman" panose="02020603050405020304" pitchFamily="18" charset="0"/>
              <a:ea typeface="楷体_GB2312" pitchFamily="49" charset="-122"/>
              <a:cs typeface="Times New Roman" panose="02020603050405020304" pitchFamily="18" charset="0"/>
            </a:endParaRPr>
          </a:p>
        </p:txBody>
      </p:sp>
      <p:sp>
        <p:nvSpPr>
          <p:cNvPr id="26627" name="内容占位符 2"/>
          <p:cNvSpPr>
            <a:spLocks noGrp="1"/>
          </p:cNvSpPr>
          <p:nvPr>
            <p:ph idx="1"/>
          </p:nvPr>
        </p:nvSpPr>
        <p:spPr/>
        <p:txBody>
          <a:bodyPr/>
          <a:lstStyle/>
          <a:p>
            <a:pPr eaLnBrk="1" hangingPunct="1">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理解和掌握</a:t>
            </a:r>
            <a:r>
              <a:rPr lang="en-US" altLang="zh-CN" sz="2400" dirty="0">
                <a:latin typeface="Times New Roman" panose="02020603050405020304" pitchFamily="18" charset="0"/>
                <a:ea typeface="楷体_GB2312" pitchFamily="49" charset="-122"/>
                <a:cs typeface="Times New Roman" panose="02020603050405020304" pitchFamily="18" charset="0"/>
              </a:rPr>
              <a:t>Linux</a:t>
            </a:r>
            <a:r>
              <a:rPr lang="zh-CN" altLang="en-US" sz="2400" dirty="0">
                <a:latin typeface="Times New Roman" panose="02020603050405020304" pitchFamily="18" charset="0"/>
                <a:ea typeface="楷体_GB2312" pitchFamily="49" charset="-122"/>
                <a:cs typeface="Times New Roman" panose="02020603050405020304" pitchFamily="18" charset="0"/>
              </a:rPr>
              <a:t>的进程</a:t>
            </a:r>
            <a:r>
              <a:rPr lang="en-US" altLang="zh-CN" sz="2400" dirty="0">
                <a:latin typeface="Times New Roman" panose="02020603050405020304" pitchFamily="18" charset="0"/>
                <a:ea typeface="楷体_GB2312" pitchFamily="49" charset="-122"/>
                <a:cs typeface="Times New Roman" panose="02020603050405020304" pitchFamily="18" charset="0"/>
              </a:rPr>
              <a:t>/</a:t>
            </a:r>
            <a:r>
              <a:rPr lang="zh-CN" altLang="en-US" sz="2400" dirty="0">
                <a:latin typeface="Times New Roman" panose="02020603050405020304" pitchFamily="18" charset="0"/>
                <a:ea typeface="楷体_GB2312" pitchFamily="49" charset="-122"/>
                <a:cs typeface="Times New Roman" panose="02020603050405020304" pitchFamily="18" charset="0"/>
              </a:rPr>
              <a:t>线程描述机制</a:t>
            </a: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sz="2000" dirty="0">
                <a:latin typeface="Times New Roman" panose="02020603050405020304" pitchFamily="18" charset="0"/>
                <a:ea typeface="楷体_GB2312" pitchFamily="49" charset="-122"/>
                <a:cs typeface="Times New Roman" panose="02020603050405020304" pitchFamily="18" charset="0"/>
              </a:rPr>
              <a:t>Linux</a:t>
            </a:r>
            <a:r>
              <a:rPr lang="zh-CN" altLang="en-US" sz="2000" dirty="0">
                <a:latin typeface="Times New Roman" panose="02020603050405020304" pitchFamily="18" charset="0"/>
                <a:ea typeface="楷体_GB2312" pitchFamily="49" charset="-122"/>
                <a:cs typeface="Times New Roman" panose="02020603050405020304" pitchFamily="18" charset="0"/>
              </a:rPr>
              <a:t>进程描述符</a:t>
            </a:r>
            <a:endParaRPr lang="zh-CN" altLang="en-US" sz="2000"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sz="2000" dirty="0">
                <a:latin typeface="Times New Roman" panose="02020603050405020304" pitchFamily="18" charset="0"/>
                <a:ea typeface="楷体_GB2312" pitchFamily="49" charset="-122"/>
                <a:cs typeface="Times New Roman" panose="02020603050405020304" pitchFamily="18" charset="0"/>
              </a:rPr>
              <a:t>Linux</a:t>
            </a:r>
            <a:r>
              <a:rPr lang="zh-CN" altLang="en-US" sz="2000" dirty="0">
                <a:latin typeface="Times New Roman" panose="02020603050405020304" pitchFamily="18" charset="0"/>
                <a:ea typeface="楷体_GB2312" pitchFamily="49" charset="-122"/>
                <a:cs typeface="Times New Roman" panose="02020603050405020304" pitchFamily="18" charset="0"/>
              </a:rPr>
              <a:t>进程的系统堆栈结构</a:t>
            </a:r>
            <a:endParaRPr lang="zh-CN" altLang="en-US" sz="20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理解和掌握</a:t>
            </a:r>
            <a:r>
              <a:rPr lang="en-US" altLang="zh-CN" sz="2400" dirty="0">
                <a:latin typeface="Times New Roman" panose="02020603050405020304" pitchFamily="18" charset="0"/>
                <a:ea typeface="楷体_GB2312" pitchFamily="49" charset="-122"/>
                <a:cs typeface="Times New Roman" panose="02020603050405020304" pitchFamily="18" charset="0"/>
              </a:rPr>
              <a:t>Linux</a:t>
            </a:r>
            <a:r>
              <a:rPr lang="zh-CN" altLang="en-US" sz="2400" dirty="0">
                <a:latin typeface="Times New Roman" panose="02020603050405020304" pitchFamily="18" charset="0"/>
                <a:ea typeface="楷体_GB2312" pitchFamily="49" charset="-122"/>
                <a:cs typeface="Times New Roman" panose="02020603050405020304" pitchFamily="18" charset="0"/>
              </a:rPr>
              <a:t>进程的内核管理机制</a:t>
            </a: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zh-CN" altLang="en-US" sz="2000" dirty="0">
                <a:latin typeface="Times New Roman" panose="02020603050405020304" pitchFamily="18" charset="0"/>
                <a:ea typeface="楷体_GB2312" pitchFamily="49" charset="-122"/>
                <a:cs typeface="Times New Roman" panose="02020603050405020304" pitchFamily="18" charset="0"/>
              </a:rPr>
              <a:t>内核链表结构</a:t>
            </a:r>
            <a:endParaRPr lang="en-US" altLang="zh-CN" sz="2000"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sz="2000" dirty="0">
                <a:latin typeface="Times New Roman" panose="02020603050405020304" pitchFamily="18" charset="0"/>
                <a:ea typeface="楷体_GB2312" pitchFamily="49" charset="-122"/>
                <a:cs typeface="Times New Roman" panose="02020603050405020304" pitchFamily="18" charset="0"/>
              </a:rPr>
              <a:t>Linux</a:t>
            </a:r>
            <a:r>
              <a:rPr lang="zh-CN" altLang="en-US" sz="2000" dirty="0">
                <a:latin typeface="Times New Roman" panose="02020603050405020304" pitchFamily="18" charset="0"/>
                <a:ea typeface="楷体_GB2312" pitchFamily="49" charset="-122"/>
                <a:cs typeface="Times New Roman" panose="02020603050405020304" pitchFamily="18" charset="0"/>
              </a:rPr>
              <a:t>的进程家族结构</a:t>
            </a:r>
            <a:endParaRPr lang="zh-CN" altLang="en-US" sz="2000"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sz="2000" dirty="0">
                <a:latin typeface="Times New Roman" panose="02020603050405020304" pitchFamily="18" charset="0"/>
                <a:ea typeface="楷体_GB2312" pitchFamily="49" charset="-122"/>
                <a:cs typeface="Times New Roman" panose="02020603050405020304" pitchFamily="18" charset="0"/>
              </a:rPr>
              <a:t>Linux</a:t>
            </a:r>
            <a:r>
              <a:rPr lang="zh-CN" altLang="en-US" sz="2000" dirty="0">
                <a:latin typeface="Times New Roman" panose="02020603050405020304" pitchFamily="18" charset="0"/>
                <a:ea typeface="楷体_GB2312" pitchFamily="49" charset="-122"/>
                <a:cs typeface="Times New Roman" panose="02020603050405020304" pitchFamily="18" charset="0"/>
              </a:rPr>
              <a:t>进程系统启动过程</a:t>
            </a:r>
            <a:endParaRPr lang="zh-CN" altLang="en-US" sz="20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理解和掌握</a:t>
            </a:r>
            <a:r>
              <a:rPr lang="en-US" altLang="zh-CN" sz="2400" dirty="0">
                <a:latin typeface="Times New Roman" panose="02020603050405020304" pitchFamily="18" charset="0"/>
                <a:ea typeface="楷体_GB2312" pitchFamily="49" charset="-122"/>
                <a:cs typeface="Times New Roman" panose="02020603050405020304" pitchFamily="18" charset="0"/>
              </a:rPr>
              <a:t>Linux</a:t>
            </a:r>
            <a:r>
              <a:rPr lang="zh-CN" altLang="en-US" sz="2400" dirty="0">
                <a:latin typeface="Times New Roman" panose="02020603050405020304" pitchFamily="18" charset="0"/>
                <a:ea typeface="楷体_GB2312" pitchFamily="49" charset="-122"/>
                <a:cs typeface="Times New Roman" panose="02020603050405020304" pitchFamily="18" charset="0"/>
              </a:rPr>
              <a:t>进程创建与实现机制</a:t>
            </a: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sz="2000" dirty="0">
                <a:latin typeface="Times New Roman" panose="02020603050405020304" pitchFamily="18" charset="0"/>
                <a:ea typeface="楷体_GB2312" pitchFamily="49" charset="-122"/>
                <a:cs typeface="Times New Roman" panose="02020603050405020304" pitchFamily="18" charset="0"/>
              </a:rPr>
              <a:t>fork()</a:t>
            </a:r>
            <a:r>
              <a:rPr lang="zh-CN" altLang="en-US" sz="2000" dirty="0">
                <a:latin typeface="Times New Roman" panose="02020603050405020304" pitchFamily="18" charset="0"/>
                <a:ea typeface="楷体_GB2312" pitchFamily="49" charset="-122"/>
                <a:cs typeface="Times New Roman" panose="02020603050405020304" pitchFamily="18" charset="0"/>
              </a:rPr>
              <a:t>、</a:t>
            </a:r>
            <a:r>
              <a:rPr lang="en-US" altLang="zh-CN" sz="2000" dirty="0" err="1">
                <a:latin typeface="Times New Roman" panose="02020603050405020304" pitchFamily="18" charset="0"/>
                <a:ea typeface="楷体_GB2312" pitchFamily="49" charset="-122"/>
                <a:cs typeface="Times New Roman" panose="02020603050405020304" pitchFamily="18" charset="0"/>
              </a:rPr>
              <a:t>vfork</a:t>
            </a:r>
            <a:r>
              <a:rPr lang="en-US" altLang="zh-CN" sz="2000" dirty="0">
                <a:latin typeface="Times New Roman" panose="02020603050405020304" pitchFamily="18" charset="0"/>
                <a:ea typeface="楷体_GB2312" pitchFamily="49" charset="-122"/>
                <a:cs typeface="Times New Roman" panose="02020603050405020304" pitchFamily="18" charset="0"/>
              </a:rPr>
              <a:t>()</a:t>
            </a:r>
            <a:r>
              <a:rPr lang="zh-CN" altLang="en-US" sz="2000" dirty="0">
                <a:latin typeface="Times New Roman" panose="02020603050405020304" pitchFamily="18" charset="0"/>
                <a:ea typeface="楷体_GB2312" pitchFamily="49" charset="-122"/>
                <a:cs typeface="Times New Roman" panose="02020603050405020304" pitchFamily="18" charset="0"/>
              </a:rPr>
              <a:t>、</a:t>
            </a:r>
            <a:r>
              <a:rPr lang="en-US" altLang="zh-CN" sz="2000" dirty="0">
                <a:latin typeface="Times New Roman" panose="02020603050405020304" pitchFamily="18" charset="0"/>
                <a:ea typeface="楷体_GB2312" pitchFamily="49" charset="-122"/>
                <a:cs typeface="Times New Roman" panose="02020603050405020304" pitchFamily="18" charset="0"/>
              </a:rPr>
              <a:t>clone()</a:t>
            </a:r>
            <a:r>
              <a:rPr lang="zh-CN" altLang="en-US" sz="2000" dirty="0">
                <a:latin typeface="Times New Roman" panose="02020603050405020304" pitchFamily="18" charset="0"/>
                <a:ea typeface="楷体_GB2312" pitchFamily="49" charset="-122"/>
                <a:cs typeface="Times New Roman" panose="02020603050405020304" pitchFamily="18" charset="0"/>
              </a:rPr>
              <a:t>的使用场景及实现机制的差别</a:t>
            </a:r>
            <a:endParaRPr lang="zh-CN" altLang="en-US" sz="2000"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sz="2000" dirty="0" err="1">
                <a:latin typeface="Times New Roman" panose="02020603050405020304" pitchFamily="18" charset="0"/>
                <a:ea typeface="楷体_GB2312" pitchFamily="49" charset="-122"/>
                <a:cs typeface="Times New Roman" panose="02020603050405020304" pitchFamily="18" charset="0"/>
              </a:rPr>
              <a:t>do_fork</a:t>
            </a:r>
            <a:r>
              <a:rPr lang="en-US" altLang="zh-CN" sz="2000" dirty="0">
                <a:latin typeface="Times New Roman" panose="02020603050405020304" pitchFamily="18" charset="0"/>
                <a:ea typeface="楷体_GB2312" pitchFamily="49" charset="-122"/>
                <a:cs typeface="Times New Roman" panose="02020603050405020304" pitchFamily="18" charset="0"/>
              </a:rPr>
              <a:t>()</a:t>
            </a:r>
            <a:r>
              <a:rPr lang="zh-CN" altLang="en-US" sz="2000" dirty="0">
                <a:latin typeface="Times New Roman" panose="02020603050405020304" pitchFamily="18" charset="0"/>
                <a:ea typeface="楷体_GB2312" pitchFamily="49" charset="-122"/>
                <a:cs typeface="Times New Roman" panose="02020603050405020304" pitchFamily="18" charset="0"/>
              </a:rPr>
              <a:t>的工作机理</a:t>
            </a:r>
            <a:endParaRPr lang="en-US" altLang="zh-CN"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dirty="0">
                <a:latin typeface="Times New Roman" panose="02020603050405020304" pitchFamily="18" charset="0"/>
                <a:ea typeface="楷体_GB2312" pitchFamily="49" charset="-122"/>
                <a:cs typeface="Times New Roman" panose="02020603050405020304" pitchFamily="18" charset="0"/>
              </a:rPr>
              <a:t>理解和掌握</a:t>
            </a:r>
            <a:r>
              <a:rPr lang="en-US" altLang="zh-CN" dirty="0">
                <a:latin typeface="Times New Roman" panose="02020603050405020304" pitchFamily="18" charset="0"/>
                <a:ea typeface="楷体_GB2312" pitchFamily="49" charset="-122"/>
                <a:cs typeface="Times New Roman" panose="02020603050405020304" pitchFamily="18" charset="0"/>
              </a:rPr>
              <a:t>Linux</a:t>
            </a:r>
            <a:r>
              <a:rPr lang="zh-CN" altLang="en-US" dirty="0">
                <a:latin typeface="Times New Roman" panose="02020603050405020304" pitchFamily="18" charset="0"/>
                <a:ea typeface="楷体_GB2312" pitchFamily="49" charset="-122"/>
                <a:cs typeface="Times New Roman" panose="02020603050405020304" pitchFamily="18" charset="0"/>
              </a:rPr>
              <a:t>线程创建与实现机制</a:t>
            </a:r>
            <a:endParaRPr lang="zh-CN" altLang="en-US"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sz="2000" dirty="0">
                <a:latin typeface="Times New Roman" panose="02020603050405020304" pitchFamily="18" charset="0"/>
                <a:ea typeface="楷体_GB2312" pitchFamily="49" charset="-122"/>
                <a:cs typeface="Times New Roman" panose="02020603050405020304" pitchFamily="18" charset="0"/>
              </a:rPr>
              <a:t>Linux</a:t>
            </a:r>
            <a:r>
              <a:rPr lang="zh-CN" altLang="en-US" sz="2000" dirty="0">
                <a:latin typeface="Times New Roman" panose="02020603050405020304" pitchFamily="18" charset="0"/>
                <a:ea typeface="楷体_GB2312" pitchFamily="49" charset="-122"/>
                <a:cs typeface="Times New Roman" panose="02020603050405020304" pitchFamily="18" charset="0"/>
              </a:rPr>
              <a:t>线程的实现机制</a:t>
            </a:r>
            <a:endParaRPr lang="en-US" altLang="zh-CN" sz="2000" dirty="0">
              <a:latin typeface="Times New Roman" panose="02020603050405020304" pitchFamily="18" charset="0"/>
              <a:ea typeface="楷体_GB2312" pitchFamily="49" charset="-122"/>
              <a:cs typeface="Times New Roman" panose="02020603050405020304" pitchFamily="18" charset="0"/>
            </a:endParaRPr>
          </a:p>
          <a:p>
            <a:pPr lvl="1" eaLnBrk="1" hangingPunct="1">
              <a:buFont typeface="Arial" panose="020B0604020202020204" pitchFamily="34" charset="0"/>
              <a:buChar char="•"/>
            </a:pPr>
            <a:r>
              <a:rPr lang="en-US" altLang="zh-CN" sz="2000" dirty="0">
                <a:latin typeface="Times New Roman" panose="02020603050405020304" pitchFamily="18" charset="0"/>
                <a:ea typeface="楷体_GB2312" pitchFamily="49" charset="-122"/>
                <a:cs typeface="Times New Roman" panose="02020603050405020304" pitchFamily="18" charset="0"/>
              </a:rPr>
              <a:t>Linux</a:t>
            </a:r>
            <a:r>
              <a:rPr lang="zh-CN" altLang="en-US" sz="2000" dirty="0">
                <a:latin typeface="Times New Roman" panose="02020603050405020304" pitchFamily="18" charset="0"/>
                <a:ea typeface="楷体_GB2312" pitchFamily="49" charset="-122"/>
                <a:cs typeface="Times New Roman" panose="02020603050405020304" pitchFamily="18" charset="0"/>
              </a:rPr>
              <a:t>用户线程</a:t>
            </a:r>
            <a:r>
              <a:rPr lang="en-US" altLang="zh-CN" sz="2000" dirty="0">
                <a:latin typeface="Times New Roman" panose="02020603050405020304" pitchFamily="18" charset="0"/>
                <a:ea typeface="楷体_GB2312" pitchFamily="49" charset="-122"/>
                <a:cs typeface="Times New Roman" panose="02020603050405020304" pitchFamily="18" charset="0"/>
              </a:rPr>
              <a:t>/</a:t>
            </a:r>
            <a:r>
              <a:rPr lang="zh-CN" altLang="en-US" sz="2000" dirty="0">
                <a:latin typeface="Times New Roman" panose="02020603050405020304" pitchFamily="18" charset="0"/>
                <a:ea typeface="楷体_GB2312" pitchFamily="49" charset="-122"/>
                <a:cs typeface="Times New Roman" panose="02020603050405020304" pitchFamily="18" charset="0"/>
              </a:rPr>
              <a:t>内核线程的创建方法</a:t>
            </a:r>
            <a:endParaRPr lang="en-US" altLang="zh-CN" sz="2000"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zh-CN" altLang="en-US">
                <a:latin typeface="Times New Roman" panose="02020603050405020304" pitchFamily="18" charset="0"/>
                <a:ea typeface="楷体_GB2312" pitchFamily="49" charset="-122"/>
                <a:cs typeface="Times New Roman" panose="02020603050405020304" pitchFamily="18" charset="0"/>
              </a:rPr>
              <a:t>作业</a:t>
            </a:r>
            <a:endParaRPr lang="zh-CN" altLang="en-US">
              <a:latin typeface="Times New Roman" panose="02020603050405020304" pitchFamily="18" charset="0"/>
              <a:ea typeface="楷体_GB2312" pitchFamily="49" charset="-122"/>
              <a:cs typeface="Times New Roman" panose="02020603050405020304" pitchFamily="18" charset="0"/>
            </a:endParaRPr>
          </a:p>
        </p:txBody>
      </p:sp>
      <p:sp>
        <p:nvSpPr>
          <p:cNvPr id="27651" name="Rectangle 3"/>
          <p:cNvSpPr>
            <a:spLocks noGrp="1" noChangeArrowheads="1"/>
          </p:cNvSpPr>
          <p:nvPr>
            <p:ph type="body" idx="1"/>
          </p:nvPr>
        </p:nvSpPr>
        <p:spPr>
          <a:xfrm>
            <a:off x="395536" y="980728"/>
            <a:ext cx="8291512" cy="5272087"/>
          </a:xfrm>
        </p:spPr>
        <p:txBody>
          <a:bodyPr/>
          <a:lstStyle/>
          <a:p>
            <a:pPr eaLnBrk="1" hangingPunct="1">
              <a:buFont typeface="Arial" panose="020B0604020202020204" pitchFamily="34" charset="0"/>
              <a:buChar char="•"/>
            </a:pPr>
            <a:r>
              <a:rPr lang="en-US" altLang="zh-CN" sz="2400" dirty="0">
                <a:latin typeface="Times New Roman" panose="02020603050405020304" pitchFamily="18" charset="0"/>
                <a:ea typeface="楷体_GB2312" pitchFamily="49" charset="-122"/>
                <a:cs typeface="Times New Roman" panose="02020603050405020304" pitchFamily="18" charset="0"/>
              </a:rPr>
              <a:t>Linux</a:t>
            </a:r>
            <a:r>
              <a:rPr lang="zh-CN" altLang="en-US" sz="2400" dirty="0">
                <a:latin typeface="Times New Roman" panose="02020603050405020304" pitchFamily="18" charset="0"/>
                <a:ea typeface="楷体_GB2312" pitchFamily="49" charset="-122"/>
                <a:cs typeface="Times New Roman" panose="02020603050405020304" pitchFamily="18" charset="0"/>
              </a:rPr>
              <a:t>怎样描述进程？</a:t>
            </a:r>
            <a:r>
              <a:rPr lang="en-US" altLang="zh-CN" sz="2400" dirty="0">
                <a:latin typeface="Times New Roman" panose="02020603050405020304" pitchFamily="18" charset="0"/>
                <a:ea typeface="楷体_GB2312" pitchFamily="49" charset="-122"/>
                <a:cs typeface="Times New Roman" panose="02020603050405020304" pitchFamily="18" charset="0"/>
              </a:rPr>
              <a:t>Linux</a:t>
            </a:r>
            <a:r>
              <a:rPr lang="zh-CN" altLang="en-US" sz="2400" dirty="0">
                <a:latin typeface="Times New Roman" panose="02020603050405020304" pitchFamily="18" charset="0"/>
                <a:ea typeface="楷体_GB2312" pitchFamily="49" charset="-122"/>
                <a:cs typeface="Times New Roman" panose="02020603050405020304" pitchFamily="18" charset="0"/>
              </a:rPr>
              <a:t>有哪几种进程状态？画出</a:t>
            </a:r>
            <a:r>
              <a:rPr lang="en-US" altLang="zh-CN" sz="2400" dirty="0">
                <a:latin typeface="Times New Roman" panose="02020603050405020304" pitchFamily="18" charset="0"/>
                <a:ea typeface="楷体_GB2312" pitchFamily="49" charset="-122"/>
                <a:cs typeface="Times New Roman" panose="02020603050405020304" pitchFamily="18" charset="0"/>
              </a:rPr>
              <a:t>Linux</a:t>
            </a:r>
            <a:r>
              <a:rPr lang="zh-CN" altLang="en-US" sz="2400" dirty="0">
                <a:latin typeface="Times New Roman" panose="02020603050405020304" pitchFamily="18" charset="0"/>
                <a:ea typeface="楷体_GB2312" pitchFamily="49" charset="-122"/>
                <a:cs typeface="Times New Roman" panose="02020603050405020304" pitchFamily="18" charset="0"/>
              </a:rPr>
              <a:t>进程状态转换图。</a:t>
            </a: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查阅资料，在</a:t>
            </a:r>
            <a:r>
              <a:rPr lang="en-US" altLang="zh-CN" sz="2400" dirty="0">
                <a:latin typeface="Times New Roman" panose="02020603050405020304" pitchFamily="18" charset="0"/>
                <a:ea typeface="楷体_GB2312" pitchFamily="49" charset="-122"/>
                <a:cs typeface="Times New Roman" panose="02020603050405020304" pitchFamily="18" charset="0"/>
              </a:rPr>
              <a:t>Linux2.6</a:t>
            </a:r>
            <a:r>
              <a:rPr lang="zh-CN" altLang="en-US" sz="2400" dirty="0">
                <a:latin typeface="Times New Roman" panose="02020603050405020304" pitchFamily="18" charset="0"/>
                <a:ea typeface="楷体_GB2312" pitchFamily="49" charset="-122"/>
                <a:cs typeface="Times New Roman" panose="02020603050405020304" pitchFamily="18" charset="0"/>
              </a:rPr>
              <a:t>中，进程控制块如何存放？为什么？</a:t>
            </a: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en-US" altLang="zh-CN" sz="2400" dirty="0">
                <a:latin typeface="Times New Roman" panose="02020603050405020304" pitchFamily="18" charset="0"/>
                <a:ea typeface="楷体_GB2312" pitchFamily="49" charset="-122"/>
                <a:cs typeface="Times New Roman" panose="02020603050405020304" pitchFamily="18" charset="0"/>
              </a:rPr>
              <a:t>0</a:t>
            </a:r>
            <a:r>
              <a:rPr lang="zh-CN" altLang="en-US" sz="2400" dirty="0">
                <a:latin typeface="Times New Roman" panose="02020603050405020304" pitchFamily="18" charset="0"/>
                <a:ea typeface="楷体_GB2312" pitchFamily="49" charset="-122"/>
                <a:cs typeface="Times New Roman" panose="02020603050405020304" pitchFamily="18" charset="0"/>
              </a:rPr>
              <a:t>号进程来自哪里？在系统启动正常后，</a:t>
            </a:r>
            <a:r>
              <a:rPr lang="en-US" altLang="zh-CN" sz="2400" dirty="0">
                <a:latin typeface="Times New Roman" panose="02020603050405020304" pitchFamily="18" charset="0"/>
                <a:ea typeface="楷体_GB2312" pitchFamily="49" charset="-122"/>
                <a:cs typeface="Times New Roman" panose="02020603050405020304" pitchFamily="18" charset="0"/>
              </a:rPr>
              <a:t>0</a:t>
            </a:r>
            <a:r>
              <a:rPr lang="zh-CN" altLang="en-US" sz="2400" dirty="0">
                <a:latin typeface="Times New Roman" panose="02020603050405020304" pitchFamily="18" charset="0"/>
                <a:ea typeface="楷体_GB2312" pitchFamily="49" charset="-122"/>
                <a:cs typeface="Times New Roman" panose="02020603050405020304" pitchFamily="18" charset="0"/>
              </a:rPr>
              <a:t>号进程在什么情况下才被调度执行？</a:t>
            </a:r>
            <a:r>
              <a:rPr lang="en-US" altLang="zh-CN" sz="2400" dirty="0">
                <a:latin typeface="Times New Roman" panose="02020603050405020304" pitchFamily="18" charset="0"/>
                <a:ea typeface="楷体_GB2312" pitchFamily="49" charset="-122"/>
                <a:cs typeface="Times New Roman" panose="02020603050405020304" pitchFamily="18" charset="0"/>
              </a:rPr>
              <a:t>1</a:t>
            </a:r>
            <a:r>
              <a:rPr lang="zh-CN" altLang="en-US" sz="2400" dirty="0">
                <a:latin typeface="Times New Roman" panose="02020603050405020304" pitchFamily="18" charset="0"/>
                <a:ea typeface="楷体_GB2312" pitchFamily="49" charset="-122"/>
                <a:cs typeface="Times New Roman" panose="02020603050405020304" pitchFamily="18" charset="0"/>
              </a:rPr>
              <a:t>号进程的主要作用？</a:t>
            </a: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什么是僵尸进程？内核怎样处理僵尸进程？</a:t>
            </a: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创建进程的系统函数有哪几个？它们有什么区 别？</a:t>
            </a: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简述进程终止的大致过程。</a:t>
            </a: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en-US" altLang="zh-CN" sz="2400" dirty="0">
                <a:latin typeface="Times New Roman" panose="02020603050405020304" pitchFamily="18" charset="0"/>
                <a:ea typeface="楷体_GB2312" pitchFamily="49" charset="-122"/>
                <a:cs typeface="Times New Roman" panose="02020603050405020304" pitchFamily="18" charset="0"/>
              </a:rPr>
              <a:t>Linux</a:t>
            </a:r>
            <a:r>
              <a:rPr lang="zh-CN" altLang="en-US" sz="2400" dirty="0">
                <a:latin typeface="Times New Roman" panose="02020603050405020304" pitchFamily="18" charset="0"/>
                <a:ea typeface="楷体_GB2312" pitchFamily="49" charset="-122"/>
                <a:cs typeface="Times New Roman" panose="02020603050405020304" pitchFamily="18" charset="0"/>
              </a:rPr>
              <a:t>为什么要引入</a:t>
            </a:r>
            <a:r>
              <a:rPr lang="en-US" altLang="zh-CN" sz="2400" dirty="0" err="1">
                <a:latin typeface="Times New Roman" panose="02020603050405020304" pitchFamily="18" charset="0"/>
                <a:ea typeface="楷体_GB2312" pitchFamily="49" charset="-122"/>
                <a:cs typeface="Times New Roman" panose="02020603050405020304" pitchFamily="18" charset="0"/>
              </a:rPr>
              <a:t>pidhash</a:t>
            </a:r>
            <a:r>
              <a:rPr lang="zh-CN" altLang="en-US" sz="2400" dirty="0">
                <a:latin typeface="Times New Roman" panose="02020603050405020304" pitchFamily="18" charset="0"/>
                <a:ea typeface="楷体_GB2312" pitchFamily="49" charset="-122"/>
                <a:cs typeface="Times New Roman" panose="02020603050405020304" pitchFamily="18" charset="0"/>
              </a:rPr>
              <a:t>表？</a:t>
            </a: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在传统的</a:t>
            </a:r>
            <a:r>
              <a:rPr lang="en-US" altLang="zh-CN" sz="2400" dirty="0">
                <a:latin typeface="Times New Roman" panose="02020603050405020304" pitchFamily="18" charset="0"/>
                <a:ea typeface="楷体_GB2312" pitchFamily="49" charset="-122"/>
                <a:cs typeface="Times New Roman" panose="02020603050405020304" pitchFamily="18" charset="0"/>
              </a:rPr>
              <a:t>UNIX</a:t>
            </a:r>
            <a:r>
              <a:rPr lang="zh-CN" altLang="en-US" sz="2400" dirty="0">
                <a:latin typeface="Times New Roman" panose="02020603050405020304" pitchFamily="18" charset="0"/>
                <a:ea typeface="楷体_GB2312" pitchFamily="49" charset="-122"/>
                <a:cs typeface="Times New Roman" panose="02020603050405020304" pitchFamily="18" charset="0"/>
              </a:rPr>
              <a:t>系统中，创建子进程时会复制父进程的所有资源，代价比较高，现代</a:t>
            </a:r>
            <a:r>
              <a:rPr lang="en-US" altLang="zh-CN" sz="2400" dirty="0">
                <a:latin typeface="Times New Roman" panose="02020603050405020304" pitchFamily="18" charset="0"/>
                <a:ea typeface="楷体_GB2312" pitchFamily="49" charset="-122"/>
                <a:cs typeface="Times New Roman" panose="02020603050405020304" pitchFamily="18" charset="0"/>
              </a:rPr>
              <a:t>UNIX</a:t>
            </a:r>
            <a:r>
              <a:rPr lang="zh-CN" altLang="en-US" sz="2400" dirty="0">
                <a:latin typeface="Times New Roman" panose="02020603050405020304" pitchFamily="18" charset="0"/>
                <a:ea typeface="楷体_GB2312" pitchFamily="49" charset="-122"/>
                <a:cs typeface="Times New Roman" panose="02020603050405020304" pitchFamily="18" charset="0"/>
              </a:rPr>
              <a:t>系统中引入了哪几项技术来解决这个问题？</a:t>
            </a: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r>
              <a:rPr lang="zh-CN" altLang="en-US" sz="2400" dirty="0">
                <a:latin typeface="Times New Roman" panose="02020603050405020304" pitchFamily="18" charset="0"/>
                <a:ea typeface="楷体_GB2312" pitchFamily="49" charset="-122"/>
                <a:cs typeface="Times New Roman" panose="02020603050405020304" pitchFamily="18" charset="0"/>
              </a:rPr>
              <a:t>进程描述符放在动态内存中，而且和内核态的进程栈放在一个独立的</a:t>
            </a:r>
            <a:r>
              <a:rPr lang="en-US" altLang="zh-CN" sz="2400" dirty="0">
                <a:latin typeface="Times New Roman" panose="02020603050405020304" pitchFamily="18" charset="0"/>
                <a:ea typeface="楷体_GB2312" pitchFamily="49" charset="-122"/>
                <a:cs typeface="Times New Roman" panose="02020603050405020304" pitchFamily="18" charset="0"/>
              </a:rPr>
              <a:t>8KB</a:t>
            </a:r>
            <a:r>
              <a:rPr lang="zh-CN" altLang="en-US" sz="2400" dirty="0">
                <a:latin typeface="Times New Roman" panose="02020603050405020304" pitchFamily="18" charset="0"/>
                <a:ea typeface="楷体_GB2312" pitchFamily="49" charset="-122"/>
                <a:cs typeface="Times New Roman" panose="02020603050405020304" pitchFamily="18" charset="0"/>
              </a:rPr>
              <a:t>的内存区中。这样做有什么好处？</a:t>
            </a: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eaLnBrk="1" hangingPunct="1">
              <a:buFont typeface="Arial" panose="020B0604020202020204" pitchFamily="34" charset="0"/>
              <a:buChar char="•"/>
            </a:pPr>
            <a:endParaRPr lang="zh-CN" altLang="en-US" sz="2400" dirty="0">
              <a:latin typeface="Times New Roman" panose="02020603050405020304" pitchFamily="18" charset="0"/>
              <a:ea typeface="楷体_GB2312" pitchFamily="49" charset="-122"/>
              <a:cs typeface="Times New Roman" panose="02020603050405020304" pitchFamily="18" charset="0"/>
            </a:endParaRPr>
          </a:p>
          <a:p>
            <a:pPr eaLnBrk="1" hangingPunct="1"/>
            <a:endParaRPr lang="zh-CN" altLang="en-US" sz="2400" dirty="0">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sld>
</file>

<file path=ppt/tags/tag1.xml><?xml version="1.0" encoding="utf-8"?>
<p:tagLst xmlns:p="http://schemas.openxmlformats.org/presentationml/2006/main">
  <p:tag name="commondata" val="eyJoZGlkIjoiYWE4ODdiY2ZmOWE5NWRjZGJlNTA5MTM5ZDZjNjUwYWMifQ=="/>
</p:tagLst>
</file>

<file path=ppt/theme/theme1.xml><?xml version="1.0" encoding="utf-8"?>
<a:theme xmlns:a="http://schemas.openxmlformats.org/drawingml/2006/main" name="041tgp_figure_blue">
  <a:themeElements>
    <a:clrScheme name="041tgp_figure_blue 3">
      <a:dk1>
        <a:srgbClr val="0F1A81"/>
      </a:dk1>
      <a:lt1>
        <a:srgbClr val="FFFFFF"/>
      </a:lt1>
      <a:dk2>
        <a:srgbClr val="175B5B"/>
      </a:dk2>
      <a:lt2>
        <a:srgbClr val="DDDDDD"/>
      </a:lt2>
      <a:accent1>
        <a:srgbClr val="A4C226"/>
      </a:accent1>
      <a:accent2>
        <a:srgbClr val="6CA5D8"/>
      </a:accent2>
      <a:accent3>
        <a:srgbClr val="FFFFFF"/>
      </a:accent3>
      <a:accent4>
        <a:srgbClr val="0B146D"/>
      </a:accent4>
      <a:accent5>
        <a:srgbClr val="CFDDAC"/>
      </a:accent5>
      <a:accent6>
        <a:srgbClr val="6195C4"/>
      </a:accent6>
      <a:hlink>
        <a:srgbClr val="5D4BC7"/>
      </a:hlink>
      <a:folHlink>
        <a:srgbClr val="878FA5"/>
      </a:folHlink>
    </a:clrScheme>
    <a:fontScheme name="041tgp_figure_blue">
      <a:majorFont>
        <a:latin typeface="黑体"/>
        <a:ea typeface="黑体"/>
        <a:cs typeface=""/>
      </a:majorFont>
      <a:minorFont>
        <a:latin typeface="新宋体"/>
        <a:ea typeface="新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041tgp_figure_blue 1">
        <a:dk1>
          <a:srgbClr val="000000"/>
        </a:dk1>
        <a:lt1>
          <a:srgbClr val="FFFFFF"/>
        </a:lt1>
        <a:dk2>
          <a:srgbClr val="000066"/>
        </a:dk2>
        <a:lt2>
          <a:srgbClr val="DDDDDD"/>
        </a:lt2>
        <a:accent1>
          <a:srgbClr val="E47F6E"/>
        </a:accent1>
        <a:accent2>
          <a:srgbClr val="0099CC"/>
        </a:accent2>
        <a:accent3>
          <a:srgbClr val="FFFFFF"/>
        </a:accent3>
        <a:accent4>
          <a:srgbClr val="000000"/>
        </a:accent4>
        <a:accent5>
          <a:srgbClr val="EFC0BA"/>
        </a:accent5>
        <a:accent6>
          <a:srgbClr val="008AB9"/>
        </a:accent6>
        <a:hlink>
          <a:srgbClr val="7648EA"/>
        </a:hlink>
        <a:folHlink>
          <a:srgbClr val="DFAE6D"/>
        </a:folHlink>
      </a:clrScheme>
      <a:clrMap bg1="lt1" tx1="dk1" bg2="lt2" tx2="dk2" accent1="accent1" accent2="accent2" accent3="accent3" accent4="accent4" accent5="accent5" accent6="accent6" hlink="hlink" folHlink="folHlink"/>
    </a:extraClrScheme>
    <a:extraClrScheme>
      <a:clrScheme name="041tgp_figure_blue 2">
        <a:dk1>
          <a:srgbClr val="333333"/>
        </a:dk1>
        <a:lt1>
          <a:srgbClr val="FFFFFF"/>
        </a:lt1>
        <a:dk2>
          <a:srgbClr val="003366"/>
        </a:dk2>
        <a:lt2>
          <a:srgbClr val="B2B2B2"/>
        </a:lt2>
        <a:accent1>
          <a:srgbClr val="4CA491"/>
        </a:accent1>
        <a:accent2>
          <a:srgbClr val="E2AF52"/>
        </a:accent2>
        <a:accent3>
          <a:srgbClr val="FFFFFF"/>
        </a:accent3>
        <a:accent4>
          <a:srgbClr val="2A2A2A"/>
        </a:accent4>
        <a:accent5>
          <a:srgbClr val="B2CFC7"/>
        </a:accent5>
        <a:accent6>
          <a:srgbClr val="CD9E49"/>
        </a:accent6>
        <a:hlink>
          <a:srgbClr val="576CD5"/>
        </a:hlink>
        <a:folHlink>
          <a:srgbClr val="D87252"/>
        </a:folHlink>
      </a:clrScheme>
      <a:clrMap bg1="lt1" tx1="dk1" bg2="lt2" tx2="dk2" accent1="accent1" accent2="accent2" accent3="accent3" accent4="accent4" accent5="accent5" accent6="accent6" hlink="hlink" folHlink="folHlink"/>
    </a:extraClrScheme>
    <a:extraClrScheme>
      <a:clrScheme name="041tgp_figure_blue 3">
        <a:dk1>
          <a:srgbClr val="0F1A81"/>
        </a:dk1>
        <a:lt1>
          <a:srgbClr val="FFFFFF"/>
        </a:lt1>
        <a:dk2>
          <a:srgbClr val="175B5B"/>
        </a:dk2>
        <a:lt2>
          <a:srgbClr val="DDDDDD"/>
        </a:lt2>
        <a:accent1>
          <a:srgbClr val="A4C226"/>
        </a:accent1>
        <a:accent2>
          <a:srgbClr val="6CA5D8"/>
        </a:accent2>
        <a:accent3>
          <a:srgbClr val="FFFFFF"/>
        </a:accent3>
        <a:accent4>
          <a:srgbClr val="0B146D"/>
        </a:accent4>
        <a:accent5>
          <a:srgbClr val="CFDDAC"/>
        </a:accent5>
        <a:accent6>
          <a:srgbClr val="6195C4"/>
        </a:accent6>
        <a:hlink>
          <a:srgbClr val="5D4BC7"/>
        </a:hlink>
        <a:folHlink>
          <a:srgbClr val="878FA5"/>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19974</Words>
  <Application>WPS 演示</Application>
  <PresentationFormat>全屏显示(4:3)</PresentationFormat>
  <Paragraphs>1263</Paragraphs>
  <Slides>116</Slides>
  <Notes>25</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1</vt:i4>
      </vt:variant>
      <vt:variant>
        <vt:lpstr>幻灯片标题</vt:lpstr>
      </vt:variant>
      <vt:variant>
        <vt:i4>116</vt:i4>
      </vt:variant>
    </vt:vector>
  </HeadingPairs>
  <TitlesOfParts>
    <vt:vector size="134" baseType="lpstr">
      <vt:lpstr>Arial</vt:lpstr>
      <vt:lpstr>宋体</vt:lpstr>
      <vt:lpstr>Wingdings</vt:lpstr>
      <vt:lpstr>Times New Roman</vt:lpstr>
      <vt:lpstr>新宋体</vt:lpstr>
      <vt:lpstr>Verdana</vt:lpstr>
      <vt:lpstr>Gulim</vt:lpstr>
      <vt:lpstr>Malgun Gothic</vt:lpstr>
      <vt:lpstr>黑体</vt:lpstr>
      <vt:lpstr>楷体_GB2312</vt:lpstr>
      <vt:lpstr>微软雅黑</vt:lpstr>
      <vt:lpstr>Arial Unicode MS</vt:lpstr>
      <vt:lpstr>楷体</vt:lpstr>
      <vt:lpstr>Tahoma</vt:lpstr>
      <vt:lpstr>隶书</vt:lpstr>
      <vt:lpstr>Symbol</vt:lpstr>
      <vt:lpstr>041tgp_figure_blue</vt:lpstr>
      <vt:lpstr>AcroExch.Document.7</vt:lpstr>
      <vt:lpstr>第2章 Linux进程管理 </vt:lpstr>
      <vt:lpstr>PowerPoint 演示文稿</vt:lpstr>
      <vt:lpstr>2.0  进程与线程知识回顾</vt:lpstr>
      <vt:lpstr>2.0  进程与线程知识回顾</vt:lpstr>
      <vt:lpstr>2.0  进程与线程知识回顾</vt:lpstr>
      <vt:lpstr>2.0  进程与线程知识回顾</vt:lpstr>
      <vt:lpstr>2.1  Linux进程描述</vt:lpstr>
      <vt:lpstr>PowerPoint 演示文稿</vt:lpstr>
      <vt:lpstr>2.1 Linux进程描述符</vt:lpstr>
      <vt:lpstr>Linux进程描述符的信息组成</vt:lpstr>
      <vt:lpstr>PowerPoint 演示文稿</vt:lpstr>
      <vt:lpstr>PowerPoint 演示文稿</vt:lpstr>
      <vt:lpstr>2.2 Linux进程的状态及转换</vt:lpstr>
      <vt:lpstr>2.2 Linux进程的状态及转换</vt:lpstr>
      <vt:lpstr>Linux2.4 的进程状态转换图</vt:lpstr>
      <vt:lpstr>PowerPoint 演示文稿</vt:lpstr>
      <vt:lpstr>PowerPoint 演示文稿</vt:lpstr>
      <vt:lpstr>PowerPoint 演示文稿</vt:lpstr>
      <vt:lpstr>2.2 Linux进程的状态及转换</vt:lpstr>
      <vt:lpstr>进程标识</vt:lpstr>
      <vt:lpstr>通过ps命令获取进程信息</vt:lpstr>
      <vt:lpstr>进程组标识</vt:lpstr>
      <vt:lpstr>用户相关的进程标识信息</vt:lpstr>
      <vt:lpstr>PowerPoint 演示文稿</vt:lpstr>
      <vt:lpstr>2.4 Linux进程的系统堆栈</vt:lpstr>
      <vt:lpstr>2.4 Linux进程的系统堆栈</vt:lpstr>
      <vt:lpstr>问题：为什么这样存放？</vt:lpstr>
      <vt:lpstr>PowerPoint 演示文稿</vt:lpstr>
      <vt:lpstr>PowerPoint 演示文稿</vt:lpstr>
      <vt:lpstr>current宏： current=(struct   task_struct(*)STACK_POINTE&amp;0xFFFE000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2.6 Linux进程的家族关系</vt:lpstr>
      <vt:lpstr>2.6 Linux进程的家族关系</vt:lpstr>
      <vt:lpstr>2.6 Linux进程的家族关系</vt:lpstr>
      <vt:lpstr>2.6 Linux进程的家族关系</vt:lpstr>
      <vt:lpstr>2.6 Linux进程的家族关系</vt:lpstr>
      <vt:lpstr>2.6 Linux进程的家族关系</vt:lpstr>
      <vt:lpstr>2.6 Linux进程的家族关系</vt:lpstr>
      <vt:lpstr> 2.7 Linux中的进程控制</vt:lpstr>
      <vt:lpstr> 2.7 Linux中的进程控制</vt:lpstr>
      <vt:lpstr> 2.7 Linux中的进程控制</vt:lpstr>
      <vt:lpstr> 2.7 Linux中的进程控制</vt:lpstr>
      <vt:lpstr> 2.7 Linux中的进程控制</vt:lpstr>
      <vt:lpstr> 2.7 Linux中的进程控制</vt:lpstr>
      <vt:lpstr> 2.7 Linux中的进程控制</vt:lpstr>
      <vt:lpstr> 2.7 Linux中的进程控制</vt:lpstr>
      <vt:lpstr> 2.7 Linux中的进程控制</vt:lpstr>
      <vt:lpstr> 2.7 Linux中的进程控制</vt:lpstr>
      <vt:lpstr> 2.7 Linux中的进程控制</vt:lpstr>
      <vt:lpstr>子进程创建CLONE参数标志说明</vt:lpstr>
      <vt:lpstr> 2.7 Linux中的进程控制</vt:lpstr>
      <vt:lpstr> 2.7 Linux中的进程控制</vt:lpstr>
      <vt:lpstr>vfork()调用的实现机制说明</vt:lpstr>
      <vt:lpstr>vfork()调用的实现机制说明</vt:lpstr>
      <vt:lpstr> 2.7 Linux中的进程控制</vt:lpstr>
      <vt:lpstr> 2.7 Linux中的进程控制</vt:lpstr>
      <vt:lpstr>clone()函数的常用CLONE标志</vt:lpstr>
      <vt:lpstr> 2.7 Linux中的进程控制</vt:lpstr>
      <vt:lpstr> 2.7 Linux中的进程控制</vt:lpstr>
      <vt:lpstr> 2.7 Linux中的进程控制</vt:lpstr>
      <vt:lpstr> 2.7 Linux中的进程控制</vt:lpstr>
      <vt:lpstr> 2.7 Linux中的进程控制</vt:lpstr>
      <vt:lpstr> 2.7 Linux中的进程控制</vt:lpstr>
      <vt:lpstr> 2.7 Linux中的进程控制</vt:lpstr>
      <vt:lpstr> 2.7 Linux中的进程控制</vt:lpstr>
      <vt:lpstr> 2.7 Linux中的进程控制</vt:lpstr>
      <vt:lpstr> 2.7 Linux中的进程控制</vt:lpstr>
      <vt:lpstr>PowerPoint 演示文稿</vt:lpstr>
      <vt:lpstr> 2.7 Linux中的进程控制</vt:lpstr>
      <vt:lpstr> 2.7 Linux中的进程控制</vt:lpstr>
      <vt:lpstr> 2.7 Linux中的进程控制</vt:lpstr>
      <vt:lpstr> 2.7 Linux中的进程控制</vt:lpstr>
      <vt:lpstr> 2.7 Linux中的进程控制</vt:lpstr>
      <vt:lpstr> 2.7 Linux中的进程控制</vt:lpstr>
      <vt:lpstr> 2.7 Linux中的进程控制</vt:lpstr>
      <vt:lpstr> 2.7 Linux中的进程控制</vt:lpstr>
      <vt:lpstr> 2.7 Linux中的进程控制</vt:lpstr>
      <vt:lpstr> 2.7 Linux中的进程控制</vt:lpstr>
      <vt:lpstr> 2.7 Linux中的进程控制</vt:lpstr>
      <vt:lpstr> 2.7 Linux中的进程控制</vt:lpstr>
      <vt:lpstr> 2.7 Linux中的进程控制</vt:lpstr>
      <vt:lpstr> 2.7 Linux中的进程控制</vt:lpstr>
      <vt:lpstr> 2.7 Linux中的进程控制</vt:lpstr>
      <vt:lpstr>2.8  Linux线程实现机制</vt:lpstr>
      <vt:lpstr> 2.8  Linux线程实现机制</vt:lpstr>
      <vt:lpstr> 2.8  Linux线程实现机制</vt:lpstr>
      <vt:lpstr> 2.8  Linux线程实现机制</vt:lpstr>
      <vt:lpstr> 2.8  Linux线程实现机制</vt:lpstr>
      <vt:lpstr> 2.8  Linux线程实现机制</vt:lpstr>
      <vt:lpstr> 2.8  Linux线程实现机制</vt:lpstr>
      <vt:lpstr>PowerPoint 演示文稿</vt:lpstr>
      <vt:lpstr>本章知识点小结</vt:lpstr>
      <vt:lpstr>作业</vt:lpstr>
    </vt:vector>
  </TitlesOfParts>
  <Company>Guild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第3章 Linux进程管理</dc:title>
  <dc:creator>admin</dc:creator>
  <cp:lastModifiedBy>高立扬</cp:lastModifiedBy>
  <cp:revision>476</cp:revision>
  <cp:lastPrinted>2020-02-26T08:53:00Z</cp:lastPrinted>
  <dcterms:created xsi:type="dcterms:W3CDTF">2003-08-26T05:45:00Z</dcterms:created>
  <dcterms:modified xsi:type="dcterms:W3CDTF">2024-03-04T00:37:00Z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F9D26342A9B34BB9921423A21043549C_12</vt:lpwstr>
  </property>
  <property fmtid="{D5CDD505-2E9C-101B-9397-08002B2CF9AE}" pid="3" name="KSOProductBuildVer">
    <vt:lpwstr>2052-12.1.0.16388</vt:lpwstr>
  </property>
</Properties>
</file>