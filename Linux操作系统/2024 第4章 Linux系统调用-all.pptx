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Lst>
  <p:notesMasterIdLst>
    <p:notesMasterId r:id="rId56"/>
  </p:notesMasterIdLst>
  <p:handoutMasterIdLst>
    <p:handoutMasterId r:id="rId57"/>
  </p:handoutMasterIdLst>
  <p:sldIdLst>
    <p:sldId id="337" r:id="rId2"/>
    <p:sldId id="334" r:id="rId3"/>
    <p:sldId id="258" r:id="rId4"/>
    <p:sldId id="340" r:id="rId5"/>
    <p:sldId id="259" r:id="rId6"/>
    <p:sldId id="260" r:id="rId7"/>
    <p:sldId id="335" r:id="rId8"/>
    <p:sldId id="264" r:id="rId9"/>
    <p:sldId id="261" r:id="rId10"/>
    <p:sldId id="265" r:id="rId11"/>
    <p:sldId id="338" r:id="rId12"/>
    <p:sldId id="266" r:id="rId13"/>
    <p:sldId id="267" r:id="rId14"/>
    <p:sldId id="268" r:id="rId15"/>
    <p:sldId id="269" r:id="rId16"/>
    <p:sldId id="270" r:id="rId17"/>
    <p:sldId id="271" r:id="rId18"/>
    <p:sldId id="272" r:id="rId19"/>
    <p:sldId id="342" r:id="rId20"/>
    <p:sldId id="339" r:id="rId21"/>
    <p:sldId id="274" r:id="rId22"/>
    <p:sldId id="275" r:id="rId23"/>
    <p:sldId id="276" r:id="rId24"/>
    <p:sldId id="277" r:id="rId25"/>
    <p:sldId id="341" r:id="rId26"/>
    <p:sldId id="343" r:id="rId27"/>
    <p:sldId id="344" r:id="rId28"/>
    <p:sldId id="345" r:id="rId29"/>
    <p:sldId id="346" r:id="rId30"/>
    <p:sldId id="347" r:id="rId31"/>
    <p:sldId id="348" r:id="rId32"/>
    <p:sldId id="370" r:id="rId33"/>
    <p:sldId id="349" r:id="rId34"/>
    <p:sldId id="350" r:id="rId35"/>
    <p:sldId id="351" r:id="rId36"/>
    <p:sldId id="352" r:id="rId37"/>
    <p:sldId id="353" r:id="rId38"/>
    <p:sldId id="354" r:id="rId39"/>
    <p:sldId id="355" r:id="rId40"/>
    <p:sldId id="356" r:id="rId41"/>
    <p:sldId id="357" r:id="rId42"/>
    <p:sldId id="358" r:id="rId43"/>
    <p:sldId id="359" r:id="rId44"/>
    <p:sldId id="360" r:id="rId45"/>
    <p:sldId id="361" r:id="rId46"/>
    <p:sldId id="362" r:id="rId47"/>
    <p:sldId id="363" r:id="rId48"/>
    <p:sldId id="364" r:id="rId49"/>
    <p:sldId id="365" r:id="rId50"/>
    <p:sldId id="366" r:id="rId51"/>
    <p:sldId id="367" r:id="rId52"/>
    <p:sldId id="368" r:id="rId53"/>
    <p:sldId id="371" r:id="rId54"/>
    <p:sldId id="369" r:id="rId55"/>
  </p:sldIdLst>
  <p:sldSz cx="9144000" cy="6858000" type="screen4x3"/>
  <p:notesSz cx="6669088" cy="9928225"/>
  <p:defaultTextStyle>
    <a:defPPr>
      <a:defRPr lang="en-US"/>
    </a:defPPr>
    <a:lvl1pPr algn="l" rtl="0" eaLnBrk="0" fontAlgn="base" hangingPunct="0">
      <a:spcBef>
        <a:spcPct val="0"/>
      </a:spcBef>
      <a:spcAft>
        <a:spcPct val="0"/>
      </a:spcAft>
      <a:defRPr sz="1400" b="1" kern="1200">
        <a:solidFill>
          <a:srgbClr val="2B5681"/>
        </a:solidFill>
        <a:latin typeface="楷体_GB2312" pitchFamily="49" charset="-122"/>
        <a:ea typeface="楷体_GB2312" pitchFamily="49" charset="-122"/>
        <a:cs typeface="+mn-cs"/>
      </a:defRPr>
    </a:lvl1pPr>
    <a:lvl2pPr marL="457200" algn="l" rtl="0" eaLnBrk="0" fontAlgn="base" hangingPunct="0">
      <a:spcBef>
        <a:spcPct val="0"/>
      </a:spcBef>
      <a:spcAft>
        <a:spcPct val="0"/>
      </a:spcAft>
      <a:defRPr sz="1400" b="1" kern="1200">
        <a:solidFill>
          <a:srgbClr val="2B5681"/>
        </a:solidFill>
        <a:latin typeface="楷体_GB2312" pitchFamily="49" charset="-122"/>
        <a:ea typeface="楷体_GB2312" pitchFamily="49" charset="-122"/>
        <a:cs typeface="+mn-cs"/>
      </a:defRPr>
    </a:lvl2pPr>
    <a:lvl3pPr marL="914400" algn="l" rtl="0" eaLnBrk="0" fontAlgn="base" hangingPunct="0">
      <a:spcBef>
        <a:spcPct val="0"/>
      </a:spcBef>
      <a:spcAft>
        <a:spcPct val="0"/>
      </a:spcAft>
      <a:defRPr sz="1400" b="1" kern="1200">
        <a:solidFill>
          <a:srgbClr val="2B5681"/>
        </a:solidFill>
        <a:latin typeface="楷体_GB2312" pitchFamily="49" charset="-122"/>
        <a:ea typeface="楷体_GB2312" pitchFamily="49" charset="-122"/>
        <a:cs typeface="+mn-cs"/>
      </a:defRPr>
    </a:lvl3pPr>
    <a:lvl4pPr marL="1371600" algn="l" rtl="0" eaLnBrk="0" fontAlgn="base" hangingPunct="0">
      <a:spcBef>
        <a:spcPct val="0"/>
      </a:spcBef>
      <a:spcAft>
        <a:spcPct val="0"/>
      </a:spcAft>
      <a:defRPr sz="1400" b="1" kern="1200">
        <a:solidFill>
          <a:srgbClr val="2B5681"/>
        </a:solidFill>
        <a:latin typeface="楷体_GB2312" pitchFamily="49" charset="-122"/>
        <a:ea typeface="楷体_GB2312" pitchFamily="49" charset="-122"/>
        <a:cs typeface="+mn-cs"/>
      </a:defRPr>
    </a:lvl4pPr>
    <a:lvl5pPr marL="1828800" algn="l" rtl="0" eaLnBrk="0" fontAlgn="base" hangingPunct="0">
      <a:spcBef>
        <a:spcPct val="0"/>
      </a:spcBef>
      <a:spcAft>
        <a:spcPct val="0"/>
      </a:spcAft>
      <a:defRPr sz="1400" b="1" kern="1200">
        <a:solidFill>
          <a:srgbClr val="2B5681"/>
        </a:solidFill>
        <a:latin typeface="楷体_GB2312" pitchFamily="49" charset="-122"/>
        <a:ea typeface="楷体_GB2312" pitchFamily="49" charset="-122"/>
        <a:cs typeface="+mn-cs"/>
      </a:defRPr>
    </a:lvl5pPr>
    <a:lvl6pPr marL="2286000" algn="l" defTabSz="914400" rtl="0" eaLnBrk="1" latinLnBrk="0" hangingPunct="1">
      <a:defRPr sz="1400" b="1" kern="1200">
        <a:solidFill>
          <a:srgbClr val="2B5681"/>
        </a:solidFill>
        <a:latin typeface="楷体_GB2312" pitchFamily="49" charset="-122"/>
        <a:ea typeface="楷体_GB2312" pitchFamily="49" charset="-122"/>
        <a:cs typeface="+mn-cs"/>
      </a:defRPr>
    </a:lvl6pPr>
    <a:lvl7pPr marL="2743200" algn="l" defTabSz="914400" rtl="0" eaLnBrk="1" latinLnBrk="0" hangingPunct="1">
      <a:defRPr sz="1400" b="1" kern="1200">
        <a:solidFill>
          <a:srgbClr val="2B5681"/>
        </a:solidFill>
        <a:latin typeface="楷体_GB2312" pitchFamily="49" charset="-122"/>
        <a:ea typeface="楷体_GB2312" pitchFamily="49" charset="-122"/>
        <a:cs typeface="+mn-cs"/>
      </a:defRPr>
    </a:lvl7pPr>
    <a:lvl8pPr marL="3200400" algn="l" defTabSz="914400" rtl="0" eaLnBrk="1" latinLnBrk="0" hangingPunct="1">
      <a:defRPr sz="1400" b="1" kern="1200">
        <a:solidFill>
          <a:srgbClr val="2B5681"/>
        </a:solidFill>
        <a:latin typeface="楷体_GB2312" pitchFamily="49" charset="-122"/>
        <a:ea typeface="楷体_GB2312" pitchFamily="49" charset="-122"/>
        <a:cs typeface="+mn-cs"/>
      </a:defRPr>
    </a:lvl8pPr>
    <a:lvl9pPr marL="3657600" algn="l" defTabSz="914400" rtl="0" eaLnBrk="1" latinLnBrk="0" hangingPunct="1">
      <a:defRPr sz="1400" b="1" kern="1200">
        <a:solidFill>
          <a:srgbClr val="2B5681"/>
        </a:solidFill>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99C73"/>
    <a:srgbClr val="E7FB71"/>
    <a:srgbClr val="6C730F"/>
    <a:srgbClr val="070F17"/>
    <a:srgbClr val="A5F9EB"/>
    <a:srgbClr val="990000"/>
    <a:srgbClr val="51F3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1316" autoAdjust="0"/>
  </p:normalViewPr>
  <p:slideViewPr>
    <p:cSldViewPr>
      <p:cViewPr varScale="1">
        <p:scale>
          <a:sx n="93" d="100"/>
          <a:sy n="93" d="100"/>
        </p:scale>
        <p:origin x="2124" y="72"/>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3750"/>
    </p:cViewPr>
  </p:sorterViewPr>
  <p:notesViewPr>
    <p:cSldViewPr>
      <p:cViewPr varScale="1">
        <p:scale>
          <a:sx n="54" d="100"/>
          <a:sy n="54" d="100"/>
        </p:scale>
        <p:origin x="-2670" y="-102"/>
      </p:cViewPr>
      <p:guideLst>
        <p:guide orient="horz" pos="3127"/>
        <p:guide pos="210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28892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buClrTx/>
              <a:buFontTx/>
              <a:buNone/>
              <a:defRPr sz="1200" b="0">
                <a:solidFill>
                  <a:schemeClr val="tx1"/>
                </a:solidFill>
                <a:latin typeface="Arial" charset="0"/>
                <a:ea typeface="Gulim" pitchFamily="34" charset="-127"/>
              </a:defRPr>
            </a:lvl1pPr>
          </a:lstStyle>
          <a:p>
            <a:pPr>
              <a:defRPr/>
            </a:pPr>
            <a:endParaRPr lang="en-US" altLang="ko-KR"/>
          </a:p>
        </p:txBody>
      </p:sp>
      <p:sp>
        <p:nvSpPr>
          <p:cNvPr id="77827" name="Rectangle 3"/>
          <p:cNvSpPr>
            <a:spLocks noGrp="1" noChangeArrowheads="1"/>
          </p:cNvSpPr>
          <p:nvPr>
            <p:ph type="dt" sz="quarter" idx="1"/>
          </p:nvPr>
        </p:nvSpPr>
        <p:spPr bwMode="auto">
          <a:xfrm>
            <a:off x="3778250" y="0"/>
            <a:ext cx="28892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buClrTx/>
              <a:buFontTx/>
              <a:buNone/>
              <a:defRPr sz="1200" b="0">
                <a:solidFill>
                  <a:schemeClr val="tx1"/>
                </a:solidFill>
                <a:latin typeface="Arial" charset="0"/>
                <a:ea typeface="Gulim" pitchFamily="34" charset="-127"/>
              </a:defRPr>
            </a:lvl1pPr>
          </a:lstStyle>
          <a:p>
            <a:pPr>
              <a:defRPr/>
            </a:pPr>
            <a:endParaRPr lang="en-US" altLang="ko-KR"/>
          </a:p>
        </p:txBody>
      </p:sp>
      <p:sp>
        <p:nvSpPr>
          <p:cNvPr id="77828" name="Rectangle 4"/>
          <p:cNvSpPr>
            <a:spLocks noGrp="1" noChangeArrowheads="1"/>
          </p:cNvSpPr>
          <p:nvPr>
            <p:ph type="ftr" sz="quarter" idx="2"/>
          </p:nvPr>
        </p:nvSpPr>
        <p:spPr bwMode="auto">
          <a:xfrm>
            <a:off x="0"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buClrTx/>
              <a:buFontTx/>
              <a:buNone/>
              <a:defRPr sz="1200" b="0">
                <a:solidFill>
                  <a:schemeClr val="tx1"/>
                </a:solidFill>
                <a:latin typeface="Arial" charset="0"/>
                <a:ea typeface="Gulim" pitchFamily="34" charset="-127"/>
              </a:defRPr>
            </a:lvl1pPr>
          </a:lstStyle>
          <a:p>
            <a:pPr>
              <a:defRPr/>
            </a:pPr>
            <a:endParaRPr lang="en-US" altLang="ko-KR"/>
          </a:p>
        </p:txBody>
      </p:sp>
      <p:sp>
        <p:nvSpPr>
          <p:cNvPr id="77829" name="Rectangle 5"/>
          <p:cNvSpPr>
            <a:spLocks noGrp="1" noChangeArrowheads="1"/>
          </p:cNvSpPr>
          <p:nvPr>
            <p:ph type="sldNum" sz="quarter" idx="3"/>
          </p:nvPr>
        </p:nvSpPr>
        <p:spPr bwMode="auto">
          <a:xfrm>
            <a:off x="3778250"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spcBef>
                <a:spcPct val="0"/>
              </a:spcBef>
              <a:buClrTx/>
              <a:buFontTx/>
              <a:buNone/>
              <a:defRPr sz="1200" b="0" smtClean="0">
                <a:solidFill>
                  <a:schemeClr val="tx1"/>
                </a:solidFill>
                <a:latin typeface="Arial" panose="020B0604020202020204" pitchFamily="34" charset="0"/>
                <a:ea typeface="Gulim" panose="020B0600000101010101" pitchFamily="34" charset="-127"/>
              </a:defRPr>
            </a:lvl1pPr>
          </a:lstStyle>
          <a:p>
            <a:pPr>
              <a:defRPr/>
            </a:pPr>
            <a:fld id="{66938AEB-F9B2-498E-AE4A-619F8ADDDE66}" type="slidenum">
              <a:rPr lang="ko-KR" altLang="en-US"/>
              <a:pPr>
                <a:defRPr/>
              </a:pPr>
              <a:t>‹#›</a:t>
            </a:fld>
            <a:endParaRPr lang="en-US" altLang="ko-K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bwMode="auto">
          <a:xfrm>
            <a:off x="0" y="0"/>
            <a:ext cx="28892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buClrTx/>
              <a:buFontTx/>
              <a:buNone/>
              <a:defRPr sz="1200" b="0">
                <a:solidFill>
                  <a:schemeClr val="tx1"/>
                </a:solidFill>
                <a:latin typeface="Arial" charset="0"/>
                <a:ea typeface="宋体" pitchFamily="2" charset="-122"/>
              </a:defRPr>
            </a:lvl1pPr>
          </a:lstStyle>
          <a:p>
            <a:pPr>
              <a:defRPr/>
            </a:pPr>
            <a:endParaRPr lang="zh-CN" altLang="en-US"/>
          </a:p>
        </p:txBody>
      </p:sp>
      <p:sp>
        <p:nvSpPr>
          <p:cNvPr id="91139" name="Rectangle 3"/>
          <p:cNvSpPr>
            <a:spLocks noGrp="1" noChangeArrowheads="1"/>
          </p:cNvSpPr>
          <p:nvPr>
            <p:ph type="dt" idx="1"/>
          </p:nvPr>
        </p:nvSpPr>
        <p:spPr bwMode="auto">
          <a:xfrm>
            <a:off x="3778250" y="0"/>
            <a:ext cx="28892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buClrTx/>
              <a:buFontTx/>
              <a:buNone/>
              <a:defRPr sz="1200" b="0">
                <a:solidFill>
                  <a:schemeClr val="tx1"/>
                </a:solidFill>
                <a:latin typeface="Arial" charset="0"/>
                <a:ea typeface="宋体"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852488" y="744538"/>
            <a:ext cx="4964112"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1" name="Rectangle 5"/>
          <p:cNvSpPr>
            <a:spLocks noGrp="1" noChangeArrowheads="1"/>
          </p:cNvSpPr>
          <p:nvPr>
            <p:ph type="body" sz="quarter" idx="3"/>
          </p:nvPr>
        </p:nvSpPr>
        <p:spPr bwMode="auto">
          <a:xfrm>
            <a:off x="666750" y="4716463"/>
            <a:ext cx="5335588"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91142" name="Rectangle 6"/>
          <p:cNvSpPr>
            <a:spLocks noGrp="1" noChangeArrowheads="1"/>
          </p:cNvSpPr>
          <p:nvPr>
            <p:ph type="ftr" sz="quarter" idx="4"/>
          </p:nvPr>
        </p:nvSpPr>
        <p:spPr bwMode="auto">
          <a:xfrm>
            <a:off x="0"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buClrTx/>
              <a:buFontTx/>
              <a:buNone/>
              <a:defRPr sz="1200" b="0">
                <a:solidFill>
                  <a:schemeClr val="tx1"/>
                </a:solidFill>
                <a:latin typeface="Arial" charset="0"/>
                <a:ea typeface="宋体" pitchFamily="2" charset="-122"/>
              </a:defRPr>
            </a:lvl1pPr>
          </a:lstStyle>
          <a:p>
            <a:pPr>
              <a:defRPr/>
            </a:pPr>
            <a:endParaRPr lang="en-US" altLang="zh-CN"/>
          </a:p>
        </p:txBody>
      </p:sp>
      <p:sp>
        <p:nvSpPr>
          <p:cNvPr id="91143" name="Rectangle 7"/>
          <p:cNvSpPr>
            <a:spLocks noGrp="1" noChangeArrowheads="1"/>
          </p:cNvSpPr>
          <p:nvPr>
            <p:ph type="sldNum" sz="quarter" idx="5"/>
          </p:nvPr>
        </p:nvSpPr>
        <p:spPr bwMode="auto">
          <a:xfrm>
            <a:off x="3778250"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spcBef>
                <a:spcPct val="0"/>
              </a:spcBef>
              <a:buClrTx/>
              <a:buFontTx/>
              <a:buNone/>
              <a:defRPr sz="1200" b="0" smtClean="0">
                <a:solidFill>
                  <a:schemeClr val="tx1"/>
                </a:solidFill>
                <a:latin typeface="Arial" panose="020B0604020202020204" pitchFamily="34" charset="0"/>
                <a:ea typeface="宋体" panose="02010600030101010101" pitchFamily="2" charset="-122"/>
              </a:defRPr>
            </a:lvl1pPr>
          </a:lstStyle>
          <a:p>
            <a:pPr>
              <a:defRPr/>
            </a:pPr>
            <a:fld id="{C546DE7B-CB28-4469-963D-C73996010597}"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1pPr>
    <a:lvl2pPr marL="4572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2pPr>
    <a:lvl3pPr marL="9144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3pPr>
    <a:lvl4pPr marL="13716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4pPr>
    <a:lvl5pPr marL="18288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86F17C74-9FBB-46BC-B18E-4E55055FBA7B}" type="slidenum">
              <a:rPr kumimoji="0" lang="zh-CN" altLang="en-US">
                <a:latin typeface="Arial" panose="020B0604020202020204" pitchFamily="34" charset="0"/>
                <a:ea typeface="宋体" panose="02010600030101010101" pitchFamily="2" charset="-122"/>
              </a:rPr>
              <a:pPr latinLnBrk="0">
                <a:spcBef>
                  <a:spcPct val="0"/>
                </a:spcBef>
              </a:pPr>
              <a:t>2</a:t>
            </a:fld>
            <a:endParaRPr kumimoji="0" lang="en-US" altLang="zh-CN">
              <a:latin typeface="Arial" panose="020B0604020202020204" pitchFamily="34" charset="0"/>
              <a:ea typeface="宋体" panose="02010600030101010101" pitchFamily="2" charset="-122"/>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C3961DAC-8376-4FEA-A5C4-53EB5F66AD73}" type="slidenum">
              <a:rPr kumimoji="0" lang="zh-CN" altLang="en-US">
                <a:latin typeface="Arial" panose="020B0604020202020204" pitchFamily="34" charset="0"/>
                <a:ea typeface="宋体" panose="02010600030101010101" pitchFamily="2" charset="-122"/>
              </a:rPr>
              <a:pPr latinLnBrk="0">
                <a:spcBef>
                  <a:spcPct val="0"/>
                </a:spcBef>
              </a:pPr>
              <a:t>3</a:t>
            </a:fld>
            <a:endParaRPr kumimoji="0" lang="en-US" altLang="zh-CN">
              <a:latin typeface="Arial" panose="020B0604020202020204" pitchFamily="34" charset="0"/>
              <a:ea typeface="宋体" panose="02010600030101010101" pitchFamily="2" charset="-122"/>
            </a:endParaRPr>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86EACC0E-2140-46A1-8711-BC3E1D533D69}" type="slidenum">
              <a:rPr kumimoji="0" lang="zh-CN" altLang="en-US">
                <a:latin typeface="Arial" panose="020B0604020202020204" pitchFamily="34" charset="0"/>
                <a:ea typeface="宋体" panose="02010600030101010101" pitchFamily="2" charset="-122"/>
              </a:rPr>
              <a:pPr latinLnBrk="0">
                <a:spcBef>
                  <a:spcPct val="0"/>
                </a:spcBef>
              </a:pPr>
              <a:t>4</a:t>
            </a:fld>
            <a:endParaRPr kumimoji="0" lang="en-US" altLang="zh-CN">
              <a:latin typeface="Arial" panose="020B0604020202020204" pitchFamily="34" charset="0"/>
              <a:ea typeface="宋体" panose="02010600030101010101" pitchFamily="2" charset="-122"/>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7C0296FF-D1FE-4639-BF6A-DE5E84D53E08}" type="slidenum">
              <a:rPr kumimoji="0" lang="zh-CN" altLang="en-US">
                <a:latin typeface="Arial" panose="020B0604020202020204" pitchFamily="34" charset="0"/>
                <a:ea typeface="宋体" panose="02010600030101010101" pitchFamily="2" charset="-122"/>
              </a:rPr>
              <a:pPr latinLnBrk="0">
                <a:spcBef>
                  <a:spcPct val="0"/>
                </a:spcBef>
              </a:pPr>
              <a:t>5</a:t>
            </a:fld>
            <a:endParaRPr kumimoji="0" lang="en-US" altLang="zh-CN">
              <a:latin typeface="Arial" panose="020B0604020202020204" pitchFamily="34" charset="0"/>
              <a:ea typeface="宋体" panose="02010600030101010101" pitchFamily="2" charset="-122"/>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7A9B7CDD-45F3-422D-8F9D-34C00B5B057F}" type="slidenum">
              <a:rPr kumimoji="0" lang="zh-CN" altLang="en-US">
                <a:latin typeface="Arial" panose="020B0604020202020204" pitchFamily="34" charset="0"/>
                <a:ea typeface="宋体" panose="02010600030101010101" pitchFamily="2" charset="-122"/>
              </a:rPr>
              <a:pPr latinLnBrk="0">
                <a:spcBef>
                  <a:spcPct val="0"/>
                </a:spcBef>
              </a:pPr>
              <a:t>6</a:t>
            </a:fld>
            <a:endParaRPr kumimoji="0" lang="en-US" altLang="zh-CN">
              <a:latin typeface="Arial" panose="020B0604020202020204" pitchFamily="34" charset="0"/>
              <a:ea typeface="宋体" panose="02010600030101010101" pitchFamily="2" charset="-122"/>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E81EC2F1-44C6-4ACA-A4CD-5271B65F1A74}" type="slidenum">
              <a:rPr kumimoji="0" lang="zh-CN" altLang="en-US">
                <a:latin typeface="Arial" panose="020B0604020202020204" pitchFamily="34" charset="0"/>
                <a:ea typeface="宋体" panose="02010600030101010101" pitchFamily="2" charset="-122"/>
              </a:rPr>
              <a:pPr latinLnBrk="0">
                <a:spcBef>
                  <a:spcPct val="0"/>
                </a:spcBef>
              </a:pPr>
              <a:t>7</a:t>
            </a:fld>
            <a:endParaRPr kumimoji="0" lang="en-US" altLang="zh-CN">
              <a:latin typeface="Arial" panose="020B0604020202020204" pitchFamily="34" charset="0"/>
              <a:ea typeface="宋体" panose="02010600030101010101" pitchFamily="2" charset="-122"/>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b="1">
                <a:latin typeface="楷体_GB2312" pitchFamily="49" charset="-122"/>
                <a:ea typeface="楷体_GB2312" pitchFamily="49" charset="-122"/>
              </a:rPr>
              <a:t>API</a:t>
            </a:r>
            <a:r>
              <a:rPr lang="zh-CN" altLang="en-US" b="1">
                <a:latin typeface="楷体_GB2312" pitchFamily="49" charset="-122"/>
                <a:ea typeface="楷体_GB2312" pitchFamily="49" charset="-122"/>
              </a:rPr>
              <a:t>有可能和系统调用的形式一致，如</a:t>
            </a:r>
            <a:r>
              <a:rPr lang="en-US" altLang="zh-CN" b="1">
                <a:latin typeface="楷体_GB2312" pitchFamily="49" charset="-122"/>
                <a:ea typeface="楷体_GB2312" pitchFamily="49" charset="-122"/>
              </a:rPr>
              <a:t>read()</a:t>
            </a:r>
            <a:r>
              <a:rPr lang="zh-CN" altLang="en-US" b="1">
                <a:latin typeface="楷体_GB2312" pitchFamily="49" charset="-122"/>
                <a:ea typeface="楷体_GB2312" pitchFamily="49" charset="-122"/>
              </a:rPr>
              <a:t>函数和</a:t>
            </a:r>
            <a:r>
              <a:rPr lang="en-US" altLang="zh-CN" b="1">
                <a:latin typeface="楷体_GB2312" pitchFamily="49" charset="-122"/>
                <a:ea typeface="楷体_GB2312" pitchFamily="49" charset="-122"/>
              </a:rPr>
              <a:t>read</a:t>
            </a:r>
            <a:r>
              <a:rPr lang="zh-CN" altLang="en-US" b="1">
                <a:latin typeface="楷体_GB2312" pitchFamily="49" charset="-122"/>
                <a:ea typeface="楷体_GB2312" pitchFamily="49" charset="-122"/>
              </a:rPr>
              <a:t>（）系统调用的调用形式一致。</a:t>
            </a:r>
          </a:p>
          <a:p>
            <a:pPr eaLnBrk="1" hangingPunct="1"/>
            <a:r>
              <a:rPr lang="zh-CN" altLang="en-US">
                <a:latin typeface="楷体_GB2312" pitchFamily="49" charset="-122"/>
                <a:ea typeface="楷体_GB2312" pitchFamily="49" charset="-122"/>
              </a:rPr>
              <a:t>大多数系统调用的返回值是一个整数，通常返回－</a:t>
            </a:r>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表示系统调用失败，返回非负数表示函数执行成功。系统调用失败时，全局变量</a:t>
            </a:r>
            <a:r>
              <a:rPr lang="en-US" altLang="zh-CN">
                <a:latin typeface="楷体_GB2312" pitchFamily="49" charset="-122"/>
                <a:ea typeface="楷体_GB2312" pitchFamily="49" charset="-122"/>
              </a:rPr>
              <a:t>errono </a:t>
            </a:r>
            <a:r>
              <a:rPr lang="zh-CN" altLang="en-US">
                <a:latin typeface="楷体_GB2312" pitchFamily="49" charset="-122"/>
                <a:ea typeface="楷体_GB2312" pitchFamily="49" charset="-122"/>
              </a:rPr>
              <a:t>中将保存一个错误代码，以便应用程序做进一步处理。</a:t>
            </a:r>
          </a:p>
          <a:p>
            <a:pPr eaLnBrk="1" hangingPunct="1"/>
            <a:r>
              <a:rPr lang="zh-CN" altLang="en-US">
                <a:latin typeface="楷体_GB2312" pitchFamily="49" charset="-122"/>
                <a:ea typeface="楷体_GB2312" pitchFamily="49" charset="-122"/>
              </a:rPr>
              <a:t>错误代码被定义为一组宏，在</a:t>
            </a:r>
            <a:r>
              <a:rPr lang="en-US" altLang="zh-CN">
                <a:latin typeface="楷体_GB2312" pitchFamily="49" charset="-122"/>
                <a:ea typeface="楷体_GB2312" pitchFamily="49" charset="-122"/>
              </a:rPr>
              <a:t>80x86</a:t>
            </a:r>
            <a:r>
              <a:rPr lang="zh-CN" altLang="en-US">
                <a:latin typeface="楷体_GB2312" pitchFamily="49" charset="-122"/>
                <a:ea typeface="楷体_GB2312" pitchFamily="49" charset="-122"/>
              </a:rPr>
              <a:t>的</a:t>
            </a:r>
            <a:r>
              <a:rPr lang="en-US" altLang="zh-CN">
                <a:latin typeface="楷体_GB2312" pitchFamily="49" charset="-122"/>
                <a:ea typeface="楷体_GB2312" pitchFamily="49" charset="-122"/>
              </a:rPr>
              <a:t>Linux </a:t>
            </a:r>
            <a:r>
              <a:rPr lang="zh-CN" altLang="en-US">
                <a:latin typeface="楷体_GB2312" pitchFamily="49" charset="-122"/>
                <a:ea typeface="楷体_GB2312" pitchFamily="49" charset="-122"/>
              </a:rPr>
              <a:t>系统中， 这些宏定义在头文件</a:t>
            </a:r>
            <a:r>
              <a:rPr lang="en-US" altLang="zh-CN">
                <a:latin typeface="楷体_GB2312" pitchFamily="49" charset="-122"/>
                <a:ea typeface="楷体_GB2312" pitchFamily="49" charset="-122"/>
              </a:rPr>
              <a:t>include/asm-i386/errno.h</a:t>
            </a:r>
            <a:r>
              <a:rPr lang="zh-CN" altLang="en-US">
                <a:latin typeface="楷体_GB2312" pitchFamily="49" charset="-122"/>
                <a:ea typeface="楷体_GB2312" pitchFamily="49" charset="-122"/>
              </a:rPr>
              <a:t>中。</a:t>
            </a:r>
          </a:p>
          <a:p>
            <a:pPr eaLnBrk="1" hangingPunct="1"/>
            <a:endParaRPr lang="zh-CN" altLang="en-US">
              <a:latin typeface="楷体_GB2312" pitchFamily="49" charset="-122"/>
              <a:ea typeface="楷体_GB2312" pitchFamily="49" charset="-122"/>
            </a:endParaRPr>
          </a:p>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4EFD9DF3-8F88-4533-8D20-E3B0142DD13A}" type="slidenum">
              <a:rPr kumimoji="0" lang="zh-CN" altLang="en-US">
                <a:latin typeface="Arial" panose="020B0604020202020204" pitchFamily="34" charset="0"/>
                <a:ea typeface="宋体" panose="02010600030101010101" pitchFamily="2" charset="-122"/>
              </a:rPr>
              <a:pPr latinLnBrk="0">
                <a:spcBef>
                  <a:spcPct val="0"/>
                </a:spcBef>
              </a:pPr>
              <a:t>12</a:t>
            </a:fld>
            <a:endParaRPr kumimoji="0" lang="en-US" altLang="zh-CN">
              <a:latin typeface="Arial" panose="020B0604020202020204" pitchFamily="34" charset="0"/>
              <a:ea typeface="宋体" panose="02010600030101010101" pitchFamily="2" charset="-122"/>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400">
                <a:solidFill>
                  <a:srgbClr val="8B3A21"/>
                </a:solidFill>
                <a:latin typeface="楷体_GB2312" pitchFamily="49" charset="-122"/>
                <a:ea typeface="楷体_GB2312" pitchFamily="49" charset="-122"/>
              </a:rPr>
              <a:t>系统调用过程的起点</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1D230F10-7A73-4527-A8ED-77A601EA3867}" type="slidenum">
              <a:rPr kumimoji="0" lang="zh-CN" altLang="en-US">
                <a:latin typeface="Arial" panose="020B0604020202020204" pitchFamily="34" charset="0"/>
                <a:ea typeface="宋体" panose="02010600030101010101" pitchFamily="2" charset="-122"/>
              </a:rPr>
              <a:pPr latinLnBrk="0">
                <a:spcBef>
                  <a:spcPct val="0"/>
                </a:spcBef>
              </a:pPr>
              <a:t>14</a:t>
            </a:fld>
            <a:endParaRPr kumimoji="0" lang="en-US" altLang="zh-CN">
              <a:latin typeface="Arial" panose="020B0604020202020204" pitchFamily="34" charset="0"/>
              <a:ea typeface="宋体" panose="02010600030101010101" pitchFamily="2" charset="-122"/>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xfrm>
            <a:off x="889000" y="4716463"/>
            <a:ext cx="4891088"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当进程恢复它在用户态下的执行时，就可以在</a:t>
            </a:r>
            <a:r>
              <a:rPr lang="en-US" altLang="zh-CN"/>
              <a:t>eax</a:t>
            </a:r>
            <a:r>
              <a:rPr lang="zh-CN" altLang="en-US"/>
              <a:t>中找到系统调用的返回码。</a:t>
            </a:r>
          </a:p>
          <a:p>
            <a:pPr eaLnBrk="1" hangingPunct="1"/>
            <a:r>
              <a:rPr lang="zh-CN" altLang="en-US" sz="1000"/>
              <a:t>因为在</a:t>
            </a:r>
            <a:r>
              <a:rPr lang="en-US" altLang="zh-CN" sz="1000"/>
              <a:t>SAVE_ALL</a:t>
            </a:r>
            <a:r>
              <a:rPr lang="zh-CN" altLang="en-US" sz="1000"/>
              <a:t>中保存的</a:t>
            </a:r>
            <a:r>
              <a:rPr lang="en-US" altLang="zh-CN" sz="1000"/>
              <a:t>EAX</a:t>
            </a:r>
            <a:r>
              <a:rPr lang="zh-CN" altLang="en-US" sz="1000"/>
              <a:t>寄存器会被调用的返回值所覆盖；</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ln/>
        </p:spPr>
      </p:sp>
      <p:sp>
        <p:nvSpPr>
          <p:cNvPr id="286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在系统调用时，</a:t>
            </a:r>
            <a:r>
              <a:rPr lang="en-US" altLang="zh-CN"/>
              <a:t>Linux</a:t>
            </a:r>
            <a:r>
              <a:rPr lang="zh-CN" altLang="en-US"/>
              <a:t>在用户空间通过寄存器而不是堆栈传递参数</a:t>
            </a:r>
            <a:r>
              <a:rPr lang="en-US" altLang="zh-CN"/>
              <a:t>(</a:t>
            </a:r>
            <a:r>
              <a:rPr lang="zh-CN" altLang="en-US"/>
              <a:t>可以从宏</a:t>
            </a:r>
            <a:r>
              <a:rPr lang="en-US" altLang="zh-CN"/>
              <a:t>_systemcall0,_systemcall1,……_systemcall5</a:t>
            </a:r>
            <a:r>
              <a:rPr lang="zh-CN" altLang="en-US"/>
              <a:t>看到</a:t>
            </a:r>
            <a:r>
              <a:rPr lang="en-US" altLang="zh-CN"/>
              <a:t>)</a:t>
            </a:r>
            <a:r>
              <a:rPr lang="zh-CN" altLang="en-US"/>
              <a:t>，这些传递参数的寄存器是：</a:t>
            </a:r>
            <a:r>
              <a:rPr lang="en-US" altLang="zh-CN"/>
              <a:t>eax</a:t>
            </a:r>
            <a:r>
              <a:rPr lang="zh-CN" altLang="en-US"/>
              <a:t>系统调用号，如果有参数的话，</a:t>
            </a:r>
            <a:r>
              <a:rPr lang="en-US" altLang="zh-CN"/>
              <a:t>ebx,ecx,edx,esi,edi</a:t>
            </a:r>
            <a:r>
              <a:rPr lang="zh-CN" altLang="en-US"/>
              <a:t>依次存第一个到第五个参数。系统调用时，传递的参数最多</a:t>
            </a:r>
            <a:r>
              <a:rPr lang="en-US" altLang="zh-CN"/>
              <a:t>5</a:t>
            </a:r>
            <a:r>
              <a:rPr lang="zh-CN" altLang="en-US"/>
              <a:t>个。进入内核</a:t>
            </a:r>
            <a:r>
              <a:rPr lang="en-US" altLang="zh-CN"/>
              <a:t>system_call</a:t>
            </a:r>
            <a:r>
              <a:rPr lang="zh-CN" altLang="en-US"/>
              <a:t>后通过</a:t>
            </a:r>
            <a:r>
              <a:rPr lang="en-US" altLang="zh-CN"/>
              <a:t>SAVE_ALL</a:t>
            </a:r>
            <a:r>
              <a:rPr lang="zh-CN" altLang="en-US"/>
              <a:t>把寄存器压入堆栈，系统调用函数定义时</a:t>
            </a:r>
            <a:r>
              <a:rPr lang="en-US" altLang="zh-CN"/>
              <a:t>asmlinkage int sys_addtotal(int numdata)</a:t>
            </a:r>
            <a:r>
              <a:rPr lang="zh-CN" altLang="en-US"/>
              <a:t>中</a:t>
            </a:r>
            <a:r>
              <a:rPr lang="en-US" altLang="zh-CN"/>
              <a:t>asmlinkage</a:t>
            </a:r>
            <a:r>
              <a:rPr lang="zh-CN" altLang="en-US"/>
              <a:t>表示通过堆栈传递参数。进入系统调用函数后看到堆栈中第一个参数即</a:t>
            </a:r>
            <a:r>
              <a:rPr lang="en-US" altLang="zh-CN"/>
              <a:t>ebx</a:t>
            </a:r>
            <a:r>
              <a:rPr lang="zh-CN" altLang="en-US"/>
              <a:t>，第二个参数为</a:t>
            </a:r>
            <a:r>
              <a:rPr lang="en-US" altLang="zh-CN"/>
              <a:t>ecx</a:t>
            </a:r>
            <a:r>
              <a:rPr lang="zh-CN" altLang="en-US"/>
              <a:t>，对应了用户空间</a:t>
            </a:r>
            <a:r>
              <a:rPr lang="en-US" altLang="zh-CN"/>
              <a:t>5</a:t>
            </a:r>
            <a:r>
              <a:rPr lang="zh-CN" altLang="en-US"/>
              <a:t>个参数的顺序。当然，如果系统调用定义时只有一个参数，则只会使用</a:t>
            </a:r>
            <a:r>
              <a:rPr lang="en-US" altLang="zh-CN"/>
              <a:t>ebx(</a:t>
            </a:r>
            <a:r>
              <a:rPr lang="zh-CN" altLang="en-US"/>
              <a:t>位于堆栈中</a:t>
            </a:r>
            <a:r>
              <a:rPr lang="en-US" altLang="zh-CN"/>
              <a:t>)</a:t>
            </a:r>
            <a:r>
              <a:rPr lang="zh-CN" altLang="en-US"/>
              <a:t>一个参数了。</a:t>
            </a:r>
          </a:p>
          <a:p>
            <a:endParaRPr lang="zh-CN" altLang="en-US"/>
          </a:p>
        </p:txBody>
      </p:sp>
      <p:sp>
        <p:nvSpPr>
          <p:cNvPr id="286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2B266765-58C1-4ED0-B29B-B90211D26691}" type="slidenum">
              <a:rPr kumimoji="0" lang="zh-CN" altLang="en-US">
                <a:latin typeface="Arial" panose="020B0604020202020204" pitchFamily="34" charset="0"/>
                <a:ea typeface="宋体" panose="02010600030101010101" pitchFamily="2" charset="-122"/>
              </a:rPr>
              <a:pPr latinLnBrk="0">
                <a:spcBef>
                  <a:spcPct val="0"/>
                </a:spcBef>
              </a:pPr>
              <a:t>15</a:t>
            </a:fld>
            <a:endParaRPr kumimoji="0"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C5C695FE-17D5-4123-9633-24A47D5AE282}" type="slidenum">
              <a:rPr kumimoji="0" lang="zh-CN" altLang="en-US">
                <a:latin typeface="Arial" panose="020B0604020202020204" pitchFamily="34" charset="0"/>
                <a:ea typeface="宋体" panose="02010600030101010101" pitchFamily="2" charset="-122"/>
              </a:rPr>
              <a:pPr latinLnBrk="0">
                <a:spcBef>
                  <a:spcPct val="0"/>
                </a:spcBef>
              </a:pPr>
              <a:t>18</a:t>
            </a:fld>
            <a:endParaRPr kumimoji="0" lang="en-US" altLang="zh-CN">
              <a:latin typeface="Arial" panose="020B0604020202020204" pitchFamily="34" charset="0"/>
              <a:ea typeface="宋体" panose="02010600030101010101" pitchFamily="2" charset="-122"/>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1ABF6475-57EA-42C8-8724-3CE003BE7571}" type="slidenum">
              <a:rPr kumimoji="0" lang="zh-CN" altLang="en-US">
                <a:latin typeface="Arial" panose="020B0604020202020204" pitchFamily="34" charset="0"/>
                <a:ea typeface="宋体" panose="02010600030101010101" pitchFamily="2" charset="-122"/>
              </a:rPr>
              <a:pPr latinLnBrk="0">
                <a:spcBef>
                  <a:spcPct val="0"/>
                </a:spcBef>
              </a:pPr>
              <a:t>19</a:t>
            </a:fld>
            <a:endParaRPr kumimoji="0" lang="en-US" altLang="zh-CN">
              <a:latin typeface="Arial" panose="020B0604020202020204" pitchFamily="34" charset="0"/>
              <a:ea typeface="宋体" panose="02010600030101010101" pitchFamily="2" charset="-122"/>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07120ACD-718E-4D3E-AB5F-A9E365DF1984}" type="slidenum">
              <a:rPr kumimoji="0" lang="zh-CN" altLang="en-US">
                <a:latin typeface="Arial" panose="020B0604020202020204" pitchFamily="34" charset="0"/>
                <a:ea typeface="宋体" panose="02010600030101010101" pitchFamily="2" charset="-122"/>
              </a:rPr>
              <a:pPr latinLnBrk="0">
                <a:spcBef>
                  <a:spcPct val="0"/>
                </a:spcBef>
              </a:pPr>
              <a:t>26</a:t>
            </a:fld>
            <a:endParaRPr kumimoji="0" lang="en-US" altLang="zh-CN">
              <a:latin typeface="Arial" panose="020B0604020202020204" pitchFamily="34" charset="0"/>
              <a:ea typeface="宋体" panose="02010600030101010101" pitchFamily="2" charset="-122"/>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292083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6E133795-67F9-455C-8989-D3FDFFE4A78C}" type="slidenum">
              <a:rPr kumimoji="0" lang="zh-CN" altLang="en-US">
                <a:latin typeface="Arial" panose="020B0604020202020204" pitchFamily="34" charset="0"/>
                <a:ea typeface="宋体" panose="02010600030101010101" pitchFamily="2" charset="-122"/>
              </a:rPr>
              <a:pPr latinLnBrk="0">
                <a:spcBef>
                  <a:spcPct val="0"/>
                </a:spcBef>
              </a:pPr>
              <a:t>27</a:t>
            </a:fld>
            <a:endParaRPr kumimoji="0" lang="en-US" altLang="zh-CN">
              <a:latin typeface="Arial" panose="020B0604020202020204" pitchFamily="34" charset="0"/>
              <a:ea typeface="宋体" panose="02010600030101010101" pitchFamily="2" charset="-122"/>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 </a:t>
            </a:r>
          </a:p>
        </p:txBody>
      </p:sp>
    </p:spTree>
    <p:extLst>
      <p:ext uri="{BB962C8B-B14F-4D97-AF65-F5344CB8AC3E}">
        <p14:creationId xmlns:p14="http://schemas.microsoft.com/office/powerpoint/2010/main" val="5386009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BAAD917D-C174-4EDA-88F9-6AEFDF5F7907}" type="slidenum">
              <a:rPr kumimoji="0" lang="zh-CN" altLang="en-US">
                <a:latin typeface="Arial" panose="020B0604020202020204" pitchFamily="34" charset="0"/>
                <a:ea typeface="宋体" panose="02010600030101010101" pitchFamily="2" charset="-122"/>
              </a:rPr>
              <a:pPr latinLnBrk="0">
                <a:spcBef>
                  <a:spcPct val="0"/>
                </a:spcBef>
              </a:pPr>
              <a:t>30</a:t>
            </a:fld>
            <a:endParaRPr kumimoji="0" lang="en-US" altLang="zh-CN">
              <a:latin typeface="Arial" panose="020B0604020202020204" pitchFamily="34" charset="0"/>
              <a:ea typeface="宋体" panose="02010600030101010101" pitchFamily="2" charset="-122"/>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xfrm>
            <a:off x="889000" y="4716463"/>
            <a:ext cx="4891088"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Fork()</a:t>
            </a:r>
            <a:r>
              <a:rPr lang="zh-CN" altLang="en-US"/>
              <a:t>调用号缺省为</a:t>
            </a:r>
            <a:r>
              <a:rPr lang="en-US" altLang="zh-CN"/>
              <a:t>5</a:t>
            </a:r>
            <a:r>
              <a:rPr lang="zh-CN" altLang="en-US"/>
              <a:t>，</a:t>
            </a:r>
          </a:p>
          <a:p>
            <a:pPr eaLnBrk="1" hangingPunct="1"/>
            <a:r>
              <a:rPr lang="zh-CN" altLang="en-US"/>
              <a:t>思考为什么不直接传递？寄存器的使用使得系统调用处理程序的结构与其它异常处理程序的结构类似。</a:t>
            </a:r>
          </a:p>
        </p:txBody>
      </p:sp>
    </p:spTree>
    <p:extLst>
      <p:ext uri="{BB962C8B-B14F-4D97-AF65-F5344CB8AC3E}">
        <p14:creationId xmlns:p14="http://schemas.microsoft.com/office/powerpoint/2010/main" val="343553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261B2117-E10D-4AD5-B81D-C43A0114E0C1}" type="slidenum">
              <a:rPr kumimoji="0" lang="zh-CN" altLang="en-US">
                <a:latin typeface="Arial" panose="020B0604020202020204" pitchFamily="34" charset="0"/>
                <a:ea typeface="宋体" panose="02010600030101010101" pitchFamily="2" charset="-122"/>
              </a:rPr>
              <a:pPr latinLnBrk="0">
                <a:spcBef>
                  <a:spcPct val="0"/>
                </a:spcBef>
              </a:pPr>
              <a:t>31</a:t>
            </a:fld>
            <a:endParaRPr kumimoji="0" lang="en-US" altLang="zh-CN">
              <a:latin typeface="Arial" panose="020B0604020202020204" pitchFamily="34" charset="0"/>
              <a:ea typeface="宋体" panose="02010600030101010101" pitchFamily="2" charset="-122"/>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0" lang="zh-CN" altLang="en-US" dirty="0">
                <a:ea typeface="宋体" panose="02010600030101010101" pitchFamily="2" charset="-122"/>
              </a:rPr>
              <a:t>在少数情况下，系统调用不使用任何参数</a:t>
            </a:r>
            <a:endParaRPr kumimoji="0" lang="en-US" altLang="zh-CN" dirty="0">
              <a:ea typeface="宋体" panose="02010600030101010101" pitchFamily="2" charset="-122"/>
            </a:endParaRPr>
          </a:p>
          <a:p>
            <a:pPr eaLnBrk="1" hangingPunct="1"/>
            <a:r>
              <a:rPr kumimoji="0" lang="zh-CN" altLang="en-US" dirty="0">
                <a:ea typeface="宋体" panose="02010600030101010101" pitchFamily="2" charset="-122"/>
              </a:rPr>
              <a:t>如果采用栈来传递系统参数，</a:t>
            </a:r>
          </a:p>
        </p:txBody>
      </p:sp>
    </p:spTree>
    <p:extLst>
      <p:ext uri="{BB962C8B-B14F-4D97-AF65-F5344CB8AC3E}">
        <p14:creationId xmlns:p14="http://schemas.microsoft.com/office/powerpoint/2010/main" val="3321776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62483E91-A44F-47FD-8AC3-35C46FECF9A7}" type="slidenum">
              <a:rPr kumimoji="0" lang="zh-CN" altLang="en-US">
                <a:latin typeface="Arial" panose="020B0604020202020204" pitchFamily="34" charset="0"/>
                <a:ea typeface="宋体" panose="02010600030101010101" pitchFamily="2" charset="-122"/>
              </a:rPr>
              <a:pPr latinLnBrk="0">
                <a:spcBef>
                  <a:spcPct val="0"/>
                </a:spcBef>
              </a:pPr>
              <a:t>36</a:t>
            </a:fld>
            <a:endParaRPr kumimoji="0" lang="en-US" altLang="zh-CN">
              <a:latin typeface="Arial" panose="020B0604020202020204" pitchFamily="34" charset="0"/>
              <a:ea typeface="宋体" panose="02010600030101010101" pitchFamily="2" charset="-122"/>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lnSpc>
                <a:spcPct val="80000"/>
              </a:lnSpc>
            </a:pPr>
            <a:r>
              <a:rPr lang="zh-CN" altLang="en-US">
                <a:latin typeface="楷体_GB2312" pitchFamily="49" charset="-122"/>
                <a:ea typeface="楷体_GB2312" pitchFamily="49" charset="-122"/>
              </a:rPr>
              <a:t>调用参数在堆栈中的压栈顺序为从左到右，各参数对应的寄存器与系统调用发生时的堆栈结构有关</a:t>
            </a:r>
          </a:p>
          <a:p>
            <a:pPr lvl="1" eaLnBrk="1" hangingPunct="1">
              <a:lnSpc>
                <a:spcPct val="80000"/>
              </a:lnSpc>
            </a:pPr>
            <a:endParaRPr lang="zh-CN" altLang="en-US"/>
          </a:p>
        </p:txBody>
      </p:sp>
    </p:spTree>
    <p:extLst>
      <p:ext uri="{BB962C8B-B14F-4D97-AF65-F5344CB8AC3E}">
        <p14:creationId xmlns:p14="http://schemas.microsoft.com/office/powerpoint/2010/main" val="2091421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595DCBBA-E256-4F28-AA53-0E5897B25AD3}" type="slidenum">
              <a:rPr kumimoji="0" lang="zh-CN" altLang="en-US">
                <a:latin typeface="Arial" panose="020B0604020202020204" pitchFamily="34" charset="0"/>
                <a:ea typeface="宋体" panose="02010600030101010101" pitchFamily="2" charset="-122"/>
              </a:rPr>
              <a:pPr latinLnBrk="0">
                <a:spcBef>
                  <a:spcPct val="0"/>
                </a:spcBef>
              </a:pPr>
              <a:t>38</a:t>
            </a:fld>
            <a:endParaRPr kumimoji="0" lang="en-US" altLang="zh-CN">
              <a:latin typeface="Arial" panose="020B0604020202020204" pitchFamily="34" charset="0"/>
              <a:ea typeface="宋体" panose="02010600030101010101" pitchFamily="2" charset="-122"/>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en-US"/>
          </a:p>
        </p:txBody>
      </p:sp>
    </p:spTree>
    <p:extLst>
      <p:ext uri="{BB962C8B-B14F-4D97-AF65-F5344CB8AC3E}">
        <p14:creationId xmlns:p14="http://schemas.microsoft.com/office/powerpoint/2010/main" val="35754703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A7BBA70B-FCEE-4BDC-92F1-51BDB6320BF0}" type="slidenum">
              <a:rPr kumimoji="0" lang="zh-CN" altLang="en-US">
                <a:latin typeface="Arial" panose="020B0604020202020204" pitchFamily="34" charset="0"/>
                <a:ea typeface="宋体" panose="02010600030101010101" pitchFamily="2" charset="-122"/>
              </a:rPr>
              <a:pPr latinLnBrk="0">
                <a:spcBef>
                  <a:spcPct val="0"/>
                </a:spcBef>
              </a:pPr>
              <a:t>39</a:t>
            </a:fld>
            <a:endParaRPr kumimoji="0" lang="en-US" altLang="zh-CN">
              <a:latin typeface="Arial" panose="020B0604020202020204" pitchFamily="34" charset="0"/>
              <a:ea typeface="宋体" panose="02010600030101010101" pitchFamily="2" charset="-122"/>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889000" y="4716463"/>
            <a:ext cx="4891088"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到此，内核已经能够正确地找到并调用</a:t>
            </a:r>
            <a:r>
              <a:rPr lang="en-US" altLang="zh-CN"/>
              <a:t>sys_mysyscall.</a:t>
            </a:r>
            <a:r>
              <a:rPr lang="zh-CN" altLang="en-US"/>
              <a:t>接下来实现该例程。</a:t>
            </a:r>
          </a:p>
        </p:txBody>
      </p:sp>
    </p:spTree>
    <p:extLst>
      <p:ext uri="{BB962C8B-B14F-4D97-AF65-F5344CB8AC3E}">
        <p14:creationId xmlns:p14="http://schemas.microsoft.com/office/powerpoint/2010/main" val="1111614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D4CDBD4C-E799-440D-A4CC-D8F5F7D44FDA}" type="slidenum">
              <a:rPr kumimoji="0" lang="zh-CN" altLang="en-US">
                <a:latin typeface="Arial" panose="020B0604020202020204" pitchFamily="34" charset="0"/>
                <a:ea typeface="宋体" panose="02010600030101010101" pitchFamily="2" charset="-122"/>
              </a:rPr>
              <a:pPr latinLnBrk="0">
                <a:spcBef>
                  <a:spcPct val="0"/>
                </a:spcBef>
              </a:pPr>
              <a:t>40</a:t>
            </a:fld>
            <a:endParaRPr kumimoji="0" lang="en-US" altLang="zh-CN">
              <a:latin typeface="Arial" panose="020B0604020202020204" pitchFamily="34" charset="0"/>
              <a:ea typeface="宋体" panose="02010600030101010101" pitchFamily="2" charset="-122"/>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889000" y="4716463"/>
            <a:ext cx="4891088"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在</a:t>
            </a:r>
            <a:r>
              <a:rPr lang="en-US" altLang="zh-CN"/>
              <a:t>Linux</a:t>
            </a:r>
            <a:r>
              <a:rPr lang="zh-CN" altLang="en-US"/>
              <a:t>中所有系统调用服务例程都使用了</a:t>
            </a:r>
            <a:r>
              <a:rPr lang="en-US" altLang="zh-CN"/>
              <a:t>asmlinkage</a:t>
            </a:r>
            <a:r>
              <a:rPr lang="zh-CN" altLang="en-US"/>
              <a:t>标志。此标志是一个定义在</a:t>
            </a:r>
            <a:r>
              <a:rPr lang="en-US" altLang="zh-CN"/>
              <a:t>/include/linux/linkage.h </a:t>
            </a:r>
            <a:r>
              <a:rPr lang="zh-CN" altLang="en-US"/>
              <a:t>中的一个宏： </a:t>
            </a:r>
          </a:p>
          <a:p>
            <a:pPr eaLnBrk="1" hangingPunct="1"/>
            <a:r>
              <a:rPr lang="zh-CN" altLang="en-US"/>
              <a:t>   </a:t>
            </a:r>
            <a:r>
              <a:rPr lang="en-US" altLang="zh-CN"/>
              <a:t>#if defined __i386__ &amp;&amp; (__GNUC__ &gt; 2 ||   __GNUC_MINOR__ &gt; 7) </a:t>
            </a:r>
          </a:p>
          <a:p>
            <a:pPr eaLnBrk="1" hangingPunct="1"/>
            <a:r>
              <a:rPr lang="en-US" altLang="zh-CN"/>
              <a:t>   #define asmlinkage CPP_ASMLINKAGE__attribute__((regparm(0))) </a:t>
            </a:r>
          </a:p>
          <a:p>
            <a:pPr eaLnBrk="1" hangingPunct="1"/>
            <a:r>
              <a:rPr lang="en-US" altLang="zh-CN"/>
              <a:t>   #else </a:t>
            </a:r>
          </a:p>
          <a:p>
            <a:pPr eaLnBrk="1" hangingPunct="1"/>
            <a:r>
              <a:rPr lang="en-US" altLang="zh-CN"/>
              <a:t>   #define asmlinkage CPP_ASMLINKAGE </a:t>
            </a:r>
          </a:p>
          <a:p>
            <a:pPr eaLnBrk="1" hangingPunct="1"/>
            <a:r>
              <a:rPr lang="en-US" altLang="zh-CN"/>
              <a:t>   #endif </a:t>
            </a:r>
          </a:p>
          <a:p>
            <a:pPr eaLnBrk="1" hangingPunct="1"/>
            <a:r>
              <a:rPr lang="zh-CN" altLang="en-US"/>
              <a:t>其中涉及到了</a:t>
            </a:r>
            <a:r>
              <a:rPr lang="en-US" altLang="zh-CN"/>
              <a:t>gcc</a:t>
            </a:r>
            <a:r>
              <a:rPr lang="zh-CN" altLang="en-US"/>
              <a:t>的一些约定，总之，这个标志它可以告诉编译器该函数不需要从寄存器中获得任何参数，而是从堆栈中取得参数；即参数在堆栈中传递，而不是直接通过寄存器； </a:t>
            </a:r>
          </a:p>
          <a:p>
            <a:pPr eaLnBrk="1" hangingPunct="1"/>
            <a:endParaRPr lang="zh-CN" altLang="en-US"/>
          </a:p>
        </p:txBody>
      </p:sp>
    </p:spTree>
    <p:extLst>
      <p:ext uri="{BB962C8B-B14F-4D97-AF65-F5344CB8AC3E}">
        <p14:creationId xmlns:p14="http://schemas.microsoft.com/office/powerpoint/2010/main" val="2509126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latinLnBrk="0">
              <a:spcBef>
                <a:spcPct val="0"/>
              </a:spcBef>
            </a:pPr>
            <a:fld id="{6AC19751-D546-4148-8EBD-3CE97987A76C}" type="slidenum">
              <a:rPr kumimoji="0" lang="zh-CN" altLang="en-US">
                <a:latin typeface="Arial" panose="020B0604020202020204" pitchFamily="34" charset="0"/>
                <a:ea typeface="宋体" panose="02010600030101010101" pitchFamily="2" charset="-122"/>
              </a:rPr>
              <a:pPr latinLnBrk="0">
                <a:spcBef>
                  <a:spcPct val="0"/>
                </a:spcBef>
              </a:pPr>
              <a:t>41</a:t>
            </a:fld>
            <a:endParaRPr kumimoji="0" lang="en-US" altLang="zh-CN">
              <a:latin typeface="Arial" panose="020B0604020202020204" pitchFamily="34" charset="0"/>
              <a:ea typeface="宋体" panose="02010600030101010101" pitchFamily="2" charset="-122"/>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xfrm>
            <a:off x="889000" y="4716463"/>
            <a:ext cx="4891088"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在这里使用了</a:t>
            </a:r>
            <a:r>
              <a:rPr lang="en-US" altLang="zh-CN"/>
              <a:t>_syscall0</a:t>
            </a:r>
            <a:r>
              <a:rPr lang="zh-CN" altLang="en-US"/>
              <a:t>（）宏指令，宏指令本身在程序中将扩展成名为</a:t>
            </a:r>
            <a:r>
              <a:rPr lang="en-US" altLang="zh-CN"/>
              <a:t>syscall()</a:t>
            </a:r>
            <a:r>
              <a:rPr lang="zh-CN" altLang="en-US"/>
              <a:t>的函数，它在</a:t>
            </a:r>
            <a:r>
              <a:rPr lang="en-US" altLang="zh-CN"/>
              <a:t>main()</a:t>
            </a:r>
            <a:r>
              <a:rPr lang="zh-CN" altLang="en-US"/>
              <a:t>函数内部加以调用。</a:t>
            </a:r>
          </a:p>
          <a:p>
            <a:r>
              <a:rPr lang="zh-CN" altLang="en-US"/>
              <a:t>在自定义函数中， 预处理程序产生所有必要的机器指令代码，包括用系统调用参数值加载相应的</a:t>
            </a:r>
            <a:r>
              <a:rPr lang="en-US" altLang="zh-CN"/>
              <a:t>cpu</a:t>
            </a:r>
            <a:r>
              <a:rPr lang="zh-CN" altLang="en-US"/>
              <a:t>寄存器， 然后执行</a:t>
            </a:r>
            <a:r>
              <a:rPr lang="en-US" altLang="zh-CN"/>
              <a:t>int 0x80</a:t>
            </a:r>
            <a:r>
              <a:rPr lang="zh-CN" altLang="en-US"/>
              <a:t>中断指令。 </a:t>
            </a:r>
          </a:p>
          <a:p>
            <a:pPr eaLnBrk="1" hangingPunct="1"/>
            <a:endParaRPr lang="en-US" altLang="zh-CN"/>
          </a:p>
          <a:p>
            <a:pPr eaLnBrk="1" hangingPunct="1"/>
            <a:r>
              <a:rPr lang="zh-CN" altLang="en-US"/>
              <a:t>上面的例子是把系统调用直接载入内核，因此，需要重新编译内核。另一种方法是把系统调用以模块的形式加载到内核中。</a:t>
            </a:r>
          </a:p>
        </p:txBody>
      </p:sp>
    </p:spTree>
    <p:extLst>
      <p:ext uri="{BB962C8B-B14F-4D97-AF65-F5344CB8AC3E}">
        <p14:creationId xmlns:p14="http://schemas.microsoft.com/office/powerpoint/2010/main" val="2755323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gray">
      <p:bgPr>
        <a:solidFill>
          <a:schemeClr val="bg1"/>
        </a:solidFill>
        <a:effectLst/>
      </p:bgPr>
    </p:bg>
    <p:spTree>
      <p:nvGrpSpPr>
        <p:cNvPr id="1" name=""/>
        <p:cNvGrpSpPr/>
        <p:nvPr/>
      </p:nvGrpSpPr>
      <p:grpSpPr>
        <a:xfrm>
          <a:off x="0" y="0"/>
          <a:ext cx="0" cy="0"/>
          <a:chOff x="0" y="0"/>
          <a:chExt cx="0" cy="0"/>
        </a:xfrm>
      </p:grpSpPr>
      <p:sp>
        <p:nvSpPr>
          <p:cNvPr id="4" name="Rectangle 42"/>
          <p:cNvSpPr>
            <a:spLocks noChangeArrowheads="1"/>
          </p:cNvSpPr>
          <p:nvPr/>
        </p:nvSpPr>
        <p:spPr bwMode="ltGray">
          <a:xfrm>
            <a:off x="0" y="0"/>
            <a:ext cx="9144000" cy="483235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1pPr>
            <a:lvl2pPr marL="742950" indent="-28575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2pPr>
            <a:lvl3pPr marL="11430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3pPr>
            <a:lvl4pPr marL="16002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4pPr>
            <a:lvl5pPr marL="20574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9pPr>
          </a:lstStyle>
          <a:p>
            <a:pPr eaLnBrk="1" hangingPunct="1"/>
            <a:endParaRPr lang="zh-CN" altLang="en-US"/>
          </a:p>
        </p:txBody>
      </p:sp>
      <p:sp>
        <p:nvSpPr>
          <p:cNvPr id="5" name="AutoShape 37"/>
          <p:cNvSpPr>
            <a:spLocks noChangeArrowheads="1"/>
          </p:cNvSpPr>
          <p:nvPr/>
        </p:nvSpPr>
        <p:spPr bwMode="ltGray">
          <a:xfrm flipH="1">
            <a:off x="2411413" y="4581525"/>
            <a:ext cx="863600" cy="503238"/>
          </a:xfrm>
          <a:prstGeom prst="homePlate">
            <a:avLst>
              <a:gd name="adj" fmla="val 42902"/>
            </a:avLst>
          </a:prstGeom>
          <a:gradFill rotWithShape="1">
            <a:gsLst>
              <a:gs pos="0">
                <a:schemeClr val="tx1">
                  <a:gamma/>
                  <a:shade val="46275"/>
                  <a:invGamma/>
                </a:schemeClr>
              </a:gs>
              <a:gs pos="100000">
                <a:schemeClr val="tx1"/>
              </a:gs>
            </a:gsLst>
            <a:lin ang="0" scaled="1"/>
          </a:gradFill>
          <a:ln w="9525">
            <a:noFill/>
            <a:miter lim="800000"/>
            <a:headEnd/>
            <a:tailEnd/>
          </a:ln>
          <a:effectLst/>
        </p:spPr>
        <p:txBody>
          <a:bodyPr wrap="none" anchor="ctr"/>
          <a:lstStyle/>
          <a:p>
            <a:pPr eaLnBrk="1" hangingPunct="1">
              <a:lnSpc>
                <a:spcPct val="90000"/>
              </a:lnSpc>
              <a:spcBef>
                <a:spcPct val="20000"/>
              </a:spcBef>
              <a:buClr>
                <a:schemeClr val="accent2"/>
              </a:buClr>
              <a:buFont typeface="Wingdings" panose="05000000000000000000" pitchFamily="2" charset="2"/>
              <a:buNone/>
              <a:defRPr/>
            </a:pPr>
            <a:endParaRPr lang="zh-CN" altLang="en-US"/>
          </a:p>
        </p:txBody>
      </p:sp>
      <p:sp>
        <p:nvSpPr>
          <p:cNvPr id="6" name="AutoShape 38"/>
          <p:cNvSpPr>
            <a:spLocks noChangeArrowheads="1"/>
          </p:cNvSpPr>
          <p:nvPr/>
        </p:nvSpPr>
        <p:spPr bwMode="ltGray">
          <a:xfrm flipH="1">
            <a:off x="2700338" y="4581525"/>
            <a:ext cx="719137" cy="503238"/>
          </a:xfrm>
          <a:prstGeom prst="homePlate">
            <a:avLst>
              <a:gd name="adj" fmla="val 35725"/>
            </a:avLst>
          </a:prstGeom>
          <a:gradFill rotWithShape="1">
            <a:gsLst>
              <a:gs pos="0">
                <a:schemeClr val="hlink">
                  <a:gamma/>
                  <a:shade val="46275"/>
                  <a:invGamma/>
                </a:schemeClr>
              </a:gs>
              <a:gs pos="100000">
                <a:schemeClr val="hlink"/>
              </a:gs>
            </a:gsLst>
            <a:lin ang="0" scaled="1"/>
          </a:gradFill>
          <a:ln w="9525">
            <a:noFill/>
            <a:miter lim="800000"/>
            <a:headEnd/>
            <a:tailEnd/>
          </a:ln>
          <a:effectLst/>
        </p:spPr>
        <p:txBody>
          <a:bodyPr wrap="none" anchor="ctr"/>
          <a:lstStyle/>
          <a:p>
            <a:pPr eaLnBrk="1" hangingPunct="1">
              <a:lnSpc>
                <a:spcPct val="90000"/>
              </a:lnSpc>
              <a:spcBef>
                <a:spcPct val="20000"/>
              </a:spcBef>
              <a:buClr>
                <a:schemeClr val="accent2"/>
              </a:buClr>
              <a:buFont typeface="Wingdings" panose="05000000000000000000" pitchFamily="2" charset="2"/>
              <a:buNone/>
              <a:defRPr/>
            </a:pPr>
            <a:endParaRPr lang="zh-CN" altLang="en-US"/>
          </a:p>
        </p:txBody>
      </p:sp>
      <p:grpSp>
        <p:nvGrpSpPr>
          <p:cNvPr id="7" name="Group 44"/>
          <p:cNvGrpSpPr>
            <a:grpSpLocks/>
          </p:cNvGrpSpPr>
          <p:nvPr/>
        </p:nvGrpSpPr>
        <p:grpSpPr bwMode="auto">
          <a:xfrm>
            <a:off x="2987675" y="4581525"/>
            <a:ext cx="6156325" cy="503238"/>
            <a:chOff x="1882" y="2886"/>
            <a:chExt cx="3878" cy="317"/>
          </a:xfrm>
        </p:grpSpPr>
        <p:sp>
          <p:nvSpPr>
            <p:cNvPr id="8" name="Rectangle 40"/>
            <p:cNvSpPr>
              <a:spLocks noChangeArrowheads="1"/>
            </p:cNvSpPr>
            <p:nvPr/>
          </p:nvSpPr>
          <p:spPr bwMode="gray">
            <a:xfrm flipH="1">
              <a:off x="2147" y="2887"/>
              <a:ext cx="3613" cy="31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1pPr>
              <a:lvl2pPr marL="742950" indent="-28575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2pPr>
              <a:lvl3pPr marL="11430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3pPr>
              <a:lvl4pPr marL="16002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4pPr>
              <a:lvl5pPr marL="20574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9pPr>
            </a:lstStyle>
            <a:p>
              <a:pPr eaLnBrk="1" hangingPunct="1"/>
              <a:endParaRPr lang="zh-CN" altLang="en-US"/>
            </a:p>
          </p:txBody>
        </p:sp>
        <p:sp>
          <p:nvSpPr>
            <p:cNvPr id="9" name="AutoShape 41"/>
            <p:cNvSpPr>
              <a:spLocks noChangeArrowheads="1"/>
            </p:cNvSpPr>
            <p:nvPr/>
          </p:nvSpPr>
          <p:spPr bwMode="gray">
            <a:xfrm flipH="1">
              <a:off x="1882" y="2886"/>
              <a:ext cx="411" cy="316"/>
            </a:xfrm>
            <a:prstGeom prst="homePlate">
              <a:avLst>
                <a:gd name="adj" fmla="val 32516"/>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1pPr>
              <a:lvl2pPr marL="742950" indent="-28575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2pPr>
              <a:lvl3pPr marL="11430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3pPr>
              <a:lvl4pPr marL="16002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4pPr>
              <a:lvl5pPr marL="20574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9pPr>
            </a:lstStyle>
            <a:p>
              <a:pPr eaLnBrk="1" hangingPunct="1"/>
              <a:endParaRPr lang="zh-CN" altLang="en-US"/>
            </a:p>
          </p:txBody>
        </p:sp>
      </p:grpSp>
      <p:sp>
        <p:nvSpPr>
          <p:cNvPr id="13333" name="Rectangle 21"/>
          <p:cNvSpPr>
            <a:spLocks noGrp="1" noChangeArrowheads="1"/>
          </p:cNvSpPr>
          <p:nvPr>
            <p:ph type="ctrTitle" sz="quarter"/>
          </p:nvPr>
        </p:nvSpPr>
        <p:spPr>
          <a:xfrm>
            <a:off x="2843213" y="2349500"/>
            <a:ext cx="6300787" cy="1944688"/>
          </a:xfrm>
          <a:effectLst>
            <a:outerShdw dist="35921" dir="2700000" algn="ctr" rotWithShape="0">
              <a:schemeClr val="tx1"/>
            </a:outerShdw>
          </a:effectLst>
        </p:spPr>
        <p:txBody>
          <a:bodyPr/>
          <a:lstStyle>
            <a:lvl1pPr algn="l">
              <a:defRPr sz="5400">
                <a:solidFill>
                  <a:schemeClr val="bg1"/>
                </a:solidFill>
              </a:defRPr>
            </a:lvl1pPr>
          </a:lstStyle>
          <a:p>
            <a:r>
              <a:rPr lang="en-US" altLang="ko-KR"/>
              <a:t>Click to edit Master title style</a:t>
            </a:r>
          </a:p>
        </p:txBody>
      </p:sp>
      <p:sp>
        <p:nvSpPr>
          <p:cNvPr id="13334" name="Rectangle 22"/>
          <p:cNvSpPr>
            <a:spLocks noGrp="1" noChangeArrowheads="1"/>
          </p:cNvSpPr>
          <p:nvPr>
            <p:ph type="subTitle" sz="quarter" idx="1"/>
          </p:nvPr>
        </p:nvSpPr>
        <p:spPr bwMode="white">
          <a:xfrm>
            <a:off x="3348038" y="4581525"/>
            <a:ext cx="5795962" cy="376238"/>
          </a:xfrm>
        </p:spPr>
        <p:txBody>
          <a:bodyPr/>
          <a:lstStyle>
            <a:lvl1pPr marL="0" indent="0">
              <a:buFont typeface="Wingdings" pitchFamily="2" charset="2"/>
              <a:buNone/>
              <a:defRPr sz="2400">
                <a:solidFill>
                  <a:schemeClr val="tx1"/>
                </a:solidFill>
              </a:defRPr>
            </a:lvl1pPr>
          </a:lstStyle>
          <a:p>
            <a:r>
              <a:rPr lang="en-US" altLang="ko-KR"/>
              <a:t>Click to edit Master subtitle style</a:t>
            </a:r>
          </a:p>
        </p:txBody>
      </p:sp>
      <p:sp>
        <p:nvSpPr>
          <p:cNvPr id="10" name="Rectangle 23"/>
          <p:cNvSpPr>
            <a:spLocks noGrp="1" noChangeArrowheads="1"/>
          </p:cNvSpPr>
          <p:nvPr>
            <p:ph type="dt" sz="quarter" idx="10"/>
          </p:nvPr>
        </p:nvSpPr>
        <p:spPr bwMode="black">
          <a:xfrm>
            <a:off x="457200" y="6553200"/>
            <a:ext cx="2133600" cy="1524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buClrTx/>
              <a:buFontTx/>
              <a:buNone/>
              <a:defRPr b="0">
                <a:solidFill>
                  <a:schemeClr val="tx1"/>
                </a:solidFill>
                <a:effectLst>
                  <a:outerShdw blurRad="38100" dist="38100" dir="2700000" algn="tl">
                    <a:srgbClr val="C0C0C0"/>
                  </a:outerShdw>
                </a:effectLst>
                <a:latin typeface="Times New Roman" pitchFamily="18" charset="0"/>
                <a:ea typeface="Gulim" pitchFamily="34" charset="-127"/>
              </a:defRPr>
            </a:lvl1pPr>
          </a:lstStyle>
          <a:p>
            <a:pPr>
              <a:defRPr/>
            </a:pPr>
            <a:endParaRPr lang="en-US" altLang="ko-KR"/>
          </a:p>
        </p:txBody>
      </p:sp>
      <p:sp>
        <p:nvSpPr>
          <p:cNvPr id="11" name="Rectangle 24"/>
          <p:cNvSpPr>
            <a:spLocks noGrp="1" noChangeArrowheads="1"/>
          </p:cNvSpPr>
          <p:nvPr>
            <p:ph type="ftr" sz="quarter" idx="11"/>
          </p:nvPr>
        </p:nvSpPr>
        <p:spPr bwMode="black">
          <a:xfrm>
            <a:off x="3124200" y="6553200"/>
            <a:ext cx="2895600" cy="1524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ClrTx/>
              <a:buFontTx/>
              <a:buNone/>
              <a:defRPr b="0">
                <a:solidFill>
                  <a:schemeClr val="tx1"/>
                </a:solidFill>
                <a:effectLst>
                  <a:outerShdw blurRad="38100" dist="38100" dir="2700000" algn="tl">
                    <a:srgbClr val="C0C0C0"/>
                  </a:outerShdw>
                </a:effectLst>
                <a:latin typeface="Times New Roman" pitchFamily="18" charset="0"/>
                <a:ea typeface="Gulim" pitchFamily="34" charset="-127"/>
              </a:defRPr>
            </a:lvl1pPr>
          </a:lstStyle>
          <a:p>
            <a:pPr>
              <a:defRPr/>
            </a:pPr>
            <a:endParaRPr lang="en-US" altLang="ko-KR"/>
          </a:p>
        </p:txBody>
      </p:sp>
      <p:sp>
        <p:nvSpPr>
          <p:cNvPr id="12" name="Rectangle 25"/>
          <p:cNvSpPr>
            <a:spLocks noGrp="1" noChangeArrowheads="1"/>
          </p:cNvSpPr>
          <p:nvPr>
            <p:ph type="sldNum" sz="quarter" idx="12"/>
          </p:nvPr>
        </p:nvSpPr>
        <p:spPr bwMode="black">
          <a:xfrm>
            <a:off x="6553200" y="6553200"/>
            <a:ext cx="2133600" cy="152400"/>
          </a:xfrm>
        </p:spPr>
        <p:txBody>
          <a:bodyPr/>
          <a:lstStyle>
            <a:lvl1pPr algn="r">
              <a:defRPr sz="1400" smtClean="0">
                <a:latin typeface="Times New Roman" panose="02020603050405020304" pitchFamily="18" charset="0"/>
              </a:defRPr>
            </a:lvl1pPr>
          </a:lstStyle>
          <a:p>
            <a:pPr>
              <a:defRPr/>
            </a:pPr>
            <a:fld id="{6B4FD3E9-DF09-4FA9-8F65-CE581FDFB157}" type="slidenum">
              <a:rPr lang="ko-KR" altLang="en-US"/>
              <a:pPr>
                <a:defRPr/>
              </a:pPr>
              <a:t>‹#›</a:t>
            </a:fld>
            <a:endParaRPr lang="en-US" altLang="ko-KR"/>
          </a:p>
        </p:txBody>
      </p:sp>
    </p:spTree>
    <p:extLst>
      <p:ext uri="{BB962C8B-B14F-4D97-AF65-F5344CB8AC3E}">
        <p14:creationId xmlns:p14="http://schemas.microsoft.com/office/powerpoint/2010/main" val="2099325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
          <p:cNvSpPr>
            <a:spLocks noGrp="1" noChangeArrowheads="1"/>
          </p:cNvSpPr>
          <p:nvPr>
            <p:ph type="sldNum" sz="quarter" idx="10"/>
          </p:nvPr>
        </p:nvSpPr>
        <p:spPr>
          <a:ln/>
        </p:spPr>
        <p:txBody>
          <a:bodyPr/>
          <a:lstStyle>
            <a:lvl1pPr>
              <a:defRPr/>
            </a:lvl1pPr>
          </a:lstStyle>
          <a:p>
            <a:pPr>
              <a:defRPr/>
            </a:pPr>
            <a:fld id="{88D0B484-EAB8-4851-B0D4-349EF666F754}" type="slidenum">
              <a:rPr lang="ko-KR" altLang="en-US"/>
              <a:pPr>
                <a:defRPr/>
              </a:pPr>
              <a:t>‹#›</a:t>
            </a:fld>
            <a:endParaRPr lang="en-US" altLang="ko-KR"/>
          </a:p>
        </p:txBody>
      </p:sp>
    </p:spTree>
    <p:extLst>
      <p:ext uri="{BB962C8B-B14F-4D97-AF65-F5344CB8AC3E}">
        <p14:creationId xmlns:p14="http://schemas.microsoft.com/office/powerpoint/2010/main" val="418386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5"/>
          <p:cNvSpPr>
            <a:spLocks noGrp="1" noChangeArrowheads="1"/>
          </p:cNvSpPr>
          <p:nvPr>
            <p:ph type="sldNum" sz="quarter" idx="10"/>
          </p:nvPr>
        </p:nvSpPr>
        <p:spPr>
          <a:ln/>
        </p:spPr>
        <p:txBody>
          <a:bodyPr/>
          <a:lstStyle>
            <a:lvl1pPr>
              <a:defRPr/>
            </a:lvl1pPr>
          </a:lstStyle>
          <a:p>
            <a:pPr>
              <a:defRPr/>
            </a:pPr>
            <a:fld id="{B56018CC-C8F5-47E2-BE38-E8F5C514965E}" type="slidenum">
              <a:rPr lang="ko-KR" altLang="en-US"/>
              <a:pPr>
                <a:defRPr/>
              </a:pPr>
              <a:t>‹#›</a:t>
            </a:fld>
            <a:endParaRPr lang="en-US" altLang="ko-KR"/>
          </a:p>
        </p:txBody>
      </p:sp>
    </p:spTree>
    <p:extLst>
      <p:ext uri="{BB962C8B-B14F-4D97-AF65-F5344CB8AC3E}">
        <p14:creationId xmlns:p14="http://schemas.microsoft.com/office/powerpoint/2010/main" val="2036555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95288" y="1052513"/>
            <a:ext cx="4068762" cy="5272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6450" y="1052513"/>
            <a:ext cx="4070350" cy="5272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
          <p:cNvSpPr>
            <a:spLocks noGrp="1" noChangeArrowheads="1"/>
          </p:cNvSpPr>
          <p:nvPr>
            <p:ph type="sldNum" sz="quarter" idx="10"/>
          </p:nvPr>
        </p:nvSpPr>
        <p:spPr>
          <a:ln/>
        </p:spPr>
        <p:txBody>
          <a:bodyPr/>
          <a:lstStyle>
            <a:lvl1pPr>
              <a:defRPr/>
            </a:lvl1pPr>
          </a:lstStyle>
          <a:p>
            <a:pPr>
              <a:defRPr/>
            </a:pPr>
            <a:fld id="{A9C70961-A920-4B68-AD7B-BAA63FF408F5}" type="slidenum">
              <a:rPr lang="ko-KR" altLang="en-US"/>
              <a:pPr>
                <a:defRPr/>
              </a:pPr>
              <a:t>‹#›</a:t>
            </a:fld>
            <a:endParaRPr lang="en-US" altLang="ko-KR"/>
          </a:p>
        </p:txBody>
      </p:sp>
    </p:spTree>
    <p:extLst>
      <p:ext uri="{BB962C8B-B14F-4D97-AF65-F5344CB8AC3E}">
        <p14:creationId xmlns:p14="http://schemas.microsoft.com/office/powerpoint/2010/main" val="462260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5"/>
          <p:cNvSpPr>
            <a:spLocks noGrp="1" noChangeArrowheads="1"/>
          </p:cNvSpPr>
          <p:nvPr>
            <p:ph type="sldNum" sz="quarter" idx="10"/>
          </p:nvPr>
        </p:nvSpPr>
        <p:spPr>
          <a:ln/>
        </p:spPr>
        <p:txBody>
          <a:bodyPr/>
          <a:lstStyle>
            <a:lvl1pPr>
              <a:defRPr/>
            </a:lvl1pPr>
          </a:lstStyle>
          <a:p>
            <a:pPr>
              <a:defRPr/>
            </a:pPr>
            <a:fld id="{000A79F5-5303-4B83-AC6C-5705FAEF00BD}" type="slidenum">
              <a:rPr lang="ko-KR" altLang="en-US"/>
              <a:pPr>
                <a:defRPr/>
              </a:pPr>
              <a:t>‹#›</a:t>
            </a:fld>
            <a:endParaRPr lang="en-US" altLang="ko-KR"/>
          </a:p>
        </p:txBody>
      </p:sp>
    </p:spTree>
    <p:extLst>
      <p:ext uri="{BB962C8B-B14F-4D97-AF65-F5344CB8AC3E}">
        <p14:creationId xmlns:p14="http://schemas.microsoft.com/office/powerpoint/2010/main" val="2214132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5"/>
          <p:cNvSpPr>
            <a:spLocks noGrp="1" noChangeArrowheads="1"/>
          </p:cNvSpPr>
          <p:nvPr>
            <p:ph type="sldNum" sz="quarter" idx="10"/>
          </p:nvPr>
        </p:nvSpPr>
        <p:spPr>
          <a:ln/>
        </p:spPr>
        <p:txBody>
          <a:bodyPr/>
          <a:lstStyle>
            <a:lvl1pPr>
              <a:defRPr/>
            </a:lvl1pPr>
          </a:lstStyle>
          <a:p>
            <a:pPr>
              <a:defRPr/>
            </a:pPr>
            <a:fld id="{ABCB047A-CD3F-435E-9671-5C5B891F5CF4}" type="slidenum">
              <a:rPr lang="ko-KR" altLang="en-US"/>
              <a:pPr>
                <a:defRPr/>
              </a:pPr>
              <a:t>‹#›</a:t>
            </a:fld>
            <a:endParaRPr lang="en-US" altLang="ko-KR"/>
          </a:p>
        </p:txBody>
      </p:sp>
    </p:spTree>
    <p:extLst>
      <p:ext uri="{BB962C8B-B14F-4D97-AF65-F5344CB8AC3E}">
        <p14:creationId xmlns:p14="http://schemas.microsoft.com/office/powerpoint/2010/main" val="4174547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5"/>
          <p:cNvSpPr>
            <a:spLocks noGrp="1" noChangeArrowheads="1"/>
          </p:cNvSpPr>
          <p:nvPr>
            <p:ph type="sldNum" sz="quarter" idx="10"/>
          </p:nvPr>
        </p:nvSpPr>
        <p:spPr>
          <a:ln/>
        </p:spPr>
        <p:txBody>
          <a:bodyPr/>
          <a:lstStyle>
            <a:lvl1pPr>
              <a:defRPr/>
            </a:lvl1pPr>
          </a:lstStyle>
          <a:p>
            <a:pPr>
              <a:defRPr/>
            </a:pPr>
            <a:fld id="{14FB98FE-CDEE-454A-B986-9BD97D30311C}" type="slidenum">
              <a:rPr lang="ko-KR" altLang="en-US"/>
              <a:pPr>
                <a:defRPr/>
              </a:pPr>
              <a:t>‹#›</a:t>
            </a:fld>
            <a:endParaRPr lang="en-US" altLang="ko-KR"/>
          </a:p>
        </p:txBody>
      </p:sp>
    </p:spTree>
    <p:extLst>
      <p:ext uri="{BB962C8B-B14F-4D97-AF65-F5344CB8AC3E}">
        <p14:creationId xmlns:p14="http://schemas.microsoft.com/office/powerpoint/2010/main" val="3416723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5"/>
          <p:cNvSpPr>
            <a:spLocks noGrp="1" noChangeArrowheads="1"/>
          </p:cNvSpPr>
          <p:nvPr>
            <p:ph type="sldNum" sz="quarter" idx="10"/>
          </p:nvPr>
        </p:nvSpPr>
        <p:spPr>
          <a:ln/>
        </p:spPr>
        <p:txBody>
          <a:bodyPr/>
          <a:lstStyle>
            <a:lvl1pPr>
              <a:defRPr/>
            </a:lvl1pPr>
          </a:lstStyle>
          <a:p>
            <a:pPr>
              <a:defRPr/>
            </a:pPr>
            <a:fld id="{97C7584A-49C6-45B5-AD0A-B116F56ED12A}" type="slidenum">
              <a:rPr lang="ko-KR" altLang="en-US"/>
              <a:pPr>
                <a:defRPr/>
              </a:pPr>
              <a:t>‹#›</a:t>
            </a:fld>
            <a:endParaRPr lang="en-US" altLang="ko-KR"/>
          </a:p>
        </p:txBody>
      </p:sp>
    </p:spTree>
    <p:extLst>
      <p:ext uri="{BB962C8B-B14F-4D97-AF65-F5344CB8AC3E}">
        <p14:creationId xmlns:p14="http://schemas.microsoft.com/office/powerpoint/2010/main" val="1235670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5"/>
          <p:cNvSpPr>
            <a:spLocks noGrp="1" noChangeArrowheads="1"/>
          </p:cNvSpPr>
          <p:nvPr>
            <p:ph type="sldNum" sz="quarter" idx="10"/>
          </p:nvPr>
        </p:nvSpPr>
        <p:spPr>
          <a:ln/>
        </p:spPr>
        <p:txBody>
          <a:bodyPr/>
          <a:lstStyle>
            <a:lvl1pPr>
              <a:defRPr/>
            </a:lvl1pPr>
          </a:lstStyle>
          <a:p>
            <a:pPr>
              <a:defRPr/>
            </a:pPr>
            <a:fld id="{E0FE5540-4F53-4D94-BE03-91B266BE25B6}" type="slidenum">
              <a:rPr lang="ko-KR" altLang="en-US"/>
              <a:pPr>
                <a:defRPr/>
              </a:pPr>
              <a:t>‹#›</a:t>
            </a:fld>
            <a:endParaRPr lang="en-US" altLang="ko-KR"/>
          </a:p>
        </p:txBody>
      </p:sp>
    </p:spTree>
    <p:extLst>
      <p:ext uri="{BB962C8B-B14F-4D97-AF65-F5344CB8AC3E}">
        <p14:creationId xmlns:p14="http://schemas.microsoft.com/office/powerpoint/2010/main" val="3193054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
          <p:cNvSpPr>
            <a:spLocks noGrp="1" noChangeArrowheads="1"/>
          </p:cNvSpPr>
          <p:nvPr>
            <p:ph type="sldNum" sz="quarter" idx="10"/>
          </p:nvPr>
        </p:nvSpPr>
        <p:spPr>
          <a:ln/>
        </p:spPr>
        <p:txBody>
          <a:bodyPr/>
          <a:lstStyle>
            <a:lvl1pPr>
              <a:defRPr/>
            </a:lvl1pPr>
          </a:lstStyle>
          <a:p>
            <a:pPr>
              <a:defRPr/>
            </a:pPr>
            <a:fld id="{25DB508C-8936-4C2B-A722-05BDC1E477AA}" type="slidenum">
              <a:rPr lang="ko-KR" altLang="en-US"/>
              <a:pPr>
                <a:defRPr/>
              </a:pPr>
              <a:t>‹#›</a:t>
            </a:fld>
            <a:endParaRPr lang="en-US" altLang="ko-KR"/>
          </a:p>
        </p:txBody>
      </p:sp>
    </p:spTree>
    <p:extLst>
      <p:ext uri="{BB962C8B-B14F-4D97-AF65-F5344CB8AC3E}">
        <p14:creationId xmlns:p14="http://schemas.microsoft.com/office/powerpoint/2010/main" val="190481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5113" y="115888"/>
            <a:ext cx="2071687" cy="62087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95288" y="115888"/>
            <a:ext cx="6067425" cy="62087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
          <p:cNvSpPr>
            <a:spLocks noGrp="1" noChangeArrowheads="1"/>
          </p:cNvSpPr>
          <p:nvPr>
            <p:ph type="sldNum" sz="quarter" idx="10"/>
          </p:nvPr>
        </p:nvSpPr>
        <p:spPr>
          <a:ln/>
        </p:spPr>
        <p:txBody>
          <a:bodyPr/>
          <a:lstStyle>
            <a:lvl1pPr>
              <a:defRPr/>
            </a:lvl1pPr>
          </a:lstStyle>
          <a:p>
            <a:pPr>
              <a:defRPr/>
            </a:pPr>
            <a:fld id="{BDEBA5D1-5C21-43E3-9ED4-E9143AFE7561}" type="slidenum">
              <a:rPr lang="ko-KR" altLang="en-US"/>
              <a:pPr>
                <a:defRPr/>
              </a:pPr>
              <a:t>‹#›</a:t>
            </a:fld>
            <a:endParaRPr lang="en-US" altLang="ko-KR"/>
          </a:p>
        </p:txBody>
      </p:sp>
    </p:spTree>
    <p:extLst>
      <p:ext uri="{BB962C8B-B14F-4D97-AF65-F5344CB8AC3E}">
        <p14:creationId xmlns:p14="http://schemas.microsoft.com/office/powerpoint/2010/main" val="1785731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p:nvSpPr>
          <p:cNvPr id="12324" name="Rectangle 36"/>
          <p:cNvSpPr>
            <a:spLocks noChangeArrowheads="1"/>
          </p:cNvSpPr>
          <p:nvPr/>
        </p:nvSpPr>
        <p:spPr bwMode="ltGray">
          <a:xfrm>
            <a:off x="8859838" y="0"/>
            <a:ext cx="284162" cy="6858000"/>
          </a:xfrm>
          <a:prstGeom prst="rect">
            <a:avLst/>
          </a:prstGeom>
          <a:gradFill rotWithShape="1">
            <a:gsLst>
              <a:gs pos="0">
                <a:schemeClr val="accent1"/>
              </a:gs>
              <a:gs pos="100000">
                <a:schemeClr val="accent1">
                  <a:gamma/>
                  <a:tint val="0"/>
                  <a:invGamma/>
                </a:schemeClr>
              </a:gs>
            </a:gsLst>
            <a:lin ang="5400000" scaled="1"/>
          </a:gradFill>
          <a:ln w="9525">
            <a:noFill/>
            <a:miter lim="800000"/>
            <a:headEnd/>
            <a:tailEnd/>
          </a:ln>
          <a:effectLst/>
        </p:spPr>
        <p:txBody>
          <a:bodyPr wrap="none" anchor="ctr"/>
          <a:lstStyle/>
          <a:p>
            <a:pPr eaLnBrk="1" hangingPunct="1">
              <a:lnSpc>
                <a:spcPct val="90000"/>
              </a:lnSpc>
              <a:spcBef>
                <a:spcPct val="20000"/>
              </a:spcBef>
              <a:buClr>
                <a:schemeClr val="accent2"/>
              </a:buClr>
              <a:buFont typeface="Wingdings" panose="05000000000000000000" pitchFamily="2" charset="2"/>
              <a:buNone/>
              <a:defRPr/>
            </a:pPr>
            <a:endParaRPr lang="zh-CN" altLang="en-US"/>
          </a:p>
        </p:txBody>
      </p:sp>
      <p:sp>
        <p:nvSpPr>
          <p:cNvPr id="1027" name="Rectangle 22"/>
          <p:cNvSpPr>
            <a:spLocks noGrp="1" noChangeArrowheads="1"/>
          </p:cNvSpPr>
          <p:nvPr>
            <p:ph type="body" idx="1"/>
          </p:nvPr>
        </p:nvSpPr>
        <p:spPr bwMode="auto">
          <a:xfrm>
            <a:off x="395288" y="1052513"/>
            <a:ext cx="8291512" cy="527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
        <p:nvSpPr>
          <p:cNvPr id="12313" name="Rectangle 25"/>
          <p:cNvSpPr>
            <a:spLocks noGrp="1" noChangeArrowheads="1"/>
          </p:cNvSpPr>
          <p:nvPr>
            <p:ph type="sldNum" sz="quarter" idx="4"/>
          </p:nvPr>
        </p:nvSpPr>
        <p:spPr bwMode="auto">
          <a:xfrm>
            <a:off x="3276600" y="6477000"/>
            <a:ext cx="2133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ClrTx/>
              <a:buFontTx/>
              <a:buNone/>
              <a:defRPr sz="1200" b="0" smtClean="0">
                <a:solidFill>
                  <a:schemeClr val="tx1"/>
                </a:solidFill>
                <a:effectLst>
                  <a:outerShdw blurRad="38100" dist="38100" dir="2700000" algn="tl">
                    <a:srgbClr val="C0C0C0"/>
                  </a:outerShdw>
                </a:effectLst>
                <a:latin typeface="Verdana" panose="020B0604030504040204" pitchFamily="34" charset="0"/>
                <a:ea typeface="Gulim" panose="020B0600000101010101" pitchFamily="34" charset="-127"/>
              </a:defRPr>
            </a:lvl1pPr>
          </a:lstStyle>
          <a:p>
            <a:pPr>
              <a:defRPr/>
            </a:pPr>
            <a:fld id="{E8618FE8-D033-4E6F-BC27-2C02509891FB}" type="slidenum">
              <a:rPr lang="ko-KR" altLang="en-US"/>
              <a:pPr>
                <a:defRPr/>
              </a:pPr>
              <a:t>‹#›</a:t>
            </a:fld>
            <a:endParaRPr lang="en-US" altLang="ko-KR"/>
          </a:p>
        </p:txBody>
      </p:sp>
      <p:sp>
        <p:nvSpPr>
          <p:cNvPr id="12326" name="AutoShape 38"/>
          <p:cNvSpPr>
            <a:spLocks noChangeArrowheads="1"/>
          </p:cNvSpPr>
          <p:nvPr/>
        </p:nvSpPr>
        <p:spPr bwMode="ltGray">
          <a:xfrm>
            <a:off x="8461375" y="-6350"/>
            <a:ext cx="539750" cy="835025"/>
          </a:xfrm>
          <a:prstGeom prst="homePlate">
            <a:avLst>
              <a:gd name="adj" fmla="val 25000"/>
            </a:avLst>
          </a:prstGeom>
          <a:gradFill rotWithShape="1">
            <a:gsLst>
              <a:gs pos="0">
                <a:schemeClr val="tx1">
                  <a:gamma/>
                  <a:shade val="46275"/>
                  <a:invGamma/>
                </a:schemeClr>
              </a:gs>
              <a:gs pos="100000">
                <a:schemeClr val="tx1"/>
              </a:gs>
            </a:gsLst>
            <a:lin ang="0" scaled="1"/>
          </a:gradFill>
          <a:ln w="9525">
            <a:noFill/>
            <a:miter lim="800000"/>
            <a:headEnd/>
            <a:tailEnd/>
          </a:ln>
          <a:effectLst/>
        </p:spPr>
        <p:txBody>
          <a:bodyPr wrap="none" anchor="ctr"/>
          <a:lstStyle/>
          <a:p>
            <a:pPr eaLnBrk="1" hangingPunct="1">
              <a:lnSpc>
                <a:spcPct val="90000"/>
              </a:lnSpc>
              <a:spcBef>
                <a:spcPct val="20000"/>
              </a:spcBef>
              <a:buClr>
                <a:schemeClr val="accent2"/>
              </a:buClr>
              <a:buFont typeface="Wingdings" panose="05000000000000000000" pitchFamily="2" charset="2"/>
              <a:buNone/>
              <a:defRPr/>
            </a:pPr>
            <a:endParaRPr lang="zh-CN" altLang="en-US"/>
          </a:p>
        </p:txBody>
      </p:sp>
      <p:sp>
        <p:nvSpPr>
          <p:cNvPr id="12328" name="AutoShape 40"/>
          <p:cNvSpPr>
            <a:spLocks noChangeArrowheads="1"/>
          </p:cNvSpPr>
          <p:nvPr/>
        </p:nvSpPr>
        <p:spPr bwMode="ltGray">
          <a:xfrm>
            <a:off x="8101013" y="1588"/>
            <a:ext cx="574675" cy="835025"/>
          </a:xfrm>
          <a:prstGeom prst="homePlate">
            <a:avLst>
              <a:gd name="adj" fmla="val 25000"/>
            </a:avLst>
          </a:prstGeom>
          <a:gradFill rotWithShape="1">
            <a:gsLst>
              <a:gs pos="0">
                <a:schemeClr val="hlink">
                  <a:gamma/>
                  <a:shade val="46275"/>
                  <a:invGamma/>
                </a:schemeClr>
              </a:gs>
              <a:gs pos="100000">
                <a:schemeClr val="hlink"/>
              </a:gs>
            </a:gsLst>
            <a:lin ang="0" scaled="1"/>
          </a:gradFill>
          <a:ln w="9525">
            <a:noFill/>
            <a:miter lim="800000"/>
            <a:headEnd/>
            <a:tailEnd/>
          </a:ln>
          <a:effectLst/>
        </p:spPr>
        <p:txBody>
          <a:bodyPr wrap="none" anchor="ctr"/>
          <a:lstStyle/>
          <a:p>
            <a:pPr algn="ctr">
              <a:defRPr/>
            </a:pPr>
            <a:endParaRPr lang="ko-KR" altLang="en-US" sz="1800" b="0">
              <a:solidFill>
                <a:schemeClr val="tx1"/>
              </a:solidFill>
              <a:latin typeface="Times New Roman" pitchFamily="18" charset="0"/>
              <a:ea typeface="Gulim" pitchFamily="34" charset="-127"/>
            </a:endParaRPr>
          </a:p>
        </p:txBody>
      </p:sp>
      <p:sp>
        <p:nvSpPr>
          <p:cNvPr id="12323" name="Rectangle 35"/>
          <p:cNvSpPr>
            <a:spLocks noChangeArrowheads="1"/>
          </p:cNvSpPr>
          <p:nvPr/>
        </p:nvSpPr>
        <p:spPr bwMode="ltGray">
          <a:xfrm>
            <a:off x="107950" y="0"/>
            <a:ext cx="7951788" cy="847725"/>
          </a:xfrm>
          <a:prstGeom prst="rect">
            <a:avLst/>
          </a:prstGeom>
          <a:gradFill rotWithShape="1">
            <a:gsLst>
              <a:gs pos="0">
                <a:schemeClr val="accent2">
                  <a:gamma/>
                  <a:tint val="0"/>
                  <a:invGamma/>
                </a:schemeClr>
              </a:gs>
              <a:gs pos="100000">
                <a:schemeClr val="accent2"/>
              </a:gs>
            </a:gsLst>
            <a:lin ang="0" scaled="1"/>
          </a:gradFill>
          <a:ln w="9525">
            <a:noFill/>
            <a:miter lim="800000"/>
            <a:headEnd/>
            <a:tailEnd/>
          </a:ln>
          <a:effectLst/>
        </p:spPr>
        <p:txBody>
          <a:bodyPr wrap="none" anchor="ctr"/>
          <a:lstStyle/>
          <a:p>
            <a:pPr eaLnBrk="1" hangingPunct="1">
              <a:lnSpc>
                <a:spcPct val="90000"/>
              </a:lnSpc>
              <a:spcBef>
                <a:spcPct val="20000"/>
              </a:spcBef>
              <a:buClr>
                <a:schemeClr val="accent2"/>
              </a:buClr>
              <a:buFont typeface="Wingdings" panose="05000000000000000000" pitchFamily="2" charset="2"/>
              <a:buNone/>
              <a:defRPr/>
            </a:pPr>
            <a:endParaRPr lang="zh-CN" altLang="en-US"/>
          </a:p>
        </p:txBody>
      </p:sp>
      <p:sp>
        <p:nvSpPr>
          <p:cNvPr id="1032" name="AutoShape 41"/>
          <p:cNvSpPr>
            <a:spLocks noChangeArrowheads="1"/>
          </p:cNvSpPr>
          <p:nvPr/>
        </p:nvSpPr>
        <p:spPr bwMode="ltGray">
          <a:xfrm>
            <a:off x="7888288" y="0"/>
            <a:ext cx="427037" cy="835025"/>
          </a:xfrm>
          <a:prstGeom prst="homePlate">
            <a:avLst>
              <a:gd name="adj" fmla="val 25000"/>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1pPr>
            <a:lvl2pPr marL="742950" indent="-28575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2pPr>
            <a:lvl3pPr marL="11430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3pPr>
            <a:lvl4pPr marL="16002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4pPr>
            <a:lvl5pPr marL="2057400" indent="-228600">
              <a:lnSpc>
                <a:spcPct val="90000"/>
              </a:lnSpc>
              <a:spcBef>
                <a:spcPct val="20000"/>
              </a:spcBef>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Clr>
                <a:schemeClr val="accent2"/>
              </a:buClr>
              <a:buFont typeface="Wingdings" panose="05000000000000000000" pitchFamily="2" charset="2"/>
              <a:defRPr sz="1400" b="1">
                <a:solidFill>
                  <a:srgbClr val="2B5681"/>
                </a:solidFill>
                <a:latin typeface="楷体_GB2312" pitchFamily="49" charset="-122"/>
                <a:ea typeface="楷体_GB2312" pitchFamily="49" charset="-122"/>
              </a:defRPr>
            </a:lvl9pPr>
          </a:lstStyle>
          <a:p>
            <a:pPr eaLnBrk="1" hangingPunct="1"/>
            <a:endParaRPr lang="zh-CN" altLang="en-US"/>
          </a:p>
        </p:txBody>
      </p:sp>
      <p:sp>
        <p:nvSpPr>
          <p:cNvPr id="1033" name="Rectangle 21"/>
          <p:cNvSpPr>
            <a:spLocks noGrp="1" noChangeArrowheads="1"/>
          </p:cNvSpPr>
          <p:nvPr>
            <p:ph type="title"/>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ko-KR"/>
              <a:t>Click to edit Master title style</a:t>
            </a:r>
          </a:p>
        </p:txBody>
      </p:sp>
    </p:spTree>
  </p:cSld>
  <p:clrMap bg1="lt1" tx1="dk1" bg2="lt2" tx2="dk2" accent1="accent1" accent2="accent2" accent3="accent3" accent4="accent4" accent5="accent5" accent6="accent6" hlink="hlink" folHlink="folHlink"/>
  <p:sldLayoutIdLst>
    <p:sldLayoutId id="2147483751"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Clr>
          <a:schemeClr val="accent2"/>
        </a:buClr>
        <a:buFont typeface="Wingdings" panose="05000000000000000000" pitchFamily="2" charset="2"/>
        <a:buChar char="u"/>
        <a:defRPr sz="2800" b="1">
          <a:solidFill>
            <a:srgbClr val="2B5681"/>
          </a:solidFill>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anose="05000000000000000000" pitchFamily="2" charset="2"/>
        <a:buChar char="n"/>
        <a:defRPr sz="2600" b="1">
          <a:solidFill>
            <a:srgbClr val="008080"/>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rgbClr val="339966"/>
          </a:solidFill>
          <a:latin typeface="+mn-lt"/>
          <a:ea typeface="+mn-ea"/>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i386_entry.S.doc"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hyperlink" Target="http://10.14.11.127/lxr/http/ident?v=2.4.18;i=__NR_removexattr" TargetMode="External"/><Relationship Id="rId13" Type="http://schemas.openxmlformats.org/officeDocument/2006/relationships/hyperlink" Target="http://10.14.11.127/lxr/http/source/include/asm-i386/unistd.h?v=2.4.18#L245" TargetMode="External"/><Relationship Id="rId3" Type="http://schemas.openxmlformats.org/officeDocument/2006/relationships/hyperlink" Target="http://10.14.11.127/lxr/http/source/include/asm-i386/unistd.h?v=2.4.18#L240" TargetMode="External"/><Relationship Id="rId7" Type="http://schemas.openxmlformats.org/officeDocument/2006/relationships/hyperlink" Target="http://10.14.11.127/lxr/http/source/include/asm-i386/unistd.h?v=2.4.18#L242" TargetMode="External"/><Relationship Id="rId12" Type="http://schemas.openxmlformats.org/officeDocument/2006/relationships/hyperlink" Target="http://10.14.11.127/lxr/http/ident?v=2.4.18;i=__NR_fremovexattr"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10.14.11.127/lxr/http/ident?v=2.4.18;i=__NR_flistxattr" TargetMode="External"/><Relationship Id="rId11" Type="http://schemas.openxmlformats.org/officeDocument/2006/relationships/hyperlink" Target="http://10.14.11.127/lxr/http/source/include/asm-i386/unistd.h?v=2.4.18#L244" TargetMode="External"/><Relationship Id="rId5" Type="http://schemas.openxmlformats.org/officeDocument/2006/relationships/hyperlink" Target="http://10.14.11.127/lxr/http/source/include/asm-i386/unistd.h?v=2.4.18#L241" TargetMode="External"/><Relationship Id="rId10" Type="http://schemas.openxmlformats.org/officeDocument/2006/relationships/hyperlink" Target="http://10.14.11.127/lxr/http/ident?v=2.4.18;i=__NR_lremovexattr" TargetMode="External"/><Relationship Id="rId4" Type="http://schemas.openxmlformats.org/officeDocument/2006/relationships/hyperlink" Target="http://10.14.11.127/lxr/http/ident?v=2.4.18;i=__NR_llistxattr" TargetMode="External"/><Relationship Id="rId9" Type="http://schemas.openxmlformats.org/officeDocument/2006/relationships/hyperlink" Target="http://10.14.11.127/lxr/http/source/include/asm-i386/unistd.h?v=2.4.18#L243"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10.14.11.127/lxr/http/source/arch/i386/kernel/entry.S?v=2.4.18#L398" TargetMode="External"/><Relationship Id="rId7" Type="http://schemas.openxmlformats.org/officeDocument/2006/relationships/hyperlink" Target="http://10.14.11.127/lxr/http/source/arch/i386/kernel/entry.S?v=2.4.18#L640"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10.14.11.127/lxr/http/source/arch/i386/kernel/entry.S?v=2.4.18#L639" TargetMode="External"/><Relationship Id="rId5" Type="http://schemas.openxmlformats.org/officeDocument/2006/relationships/hyperlink" Target="http://10.14.11.127/lxr/http/source/arch/i386/kernel/entry.S?v=2.4.18#L636" TargetMode="External"/><Relationship Id="rId4" Type="http://schemas.openxmlformats.org/officeDocument/2006/relationships/hyperlink" Target="http://10.14.11.127/lxr/http/source/arch/i386/kernel/entry.S?v=2.4.18#L399"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9.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95288" y="260350"/>
            <a:ext cx="7993062" cy="609600"/>
          </a:xfrm>
        </p:spPr>
        <p:txBody>
          <a:bodyPr/>
          <a:lstStyle/>
          <a:p>
            <a:pPr algn="l" eaLnBrk="1" hangingPunct="1"/>
            <a:r>
              <a:rPr lang="zh-CN" altLang="en-US" sz="2800" dirty="0">
                <a:latin typeface="Times New Roman" panose="02020603050405020304" pitchFamily="18" charset="0"/>
                <a:ea typeface="楷体_GB2312" pitchFamily="49" charset="-122"/>
                <a:cs typeface="Times New Roman" panose="02020603050405020304" pitchFamily="18" charset="0"/>
              </a:rPr>
              <a:t>             </a:t>
            </a:r>
            <a:r>
              <a:rPr lang="zh-CN" altLang="en-US" dirty="0">
                <a:latin typeface="Times New Roman" panose="02020603050405020304" pitchFamily="18" charset="0"/>
                <a:ea typeface="楷体_GB2312" pitchFamily="49" charset="-122"/>
                <a:cs typeface="Times New Roman" panose="02020603050405020304" pitchFamily="18" charset="0"/>
              </a:rPr>
              <a:t>第</a:t>
            </a:r>
            <a:r>
              <a:rPr lang="en-US" altLang="zh-CN" dirty="0">
                <a:latin typeface="Times New Roman" panose="02020603050405020304" pitchFamily="18" charset="0"/>
                <a:ea typeface="楷体_GB2312" pitchFamily="49" charset="-122"/>
                <a:cs typeface="Times New Roman" panose="02020603050405020304" pitchFamily="18" charset="0"/>
              </a:rPr>
              <a:t>4</a:t>
            </a:r>
            <a:r>
              <a:rPr lang="zh-CN" altLang="en-US" dirty="0">
                <a:latin typeface="Times New Roman" panose="02020603050405020304" pitchFamily="18" charset="0"/>
                <a:ea typeface="楷体_GB2312" pitchFamily="49" charset="-122"/>
                <a:cs typeface="Times New Roman" panose="02020603050405020304" pitchFamily="18" charset="0"/>
              </a:rPr>
              <a:t>章  </a:t>
            </a: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系统调用</a:t>
            </a:r>
          </a:p>
        </p:txBody>
      </p:sp>
      <p:sp>
        <p:nvSpPr>
          <p:cNvPr id="5123" name="Rectangle 3"/>
          <p:cNvSpPr>
            <a:spLocks noGrp="1" noChangeArrowheads="1"/>
          </p:cNvSpPr>
          <p:nvPr>
            <p:ph type="body" idx="1"/>
          </p:nvPr>
        </p:nvSpPr>
        <p:spPr/>
        <p:txBody>
          <a:bodyPr/>
          <a:lstStyle/>
          <a:p>
            <a:pPr marL="0" indent="0" eaLnBrk="1" hangingPunct="1">
              <a:buNone/>
            </a:pPr>
            <a:r>
              <a:rPr lang="en-US" altLang="zh-CN" dirty="0">
                <a:latin typeface="Times New Roman" panose="02020603050405020304" pitchFamily="18" charset="0"/>
                <a:ea typeface="楷体_GB2312" pitchFamily="49" charset="-122"/>
                <a:cs typeface="Times New Roman" panose="02020603050405020304" pitchFamily="18" charset="0"/>
              </a:rPr>
              <a:t>4.1 Linux</a:t>
            </a:r>
            <a:r>
              <a:rPr lang="zh-CN" altLang="en-US" dirty="0">
                <a:latin typeface="Times New Roman" panose="02020603050405020304" pitchFamily="18" charset="0"/>
                <a:ea typeface="楷体_GB2312" pitchFamily="49" charset="-122"/>
                <a:cs typeface="Times New Roman" panose="02020603050405020304" pitchFamily="18" charset="0"/>
              </a:rPr>
              <a:t>系统调用功能</a:t>
            </a:r>
          </a:p>
          <a:p>
            <a:pPr marL="0" indent="0" eaLnBrk="1" hangingPunct="1">
              <a:buNone/>
            </a:pPr>
            <a:r>
              <a:rPr lang="en-US" altLang="zh-CN" dirty="0">
                <a:latin typeface="Times New Roman" panose="02020603050405020304" pitchFamily="18" charset="0"/>
                <a:ea typeface="楷体_GB2312" pitchFamily="49" charset="-122"/>
                <a:cs typeface="Times New Roman" panose="02020603050405020304" pitchFamily="18" charset="0"/>
              </a:rPr>
              <a:t>4.2 Linux</a:t>
            </a:r>
            <a:r>
              <a:rPr lang="zh-CN" altLang="en-US" dirty="0">
                <a:latin typeface="Times New Roman" panose="02020603050405020304" pitchFamily="18" charset="0"/>
                <a:ea typeface="楷体_GB2312" pitchFamily="49" charset="-122"/>
                <a:cs typeface="Times New Roman" panose="02020603050405020304" pitchFamily="18" charset="0"/>
              </a:rPr>
              <a:t>系统调用处理过程</a:t>
            </a:r>
          </a:p>
          <a:p>
            <a:pPr marL="0" indent="0" eaLnBrk="1" hangingPunct="1">
              <a:buNone/>
            </a:pPr>
            <a:r>
              <a:rPr lang="en-US" altLang="zh-CN" dirty="0">
                <a:latin typeface="Times New Roman" panose="02020603050405020304" pitchFamily="18" charset="0"/>
                <a:ea typeface="楷体_GB2312" pitchFamily="49" charset="-122"/>
                <a:cs typeface="Times New Roman" panose="02020603050405020304" pitchFamily="18" charset="0"/>
              </a:rPr>
              <a:t>4.3 Linux</a:t>
            </a:r>
            <a:r>
              <a:rPr lang="zh-CN" altLang="en-US" dirty="0">
                <a:latin typeface="Times New Roman" panose="02020603050405020304" pitchFamily="18" charset="0"/>
                <a:ea typeface="楷体_GB2312" pitchFamily="49" charset="-122"/>
                <a:cs typeface="Times New Roman" panose="02020603050405020304" pitchFamily="18" charset="0"/>
              </a:rPr>
              <a:t>系统调用的实例分析</a:t>
            </a:r>
            <a:endParaRPr lang="en-US" altLang="zh-CN" dirty="0">
              <a:latin typeface="Times New Roman" panose="02020603050405020304" pitchFamily="18" charset="0"/>
              <a:ea typeface="楷体_GB2312" pitchFamily="49" charset="-122"/>
              <a:cs typeface="Times New Roman" panose="02020603050405020304" pitchFamily="18" charset="0"/>
            </a:endParaRPr>
          </a:p>
          <a:p>
            <a:pPr marL="0" indent="0" eaLnBrk="1" hangingPunct="1">
              <a:buNone/>
            </a:pPr>
            <a:r>
              <a:rPr lang="en-US" altLang="zh-CN" dirty="0">
                <a:latin typeface="Times New Roman" panose="02020603050405020304" pitchFamily="18" charset="0"/>
                <a:ea typeface="楷体_GB2312" pitchFamily="49" charset="-122"/>
                <a:cs typeface="Times New Roman" panose="02020603050405020304" pitchFamily="18" charset="0"/>
              </a:rPr>
              <a:t>4.4 Linux</a:t>
            </a:r>
            <a:r>
              <a:rPr lang="zh-CN" altLang="en-US" dirty="0">
                <a:latin typeface="Times New Roman" panose="02020603050405020304" pitchFamily="18" charset="0"/>
                <a:ea typeface="楷体_GB2312" pitchFamily="49" charset="-122"/>
                <a:cs typeface="Times New Roman" panose="02020603050405020304" pitchFamily="18" charset="0"/>
              </a:rPr>
              <a:t>系统调用的参数传递</a:t>
            </a:r>
            <a:endParaRPr lang="en-US" altLang="zh-CN" dirty="0">
              <a:latin typeface="Times New Roman" panose="02020603050405020304" pitchFamily="18" charset="0"/>
              <a:ea typeface="楷体_GB2312" pitchFamily="49" charset="-122"/>
              <a:cs typeface="Times New Roman" panose="02020603050405020304" pitchFamily="18" charset="0"/>
            </a:endParaRPr>
          </a:p>
          <a:p>
            <a:pPr marL="0" indent="0" eaLnBrk="1" hangingPunct="1">
              <a:buNone/>
            </a:pPr>
            <a:r>
              <a:rPr lang="en-US" altLang="zh-CN" dirty="0">
                <a:latin typeface="Times New Roman" panose="02020603050405020304" pitchFamily="18" charset="0"/>
                <a:ea typeface="楷体_GB2312" pitchFamily="49" charset="-122"/>
                <a:cs typeface="Times New Roman" panose="02020603050405020304" pitchFamily="18" charset="0"/>
              </a:rPr>
              <a:t>4.5 Linux</a:t>
            </a:r>
            <a:r>
              <a:rPr lang="zh-CN" altLang="en-US" dirty="0">
                <a:latin typeface="Times New Roman" panose="02020603050405020304" pitchFamily="18" charset="0"/>
                <a:ea typeface="楷体_GB2312" pitchFamily="49" charset="-122"/>
                <a:cs typeface="Times New Roman" panose="02020603050405020304" pitchFamily="18" charset="0"/>
              </a:rPr>
              <a:t>中如何增加一个系统调用</a:t>
            </a:r>
            <a:endParaRPr lang="en-US" altLang="zh-CN" dirty="0">
              <a:latin typeface="Times New Roman" panose="02020603050405020304" pitchFamily="18" charset="0"/>
              <a:ea typeface="楷体_GB2312" pitchFamily="49" charset="-122"/>
              <a:cs typeface="Times New Roman" panose="02020603050405020304" pitchFamily="18" charset="0"/>
            </a:endParaRPr>
          </a:p>
          <a:p>
            <a:pPr marL="0" indent="0" eaLnBrk="1" hangingPunct="1">
              <a:buNone/>
            </a:pPr>
            <a:r>
              <a:rPr lang="en-US" altLang="zh-CN" dirty="0">
                <a:latin typeface="Times New Roman" panose="02020603050405020304" pitchFamily="18" charset="0"/>
                <a:ea typeface="楷体_GB2312" pitchFamily="49" charset="-122"/>
                <a:cs typeface="Times New Roman" panose="02020603050405020304" pitchFamily="18" charset="0"/>
              </a:rPr>
              <a:t>4.6 Linux</a:t>
            </a:r>
            <a:r>
              <a:rPr lang="zh-CN" altLang="en-US" dirty="0">
                <a:latin typeface="Times New Roman" panose="02020603050405020304" pitchFamily="18" charset="0"/>
                <a:ea typeface="楷体_GB2312" pitchFamily="49" charset="-122"/>
                <a:cs typeface="Times New Roman" panose="02020603050405020304" pitchFamily="18" charset="0"/>
              </a:rPr>
              <a:t>的内核升级与模块机制 </a:t>
            </a:r>
            <a:r>
              <a:rPr lang="zh-CN" altLang="en-US" dirty="0">
                <a:solidFill>
                  <a:srgbClr val="8B3A21"/>
                </a:solidFill>
                <a:latin typeface="Times New Roman" panose="02020603050405020304" pitchFamily="18" charset="0"/>
                <a:ea typeface="楷体_GB2312" pitchFamily="49" charset="-122"/>
                <a:cs typeface="Times New Roman" panose="02020603050405020304" pitchFamily="18" charset="0"/>
              </a:rPr>
              <a:t> </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dirty="0">
                <a:latin typeface="楷体_GB2312" pitchFamily="49" charset="-122"/>
                <a:ea typeface="楷体_GB2312" pitchFamily="49" charset="-122"/>
              </a:rPr>
              <a:t>知识回顾：系统调用概述</a:t>
            </a:r>
          </a:p>
        </p:txBody>
      </p:sp>
      <p:sp>
        <p:nvSpPr>
          <p:cNvPr id="6147" name="Rectangle 3"/>
          <p:cNvSpPr>
            <a:spLocks noGrp="1" noChangeArrowheads="1"/>
          </p:cNvSpPr>
          <p:nvPr>
            <p:ph type="body" idx="1"/>
          </p:nvPr>
        </p:nvSpPr>
        <p:spPr/>
        <p:txBody>
          <a:bodyPr/>
          <a:lstStyle/>
          <a:p>
            <a:pPr eaLnBrk="1" hangingPunct="1">
              <a:lnSpc>
                <a:spcPct val="120000"/>
              </a:lnSpc>
              <a:buFont typeface="Arial" panose="020B0604020202020204" pitchFamily="34" charset="0"/>
              <a:buChar char="•"/>
            </a:pPr>
            <a:r>
              <a:rPr lang="zh-CN" altLang="en-US" dirty="0">
                <a:solidFill>
                  <a:srgbClr val="FF0000"/>
                </a:solidFill>
                <a:latin typeface="楷体_GB2312" pitchFamily="49" charset="-122"/>
                <a:ea typeface="楷体_GB2312" pitchFamily="49" charset="-122"/>
              </a:rPr>
              <a:t>系统调用(</a:t>
            </a:r>
            <a:r>
              <a:rPr lang="en-US" altLang="zh-CN" dirty="0">
                <a:solidFill>
                  <a:srgbClr val="FF0000"/>
                </a:solidFill>
                <a:latin typeface="楷体_GB2312" pitchFamily="49" charset="-122"/>
                <a:ea typeface="楷体_GB2312" pitchFamily="49" charset="-122"/>
              </a:rPr>
              <a:t>SYSTEM CALL)</a:t>
            </a:r>
            <a:r>
              <a:rPr lang="zh-CN" altLang="en-US" dirty="0">
                <a:solidFill>
                  <a:srgbClr val="FF0000"/>
                </a:solidFill>
                <a:latin typeface="楷体_GB2312" pitchFamily="49" charset="-122"/>
                <a:ea typeface="楷体_GB2312" pitchFamily="49" charset="-122"/>
              </a:rPr>
              <a:t> ：</a:t>
            </a:r>
            <a:r>
              <a:rPr lang="en-US" altLang="zh-CN" dirty="0">
                <a:latin typeface="楷体_GB2312" pitchFamily="49" charset="-122"/>
                <a:ea typeface="楷体_GB2312" pitchFamily="49" charset="-122"/>
              </a:rPr>
              <a:t>OS</a:t>
            </a:r>
            <a:r>
              <a:rPr lang="zh-CN" altLang="en-US" dirty="0">
                <a:latin typeface="楷体_GB2312" pitchFamily="49" charset="-122"/>
                <a:ea typeface="楷体_GB2312" pitchFamily="49" charset="-122"/>
              </a:rPr>
              <a:t>内核中都有一组实现系统功能的过程，系统调用就是对上述过程的调用。编程人员利用系统调用，向</a:t>
            </a:r>
            <a:r>
              <a:rPr lang="en-US" altLang="zh-CN" dirty="0">
                <a:latin typeface="楷体_GB2312" pitchFamily="49" charset="-122"/>
                <a:ea typeface="楷体_GB2312" pitchFamily="49" charset="-122"/>
              </a:rPr>
              <a:t>OS</a:t>
            </a:r>
            <a:r>
              <a:rPr lang="zh-CN" altLang="en-US" dirty="0">
                <a:latin typeface="楷体_GB2312" pitchFamily="49" charset="-122"/>
                <a:ea typeface="楷体_GB2312" pitchFamily="49" charset="-122"/>
              </a:rPr>
              <a:t>提出服务请求，由</a:t>
            </a:r>
            <a:r>
              <a:rPr lang="en-US" altLang="zh-CN" dirty="0">
                <a:latin typeface="楷体_GB2312" pitchFamily="49" charset="-122"/>
                <a:ea typeface="楷体_GB2312" pitchFamily="49" charset="-122"/>
              </a:rPr>
              <a:t>OS</a:t>
            </a:r>
            <a:r>
              <a:rPr lang="zh-CN" altLang="en-US" dirty="0">
                <a:latin typeface="楷体_GB2312" pitchFamily="49" charset="-122"/>
                <a:ea typeface="楷体_GB2312" pitchFamily="49" charset="-122"/>
              </a:rPr>
              <a:t>代为完成。</a:t>
            </a:r>
          </a:p>
          <a:p>
            <a:pPr eaLnBrk="1" hangingPunct="1">
              <a:lnSpc>
                <a:spcPct val="120000"/>
              </a:lnSpc>
              <a:buFont typeface="Arial" panose="020B0604020202020204" pitchFamily="34" charset="0"/>
              <a:buChar char="•"/>
            </a:pPr>
            <a:r>
              <a:rPr lang="zh-CN" altLang="en-US" dirty="0">
                <a:latin typeface="楷体_GB2312" pitchFamily="49" charset="-122"/>
                <a:ea typeface="楷体_GB2312" pitchFamily="49" charset="-122"/>
              </a:rPr>
              <a:t>一般情况下，进程是不能够存取系统内核的。它不能存取内核使用的内存段，也不能调用内核函数，</a:t>
            </a:r>
            <a:r>
              <a:rPr lang="en-US" altLang="zh-CN" dirty="0">
                <a:latin typeface="楷体_GB2312" pitchFamily="49" charset="-122"/>
                <a:ea typeface="楷体_GB2312" pitchFamily="49" charset="-122"/>
              </a:rPr>
              <a:t>CPU</a:t>
            </a:r>
            <a:r>
              <a:rPr lang="zh-CN" altLang="en-US" dirty="0">
                <a:latin typeface="楷体_GB2312" pitchFamily="49" charset="-122"/>
                <a:ea typeface="楷体_GB2312" pitchFamily="49" charset="-122"/>
              </a:rPr>
              <a:t>的硬件结构保证了这一点。只有系统调用是一个例外。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zh-CN" b="0" dirty="0">
                <a:latin typeface="Times New Roman" panose="02020603050405020304" pitchFamily="18" charset="0"/>
                <a:ea typeface="楷体_GB2312" pitchFamily="49" charset="-122"/>
                <a:cs typeface="Times New Roman" panose="02020603050405020304" pitchFamily="18" charset="0"/>
              </a:rPr>
              <a:t>4.1 Linux</a:t>
            </a:r>
            <a:r>
              <a:rPr lang="zh-CN" altLang="en-US" dirty="0">
                <a:latin typeface="Times New Roman" panose="02020603050405020304" pitchFamily="18" charset="0"/>
                <a:ea typeface="楷体_GB2312" pitchFamily="49" charset="-122"/>
                <a:cs typeface="Times New Roman" panose="02020603050405020304" pitchFamily="18" charset="0"/>
              </a:rPr>
              <a:t>系统调用功能</a:t>
            </a:r>
          </a:p>
        </p:txBody>
      </p:sp>
      <p:sp>
        <p:nvSpPr>
          <p:cNvPr id="206851" name="Rectangle 3"/>
          <p:cNvSpPr>
            <a:spLocks noGrp="1" noChangeArrowheads="1"/>
          </p:cNvSpPr>
          <p:nvPr>
            <p:ph type="body" idx="1"/>
          </p:nvPr>
        </p:nvSpPr>
        <p:spPr>
          <a:xfrm>
            <a:off x="457200" y="1268413"/>
            <a:ext cx="8153400" cy="5208587"/>
          </a:xfrm>
        </p:spPr>
        <p:txBody>
          <a:bodyPr/>
          <a:lstStyle/>
          <a:p>
            <a:pPr eaLnBrk="1" hangingPunct="1">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系统调用是用户态进入内核态的唯一入口：</a:t>
            </a:r>
            <a:r>
              <a:rPr lang="zh-CN" altLang="en-US" dirty="0">
                <a:latin typeface="Times New Roman" panose="02020603050405020304" pitchFamily="18" charset="0"/>
                <a:ea typeface="楷体_GB2312" pitchFamily="49" charset="-122"/>
                <a:cs typeface="Times New Roman" panose="02020603050405020304" pitchFamily="18" charset="0"/>
              </a:rPr>
              <a:t>一夫当关，万夫莫开。常用系统调用：</a:t>
            </a: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控制硬件</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如</a:t>
            </a:r>
            <a:r>
              <a:rPr lang="en-US" altLang="zh-CN" dirty="0">
                <a:latin typeface="Times New Roman" panose="02020603050405020304" pitchFamily="18" charset="0"/>
                <a:ea typeface="楷体_GB2312" pitchFamily="49" charset="-122"/>
                <a:cs typeface="Times New Roman" panose="02020603050405020304" pitchFamily="18" charset="0"/>
              </a:rPr>
              <a:t>write/read</a:t>
            </a:r>
            <a:r>
              <a:rPr lang="zh-CN" altLang="en-US" dirty="0">
                <a:latin typeface="Times New Roman" panose="02020603050405020304" pitchFamily="18" charset="0"/>
                <a:ea typeface="楷体_GB2312" pitchFamily="49" charset="-122"/>
                <a:cs typeface="Times New Roman" panose="02020603050405020304" pitchFamily="18" charset="0"/>
              </a:rPr>
              <a:t>调用。</a:t>
            </a: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设置系统状态或读取内核数据</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getpid</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getpriority</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setpriority</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sethostname</a:t>
            </a:r>
            <a:r>
              <a:rPr lang="en-US" altLang="zh-CN" dirty="0">
                <a:latin typeface="Times New Roman" panose="02020603050405020304" pitchFamily="18" charset="0"/>
                <a:ea typeface="楷体_GB2312" pitchFamily="49" charset="-122"/>
                <a:cs typeface="Times New Roman" panose="02020603050405020304" pitchFamily="18" charset="0"/>
              </a:rPr>
              <a:t>()</a:t>
            </a: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进程管理</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如 </a:t>
            </a:r>
            <a:r>
              <a:rPr lang="en-US" altLang="zh-CN" dirty="0">
                <a:latin typeface="Times New Roman" panose="02020603050405020304" pitchFamily="18" charset="0"/>
                <a:ea typeface="楷体_GB2312" pitchFamily="49" charset="-122"/>
                <a:cs typeface="Times New Roman" panose="02020603050405020304" pitchFamily="18" charset="0"/>
              </a:rPr>
              <a:t>fork()</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a:latin typeface="Times New Roman" panose="02020603050405020304" pitchFamily="18" charset="0"/>
                <a:ea typeface="楷体_GB2312" pitchFamily="49" charset="-122"/>
                <a:cs typeface="Times New Roman" panose="02020603050405020304" pitchFamily="18" charset="0"/>
              </a:rPr>
              <a:t>clone()</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execve</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a:latin typeface="Times New Roman" panose="02020603050405020304" pitchFamily="18" charset="0"/>
                <a:ea typeface="楷体_GB2312" pitchFamily="49" charset="-122"/>
                <a:cs typeface="Times New Roman" panose="02020603050405020304" pitchFamily="18" charset="0"/>
              </a:rPr>
              <a:t>exit()</a:t>
            </a:r>
            <a:r>
              <a:rPr lang="zh-CN" altLang="en-US" dirty="0">
                <a:latin typeface="Times New Roman" panose="02020603050405020304" pitchFamily="18" charset="0"/>
                <a:ea typeface="楷体_GB2312" pitchFamily="49" charset="-122"/>
                <a:cs typeface="Times New Roman" panose="02020603050405020304" pitchFamily="18" charset="0"/>
              </a:rPr>
              <a:t>等</a:t>
            </a:r>
          </a:p>
          <a:p>
            <a:pPr eaLnBrk="1" hangingPunct="1">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优点 </a:t>
            </a: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编程容易，从硬件设备的低级编程中解脱出来</a:t>
            </a: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提高了系统的安全性，可以先检查请求的正确性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68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68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685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685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685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0685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068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bldLvl="2"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b="0" dirty="0">
                <a:latin typeface="楷体_GB2312" pitchFamily="49" charset="-122"/>
                <a:ea typeface="楷体_GB2312" pitchFamily="49" charset="-122"/>
              </a:rPr>
              <a:t>4.1 Linux</a:t>
            </a:r>
            <a:r>
              <a:rPr lang="zh-CN" altLang="en-US" dirty="0">
                <a:latin typeface="楷体_GB2312" pitchFamily="49" charset="-122"/>
                <a:ea typeface="楷体_GB2312" pitchFamily="49" charset="-122"/>
              </a:rPr>
              <a:t>系统调用功能</a:t>
            </a:r>
          </a:p>
        </p:txBody>
      </p:sp>
      <p:graphicFrame>
        <p:nvGraphicFramePr>
          <p:cNvPr id="10243" name="Object 7"/>
          <p:cNvGraphicFramePr>
            <a:graphicFrameLocks noChangeAspect="1"/>
          </p:cNvGraphicFramePr>
          <p:nvPr/>
        </p:nvGraphicFramePr>
        <p:xfrm>
          <a:off x="179388" y="1828800"/>
          <a:ext cx="8686800" cy="5029200"/>
        </p:xfrm>
        <a:graphic>
          <a:graphicData uri="http://schemas.openxmlformats.org/presentationml/2006/ole">
            <mc:AlternateContent xmlns:mc="http://schemas.openxmlformats.org/markup-compatibility/2006">
              <mc:Choice xmlns:v="urn:schemas-microsoft-com:vml" Requires="v">
                <p:oleObj spid="_x0000_s10257" name="VISIO" r:id="rId4" imgW="5135760" imgH="2880000" progId="Visio.Drawing.6">
                  <p:embed/>
                </p:oleObj>
              </mc:Choice>
              <mc:Fallback>
                <p:oleObj name="VISIO" r:id="rId4" imgW="5135760" imgH="2880000" progId="Visio.Drawing.6">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1828800"/>
                        <a:ext cx="8686800" cy="5029200"/>
                      </a:xfrm>
                      <a:prstGeom prst="rect">
                        <a:avLst/>
                      </a:prstGeom>
                      <a:solidFill>
                        <a:srgbClr val="A5F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611188" y="1196975"/>
            <a:ext cx="7848600" cy="4924425"/>
          </a:xfrm>
        </p:spPr>
        <p:txBody>
          <a:bodyPr/>
          <a:lstStyle/>
          <a:p>
            <a:pPr eaLnBrk="1" hangingPunct="1">
              <a:lnSpc>
                <a:spcPct val="130000"/>
              </a:lnSpc>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中实现系统调用利用了</a:t>
            </a:r>
            <a:r>
              <a:rPr lang="en-US" altLang="zh-CN" dirty="0">
                <a:latin typeface="Times New Roman" panose="02020603050405020304" pitchFamily="18" charset="0"/>
                <a:ea typeface="楷体_GB2312" pitchFamily="49" charset="-122"/>
                <a:cs typeface="Times New Roman" panose="02020603050405020304" pitchFamily="18" charset="0"/>
              </a:rPr>
              <a:t>i386</a:t>
            </a:r>
            <a:r>
              <a:rPr lang="zh-CN" altLang="en-US" dirty="0">
                <a:latin typeface="Times New Roman" panose="02020603050405020304" pitchFamily="18" charset="0"/>
                <a:ea typeface="楷体_GB2312" pitchFamily="49" charset="-122"/>
                <a:cs typeface="Times New Roman" panose="02020603050405020304" pitchFamily="18" charset="0"/>
              </a:rPr>
              <a:t>体系结构中的软件中断，即调用了</a:t>
            </a:r>
            <a:r>
              <a:rPr lang="en-US" altLang="zh-CN" b="0" dirty="0" err="1">
                <a:solidFill>
                  <a:srgbClr val="FF0000"/>
                </a:solidFill>
                <a:latin typeface="Times New Roman" panose="02020603050405020304" pitchFamily="18" charset="0"/>
                <a:ea typeface="楷体_GB2312" pitchFamily="49" charset="-122"/>
                <a:cs typeface="Times New Roman" panose="02020603050405020304" pitchFamily="18" charset="0"/>
              </a:rPr>
              <a:t>int</a:t>
            </a:r>
            <a:r>
              <a:rPr lang="en-US" altLang="zh-CN" b="0" dirty="0">
                <a:solidFill>
                  <a:srgbClr val="FF0000"/>
                </a:solidFill>
                <a:latin typeface="Times New Roman" panose="02020603050405020304" pitchFamily="18" charset="0"/>
                <a:ea typeface="楷体_GB2312" pitchFamily="49" charset="-122"/>
                <a:cs typeface="Times New Roman" panose="02020603050405020304" pitchFamily="18" charset="0"/>
              </a:rPr>
              <a:t>  $0x80</a:t>
            </a:r>
            <a:r>
              <a:rPr lang="zh-CN" altLang="en-US" dirty="0">
                <a:latin typeface="Times New Roman" panose="02020603050405020304" pitchFamily="18" charset="0"/>
                <a:ea typeface="楷体_GB2312" pitchFamily="49" charset="-122"/>
                <a:cs typeface="Times New Roman" panose="02020603050405020304" pitchFamily="18" charset="0"/>
              </a:rPr>
              <a:t>汇编指令。</a:t>
            </a:r>
          </a:p>
          <a:p>
            <a:pPr eaLnBrk="1" hangingPunct="1">
              <a:lnSpc>
                <a:spcPct val="13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这条汇编指令将产生向量为</a:t>
            </a:r>
            <a:r>
              <a:rPr lang="en-US" altLang="zh-CN" dirty="0">
                <a:latin typeface="Times New Roman" panose="02020603050405020304" pitchFamily="18" charset="0"/>
                <a:ea typeface="楷体_GB2312" pitchFamily="49" charset="-122"/>
                <a:cs typeface="Times New Roman" panose="02020603050405020304" pitchFamily="18" charset="0"/>
              </a:rPr>
              <a:t>128</a:t>
            </a:r>
            <a:r>
              <a:rPr lang="zh-CN" altLang="en-US" dirty="0">
                <a:latin typeface="Times New Roman" panose="02020603050405020304" pitchFamily="18" charset="0"/>
                <a:ea typeface="楷体_GB2312" pitchFamily="49" charset="-122"/>
                <a:cs typeface="Times New Roman" panose="02020603050405020304" pitchFamily="18" charset="0"/>
              </a:rPr>
              <a:t>的编程异常，</a:t>
            </a:r>
            <a:r>
              <a:rPr lang="en-US" altLang="zh-CN" dirty="0">
                <a:latin typeface="Times New Roman" panose="02020603050405020304" pitchFamily="18" charset="0"/>
                <a:ea typeface="楷体_GB2312" pitchFamily="49" charset="-122"/>
                <a:cs typeface="Times New Roman" panose="02020603050405020304" pitchFamily="18" charset="0"/>
              </a:rPr>
              <a:t>CPU</a:t>
            </a:r>
            <a:r>
              <a:rPr lang="zh-CN" altLang="en-US" dirty="0">
                <a:latin typeface="Times New Roman" panose="02020603050405020304" pitchFamily="18" charset="0"/>
                <a:ea typeface="楷体_GB2312" pitchFamily="49" charset="-122"/>
                <a:cs typeface="Times New Roman" panose="02020603050405020304" pitchFamily="18" charset="0"/>
              </a:rPr>
              <a:t>便被切换到内核态执行内核函数，转到了系统调用处理程序的入口：</a:t>
            </a:r>
            <a:r>
              <a:rPr lang="en-US" altLang="zh-CN" dirty="0" err="1">
                <a:latin typeface="Times New Roman" panose="02020603050405020304" pitchFamily="18" charset="0"/>
                <a:ea typeface="楷体_GB2312" pitchFamily="49" charset="-122"/>
                <a:cs typeface="Times New Roman" panose="02020603050405020304" pitchFamily="18" charset="0"/>
              </a:rPr>
              <a:t>system_call</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a:t>
            </a:r>
          </a:p>
          <a:p>
            <a:pPr eaLnBrk="1" hangingPunct="1">
              <a:lnSpc>
                <a:spcPct val="130000"/>
              </a:lnSpc>
              <a:buFont typeface="Arial" panose="020B0604020202020204" pitchFamily="34" charset="0"/>
              <a:buChar char="•"/>
            </a:pP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int</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 $0x80</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指令</a:t>
            </a:r>
            <a:r>
              <a:rPr lang="zh-CN" altLang="en-US" dirty="0">
                <a:latin typeface="Times New Roman" panose="02020603050405020304" pitchFamily="18" charset="0"/>
                <a:ea typeface="楷体_GB2312" pitchFamily="49" charset="-122"/>
                <a:cs typeface="Times New Roman" panose="02020603050405020304" pitchFamily="18" charset="0"/>
              </a:rPr>
              <a:t>将用户态的执行模式转变为内核态，并将控制权交给系统调用过程的</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起点</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system_call</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处理函数。</a:t>
            </a:r>
          </a:p>
          <a:p>
            <a:pPr eaLnBrk="1" hangingPunct="1">
              <a:lnSpc>
                <a:spcPct val="130000"/>
              </a:lnSpc>
              <a:buFont typeface="Wingdings" panose="05000000000000000000" pitchFamily="2" charset="2"/>
              <a:buNone/>
            </a:pPr>
            <a:endParaRPr lang="zh-CN" altLang="en-US" dirty="0">
              <a:latin typeface="楷体_GB2312" pitchFamily="49" charset="-122"/>
              <a:ea typeface="楷体_GB2312" pitchFamily="49" charset="-122"/>
            </a:endParaRPr>
          </a:p>
        </p:txBody>
      </p:sp>
      <p:sp>
        <p:nvSpPr>
          <p:cNvPr id="4" name="Rectangle 2">
            <a:extLst>
              <a:ext uri="{FF2B5EF4-FFF2-40B4-BE49-F238E27FC236}">
                <a16:creationId xmlns:a16="http://schemas.microsoft.com/office/drawing/2014/main" id="{C48DC6A1-7C83-43CB-9BE6-E5993414D3B1}"/>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b="0" kern="0" dirty="0">
                <a:latin typeface="楷体_GB2312" pitchFamily="49" charset="-122"/>
                <a:ea typeface="楷体_GB2312" pitchFamily="49" charset="-122"/>
              </a:rPr>
              <a:t>4.1 Linux</a:t>
            </a:r>
            <a:r>
              <a:rPr lang="zh-CN" altLang="en-US" kern="0" dirty="0">
                <a:latin typeface="楷体_GB2312" pitchFamily="49" charset="-122"/>
                <a:ea typeface="楷体_GB2312" pitchFamily="49" charset="-122"/>
              </a:rPr>
              <a:t>系统调用功能</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95288" y="981075"/>
            <a:ext cx="8291512" cy="5343525"/>
          </a:xfrm>
        </p:spPr>
        <p:txBody>
          <a:bodyPr/>
          <a:lstStyle/>
          <a:p>
            <a:pPr eaLnBrk="1" hangingPunct="1">
              <a:buFont typeface="Arial" panose="020B0604020202020204" pitchFamily="34" charset="0"/>
              <a:buChar char="•"/>
            </a:pP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system_call</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检查系统调用号，该号码告诉内核进程请求哪种服务。</a:t>
            </a: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内核进程查看系统调用表</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sys_call_table</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找到所调用的内核函数入口地址。</a:t>
            </a: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接着调用相应的函数，在返回后做一些系统检查，最后返回到进程。</a:t>
            </a:r>
          </a:p>
          <a:p>
            <a:pPr eaLnBrk="1" hangingPunct="1"/>
            <a:endParaRPr lang="zh-CN" altLang="en-US" sz="2400" b="0" dirty="0">
              <a:latin typeface="楷体_GB2312" pitchFamily="49" charset="-122"/>
              <a:ea typeface="楷体_GB2312" pitchFamily="49" charset="-122"/>
            </a:endParaRPr>
          </a:p>
        </p:txBody>
      </p:sp>
      <p:pic>
        <p:nvPicPr>
          <p:cNvPr id="143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3933825"/>
            <a:ext cx="6985000" cy="268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B4969AE2-9344-46E6-89DF-D5ACE45B25AD}"/>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b="0" kern="0" dirty="0">
                <a:latin typeface="楷体_GB2312" pitchFamily="49" charset="-122"/>
                <a:ea typeface="楷体_GB2312" pitchFamily="49" charset="-122"/>
              </a:rPr>
              <a:t>4.1 Linux</a:t>
            </a:r>
            <a:r>
              <a:rPr lang="zh-CN" altLang="en-US" kern="0" dirty="0">
                <a:latin typeface="楷体_GB2312" pitchFamily="49" charset="-122"/>
                <a:ea typeface="楷体_GB2312" pitchFamily="49" charset="-122"/>
              </a:rPr>
              <a:t>系统调用功能</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2512" y="980728"/>
            <a:ext cx="4604512" cy="609600"/>
          </a:xfrm>
        </p:spPr>
        <p:txBody>
          <a:bodyPr/>
          <a:lstStyle/>
          <a:p>
            <a:pPr eaLnBrk="1" hangingPunct="1"/>
            <a:r>
              <a:rPr lang="zh-CN" altLang="en-US" sz="2800" dirty="0">
                <a:solidFill>
                  <a:srgbClr val="FF0000"/>
                </a:solidFill>
                <a:latin typeface="楷体_GB2312" pitchFamily="49" charset="-122"/>
                <a:ea typeface="楷体_GB2312" pitchFamily="49" charset="-122"/>
              </a:rPr>
              <a:t>系统调用和普通函数调用</a:t>
            </a:r>
          </a:p>
        </p:txBody>
      </p:sp>
      <p:sp>
        <p:nvSpPr>
          <p:cNvPr id="314371" name="Rectangle 3"/>
          <p:cNvSpPr>
            <a:spLocks noGrp="1" noChangeArrowheads="1"/>
          </p:cNvSpPr>
          <p:nvPr>
            <p:ph type="body" idx="1"/>
          </p:nvPr>
        </p:nvSpPr>
        <p:spPr>
          <a:xfrm>
            <a:off x="318294" y="1590328"/>
            <a:ext cx="8507412" cy="6048375"/>
          </a:xfrm>
        </p:spPr>
        <p:txBody>
          <a:bodyPr/>
          <a:lstStyle/>
          <a:p>
            <a:pPr eaLnBrk="1" hangingPunct="1">
              <a:buFont typeface="Arial" panose="020B0604020202020204" pitchFamily="34" charset="0"/>
              <a:buChar char="•"/>
            </a:pPr>
            <a:r>
              <a:rPr lang="en-US" altLang="zh-CN" sz="2600" dirty="0">
                <a:latin typeface="Times New Roman" panose="02020603050405020304" pitchFamily="18" charset="0"/>
                <a:ea typeface="楷体_GB2312" pitchFamily="49" charset="-122"/>
                <a:cs typeface="Times New Roman" panose="02020603050405020304" pitchFamily="18" charset="0"/>
              </a:rPr>
              <a:t>API</a:t>
            </a:r>
            <a:r>
              <a:rPr lang="zh-CN" altLang="en-US" sz="2600" dirty="0">
                <a:latin typeface="Times New Roman" panose="02020603050405020304" pitchFamily="18" charset="0"/>
                <a:ea typeface="楷体_GB2312" pitchFamily="49" charset="-122"/>
                <a:cs typeface="Times New Roman" panose="02020603050405020304" pitchFamily="18" charset="0"/>
              </a:rPr>
              <a:t>是用于某种特定目的的函数，供应用程序调用，而系统调用供应用程序直接进入系统内核。</a:t>
            </a:r>
          </a:p>
          <a:p>
            <a:pPr eaLnBrk="1" hangingPunct="1">
              <a:buFont typeface="Arial" panose="020B0604020202020204" pitchFamily="34" charset="0"/>
              <a:buChar char="•"/>
            </a:pPr>
            <a:r>
              <a:rPr lang="en-US" altLang="zh-CN" sz="2600" dirty="0">
                <a:latin typeface="Times New Roman" panose="02020603050405020304" pitchFamily="18" charset="0"/>
                <a:ea typeface="楷体_GB2312" pitchFamily="49" charset="-122"/>
                <a:cs typeface="Times New Roman" panose="02020603050405020304" pitchFamily="18" charset="0"/>
              </a:rPr>
              <a:t>Linux</a:t>
            </a:r>
            <a:r>
              <a:rPr lang="zh-CN" altLang="en-US" sz="2600" dirty="0">
                <a:latin typeface="Times New Roman" panose="02020603050405020304" pitchFamily="18" charset="0"/>
                <a:ea typeface="楷体_GB2312" pitchFamily="49" charset="-122"/>
                <a:cs typeface="Times New Roman" panose="02020603050405020304" pitchFamily="18" charset="0"/>
              </a:rPr>
              <a:t>内核提供了一些</a:t>
            </a:r>
            <a:r>
              <a:rPr lang="en-US" altLang="zh-CN" sz="2600" dirty="0">
                <a:latin typeface="Times New Roman" panose="02020603050405020304" pitchFamily="18" charset="0"/>
                <a:ea typeface="楷体_GB2312" pitchFamily="49" charset="-122"/>
                <a:cs typeface="Times New Roman" panose="02020603050405020304" pitchFamily="18" charset="0"/>
              </a:rPr>
              <a:t>C</a:t>
            </a:r>
            <a:r>
              <a:rPr lang="zh-CN" altLang="en-US" sz="2600" dirty="0">
                <a:latin typeface="Times New Roman" panose="02020603050405020304" pitchFamily="18" charset="0"/>
                <a:ea typeface="楷体_GB2312" pitchFamily="49" charset="-122"/>
                <a:cs typeface="Times New Roman" panose="02020603050405020304" pitchFamily="18" charset="0"/>
              </a:rPr>
              <a:t>语言函数库，这些库对系统调用进行了包装和扩展，因为这些库函数与系统调用的关系非常紧密，所以习惯上把这些函数也称为系统调用。</a:t>
            </a:r>
          </a:p>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有的</a:t>
            </a:r>
            <a:r>
              <a:rPr lang="en-US" altLang="zh-CN" sz="2600" dirty="0">
                <a:latin typeface="Times New Roman" panose="02020603050405020304" pitchFamily="18" charset="0"/>
                <a:ea typeface="楷体_GB2312" pitchFamily="49" charset="-122"/>
                <a:cs typeface="Times New Roman" panose="02020603050405020304" pitchFamily="18" charset="0"/>
              </a:rPr>
              <a:t>API</a:t>
            </a:r>
            <a:r>
              <a:rPr lang="zh-CN" altLang="en-US" sz="2600" dirty="0">
                <a:latin typeface="Times New Roman" panose="02020603050405020304" pitchFamily="18" charset="0"/>
                <a:ea typeface="楷体_GB2312" pitchFamily="49" charset="-122"/>
                <a:cs typeface="Times New Roman" panose="02020603050405020304" pitchFamily="18" charset="0"/>
              </a:rPr>
              <a:t>函数在用户空间就可以完成工作，如一些用于数学计算的函数，因此不需要使用系统调用。</a:t>
            </a:r>
          </a:p>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有的</a:t>
            </a:r>
            <a:r>
              <a:rPr lang="en-US" altLang="zh-CN" sz="2600" dirty="0">
                <a:latin typeface="Times New Roman" panose="02020603050405020304" pitchFamily="18" charset="0"/>
                <a:ea typeface="楷体_GB2312" pitchFamily="49" charset="-122"/>
                <a:cs typeface="Times New Roman" panose="02020603050405020304" pitchFamily="18" charset="0"/>
              </a:rPr>
              <a:t>API</a:t>
            </a:r>
            <a:r>
              <a:rPr lang="zh-CN" altLang="en-US" sz="2600" dirty="0">
                <a:latin typeface="Times New Roman" panose="02020603050405020304" pitchFamily="18" charset="0"/>
                <a:ea typeface="楷体_GB2312" pitchFamily="49" charset="-122"/>
                <a:cs typeface="Times New Roman" panose="02020603050405020304" pitchFamily="18" charset="0"/>
              </a:rPr>
              <a:t>函数可能会进行多次系统调用。</a:t>
            </a:r>
          </a:p>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不同的</a:t>
            </a:r>
            <a:r>
              <a:rPr lang="en-US" altLang="zh-CN" sz="2600" dirty="0">
                <a:latin typeface="Times New Roman" panose="02020603050405020304" pitchFamily="18" charset="0"/>
                <a:ea typeface="楷体_GB2312" pitchFamily="49" charset="-122"/>
                <a:cs typeface="Times New Roman" panose="02020603050405020304" pitchFamily="18" charset="0"/>
              </a:rPr>
              <a:t>API </a:t>
            </a:r>
            <a:r>
              <a:rPr lang="zh-CN" altLang="en-US" sz="2600" dirty="0">
                <a:latin typeface="Times New Roman" panose="02020603050405020304" pitchFamily="18" charset="0"/>
                <a:ea typeface="楷体_GB2312" pitchFamily="49" charset="-122"/>
                <a:cs typeface="Times New Roman" panose="02020603050405020304" pitchFamily="18" charset="0"/>
              </a:rPr>
              <a:t>函数也可能会有相同的系统调用。比如</a:t>
            </a:r>
            <a:r>
              <a:rPr lang="en-US" altLang="zh-CN" sz="2600" dirty="0" err="1">
                <a:latin typeface="Times New Roman" panose="02020603050405020304" pitchFamily="18" charset="0"/>
                <a:ea typeface="楷体_GB2312" pitchFamily="49" charset="-122"/>
                <a:cs typeface="Times New Roman" panose="02020603050405020304" pitchFamily="18" charset="0"/>
              </a:rPr>
              <a:t>malloc</a:t>
            </a:r>
            <a:r>
              <a:rPr lang="en-US" altLang="zh-CN" sz="2600" dirty="0">
                <a:latin typeface="Times New Roman" panose="02020603050405020304" pitchFamily="18" charset="0"/>
                <a:ea typeface="楷体_GB2312" pitchFamily="49" charset="-122"/>
                <a:cs typeface="Times New Roman" panose="02020603050405020304" pitchFamily="18" charset="0"/>
              </a:rPr>
              <a:t>()</a:t>
            </a:r>
            <a:r>
              <a:rPr lang="zh-CN" altLang="en-US" sz="2600" dirty="0">
                <a:latin typeface="Times New Roman" panose="02020603050405020304" pitchFamily="18" charset="0"/>
                <a:ea typeface="楷体_GB2312" pitchFamily="49" charset="-122"/>
                <a:cs typeface="Times New Roman" panose="02020603050405020304" pitchFamily="18" charset="0"/>
              </a:rPr>
              <a:t>，</a:t>
            </a:r>
            <a:r>
              <a:rPr lang="en-US" altLang="zh-CN" sz="2600" dirty="0" err="1">
                <a:latin typeface="Times New Roman" panose="02020603050405020304" pitchFamily="18" charset="0"/>
                <a:ea typeface="楷体_GB2312" pitchFamily="49" charset="-122"/>
                <a:cs typeface="Times New Roman" panose="02020603050405020304" pitchFamily="18" charset="0"/>
              </a:rPr>
              <a:t>calloc</a:t>
            </a:r>
            <a:r>
              <a:rPr lang="en-US" altLang="zh-CN" sz="2600" dirty="0">
                <a:latin typeface="Times New Roman" panose="02020603050405020304" pitchFamily="18" charset="0"/>
                <a:ea typeface="楷体_GB2312" pitchFamily="49" charset="-122"/>
                <a:cs typeface="Times New Roman" panose="02020603050405020304" pitchFamily="18" charset="0"/>
              </a:rPr>
              <a:t>()</a:t>
            </a:r>
            <a:r>
              <a:rPr lang="zh-CN" altLang="en-US" sz="2600" dirty="0">
                <a:latin typeface="Times New Roman" panose="02020603050405020304" pitchFamily="18" charset="0"/>
                <a:ea typeface="楷体_GB2312" pitchFamily="49" charset="-122"/>
                <a:cs typeface="Times New Roman" panose="02020603050405020304" pitchFamily="18" charset="0"/>
              </a:rPr>
              <a:t>，</a:t>
            </a:r>
            <a:r>
              <a:rPr lang="en-US" altLang="zh-CN" sz="2600" dirty="0">
                <a:latin typeface="Times New Roman" panose="02020603050405020304" pitchFamily="18" charset="0"/>
                <a:ea typeface="楷体_GB2312" pitchFamily="49" charset="-122"/>
                <a:cs typeface="Times New Roman" panose="02020603050405020304" pitchFamily="18" charset="0"/>
              </a:rPr>
              <a:t>free()</a:t>
            </a:r>
            <a:r>
              <a:rPr lang="zh-CN" altLang="en-US" sz="2600" dirty="0">
                <a:latin typeface="Times New Roman" panose="02020603050405020304" pitchFamily="18" charset="0"/>
                <a:ea typeface="楷体_GB2312" pitchFamily="49" charset="-122"/>
                <a:cs typeface="Times New Roman" panose="02020603050405020304" pitchFamily="18" charset="0"/>
              </a:rPr>
              <a:t>等函数都使用相同的方法分配和释放内存。</a:t>
            </a:r>
          </a:p>
        </p:txBody>
      </p:sp>
      <p:sp>
        <p:nvSpPr>
          <p:cNvPr id="4" name="Rectangle 2">
            <a:extLst>
              <a:ext uri="{FF2B5EF4-FFF2-40B4-BE49-F238E27FC236}">
                <a16:creationId xmlns:a16="http://schemas.microsoft.com/office/drawing/2014/main" id="{6053F03D-B25A-4CC1-9F89-61936A39DE07}"/>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b="0" kern="0" dirty="0">
                <a:latin typeface="楷体_GB2312" pitchFamily="49" charset="-122"/>
                <a:ea typeface="楷体_GB2312" pitchFamily="49" charset="-122"/>
              </a:rPr>
              <a:t>4.1 Linux</a:t>
            </a:r>
            <a:r>
              <a:rPr lang="zh-CN" altLang="en-US" kern="0" dirty="0">
                <a:latin typeface="楷体_GB2312" pitchFamily="49" charset="-122"/>
                <a:ea typeface="楷体_GB2312" pitchFamily="49" charset="-122"/>
              </a:rPr>
              <a:t>系统调用功能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4371">
                                            <p:txEl>
                                              <p:pRg st="0" end="0"/>
                                            </p:txEl>
                                          </p:spTgt>
                                        </p:tgtEl>
                                        <p:attrNameLst>
                                          <p:attrName>style.visibility</p:attrName>
                                        </p:attrNameLst>
                                      </p:cBhvr>
                                      <p:to>
                                        <p:strVal val="visible"/>
                                      </p:to>
                                    </p:set>
                                    <p:animEffect transition="in" filter="blinds(horizontal)">
                                      <p:cBhvr>
                                        <p:cTn id="7" dur="500"/>
                                        <p:tgtEl>
                                          <p:spTgt spid="314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4371">
                                            <p:txEl>
                                              <p:pRg st="1" end="1"/>
                                            </p:txEl>
                                          </p:spTgt>
                                        </p:tgtEl>
                                        <p:attrNameLst>
                                          <p:attrName>style.visibility</p:attrName>
                                        </p:attrNameLst>
                                      </p:cBhvr>
                                      <p:to>
                                        <p:strVal val="visible"/>
                                      </p:to>
                                    </p:set>
                                    <p:animEffect transition="in" filter="blinds(horizontal)">
                                      <p:cBhvr>
                                        <p:cTn id="12" dur="500"/>
                                        <p:tgtEl>
                                          <p:spTgt spid="3143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4371">
                                            <p:txEl>
                                              <p:pRg st="2" end="2"/>
                                            </p:txEl>
                                          </p:spTgt>
                                        </p:tgtEl>
                                        <p:attrNameLst>
                                          <p:attrName>style.visibility</p:attrName>
                                        </p:attrNameLst>
                                      </p:cBhvr>
                                      <p:to>
                                        <p:strVal val="visible"/>
                                      </p:to>
                                    </p:set>
                                    <p:animEffect transition="in" filter="blinds(horizontal)">
                                      <p:cBhvr>
                                        <p:cTn id="17" dur="500"/>
                                        <p:tgtEl>
                                          <p:spTgt spid="3143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14371">
                                            <p:txEl>
                                              <p:pRg st="3" end="3"/>
                                            </p:txEl>
                                          </p:spTgt>
                                        </p:tgtEl>
                                        <p:attrNameLst>
                                          <p:attrName>style.visibility</p:attrName>
                                        </p:attrNameLst>
                                      </p:cBhvr>
                                      <p:to>
                                        <p:strVal val="visible"/>
                                      </p:to>
                                    </p:set>
                                    <p:animEffect transition="in" filter="blinds(horizontal)">
                                      <p:cBhvr>
                                        <p:cTn id="22" dur="500"/>
                                        <p:tgtEl>
                                          <p:spTgt spid="3143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14371">
                                            <p:txEl>
                                              <p:pRg st="4" end="4"/>
                                            </p:txEl>
                                          </p:spTgt>
                                        </p:tgtEl>
                                        <p:attrNameLst>
                                          <p:attrName>style.visibility</p:attrName>
                                        </p:attrNameLst>
                                      </p:cBhvr>
                                      <p:to>
                                        <p:strVal val="visible"/>
                                      </p:to>
                                    </p:set>
                                    <p:animEffect transition="in" filter="blinds(horizontal)">
                                      <p:cBhvr>
                                        <p:cTn id="27" dur="500"/>
                                        <p:tgtEl>
                                          <p:spTgt spid="3143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1"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6067" name="Rectangle 3"/>
          <p:cNvSpPr>
            <a:spLocks noGrp="1" noChangeArrowheads="1"/>
          </p:cNvSpPr>
          <p:nvPr>
            <p:ph type="body" idx="1"/>
          </p:nvPr>
        </p:nvSpPr>
        <p:spPr>
          <a:xfrm>
            <a:off x="468313" y="1125538"/>
            <a:ext cx="8382000" cy="5257800"/>
          </a:xfrm>
        </p:spPr>
        <p:txBody>
          <a:bodyPr/>
          <a:lstStyle/>
          <a:p>
            <a:pPr eaLnBrk="1" hangingPunct="1">
              <a:lnSpc>
                <a:spcPct val="90000"/>
              </a:lnSpc>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系统调用与系统命令</a:t>
            </a:r>
          </a:p>
          <a:p>
            <a:pPr marL="742950" lvl="2" indent="-342900" eaLnBrk="1" hangingPunct="1">
              <a:lnSpc>
                <a:spcPct val="90000"/>
              </a:lnSpc>
              <a:buClr>
                <a:schemeClr val="accent2"/>
              </a:buClr>
              <a:buFont typeface="Arial" panose="020B0604020202020204" pitchFamily="34" charset="0"/>
              <a:buChar char="•"/>
            </a:pPr>
            <a:r>
              <a:rPr lang="zh-CN" altLang="en-US" b="1" dirty="0">
                <a:solidFill>
                  <a:srgbClr val="2B5681"/>
                </a:solidFill>
                <a:latin typeface="Times New Roman" panose="02020603050405020304" pitchFamily="18" charset="0"/>
                <a:ea typeface="楷体_GB2312" pitchFamily="49" charset="-122"/>
                <a:cs typeface="Times New Roman" panose="02020603050405020304" pitchFamily="18" charset="0"/>
              </a:rPr>
              <a:t>系统命令相对</a:t>
            </a:r>
            <a:r>
              <a:rPr lang="en-US" altLang="zh-CN" b="1" dirty="0">
                <a:solidFill>
                  <a:srgbClr val="2B5681"/>
                </a:solidFill>
                <a:latin typeface="Times New Roman" panose="02020603050405020304" pitchFamily="18" charset="0"/>
                <a:ea typeface="楷体_GB2312" pitchFamily="49" charset="-122"/>
                <a:cs typeface="Times New Roman" panose="02020603050405020304" pitchFamily="18" charset="0"/>
              </a:rPr>
              <a:t>API</a:t>
            </a:r>
            <a:r>
              <a:rPr lang="zh-CN" altLang="en-US" b="1" dirty="0">
                <a:solidFill>
                  <a:srgbClr val="2B5681"/>
                </a:solidFill>
                <a:latin typeface="Times New Roman" panose="02020603050405020304" pitchFamily="18" charset="0"/>
                <a:ea typeface="楷体_GB2312" pitchFamily="49" charset="-122"/>
                <a:cs typeface="Times New Roman" panose="02020603050405020304" pitchFamily="18" charset="0"/>
              </a:rPr>
              <a:t>来说，更高一层。每个系统命令都是一个执行程序，如</a:t>
            </a:r>
            <a:r>
              <a:rPr lang="en-US" altLang="zh-CN" b="1" dirty="0">
                <a:solidFill>
                  <a:srgbClr val="2B5681"/>
                </a:solidFill>
                <a:latin typeface="Times New Roman" panose="02020603050405020304" pitchFamily="18" charset="0"/>
                <a:ea typeface="楷体_GB2312" pitchFamily="49" charset="-122"/>
                <a:cs typeface="Times New Roman" panose="02020603050405020304" pitchFamily="18" charset="0"/>
              </a:rPr>
              <a:t>ls</a:t>
            </a:r>
            <a:r>
              <a:rPr lang="zh-CN" altLang="en-US" b="1" dirty="0">
                <a:solidFill>
                  <a:srgbClr val="2B5681"/>
                </a:solidFill>
                <a:latin typeface="Times New Roman" panose="02020603050405020304" pitchFamily="18" charset="0"/>
                <a:ea typeface="楷体_GB2312" pitchFamily="49" charset="-122"/>
                <a:cs typeface="Times New Roman" panose="02020603050405020304" pitchFamily="18" charset="0"/>
              </a:rPr>
              <a:t>命令等。这些命令的实现调用了系统调用。</a:t>
            </a:r>
          </a:p>
          <a:p>
            <a:pPr eaLnBrk="1" hangingPunct="1">
              <a:lnSpc>
                <a:spcPct val="90000"/>
              </a:lnSpc>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系统调用与内核函数</a:t>
            </a:r>
          </a:p>
          <a:p>
            <a:pPr marL="742950" lvl="2" indent="-342900" eaLnBrk="1" hangingPunct="1">
              <a:lnSpc>
                <a:spcPct val="110000"/>
              </a:lnSpc>
              <a:buClr>
                <a:schemeClr val="accent2"/>
              </a:buClr>
              <a:buFont typeface="Arial" panose="020B0604020202020204" pitchFamily="34" charset="0"/>
              <a:buChar char="•"/>
            </a:pPr>
            <a:r>
              <a:rPr lang="zh-CN" altLang="en-US" b="1" dirty="0">
                <a:solidFill>
                  <a:srgbClr val="2B5681"/>
                </a:solidFill>
                <a:latin typeface="Times New Roman" panose="02020603050405020304" pitchFamily="18" charset="0"/>
                <a:ea typeface="楷体_GB2312" pitchFamily="49" charset="-122"/>
                <a:cs typeface="Times New Roman" panose="02020603050405020304" pitchFamily="18" charset="0"/>
              </a:rPr>
              <a:t>系统调用是用户进入内核的接口层，它本身并非内核函数，但是它由内核函数实现。</a:t>
            </a:r>
          </a:p>
          <a:p>
            <a:pPr marL="742950" lvl="2" indent="-342900" eaLnBrk="1" hangingPunct="1">
              <a:lnSpc>
                <a:spcPct val="110000"/>
              </a:lnSpc>
              <a:buClr>
                <a:schemeClr val="accent2"/>
              </a:buClr>
              <a:buFont typeface="Arial" panose="020B0604020202020204" pitchFamily="34" charset="0"/>
              <a:buChar char="•"/>
            </a:pPr>
            <a:r>
              <a:rPr lang="zh-CN" altLang="en-US" b="1" dirty="0">
                <a:solidFill>
                  <a:srgbClr val="2B5681"/>
                </a:solidFill>
                <a:latin typeface="Times New Roman" panose="02020603050405020304" pitchFamily="18" charset="0"/>
                <a:ea typeface="楷体_GB2312" pitchFamily="49" charset="-122"/>
                <a:cs typeface="Times New Roman" panose="02020603050405020304" pitchFamily="18" charset="0"/>
              </a:rPr>
              <a:t>进入内核后，不同的系统调用会找到各自对应的内核函数，这些内核函数被称为系统调用的“服务例程”。如系统调用</a:t>
            </a:r>
            <a:r>
              <a:rPr lang="en-US" altLang="zh-CN" b="1" dirty="0" err="1">
                <a:solidFill>
                  <a:srgbClr val="2B5681"/>
                </a:solidFill>
                <a:latin typeface="Times New Roman" panose="02020603050405020304" pitchFamily="18" charset="0"/>
                <a:ea typeface="楷体_GB2312" pitchFamily="49" charset="-122"/>
                <a:cs typeface="Times New Roman" panose="02020603050405020304" pitchFamily="18" charset="0"/>
              </a:rPr>
              <a:t>getpid</a:t>
            </a:r>
            <a:r>
              <a:rPr lang="en-US" altLang="zh-CN" b="1" dirty="0">
                <a:solidFill>
                  <a:srgbClr val="2B5681"/>
                </a:solidFill>
                <a:latin typeface="Times New Roman" panose="02020603050405020304" pitchFamily="18" charset="0"/>
                <a:ea typeface="楷体_GB2312" pitchFamily="49" charset="-122"/>
                <a:cs typeface="Times New Roman" panose="02020603050405020304" pitchFamily="18" charset="0"/>
              </a:rPr>
              <a:t>()</a:t>
            </a:r>
            <a:r>
              <a:rPr lang="zh-CN" altLang="en-US" b="1" dirty="0">
                <a:solidFill>
                  <a:srgbClr val="2B5681"/>
                </a:solidFill>
                <a:latin typeface="Times New Roman" panose="02020603050405020304" pitchFamily="18" charset="0"/>
                <a:ea typeface="楷体_GB2312" pitchFamily="49" charset="-122"/>
                <a:cs typeface="Times New Roman" panose="02020603050405020304" pitchFamily="18" charset="0"/>
              </a:rPr>
              <a:t>实际调用的服务例程为</a:t>
            </a:r>
            <a:r>
              <a:rPr lang="en-US" altLang="zh-CN" b="1" dirty="0" err="1">
                <a:solidFill>
                  <a:srgbClr val="2B5681"/>
                </a:solidFill>
                <a:latin typeface="Times New Roman" panose="02020603050405020304" pitchFamily="18" charset="0"/>
                <a:ea typeface="楷体_GB2312" pitchFamily="49" charset="-122"/>
                <a:cs typeface="Times New Roman" panose="02020603050405020304" pitchFamily="18" charset="0"/>
              </a:rPr>
              <a:t>sys_getpid</a:t>
            </a:r>
            <a:r>
              <a:rPr lang="en-US" altLang="zh-CN" b="1" dirty="0">
                <a:solidFill>
                  <a:srgbClr val="2B5681"/>
                </a:solidFill>
                <a:latin typeface="Times New Roman" panose="02020603050405020304" pitchFamily="18" charset="0"/>
                <a:ea typeface="楷体_GB2312" pitchFamily="49" charset="-122"/>
                <a:cs typeface="Times New Roman" panose="02020603050405020304" pitchFamily="18" charset="0"/>
              </a:rPr>
              <a:t>()</a:t>
            </a:r>
            <a:r>
              <a:rPr lang="zh-CN" altLang="en-US" b="1" dirty="0">
                <a:solidFill>
                  <a:srgbClr val="2B5681"/>
                </a:solidFill>
                <a:latin typeface="Times New Roman" panose="02020603050405020304" pitchFamily="18" charset="0"/>
                <a:ea typeface="楷体_GB2312" pitchFamily="49" charset="-122"/>
                <a:cs typeface="Times New Roman" panose="02020603050405020304" pitchFamily="18" charset="0"/>
              </a:rPr>
              <a:t>，或者说系统调用</a:t>
            </a:r>
            <a:r>
              <a:rPr lang="en-US" altLang="zh-CN" b="1" dirty="0" err="1">
                <a:solidFill>
                  <a:srgbClr val="2B5681"/>
                </a:solidFill>
                <a:latin typeface="Times New Roman" panose="02020603050405020304" pitchFamily="18" charset="0"/>
                <a:ea typeface="楷体_GB2312" pitchFamily="49" charset="-122"/>
                <a:cs typeface="Times New Roman" panose="02020603050405020304" pitchFamily="18" charset="0"/>
              </a:rPr>
              <a:t>getpid</a:t>
            </a:r>
            <a:r>
              <a:rPr lang="en-US" altLang="zh-CN" b="1" dirty="0">
                <a:solidFill>
                  <a:srgbClr val="2B5681"/>
                </a:solidFill>
                <a:latin typeface="Times New Roman" panose="02020603050405020304" pitchFamily="18" charset="0"/>
                <a:ea typeface="楷体_GB2312" pitchFamily="49" charset="-122"/>
                <a:cs typeface="Times New Roman" panose="02020603050405020304" pitchFamily="18" charset="0"/>
              </a:rPr>
              <a:t>()</a:t>
            </a:r>
            <a:r>
              <a:rPr lang="zh-CN" altLang="en-US" b="1" dirty="0">
                <a:solidFill>
                  <a:srgbClr val="2B5681"/>
                </a:solidFill>
                <a:latin typeface="Times New Roman" panose="02020603050405020304" pitchFamily="18" charset="0"/>
                <a:ea typeface="楷体_GB2312" pitchFamily="49" charset="-122"/>
                <a:cs typeface="Times New Roman" panose="02020603050405020304" pitchFamily="18" charset="0"/>
              </a:rPr>
              <a:t>是服务例程</a:t>
            </a:r>
            <a:r>
              <a:rPr lang="en-US" altLang="zh-CN" b="1" dirty="0" err="1">
                <a:solidFill>
                  <a:srgbClr val="2B5681"/>
                </a:solidFill>
                <a:latin typeface="Times New Roman" panose="02020603050405020304" pitchFamily="18" charset="0"/>
                <a:ea typeface="楷体_GB2312" pitchFamily="49" charset="-122"/>
                <a:cs typeface="Times New Roman" panose="02020603050405020304" pitchFamily="18" charset="0"/>
              </a:rPr>
              <a:t>sys_getpid</a:t>
            </a:r>
            <a:r>
              <a:rPr lang="en-US" altLang="zh-CN" b="1" dirty="0">
                <a:solidFill>
                  <a:srgbClr val="2B5681"/>
                </a:solidFill>
                <a:latin typeface="Times New Roman" panose="02020603050405020304" pitchFamily="18" charset="0"/>
                <a:ea typeface="楷体_GB2312" pitchFamily="49" charset="-122"/>
                <a:cs typeface="Times New Roman" panose="02020603050405020304" pitchFamily="18" charset="0"/>
              </a:rPr>
              <a:t>()</a:t>
            </a:r>
            <a:r>
              <a:rPr lang="zh-CN" altLang="en-US" b="1" dirty="0">
                <a:solidFill>
                  <a:srgbClr val="2B5681"/>
                </a:solidFill>
                <a:latin typeface="Times New Roman" panose="02020603050405020304" pitchFamily="18" charset="0"/>
                <a:ea typeface="楷体_GB2312" pitchFamily="49" charset="-122"/>
                <a:cs typeface="Times New Roman" panose="02020603050405020304" pitchFamily="18" charset="0"/>
              </a:rPr>
              <a:t>的封装例程。</a:t>
            </a:r>
          </a:p>
        </p:txBody>
      </p:sp>
      <p:sp>
        <p:nvSpPr>
          <p:cNvPr id="6" name="Rectangle 2">
            <a:extLst>
              <a:ext uri="{FF2B5EF4-FFF2-40B4-BE49-F238E27FC236}">
                <a16:creationId xmlns:a16="http://schemas.microsoft.com/office/drawing/2014/main" id="{C805E511-341C-4EC2-BE83-F4C5F2B2648A}"/>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b="0" kern="0" dirty="0">
                <a:latin typeface="楷体_GB2312" pitchFamily="49" charset="-122"/>
                <a:ea typeface="楷体_GB2312" pitchFamily="49" charset="-122"/>
              </a:rPr>
              <a:t>4.1 Linux</a:t>
            </a:r>
            <a:r>
              <a:rPr lang="zh-CN" altLang="en-US" kern="0" dirty="0">
                <a:latin typeface="楷体_GB2312" pitchFamily="49" charset="-122"/>
                <a:ea typeface="楷体_GB2312" pitchFamily="49" charset="-122"/>
              </a:rPr>
              <a:t>系统调用功能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60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1606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160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2160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160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23850" y="1235223"/>
            <a:ext cx="7632700" cy="609600"/>
          </a:xfrm>
        </p:spPr>
        <p:txBody>
          <a:bodyPr/>
          <a:lstStyle/>
          <a:p>
            <a:pPr marL="342900" indent="-342900" algn="l" eaLnBrk="1" hangingPunct="1">
              <a:lnSpc>
                <a:spcPct val="90000"/>
              </a:lnSpc>
              <a:spcBef>
                <a:spcPct val="20000"/>
              </a:spcBef>
              <a:buClr>
                <a:schemeClr val="accent2"/>
              </a:buClr>
              <a:buFont typeface="Arial" panose="020B0604020202020204" pitchFamily="34" charset="0"/>
              <a:buChar char="•"/>
            </a:pPr>
            <a:r>
              <a:rPr lang="zh-CN" altLang="en-US" sz="2800" dirty="0">
                <a:solidFill>
                  <a:srgbClr val="FF0000"/>
                </a:solidFill>
                <a:latin typeface="Times New Roman" panose="02020603050405020304" pitchFamily="18" charset="0"/>
                <a:ea typeface="楷体_GB2312" pitchFamily="49" charset="-122"/>
                <a:cs typeface="Times New Roman" panose="02020603050405020304" pitchFamily="18" charset="0"/>
              </a:rPr>
              <a:t>封装例程</a:t>
            </a:r>
            <a:r>
              <a:rPr lang="en-US" altLang="zh-CN" sz="2800" dirty="0">
                <a:solidFill>
                  <a:srgbClr val="FF0000"/>
                </a:solidFill>
                <a:latin typeface="Times New Roman" panose="02020603050405020304" pitchFamily="18" charset="0"/>
                <a:ea typeface="楷体_GB2312" pitchFamily="49" charset="-122"/>
                <a:cs typeface="Times New Roman" panose="02020603050405020304" pitchFamily="18" charset="0"/>
              </a:rPr>
              <a:t>(wrapper routine)</a:t>
            </a:r>
          </a:p>
        </p:txBody>
      </p:sp>
      <p:sp>
        <p:nvSpPr>
          <p:cNvPr id="212995" name="Rectangle 3"/>
          <p:cNvSpPr>
            <a:spLocks noGrp="1" noChangeArrowheads="1"/>
          </p:cNvSpPr>
          <p:nvPr>
            <p:ph type="body" idx="1"/>
          </p:nvPr>
        </p:nvSpPr>
        <p:spPr>
          <a:xfrm>
            <a:off x="323850" y="1844823"/>
            <a:ext cx="8208590" cy="4770289"/>
          </a:xfrm>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由于陷入指令（</a:t>
            </a:r>
            <a:r>
              <a:rPr lang="en-US" altLang="zh-CN" dirty="0">
                <a:latin typeface="Times New Roman" panose="02020603050405020304" pitchFamily="18" charset="0"/>
                <a:ea typeface="楷体_GB2312" pitchFamily="49" charset="-122"/>
                <a:cs typeface="Times New Roman" panose="02020603050405020304" pitchFamily="18" charset="0"/>
              </a:rPr>
              <a:t>trap</a:t>
            </a:r>
            <a:r>
              <a:rPr lang="zh-CN" altLang="en-US" dirty="0">
                <a:latin typeface="Times New Roman" panose="02020603050405020304" pitchFamily="18" charset="0"/>
                <a:ea typeface="楷体_GB2312" pitchFamily="49" charset="-122"/>
                <a:cs typeface="Times New Roman" panose="02020603050405020304" pitchFamily="18" charset="0"/>
              </a:rPr>
              <a:t>）是一条特殊指令，依赖操作系统实现的平台，如在</a:t>
            </a:r>
            <a:r>
              <a:rPr lang="en-US" altLang="zh-CN" dirty="0">
                <a:latin typeface="Times New Roman" panose="02020603050405020304" pitchFamily="18" charset="0"/>
                <a:ea typeface="楷体_GB2312" pitchFamily="49" charset="-122"/>
                <a:cs typeface="Times New Roman" panose="02020603050405020304" pitchFamily="18" charset="0"/>
              </a:rPr>
              <a:t>i386</a:t>
            </a:r>
            <a:r>
              <a:rPr lang="zh-CN" altLang="en-US" dirty="0">
                <a:latin typeface="Times New Roman" panose="02020603050405020304" pitchFamily="18" charset="0"/>
                <a:ea typeface="楷体_GB2312" pitchFamily="49" charset="-122"/>
                <a:cs typeface="Times New Roman" panose="02020603050405020304" pitchFamily="18" charset="0"/>
              </a:rPr>
              <a:t>体系结构中，这条指令是</a:t>
            </a:r>
            <a:r>
              <a:rPr lang="en-US" altLang="zh-CN" dirty="0" err="1">
                <a:latin typeface="Times New Roman" panose="02020603050405020304" pitchFamily="18" charset="0"/>
                <a:ea typeface="楷体_GB2312" pitchFamily="49" charset="-122"/>
                <a:cs typeface="Times New Roman" panose="02020603050405020304" pitchFamily="18" charset="0"/>
              </a:rPr>
              <a:t>int</a:t>
            </a:r>
            <a:r>
              <a:rPr lang="en-US" altLang="zh-CN" dirty="0">
                <a:latin typeface="Times New Roman" panose="02020603050405020304" pitchFamily="18" charset="0"/>
                <a:ea typeface="楷体_GB2312" pitchFamily="49" charset="-122"/>
                <a:cs typeface="Times New Roman" panose="02020603050405020304" pitchFamily="18" charset="0"/>
              </a:rPr>
              <a:t> $0x80(</a:t>
            </a:r>
            <a:r>
              <a:rPr lang="zh-CN" altLang="en-US" dirty="0">
                <a:latin typeface="Times New Roman" panose="02020603050405020304" pitchFamily="18" charset="0"/>
                <a:ea typeface="楷体_GB2312" pitchFamily="49" charset="-122"/>
                <a:cs typeface="Times New Roman" panose="02020603050405020304" pitchFamily="18" charset="0"/>
              </a:rPr>
              <a:t>陷入指令</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，不是用户在编程时应该使用的语句，因为这将使得用户程序难于移植。</a:t>
            </a:r>
          </a:p>
          <a:p>
            <a:pPr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在标准</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C</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库函数</a:t>
            </a:r>
            <a:r>
              <a:rPr lang="zh-CN" altLang="en-US" dirty="0">
                <a:latin typeface="Times New Roman" panose="02020603050405020304" pitchFamily="18" charset="0"/>
                <a:ea typeface="楷体_GB2312" pitchFamily="49" charset="-122"/>
                <a:cs typeface="Times New Roman" panose="02020603050405020304" pitchFamily="18" charset="0"/>
              </a:rPr>
              <a:t>中，为每个系统调用设置了一个</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封装例程</a:t>
            </a:r>
            <a:r>
              <a:rPr lang="zh-CN" altLang="en-US" dirty="0">
                <a:latin typeface="Times New Roman" panose="02020603050405020304" pitchFamily="18" charset="0"/>
                <a:ea typeface="楷体_GB2312" pitchFamily="49" charset="-122"/>
                <a:cs typeface="Times New Roman" panose="02020603050405020304" pitchFamily="18" charset="0"/>
              </a:rPr>
              <a:t>，当一个用户程序执行了一个系统调用时，就会调用到</a:t>
            </a:r>
            <a:r>
              <a:rPr lang="en-US" altLang="zh-CN" dirty="0">
                <a:latin typeface="Times New Roman" panose="02020603050405020304" pitchFamily="18" charset="0"/>
                <a:ea typeface="楷体_GB2312" pitchFamily="49" charset="-122"/>
                <a:cs typeface="Times New Roman" panose="02020603050405020304" pitchFamily="18" charset="0"/>
              </a:rPr>
              <a:t>C</a:t>
            </a:r>
            <a:r>
              <a:rPr lang="zh-CN" altLang="en-US" dirty="0">
                <a:latin typeface="Times New Roman" panose="02020603050405020304" pitchFamily="18" charset="0"/>
                <a:ea typeface="楷体_GB2312" pitchFamily="49" charset="-122"/>
                <a:cs typeface="Times New Roman" panose="02020603050405020304" pitchFamily="18" charset="0"/>
              </a:rPr>
              <a:t>函数库中的相对应的封装例程。</a:t>
            </a:r>
          </a:p>
        </p:txBody>
      </p:sp>
      <p:sp>
        <p:nvSpPr>
          <p:cNvPr id="4" name="Rectangle 2">
            <a:extLst>
              <a:ext uri="{FF2B5EF4-FFF2-40B4-BE49-F238E27FC236}">
                <a16:creationId xmlns:a16="http://schemas.microsoft.com/office/drawing/2014/main" id="{AC81FAFF-E0D7-4346-A06A-19119C475B70}"/>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b="0" kern="0" dirty="0">
                <a:latin typeface="楷体_GB2312" pitchFamily="49" charset="-122"/>
                <a:ea typeface="楷体_GB2312" pitchFamily="49" charset="-122"/>
              </a:rPr>
              <a:t>4.1 Linux</a:t>
            </a:r>
            <a:r>
              <a:rPr lang="zh-CN" altLang="en-US" kern="0" dirty="0">
                <a:latin typeface="楷体_GB2312" pitchFamily="49" charset="-122"/>
                <a:ea typeface="楷体_GB2312" pitchFamily="49" charset="-122"/>
              </a:rPr>
              <a:t>系统调用功能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2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129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build="p" bldLvl="2"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447800"/>
            <a:ext cx="7204075" cy="491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606B92A-A2DB-451E-9500-DBC293A8A20F}"/>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7" name="Group 4"/>
          <p:cNvGrpSpPr>
            <a:grpSpLocks/>
          </p:cNvGrpSpPr>
          <p:nvPr/>
        </p:nvGrpSpPr>
        <p:grpSpPr bwMode="auto">
          <a:xfrm>
            <a:off x="914400" y="1219200"/>
            <a:ext cx="7620000" cy="4495800"/>
            <a:chOff x="576" y="768"/>
            <a:chExt cx="4800" cy="2832"/>
          </a:xfrm>
        </p:grpSpPr>
        <p:sp>
          <p:nvSpPr>
            <p:cNvPr id="21508" name="Rectangle 5"/>
            <p:cNvSpPr>
              <a:spLocks noChangeArrowheads="1"/>
            </p:cNvSpPr>
            <p:nvPr/>
          </p:nvSpPr>
          <p:spPr bwMode="auto">
            <a:xfrm>
              <a:off x="576" y="768"/>
              <a:ext cx="4800" cy="2832"/>
            </a:xfrm>
            <a:prstGeom prst="rect">
              <a:avLst/>
            </a:prstGeom>
            <a:solidFill>
              <a:srgbClr val="FFFFFF"/>
            </a:solidFill>
            <a:ln w="9525">
              <a:solidFill>
                <a:srgbClr val="000000"/>
              </a:solidFill>
              <a:miter lim="800000"/>
              <a:headEnd/>
              <a:tailEnd/>
            </a:ln>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lnSpc>
                  <a:spcPct val="90000"/>
                </a:lnSpc>
                <a:buFont typeface="Wingdings" panose="05000000000000000000" pitchFamily="2" charset="2"/>
                <a:buNone/>
              </a:pPr>
              <a:endParaRPr lang="zh-CN" altLang="en-US" sz="1400">
                <a:latin typeface="楷体_GB2312" pitchFamily="49" charset="-122"/>
                <a:ea typeface="楷体_GB2312" pitchFamily="49" charset="-122"/>
              </a:endParaRPr>
            </a:p>
          </p:txBody>
        </p:sp>
        <p:sp>
          <p:nvSpPr>
            <p:cNvPr id="21509" name="AutoShape 6"/>
            <p:cNvSpPr>
              <a:spLocks noChangeArrowheads="1"/>
            </p:cNvSpPr>
            <p:nvPr/>
          </p:nvSpPr>
          <p:spPr bwMode="auto">
            <a:xfrm>
              <a:off x="1033" y="1220"/>
              <a:ext cx="1645" cy="1619"/>
            </a:xfrm>
            <a:prstGeom prst="roundRect">
              <a:avLst>
                <a:gd name="adj" fmla="val 16667"/>
              </a:avLst>
            </a:prstGeom>
            <a:solidFill>
              <a:srgbClr val="FFFFFF"/>
            </a:solidFill>
            <a:ln w="25400">
              <a:solidFill>
                <a:srgbClr val="000000"/>
              </a:solidFill>
              <a:prstDash val="sysDot"/>
              <a:round/>
              <a:headEnd/>
              <a:tailEnd/>
            </a:ln>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lnSpc>
                  <a:spcPct val="90000"/>
                </a:lnSpc>
                <a:buFont typeface="Wingdings" panose="05000000000000000000" pitchFamily="2" charset="2"/>
                <a:buNone/>
              </a:pPr>
              <a:endParaRPr lang="zh-CN" altLang="en-US" sz="1400">
                <a:latin typeface="楷体_GB2312" pitchFamily="49" charset="-122"/>
                <a:ea typeface="楷体_GB2312" pitchFamily="49" charset="-122"/>
              </a:endParaRPr>
            </a:p>
          </p:txBody>
        </p:sp>
        <p:sp>
          <p:nvSpPr>
            <p:cNvPr id="21510" name="AutoShape 7"/>
            <p:cNvSpPr>
              <a:spLocks noChangeArrowheads="1"/>
            </p:cNvSpPr>
            <p:nvPr/>
          </p:nvSpPr>
          <p:spPr bwMode="auto">
            <a:xfrm>
              <a:off x="1125" y="1308"/>
              <a:ext cx="639" cy="1440"/>
            </a:xfrm>
            <a:prstGeom prst="flowChartPunchedTape">
              <a:avLst/>
            </a:prstGeom>
            <a:solidFill>
              <a:srgbClr val="FFFFFF"/>
            </a:solidFill>
            <a:ln w="9525">
              <a:solidFill>
                <a:srgbClr val="000000"/>
              </a:solidFill>
              <a:miter lim="800000"/>
              <a:headEnd/>
              <a:tailEnd/>
            </a:ln>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a:spcBef>
                  <a:spcPct val="0"/>
                </a:spcBef>
                <a:buClrTx/>
                <a:buFontTx/>
                <a:buNone/>
              </a:pPr>
              <a:endParaRPr lang="zh-CN" altLang="en-US" sz="1000">
                <a:solidFill>
                  <a:schemeClr val="tx1"/>
                </a:solidFill>
                <a:latin typeface="Times New Roman" panose="02020603050405020304" pitchFamily="18" charset="0"/>
                <a:ea typeface="宋体" panose="02010600030101010101" pitchFamily="2" charset="-122"/>
              </a:endParaRPr>
            </a:p>
            <a:p>
              <a:pPr algn="just">
                <a:spcBef>
                  <a:spcPct val="0"/>
                </a:spcBef>
                <a:buClrTx/>
                <a:buFontTx/>
                <a:buNone/>
              </a:pPr>
              <a:r>
                <a:rPr lang="en-US" altLang="zh-CN" sz="1800">
                  <a:solidFill>
                    <a:schemeClr val="tx1"/>
                  </a:solidFill>
                  <a:latin typeface="Times New Roman" panose="02020603050405020304" pitchFamily="18" charset="0"/>
                  <a:ea typeface="宋体" panose="02010600030101010101" pitchFamily="2" charset="-122"/>
                </a:rPr>
                <a:t>…</a:t>
              </a:r>
            </a:p>
            <a:p>
              <a:pPr algn="just">
                <a:spcBef>
                  <a:spcPct val="0"/>
                </a:spcBef>
                <a:buClrTx/>
                <a:buFontTx/>
                <a:buNone/>
              </a:pPr>
              <a:r>
                <a:rPr lang="en-US" altLang="zh-CN" sz="1800">
                  <a:solidFill>
                    <a:schemeClr val="tx1"/>
                  </a:solidFill>
                  <a:latin typeface="Times New Roman" panose="02020603050405020304" pitchFamily="18" charset="0"/>
                  <a:ea typeface="宋体" panose="02010600030101010101" pitchFamily="2" charset="-122"/>
                </a:rPr>
                <a:t>xyz()</a:t>
              </a:r>
            </a:p>
            <a:p>
              <a:pPr algn="just">
                <a:spcBef>
                  <a:spcPct val="0"/>
                </a:spcBef>
                <a:buClrTx/>
                <a:buFontTx/>
                <a:buNone/>
              </a:pPr>
              <a:r>
                <a:rPr lang="en-US" altLang="zh-CN" sz="1800">
                  <a:solidFill>
                    <a:schemeClr val="tx1"/>
                  </a:solidFill>
                  <a:latin typeface="Times New Roman" panose="02020603050405020304" pitchFamily="18" charset="0"/>
                  <a:ea typeface="宋体" panose="02010600030101010101" pitchFamily="2" charset="-122"/>
                </a:rPr>
                <a:t>…</a:t>
              </a:r>
            </a:p>
          </p:txBody>
        </p:sp>
        <p:sp>
          <p:nvSpPr>
            <p:cNvPr id="21511" name="Line 8"/>
            <p:cNvSpPr>
              <a:spLocks noChangeShapeType="1"/>
            </p:cNvSpPr>
            <p:nvPr/>
          </p:nvSpPr>
          <p:spPr bwMode="auto">
            <a:xfrm flipV="1">
              <a:off x="1399" y="1578"/>
              <a:ext cx="457" cy="541"/>
            </a:xfrm>
            <a:prstGeom prst="line">
              <a:avLst/>
            </a:prstGeom>
            <a:noFill/>
            <a:ln w="25400" cap="rnd">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2" name="Line 9"/>
            <p:cNvSpPr>
              <a:spLocks noChangeShapeType="1"/>
            </p:cNvSpPr>
            <p:nvPr/>
          </p:nvSpPr>
          <p:spPr bwMode="auto">
            <a:xfrm flipH="1" flipV="1">
              <a:off x="1399" y="2120"/>
              <a:ext cx="548" cy="358"/>
            </a:xfrm>
            <a:prstGeom prst="line">
              <a:avLst/>
            </a:prstGeom>
            <a:noFill/>
            <a:ln w="25400">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3" name="AutoShape 10"/>
            <p:cNvSpPr>
              <a:spLocks noChangeArrowheads="1"/>
            </p:cNvSpPr>
            <p:nvPr/>
          </p:nvSpPr>
          <p:spPr bwMode="auto">
            <a:xfrm>
              <a:off x="2952" y="1220"/>
              <a:ext cx="2193" cy="1619"/>
            </a:xfrm>
            <a:prstGeom prst="roundRect">
              <a:avLst>
                <a:gd name="adj" fmla="val 16667"/>
              </a:avLst>
            </a:prstGeom>
            <a:solidFill>
              <a:srgbClr val="FFFFFF"/>
            </a:solidFill>
            <a:ln w="25400">
              <a:solidFill>
                <a:srgbClr val="000000"/>
              </a:solidFill>
              <a:prstDash val="sysDot"/>
              <a:round/>
              <a:headEnd/>
              <a:tailEnd/>
            </a:ln>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lnSpc>
                  <a:spcPct val="90000"/>
                </a:lnSpc>
                <a:buFont typeface="Wingdings" panose="05000000000000000000" pitchFamily="2" charset="2"/>
                <a:buNone/>
              </a:pPr>
              <a:endParaRPr lang="zh-CN" altLang="en-US" sz="1400">
                <a:latin typeface="楷体_GB2312" pitchFamily="49" charset="-122"/>
                <a:ea typeface="楷体_GB2312" pitchFamily="49" charset="-122"/>
              </a:endParaRPr>
            </a:p>
          </p:txBody>
        </p:sp>
        <p:sp>
          <p:nvSpPr>
            <p:cNvPr id="21514" name="AutoShape 11"/>
            <p:cNvSpPr>
              <a:spLocks noChangeArrowheads="1"/>
            </p:cNvSpPr>
            <p:nvPr/>
          </p:nvSpPr>
          <p:spPr bwMode="auto">
            <a:xfrm>
              <a:off x="3039" y="1298"/>
              <a:ext cx="1097" cy="1440"/>
            </a:xfrm>
            <a:prstGeom prst="roundRect">
              <a:avLst>
                <a:gd name="adj" fmla="val 16667"/>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system_call:</a:t>
              </a:r>
            </a:p>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a:t>
              </a:r>
            </a:p>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  sys_xyz()</a:t>
              </a:r>
            </a:p>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  …</a:t>
              </a:r>
            </a:p>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ret_from_sys_call:</a:t>
              </a:r>
            </a:p>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a:t>
              </a:r>
            </a:p>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iret</a:t>
              </a:r>
            </a:p>
          </p:txBody>
        </p:sp>
        <p:sp>
          <p:nvSpPr>
            <p:cNvPr id="21515" name="AutoShape 12"/>
            <p:cNvSpPr>
              <a:spLocks noChangeArrowheads="1"/>
            </p:cNvSpPr>
            <p:nvPr/>
          </p:nvSpPr>
          <p:spPr bwMode="auto">
            <a:xfrm>
              <a:off x="1872" y="1488"/>
              <a:ext cx="639" cy="1081"/>
            </a:xfrm>
            <a:prstGeom prst="roundRect">
              <a:avLst>
                <a:gd name="adj" fmla="val 16667"/>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xyz(){</a:t>
              </a:r>
            </a:p>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a:t>
              </a:r>
            </a:p>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int 0x80</a:t>
              </a:r>
            </a:p>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a:t>
              </a:r>
            </a:p>
            <a:p>
              <a:pPr algn="just">
                <a:spcBef>
                  <a:spcPct val="0"/>
                </a:spcBef>
                <a:buClrTx/>
                <a:buFontTx/>
                <a:buNone/>
              </a:pPr>
              <a:r>
                <a:rPr lang="zh-CN" altLang="en-US" sz="1800">
                  <a:solidFill>
                    <a:schemeClr val="bg2"/>
                  </a:solidFill>
                  <a:latin typeface="Times New Roman" panose="02020603050405020304" pitchFamily="18" charset="0"/>
                  <a:ea typeface="宋体" panose="02010600030101010101" pitchFamily="2" charset="-122"/>
                </a:rPr>
                <a:t>｝</a:t>
              </a:r>
            </a:p>
            <a:p>
              <a:pPr algn="just">
                <a:spcBef>
                  <a:spcPct val="0"/>
                </a:spcBef>
                <a:buClrTx/>
                <a:buFontTx/>
                <a:buNone/>
              </a:pPr>
              <a:endParaRPr lang="zh-CN" altLang="en-US" sz="1800">
                <a:solidFill>
                  <a:schemeClr val="bg2"/>
                </a:solidFill>
                <a:latin typeface="Times New Roman" panose="02020603050405020304" pitchFamily="18" charset="0"/>
                <a:ea typeface="宋体" panose="02010600030101010101" pitchFamily="2" charset="-122"/>
              </a:endParaRPr>
            </a:p>
          </p:txBody>
        </p:sp>
        <p:sp>
          <p:nvSpPr>
            <p:cNvPr id="21516" name="Line 13"/>
            <p:cNvSpPr>
              <a:spLocks noChangeShapeType="1"/>
            </p:cNvSpPr>
            <p:nvPr/>
          </p:nvSpPr>
          <p:spPr bwMode="auto">
            <a:xfrm flipV="1">
              <a:off x="2312" y="1400"/>
              <a:ext cx="731" cy="629"/>
            </a:xfrm>
            <a:prstGeom prst="line">
              <a:avLst/>
            </a:prstGeom>
            <a:noFill/>
            <a:ln w="9525" cap="rnd">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7" name="Line 14"/>
            <p:cNvSpPr>
              <a:spLocks noChangeShapeType="1"/>
            </p:cNvSpPr>
            <p:nvPr/>
          </p:nvSpPr>
          <p:spPr bwMode="auto">
            <a:xfrm>
              <a:off x="2312" y="2028"/>
              <a:ext cx="731" cy="541"/>
            </a:xfrm>
            <a:prstGeom prst="line">
              <a:avLst/>
            </a:prstGeom>
            <a:noFill/>
            <a:ln w="25400" cap="rnd">
              <a:solidFill>
                <a:srgbClr val="000000"/>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1518" name="AutoShape 15"/>
            <p:cNvSpPr>
              <a:spLocks noChangeArrowheads="1"/>
            </p:cNvSpPr>
            <p:nvPr/>
          </p:nvSpPr>
          <p:spPr bwMode="auto">
            <a:xfrm>
              <a:off x="4332" y="1570"/>
              <a:ext cx="639" cy="901"/>
            </a:xfrm>
            <a:prstGeom prst="roundRect">
              <a:avLst>
                <a:gd name="adj" fmla="val 16667"/>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sys_xyz(){</a:t>
              </a:r>
            </a:p>
            <a:p>
              <a:pPr algn="just">
                <a:spcBef>
                  <a:spcPct val="0"/>
                </a:spcBef>
                <a:buClrTx/>
                <a:buFontTx/>
                <a:buNone/>
              </a:pPr>
              <a:r>
                <a:rPr lang="en-US" altLang="zh-CN" sz="1800">
                  <a:solidFill>
                    <a:schemeClr val="bg2"/>
                  </a:solidFill>
                  <a:latin typeface="Times New Roman" panose="02020603050405020304" pitchFamily="18" charset="0"/>
                  <a:ea typeface="宋体" panose="02010600030101010101" pitchFamily="2" charset="-122"/>
                </a:rPr>
                <a:t>…</a:t>
              </a:r>
            </a:p>
            <a:p>
              <a:pPr algn="just">
                <a:spcBef>
                  <a:spcPct val="0"/>
                </a:spcBef>
                <a:buClrTx/>
                <a:buFontTx/>
                <a:buNone/>
              </a:pPr>
              <a:r>
                <a:rPr lang="zh-CN" altLang="en-US" sz="1800">
                  <a:solidFill>
                    <a:schemeClr val="bg2"/>
                  </a:solidFill>
                  <a:latin typeface="Times New Roman" panose="02020603050405020304" pitchFamily="18" charset="0"/>
                  <a:ea typeface="宋体" panose="02010600030101010101" pitchFamily="2" charset="-122"/>
                </a:rPr>
                <a:t>｝</a:t>
              </a:r>
            </a:p>
          </p:txBody>
        </p:sp>
        <p:sp>
          <p:nvSpPr>
            <p:cNvPr id="21519" name="Line 16"/>
            <p:cNvSpPr>
              <a:spLocks noChangeShapeType="1"/>
            </p:cNvSpPr>
            <p:nvPr/>
          </p:nvSpPr>
          <p:spPr bwMode="auto">
            <a:xfrm flipV="1">
              <a:off x="4049" y="1758"/>
              <a:ext cx="274" cy="90"/>
            </a:xfrm>
            <a:prstGeom prst="line">
              <a:avLst/>
            </a:prstGeom>
            <a:noFill/>
            <a:ln w="25400" cap="rnd">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0" name="Line 17"/>
            <p:cNvSpPr>
              <a:spLocks noChangeShapeType="1"/>
            </p:cNvSpPr>
            <p:nvPr/>
          </p:nvSpPr>
          <p:spPr bwMode="auto">
            <a:xfrm flipH="1" flipV="1">
              <a:off x="4049" y="2208"/>
              <a:ext cx="274" cy="90"/>
            </a:xfrm>
            <a:prstGeom prst="line">
              <a:avLst/>
            </a:prstGeom>
            <a:noFill/>
            <a:ln w="25400" cap="rnd">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1" name="Rectangle 18"/>
            <p:cNvSpPr>
              <a:spLocks noChangeArrowheads="1"/>
            </p:cNvSpPr>
            <p:nvPr/>
          </p:nvSpPr>
          <p:spPr bwMode="auto">
            <a:xfrm>
              <a:off x="759" y="2928"/>
              <a:ext cx="4473" cy="6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a:spcBef>
                  <a:spcPct val="0"/>
                </a:spcBef>
                <a:buClrTx/>
                <a:buFontTx/>
                <a:buNone/>
              </a:pPr>
              <a:r>
                <a:rPr lang="zh-CN" altLang="en-US" sz="1800">
                  <a:solidFill>
                    <a:srgbClr val="000000"/>
                  </a:solidFill>
                  <a:latin typeface="宋体" panose="02010600030101010101" pitchFamily="2" charset="-122"/>
                  <a:ea typeface="宋体" panose="02010600030101010101" pitchFamily="2" charset="-122"/>
                </a:rPr>
                <a:t>在应用程序    在标准库           系统调用        系统调用</a:t>
              </a:r>
            </a:p>
            <a:p>
              <a:pPr algn="just">
                <a:spcBef>
                  <a:spcPct val="0"/>
                </a:spcBef>
                <a:buClrTx/>
                <a:buFontTx/>
                <a:buNone/>
              </a:pPr>
              <a:r>
                <a:rPr lang="zh-CN" altLang="en-US" sz="1800">
                  <a:solidFill>
                    <a:srgbClr val="000000"/>
                  </a:solidFill>
                  <a:latin typeface="宋体" panose="02010600030101010101" pitchFamily="2" charset="-122"/>
                  <a:ea typeface="宋体" panose="02010600030101010101" pitchFamily="2" charset="-122"/>
                </a:rPr>
                <a:t>调用中的      中的封装例程       处理程序        服务例程</a:t>
              </a:r>
            </a:p>
            <a:p>
              <a:pPr algn="just">
                <a:spcBef>
                  <a:spcPct val="0"/>
                </a:spcBef>
                <a:buClrTx/>
                <a:buFontTx/>
                <a:buNone/>
              </a:pPr>
              <a:r>
                <a:rPr lang="zh-CN" altLang="en-US" sz="1800">
                  <a:solidFill>
                    <a:srgbClr val="000000"/>
                  </a:solidFill>
                  <a:latin typeface="宋体" panose="02010600030101010101" pitchFamily="2" charset="-122"/>
                  <a:ea typeface="宋体" panose="02010600030101010101" pitchFamily="2" charset="-122"/>
                </a:rPr>
                <a:t>系统调用</a:t>
              </a:r>
              <a:endParaRPr lang="zh-CN" altLang="en-US" sz="1800">
                <a:solidFill>
                  <a:schemeClr val="tx1"/>
                </a:solidFill>
                <a:latin typeface="Times New Roman" panose="02020603050405020304" pitchFamily="18" charset="0"/>
                <a:ea typeface="宋体" panose="02010600030101010101" pitchFamily="2" charset="-122"/>
              </a:endParaRPr>
            </a:p>
          </p:txBody>
        </p:sp>
        <p:sp>
          <p:nvSpPr>
            <p:cNvPr id="21522" name="Rectangle 19"/>
            <p:cNvSpPr>
              <a:spLocks noChangeArrowheads="1"/>
            </p:cNvSpPr>
            <p:nvPr/>
          </p:nvSpPr>
          <p:spPr bwMode="auto">
            <a:xfrm>
              <a:off x="1125" y="859"/>
              <a:ext cx="3929"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just">
                <a:spcBef>
                  <a:spcPct val="0"/>
                </a:spcBef>
                <a:buClrTx/>
                <a:buFontTx/>
                <a:buNone/>
              </a:pPr>
              <a:r>
                <a:rPr lang="zh-CN" altLang="en-US" sz="1800">
                  <a:solidFill>
                    <a:schemeClr val="tx1"/>
                  </a:solidFill>
                  <a:latin typeface="Times New Roman" panose="02020603050405020304" pitchFamily="18" charset="0"/>
                  <a:ea typeface="宋体" panose="02010600030101010101" pitchFamily="2" charset="-122"/>
                </a:rPr>
                <a:t>用户态         内核态</a:t>
              </a:r>
            </a:p>
          </p:txBody>
        </p:sp>
      </p:grpSp>
      <p:sp>
        <p:nvSpPr>
          <p:cNvPr id="19" name="矩形 18">
            <a:extLst>
              <a:ext uri="{FF2B5EF4-FFF2-40B4-BE49-F238E27FC236}">
                <a16:creationId xmlns:a16="http://schemas.microsoft.com/office/drawing/2014/main" id="{78E449C8-00C4-4268-BFC9-8EAF970C3047}"/>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Rectangle 3"/>
          <p:cNvSpPr>
            <a:spLocks noChangeArrowheads="1"/>
          </p:cNvSpPr>
          <p:nvPr/>
        </p:nvSpPr>
        <p:spPr bwMode="auto">
          <a:xfrm>
            <a:off x="228600" y="1600200"/>
            <a:ext cx="8458200" cy="4530725"/>
          </a:xfrm>
          <a:prstGeom prst="rect">
            <a:avLst/>
          </a:prstGeom>
          <a:noFill/>
          <a:ln w="9525">
            <a:noFill/>
            <a:miter lim="800000"/>
            <a:headEnd/>
            <a:tailEnd/>
          </a:ln>
          <a:effectLst/>
        </p:spPr>
        <p:txBody>
          <a:bodyPr/>
          <a:lstStyle/>
          <a:p>
            <a:pPr marL="342900" indent="-342900" eaLnBrk="1" hangingPunct="1">
              <a:lnSpc>
                <a:spcPct val="90000"/>
              </a:lnSpc>
              <a:spcBef>
                <a:spcPct val="20000"/>
              </a:spcBef>
              <a:buClr>
                <a:schemeClr val="hlink"/>
              </a:buClr>
              <a:buSzPct val="60000"/>
              <a:buFont typeface="Wingdings" panose="05000000000000000000" pitchFamily="2" charset="2"/>
              <a:buChar char="n"/>
              <a:defRPr/>
            </a:pPr>
            <a:r>
              <a:rPr lang="zh-CN" altLang="en-US" sz="2800" b="0" dirty="0">
                <a:solidFill>
                  <a:schemeClr val="tx1"/>
                </a:solidFill>
                <a:effectLst>
                  <a:outerShdw blurRad="38100" dist="38100" dir="2700000" algn="tl">
                    <a:srgbClr val="C0C0C0"/>
                  </a:outerShdw>
                </a:effectLst>
                <a:latin typeface="Verdana" pitchFamily="34" charset="0"/>
                <a:ea typeface="宋体" pitchFamily="2" charset="-122"/>
              </a:rPr>
              <a:t>􀂋</a:t>
            </a:r>
            <a:r>
              <a:rPr lang="en-US" altLang="zh-CN" sz="2800" dirty="0">
                <a:solidFill>
                  <a:schemeClr val="tx1"/>
                </a:solidFill>
                <a:effectLst>
                  <a:outerShdw blurRad="38100" dist="38100" dir="2700000" algn="tl">
                    <a:srgbClr val="C0C0C0"/>
                  </a:outerShdw>
                </a:effectLst>
                <a:latin typeface="Times New Roman" pitchFamily="18" charset="0"/>
              </a:rPr>
              <a:t>…</a:t>
            </a:r>
            <a:endParaRPr lang="en-US" altLang="zh-CN" sz="2800" b="0" dirty="0">
              <a:solidFill>
                <a:schemeClr val="tx1"/>
              </a:solidFill>
              <a:effectLst>
                <a:outerShdw blurRad="38100" dist="38100" dir="2700000" algn="tl">
                  <a:srgbClr val="C0C0C0"/>
                </a:outerShdw>
              </a:effectLst>
              <a:latin typeface="Times New Roman" pitchFamily="18" charset="0"/>
            </a:endParaRPr>
          </a:p>
          <a:p>
            <a:pPr marL="342900" indent="-342900" eaLnBrk="1" hangingPunct="1">
              <a:lnSpc>
                <a:spcPct val="90000"/>
              </a:lnSpc>
              <a:spcBef>
                <a:spcPct val="20000"/>
              </a:spcBef>
              <a:buClr>
                <a:schemeClr val="accent2"/>
              </a:buClr>
              <a:buSzPct val="60000"/>
              <a:buFont typeface="Wingdings" panose="05000000000000000000" pitchFamily="2" charset="2"/>
              <a:buNone/>
              <a:defRPr/>
            </a:pPr>
            <a:r>
              <a:rPr lang="en-US" altLang="zh-CN" sz="2800" dirty="0" err="1">
                <a:latin typeface="Times New Roman" pitchFamily="18" charset="0"/>
                <a:cs typeface="Times New Roman" pitchFamily="18" charset="0"/>
              </a:rPr>
              <a:t>pushl</a:t>
            </a:r>
            <a:r>
              <a:rPr lang="en-US" altLang="zh-CN" sz="2800" dirty="0">
                <a:latin typeface="Times New Roman" pitchFamily="18" charset="0"/>
                <a:cs typeface="Times New Roman" pitchFamily="18" charset="0"/>
              </a:rPr>
              <a:t>  %</a:t>
            </a:r>
            <a:r>
              <a:rPr lang="en-US" altLang="zh-CN" sz="2800" dirty="0" err="1">
                <a:latin typeface="Times New Roman" pitchFamily="18" charset="0"/>
                <a:cs typeface="Times New Roman" pitchFamily="18" charset="0"/>
              </a:rPr>
              <a:t>eax</a:t>
            </a:r>
            <a:r>
              <a:rPr lang="en-US" altLang="zh-CN" sz="2800" dirty="0">
                <a:latin typeface="Times New Roman" pitchFamily="18" charset="0"/>
                <a:cs typeface="Times New Roman" pitchFamily="18" charset="0"/>
              </a:rPr>
              <a:t>    /*</a:t>
            </a:r>
            <a:r>
              <a:rPr lang="zh-CN" altLang="en-US" sz="2800" dirty="0">
                <a:latin typeface="Times New Roman" pitchFamily="18" charset="0"/>
                <a:cs typeface="Times New Roman" pitchFamily="18" charset="0"/>
              </a:rPr>
              <a:t>将系统调用号压栈*</a:t>
            </a:r>
            <a:r>
              <a:rPr lang="en-US" altLang="zh-CN" sz="2800" dirty="0">
                <a:latin typeface="Times New Roman" pitchFamily="18" charset="0"/>
                <a:cs typeface="Times New Roman" pitchFamily="18" charset="0"/>
              </a:rPr>
              <a:t>/</a:t>
            </a: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a:latin typeface="Times New Roman" pitchFamily="18" charset="0"/>
                <a:cs typeface="Times New Roman" pitchFamily="18" charset="0"/>
              </a:rPr>
              <a:t>SAVE_ALL</a:t>
            </a: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a:latin typeface="Times New Roman" pitchFamily="18" charset="0"/>
                <a:cs typeface="Times New Roman" pitchFamily="18" charset="0"/>
              </a:rPr>
              <a:t>...</a:t>
            </a: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err="1">
                <a:latin typeface="Times New Roman" pitchFamily="18" charset="0"/>
                <a:cs typeface="Times New Roman" pitchFamily="18" charset="0"/>
              </a:rPr>
              <a:t>cmpl</a:t>
            </a:r>
            <a:r>
              <a:rPr lang="en-US" altLang="zh-CN" sz="2800" dirty="0">
                <a:latin typeface="Times New Roman" pitchFamily="18" charset="0"/>
                <a:cs typeface="Times New Roman" pitchFamily="18" charset="0"/>
              </a:rPr>
              <a:t> $(</a:t>
            </a:r>
            <a:r>
              <a:rPr lang="en-US" altLang="zh-CN" sz="2800" dirty="0" err="1">
                <a:latin typeface="Times New Roman" pitchFamily="18" charset="0"/>
                <a:cs typeface="Times New Roman" pitchFamily="18" charset="0"/>
              </a:rPr>
              <a:t>NR_syscalls</a:t>
            </a:r>
            <a:r>
              <a:rPr lang="en-US" altLang="zh-CN" sz="2800" dirty="0">
                <a:latin typeface="Times New Roman" pitchFamily="18" charset="0"/>
                <a:cs typeface="Times New Roman" pitchFamily="18" charset="0"/>
              </a:rPr>
              <a:t>), %</a:t>
            </a:r>
            <a:r>
              <a:rPr lang="en-US" altLang="zh-CN" sz="2800" dirty="0" err="1">
                <a:latin typeface="Times New Roman" pitchFamily="18" charset="0"/>
                <a:cs typeface="Times New Roman" pitchFamily="18" charset="0"/>
              </a:rPr>
              <a:t>eax</a:t>
            </a:r>
            <a:r>
              <a:rPr lang="en-US" altLang="zh-CN" sz="2800" dirty="0">
                <a:latin typeface="Times New Roman" pitchFamily="18" charset="0"/>
                <a:cs typeface="Times New Roman" pitchFamily="18" charset="0"/>
              </a:rPr>
              <a:t>    /*</a:t>
            </a:r>
            <a:r>
              <a:rPr lang="zh-CN" altLang="en-US" sz="2800" dirty="0">
                <a:latin typeface="Times New Roman" pitchFamily="18" charset="0"/>
                <a:cs typeface="Times New Roman" pitchFamily="18" charset="0"/>
              </a:rPr>
              <a:t>检查系统调用号</a:t>
            </a: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a:latin typeface="Times New Roman" pitchFamily="18" charset="0"/>
                <a:cs typeface="Times New Roman" pitchFamily="18" charset="0"/>
              </a:rPr>
              <a:t>JB </a:t>
            </a:r>
            <a:r>
              <a:rPr lang="en-US" altLang="zh-CN" sz="2800" dirty="0" err="1">
                <a:latin typeface="Times New Roman" pitchFamily="18" charset="0"/>
                <a:cs typeface="Times New Roman" pitchFamily="18" charset="0"/>
              </a:rPr>
              <a:t>nobadsys</a:t>
            </a:r>
            <a:endParaRPr lang="en-US" altLang="zh-CN" sz="2800" dirty="0">
              <a:latin typeface="Times New Roman" pitchFamily="18" charset="0"/>
              <a:cs typeface="Times New Roman" pitchFamily="18" charset="0"/>
            </a:endParaRP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err="1">
                <a:latin typeface="Times New Roman" pitchFamily="18" charset="0"/>
                <a:cs typeface="Times New Roman" pitchFamily="18" charset="0"/>
              </a:rPr>
              <a:t>movl</a:t>
            </a:r>
            <a:r>
              <a:rPr lang="en-US" altLang="zh-CN" sz="2800" dirty="0">
                <a:latin typeface="Times New Roman" pitchFamily="18" charset="0"/>
                <a:cs typeface="Times New Roman" pitchFamily="18" charset="0"/>
              </a:rPr>
              <a:t>  $(-ENOSYS), 24(%</a:t>
            </a:r>
            <a:r>
              <a:rPr lang="en-US" altLang="zh-CN" sz="2800" dirty="0" err="1">
                <a:latin typeface="Times New Roman" pitchFamily="18" charset="0"/>
                <a:cs typeface="Times New Roman" pitchFamily="18" charset="0"/>
              </a:rPr>
              <a:t>esp</a:t>
            </a:r>
            <a:r>
              <a:rPr lang="en-US" altLang="zh-CN" sz="2800" dirty="0">
                <a:latin typeface="Times New Roman" pitchFamily="18" charset="0"/>
                <a:cs typeface="Times New Roman" pitchFamily="18" charset="0"/>
              </a:rPr>
              <a:t>)   /*</a:t>
            </a:r>
            <a:r>
              <a:rPr lang="zh-CN" altLang="en-US" sz="2800" dirty="0">
                <a:latin typeface="Times New Roman" pitchFamily="18" charset="0"/>
                <a:cs typeface="Times New Roman" pitchFamily="18" charset="0"/>
              </a:rPr>
              <a:t>堆栈中的</a:t>
            </a:r>
            <a:r>
              <a:rPr lang="en-US" altLang="zh-CN" sz="2800" dirty="0" err="1">
                <a:latin typeface="Times New Roman" pitchFamily="18" charset="0"/>
                <a:cs typeface="Times New Roman" pitchFamily="18" charset="0"/>
              </a:rPr>
              <a:t>eax</a:t>
            </a:r>
            <a:r>
              <a:rPr lang="zh-CN" altLang="en-US" sz="2800" dirty="0">
                <a:latin typeface="Times New Roman" pitchFamily="18" charset="0"/>
                <a:cs typeface="Times New Roman" pitchFamily="18" charset="0"/>
              </a:rPr>
              <a:t>设置为</a:t>
            </a:r>
            <a:r>
              <a:rPr lang="en-US" altLang="zh-CN" sz="2800" dirty="0">
                <a:latin typeface="Times New Roman" pitchFamily="18" charset="0"/>
                <a:cs typeface="Times New Roman" pitchFamily="18" charset="0"/>
              </a:rPr>
              <a:t>-ENOSYS</a:t>
            </a:r>
            <a:r>
              <a:rPr lang="zh-CN" altLang="en-US" sz="2800" dirty="0">
                <a:latin typeface="Times New Roman" pitchFamily="18" charset="0"/>
                <a:cs typeface="Times New Roman" pitchFamily="18" charset="0"/>
              </a:rPr>
              <a:t>， 作为返回值</a:t>
            </a: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err="1">
                <a:latin typeface="Times New Roman" pitchFamily="18" charset="0"/>
                <a:cs typeface="Times New Roman" pitchFamily="18" charset="0"/>
              </a:rPr>
              <a:t>jmp</a:t>
            </a:r>
            <a:r>
              <a:rPr lang="en-US" altLang="zh-CN" sz="2800" dirty="0">
                <a:latin typeface="Times New Roman" pitchFamily="18" charset="0"/>
                <a:cs typeface="Times New Roman" pitchFamily="18" charset="0"/>
              </a:rPr>
              <a:t> </a:t>
            </a:r>
            <a:r>
              <a:rPr lang="en-US" altLang="zh-CN" sz="2800" dirty="0" err="1">
                <a:latin typeface="Times New Roman" pitchFamily="18" charset="0"/>
                <a:cs typeface="Times New Roman" pitchFamily="18" charset="0"/>
              </a:rPr>
              <a:t>ret_from_sys_call</a:t>
            </a:r>
            <a:endParaRPr lang="en-US" altLang="zh-CN" sz="2800" dirty="0">
              <a:latin typeface="Times New Roman" pitchFamily="18" charset="0"/>
              <a:cs typeface="Times New Roman" pitchFamily="18" charset="0"/>
            </a:endParaRPr>
          </a:p>
          <a:p>
            <a:pPr marL="342900" indent="-342900" eaLnBrk="1" hangingPunct="1">
              <a:lnSpc>
                <a:spcPct val="90000"/>
              </a:lnSpc>
              <a:spcBef>
                <a:spcPct val="20000"/>
              </a:spcBef>
              <a:buClr>
                <a:schemeClr val="hlink"/>
              </a:buClr>
              <a:buSzPct val="60000"/>
              <a:buFont typeface="Wingdings" panose="05000000000000000000" pitchFamily="2" charset="2"/>
              <a:buChar char="n"/>
              <a:defRPr/>
            </a:pPr>
            <a:endParaRPr lang="zh-CN" altLang="en-US" sz="2800" b="0" dirty="0">
              <a:solidFill>
                <a:schemeClr val="tx1"/>
              </a:solidFill>
              <a:effectLst>
                <a:outerShdw blurRad="38100" dist="38100" dir="2700000" algn="tl">
                  <a:srgbClr val="C0C0C0"/>
                </a:outerShdw>
              </a:effectLst>
            </a:endParaRPr>
          </a:p>
        </p:txBody>
      </p:sp>
      <p:sp>
        <p:nvSpPr>
          <p:cNvPr id="4" name="矩形 3">
            <a:extLst>
              <a:ext uri="{FF2B5EF4-FFF2-40B4-BE49-F238E27FC236}">
                <a16:creationId xmlns:a16="http://schemas.microsoft.com/office/drawing/2014/main" id="{498610A1-640B-47ED-A066-8867116909C7}"/>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
        <p:nvSpPr>
          <p:cNvPr id="2" name="矩形 1">
            <a:extLst>
              <a:ext uri="{FF2B5EF4-FFF2-40B4-BE49-F238E27FC236}">
                <a16:creationId xmlns:a16="http://schemas.microsoft.com/office/drawing/2014/main" id="{23D214BC-DD58-4371-99D3-CAA26994517F}"/>
              </a:ext>
            </a:extLst>
          </p:cNvPr>
          <p:cNvSpPr/>
          <p:nvPr/>
        </p:nvSpPr>
        <p:spPr>
          <a:xfrm>
            <a:off x="320488" y="1196752"/>
            <a:ext cx="2896947" cy="480131"/>
          </a:xfrm>
          <a:prstGeom prst="rect">
            <a:avLst/>
          </a:prstGeom>
        </p:spPr>
        <p:txBody>
          <a:bodyPr wrap="none">
            <a:spAutoFit/>
          </a:bodyPr>
          <a:lstStyle/>
          <a:p>
            <a:pPr eaLnBrk="1" hangingPunct="1">
              <a:lnSpc>
                <a:spcPct val="90000"/>
              </a:lnSpc>
              <a:spcBef>
                <a:spcPct val="20000"/>
              </a:spcBef>
              <a:buClr>
                <a:schemeClr val="accent2"/>
              </a:buClr>
              <a:defRPr/>
            </a:pPr>
            <a:r>
              <a:rPr lang="en-US" altLang="zh-CN" sz="2800" dirty="0" err="1">
                <a:solidFill>
                  <a:srgbClr val="FF0000"/>
                </a:solidFill>
                <a:latin typeface="Times New Roman" panose="02020603050405020304" pitchFamily="18" charset="0"/>
                <a:cs typeface="Times New Roman" panose="02020603050405020304" pitchFamily="18" charset="0"/>
              </a:rPr>
              <a:t>system_call</a:t>
            </a:r>
            <a:r>
              <a:rPr lang="en-US" altLang="zh-CN" sz="2800" dirty="0">
                <a:solidFill>
                  <a:srgbClr val="FF0000"/>
                </a:solidFill>
                <a:latin typeface="Times New Roman" panose="02020603050405020304" pitchFamily="18" charset="0"/>
                <a:cs typeface="Times New Roman" panose="02020603050405020304" pitchFamily="18" charset="0"/>
              </a:rPr>
              <a:t>()</a:t>
            </a:r>
            <a:r>
              <a:rPr lang="zh-CN" altLang="en-US" sz="2800" dirty="0">
                <a:solidFill>
                  <a:srgbClr val="FF0000"/>
                </a:solidFill>
                <a:latin typeface="Times New Roman" panose="02020603050405020304" pitchFamily="18" charset="0"/>
                <a:cs typeface="Times New Roman" panose="02020603050405020304" pitchFamily="18" charset="0"/>
              </a:rPr>
              <a:t>片段</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9" name="Rectangle 3"/>
          <p:cNvSpPr>
            <a:spLocks noChangeArrowheads="1"/>
          </p:cNvSpPr>
          <p:nvPr/>
        </p:nvSpPr>
        <p:spPr bwMode="auto">
          <a:xfrm>
            <a:off x="457200" y="1600200"/>
            <a:ext cx="8229600" cy="4530725"/>
          </a:xfrm>
          <a:prstGeom prst="rect">
            <a:avLst/>
          </a:prstGeom>
          <a:noFill/>
          <a:ln w="9525">
            <a:noFill/>
            <a:miter lim="800000"/>
            <a:headEnd/>
            <a:tailEnd/>
          </a:ln>
          <a:effectLst/>
        </p:spPr>
        <p:txBody>
          <a:bodyPr/>
          <a:lstStyle/>
          <a:p>
            <a:pPr marL="342900" indent="-342900" eaLnBrk="1" hangingPunct="1">
              <a:lnSpc>
                <a:spcPct val="90000"/>
              </a:lnSpc>
              <a:spcBef>
                <a:spcPct val="20000"/>
              </a:spcBef>
              <a:buClr>
                <a:schemeClr val="hlink"/>
              </a:buClr>
              <a:buSzPct val="60000"/>
              <a:buFont typeface="Wingdings" panose="05000000000000000000" pitchFamily="2" charset="2"/>
              <a:buChar char="n"/>
              <a:defRPr/>
            </a:pPr>
            <a:endParaRPr lang="zh-CN" altLang="en-US" sz="3200" b="0" dirty="0">
              <a:solidFill>
                <a:schemeClr val="tx1"/>
              </a:solidFill>
              <a:effectLst>
                <a:outerShdw blurRad="38100" dist="38100" dir="2700000" algn="tl">
                  <a:srgbClr val="C0C0C0"/>
                </a:outerShdw>
              </a:effectLst>
              <a:latin typeface="Verdana" pitchFamily="34" charset="0"/>
              <a:ea typeface="宋体" pitchFamily="2" charset="-122"/>
            </a:endParaRPr>
          </a:p>
          <a:p>
            <a:pPr marL="342900" indent="-342900" eaLnBrk="1" hangingPunct="1">
              <a:lnSpc>
                <a:spcPct val="90000"/>
              </a:lnSpc>
              <a:spcBef>
                <a:spcPct val="20000"/>
              </a:spcBef>
              <a:buClr>
                <a:schemeClr val="accent2"/>
              </a:buClr>
              <a:buSzPct val="60000"/>
              <a:buFont typeface="Wingdings" panose="05000000000000000000" pitchFamily="2" charset="2"/>
              <a:buNone/>
              <a:defRPr/>
            </a:pPr>
            <a:r>
              <a:rPr lang="en-US" altLang="zh-CN" sz="2800" dirty="0" err="1">
                <a:latin typeface="Times New Roman" pitchFamily="18" charset="0"/>
                <a:cs typeface="Times New Roman" pitchFamily="18" charset="0"/>
              </a:rPr>
              <a:t>nobadsys</a:t>
            </a:r>
            <a:r>
              <a:rPr lang="en-US" altLang="zh-CN" sz="2800" dirty="0">
                <a:latin typeface="Times New Roman" pitchFamily="18" charset="0"/>
                <a:cs typeface="Times New Roman" pitchFamily="18" charset="0"/>
              </a:rPr>
              <a:t>:</a:t>
            </a:r>
          </a:p>
          <a:p>
            <a:pPr marL="342900" indent="-342900" eaLnBrk="1" hangingPunct="1">
              <a:lnSpc>
                <a:spcPct val="90000"/>
              </a:lnSpc>
              <a:spcBef>
                <a:spcPct val="20000"/>
              </a:spcBef>
              <a:buClr>
                <a:schemeClr val="accent2"/>
              </a:buClr>
              <a:buSzPct val="60000"/>
              <a:buFont typeface="Wingdings" panose="05000000000000000000" pitchFamily="2" charset="2"/>
              <a:buChar char="n"/>
              <a:defRPr/>
            </a:pPr>
            <a:endParaRPr lang="en-US" altLang="zh-CN" sz="2800" dirty="0">
              <a:latin typeface="Times New Roman" pitchFamily="18" charset="0"/>
              <a:cs typeface="Times New Roman" pitchFamily="18" charset="0"/>
            </a:endParaRP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a:latin typeface="Times New Roman" pitchFamily="18" charset="0"/>
                <a:cs typeface="Times New Roman" pitchFamily="18" charset="0"/>
              </a:rPr>
              <a:t>…</a:t>
            </a: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a:latin typeface="Times New Roman" pitchFamily="18" charset="0"/>
                <a:cs typeface="Times New Roman" pitchFamily="18" charset="0"/>
              </a:rPr>
              <a:t>call  *</a:t>
            </a:r>
            <a:r>
              <a:rPr lang="en-US" altLang="zh-CN" sz="2800" dirty="0" err="1">
                <a:latin typeface="Times New Roman" pitchFamily="18" charset="0"/>
                <a:cs typeface="Times New Roman" pitchFamily="18" charset="0"/>
              </a:rPr>
              <a:t>sys_call_table</a:t>
            </a:r>
            <a:r>
              <a:rPr lang="en-US" altLang="zh-CN" sz="2800" dirty="0">
                <a:latin typeface="Times New Roman" pitchFamily="18" charset="0"/>
                <a:cs typeface="Times New Roman" pitchFamily="18" charset="0"/>
              </a:rPr>
              <a:t>(%eax,4) </a:t>
            </a: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a:latin typeface="Times New Roman" pitchFamily="18" charset="0"/>
                <a:cs typeface="Times New Roman" pitchFamily="18" charset="0"/>
              </a:rPr>
              <a:t> //</a:t>
            </a:r>
            <a:r>
              <a:rPr lang="zh-CN" altLang="en-US" sz="2800" dirty="0">
                <a:latin typeface="Times New Roman" pitchFamily="18" charset="0"/>
                <a:cs typeface="Times New Roman" pitchFamily="18" charset="0"/>
              </a:rPr>
              <a:t>调用系统调用表中调用号为</a:t>
            </a:r>
            <a:r>
              <a:rPr lang="en-US" altLang="zh-CN" sz="2800" dirty="0" err="1">
                <a:latin typeface="Times New Roman" pitchFamily="18" charset="0"/>
                <a:cs typeface="Times New Roman" pitchFamily="18" charset="0"/>
              </a:rPr>
              <a:t>eax</a:t>
            </a:r>
            <a:r>
              <a:rPr lang="zh-CN" altLang="en-US" sz="2800" dirty="0">
                <a:latin typeface="Times New Roman" pitchFamily="18" charset="0"/>
                <a:cs typeface="Times New Roman" pitchFamily="18" charset="0"/>
              </a:rPr>
              <a:t>的系统调用例程</a:t>
            </a: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err="1">
                <a:latin typeface="Times New Roman" pitchFamily="18" charset="0"/>
                <a:cs typeface="Times New Roman" pitchFamily="18" charset="0"/>
              </a:rPr>
              <a:t>movl</a:t>
            </a:r>
            <a:r>
              <a:rPr lang="en-US" altLang="zh-CN" sz="2800" dirty="0">
                <a:latin typeface="Times New Roman" pitchFamily="18" charset="0"/>
                <a:cs typeface="Times New Roman" pitchFamily="18" charset="0"/>
              </a:rPr>
              <a:t>  %</a:t>
            </a:r>
            <a:r>
              <a:rPr lang="en-US" altLang="zh-CN" sz="2800" dirty="0" err="1">
                <a:latin typeface="Times New Roman" pitchFamily="18" charset="0"/>
                <a:cs typeface="Times New Roman" pitchFamily="18" charset="0"/>
              </a:rPr>
              <a:t>eax,EAX</a:t>
            </a:r>
            <a:r>
              <a:rPr lang="en-US" altLang="zh-CN" sz="2800" dirty="0">
                <a:latin typeface="Times New Roman" pitchFamily="18" charset="0"/>
                <a:cs typeface="Times New Roman" pitchFamily="18" charset="0"/>
              </a:rPr>
              <a:t>(%</a:t>
            </a:r>
            <a:r>
              <a:rPr lang="en-US" altLang="zh-CN" sz="2800" dirty="0" err="1">
                <a:latin typeface="Times New Roman" pitchFamily="18" charset="0"/>
                <a:cs typeface="Times New Roman" pitchFamily="18" charset="0"/>
              </a:rPr>
              <a:t>esp</a:t>
            </a:r>
            <a:r>
              <a:rPr lang="en-US" altLang="zh-CN" sz="2800" dirty="0">
                <a:latin typeface="Times New Roman" pitchFamily="18" charset="0"/>
                <a:cs typeface="Times New Roman" pitchFamily="18" charset="0"/>
              </a:rPr>
              <a:t>)</a:t>
            </a: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a:latin typeface="Times New Roman" pitchFamily="18" charset="0"/>
                <a:cs typeface="Times New Roman" pitchFamily="18" charset="0"/>
              </a:rPr>
              <a:t>//</a:t>
            </a:r>
            <a:r>
              <a:rPr lang="zh-CN" altLang="en-US" sz="2800" dirty="0">
                <a:latin typeface="Times New Roman" pitchFamily="18" charset="0"/>
                <a:cs typeface="Times New Roman" pitchFamily="18" charset="0"/>
              </a:rPr>
              <a:t>将返回值存入堆栈中</a:t>
            </a:r>
          </a:p>
          <a:p>
            <a:pPr marL="342900" lvl="1" indent="-342900" eaLnBrk="1" hangingPunct="1">
              <a:lnSpc>
                <a:spcPct val="90000"/>
              </a:lnSpc>
              <a:spcBef>
                <a:spcPct val="20000"/>
              </a:spcBef>
              <a:buClr>
                <a:schemeClr val="accent2"/>
              </a:buClr>
              <a:buFont typeface="Wingdings" panose="05000000000000000000" pitchFamily="2" charset="2"/>
              <a:buNone/>
              <a:defRPr/>
            </a:pPr>
            <a:r>
              <a:rPr lang="en-US" altLang="zh-CN" sz="2800" dirty="0" err="1">
                <a:latin typeface="Times New Roman" pitchFamily="18" charset="0"/>
                <a:cs typeface="Times New Roman" pitchFamily="18" charset="0"/>
              </a:rPr>
              <a:t>Jmp</a:t>
            </a:r>
            <a:r>
              <a:rPr lang="en-US" altLang="zh-CN" sz="2800" dirty="0">
                <a:latin typeface="Times New Roman" pitchFamily="18" charset="0"/>
                <a:cs typeface="Times New Roman" pitchFamily="18" charset="0"/>
              </a:rPr>
              <a:t> </a:t>
            </a:r>
            <a:r>
              <a:rPr lang="en-US" altLang="zh-CN" sz="2800" dirty="0" err="1">
                <a:latin typeface="Times New Roman" pitchFamily="18" charset="0"/>
                <a:cs typeface="Times New Roman" pitchFamily="18" charset="0"/>
              </a:rPr>
              <a:t>ret_from_sys_call</a:t>
            </a:r>
            <a:endParaRPr lang="en-US" altLang="zh-CN" sz="2800" dirty="0">
              <a:latin typeface="Times New Roman" pitchFamily="18" charset="0"/>
              <a:cs typeface="Times New Roman" pitchFamily="18" charset="0"/>
            </a:endParaRPr>
          </a:p>
          <a:p>
            <a:pPr marL="342900" indent="-342900" eaLnBrk="1" hangingPunct="1">
              <a:lnSpc>
                <a:spcPct val="90000"/>
              </a:lnSpc>
              <a:spcBef>
                <a:spcPct val="20000"/>
              </a:spcBef>
              <a:buClr>
                <a:schemeClr val="hlink"/>
              </a:buClr>
              <a:buSzPct val="60000"/>
              <a:buFont typeface="Wingdings" panose="05000000000000000000" pitchFamily="2" charset="2"/>
              <a:buChar char="n"/>
              <a:defRPr/>
            </a:pPr>
            <a:endParaRPr lang="zh-CN" altLang="en-US" sz="3200" b="0" dirty="0">
              <a:solidFill>
                <a:schemeClr val="tx1"/>
              </a:solidFill>
              <a:effectLst>
                <a:outerShdw blurRad="38100" dist="38100" dir="2700000" algn="tl">
                  <a:srgbClr val="C0C0C0"/>
                </a:outerShdw>
              </a:effectLst>
            </a:endParaRPr>
          </a:p>
        </p:txBody>
      </p:sp>
      <p:sp>
        <p:nvSpPr>
          <p:cNvPr id="4" name="矩形 3">
            <a:extLst>
              <a:ext uri="{FF2B5EF4-FFF2-40B4-BE49-F238E27FC236}">
                <a16:creationId xmlns:a16="http://schemas.microsoft.com/office/drawing/2014/main" id="{A228A483-8780-4306-B52F-555E8F7E0021}"/>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
        <p:nvSpPr>
          <p:cNvPr id="5" name="矩形 4">
            <a:extLst>
              <a:ext uri="{FF2B5EF4-FFF2-40B4-BE49-F238E27FC236}">
                <a16:creationId xmlns:a16="http://schemas.microsoft.com/office/drawing/2014/main" id="{8D40C8C4-ADE4-4A7A-9177-352B1CAB95C1}"/>
              </a:ext>
            </a:extLst>
          </p:cNvPr>
          <p:cNvSpPr/>
          <p:nvPr/>
        </p:nvSpPr>
        <p:spPr>
          <a:xfrm>
            <a:off x="320488" y="1196752"/>
            <a:ext cx="3735318" cy="480131"/>
          </a:xfrm>
          <a:prstGeom prst="rect">
            <a:avLst/>
          </a:prstGeom>
        </p:spPr>
        <p:txBody>
          <a:bodyPr wrap="none">
            <a:spAutoFit/>
          </a:bodyPr>
          <a:lstStyle/>
          <a:p>
            <a:pPr eaLnBrk="1" hangingPunct="1">
              <a:lnSpc>
                <a:spcPct val="90000"/>
              </a:lnSpc>
              <a:spcBef>
                <a:spcPct val="20000"/>
              </a:spcBef>
              <a:buClr>
                <a:schemeClr val="accent2"/>
              </a:buClr>
              <a:defRPr/>
            </a:pPr>
            <a:r>
              <a:rPr lang="en-US" altLang="zh-CN" sz="2800" dirty="0" err="1">
                <a:solidFill>
                  <a:srgbClr val="FF0000"/>
                </a:solidFill>
                <a:latin typeface="Times New Roman" panose="02020603050405020304" pitchFamily="18" charset="0"/>
                <a:cs typeface="Times New Roman" panose="02020603050405020304" pitchFamily="18" charset="0"/>
              </a:rPr>
              <a:t>system_call</a:t>
            </a:r>
            <a:r>
              <a:rPr lang="en-US" altLang="zh-CN" sz="2800" dirty="0">
                <a:solidFill>
                  <a:srgbClr val="FF0000"/>
                </a:solidFill>
                <a:latin typeface="Times New Roman" panose="02020603050405020304" pitchFamily="18" charset="0"/>
                <a:cs typeface="Times New Roman" panose="02020603050405020304" pitchFamily="18" charset="0"/>
              </a:rPr>
              <a:t>()</a:t>
            </a:r>
            <a:r>
              <a:rPr lang="zh-CN" altLang="en-US" sz="2800" dirty="0">
                <a:solidFill>
                  <a:srgbClr val="FF0000"/>
                </a:solidFill>
                <a:latin typeface="Times New Roman" panose="02020603050405020304" pitchFamily="18" charset="0"/>
                <a:cs typeface="Times New Roman" panose="02020603050405020304" pitchFamily="18" charset="0"/>
              </a:rPr>
              <a:t>片段</a:t>
            </a:r>
            <a:r>
              <a:rPr lang="en-US" altLang="zh-CN" sz="2800" dirty="0">
                <a:solidFill>
                  <a:srgbClr val="FF0000"/>
                </a:solidFill>
                <a:latin typeface="Times New Roman" panose="02020603050405020304" pitchFamily="18" charset="0"/>
                <a:cs typeface="Times New Roman" panose="02020603050405020304" pitchFamily="18" charset="0"/>
              </a:rPr>
              <a:t>(</a:t>
            </a:r>
            <a:r>
              <a:rPr lang="zh-CN" altLang="en-US" sz="2800" dirty="0">
                <a:solidFill>
                  <a:srgbClr val="FF0000"/>
                </a:solidFill>
                <a:latin typeface="Times New Roman" panose="02020603050405020304" pitchFamily="18" charset="0"/>
                <a:cs typeface="Times New Roman" panose="02020603050405020304" pitchFamily="18" charset="0"/>
              </a:rPr>
              <a:t>续）</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11560" y="980728"/>
            <a:ext cx="7632700" cy="503237"/>
          </a:xfrm>
        </p:spPr>
        <p:txBody>
          <a:bodyPr/>
          <a:lstStyle/>
          <a:p>
            <a:pPr algn="l" eaLnBrk="1" hangingPunct="1">
              <a:lnSpc>
                <a:spcPct val="90000"/>
              </a:lnSpc>
              <a:spcBef>
                <a:spcPct val="20000"/>
              </a:spcBef>
              <a:buClr>
                <a:schemeClr val="accent2"/>
              </a:buClr>
              <a:defRPr/>
            </a:pPr>
            <a:r>
              <a:rPr lang="en-US" altLang="zh-CN" sz="2800" kern="1200" dirty="0" err="1">
                <a:solidFill>
                  <a:srgbClr val="FF0000"/>
                </a:solidFill>
                <a:latin typeface="Times New Roman" panose="02020603050405020304" pitchFamily="18" charset="0"/>
                <a:ea typeface="楷体_GB2312" pitchFamily="49" charset="-122"/>
                <a:cs typeface="Times New Roman" panose="02020603050405020304" pitchFamily="18" charset="0"/>
              </a:rPr>
              <a:t>system_call</a:t>
            </a:r>
            <a:r>
              <a:rPr lang="en-US" altLang="zh-CN" sz="2800" kern="12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800" kern="1200" dirty="0">
                <a:solidFill>
                  <a:srgbClr val="FF0000"/>
                </a:solidFill>
                <a:latin typeface="Times New Roman" panose="02020603050405020304" pitchFamily="18" charset="0"/>
                <a:ea typeface="楷体_GB2312" pitchFamily="49" charset="-122"/>
                <a:cs typeface="Times New Roman" panose="02020603050405020304" pitchFamily="18" charset="0"/>
              </a:rPr>
              <a:t>函数执行过程</a:t>
            </a:r>
          </a:p>
        </p:txBody>
      </p:sp>
      <p:sp>
        <p:nvSpPr>
          <p:cNvPr id="220163" name="Rectangle 3"/>
          <p:cNvSpPr>
            <a:spLocks noGrp="1" noChangeArrowheads="1"/>
          </p:cNvSpPr>
          <p:nvPr>
            <p:ph type="body" idx="1"/>
          </p:nvPr>
        </p:nvSpPr>
        <p:spPr>
          <a:xfrm>
            <a:off x="304800" y="1680181"/>
            <a:ext cx="8534400" cy="5233988"/>
          </a:xfrm>
        </p:spPr>
        <p:txBody>
          <a:bodyPr/>
          <a:lstStyle/>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首先将系统调用号</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eax</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和可以用到的所有</a:t>
            </a:r>
            <a:r>
              <a:rPr lang="en-US" altLang="zh-CN" sz="2400" dirty="0">
                <a:latin typeface="Times New Roman" panose="02020603050405020304" pitchFamily="18" charset="0"/>
                <a:ea typeface="楷体_GB2312" pitchFamily="49" charset="-122"/>
                <a:cs typeface="Times New Roman" panose="02020603050405020304" pitchFamily="18" charset="0"/>
              </a:rPr>
              <a:t>CPU</a:t>
            </a:r>
            <a:r>
              <a:rPr lang="zh-CN" altLang="en-US" sz="2400" dirty="0">
                <a:latin typeface="Times New Roman" panose="02020603050405020304" pitchFamily="18" charset="0"/>
                <a:ea typeface="楷体_GB2312" pitchFamily="49" charset="-122"/>
                <a:cs typeface="Times New Roman" panose="02020603050405020304" pitchFamily="18" charset="0"/>
              </a:rPr>
              <a:t>寄存器保存到相应的堆栈中（由</a:t>
            </a:r>
            <a:r>
              <a:rPr lang="en-US" altLang="zh-CN" sz="2400" dirty="0">
                <a:latin typeface="Times New Roman" panose="02020603050405020304" pitchFamily="18" charset="0"/>
                <a:ea typeface="楷体_GB2312" pitchFamily="49" charset="-122"/>
                <a:cs typeface="Times New Roman" panose="02020603050405020304" pitchFamily="18" charset="0"/>
              </a:rPr>
              <a:t>SAVE_ALL</a:t>
            </a:r>
            <a:r>
              <a:rPr lang="zh-CN" altLang="en-US" sz="2400" dirty="0">
                <a:latin typeface="Times New Roman" panose="02020603050405020304" pitchFamily="18" charset="0"/>
                <a:ea typeface="楷体_GB2312" pitchFamily="49" charset="-122"/>
                <a:cs typeface="Times New Roman" panose="02020603050405020304" pitchFamily="18" charset="0"/>
              </a:rPr>
              <a:t>完成）；</a:t>
            </a: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对用户态进程传递过来的系统调用号进行有效性检查</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eax</a:t>
            </a:r>
            <a:r>
              <a:rPr lang="zh-CN" altLang="en-US" sz="2400" dirty="0">
                <a:latin typeface="Times New Roman" panose="02020603050405020304" pitchFamily="18" charset="0"/>
                <a:ea typeface="楷体_GB2312" pitchFamily="49" charset="-122"/>
                <a:cs typeface="Times New Roman" panose="02020603050405020304" pitchFamily="18" charset="0"/>
              </a:rPr>
              <a:t>是系统调用号，它应该小于 </a:t>
            </a:r>
            <a:r>
              <a:rPr lang="en-US" altLang="zh-CN" sz="2400" dirty="0" err="1">
                <a:latin typeface="Times New Roman" panose="02020603050405020304" pitchFamily="18" charset="0"/>
                <a:ea typeface="楷体_GB2312" pitchFamily="49" charset="-122"/>
                <a:cs typeface="Times New Roman" panose="02020603050405020304" pitchFamily="18" charset="0"/>
              </a:rPr>
              <a:t>NR_syscalls</a:t>
            </a:r>
            <a:r>
              <a:rPr lang="zh-CN" altLang="en-US" sz="2400" dirty="0">
                <a:latin typeface="Times New Roman" panose="02020603050405020304" pitchFamily="18" charset="0"/>
                <a:ea typeface="楷体_GB2312" pitchFamily="49" charset="-122"/>
                <a:cs typeface="Times New Roman" panose="02020603050405020304" pitchFamily="18" charset="0"/>
              </a:rPr>
              <a:t>）</a:t>
            </a: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若为合法系统调用，再进一步检测该系统调用是否正被跟踪；</a:t>
            </a: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根据</a:t>
            </a:r>
            <a:r>
              <a:rPr lang="en-US" altLang="zh-CN" sz="2400" dirty="0" err="1">
                <a:latin typeface="Times New Roman" panose="02020603050405020304" pitchFamily="18" charset="0"/>
                <a:ea typeface="楷体_GB2312" pitchFamily="49" charset="-122"/>
                <a:cs typeface="Times New Roman" panose="02020603050405020304" pitchFamily="18" charset="0"/>
              </a:rPr>
              <a:t>eax</a:t>
            </a:r>
            <a:r>
              <a:rPr lang="zh-CN" altLang="en-US" sz="2400" dirty="0">
                <a:latin typeface="Times New Roman" panose="02020603050405020304" pitchFamily="18" charset="0"/>
                <a:ea typeface="楷体_GB2312" pitchFamily="49" charset="-122"/>
                <a:cs typeface="Times New Roman" panose="02020603050405020304" pitchFamily="18" charset="0"/>
              </a:rPr>
              <a:t>中的系统调用号调用相应的服务例程。</a:t>
            </a: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服务例程结束后，从</a:t>
            </a:r>
            <a:r>
              <a:rPr lang="en-US" altLang="zh-CN" sz="2400" dirty="0" err="1">
                <a:latin typeface="Times New Roman" panose="02020603050405020304" pitchFamily="18" charset="0"/>
                <a:ea typeface="楷体_GB2312" pitchFamily="49" charset="-122"/>
                <a:cs typeface="Times New Roman" panose="02020603050405020304" pitchFamily="18" charset="0"/>
              </a:rPr>
              <a:t>eax</a:t>
            </a:r>
            <a:r>
              <a:rPr lang="zh-CN" altLang="en-US" sz="2400" dirty="0">
                <a:latin typeface="Times New Roman" panose="02020603050405020304" pitchFamily="18" charset="0"/>
                <a:ea typeface="楷体_GB2312" pitchFamily="49" charset="-122"/>
                <a:cs typeface="Times New Roman" panose="02020603050405020304" pitchFamily="18" charset="0"/>
              </a:rPr>
              <a:t>寄存器获得其返回值，并把这个返回值存放在堆栈中，让其位于用户态</a:t>
            </a:r>
            <a:r>
              <a:rPr lang="en-US" altLang="zh-CN" sz="2400" dirty="0" err="1">
                <a:latin typeface="Times New Roman" panose="02020603050405020304" pitchFamily="18" charset="0"/>
                <a:ea typeface="楷体_GB2312" pitchFamily="49" charset="-122"/>
                <a:cs typeface="Times New Roman" panose="02020603050405020304" pitchFamily="18" charset="0"/>
              </a:rPr>
              <a:t>eax</a:t>
            </a:r>
            <a:r>
              <a:rPr lang="zh-CN" altLang="en-US" sz="2400" dirty="0">
                <a:latin typeface="Times New Roman" panose="02020603050405020304" pitchFamily="18" charset="0"/>
                <a:ea typeface="楷体_GB2312" pitchFamily="49" charset="-122"/>
                <a:cs typeface="Times New Roman" panose="02020603050405020304" pitchFamily="18" charset="0"/>
              </a:rPr>
              <a:t>寄存器曾存放位置。</a:t>
            </a: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然后跳转到</a:t>
            </a:r>
            <a:r>
              <a:rPr lang="en-US" altLang="zh-CN" sz="2400" dirty="0" err="1">
                <a:latin typeface="Times New Roman" panose="02020603050405020304" pitchFamily="18" charset="0"/>
                <a:ea typeface="楷体_GB2312" pitchFamily="49" charset="-122"/>
                <a:cs typeface="Times New Roman" panose="02020603050405020304" pitchFamily="18" charset="0"/>
              </a:rPr>
              <a:t>ret_from_sys_call</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，终止系统调用程序的执行。</a:t>
            </a:r>
          </a:p>
        </p:txBody>
      </p:sp>
      <p:sp>
        <p:nvSpPr>
          <p:cNvPr id="4" name="矩形 3">
            <a:extLst>
              <a:ext uri="{FF2B5EF4-FFF2-40B4-BE49-F238E27FC236}">
                <a16:creationId xmlns:a16="http://schemas.microsoft.com/office/drawing/2014/main" id="{57BC9550-B1E4-45F3-BB62-8D7D881369C2}"/>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01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201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201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2016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2016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201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23849" y="980728"/>
            <a:ext cx="7286879" cy="461962"/>
          </a:xfrm>
        </p:spPr>
        <p:txBody>
          <a:bodyPr/>
          <a:lstStyle/>
          <a:p>
            <a:pPr algn="l" eaLnBrk="1" hangingPunct="1">
              <a:lnSpc>
                <a:spcPct val="90000"/>
              </a:lnSpc>
              <a:spcBef>
                <a:spcPct val="20000"/>
              </a:spcBef>
              <a:buClr>
                <a:schemeClr val="accent2"/>
              </a:buClr>
              <a:defRPr/>
            </a:pPr>
            <a:r>
              <a:rPr lang="en-US" altLang="zh-CN" sz="2800" kern="1200" dirty="0">
                <a:solidFill>
                  <a:srgbClr val="FF0000"/>
                </a:solidFill>
                <a:latin typeface="Times New Roman" panose="02020603050405020304" pitchFamily="18" charset="0"/>
                <a:ea typeface="楷体_GB2312" pitchFamily="49" charset="-122"/>
                <a:cs typeface="Times New Roman" panose="02020603050405020304" pitchFamily="18" charset="0"/>
              </a:rPr>
              <a:t>SAVE_ALL</a:t>
            </a:r>
            <a:r>
              <a:rPr lang="zh-CN" altLang="en-US" sz="2800" kern="1200" dirty="0">
                <a:solidFill>
                  <a:srgbClr val="FF0000"/>
                </a:solidFill>
                <a:latin typeface="Times New Roman" panose="02020603050405020304" pitchFamily="18" charset="0"/>
                <a:ea typeface="楷体_GB2312" pitchFamily="49" charset="-122"/>
                <a:cs typeface="Times New Roman" panose="02020603050405020304" pitchFamily="18" charset="0"/>
              </a:rPr>
              <a:t>宏定义 </a:t>
            </a:r>
          </a:p>
        </p:txBody>
      </p:sp>
      <p:sp>
        <p:nvSpPr>
          <p:cNvPr id="27651" name="Rectangle 3"/>
          <p:cNvSpPr>
            <a:spLocks noGrp="1" noChangeArrowheads="1"/>
          </p:cNvSpPr>
          <p:nvPr>
            <p:ph type="body" idx="1"/>
          </p:nvPr>
        </p:nvSpPr>
        <p:spPr>
          <a:xfrm>
            <a:off x="323850" y="1686198"/>
            <a:ext cx="3600450" cy="4983162"/>
          </a:xfrm>
          <a:solidFill>
            <a:srgbClr val="A5F9EB"/>
          </a:solidFill>
        </p:spPr>
        <p:txBody>
          <a:bodyPr/>
          <a:lstStyle/>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#define SAVE_ALL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cld;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pushl %es;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pushl %ds;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pushl %eax;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pushl %ebp;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pushl %edi;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pushl %esi;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pushl %edx;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pushl %ecx;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pushl %ebx;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movl $(__KERNEL_DS),%edx;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movl %edx,%ds;  </a:t>
            </a:r>
          </a:p>
          <a:p>
            <a:pPr eaLnBrk="1" hangingPunct="1">
              <a:lnSpc>
                <a:spcPct val="80000"/>
              </a:lnSpc>
              <a:buFont typeface="Wingdings" panose="05000000000000000000" pitchFamily="2" charset="2"/>
              <a:buNone/>
            </a:pPr>
            <a:r>
              <a:rPr lang="en-US" altLang="zh-CN" sz="2000">
                <a:latin typeface="楷体_GB2312" pitchFamily="49" charset="-122"/>
                <a:ea typeface="楷体_GB2312" pitchFamily="49" charset="-122"/>
              </a:rPr>
              <a:t>movl %edx,%es;</a:t>
            </a:r>
            <a:r>
              <a:rPr lang="en-US" altLang="zh-CN" sz="1400">
                <a:latin typeface="Times New Roman" panose="02020603050405020304" pitchFamily="18" charset="0"/>
                <a:ea typeface="楷体_GB2312" pitchFamily="49" charset="-122"/>
              </a:rPr>
              <a:t>  </a:t>
            </a:r>
            <a:endParaRPr lang="en-US" altLang="zh-CN" sz="1400">
              <a:latin typeface="楷体_GB2312" pitchFamily="49" charset="-122"/>
              <a:ea typeface="楷体_GB2312" pitchFamily="49" charset="-122"/>
            </a:endParaRPr>
          </a:p>
        </p:txBody>
      </p:sp>
      <p:sp>
        <p:nvSpPr>
          <p:cNvPr id="27652" name="Rectangle 4"/>
          <p:cNvSpPr>
            <a:spLocks noChangeArrowheads="1"/>
          </p:cNvSpPr>
          <p:nvPr/>
        </p:nvSpPr>
        <p:spPr bwMode="auto">
          <a:xfrm>
            <a:off x="3851275" y="1686198"/>
            <a:ext cx="4665663" cy="498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将寄存器中的参数压入到核心栈中</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这样内核才能使用用户传入的参数。</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因为在不同特权级之间控制转换时，</a:t>
            </a:r>
            <a:r>
              <a:rPr lang="en-US" altLang="zh-CN" sz="2400" dirty="0">
                <a:solidFill>
                  <a:srgbClr val="FF0000"/>
                </a:solidFill>
                <a:latin typeface="Times New Roman" panose="02020603050405020304" pitchFamily="18" charset="0"/>
                <a:ea typeface="楷体_GB2312" pitchFamily="49" charset="-122"/>
                <a:cs typeface="Times New Roman" panose="02020603050405020304" pitchFamily="18" charset="0"/>
              </a:rPr>
              <a:t>INT</a:t>
            </a:r>
            <a:r>
              <a:rPr lang="zh-CN" altLang="en-US" sz="2400" dirty="0">
                <a:solidFill>
                  <a:srgbClr val="FF0000"/>
                </a:solidFill>
                <a:latin typeface="Times New Roman" panose="02020603050405020304" pitchFamily="18" charset="0"/>
                <a:ea typeface="楷体_GB2312" pitchFamily="49" charset="-122"/>
                <a:cs typeface="Times New Roman" panose="02020603050405020304" pitchFamily="18" charset="0"/>
              </a:rPr>
              <a:t>指令不同于</a:t>
            </a:r>
            <a:r>
              <a:rPr lang="en-US" altLang="zh-CN" sz="2400" dirty="0">
                <a:solidFill>
                  <a:srgbClr val="FF0000"/>
                </a:solidFill>
                <a:latin typeface="Times New Roman" panose="02020603050405020304" pitchFamily="18" charset="0"/>
                <a:ea typeface="楷体_GB2312" pitchFamily="49" charset="-122"/>
                <a:cs typeface="Times New Roman" panose="02020603050405020304" pitchFamily="18" charset="0"/>
              </a:rPr>
              <a:t>CALL</a:t>
            </a:r>
            <a:r>
              <a:rPr lang="zh-CN" altLang="en-US" sz="2400" dirty="0">
                <a:solidFill>
                  <a:srgbClr val="FF0000"/>
                </a:solidFill>
                <a:latin typeface="Times New Roman" panose="02020603050405020304" pitchFamily="18" charset="0"/>
                <a:ea typeface="楷体_GB2312" pitchFamily="49" charset="-122"/>
                <a:cs typeface="Times New Roman" panose="02020603050405020304" pitchFamily="18" charset="0"/>
              </a:rPr>
              <a:t>指令，</a:t>
            </a:r>
            <a:r>
              <a:rPr lang="zh-CN" altLang="en-US" sz="2400" dirty="0">
                <a:latin typeface="Times New Roman" panose="02020603050405020304" pitchFamily="18" charset="0"/>
                <a:ea typeface="楷体_GB2312" pitchFamily="49" charset="-122"/>
                <a:cs typeface="Times New Roman" panose="02020603050405020304" pitchFamily="18" charset="0"/>
              </a:rPr>
              <a:t>它不会将外层堆栈的参数自动拷贝到内层堆栈中</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所以在调用系统调用时，必须把参数指定到各个寄存器中</a:t>
            </a:r>
          </a:p>
        </p:txBody>
      </p:sp>
      <p:sp>
        <p:nvSpPr>
          <p:cNvPr id="5" name="矩形 4">
            <a:extLst>
              <a:ext uri="{FF2B5EF4-FFF2-40B4-BE49-F238E27FC236}">
                <a16:creationId xmlns:a16="http://schemas.microsoft.com/office/drawing/2014/main" id="{153BA9AE-D617-4B2D-B900-B214E4BBEB2B}"/>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2051050" y="6176963"/>
            <a:ext cx="4295775"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76176" anchor="ct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Verdana" panose="020B0604030504040204" pitchFamily="34" charset="0"/>
                <a:ea typeface="宋体" panose="02010600030101010101" pitchFamily="2" charset="-122"/>
              </a:rPr>
              <a:t>调用总控程序</a:t>
            </a:r>
            <a:r>
              <a:rPr lang="en-US" altLang="zh-CN" sz="1800" b="0">
                <a:solidFill>
                  <a:schemeClr val="tx1"/>
                </a:solidFill>
                <a:latin typeface="Verdana" panose="020B0604030504040204" pitchFamily="34" charset="0"/>
                <a:ea typeface="宋体" panose="02010600030101010101" pitchFamily="2" charset="-122"/>
              </a:rPr>
              <a:t>(system_call)</a:t>
            </a:r>
            <a:r>
              <a:rPr lang="zh-CN" altLang="en-US" sz="1800" b="0">
                <a:solidFill>
                  <a:schemeClr val="tx1"/>
                </a:solidFill>
                <a:latin typeface="Verdana" panose="020B0604030504040204" pitchFamily="34" charset="0"/>
                <a:ea typeface="宋体" panose="02010600030101010101" pitchFamily="2" charset="-122"/>
              </a:rPr>
              <a:t>执行流程图</a:t>
            </a:r>
          </a:p>
          <a:p>
            <a:pPr>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graphicFrame>
        <p:nvGraphicFramePr>
          <p:cNvPr id="29699" name="Object 3"/>
          <p:cNvGraphicFramePr>
            <a:graphicFrameLocks noChangeAspect="1"/>
          </p:cNvGraphicFramePr>
          <p:nvPr>
            <p:extLst>
              <p:ext uri="{D42A27DB-BD31-4B8C-83A1-F6EECF244321}">
                <p14:modId xmlns:p14="http://schemas.microsoft.com/office/powerpoint/2010/main" val="67816335"/>
              </p:ext>
            </p:extLst>
          </p:nvPr>
        </p:nvGraphicFramePr>
        <p:xfrm>
          <a:off x="683568" y="845343"/>
          <a:ext cx="7462838" cy="5167313"/>
        </p:xfrm>
        <a:graphic>
          <a:graphicData uri="http://schemas.openxmlformats.org/presentationml/2006/ole">
            <mc:AlternateContent xmlns:mc="http://schemas.openxmlformats.org/markup-compatibility/2006">
              <mc:Choice xmlns:v="urn:schemas-microsoft-com:vml" Requires="v">
                <p:oleObj spid="_x0000_s29713" name="位图图像" r:id="rId3" imgW="5172797" imgH="3580952" progId="Paint.Picture">
                  <p:embed/>
                </p:oleObj>
              </mc:Choice>
              <mc:Fallback>
                <p:oleObj name="位图图像" r:id="rId3" imgW="5172797" imgH="3580952"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845343"/>
                        <a:ext cx="7462838" cy="516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矩形 3">
            <a:extLst>
              <a:ext uri="{FF2B5EF4-FFF2-40B4-BE49-F238E27FC236}">
                <a16:creationId xmlns:a16="http://schemas.microsoft.com/office/drawing/2014/main" id="{F8FC033E-AC7D-43C6-9D46-594F54F45323}"/>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2"/>
          <p:cNvGraphicFramePr>
            <a:graphicFrameLocks noChangeAspect="1"/>
          </p:cNvGraphicFramePr>
          <p:nvPr>
            <p:extLst>
              <p:ext uri="{D42A27DB-BD31-4B8C-83A1-F6EECF244321}">
                <p14:modId xmlns:p14="http://schemas.microsoft.com/office/powerpoint/2010/main" val="2384102600"/>
              </p:ext>
            </p:extLst>
          </p:nvPr>
        </p:nvGraphicFramePr>
        <p:xfrm>
          <a:off x="1167506" y="908720"/>
          <a:ext cx="6351588" cy="5835650"/>
        </p:xfrm>
        <a:graphic>
          <a:graphicData uri="http://schemas.openxmlformats.org/presentationml/2006/ole">
            <mc:AlternateContent xmlns:mc="http://schemas.openxmlformats.org/markup-compatibility/2006">
              <mc:Choice xmlns:v="urn:schemas-microsoft-com:vml" Requires="v">
                <p:oleObj spid="_x0000_s30736" name="位图图像" r:id="rId3" imgW="5047619" imgH="4638095" progId="Paint.Picture">
                  <p:embed/>
                </p:oleObj>
              </mc:Choice>
              <mc:Fallback>
                <p:oleObj name="位图图像" r:id="rId3" imgW="5047619" imgH="4638095"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7506" y="908720"/>
                        <a:ext cx="6351588" cy="583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矩形 2">
            <a:extLst>
              <a:ext uri="{FF2B5EF4-FFF2-40B4-BE49-F238E27FC236}">
                <a16:creationId xmlns:a16="http://schemas.microsoft.com/office/drawing/2014/main" id="{CB8C62A2-5584-4776-B82B-A3B23668255B}"/>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3"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solidFill>
                  <a:srgbClr val="FF0000"/>
                </a:solidFill>
                <a:latin typeface="楷体_GB2312" pitchFamily="49" charset="-122"/>
                <a:ea typeface="楷体_GB2312" pitchFamily="49" charset="-122"/>
              </a:rPr>
              <a:t>系统调用表与调用号</a:t>
            </a:r>
            <a:endParaRPr lang="en-US" altLang="zh-CN" dirty="0">
              <a:solidFill>
                <a:srgbClr val="FF0000"/>
              </a:solidFill>
              <a:latin typeface="楷体_GB2312" pitchFamily="49" charset="-122"/>
              <a:ea typeface="楷体_GB2312" pitchFamily="49" charset="-122"/>
            </a:endParaRPr>
          </a:p>
          <a:p>
            <a:pPr lvl="1" eaLnBrk="1" hangingPunct="1">
              <a:buFont typeface="Arial" panose="020B0604020202020204" pitchFamily="34" charset="0"/>
              <a:buChar char="•"/>
            </a:pPr>
            <a:r>
              <a:rPr lang="zh-CN" altLang="en-US" dirty="0">
                <a:latin typeface="楷体_GB2312" pitchFamily="49" charset="-122"/>
                <a:ea typeface="楷体_GB2312" pitchFamily="49" charset="-122"/>
              </a:rPr>
              <a:t>系统调用处理程序一旦运行，就可以从</a:t>
            </a:r>
            <a:r>
              <a:rPr lang="en-US" altLang="zh-CN" dirty="0">
                <a:latin typeface="楷体_GB2312" pitchFamily="49" charset="-122"/>
                <a:ea typeface="楷体_GB2312" pitchFamily="49" charset="-122"/>
              </a:rPr>
              <a:t>EAX</a:t>
            </a:r>
            <a:r>
              <a:rPr lang="zh-CN" altLang="en-US" dirty="0">
                <a:latin typeface="楷体_GB2312" pitchFamily="49" charset="-122"/>
                <a:ea typeface="楷体_GB2312" pitchFamily="49" charset="-122"/>
              </a:rPr>
              <a:t>中得到系统调用号，然后再去系统调用表中寻找相应服务例程。</a:t>
            </a:r>
          </a:p>
          <a:p>
            <a:pPr lvl="1" eaLnBrk="1" hangingPunct="1">
              <a:buFont typeface="Arial" panose="020B0604020202020204" pitchFamily="34" charset="0"/>
              <a:buChar char="•"/>
            </a:pPr>
            <a:r>
              <a:rPr lang="zh-CN" altLang="en-US" dirty="0">
                <a:latin typeface="楷体_GB2312" pitchFamily="49" charset="-122"/>
                <a:ea typeface="楷体_GB2312" pitchFamily="49" charset="-122"/>
              </a:rPr>
              <a:t> 一个应用程序调用</a:t>
            </a:r>
            <a:r>
              <a:rPr lang="en-US" altLang="zh-CN" dirty="0">
                <a:latin typeface="楷体_GB2312" pitchFamily="49" charset="-122"/>
                <a:ea typeface="楷体_GB2312" pitchFamily="49" charset="-122"/>
              </a:rPr>
              <a:t>fork()</a:t>
            </a:r>
            <a:r>
              <a:rPr lang="zh-CN" altLang="en-US" dirty="0">
                <a:latin typeface="楷体_GB2312" pitchFamily="49" charset="-122"/>
                <a:ea typeface="楷体_GB2312" pitchFamily="49" charset="-122"/>
              </a:rPr>
              <a:t>封装例程，那么在执行</a:t>
            </a:r>
            <a:r>
              <a:rPr lang="en-US" altLang="zh-CN" dirty="0" err="1">
                <a:latin typeface="楷体_GB2312" pitchFamily="49" charset="-122"/>
                <a:ea typeface="楷体_GB2312" pitchFamily="49" charset="-122"/>
              </a:rPr>
              <a:t>int</a:t>
            </a:r>
            <a:r>
              <a:rPr lang="en-US" altLang="zh-CN" dirty="0">
                <a:latin typeface="楷体_GB2312" pitchFamily="49" charset="-122"/>
                <a:ea typeface="楷体_GB2312" pitchFamily="49" charset="-122"/>
              </a:rPr>
              <a:t> $0x80</a:t>
            </a:r>
            <a:r>
              <a:rPr lang="zh-CN" altLang="en-US" dirty="0">
                <a:latin typeface="楷体_GB2312" pitchFamily="49" charset="-122"/>
                <a:ea typeface="楷体_GB2312" pitchFamily="49" charset="-122"/>
              </a:rPr>
              <a:t>之前就把</a:t>
            </a:r>
            <a:r>
              <a:rPr lang="en-US" altLang="zh-CN" dirty="0">
                <a:latin typeface="楷体_GB2312" pitchFamily="49" charset="-122"/>
                <a:ea typeface="楷体_GB2312" pitchFamily="49" charset="-122"/>
              </a:rPr>
              <a:t>EAX</a:t>
            </a:r>
            <a:r>
              <a:rPr lang="zh-CN" altLang="en-US" dirty="0">
                <a:latin typeface="楷体_GB2312" pitchFamily="49" charset="-122"/>
                <a:ea typeface="楷体_GB2312" pitchFamily="49" charset="-122"/>
              </a:rPr>
              <a:t>寄存器的值置为</a:t>
            </a:r>
            <a:r>
              <a:rPr lang="en-US" altLang="zh-CN" dirty="0">
                <a:latin typeface="楷体_GB2312" pitchFamily="49" charset="-122"/>
                <a:ea typeface="楷体_GB2312" pitchFamily="49" charset="-122"/>
              </a:rPr>
              <a:t>2(</a:t>
            </a:r>
            <a:r>
              <a:rPr lang="zh-CN" altLang="en-US" dirty="0">
                <a:latin typeface="楷体_GB2312" pitchFamily="49" charset="-122"/>
                <a:ea typeface="楷体_GB2312" pitchFamily="49" charset="-122"/>
              </a:rPr>
              <a:t>即</a:t>
            </a:r>
            <a:r>
              <a:rPr lang="en-US" altLang="zh-CN" dirty="0">
                <a:latin typeface="楷体_GB2312" pitchFamily="49" charset="-122"/>
                <a:ea typeface="楷体_GB2312" pitchFamily="49" charset="-122"/>
              </a:rPr>
              <a:t>__</a:t>
            </a:r>
            <a:r>
              <a:rPr lang="en-US" altLang="zh-CN" dirty="0" err="1">
                <a:latin typeface="楷体_GB2312" pitchFamily="49" charset="-122"/>
                <a:ea typeface="楷体_GB2312" pitchFamily="49" charset="-122"/>
              </a:rPr>
              <a:t>NR_fork</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a:t>
            </a:r>
          </a:p>
          <a:p>
            <a:pPr lvl="1" eaLnBrk="1" hangingPunct="1">
              <a:buFont typeface="Arial" panose="020B0604020202020204" pitchFamily="34" charset="0"/>
              <a:buChar char="•"/>
            </a:pPr>
            <a:r>
              <a:rPr lang="zh-CN" altLang="en-US" dirty="0">
                <a:latin typeface="楷体_GB2312" pitchFamily="49" charset="-122"/>
                <a:ea typeface="楷体_GB2312" pitchFamily="49" charset="-122"/>
              </a:rPr>
              <a:t>这个寄存器的设置是</a:t>
            </a:r>
            <a:r>
              <a:rPr lang="en-US" altLang="zh-CN" dirty="0" err="1">
                <a:latin typeface="楷体_GB2312" pitchFamily="49" charset="-122"/>
                <a:ea typeface="楷体_GB2312" pitchFamily="49" charset="-122"/>
              </a:rPr>
              <a:t>libc</a:t>
            </a:r>
            <a:r>
              <a:rPr lang="zh-CN" altLang="en-US" dirty="0">
                <a:latin typeface="楷体_GB2312" pitchFamily="49" charset="-122"/>
                <a:ea typeface="楷体_GB2312" pitchFamily="49" charset="-122"/>
              </a:rPr>
              <a:t>库中的封装例程进行的，因此用户一般不关心系统调用号</a:t>
            </a:r>
          </a:p>
          <a:p>
            <a:pPr eaLnBrk="1" hangingPunct="1"/>
            <a:endParaRPr lang="zh-CN" altLang="en-US" dirty="0">
              <a:latin typeface="楷体_GB2312" pitchFamily="49" charset="-122"/>
              <a:ea typeface="楷体_GB2312" pitchFamily="49" charset="-122"/>
            </a:endParaRPr>
          </a:p>
        </p:txBody>
      </p:sp>
      <p:sp>
        <p:nvSpPr>
          <p:cNvPr id="6" name="矩形 5">
            <a:extLst>
              <a:ext uri="{FF2B5EF4-FFF2-40B4-BE49-F238E27FC236}">
                <a16:creationId xmlns:a16="http://schemas.microsoft.com/office/drawing/2014/main" id="{0235E031-D882-484B-BB0B-DB8AAB4A7232}"/>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283">
                                            <p:txEl>
                                              <p:pRg st="0" end="0"/>
                                            </p:txEl>
                                          </p:spTgt>
                                        </p:tgtEl>
                                        <p:attrNameLst>
                                          <p:attrName>style.visibility</p:attrName>
                                        </p:attrNameLst>
                                      </p:cBhvr>
                                      <p:to>
                                        <p:strVal val="visible"/>
                                      </p:to>
                                    </p:set>
                                    <p:animEffect transition="in" filter="blinds(horizontal)">
                                      <p:cBhvr>
                                        <p:cTn id="7" dur="500"/>
                                        <p:tgtEl>
                                          <p:spTgt spid="22528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5283">
                                            <p:txEl>
                                              <p:pRg st="1" end="1"/>
                                            </p:txEl>
                                          </p:spTgt>
                                        </p:tgtEl>
                                        <p:attrNameLst>
                                          <p:attrName>style.visibility</p:attrName>
                                        </p:attrNameLst>
                                      </p:cBhvr>
                                      <p:to>
                                        <p:strVal val="visible"/>
                                      </p:to>
                                    </p:set>
                                    <p:animEffect transition="in" filter="blinds(horizontal)">
                                      <p:cBhvr>
                                        <p:cTn id="10" dur="500"/>
                                        <p:tgtEl>
                                          <p:spTgt spid="22528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25283">
                                            <p:txEl>
                                              <p:pRg st="2" end="2"/>
                                            </p:txEl>
                                          </p:spTgt>
                                        </p:tgtEl>
                                        <p:attrNameLst>
                                          <p:attrName>style.visibility</p:attrName>
                                        </p:attrNameLst>
                                      </p:cBhvr>
                                      <p:to>
                                        <p:strVal val="visible"/>
                                      </p:to>
                                    </p:set>
                                    <p:animEffect transition="in" filter="blinds(horizontal)">
                                      <p:cBhvr>
                                        <p:cTn id="13" dur="500"/>
                                        <p:tgtEl>
                                          <p:spTgt spid="22528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25283">
                                            <p:txEl>
                                              <p:pRg st="3" end="3"/>
                                            </p:txEl>
                                          </p:spTgt>
                                        </p:tgtEl>
                                        <p:attrNameLst>
                                          <p:attrName>style.visibility</p:attrName>
                                        </p:attrNameLst>
                                      </p:cBhvr>
                                      <p:to>
                                        <p:strVal val="visible"/>
                                      </p:to>
                                    </p:set>
                                    <p:animEffect transition="in" filter="blinds(horizontal)">
                                      <p:cBhvr>
                                        <p:cTn id="16" dur="500"/>
                                        <p:tgtEl>
                                          <p:spTgt spid="2252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7"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sz="2400" dirty="0">
                <a:solidFill>
                  <a:srgbClr val="FF0000"/>
                </a:solidFill>
                <a:latin typeface="楷体_GB2312" pitchFamily="49" charset="-122"/>
                <a:ea typeface="楷体_GB2312" pitchFamily="49" charset="-122"/>
              </a:rPr>
              <a:t>系统调用表与调用号</a:t>
            </a:r>
            <a:endParaRPr lang="en-US" altLang="zh-CN" sz="2400" dirty="0">
              <a:solidFill>
                <a:srgbClr val="FF0000"/>
              </a:solidFill>
              <a:latin typeface="楷体_GB2312" pitchFamily="49" charset="-122"/>
              <a:ea typeface="楷体_GB2312" pitchFamily="49" charset="-122"/>
            </a:endParaRPr>
          </a:p>
          <a:p>
            <a:pPr lvl="1" eaLnBrk="1" hangingPunct="1">
              <a:buFont typeface="Arial" panose="020B0604020202020204" pitchFamily="34" charset="0"/>
              <a:buChar char="•"/>
            </a:pPr>
            <a:r>
              <a:rPr lang="zh-CN" altLang="en-US" sz="2200" dirty="0">
                <a:solidFill>
                  <a:schemeClr val="accent6">
                    <a:lumMod val="75000"/>
                  </a:schemeClr>
                </a:solidFill>
                <a:latin typeface="楷体_GB2312" pitchFamily="49" charset="-122"/>
                <a:ea typeface="楷体_GB2312" pitchFamily="49" charset="-122"/>
              </a:rPr>
              <a:t>核心中为每个系统调用定义了一个唯一的编号，这个编号的定义在</a:t>
            </a:r>
            <a:r>
              <a:rPr lang="en-US" altLang="zh-CN" sz="2200" dirty="0" err="1">
                <a:solidFill>
                  <a:schemeClr val="accent6">
                    <a:lumMod val="75000"/>
                  </a:schemeClr>
                </a:solidFill>
                <a:latin typeface="楷体_GB2312" pitchFamily="49" charset="-122"/>
                <a:ea typeface="楷体_GB2312" pitchFamily="49" charset="-122"/>
              </a:rPr>
              <a:t>linux</a:t>
            </a:r>
            <a:r>
              <a:rPr lang="en-US" altLang="zh-CN" sz="2200" dirty="0">
                <a:solidFill>
                  <a:schemeClr val="accent6">
                    <a:lumMod val="75000"/>
                  </a:schemeClr>
                </a:solidFill>
                <a:latin typeface="楷体_GB2312" pitchFamily="49" charset="-122"/>
                <a:ea typeface="楷体_GB2312" pitchFamily="49" charset="-122"/>
              </a:rPr>
              <a:t>/include/</a:t>
            </a:r>
            <a:r>
              <a:rPr lang="en-US" altLang="zh-CN" sz="2200" dirty="0" err="1">
                <a:solidFill>
                  <a:schemeClr val="accent6">
                    <a:lumMod val="75000"/>
                  </a:schemeClr>
                </a:solidFill>
                <a:latin typeface="楷体_GB2312" pitchFamily="49" charset="-122"/>
                <a:ea typeface="楷体_GB2312" pitchFamily="49" charset="-122"/>
              </a:rPr>
              <a:t>asm</a:t>
            </a:r>
            <a:r>
              <a:rPr lang="en-US" altLang="zh-CN" sz="2200" dirty="0">
                <a:solidFill>
                  <a:schemeClr val="accent6">
                    <a:lumMod val="75000"/>
                  </a:schemeClr>
                </a:solidFill>
                <a:latin typeface="楷体_GB2312" pitchFamily="49" charset="-122"/>
                <a:ea typeface="楷体_GB2312" pitchFamily="49" charset="-122"/>
              </a:rPr>
              <a:t>/</a:t>
            </a:r>
            <a:r>
              <a:rPr lang="en-US" altLang="zh-CN" sz="2200" dirty="0" err="1">
                <a:solidFill>
                  <a:schemeClr val="accent6">
                    <a:lumMod val="75000"/>
                  </a:schemeClr>
                </a:solidFill>
                <a:latin typeface="楷体_GB2312" pitchFamily="49" charset="-122"/>
                <a:ea typeface="楷体_GB2312" pitchFamily="49" charset="-122"/>
              </a:rPr>
              <a:t>unistd.h</a:t>
            </a:r>
            <a:r>
              <a:rPr lang="zh-CN" altLang="en-US" sz="2200" dirty="0">
                <a:solidFill>
                  <a:schemeClr val="accent6">
                    <a:lumMod val="75000"/>
                  </a:schemeClr>
                </a:solidFill>
                <a:latin typeface="楷体_GB2312" pitchFamily="49" charset="-122"/>
                <a:ea typeface="楷体_GB2312" pitchFamily="49" charset="-122"/>
              </a:rPr>
              <a:t>中（最大为</a:t>
            </a:r>
            <a:r>
              <a:rPr lang="en-US" altLang="zh-CN" sz="2200" dirty="0" err="1">
                <a:solidFill>
                  <a:schemeClr val="accent6">
                    <a:lumMod val="75000"/>
                  </a:schemeClr>
                </a:solidFill>
                <a:latin typeface="楷体_GB2312" pitchFamily="49" charset="-122"/>
                <a:ea typeface="楷体_GB2312" pitchFamily="49" charset="-122"/>
              </a:rPr>
              <a:t>NR_syscall</a:t>
            </a:r>
            <a:r>
              <a:rPr lang="zh-CN" altLang="en-US" sz="2200" dirty="0">
                <a:solidFill>
                  <a:schemeClr val="accent6">
                    <a:lumMod val="75000"/>
                  </a:schemeClr>
                </a:solidFill>
                <a:latin typeface="楷体_GB2312" pitchFamily="49" charset="-122"/>
                <a:ea typeface="楷体_GB2312" pitchFamily="49" charset="-122"/>
              </a:rPr>
              <a:t>）</a:t>
            </a:r>
            <a:endParaRPr lang="en-US" altLang="zh-CN" sz="2200" dirty="0">
              <a:solidFill>
                <a:schemeClr val="accent6">
                  <a:lumMod val="75000"/>
                </a:schemeClr>
              </a:solidFill>
              <a:latin typeface="楷体_GB2312" pitchFamily="49" charset="-122"/>
              <a:ea typeface="楷体_GB2312" pitchFamily="49" charset="-122"/>
            </a:endParaRPr>
          </a:p>
          <a:p>
            <a:pPr lvl="1" eaLnBrk="1" hangingPunct="1">
              <a:buFont typeface="Arial" panose="020B0604020202020204" pitchFamily="34" charset="0"/>
              <a:buChar char="•"/>
            </a:pPr>
            <a:r>
              <a:rPr lang="zh-CN" altLang="en-US" sz="2200" dirty="0">
                <a:solidFill>
                  <a:schemeClr val="accent6">
                    <a:lumMod val="75000"/>
                  </a:schemeClr>
                </a:solidFill>
                <a:latin typeface="楷体_GB2312" pitchFamily="49" charset="-122"/>
                <a:ea typeface="楷体_GB2312" pitchFamily="49" charset="-122"/>
              </a:rPr>
              <a:t>同时在内核中保存了一张</a:t>
            </a:r>
            <a:r>
              <a:rPr lang="zh-CN" altLang="en-US" sz="2200" dirty="0">
                <a:solidFill>
                  <a:srgbClr val="FF0000"/>
                </a:solidFill>
                <a:latin typeface="楷体_GB2312" pitchFamily="49" charset="-122"/>
                <a:ea typeface="楷体_GB2312" pitchFamily="49" charset="-122"/>
              </a:rPr>
              <a:t>系统调用表</a:t>
            </a:r>
            <a:r>
              <a:rPr lang="zh-CN" altLang="en-US" sz="2200" dirty="0">
                <a:solidFill>
                  <a:schemeClr val="accent6">
                    <a:lumMod val="75000"/>
                  </a:schemeClr>
                </a:solidFill>
                <a:latin typeface="楷体_GB2312" pitchFamily="49" charset="-122"/>
                <a:ea typeface="楷体_GB2312" pitchFamily="49" charset="-122"/>
              </a:rPr>
              <a:t>，该表中保存了系统调用编号和其对应的服务例程地址。第</a:t>
            </a:r>
            <a:r>
              <a:rPr lang="en-US" altLang="zh-CN" sz="2200" dirty="0">
                <a:solidFill>
                  <a:schemeClr val="accent6">
                    <a:lumMod val="75000"/>
                  </a:schemeClr>
                </a:solidFill>
                <a:latin typeface="楷体_GB2312" pitchFamily="49" charset="-122"/>
                <a:ea typeface="楷体_GB2312" pitchFamily="49" charset="-122"/>
              </a:rPr>
              <a:t>n</a:t>
            </a:r>
            <a:r>
              <a:rPr lang="zh-CN" altLang="en-US" sz="2200" dirty="0">
                <a:solidFill>
                  <a:schemeClr val="accent6">
                    <a:lumMod val="75000"/>
                  </a:schemeClr>
                </a:solidFill>
                <a:latin typeface="楷体_GB2312" pitchFamily="49" charset="-122"/>
                <a:ea typeface="楷体_GB2312" pitchFamily="49" charset="-122"/>
              </a:rPr>
              <a:t>个表项包含系统调用号为</a:t>
            </a:r>
            <a:r>
              <a:rPr lang="en-US" altLang="zh-CN" sz="2200" dirty="0">
                <a:solidFill>
                  <a:schemeClr val="accent6">
                    <a:lumMod val="75000"/>
                  </a:schemeClr>
                </a:solidFill>
                <a:latin typeface="楷体_GB2312" pitchFamily="49" charset="-122"/>
                <a:ea typeface="楷体_GB2312" pitchFamily="49" charset="-122"/>
              </a:rPr>
              <a:t>n</a:t>
            </a:r>
            <a:r>
              <a:rPr lang="zh-CN" altLang="en-US" sz="2200" dirty="0">
                <a:solidFill>
                  <a:schemeClr val="accent6">
                    <a:lumMod val="75000"/>
                  </a:schemeClr>
                </a:solidFill>
                <a:latin typeface="楷体_GB2312" pitchFamily="49" charset="-122"/>
                <a:ea typeface="楷体_GB2312" pitchFamily="49" charset="-122"/>
              </a:rPr>
              <a:t>的服务例程的地址。</a:t>
            </a:r>
          </a:p>
          <a:p>
            <a:pPr lvl="1" eaLnBrk="1" hangingPunct="1">
              <a:buFont typeface="Arial" panose="020B0604020202020204" pitchFamily="34" charset="0"/>
              <a:buChar char="•"/>
            </a:pPr>
            <a:r>
              <a:rPr lang="zh-CN" altLang="en-US" sz="2200" dirty="0">
                <a:solidFill>
                  <a:schemeClr val="accent6">
                    <a:lumMod val="75000"/>
                  </a:schemeClr>
                </a:solidFill>
                <a:latin typeface="楷体_GB2312" pitchFamily="49" charset="-122"/>
                <a:ea typeface="楷体_GB2312" pitchFamily="49" charset="-122"/>
              </a:rPr>
              <a:t>系统调用陷入内核前，需要把系统调用号一起传入内核。而该标号实际上是系统调用表</a:t>
            </a:r>
            <a:r>
              <a:rPr lang="en-US" altLang="zh-CN" sz="2200" dirty="0">
                <a:solidFill>
                  <a:schemeClr val="accent6">
                    <a:lumMod val="75000"/>
                  </a:schemeClr>
                </a:solidFill>
                <a:latin typeface="楷体_GB2312" pitchFamily="49" charset="-122"/>
                <a:ea typeface="楷体_GB2312" pitchFamily="49" charset="-122"/>
              </a:rPr>
              <a:t>(  </a:t>
            </a:r>
            <a:r>
              <a:rPr lang="en-US" altLang="zh-CN" sz="2200" dirty="0" err="1">
                <a:solidFill>
                  <a:schemeClr val="accent6">
                    <a:lumMod val="75000"/>
                  </a:schemeClr>
                </a:solidFill>
                <a:latin typeface="楷体_GB2312" pitchFamily="49" charset="-122"/>
                <a:ea typeface="楷体_GB2312" pitchFamily="49" charset="-122"/>
                <a:hlinkClick r:id="rId3" action="ppaction://hlinkfile">
                  <a:extLst>
                    <a:ext uri="{A12FA001-AC4F-418D-AE19-62706E023703}">
                      <ahyp:hlinkClr xmlns:ahyp="http://schemas.microsoft.com/office/drawing/2018/hyperlinkcolor" val="tx"/>
                    </a:ext>
                  </a:extLst>
                </a:hlinkClick>
              </a:rPr>
              <a:t>sys_call_table</a:t>
            </a:r>
            <a:r>
              <a:rPr lang="en-US" altLang="zh-CN" sz="2200" dirty="0">
                <a:solidFill>
                  <a:schemeClr val="accent6">
                    <a:lumMod val="75000"/>
                  </a:schemeClr>
                </a:solidFill>
                <a:latin typeface="楷体_GB2312" pitchFamily="49" charset="-122"/>
                <a:ea typeface="楷体_GB2312" pitchFamily="49" charset="-122"/>
              </a:rPr>
              <a:t>)</a:t>
            </a:r>
            <a:r>
              <a:rPr lang="zh-CN" altLang="en-US" sz="2200" dirty="0">
                <a:solidFill>
                  <a:schemeClr val="accent6">
                    <a:lumMod val="75000"/>
                  </a:schemeClr>
                </a:solidFill>
                <a:latin typeface="楷体_GB2312" pitchFamily="49" charset="-122"/>
                <a:ea typeface="楷体_GB2312" pitchFamily="49" charset="-122"/>
              </a:rPr>
              <a:t>的下标</a:t>
            </a:r>
          </a:p>
          <a:p>
            <a:pPr lvl="1" eaLnBrk="1" hangingPunct="1">
              <a:buFont typeface="Arial" panose="020B0604020202020204" pitchFamily="34" charset="0"/>
              <a:buChar char="•"/>
            </a:pPr>
            <a:r>
              <a:rPr lang="zh-CN" altLang="en-US" sz="2200" dirty="0">
                <a:solidFill>
                  <a:schemeClr val="accent6">
                    <a:lumMod val="75000"/>
                  </a:schemeClr>
                </a:solidFill>
                <a:latin typeface="楷体_GB2312" pitchFamily="49" charset="-122"/>
                <a:ea typeface="楷体_GB2312" pitchFamily="49" charset="-122"/>
              </a:rPr>
              <a:t>在</a:t>
            </a:r>
            <a:r>
              <a:rPr lang="en-US" altLang="zh-CN" sz="2200" dirty="0">
                <a:solidFill>
                  <a:schemeClr val="accent6">
                    <a:lumMod val="75000"/>
                  </a:schemeClr>
                </a:solidFill>
                <a:latin typeface="楷体_GB2312" pitchFamily="49" charset="-122"/>
                <a:ea typeface="楷体_GB2312" pitchFamily="49" charset="-122"/>
              </a:rPr>
              <a:t>i386</a:t>
            </a:r>
            <a:r>
              <a:rPr lang="zh-CN" altLang="en-US" sz="2200" dirty="0">
                <a:solidFill>
                  <a:schemeClr val="accent6">
                    <a:lumMod val="75000"/>
                  </a:schemeClr>
                </a:solidFill>
                <a:latin typeface="楷体_GB2312" pitchFamily="49" charset="-122"/>
                <a:ea typeface="楷体_GB2312" pitchFamily="49" charset="-122"/>
              </a:rPr>
              <a:t>上，这个传递动作是通过在执行</a:t>
            </a:r>
            <a:r>
              <a:rPr lang="en-US" altLang="zh-CN" sz="2200" dirty="0" err="1">
                <a:solidFill>
                  <a:schemeClr val="accent6">
                    <a:lumMod val="75000"/>
                  </a:schemeClr>
                </a:solidFill>
                <a:latin typeface="楷体_GB2312" pitchFamily="49" charset="-122"/>
                <a:ea typeface="楷体_GB2312" pitchFamily="49" charset="-122"/>
              </a:rPr>
              <a:t>int</a:t>
            </a:r>
            <a:r>
              <a:rPr lang="en-US" altLang="zh-CN" sz="2200" dirty="0">
                <a:solidFill>
                  <a:schemeClr val="accent6">
                    <a:lumMod val="75000"/>
                  </a:schemeClr>
                </a:solidFill>
                <a:latin typeface="楷体_GB2312" pitchFamily="49" charset="-122"/>
                <a:ea typeface="楷体_GB2312" pitchFamily="49" charset="-122"/>
              </a:rPr>
              <a:t>  $0x80</a:t>
            </a:r>
            <a:r>
              <a:rPr lang="zh-CN" altLang="en-US" sz="2200" dirty="0">
                <a:solidFill>
                  <a:schemeClr val="accent6">
                    <a:lumMod val="75000"/>
                  </a:schemeClr>
                </a:solidFill>
                <a:latin typeface="楷体_GB2312" pitchFamily="49" charset="-122"/>
                <a:ea typeface="楷体_GB2312" pitchFamily="49" charset="-122"/>
              </a:rPr>
              <a:t>前把调用号装入</a:t>
            </a:r>
            <a:r>
              <a:rPr lang="en-US" altLang="zh-CN" sz="2200" dirty="0" err="1">
                <a:solidFill>
                  <a:schemeClr val="accent6">
                    <a:lumMod val="75000"/>
                  </a:schemeClr>
                </a:solidFill>
                <a:latin typeface="楷体_GB2312" pitchFamily="49" charset="-122"/>
                <a:ea typeface="楷体_GB2312" pitchFamily="49" charset="-122"/>
              </a:rPr>
              <a:t>eax</a:t>
            </a:r>
            <a:r>
              <a:rPr lang="zh-CN" altLang="en-US" sz="2200" dirty="0">
                <a:solidFill>
                  <a:schemeClr val="accent6">
                    <a:lumMod val="75000"/>
                  </a:schemeClr>
                </a:solidFill>
                <a:latin typeface="楷体_GB2312" pitchFamily="49" charset="-122"/>
                <a:ea typeface="楷体_GB2312" pitchFamily="49" charset="-122"/>
              </a:rPr>
              <a:t>寄存器实现。</a:t>
            </a:r>
          </a:p>
          <a:p>
            <a:pPr lvl="1" eaLnBrk="1" hangingPunct="1">
              <a:buFont typeface="Arial" panose="020B0604020202020204" pitchFamily="34" charset="0"/>
              <a:buChar char="•"/>
            </a:pPr>
            <a:r>
              <a:rPr lang="zh-CN" altLang="en-US" sz="2200" dirty="0">
                <a:solidFill>
                  <a:schemeClr val="accent6">
                    <a:lumMod val="75000"/>
                  </a:schemeClr>
                </a:solidFill>
                <a:latin typeface="楷体_GB2312" pitchFamily="49" charset="-122"/>
                <a:ea typeface="楷体_GB2312" pitchFamily="49" charset="-122"/>
              </a:rPr>
              <a:t>这样系统调用处理程序一旦运行，就可以从</a:t>
            </a:r>
            <a:r>
              <a:rPr lang="en-US" altLang="zh-CN" sz="2200" dirty="0" err="1">
                <a:solidFill>
                  <a:schemeClr val="accent6">
                    <a:lumMod val="75000"/>
                  </a:schemeClr>
                </a:solidFill>
                <a:latin typeface="楷体_GB2312" pitchFamily="49" charset="-122"/>
                <a:ea typeface="楷体_GB2312" pitchFamily="49" charset="-122"/>
              </a:rPr>
              <a:t>eax</a:t>
            </a:r>
            <a:r>
              <a:rPr lang="zh-CN" altLang="en-US" sz="2200" dirty="0">
                <a:solidFill>
                  <a:schemeClr val="accent6">
                    <a:lumMod val="75000"/>
                  </a:schemeClr>
                </a:solidFill>
                <a:latin typeface="楷体_GB2312" pitchFamily="49" charset="-122"/>
                <a:ea typeface="楷体_GB2312" pitchFamily="49" charset="-122"/>
              </a:rPr>
              <a:t>中得到系统调用号，然后再去系统调用表中寻找相应服务例程。</a:t>
            </a:r>
          </a:p>
        </p:txBody>
      </p:sp>
      <p:sp>
        <p:nvSpPr>
          <p:cNvPr id="6" name="矩形 5">
            <a:extLst>
              <a:ext uri="{FF2B5EF4-FFF2-40B4-BE49-F238E27FC236}">
                <a16:creationId xmlns:a16="http://schemas.microsoft.com/office/drawing/2014/main" id="{55FEAF6B-26D0-4E40-A851-F9BD22E19804}"/>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8387">
                                            <p:txEl>
                                              <p:pRg st="0" end="0"/>
                                            </p:txEl>
                                          </p:spTgt>
                                        </p:tgtEl>
                                        <p:attrNameLst>
                                          <p:attrName>style.visibility</p:attrName>
                                        </p:attrNameLst>
                                      </p:cBhvr>
                                      <p:to>
                                        <p:strVal val="visible"/>
                                      </p:to>
                                    </p:set>
                                    <p:animEffect transition="in" filter="blinds(horizontal)">
                                      <p:cBhvr>
                                        <p:cTn id="7" dur="500"/>
                                        <p:tgtEl>
                                          <p:spTgt spid="52838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28387">
                                            <p:txEl>
                                              <p:pRg st="1" end="1"/>
                                            </p:txEl>
                                          </p:spTgt>
                                        </p:tgtEl>
                                        <p:attrNameLst>
                                          <p:attrName>style.visibility</p:attrName>
                                        </p:attrNameLst>
                                      </p:cBhvr>
                                      <p:to>
                                        <p:strVal val="visible"/>
                                      </p:to>
                                    </p:set>
                                    <p:animEffect transition="in" filter="blinds(horizontal)">
                                      <p:cBhvr>
                                        <p:cTn id="10" dur="500"/>
                                        <p:tgtEl>
                                          <p:spTgt spid="52838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28387">
                                            <p:txEl>
                                              <p:pRg st="2" end="2"/>
                                            </p:txEl>
                                          </p:spTgt>
                                        </p:tgtEl>
                                        <p:attrNameLst>
                                          <p:attrName>style.visibility</p:attrName>
                                        </p:attrNameLst>
                                      </p:cBhvr>
                                      <p:to>
                                        <p:strVal val="visible"/>
                                      </p:to>
                                    </p:set>
                                    <p:animEffect transition="in" filter="blinds(horizontal)">
                                      <p:cBhvr>
                                        <p:cTn id="13" dur="500"/>
                                        <p:tgtEl>
                                          <p:spTgt spid="52838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28387">
                                            <p:txEl>
                                              <p:pRg st="3" end="3"/>
                                            </p:txEl>
                                          </p:spTgt>
                                        </p:tgtEl>
                                        <p:attrNameLst>
                                          <p:attrName>style.visibility</p:attrName>
                                        </p:attrNameLst>
                                      </p:cBhvr>
                                      <p:to>
                                        <p:strVal val="visible"/>
                                      </p:to>
                                    </p:set>
                                    <p:animEffect transition="in" filter="blinds(horizontal)">
                                      <p:cBhvr>
                                        <p:cTn id="16" dur="500"/>
                                        <p:tgtEl>
                                          <p:spTgt spid="528387">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28387">
                                            <p:txEl>
                                              <p:pRg st="4" end="4"/>
                                            </p:txEl>
                                          </p:spTgt>
                                        </p:tgtEl>
                                        <p:attrNameLst>
                                          <p:attrName>style.visibility</p:attrName>
                                        </p:attrNameLst>
                                      </p:cBhvr>
                                      <p:to>
                                        <p:strVal val="visible"/>
                                      </p:to>
                                    </p:set>
                                    <p:animEffect transition="in" filter="blinds(horizontal)">
                                      <p:cBhvr>
                                        <p:cTn id="19" dur="500"/>
                                        <p:tgtEl>
                                          <p:spTgt spid="528387">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28387">
                                            <p:txEl>
                                              <p:pRg st="5" end="5"/>
                                            </p:txEl>
                                          </p:spTgt>
                                        </p:tgtEl>
                                        <p:attrNameLst>
                                          <p:attrName>style.visibility</p:attrName>
                                        </p:attrNameLst>
                                      </p:cBhvr>
                                      <p:to>
                                        <p:strVal val="visible"/>
                                      </p:to>
                                    </p:set>
                                    <p:animEffect transition="in" filter="blinds(horizontal)">
                                      <p:cBhvr>
                                        <p:cTn id="22" dur="500"/>
                                        <p:tgtEl>
                                          <p:spTgt spid="5283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5564534" y="1052736"/>
            <a:ext cx="3909120" cy="1143000"/>
          </a:xfrm>
        </p:spPr>
        <p:txBody>
          <a:bodyPr/>
          <a:lstStyle/>
          <a:p>
            <a:pPr eaLnBrk="1" hangingPunct="1"/>
            <a:r>
              <a:rPr lang="zh-CN" altLang="en-US" sz="2800" dirty="0">
                <a:latin typeface="楷体_GB2312" pitchFamily="49" charset="-122"/>
                <a:ea typeface="楷体_GB2312" pitchFamily="49" charset="-122"/>
              </a:rPr>
              <a:t>系统调用号</a:t>
            </a:r>
          </a:p>
        </p:txBody>
      </p:sp>
      <p:sp>
        <p:nvSpPr>
          <p:cNvPr id="35843" name="Rectangle 3"/>
          <p:cNvSpPr>
            <a:spLocks noGrp="1" noChangeArrowheads="1"/>
          </p:cNvSpPr>
          <p:nvPr>
            <p:ph type="body" idx="1"/>
          </p:nvPr>
        </p:nvSpPr>
        <p:spPr>
          <a:xfrm>
            <a:off x="457200" y="1143000"/>
            <a:ext cx="5770563" cy="5334000"/>
          </a:xfrm>
          <a:solidFill>
            <a:srgbClr val="A5F9EB"/>
          </a:solidFill>
        </p:spPr>
        <p:txBody>
          <a:bodyPr/>
          <a:lstStyle/>
          <a:p>
            <a:pPr eaLnBrk="1" hangingPunct="1">
              <a:lnSpc>
                <a:spcPct val="90000"/>
              </a:lnSpc>
              <a:buFont typeface="Arial" panose="020B0604020202020204" pitchFamily="34" charset="0"/>
              <a:buChar char="•"/>
            </a:pPr>
            <a:r>
              <a:rPr lang="en-US" altLang="zh-CN" sz="2400" b="0" dirty="0">
                <a:solidFill>
                  <a:srgbClr val="070F17"/>
                </a:solidFill>
                <a:latin typeface="楷体_GB2312" pitchFamily="49" charset="-122"/>
                <a:ea typeface="楷体_GB2312" pitchFamily="49" charset="-122"/>
              </a:rPr>
              <a:t>#define __</a:t>
            </a:r>
            <a:r>
              <a:rPr lang="en-US" altLang="zh-CN" sz="2400" b="0" dirty="0" err="1">
                <a:solidFill>
                  <a:srgbClr val="070F17"/>
                </a:solidFill>
                <a:latin typeface="楷体_GB2312" pitchFamily="49" charset="-122"/>
                <a:ea typeface="楷体_GB2312" pitchFamily="49" charset="-122"/>
              </a:rPr>
              <a:t>NR_exit</a:t>
            </a:r>
            <a:r>
              <a:rPr lang="en-US" altLang="zh-CN" sz="2400" b="0" dirty="0">
                <a:solidFill>
                  <a:srgbClr val="070F17"/>
                </a:solidFill>
                <a:latin typeface="楷体_GB2312" pitchFamily="49" charset="-122"/>
                <a:ea typeface="楷体_GB2312" pitchFamily="49" charset="-122"/>
              </a:rPr>
              <a:t>     1</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NR_fork</a:t>
            </a:r>
            <a:r>
              <a:rPr lang="en-US" altLang="zh-CN" sz="2300" b="0" dirty="0">
                <a:solidFill>
                  <a:srgbClr val="070F17"/>
                </a:solidFill>
                <a:latin typeface="楷体_GB2312" pitchFamily="49" charset="-122"/>
                <a:ea typeface="楷体_GB2312" pitchFamily="49" charset="-122"/>
              </a:rPr>
              <a:t>      2</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NR_read</a:t>
            </a:r>
            <a:r>
              <a:rPr lang="en-US" altLang="zh-CN" sz="2300" b="0" dirty="0">
                <a:solidFill>
                  <a:srgbClr val="070F17"/>
                </a:solidFill>
                <a:latin typeface="楷体_GB2312" pitchFamily="49" charset="-122"/>
                <a:ea typeface="楷体_GB2312" pitchFamily="49" charset="-122"/>
              </a:rPr>
              <a:t>      3</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NR_write</a:t>
            </a:r>
            <a:r>
              <a:rPr lang="en-US" altLang="zh-CN" sz="2300" b="0" dirty="0">
                <a:solidFill>
                  <a:srgbClr val="070F17"/>
                </a:solidFill>
                <a:latin typeface="楷体_GB2312" pitchFamily="49" charset="-122"/>
                <a:ea typeface="楷体_GB2312" pitchFamily="49" charset="-122"/>
              </a:rPr>
              <a:t>     4</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NR_open</a:t>
            </a:r>
            <a:r>
              <a:rPr lang="en-US" altLang="zh-CN" sz="2300" b="0" dirty="0">
                <a:solidFill>
                  <a:srgbClr val="070F17"/>
                </a:solidFill>
                <a:latin typeface="楷体_GB2312" pitchFamily="49" charset="-122"/>
                <a:ea typeface="楷体_GB2312" pitchFamily="49" charset="-122"/>
              </a:rPr>
              <a:t>      5</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NR_close</a:t>
            </a:r>
            <a:r>
              <a:rPr lang="en-US" altLang="zh-CN" sz="2300" b="0" dirty="0">
                <a:solidFill>
                  <a:srgbClr val="070F17"/>
                </a:solidFill>
                <a:latin typeface="楷体_GB2312" pitchFamily="49" charset="-122"/>
                <a:ea typeface="楷体_GB2312" pitchFamily="49" charset="-122"/>
              </a:rPr>
              <a:t>     6</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NR_waitpid</a:t>
            </a:r>
            <a:r>
              <a:rPr lang="en-US" altLang="zh-CN" sz="2300" b="0" dirty="0">
                <a:solidFill>
                  <a:srgbClr val="070F17"/>
                </a:solidFill>
                <a:latin typeface="楷体_GB2312" pitchFamily="49" charset="-122"/>
                <a:ea typeface="楷体_GB2312" pitchFamily="49" charset="-122"/>
              </a:rPr>
              <a:t>   7</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NR_creat</a:t>
            </a:r>
            <a:r>
              <a:rPr lang="en-US" altLang="zh-CN" sz="2300" b="0" dirty="0">
                <a:solidFill>
                  <a:srgbClr val="070F17"/>
                </a:solidFill>
                <a:latin typeface="楷体_GB2312" pitchFamily="49" charset="-122"/>
                <a:ea typeface="楷体_GB2312" pitchFamily="49" charset="-122"/>
              </a:rPr>
              <a:t>     8</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NR_link</a:t>
            </a:r>
            <a:r>
              <a:rPr lang="en-US" altLang="zh-CN" sz="2300" b="0" dirty="0">
                <a:solidFill>
                  <a:srgbClr val="070F17"/>
                </a:solidFill>
                <a:latin typeface="楷体_GB2312" pitchFamily="49" charset="-122"/>
                <a:ea typeface="楷体_GB2312" pitchFamily="49" charset="-122"/>
              </a:rPr>
              <a:t>      9</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NR_unlink</a:t>
            </a:r>
            <a:r>
              <a:rPr lang="en-US" altLang="zh-CN" sz="2300" b="0" dirty="0">
                <a:solidFill>
                  <a:srgbClr val="070F17"/>
                </a:solidFill>
                <a:latin typeface="楷体_GB2312" pitchFamily="49" charset="-122"/>
                <a:ea typeface="楷体_GB2312" pitchFamily="49" charset="-122"/>
              </a:rPr>
              <a:t>    10</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NR_execve</a:t>
            </a:r>
            <a:r>
              <a:rPr lang="en-US" altLang="zh-CN" sz="2300" b="0" dirty="0">
                <a:solidFill>
                  <a:srgbClr val="070F17"/>
                </a:solidFill>
                <a:latin typeface="楷体_GB2312" pitchFamily="49" charset="-122"/>
                <a:ea typeface="楷体_GB2312" pitchFamily="49" charset="-122"/>
              </a:rPr>
              <a:t>    11</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NR_chdir</a:t>
            </a:r>
            <a:r>
              <a:rPr lang="en-US" altLang="zh-CN" sz="2300" b="0" dirty="0">
                <a:solidFill>
                  <a:srgbClr val="070F17"/>
                </a:solidFill>
                <a:latin typeface="楷体_GB2312" pitchFamily="49" charset="-122"/>
                <a:ea typeface="楷体_GB2312" pitchFamily="49" charset="-122"/>
              </a:rPr>
              <a:t>     12</a:t>
            </a:r>
          </a:p>
          <a:p>
            <a:pPr eaLnBrk="1" hangingPunct="1">
              <a:lnSpc>
                <a:spcPct val="90000"/>
              </a:lnSpc>
              <a:buFont typeface="Arial" panose="020B0604020202020204" pitchFamily="34" charset="0"/>
              <a:buChar char="•"/>
            </a:pPr>
            <a:r>
              <a:rPr lang="en-US" altLang="zh-CN" sz="2300" b="0" dirty="0">
                <a:solidFill>
                  <a:srgbClr val="070F17"/>
                </a:solidFill>
                <a:latin typeface="楷体_GB2312" pitchFamily="49" charset="-122"/>
                <a:ea typeface="楷体_GB2312" pitchFamily="49" charset="-122"/>
              </a:rPr>
              <a:t>#define __</a:t>
            </a:r>
            <a:r>
              <a:rPr lang="en-US" altLang="zh-CN" sz="2300" b="0" dirty="0" err="1">
                <a:solidFill>
                  <a:srgbClr val="070F17"/>
                </a:solidFill>
                <a:latin typeface="楷体_GB2312" pitchFamily="49" charset="-122"/>
                <a:ea typeface="楷体_GB2312" pitchFamily="49" charset="-122"/>
              </a:rPr>
              <a:t>NR_time</a:t>
            </a:r>
            <a:r>
              <a:rPr lang="en-US" altLang="zh-CN" sz="2300" b="0" dirty="0">
                <a:solidFill>
                  <a:srgbClr val="070F17"/>
                </a:solidFill>
                <a:latin typeface="楷体_GB2312" pitchFamily="49" charset="-122"/>
                <a:ea typeface="楷体_GB2312" pitchFamily="49" charset="-122"/>
              </a:rPr>
              <a:t>      13</a:t>
            </a:r>
          </a:p>
          <a:p>
            <a:pPr lvl="1" eaLnBrk="1" hangingPunct="1">
              <a:lnSpc>
                <a:spcPct val="90000"/>
              </a:lnSpc>
            </a:pPr>
            <a:endParaRPr lang="en-US" altLang="zh-CN" sz="2100" b="0" dirty="0">
              <a:solidFill>
                <a:srgbClr val="070F17"/>
              </a:solidFill>
              <a:latin typeface="楷体_GB2312" pitchFamily="49" charset="-122"/>
              <a:ea typeface="楷体_GB2312" pitchFamily="49" charset="-122"/>
            </a:endParaRPr>
          </a:p>
        </p:txBody>
      </p:sp>
      <p:sp>
        <p:nvSpPr>
          <p:cNvPr id="4" name="矩形 3">
            <a:extLst>
              <a:ext uri="{FF2B5EF4-FFF2-40B4-BE49-F238E27FC236}">
                <a16:creationId xmlns:a16="http://schemas.microsoft.com/office/drawing/2014/main" id="{40656786-ABBE-4A9B-8F7A-7E8D86EBB7CC}"/>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13460" y="1016794"/>
            <a:ext cx="7632700" cy="503237"/>
          </a:xfrm>
        </p:spPr>
        <p:txBody>
          <a:bodyPr/>
          <a:lstStyle/>
          <a:p>
            <a:pPr eaLnBrk="1" hangingPunct="1"/>
            <a:r>
              <a:rPr lang="zh-CN" altLang="en-US" sz="2800" dirty="0">
                <a:latin typeface="楷体_GB2312" pitchFamily="49" charset="-122"/>
                <a:ea typeface="楷体_GB2312" pitchFamily="49" charset="-122"/>
              </a:rPr>
              <a:t>系统调用表 </a:t>
            </a:r>
            <a:r>
              <a:rPr lang="en-US" altLang="zh-CN" sz="2800" b="0" dirty="0">
                <a:latin typeface="楷体_GB2312" pitchFamily="49" charset="-122"/>
                <a:ea typeface="楷体_GB2312" pitchFamily="49" charset="-122"/>
              </a:rPr>
              <a:t>(arch/i386/kernel/</a:t>
            </a:r>
            <a:r>
              <a:rPr lang="en-US" altLang="zh-CN" sz="2800" b="0" dirty="0" err="1">
                <a:latin typeface="楷体_GB2312" pitchFamily="49" charset="-122"/>
                <a:ea typeface="楷体_GB2312" pitchFamily="49" charset="-122"/>
              </a:rPr>
              <a:t>entry.s</a:t>
            </a:r>
            <a:r>
              <a:rPr lang="en-US" altLang="zh-CN" sz="2800" b="0" dirty="0">
                <a:latin typeface="楷体_GB2312" pitchFamily="49" charset="-122"/>
                <a:ea typeface="楷体_GB2312" pitchFamily="49" charset="-122"/>
              </a:rPr>
              <a:t>)</a:t>
            </a:r>
            <a:endParaRPr lang="en-US" altLang="zh-CN" sz="2800" dirty="0">
              <a:latin typeface="楷体_GB2312" pitchFamily="49" charset="-122"/>
              <a:ea typeface="楷体_GB2312" pitchFamily="49" charset="-122"/>
            </a:endParaRPr>
          </a:p>
        </p:txBody>
      </p:sp>
      <p:sp>
        <p:nvSpPr>
          <p:cNvPr id="36867" name="Rectangle 3"/>
          <p:cNvSpPr>
            <a:spLocks noGrp="1" noChangeArrowheads="1"/>
          </p:cNvSpPr>
          <p:nvPr>
            <p:ph type="body" idx="1"/>
          </p:nvPr>
        </p:nvSpPr>
        <p:spPr>
          <a:xfrm>
            <a:off x="241176" y="1628775"/>
            <a:ext cx="4114800" cy="5360987"/>
          </a:xfrm>
          <a:solidFill>
            <a:srgbClr val="51F3D8"/>
          </a:solidFill>
        </p:spPr>
        <p:txBody>
          <a:bodyPr/>
          <a:lstStyle/>
          <a:p>
            <a:pPr eaLnBrk="1" hangingPunct="1">
              <a:lnSpc>
                <a:spcPct val="80000"/>
              </a:lnSpc>
            </a:pPr>
            <a:r>
              <a:rPr lang="en-US" altLang="zh-CN" sz="1800" b="0" dirty="0">
                <a:solidFill>
                  <a:srgbClr val="070F17"/>
                </a:solidFill>
                <a:latin typeface="楷体_GB2312" pitchFamily="49" charset="-122"/>
                <a:ea typeface="楷体_GB2312" pitchFamily="49" charset="-122"/>
              </a:rPr>
              <a:t>data</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ENTRY(</a:t>
            </a:r>
            <a:r>
              <a:rPr lang="en-US" altLang="zh-CN" sz="1800" b="0" dirty="0" err="1">
                <a:solidFill>
                  <a:srgbClr val="070F17"/>
                </a:solidFill>
                <a:latin typeface="楷体_GB2312" pitchFamily="49" charset="-122"/>
                <a:ea typeface="楷体_GB2312" pitchFamily="49" charset="-122"/>
              </a:rPr>
              <a:t>sys_call_table</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sys_ni_syscall</a:t>
            </a:r>
            <a:r>
              <a:rPr lang="en-US" altLang="zh-CN" sz="1800" b="0" dirty="0">
                <a:solidFill>
                  <a:srgbClr val="070F17"/>
                </a:solidFill>
                <a:latin typeface="楷体_GB2312" pitchFamily="49" charset="-122"/>
                <a:ea typeface="楷体_GB2312" pitchFamily="49" charset="-122"/>
              </a:rPr>
              <a:t>)      </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sys_exit</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sys_fork</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sys_read</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sys_write</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sys_open</a:t>
            </a:r>
            <a:r>
              <a:rPr lang="en-US" altLang="zh-CN" sz="1800" b="0" dirty="0">
                <a:solidFill>
                  <a:srgbClr val="070F17"/>
                </a:solidFill>
                <a:latin typeface="楷体_GB2312" pitchFamily="49" charset="-122"/>
                <a:ea typeface="楷体_GB2312" pitchFamily="49" charset="-122"/>
              </a:rPr>
              <a:t>)                  </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sys_close</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sys_waitpid</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sys_creat</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sys_link</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sys_unlink</a:t>
            </a:r>
            <a:r>
              <a:rPr lang="en-US" altLang="zh-CN" sz="1800" b="0" dirty="0">
                <a:solidFill>
                  <a:srgbClr val="070F17"/>
                </a:solidFill>
                <a:latin typeface="楷体_GB2312" pitchFamily="49" charset="-122"/>
                <a:ea typeface="楷体_GB2312" pitchFamily="49" charset="-122"/>
              </a:rPr>
              <a:t>)                </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sys_execve</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sys_chdir</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sys_time</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1800" b="0" dirty="0">
                <a:solidFill>
                  <a:srgbClr val="070F17"/>
                </a:solidFill>
                <a:latin typeface="楷体_GB2312" pitchFamily="49" charset="-122"/>
                <a:ea typeface="楷体_GB2312" pitchFamily="49" charset="-122"/>
              </a:rPr>
              <a:t>.long SYMBOL_NAME(</a:t>
            </a:r>
            <a:r>
              <a:rPr lang="en-US" altLang="zh-CN" sz="1800" b="0" dirty="0" err="1">
                <a:solidFill>
                  <a:srgbClr val="070F17"/>
                </a:solidFill>
                <a:latin typeface="楷体_GB2312" pitchFamily="49" charset="-122"/>
                <a:ea typeface="楷体_GB2312" pitchFamily="49" charset="-122"/>
              </a:rPr>
              <a:t>sys_mknod</a:t>
            </a:r>
            <a:r>
              <a:rPr lang="en-US" altLang="zh-CN" sz="1800" b="0" dirty="0">
                <a:solidFill>
                  <a:srgbClr val="070F17"/>
                </a:solidFill>
                <a:latin typeface="楷体_GB2312" pitchFamily="49" charset="-122"/>
                <a:ea typeface="楷体_GB2312" pitchFamily="49" charset="-122"/>
              </a:rPr>
              <a:t>)</a:t>
            </a:r>
            <a:endParaRPr lang="en-US" altLang="zh-CN" sz="1800" dirty="0">
              <a:solidFill>
                <a:srgbClr val="070F17"/>
              </a:solidFill>
              <a:latin typeface="楷体_GB2312" pitchFamily="49" charset="-122"/>
              <a:ea typeface="楷体_GB2312" pitchFamily="49" charset="-122"/>
            </a:endParaRPr>
          </a:p>
        </p:txBody>
      </p:sp>
      <p:sp>
        <p:nvSpPr>
          <p:cNvPr id="228356" name="Text Box 4"/>
          <p:cNvSpPr txBox="1">
            <a:spLocks noChangeArrowheads="1"/>
          </p:cNvSpPr>
          <p:nvPr/>
        </p:nvSpPr>
        <p:spPr bwMode="auto">
          <a:xfrm>
            <a:off x="4355976" y="1628775"/>
            <a:ext cx="4680520" cy="3748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lnSpc>
                <a:spcPct val="120000"/>
              </a:lnSpc>
              <a:buClrTx/>
              <a:buFontTx/>
              <a:buAutoNum type="arabicPeriod"/>
            </a:pPr>
            <a:r>
              <a:rPr lang="zh-CN" altLang="en-US" sz="2400" dirty="0">
                <a:solidFill>
                  <a:srgbClr val="8B3A21"/>
                </a:solidFill>
                <a:latin typeface="楷体_GB2312" pitchFamily="49" charset="-122"/>
                <a:ea typeface="楷体_GB2312" pitchFamily="49" charset="-122"/>
              </a:rPr>
              <a:t>系统调用表</a:t>
            </a:r>
            <a:r>
              <a:rPr lang="zh-CN" altLang="en-US" sz="2400" dirty="0">
                <a:solidFill>
                  <a:schemeClr val="tx1"/>
                </a:solidFill>
                <a:latin typeface="楷体_GB2312" pitchFamily="49" charset="-122"/>
                <a:ea typeface="楷体_GB2312" pitchFamily="49" charset="-122"/>
              </a:rPr>
              <a:t>记录了各个系统调用的服务例程的入口地址。</a:t>
            </a:r>
          </a:p>
          <a:p>
            <a:pPr eaLnBrk="1" hangingPunct="1">
              <a:lnSpc>
                <a:spcPct val="120000"/>
              </a:lnSpc>
              <a:buClrTx/>
              <a:buFontTx/>
              <a:buAutoNum type="arabicPeriod"/>
            </a:pPr>
            <a:r>
              <a:rPr lang="zh-CN" altLang="en-US" sz="2400" dirty="0">
                <a:solidFill>
                  <a:srgbClr val="8B3A21"/>
                </a:solidFill>
                <a:latin typeface="楷体_GB2312" pitchFamily="49" charset="-122"/>
                <a:ea typeface="楷体_GB2312" pitchFamily="49" charset="-122"/>
              </a:rPr>
              <a:t>以系统调用号为偏移量</a:t>
            </a:r>
            <a:r>
              <a:rPr lang="zh-CN" altLang="en-US" sz="2400" dirty="0">
                <a:solidFill>
                  <a:schemeClr val="tx1"/>
                </a:solidFill>
                <a:latin typeface="楷体_GB2312" pitchFamily="49" charset="-122"/>
                <a:ea typeface="楷体_GB2312" pitchFamily="49" charset="-122"/>
              </a:rPr>
              <a:t>能够在该表中找到对应处理函数地址。</a:t>
            </a:r>
          </a:p>
          <a:p>
            <a:pPr eaLnBrk="1" hangingPunct="1">
              <a:lnSpc>
                <a:spcPct val="120000"/>
              </a:lnSpc>
              <a:buClrTx/>
              <a:buFontTx/>
              <a:buAutoNum type="arabicPeriod"/>
            </a:pPr>
            <a:r>
              <a:rPr lang="zh-CN" altLang="en-US" sz="2400" dirty="0">
                <a:solidFill>
                  <a:schemeClr val="tx1"/>
                </a:solidFill>
                <a:latin typeface="楷体_GB2312" pitchFamily="49" charset="-122"/>
                <a:ea typeface="楷体_GB2312" pitchFamily="49" charset="-122"/>
              </a:rPr>
              <a:t>在</a:t>
            </a:r>
            <a:r>
              <a:rPr lang="en-US" altLang="zh-CN" sz="2400" dirty="0" err="1">
                <a:solidFill>
                  <a:schemeClr val="tx1"/>
                </a:solidFill>
                <a:latin typeface="楷体_GB2312" pitchFamily="49" charset="-122"/>
                <a:ea typeface="楷体_GB2312" pitchFamily="49" charset="-122"/>
              </a:rPr>
              <a:t>linux</a:t>
            </a:r>
            <a:r>
              <a:rPr lang="en-US" altLang="zh-CN" sz="2400" dirty="0">
                <a:solidFill>
                  <a:schemeClr val="tx1"/>
                </a:solidFill>
                <a:latin typeface="楷体_GB2312" pitchFamily="49" charset="-122"/>
                <a:ea typeface="楷体_GB2312" pitchFamily="49" charset="-122"/>
              </a:rPr>
              <a:t>/include/</a:t>
            </a:r>
            <a:r>
              <a:rPr lang="en-US" altLang="zh-CN" sz="2400" dirty="0" err="1">
                <a:solidFill>
                  <a:schemeClr val="tx1"/>
                </a:solidFill>
                <a:latin typeface="楷体_GB2312" pitchFamily="49" charset="-122"/>
                <a:ea typeface="楷体_GB2312" pitchFamily="49" charset="-122"/>
              </a:rPr>
              <a:t>linux</a:t>
            </a:r>
            <a:r>
              <a:rPr lang="en-US" altLang="zh-CN" sz="2400" dirty="0">
                <a:solidFill>
                  <a:schemeClr val="tx1"/>
                </a:solidFill>
                <a:latin typeface="楷体_GB2312" pitchFamily="49" charset="-122"/>
                <a:ea typeface="楷体_GB2312" pitchFamily="49" charset="-122"/>
              </a:rPr>
              <a:t>/</a:t>
            </a:r>
            <a:r>
              <a:rPr lang="en-US" altLang="zh-CN" sz="2400" dirty="0" err="1">
                <a:solidFill>
                  <a:schemeClr val="tx1"/>
                </a:solidFill>
                <a:latin typeface="楷体_GB2312" pitchFamily="49" charset="-122"/>
                <a:ea typeface="楷体_GB2312" pitchFamily="49" charset="-122"/>
              </a:rPr>
              <a:t>sys.h</a:t>
            </a:r>
            <a:r>
              <a:rPr lang="zh-CN" altLang="en-US" sz="2400" dirty="0">
                <a:solidFill>
                  <a:schemeClr val="tx1"/>
                </a:solidFill>
                <a:latin typeface="楷体_GB2312" pitchFamily="49" charset="-122"/>
                <a:ea typeface="楷体_GB2312" pitchFamily="49" charset="-122"/>
              </a:rPr>
              <a:t>中定义的</a:t>
            </a:r>
            <a:r>
              <a:rPr lang="en-US" altLang="zh-CN" sz="2400" dirty="0" err="1">
                <a:solidFill>
                  <a:srgbClr val="8B3A21"/>
                </a:solidFill>
                <a:latin typeface="楷体_GB2312" pitchFamily="49" charset="-122"/>
                <a:ea typeface="楷体_GB2312" pitchFamily="49" charset="-122"/>
              </a:rPr>
              <a:t>NR_syscalls</a:t>
            </a:r>
            <a:r>
              <a:rPr lang="zh-CN" altLang="en-US" sz="2400" dirty="0">
                <a:solidFill>
                  <a:schemeClr val="tx1"/>
                </a:solidFill>
                <a:latin typeface="楷体_GB2312" pitchFamily="49" charset="-122"/>
                <a:ea typeface="楷体_GB2312" pitchFamily="49" charset="-122"/>
              </a:rPr>
              <a:t>表示该表能容纳的最大系统调用数，一般</a:t>
            </a:r>
            <a:r>
              <a:rPr lang="en-US" altLang="zh-CN" sz="2400" dirty="0" err="1">
                <a:solidFill>
                  <a:schemeClr val="tx1"/>
                </a:solidFill>
                <a:latin typeface="楷体_GB2312" pitchFamily="49" charset="-122"/>
                <a:ea typeface="楷体_GB2312" pitchFamily="49" charset="-122"/>
              </a:rPr>
              <a:t>NR_syscalls</a:t>
            </a:r>
            <a:r>
              <a:rPr lang="en-US" altLang="zh-CN" sz="2400" dirty="0">
                <a:solidFill>
                  <a:schemeClr val="tx1"/>
                </a:solidFill>
                <a:latin typeface="楷体_GB2312" pitchFamily="49" charset="-122"/>
                <a:ea typeface="楷体_GB2312" pitchFamily="49" charset="-122"/>
              </a:rPr>
              <a:t> = 256</a:t>
            </a:r>
            <a:r>
              <a:rPr lang="zh-CN" altLang="en-US" sz="2400" dirty="0">
                <a:solidFill>
                  <a:schemeClr val="tx1"/>
                </a:solidFill>
                <a:latin typeface="楷体_GB2312" pitchFamily="49" charset="-122"/>
                <a:ea typeface="楷体_GB2312" pitchFamily="49" charset="-122"/>
              </a:rPr>
              <a:t>。</a:t>
            </a:r>
            <a:endParaRPr lang="zh-CN" altLang="en-US" sz="2000" dirty="0">
              <a:solidFill>
                <a:schemeClr val="tx1"/>
              </a:solidFill>
              <a:latin typeface="楷体_GB2312" pitchFamily="49" charset="-122"/>
              <a:ea typeface="楷体_GB2312" pitchFamily="49" charset="-122"/>
            </a:endParaRPr>
          </a:p>
        </p:txBody>
      </p:sp>
      <p:sp>
        <p:nvSpPr>
          <p:cNvPr id="5" name="矩形 4">
            <a:extLst>
              <a:ext uri="{FF2B5EF4-FFF2-40B4-BE49-F238E27FC236}">
                <a16:creationId xmlns:a16="http://schemas.microsoft.com/office/drawing/2014/main" id="{717BCDDB-916F-47B4-B9E1-71F2546635F7}"/>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83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6"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ChangeArrowheads="1"/>
          </p:cNvSpPr>
          <p:nvPr/>
        </p:nvSpPr>
        <p:spPr bwMode="auto">
          <a:xfrm>
            <a:off x="2438400" y="2343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lnSpc>
                <a:spcPct val="90000"/>
              </a:lnSpc>
              <a:buFont typeface="Wingdings" panose="05000000000000000000" pitchFamily="2" charset="2"/>
              <a:buNone/>
            </a:pPr>
            <a:endParaRPr lang="zh-CN" altLang="en-US" sz="1400">
              <a:latin typeface="楷体_GB2312" pitchFamily="49" charset="-122"/>
              <a:ea typeface="楷体_GB2312" pitchFamily="49" charset="-122"/>
            </a:endParaRPr>
          </a:p>
        </p:txBody>
      </p:sp>
      <p:graphicFrame>
        <p:nvGraphicFramePr>
          <p:cNvPr id="37892" name="Object 4"/>
          <p:cNvGraphicFramePr>
            <a:graphicFrameLocks noChangeAspect="1"/>
          </p:cNvGraphicFramePr>
          <p:nvPr>
            <p:extLst>
              <p:ext uri="{D42A27DB-BD31-4B8C-83A1-F6EECF244321}">
                <p14:modId xmlns:p14="http://schemas.microsoft.com/office/powerpoint/2010/main" val="199093512"/>
              </p:ext>
            </p:extLst>
          </p:nvPr>
        </p:nvGraphicFramePr>
        <p:xfrm>
          <a:off x="304800" y="2089298"/>
          <a:ext cx="8574088" cy="4364038"/>
        </p:xfrm>
        <a:graphic>
          <a:graphicData uri="http://schemas.openxmlformats.org/presentationml/2006/ole">
            <mc:AlternateContent xmlns:mc="http://schemas.openxmlformats.org/markup-compatibility/2006">
              <mc:Choice xmlns:v="urn:schemas-microsoft-com:vml" Requires="v">
                <p:oleObj spid="_x0000_s37906" r:id="rId3" imgW="4080978" imgH="2057625" progId="Visio.Drawing.6">
                  <p:embed/>
                </p:oleObj>
              </mc:Choice>
              <mc:Fallback>
                <p:oleObj r:id="rId3" imgW="4080978" imgH="2057625"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089298"/>
                        <a:ext cx="8574088" cy="43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2">
            <a:extLst>
              <a:ext uri="{FF2B5EF4-FFF2-40B4-BE49-F238E27FC236}">
                <a16:creationId xmlns:a16="http://schemas.microsoft.com/office/drawing/2014/main" id="{6A6B0199-D18E-410D-AACE-E2B693B6C40F}"/>
              </a:ext>
            </a:extLst>
          </p:cNvPr>
          <p:cNvSpPr txBox="1">
            <a:spLocks noChangeArrowheads="1"/>
          </p:cNvSpPr>
          <p:nvPr/>
        </p:nvSpPr>
        <p:spPr>
          <a:xfrm>
            <a:off x="113460" y="1016794"/>
            <a:ext cx="7632700" cy="503237"/>
          </a:xfrm>
          <a:prstGeom prst="rect">
            <a:avLst/>
          </a:prstGeom>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zh-CN" altLang="en-US" sz="2800" kern="0">
                <a:latin typeface="楷体_GB2312" pitchFamily="49" charset="-122"/>
                <a:ea typeface="楷体_GB2312" pitchFamily="49" charset="-122"/>
              </a:rPr>
              <a:t>系统调用表 </a:t>
            </a:r>
            <a:r>
              <a:rPr lang="en-US" altLang="zh-CN" sz="2800" b="0" kern="0">
                <a:latin typeface="楷体_GB2312" pitchFamily="49" charset="-122"/>
                <a:ea typeface="楷体_GB2312" pitchFamily="49" charset="-122"/>
              </a:rPr>
              <a:t>(arch/i386/kernel/entry.s)</a:t>
            </a:r>
            <a:endParaRPr lang="en-US" altLang="zh-CN" sz="2800" kern="0" dirty="0">
              <a:latin typeface="楷体_GB2312" pitchFamily="49" charset="-122"/>
              <a:ea typeface="楷体_GB2312" pitchFamily="49" charset="-122"/>
            </a:endParaRPr>
          </a:p>
        </p:txBody>
      </p:sp>
      <p:sp>
        <p:nvSpPr>
          <p:cNvPr id="6" name="矩形 5">
            <a:extLst>
              <a:ext uri="{FF2B5EF4-FFF2-40B4-BE49-F238E27FC236}">
                <a16:creationId xmlns:a16="http://schemas.microsoft.com/office/drawing/2014/main" id="{206C620B-4AEE-415B-A141-09FEC4140408}"/>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3" name="Rectangle 3"/>
          <p:cNvSpPr>
            <a:spLocks noGrp="1" noChangeArrowheads="1"/>
          </p:cNvSpPr>
          <p:nvPr>
            <p:ph type="body" idx="1"/>
          </p:nvPr>
        </p:nvSpPr>
        <p:spPr>
          <a:xfrm>
            <a:off x="426244" y="1124744"/>
            <a:ext cx="8291512" cy="5272088"/>
          </a:xfrm>
        </p:spPr>
        <p:txBody>
          <a:bodyPr/>
          <a:lstStyle/>
          <a:p>
            <a:pPr eaLnBrk="1" hangingPunct="1">
              <a:buFont typeface="Arial" panose="020B0604020202020204" pitchFamily="34" charset="0"/>
              <a:buChar char="•"/>
            </a:pPr>
            <a:r>
              <a:rPr lang="zh-CN" altLang="en-US" dirty="0">
                <a:solidFill>
                  <a:srgbClr val="FF0000"/>
                </a:solidFill>
                <a:latin typeface="楷体_GB2312" pitchFamily="49" charset="-122"/>
                <a:ea typeface="楷体_GB2312" pitchFamily="49" charset="-122"/>
              </a:rPr>
              <a:t>系统调用的返回</a:t>
            </a:r>
            <a:endParaRPr lang="en-US" altLang="zh-CN" dirty="0">
              <a:solidFill>
                <a:srgbClr val="FF0000"/>
              </a:solidFill>
              <a:latin typeface="楷体_GB2312" pitchFamily="49" charset="-122"/>
              <a:ea typeface="楷体_GB2312" pitchFamily="49" charset="-122"/>
            </a:endParaRPr>
          </a:p>
          <a:p>
            <a:pPr lvl="1" eaLnBrk="1" hangingPunct="1">
              <a:buFont typeface="Arial" panose="020B0604020202020204" pitchFamily="34" charset="0"/>
              <a:buChar char="•"/>
            </a:pPr>
            <a:r>
              <a:rPr lang="zh-CN" altLang="en-US" dirty="0">
                <a:solidFill>
                  <a:schemeClr val="accent6">
                    <a:lumMod val="75000"/>
                  </a:schemeClr>
                </a:solidFill>
                <a:latin typeface="楷体_GB2312" pitchFamily="49" charset="-122"/>
                <a:ea typeface="楷体_GB2312" pitchFamily="49" charset="-122"/>
              </a:rPr>
              <a:t>当服务例程结束时，</a:t>
            </a:r>
            <a:r>
              <a:rPr lang="en-US" altLang="zh-CN" dirty="0" err="1">
                <a:solidFill>
                  <a:schemeClr val="accent6">
                    <a:lumMod val="75000"/>
                  </a:schemeClr>
                </a:solidFill>
                <a:latin typeface="楷体_GB2312" pitchFamily="49" charset="-122"/>
                <a:ea typeface="楷体_GB2312" pitchFamily="49" charset="-122"/>
              </a:rPr>
              <a:t>system_call</a:t>
            </a:r>
            <a:r>
              <a:rPr lang="en-US" altLang="zh-CN" dirty="0">
                <a:solidFill>
                  <a:schemeClr val="accent6">
                    <a:lumMod val="75000"/>
                  </a:schemeClr>
                </a:solidFill>
                <a:latin typeface="楷体_GB2312" pitchFamily="49" charset="-122"/>
                <a:ea typeface="楷体_GB2312" pitchFamily="49" charset="-122"/>
              </a:rPr>
              <a:t>( ) </a:t>
            </a:r>
            <a:r>
              <a:rPr lang="zh-CN" altLang="en-US" dirty="0">
                <a:solidFill>
                  <a:schemeClr val="accent6">
                    <a:lumMod val="75000"/>
                  </a:schemeClr>
                </a:solidFill>
                <a:latin typeface="楷体_GB2312" pitchFamily="49" charset="-122"/>
                <a:ea typeface="楷体_GB2312" pitchFamily="49" charset="-122"/>
              </a:rPr>
              <a:t>从</a:t>
            </a:r>
            <a:r>
              <a:rPr lang="en-US" altLang="zh-CN" dirty="0" err="1">
                <a:solidFill>
                  <a:schemeClr val="accent6">
                    <a:lumMod val="75000"/>
                  </a:schemeClr>
                </a:solidFill>
                <a:latin typeface="楷体_GB2312" pitchFamily="49" charset="-122"/>
                <a:ea typeface="楷体_GB2312" pitchFamily="49" charset="-122"/>
              </a:rPr>
              <a:t>eax</a:t>
            </a:r>
            <a:r>
              <a:rPr lang="zh-CN" altLang="en-US" dirty="0">
                <a:solidFill>
                  <a:schemeClr val="accent6">
                    <a:lumMod val="75000"/>
                  </a:schemeClr>
                </a:solidFill>
                <a:latin typeface="楷体_GB2312" pitchFamily="49" charset="-122"/>
                <a:ea typeface="楷体_GB2312" pitchFamily="49" charset="-122"/>
              </a:rPr>
              <a:t>寄存器获得系统调用的返回值，并把这个返回值存放在曾保存用户态</a:t>
            </a:r>
            <a:r>
              <a:rPr lang="en-US" altLang="zh-CN" dirty="0" err="1">
                <a:solidFill>
                  <a:schemeClr val="accent6">
                    <a:lumMod val="75000"/>
                  </a:schemeClr>
                </a:solidFill>
                <a:latin typeface="楷体_GB2312" pitchFamily="49" charset="-122"/>
                <a:ea typeface="楷体_GB2312" pitchFamily="49" charset="-122"/>
              </a:rPr>
              <a:t>eax</a:t>
            </a:r>
            <a:r>
              <a:rPr lang="zh-CN" altLang="en-US" dirty="0">
                <a:solidFill>
                  <a:schemeClr val="accent6">
                    <a:lumMod val="75000"/>
                  </a:schemeClr>
                </a:solidFill>
                <a:latin typeface="楷体_GB2312" pitchFamily="49" charset="-122"/>
                <a:ea typeface="楷体_GB2312" pitchFamily="49" charset="-122"/>
              </a:rPr>
              <a:t>寄存器栈单元的那个位置上，然后跳转到</a:t>
            </a:r>
            <a:r>
              <a:rPr lang="en-US" altLang="zh-CN" dirty="0" err="1">
                <a:solidFill>
                  <a:schemeClr val="accent6">
                    <a:lumMod val="75000"/>
                  </a:schemeClr>
                </a:solidFill>
                <a:latin typeface="楷体_GB2312" pitchFamily="49" charset="-122"/>
                <a:ea typeface="楷体_GB2312" pitchFamily="49" charset="-122"/>
              </a:rPr>
              <a:t>ret_from_sys_call</a:t>
            </a:r>
            <a:r>
              <a:rPr lang="en-US" altLang="zh-CN" dirty="0">
                <a:solidFill>
                  <a:schemeClr val="accent6">
                    <a:lumMod val="75000"/>
                  </a:schemeClr>
                </a:solidFill>
                <a:latin typeface="楷体_GB2312" pitchFamily="49" charset="-122"/>
                <a:ea typeface="楷体_GB2312" pitchFamily="49" charset="-122"/>
              </a:rPr>
              <a:t>( )</a:t>
            </a:r>
            <a:r>
              <a:rPr lang="zh-CN" altLang="en-US" dirty="0">
                <a:solidFill>
                  <a:schemeClr val="accent6">
                    <a:lumMod val="75000"/>
                  </a:schemeClr>
                </a:solidFill>
                <a:latin typeface="楷体_GB2312" pitchFamily="49" charset="-122"/>
                <a:ea typeface="楷体_GB2312" pitchFamily="49" charset="-122"/>
              </a:rPr>
              <a:t>，终止系统调用处理程序的执行。</a:t>
            </a:r>
          </a:p>
          <a:p>
            <a:pPr lvl="1" eaLnBrk="1" hangingPunct="1">
              <a:buFont typeface="Arial" panose="020B0604020202020204" pitchFamily="34" charset="0"/>
              <a:buChar char="•"/>
            </a:pPr>
            <a:r>
              <a:rPr lang="zh-CN" altLang="en-US" dirty="0">
                <a:solidFill>
                  <a:schemeClr val="accent6">
                    <a:lumMod val="75000"/>
                  </a:schemeClr>
                </a:solidFill>
                <a:latin typeface="楷体_GB2312" pitchFamily="49" charset="-122"/>
                <a:ea typeface="楷体_GB2312" pitchFamily="49" charset="-122"/>
              </a:rPr>
              <a:t>当进程恢复它在用户态的执行前，</a:t>
            </a:r>
            <a:r>
              <a:rPr lang="en-US" altLang="zh-CN" dirty="0">
                <a:solidFill>
                  <a:schemeClr val="accent6">
                    <a:lumMod val="75000"/>
                  </a:schemeClr>
                </a:solidFill>
                <a:latin typeface="楷体_GB2312" pitchFamily="49" charset="-122"/>
                <a:ea typeface="楷体_GB2312" pitchFamily="49" charset="-122"/>
              </a:rPr>
              <a:t>RESTORE_ALL</a:t>
            </a:r>
            <a:r>
              <a:rPr lang="zh-CN" altLang="en-US" dirty="0">
                <a:solidFill>
                  <a:schemeClr val="accent6">
                    <a:lumMod val="75000"/>
                  </a:schemeClr>
                </a:solidFill>
                <a:latin typeface="楷体_GB2312" pitchFamily="49" charset="-122"/>
                <a:ea typeface="楷体_GB2312" pitchFamily="49" charset="-122"/>
              </a:rPr>
              <a:t>宏会恢复用户进入内核前被保留到堆栈中的寄存器值。其中</a:t>
            </a:r>
            <a:r>
              <a:rPr lang="en-US" altLang="zh-CN" dirty="0" err="1">
                <a:solidFill>
                  <a:schemeClr val="accent6">
                    <a:lumMod val="75000"/>
                  </a:schemeClr>
                </a:solidFill>
                <a:latin typeface="楷体_GB2312" pitchFamily="49" charset="-122"/>
                <a:ea typeface="楷体_GB2312" pitchFamily="49" charset="-122"/>
              </a:rPr>
              <a:t>eax</a:t>
            </a:r>
            <a:r>
              <a:rPr lang="zh-CN" altLang="en-US" dirty="0">
                <a:solidFill>
                  <a:schemeClr val="accent6">
                    <a:lumMod val="75000"/>
                  </a:schemeClr>
                </a:solidFill>
                <a:latin typeface="楷体_GB2312" pitchFamily="49" charset="-122"/>
                <a:ea typeface="楷体_GB2312" pitchFamily="49" charset="-122"/>
              </a:rPr>
              <a:t>返回时会带回系统调用的返回码（负数说明调用错误，</a:t>
            </a:r>
            <a:r>
              <a:rPr lang="en-US" altLang="zh-CN" dirty="0">
                <a:solidFill>
                  <a:schemeClr val="accent6">
                    <a:lumMod val="75000"/>
                  </a:schemeClr>
                </a:solidFill>
                <a:latin typeface="楷体_GB2312" pitchFamily="49" charset="-122"/>
                <a:ea typeface="楷体_GB2312" pitchFamily="49" charset="-122"/>
              </a:rPr>
              <a:t>0</a:t>
            </a:r>
            <a:r>
              <a:rPr lang="zh-CN" altLang="en-US" dirty="0">
                <a:solidFill>
                  <a:schemeClr val="accent6">
                    <a:lumMod val="75000"/>
                  </a:schemeClr>
                </a:solidFill>
                <a:latin typeface="楷体_GB2312" pitchFamily="49" charset="-122"/>
                <a:ea typeface="楷体_GB2312" pitchFamily="49" charset="-122"/>
              </a:rPr>
              <a:t>或正数说明正常完成）</a:t>
            </a:r>
          </a:p>
        </p:txBody>
      </p:sp>
      <p:sp>
        <p:nvSpPr>
          <p:cNvPr id="4" name="矩形 3">
            <a:extLst>
              <a:ext uri="{FF2B5EF4-FFF2-40B4-BE49-F238E27FC236}">
                <a16:creationId xmlns:a16="http://schemas.microsoft.com/office/drawing/2014/main" id="{610AE92D-B658-4D95-949B-FF96D64F5DC5}"/>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04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04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304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bldLvl="2"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ChangeArrowheads="1"/>
          </p:cNvSpPr>
          <p:nvPr/>
        </p:nvSpPr>
        <p:spPr bwMode="auto">
          <a:xfrm>
            <a:off x="-1476672" y="836712"/>
            <a:ext cx="8229600" cy="584775"/>
          </a:xfrm>
          <a:prstGeom prst="rect">
            <a:avLst/>
          </a:prstGeom>
          <a:noFill/>
          <a:ln w="9525">
            <a:noFill/>
            <a:miter lim="800000"/>
            <a:headEnd/>
            <a:tailEnd/>
          </a:ln>
          <a:effectLst/>
        </p:spPr>
        <p:txBody>
          <a:bodyPr anchor="ctr" anchorCtr="1"/>
          <a:lstStyle/>
          <a:p>
            <a:pPr algn="ctr" eaLnBrk="1" hangingPunct="1">
              <a:defRPr/>
            </a:pPr>
            <a:r>
              <a:rPr lang="en-US" altLang="zh-CN" sz="4000" dirty="0" err="1">
                <a:solidFill>
                  <a:srgbClr val="FF0000"/>
                </a:solidFill>
                <a:effectLst>
                  <a:outerShdw blurRad="38100" dist="38100" dir="2700000" algn="tl">
                    <a:srgbClr val="C0C0C0"/>
                  </a:outerShdw>
                </a:effectLst>
                <a:latin typeface="Arial" charset="0"/>
                <a:ea typeface="宋体" pitchFamily="2" charset="-122"/>
              </a:rPr>
              <a:t>ret_from_sys_call</a:t>
            </a:r>
            <a:endParaRPr lang="en-US" altLang="zh-CN" sz="4000" b="0" dirty="0">
              <a:solidFill>
                <a:srgbClr val="FF0000"/>
              </a:solidFill>
              <a:effectLst>
                <a:outerShdw blurRad="38100" dist="38100" dir="2700000" algn="tl">
                  <a:srgbClr val="C0C0C0"/>
                </a:outerShdw>
              </a:effectLst>
              <a:latin typeface="Arial" charset="0"/>
              <a:ea typeface="宋体" pitchFamily="2" charset="-122"/>
            </a:endParaRPr>
          </a:p>
        </p:txBody>
      </p:sp>
      <p:sp>
        <p:nvSpPr>
          <p:cNvPr id="39939" name="Rectangle 3"/>
          <p:cNvSpPr>
            <a:spLocks noChangeArrowheads="1"/>
          </p:cNvSpPr>
          <p:nvPr/>
        </p:nvSpPr>
        <p:spPr bwMode="auto">
          <a:xfrm>
            <a:off x="340526" y="1772816"/>
            <a:ext cx="880347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buClr>
                <a:schemeClr val="hlink"/>
              </a:buClr>
              <a:buSzPct val="60000"/>
              <a:buFont typeface="Wingdings" panose="05000000000000000000" pitchFamily="2" charset="2"/>
              <a:buNone/>
            </a:pP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cli              /</a:t>
            </a:r>
            <a:r>
              <a:rPr lang="zh-CN" altLang="en-US"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a:t>
            </a: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a:t>
            </a:r>
            <a:r>
              <a:rPr lang="zh-CN" altLang="en-US"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关中断*</a:t>
            </a:r>
            <a:r>
              <a:rPr lang="en-US" altLang="zh-CN"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a:t>
            </a:r>
            <a:endParaRPr lang="zh-CN" altLang="en-US"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endParaRPr>
          </a:p>
          <a:p>
            <a:pPr eaLnBrk="1" hangingPunct="1">
              <a:buClr>
                <a:schemeClr val="hlink"/>
              </a:buClr>
              <a:buSzPct val="60000"/>
              <a:buFont typeface="Wingdings" panose="05000000000000000000" pitchFamily="2" charset="2"/>
              <a:buNone/>
            </a:pPr>
            <a:r>
              <a:rPr lang="en-US" altLang="zh-CN"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cmpl</a:t>
            </a: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$0,need_resched(%</a:t>
            </a:r>
            <a:r>
              <a:rPr lang="en-US" altLang="zh-CN"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ebx</a:t>
            </a: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a:t>
            </a:r>
            <a:endParaRPr lang="en-US" altLang="zh-CN"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endParaRPr>
          </a:p>
          <a:p>
            <a:pPr eaLnBrk="1" hangingPunct="1">
              <a:buClr>
                <a:schemeClr val="hlink"/>
              </a:buClr>
              <a:buSzPct val="60000"/>
              <a:buFont typeface="Wingdings" panose="05000000000000000000" pitchFamily="2" charset="2"/>
              <a:buNone/>
            </a:pPr>
            <a:r>
              <a:rPr lang="en-US" altLang="zh-CN"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jne</a:t>
            </a: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reschedule         </a:t>
            </a:r>
          </a:p>
          <a:p>
            <a:pPr eaLnBrk="1" hangingPunct="1">
              <a:buClr>
                <a:schemeClr val="hlink"/>
              </a:buClr>
              <a:buSzPct val="60000"/>
              <a:buFont typeface="Wingdings" panose="05000000000000000000" pitchFamily="2" charset="2"/>
              <a:buNone/>
            </a:pP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a:t>
            </a:r>
            <a:r>
              <a:rPr lang="zh-CN" altLang="en-US"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a:t>
            </a:r>
            <a:r>
              <a:rPr lang="zh-CN" altLang="en-US"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若进程描述符中的 </a:t>
            </a:r>
            <a:r>
              <a:rPr lang="en-US" altLang="zh-CN" b="0"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need_resched</a:t>
            </a:r>
            <a:r>
              <a:rPr lang="zh-CN" altLang="en-US"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位不为</a:t>
            </a:r>
            <a:r>
              <a:rPr lang="en-US" altLang="zh-CN"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0</a:t>
            </a:r>
            <a:r>
              <a:rPr lang="zh-CN" altLang="en-US"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，重新调度*</a:t>
            </a:r>
            <a:r>
              <a:rPr lang="en-US" altLang="zh-CN"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a:t>
            </a:r>
            <a:endParaRPr lang="zh-CN" altLang="en-US"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endParaRPr>
          </a:p>
          <a:p>
            <a:pPr eaLnBrk="1" hangingPunct="1">
              <a:buClr>
                <a:schemeClr val="hlink"/>
              </a:buClr>
              <a:buSzPct val="60000"/>
              <a:buFont typeface="Wingdings" panose="05000000000000000000" pitchFamily="2" charset="2"/>
              <a:buNone/>
            </a:pPr>
            <a:r>
              <a:rPr lang="en-US" altLang="zh-CN"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cmpl</a:t>
            </a: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$0,sigpending(%</a:t>
            </a:r>
            <a:r>
              <a:rPr lang="en-US" altLang="zh-CN"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ebx</a:t>
            </a: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a:t>
            </a:r>
            <a:endParaRPr lang="en-US" altLang="zh-CN"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endParaRPr>
          </a:p>
          <a:p>
            <a:pPr eaLnBrk="1" hangingPunct="1">
              <a:buClr>
                <a:schemeClr val="hlink"/>
              </a:buClr>
              <a:buSzPct val="60000"/>
              <a:buFont typeface="Wingdings" panose="05000000000000000000" pitchFamily="2" charset="2"/>
              <a:buNone/>
            </a:pPr>
            <a:r>
              <a:rPr lang="en-US" altLang="zh-CN"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jne</a:t>
            </a: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a:t>
            </a:r>
            <a:r>
              <a:rPr lang="en-US" altLang="zh-CN"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signal_return</a:t>
            </a: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a:t>
            </a:r>
            <a:r>
              <a:rPr lang="zh-CN" altLang="en-US"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a:t>
            </a:r>
            <a:r>
              <a:rPr lang="zh-CN" altLang="en-US"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若有未处理完的信号，则处理*</a:t>
            </a:r>
            <a:r>
              <a:rPr lang="en-US" altLang="zh-CN"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a:t>
            </a:r>
            <a:endParaRPr lang="zh-CN" altLang="en-US"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endParaRPr>
          </a:p>
          <a:p>
            <a:pPr eaLnBrk="1" hangingPunct="1">
              <a:buClr>
                <a:schemeClr val="hlink"/>
              </a:buClr>
              <a:buSzPct val="60000"/>
              <a:buFont typeface="Wingdings" panose="05000000000000000000" pitchFamily="2" charset="2"/>
              <a:buNone/>
            </a:pPr>
            <a:r>
              <a:rPr lang="en-US" altLang="zh-CN"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restore_all</a:t>
            </a: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a:t>
            </a:r>
            <a:endParaRPr lang="en-US" altLang="zh-CN"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endParaRPr>
          </a:p>
          <a:p>
            <a:pPr eaLnBrk="1" hangingPunct="1">
              <a:buClr>
                <a:schemeClr val="hlink"/>
              </a:buClr>
              <a:buSzPct val="60000"/>
              <a:buFont typeface="Wingdings" panose="05000000000000000000" pitchFamily="2" charset="2"/>
              <a:buNone/>
            </a:pPr>
            <a:r>
              <a:rPr lang="en-US" altLang="zh-CN"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RESTORE_ALL     /</a:t>
            </a:r>
            <a:r>
              <a:rPr lang="zh-CN" altLang="en-US"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a:t>
            </a:r>
            <a:r>
              <a:rPr lang="zh-CN" altLang="en-US"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堆栈弹栈，返回用户态*</a:t>
            </a:r>
            <a:r>
              <a:rPr lang="en-US" altLang="zh-CN"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a:t>
            </a:r>
            <a:endParaRPr lang="zh-CN" altLang="en-US" b="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endParaRPr>
          </a:p>
        </p:txBody>
      </p:sp>
      <p:sp>
        <p:nvSpPr>
          <p:cNvPr id="4" name="矩形 3">
            <a:extLst>
              <a:ext uri="{FF2B5EF4-FFF2-40B4-BE49-F238E27FC236}">
                <a16:creationId xmlns:a16="http://schemas.microsoft.com/office/drawing/2014/main" id="{C24BB93F-039F-49A1-988B-BC29C51A51CF}"/>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5"/>
          <p:cNvSpPr>
            <a:spLocks noGrp="1" noChangeArrowheads="1"/>
          </p:cNvSpPr>
          <p:nvPr>
            <p:ph type="body" idx="1"/>
          </p:nvPr>
        </p:nvSpPr>
        <p:spPr>
          <a:xfrm>
            <a:off x="755650" y="1341438"/>
            <a:ext cx="8001000" cy="4895850"/>
          </a:xfrm>
          <a:noFill/>
        </p:spPr>
        <p:txBody>
          <a:bodyPr/>
          <a:lstStyle/>
          <a:p>
            <a:pPr eaLnBrk="1" hangingPunct="1">
              <a:buFont typeface="Arial" panose="020B0604020202020204" pitchFamily="34" charset="0"/>
              <a:buChar char="•"/>
            </a:pPr>
            <a:r>
              <a:rPr lang="zh-CN" altLang="en-US" dirty="0">
                <a:solidFill>
                  <a:srgbClr val="FF0000"/>
                </a:solidFill>
                <a:latin typeface="楷体_GB2312" pitchFamily="49" charset="-122"/>
                <a:ea typeface="楷体_GB2312" pitchFamily="49" charset="-122"/>
              </a:rPr>
              <a:t>系统调用的返回值</a:t>
            </a:r>
            <a:endParaRPr lang="en-US" altLang="zh-CN" dirty="0">
              <a:solidFill>
                <a:srgbClr val="FF0000"/>
              </a:solidFill>
              <a:latin typeface="楷体_GB2312" pitchFamily="49" charset="-122"/>
              <a:ea typeface="楷体_GB2312" pitchFamily="49" charset="-122"/>
            </a:endParaRPr>
          </a:p>
          <a:p>
            <a:pPr lvl="1" eaLnBrk="1" hangingPunct="1">
              <a:buFont typeface="Arial" panose="020B0604020202020204" pitchFamily="34" charset="0"/>
              <a:buChar char="•"/>
            </a:pPr>
            <a:r>
              <a:rPr lang="zh-CN" altLang="en-US" dirty="0">
                <a:latin typeface="楷体_GB2312" pitchFamily="49" charset="-122"/>
                <a:ea typeface="楷体_GB2312" pitchFamily="49" charset="-122"/>
              </a:rPr>
              <a:t>所有的系统调用返回一个整数值。</a:t>
            </a:r>
          </a:p>
          <a:p>
            <a:pPr lvl="2" eaLnBrk="1" hangingPunct="1">
              <a:buFont typeface="Arial" panose="020B0604020202020204" pitchFamily="34" charset="0"/>
              <a:buChar char="•"/>
            </a:pPr>
            <a:r>
              <a:rPr lang="zh-CN" altLang="en-US" dirty="0">
                <a:latin typeface="楷体_GB2312" pitchFamily="49" charset="-122"/>
                <a:ea typeface="楷体_GB2312" pitchFamily="49" charset="-122"/>
              </a:rPr>
              <a:t>正数或</a:t>
            </a:r>
            <a:r>
              <a:rPr lang="en-US" altLang="zh-CN" dirty="0">
                <a:latin typeface="楷体_GB2312" pitchFamily="49" charset="-122"/>
                <a:ea typeface="楷体_GB2312" pitchFamily="49" charset="-122"/>
              </a:rPr>
              <a:t>0</a:t>
            </a:r>
            <a:r>
              <a:rPr lang="zh-CN" altLang="en-US" dirty="0">
                <a:latin typeface="楷体_GB2312" pitchFamily="49" charset="-122"/>
                <a:ea typeface="楷体_GB2312" pitchFamily="49" charset="-122"/>
              </a:rPr>
              <a:t>表示系统调用成功结束</a:t>
            </a:r>
          </a:p>
          <a:p>
            <a:pPr lvl="2" eaLnBrk="1" hangingPunct="1">
              <a:buFont typeface="Arial" panose="020B0604020202020204" pitchFamily="34" charset="0"/>
              <a:buChar char="•"/>
            </a:pPr>
            <a:r>
              <a:rPr lang="zh-CN" altLang="en-US" dirty="0">
                <a:latin typeface="楷体_GB2312" pitchFamily="49" charset="-122"/>
                <a:ea typeface="楷体_GB2312" pitchFamily="49" charset="-122"/>
              </a:rPr>
              <a:t>负数表示一个出错条件</a:t>
            </a:r>
          </a:p>
          <a:p>
            <a:pPr lvl="1" eaLnBrk="1" hangingPunct="1">
              <a:buFont typeface="Arial" panose="020B0604020202020204" pitchFamily="34" charset="0"/>
              <a:buChar char="•"/>
            </a:pPr>
            <a:r>
              <a:rPr lang="zh-CN" altLang="en-US" dirty="0">
                <a:latin typeface="楷体_GB2312" pitchFamily="49" charset="-122"/>
                <a:ea typeface="楷体_GB2312" pitchFamily="49" charset="-122"/>
              </a:rPr>
              <a:t>这里的返回值与封装例程返回值的约定不同</a:t>
            </a:r>
          </a:p>
          <a:p>
            <a:pPr lvl="2" eaLnBrk="1" hangingPunct="1">
              <a:buFont typeface="Arial" panose="020B0604020202020204" pitchFamily="34" charset="0"/>
              <a:buChar char="•"/>
            </a:pPr>
            <a:r>
              <a:rPr lang="zh-CN" altLang="en-US" dirty="0">
                <a:latin typeface="楷体_GB2312" pitchFamily="49" charset="-122"/>
                <a:ea typeface="楷体_GB2312" pitchFamily="49" charset="-122"/>
              </a:rPr>
              <a:t>内核没有设置或使用</a:t>
            </a:r>
            <a:r>
              <a:rPr lang="en-US" altLang="zh-CN" dirty="0" err="1">
                <a:latin typeface="楷体_GB2312" pitchFamily="49" charset="-122"/>
                <a:ea typeface="楷体_GB2312" pitchFamily="49" charset="-122"/>
              </a:rPr>
              <a:t>errno</a:t>
            </a:r>
            <a:r>
              <a:rPr lang="zh-CN" altLang="en-US" dirty="0">
                <a:latin typeface="楷体_GB2312" pitchFamily="49" charset="-122"/>
                <a:ea typeface="楷体_GB2312" pitchFamily="49" charset="-122"/>
              </a:rPr>
              <a:t>变量</a:t>
            </a:r>
          </a:p>
          <a:p>
            <a:pPr lvl="2" eaLnBrk="1" hangingPunct="1">
              <a:buFont typeface="Arial" panose="020B0604020202020204" pitchFamily="34" charset="0"/>
              <a:buChar char="•"/>
            </a:pPr>
            <a:r>
              <a:rPr lang="zh-CN" altLang="en-US" dirty="0">
                <a:latin typeface="楷体_GB2312" pitchFamily="49" charset="-122"/>
                <a:ea typeface="楷体_GB2312" pitchFamily="49" charset="-122"/>
              </a:rPr>
              <a:t>封装例程在系统调用返回取得返回值之后设置这个变量</a:t>
            </a:r>
          </a:p>
          <a:p>
            <a:pPr lvl="2" eaLnBrk="1" hangingPunct="1">
              <a:buFont typeface="Arial" panose="020B0604020202020204" pitchFamily="34" charset="0"/>
              <a:buChar char="•"/>
            </a:pPr>
            <a:r>
              <a:rPr lang="zh-CN" altLang="en-US" dirty="0">
                <a:latin typeface="楷体_GB2312" pitchFamily="49" charset="-122"/>
                <a:ea typeface="楷体_GB2312" pitchFamily="49" charset="-122"/>
              </a:rPr>
              <a:t>当系统调用出错时，返回的那个负值将要存放在</a:t>
            </a:r>
            <a:r>
              <a:rPr lang="en-US" altLang="zh-CN" dirty="0" err="1">
                <a:latin typeface="楷体_GB2312" pitchFamily="49" charset="-122"/>
                <a:ea typeface="楷体_GB2312" pitchFamily="49" charset="-122"/>
              </a:rPr>
              <a:t>errno</a:t>
            </a:r>
            <a:r>
              <a:rPr lang="zh-CN" altLang="en-US" dirty="0">
                <a:latin typeface="楷体_GB2312" pitchFamily="49" charset="-122"/>
                <a:ea typeface="楷体_GB2312" pitchFamily="49" charset="-122"/>
              </a:rPr>
              <a:t>变量中返回给应用程序</a:t>
            </a:r>
          </a:p>
        </p:txBody>
      </p:sp>
      <p:sp>
        <p:nvSpPr>
          <p:cNvPr id="4" name="矩形 3">
            <a:extLst>
              <a:ext uri="{FF2B5EF4-FFF2-40B4-BE49-F238E27FC236}">
                <a16:creationId xmlns:a16="http://schemas.microsoft.com/office/drawing/2014/main" id="{1E0DB9CD-F3D3-4BB3-A0DB-97F0D59A32AD}"/>
              </a:ext>
            </a:extLst>
          </p:cNvPr>
          <p:cNvSpPr/>
          <p:nvPr/>
        </p:nvSpPr>
        <p:spPr>
          <a:xfrm>
            <a:off x="340526" y="199737"/>
            <a:ext cx="7178568" cy="584775"/>
          </a:xfrm>
          <a:prstGeom prst="rect">
            <a:avLst/>
          </a:prstGeom>
        </p:spPr>
        <p:txBody>
          <a:bodyPr wrap="none">
            <a:spAutoFit/>
          </a:bodyPr>
          <a:lstStyle/>
          <a:p>
            <a:pPr lvl="4" algn="ctr" eaLnBrk="1" hangingPunct="1"/>
            <a:r>
              <a:rPr lang="en-US" altLang="zh-CN" sz="3200" kern="0" dirty="0">
                <a:solidFill>
                  <a:schemeClr val="tx1"/>
                </a:solidFill>
                <a:cs typeface="+mj-cs"/>
              </a:rPr>
              <a:t>4.2 Linux</a:t>
            </a:r>
            <a:r>
              <a:rPr lang="zh-CN" altLang="en-US" sz="3200" kern="0" dirty="0">
                <a:solidFill>
                  <a:schemeClr val="tx1"/>
                </a:solidFill>
                <a:cs typeface="+mj-cs"/>
              </a:rPr>
              <a:t>系统调用处理过程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dirty="0">
                <a:latin typeface="楷体_GB2312" pitchFamily="49" charset="-122"/>
                <a:ea typeface="楷体_GB2312" pitchFamily="49" charset="-122"/>
              </a:rPr>
              <a:t>4.3 </a:t>
            </a:r>
            <a:r>
              <a:rPr lang="zh-CN" altLang="en-US" dirty="0">
                <a:latin typeface="楷体_GB2312" pitchFamily="49" charset="-122"/>
                <a:ea typeface="楷体_GB2312" pitchFamily="49" charset="-122"/>
              </a:rPr>
              <a:t>系统调用</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实例分析</a:t>
            </a:r>
          </a:p>
        </p:txBody>
      </p:sp>
      <p:sp>
        <p:nvSpPr>
          <p:cNvPr id="41987" name="Rectangle 3"/>
          <p:cNvSpPr>
            <a:spLocks noGrp="1" noChangeArrowheads="1"/>
          </p:cNvSpPr>
          <p:nvPr>
            <p:ph type="body" idx="1"/>
          </p:nvPr>
        </p:nvSpPr>
        <p:spPr>
          <a:xfrm>
            <a:off x="647378" y="1196752"/>
            <a:ext cx="7849244" cy="5329336"/>
          </a:xfrm>
          <a:solidFill>
            <a:schemeClr val="accent6">
              <a:lumMod val="40000"/>
              <a:lumOff val="60000"/>
            </a:schemeClr>
          </a:solidFill>
        </p:spPr>
        <p:txBody>
          <a:bodyPr/>
          <a:lstStyle/>
          <a:p>
            <a:pPr eaLnBrk="1" hangingPunct="1">
              <a:lnSpc>
                <a:spcPct val="80000"/>
              </a:lnSpc>
              <a:buFont typeface="Wingdings" panose="05000000000000000000" pitchFamily="2" charset="2"/>
              <a:buNone/>
            </a:pPr>
            <a:endParaRPr lang="en-US" altLang="zh-CN" sz="32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zh-CN" altLang="en-US" sz="3200" dirty="0">
                <a:latin typeface="Times New Roman" panose="02020603050405020304" pitchFamily="18" charset="0"/>
                <a:ea typeface="楷体_GB2312" pitchFamily="49" charset="-122"/>
                <a:cs typeface="Times New Roman" panose="02020603050405020304" pitchFamily="18" charset="0"/>
              </a:rPr>
              <a:t>假设源文件名为</a:t>
            </a:r>
            <a:r>
              <a:rPr lang="en-US" altLang="zh-CN" sz="3200" dirty="0" err="1">
                <a:latin typeface="Times New Roman" panose="02020603050405020304" pitchFamily="18" charset="0"/>
                <a:ea typeface="楷体_GB2312" pitchFamily="49" charset="-122"/>
                <a:cs typeface="Times New Roman" panose="02020603050405020304" pitchFamily="18" charset="0"/>
              </a:rPr>
              <a:t>getpid.c</a:t>
            </a:r>
            <a:r>
              <a:rPr lang="zh-CN" altLang="en-US" sz="3200" dirty="0">
                <a:latin typeface="Times New Roman" panose="02020603050405020304" pitchFamily="18" charset="0"/>
                <a:ea typeface="楷体_GB2312" pitchFamily="49" charset="-122"/>
                <a:cs typeface="Times New Roman" panose="02020603050405020304" pitchFamily="18" charset="0"/>
              </a:rPr>
              <a:t>，内容是：</a:t>
            </a: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#include &lt;</a:t>
            </a:r>
            <a:r>
              <a:rPr lang="en-US" altLang="zh-CN" dirty="0" err="1">
                <a:latin typeface="Times New Roman" panose="02020603050405020304" pitchFamily="18" charset="0"/>
                <a:ea typeface="楷体_GB2312" pitchFamily="49" charset="-122"/>
                <a:cs typeface="Times New Roman" panose="02020603050405020304" pitchFamily="18" charset="0"/>
              </a:rPr>
              <a:t>syscall.h</a:t>
            </a:r>
            <a:r>
              <a:rPr lang="en-US" altLang="zh-CN" dirty="0">
                <a:latin typeface="Times New Roman" panose="02020603050405020304" pitchFamily="18" charset="0"/>
                <a:ea typeface="楷体_GB2312" pitchFamily="49" charset="-122"/>
                <a:cs typeface="Times New Roman" panose="02020603050405020304" pitchFamily="18" charset="0"/>
              </a:rPr>
              <a:t>&gt;</a:t>
            </a: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#include &lt;</a:t>
            </a:r>
            <a:r>
              <a:rPr lang="en-US" altLang="zh-CN" dirty="0" err="1">
                <a:latin typeface="Times New Roman" panose="02020603050405020304" pitchFamily="18" charset="0"/>
                <a:ea typeface="楷体_GB2312" pitchFamily="49" charset="-122"/>
                <a:cs typeface="Times New Roman" panose="02020603050405020304" pitchFamily="18" charset="0"/>
              </a:rPr>
              <a:t>unistd.h</a:t>
            </a:r>
            <a:r>
              <a:rPr lang="en-US" altLang="zh-CN" dirty="0">
                <a:latin typeface="Times New Roman" panose="02020603050405020304" pitchFamily="18" charset="0"/>
                <a:ea typeface="楷体_GB2312" pitchFamily="49" charset="-122"/>
                <a:cs typeface="Times New Roman" panose="02020603050405020304" pitchFamily="18" charset="0"/>
              </a:rPr>
              <a:t>&gt;</a:t>
            </a: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#include &lt;</a:t>
            </a:r>
            <a:r>
              <a:rPr lang="en-US" altLang="zh-CN" dirty="0" err="1">
                <a:latin typeface="Times New Roman" panose="02020603050405020304" pitchFamily="18" charset="0"/>
                <a:ea typeface="楷体_GB2312" pitchFamily="49" charset="-122"/>
                <a:cs typeface="Times New Roman" panose="02020603050405020304" pitchFamily="18" charset="0"/>
              </a:rPr>
              <a:t>stdio.h</a:t>
            </a:r>
            <a:r>
              <a:rPr lang="en-US" altLang="zh-CN" dirty="0">
                <a:latin typeface="Times New Roman" panose="02020603050405020304" pitchFamily="18" charset="0"/>
                <a:ea typeface="楷体_GB2312" pitchFamily="49" charset="-122"/>
                <a:cs typeface="Times New Roman" panose="02020603050405020304" pitchFamily="18" charset="0"/>
              </a:rPr>
              <a:t>&gt;</a:t>
            </a: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#include &lt;sys/</a:t>
            </a:r>
            <a:r>
              <a:rPr lang="en-US" altLang="zh-CN" dirty="0" err="1">
                <a:latin typeface="Times New Roman" panose="02020603050405020304" pitchFamily="18" charset="0"/>
                <a:ea typeface="楷体_GB2312" pitchFamily="49" charset="-122"/>
                <a:cs typeface="Times New Roman" panose="02020603050405020304" pitchFamily="18" charset="0"/>
              </a:rPr>
              <a:t>types.h</a:t>
            </a:r>
            <a:r>
              <a:rPr lang="en-US" altLang="zh-CN" dirty="0">
                <a:latin typeface="Times New Roman" panose="02020603050405020304" pitchFamily="18" charset="0"/>
                <a:ea typeface="楷体_GB2312" pitchFamily="49" charset="-122"/>
                <a:cs typeface="Times New Roman" panose="02020603050405020304" pitchFamily="18" charset="0"/>
              </a:rPr>
              <a:t>&gt;</a:t>
            </a: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int main(void) {</a:t>
            </a: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  long ID;</a:t>
            </a: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  ID = </a:t>
            </a:r>
            <a:r>
              <a:rPr lang="en-US" altLang="zh-CN" dirty="0" err="1">
                <a:latin typeface="Times New Roman" panose="02020603050405020304" pitchFamily="18" charset="0"/>
                <a:ea typeface="楷体_GB2312" pitchFamily="49" charset="-122"/>
                <a:cs typeface="Times New Roman" panose="02020603050405020304" pitchFamily="18" charset="0"/>
              </a:rPr>
              <a:t>getpid</a:t>
            </a:r>
            <a:r>
              <a:rPr lang="en-US" altLang="zh-CN" dirty="0">
                <a:latin typeface="Times New Roman" panose="02020603050405020304" pitchFamily="18" charset="0"/>
                <a:ea typeface="楷体_GB2312" pitchFamily="49" charset="-122"/>
                <a:cs typeface="Times New Roman" panose="02020603050405020304" pitchFamily="18" charset="0"/>
              </a:rPr>
              <a:t>();</a:t>
            </a: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  </a:t>
            </a:r>
            <a:r>
              <a:rPr lang="en-US" altLang="zh-CN" dirty="0" err="1">
                <a:latin typeface="Times New Roman" panose="02020603050405020304" pitchFamily="18" charset="0"/>
                <a:ea typeface="楷体_GB2312" pitchFamily="49" charset="-122"/>
                <a:cs typeface="Times New Roman" panose="02020603050405020304" pitchFamily="18" charset="0"/>
              </a:rPr>
              <a:t>printf</a:t>
            </a:r>
            <a:r>
              <a:rPr lang="en-US" altLang="zh-CN" dirty="0">
                <a:latin typeface="Times New Roman" panose="02020603050405020304" pitchFamily="18" charset="0"/>
                <a:ea typeface="楷体_GB2312" pitchFamily="49" charset="-122"/>
                <a:cs typeface="Times New Roman" panose="02020603050405020304" pitchFamily="18" charset="0"/>
              </a:rPr>
              <a:t> ("</a:t>
            </a:r>
            <a:r>
              <a:rPr lang="en-US" altLang="zh-CN" dirty="0" err="1">
                <a:latin typeface="Times New Roman" panose="02020603050405020304" pitchFamily="18" charset="0"/>
                <a:ea typeface="楷体_GB2312" pitchFamily="49" charset="-122"/>
                <a:cs typeface="Times New Roman" panose="02020603050405020304" pitchFamily="18" charset="0"/>
              </a:rPr>
              <a:t>getpid</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ld</a:t>
            </a:r>
            <a:r>
              <a:rPr lang="en-US" altLang="zh-CN" dirty="0">
                <a:latin typeface="Times New Roman" panose="02020603050405020304" pitchFamily="18" charset="0"/>
                <a:ea typeface="楷体_GB2312" pitchFamily="49" charset="-122"/>
                <a:cs typeface="Times New Roman" panose="02020603050405020304" pitchFamily="18" charset="0"/>
              </a:rPr>
              <a:t>\n", ID);</a:t>
            </a: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  return(0);</a:t>
            </a: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a:t>
            </a:r>
          </a:p>
          <a:p>
            <a:pPr eaLnBrk="1" hangingPunct="1">
              <a:lnSpc>
                <a:spcPct val="80000"/>
              </a:lnSpc>
              <a:buFont typeface="Wingdings" panose="05000000000000000000" pitchFamily="2" charset="2"/>
              <a:buNone/>
            </a:pPr>
            <a:endParaRPr lang="zh-CN" altLang="en-US" sz="2400" dirty="0">
              <a:latin typeface="楷体_GB2312" pitchFamily="49" charset="-122"/>
              <a:ea typeface="楷体_GB2312" pitchFamily="49" charset="-122"/>
              <a:cs typeface="Times New Roman" panose="02020603050405020304" pitchFamily="18" charset="0"/>
            </a:endParaRPr>
          </a:p>
        </p:txBody>
      </p:sp>
    </p:spTree>
    <p:extLst>
      <p:ext uri="{BB962C8B-B14F-4D97-AF65-F5344CB8AC3E}">
        <p14:creationId xmlns:p14="http://schemas.microsoft.com/office/powerpoint/2010/main" val="2229386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7" name="Rectangle 3"/>
          <p:cNvSpPr>
            <a:spLocks noGrp="1" noChangeArrowheads="1"/>
          </p:cNvSpPr>
          <p:nvPr>
            <p:ph type="body" idx="1"/>
          </p:nvPr>
        </p:nvSpPr>
        <p:spPr>
          <a:xfrm>
            <a:off x="457200" y="908720"/>
            <a:ext cx="8229600" cy="5715000"/>
          </a:xfrm>
          <a:noFill/>
        </p:spPr>
        <p:txBody>
          <a:bodyPr/>
          <a:lstStyle/>
          <a:p>
            <a:pPr marL="609600" indent="-609600" eaLnBrk="1" hangingPunct="1">
              <a:lnSpc>
                <a:spcPct val="105000"/>
              </a:lnSpc>
              <a:buFont typeface="Wingdings" panose="05000000000000000000" pitchFamily="2" charset="2"/>
              <a:buAutoNum type="arabicPeriod"/>
            </a:pPr>
            <a:r>
              <a:rPr lang="zh-CN" altLang="en-US" dirty="0">
                <a:latin typeface="楷体_GB2312" pitchFamily="49" charset="-122"/>
                <a:ea typeface="楷体_GB2312" pitchFamily="49" charset="-122"/>
              </a:rPr>
              <a:t>该程序调用封装例程</a:t>
            </a:r>
            <a:r>
              <a:rPr lang="en-US" altLang="zh-CN" dirty="0" err="1">
                <a:latin typeface="楷体_GB2312" pitchFamily="49" charset="-122"/>
                <a:ea typeface="楷体_GB2312" pitchFamily="49" charset="-122"/>
              </a:rPr>
              <a:t>getpid</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。该封装例程将系统调用号</a:t>
            </a:r>
            <a:r>
              <a:rPr lang="en-US" altLang="zh-CN" dirty="0">
                <a:latin typeface="楷体_GB2312" pitchFamily="49" charset="-122"/>
                <a:ea typeface="楷体_GB2312" pitchFamily="49" charset="-122"/>
              </a:rPr>
              <a:t>_</a:t>
            </a:r>
            <a:r>
              <a:rPr lang="en-US" altLang="zh-CN" dirty="0" err="1">
                <a:latin typeface="楷体_GB2312" pitchFamily="49" charset="-122"/>
                <a:ea typeface="楷体_GB2312" pitchFamily="49" charset="-122"/>
              </a:rPr>
              <a:t>NR_getpid</a:t>
            </a:r>
            <a:r>
              <a:rPr lang="zh-CN" altLang="en-US" dirty="0">
                <a:latin typeface="楷体_GB2312" pitchFamily="49" charset="-122"/>
                <a:ea typeface="楷体_GB2312" pitchFamily="49" charset="-122"/>
              </a:rPr>
              <a:t>（第</a:t>
            </a:r>
            <a:r>
              <a:rPr lang="en-US" altLang="zh-CN" dirty="0">
                <a:latin typeface="楷体_GB2312" pitchFamily="49" charset="-122"/>
                <a:ea typeface="楷体_GB2312" pitchFamily="49" charset="-122"/>
              </a:rPr>
              <a:t>20</a:t>
            </a:r>
            <a:r>
              <a:rPr lang="zh-CN" altLang="en-US" dirty="0">
                <a:latin typeface="楷体_GB2312" pitchFamily="49" charset="-122"/>
                <a:ea typeface="楷体_GB2312" pitchFamily="49" charset="-122"/>
              </a:rPr>
              <a:t>个）压入</a:t>
            </a:r>
            <a:r>
              <a:rPr lang="en-US" altLang="zh-CN" dirty="0">
                <a:latin typeface="楷体_GB2312" pitchFamily="49" charset="-122"/>
                <a:ea typeface="楷体_GB2312" pitchFamily="49" charset="-122"/>
              </a:rPr>
              <a:t>EAX</a:t>
            </a:r>
            <a:r>
              <a:rPr lang="zh-CN" altLang="en-US" dirty="0">
                <a:latin typeface="楷体_GB2312" pitchFamily="49" charset="-122"/>
                <a:ea typeface="楷体_GB2312" pitchFamily="49" charset="-122"/>
              </a:rPr>
              <a:t>寄存器</a:t>
            </a:r>
          </a:p>
          <a:p>
            <a:pPr marL="609600" indent="-609600" eaLnBrk="1" hangingPunct="1">
              <a:lnSpc>
                <a:spcPct val="105000"/>
              </a:lnSpc>
              <a:buFontTx/>
              <a:buAutoNum type="arabicPeriod"/>
            </a:pPr>
            <a:r>
              <a:rPr lang="en-US" altLang="zh-CN" dirty="0">
                <a:latin typeface="楷体_GB2312" pitchFamily="49" charset="-122"/>
                <a:ea typeface="楷体_GB2312" pitchFamily="49" charset="-122"/>
              </a:rPr>
              <a:t>CPU</a:t>
            </a:r>
            <a:r>
              <a:rPr lang="zh-CN" altLang="en-US" dirty="0">
                <a:latin typeface="楷体_GB2312" pitchFamily="49" charset="-122"/>
                <a:ea typeface="楷体_GB2312" pitchFamily="49" charset="-122"/>
              </a:rPr>
              <a:t>通过</a:t>
            </a:r>
            <a:r>
              <a:rPr lang="en-US" altLang="zh-CN" dirty="0">
                <a:latin typeface="楷体_GB2312" pitchFamily="49" charset="-122"/>
                <a:ea typeface="楷体_GB2312" pitchFamily="49" charset="-122"/>
              </a:rPr>
              <a:t>int $0x80 </a:t>
            </a:r>
            <a:r>
              <a:rPr lang="zh-CN" altLang="en-US" dirty="0">
                <a:latin typeface="楷体_GB2312" pitchFamily="49" charset="-122"/>
                <a:ea typeface="楷体_GB2312" pitchFamily="49" charset="-122"/>
              </a:rPr>
              <a:t>进入内核，找到</a:t>
            </a:r>
            <a:r>
              <a:rPr lang="en-US" altLang="zh-CN" dirty="0" err="1">
                <a:latin typeface="楷体_GB2312" pitchFamily="49" charset="-122"/>
                <a:ea typeface="楷体_GB2312" pitchFamily="49" charset="-122"/>
              </a:rPr>
              <a:t>system_call</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，并调用它</a:t>
            </a:r>
            <a:endParaRPr lang="en-US" altLang="zh-CN" dirty="0">
              <a:latin typeface="楷体_GB2312" pitchFamily="49" charset="-122"/>
              <a:ea typeface="楷体_GB2312" pitchFamily="49" charset="-122"/>
            </a:endParaRPr>
          </a:p>
          <a:p>
            <a:pPr marL="609600" indent="-609600" eaLnBrk="1" hangingPunct="1">
              <a:lnSpc>
                <a:spcPct val="105000"/>
              </a:lnSpc>
              <a:buFont typeface="Wingdings" panose="05000000000000000000" pitchFamily="2" charset="2"/>
              <a:buNone/>
            </a:pPr>
            <a:r>
              <a:rPr lang="en-US" altLang="zh-CN" dirty="0">
                <a:latin typeface="楷体_GB2312" pitchFamily="49" charset="-122"/>
                <a:ea typeface="楷体_GB2312" pitchFamily="49" charset="-122"/>
              </a:rPr>
              <a:t>    </a:t>
            </a:r>
            <a:r>
              <a:rPr lang="zh-CN" altLang="en-US" dirty="0">
                <a:solidFill>
                  <a:srgbClr val="FF0000"/>
                </a:solidFill>
                <a:latin typeface="楷体_GB2312" pitchFamily="49" charset="-122"/>
                <a:ea typeface="楷体_GB2312" pitchFamily="49" charset="-122"/>
              </a:rPr>
              <a:t>（以下进入内核态）</a:t>
            </a:r>
          </a:p>
          <a:p>
            <a:pPr marL="609600" indent="-609600" eaLnBrk="1" hangingPunct="1">
              <a:lnSpc>
                <a:spcPct val="105000"/>
              </a:lnSpc>
              <a:buFont typeface="Wingdings" panose="05000000000000000000" pitchFamily="2" charset="2"/>
              <a:buNone/>
            </a:pPr>
            <a:r>
              <a:rPr lang="en-US" altLang="zh-CN" dirty="0">
                <a:latin typeface="楷体_GB2312" pitchFamily="49" charset="-122"/>
                <a:ea typeface="楷体_GB2312" pitchFamily="49" charset="-122"/>
              </a:rPr>
              <a:t>3.  </a:t>
            </a:r>
            <a:r>
              <a:rPr lang="zh-CN" altLang="en-US" dirty="0">
                <a:latin typeface="楷体_GB2312" pitchFamily="49" charset="-122"/>
                <a:ea typeface="楷体_GB2312" pitchFamily="49" charset="-122"/>
              </a:rPr>
              <a:t>在内核中首先执行</a:t>
            </a:r>
            <a:r>
              <a:rPr lang="en-US" altLang="zh-CN" dirty="0" err="1">
                <a:latin typeface="楷体_GB2312" pitchFamily="49" charset="-122"/>
                <a:ea typeface="楷体_GB2312" pitchFamily="49" charset="-122"/>
              </a:rPr>
              <a:t>system_call</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，接着执行根据系统调用号在调用表中查找到的对应的系统调用服务例程</a:t>
            </a:r>
            <a:r>
              <a:rPr lang="en-US" altLang="zh-CN" dirty="0" err="1">
                <a:latin typeface="楷体_GB2312" pitchFamily="49" charset="-122"/>
                <a:ea typeface="楷体_GB2312" pitchFamily="49" charset="-122"/>
              </a:rPr>
              <a:t>sys_getpid</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a:t>
            </a:r>
          </a:p>
          <a:p>
            <a:pPr marL="609600" indent="-609600" eaLnBrk="1" hangingPunct="1">
              <a:lnSpc>
                <a:spcPct val="105000"/>
              </a:lnSpc>
              <a:buFont typeface="Wingdings" panose="05000000000000000000" pitchFamily="2" charset="2"/>
              <a:buNone/>
            </a:pPr>
            <a:r>
              <a:rPr lang="en-US" altLang="zh-CN" dirty="0">
                <a:latin typeface="楷体_GB2312" pitchFamily="49" charset="-122"/>
                <a:ea typeface="楷体_GB2312" pitchFamily="49" charset="-122"/>
              </a:rPr>
              <a:t>4</a:t>
            </a:r>
            <a:r>
              <a:rPr lang="zh-CN" altLang="en-US" dirty="0">
                <a:latin typeface="楷体_GB2312" pitchFamily="49" charset="-122"/>
                <a:ea typeface="楷体_GB2312" pitchFamily="49" charset="-122"/>
              </a:rPr>
              <a:t>．执行</a:t>
            </a:r>
            <a:r>
              <a:rPr lang="en-US" altLang="zh-CN" dirty="0" err="1">
                <a:latin typeface="楷体_GB2312" pitchFamily="49" charset="-122"/>
                <a:ea typeface="楷体_GB2312" pitchFamily="49" charset="-122"/>
              </a:rPr>
              <a:t>sys</a:t>
            </a:r>
            <a:r>
              <a:rPr lang="en-US" altLang="zh-CN" dirty="0" err="1">
                <a:solidFill>
                  <a:srgbClr val="FFFFCC"/>
                </a:solidFill>
                <a:latin typeface="楷体_GB2312" pitchFamily="49" charset="-122"/>
                <a:ea typeface="楷体_GB2312" pitchFamily="49" charset="-122"/>
              </a:rPr>
              <a:t>_</a:t>
            </a:r>
            <a:r>
              <a:rPr lang="en-US" altLang="zh-CN" dirty="0" err="1">
                <a:latin typeface="楷体_GB2312" pitchFamily="49" charset="-122"/>
                <a:ea typeface="楷体_GB2312" pitchFamily="49" charset="-122"/>
              </a:rPr>
              <a:t>getpid</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服务例程。</a:t>
            </a:r>
          </a:p>
          <a:p>
            <a:pPr marL="609600" indent="-609600" eaLnBrk="1" hangingPunct="1">
              <a:lnSpc>
                <a:spcPct val="105000"/>
              </a:lnSpc>
              <a:buFont typeface="Wingdings" panose="05000000000000000000" pitchFamily="2" charset="2"/>
              <a:buNone/>
            </a:pPr>
            <a:r>
              <a:rPr lang="en-US" altLang="zh-CN" dirty="0">
                <a:latin typeface="楷体_GB2312" pitchFamily="49" charset="-122"/>
                <a:ea typeface="楷体_GB2312" pitchFamily="49" charset="-122"/>
              </a:rPr>
              <a:t>5</a:t>
            </a:r>
            <a:r>
              <a:rPr lang="zh-CN" altLang="en-US" dirty="0">
                <a:latin typeface="楷体_GB2312" pitchFamily="49" charset="-122"/>
                <a:ea typeface="楷体_GB2312" pitchFamily="49" charset="-122"/>
              </a:rPr>
              <a:t>．执行完毕后，转入</a:t>
            </a:r>
            <a:r>
              <a:rPr lang="en-US" altLang="zh-CN" dirty="0" err="1">
                <a:latin typeface="楷体_GB2312" pitchFamily="49" charset="-122"/>
                <a:ea typeface="楷体_GB2312" pitchFamily="49" charset="-122"/>
              </a:rPr>
              <a:t>ret_from_sys_call</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例程，系统调用返回到用户态。</a:t>
            </a:r>
          </a:p>
        </p:txBody>
      </p:sp>
      <p:sp>
        <p:nvSpPr>
          <p:cNvPr id="6" name="Rectangle 2">
            <a:extLst>
              <a:ext uri="{FF2B5EF4-FFF2-40B4-BE49-F238E27FC236}">
                <a16:creationId xmlns:a16="http://schemas.microsoft.com/office/drawing/2014/main" id="{EFE73C43-BF8B-4DD7-A63E-B76973F3074F}"/>
              </a:ext>
            </a:extLst>
          </p:cNvPr>
          <p:cNvSpPr>
            <a:spLocks noGrp="1" noChangeArrowheads="1"/>
          </p:cNvSpPr>
          <p:nvPr>
            <p:ph type="title"/>
          </p:nvPr>
        </p:nvSpPr>
        <p:spPr>
          <a:xfrm>
            <a:off x="611188" y="115888"/>
            <a:ext cx="7632700" cy="609600"/>
          </a:xfrm>
        </p:spPr>
        <p:txBody>
          <a:bodyPr/>
          <a:lstStyle/>
          <a:p>
            <a:pPr eaLnBrk="1" hangingPunct="1"/>
            <a:r>
              <a:rPr lang="en-US" altLang="zh-CN" dirty="0">
                <a:latin typeface="楷体_GB2312" pitchFamily="49" charset="-122"/>
                <a:ea typeface="楷体_GB2312" pitchFamily="49" charset="-122"/>
              </a:rPr>
              <a:t>4.3 </a:t>
            </a:r>
            <a:r>
              <a:rPr lang="zh-CN" altLang="en-US" dirty="0">
                <a:latin typeface="楷体_GB2312" pitchFamily="49" charset="-122"/>
                <a:ea typeface="楷体_GB2312" pitchFamily="49" charset="-122"/>
              </a:rPr>
              <a:t>系统调用</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实例分析</a:t>
            </a:r>
          </a:p>
        </p:txBody>
      </p:sp>
    </p:spTree>
    <p:extLst>
      <p:ext uri="{BB962C8B-B14F-4D97-AF65-F5344CB8AC3E}">
        <p14:creationId xmlns:p14="http://schemas.microsoft.com/office/powerpoint/2010/main" val="40370869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6547">
                                            <p:txEl>
                                              <p:pRg st="0" end="0"/>
                                            </p:txEl>
                                          </p:spTgt>
                                        </p:tgtEl>
                                        <p:attrNameLst>
                                          <p:attrName>style.visibility</p:attrName>
                                        </p:attrNameLst>
                                      </p:cBhvr>
                                      <p:to>
                                        <p:strVal val="visible"/>
                                      </p:to>
                                    </p:set>
                                    <p:animEffect transition="in" filter="blinds(horizontal)">
                                      <p:cBhvr>
                                        <p:cTn id="7" dur="500"/>
                                        <p:tgtEl>
                                          <p:spTgt spid="2365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6547">
                                            <p:txEl>
                                              <p:pRg st="1" end="1"/>
                                            </p:txEl>
                                          </p:spTgt>
                                        </p:tgtEl>
                                        <p:attrNameLst>
                                          <p:attrName>style.visibility</p:attrName>
                                        </p:attrNameLst>
                                      </p:cBhvr>
                                      <p:to>
                                        <p:strVal val="visible"/>
                                      </p:to>
                                    </p:set>
                                    <p:animEffect transition="in" filter="blinds(horizontal)">
                                      <p:cBhvr>
                                        <p:cTn id="12" dur="500"/>
                                        <p:tgtEl>
                                          <p:spTgt spid="2365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6547">
                                            <p:txEl>
                                              <p:pRg st="2" end="2"/>
                                            </p:txEl>
                                          </p:spTgt>
                                        </p:tgtEl>
                                        <p:attrNameLst>
                                          <p:attrName>style.visibility</p:attrName>
                                        </p:attrNameLst>
                                      </p:cBhvr>
                                      <p:to>
                                        <p:strVal val="visible"/>
                                      </p:to>
                                    </p:set>
                                    <p:animEffect transition="in" filter="blinds(horizontal)">
                                      <p:cBhvr>
                                        <p:cTn id="17" dur="500"/>
                                        <p:tgtEl>
                                          <p:spTgt spid="2365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6547">
                                            <p:txEl>
                                              <p:pRg st="3" end="3"/>
                                            </p:txEl>
                                          </p:spTgt>
                                        </p:tgtEl>
                                        <p:attrNameLst>
                                          <p:attrName>style.visibility</p:attrName>
                                        </p:attrNameLst>
                                      </p:cBhvr>
                                      <p:to>
                                        <p:strVal val="visible"/>
                                      </p:to>
                                    </p:set>
                                    <p:animEffect transition="in" filter="blinds(horizontal)">
                                      <p:cBhvr>
                                        <p:cTn id="22" dur="500"/>
                                        <p:tgtEl>
                                          <p:spTgt spid="2365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6547">
                                            <p:txEl>
                                              <p:pRg st="4" end="4"/>
                                            </p:txEl>
                                          </p:spTgt>
                                        </p:tgtEl>
                                        <p:attrNameLst>
                                          <p:attrName>style.visibility</p:attrName>
                                        </p:attrNameLst>
                                      </p:cBhvr>
                                      <p:to>
                                        <p:strVal val="visible"/>
                                      </p:to>
                                    </p:set>
                                    <p:animEffect transition="in" filter="blinds(horizontal)">
                                      <p:cBhvr>
                                        <p:cTn id="27" dur="500"/>
                                        <p:tgtEl>
                                          <p:spTgt spid="23654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6547">
                                            <p:txEl>
                                              <p:pRg st="5" end="5"/>
                                            </p:txEl>
                                          </p:spTgt>
                                        </p:tgtEl>
                                        <p:attrNameLst>
                                          <p:attrName>style.visibility</p:attrName>
                                        </p:attrNameLst>
                                      </p:cBhvr>
                                      <p:to>
                                        <p:strVal val="visible"/>
                                      </p:to>
                                    </p:set>
                                    <p:animEffect transition="in" filter="blinds(horizontal)">
                                      <p:cBhvr>
                                        <p:cTn id="32" dur="500"/>
                                        <p:tgtEl>
                                          <p:spTgt spid="2365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zh-CN" dirty="0">
                <a:latin typeface="楷体_GB2312" pitchFamily="49" charset="-122"/>
                <a:ea typeface="楷体_GB2312" pitchFamily="49" charset="-122"/>
              </a:rPr>
              <a:t>4.4 </a:t>
            </a:r>
            <a:r>
              <a:rPr lang="zh-CN" altLang="en-US" dirty="0">
                <a:latin typeface="楷体_GB2312" pitchFamily="49" charset="-122"/>
                <a:ea typeface="楷体_GB2312" pitchFamily="49" charset="-122"/>
              </a:rPr>
              <a:t>系统调用的参数传递</a:t>
            </a:r>
          </a:p>
        </p:txBody>
      </p:sp>
      <p:sp>
        <p:nvSpPr>
          <p:cNvPr id="46083" name="Rectangle 3"/>
          <p:cNvSpPr>
            <a:spLocks noGrp="1" noChangeArrowheads="1"/>
          </p:cNvSpPr>
          <p:nvPr>
            <p:ph type="body" idx="1"/>
          </p:nvPr>
        </p:nvSpPr>
        <p:spPr/>
        <p:txBody>
          <a:bodyPr/>
          <a:lstStyle/>
          <a:p>
            <a:pPr eaLnBrk="1" hangingPunct="1"/>
            <a:r>
              <a:rPr lang="zh-CN" altLang="en-US">
                <a:latin typeface="楷体_GB2312" pitchFamily="49" charset="-122"/>
                <a:ea typeface="楷体_GB2312" pitchFamily="49" charset="-122"/>
              </a:rPr>
              <a:t>很多系统调用需要不止一个参数</a:t>
            </a:r>
          </a:p>
          <a:p>
            <a:pPr lvl="1" eaLnBrk="1" hangingPunct="1"/>
            <a:r>
              <a:rPr lang="zh-CN" altLang="en-US">
                <a:latin typeface="楷体_GB2312" pitchFamily="49" charset="-122"/>
                <a:ea typeface="楷体_GB2312" pitchFamily="49" charset="-122"/>
              </a:rPr>
              <a:t>普通</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函数的参数传递是通过把参数值写入堆栈</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用户态堆栈或内核态堆栈</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来实现的。但因为系统调用是一种特殊函数，它由用户态进入了内核态，所以</a:t>
            </a:r>
            <a:r>
              <a:rPr lang="zh-CN" altLang="en-US">
                <a:solidFill>
                  <a:srgbClr val="FF0000"/>
                </a:solidFill>
                <a:latin typeface="楷体_GB2312" pitchFamily="49" charset="-122"/>
                <a:ea typeface="楷体_GB2312" pitchFamily="49" charset="-122"/>
              </a:rPr>
              <a:t>既不能使用用户态的堆栈也不能直接使用内核态堆栈</a:t>
            </a:r>
          </a:p>
        </p:txBody>
      </p:sp>
      <p:sp>
        <p:nvSpPr>
          <p:cNvPr id="46084" name="Text Box 4"/>
          <p:cNvSpPr txBox="1">
            <a:spLocks noChangeArrowheads="1"/>
          </p:cNvSpPr>
          <p:nvPr/>
        </p:nvSpPr>
        <p:spPr bwMode="auto">
          <a:xfrm>
            <a:off x="2339975" y="4852988"/>
            <a:ext cx="1031875" cy="376237"/>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6085" name="Text Box 5"/>
          <p:cNvSpPr txBox="1">
            <a:spLocks noChangeArrowheads="1"/>
          </p:cNvSpPr>
          <p:nvPr/>
        </p:nvSpPr>
        <p:spPr bwMode="auto">
          <a:xfrm>
            <a:off x="2339975" y="5068888"/>
            <a:ext cx="1031875" cy="376237"/>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6086" name="Text Box 6"/>
          <p:cNvSpPr txBox="1">
            <a:spLocks noChangeArrowheads="1"/>
          </p:cNvSpPr>
          <p:nvPr/>
        </p:nvSpPr>
        <p:spPr bwMode="auto">
          <a:xfrm>
            <a:off x="2339975" y="5357813"/>
            <a:ext cx="1031875" cy="376237"/>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6087" name="Text Box 7"/>
          <p:cNvSpPr txBox="1">
            <a:spLocks noChangeArrowheads="1"/>
          </p:cNvSpPr>
          <p:nvPr/>
        </p:nvSpPr>
        <p:spPr bwMode="auto">
          <a:xfrm>
            <a:off x="2339975" y="5573713"/>
            <a:ext cx="1031875" cy="376237"/>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6088" name="Text Box 8"/>
          <p:cNvSpPr txBox="1">
            <a:spLocks noChangeArrowheads="1"/>
          </p:cNvSpPr>
          <p:nvPr/>
        </p:nvSpPr>
        <p:spPr bwMode="auto">
          <a:xfrm>
            <a:off x="2195513" y="4421188"/>
            <a:ext cx="1327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Arial" panose="020B0604020202020204" pitchFamily="34" charset="0"/>
                <a:ea typeface="宋体" panose="02010600030101010101" pitchFamily="2" charset="-122"/>
              </a:rPr>
              <a:t>用户态堆栈</a:t>
            </a:r>
          </a:p>
        </p:txBody>
      </p:sp>
      <p:sp>
        <p:nvSpPr>
          <p:cNvPr id="46089" name="Text Box 9"/>
          <p:cNvSpPr txBox="1">
            <a:spLocks noChangeArrowheads="1"/>
          </p:cNvSpPr>
          <p:nvPr/>
        </p:nvSpPr>
        <p:spPr bwMode="auto">
          <a:xfrm>
            <a:off x="539750" y="4365625"/>
            <a:ext cx="1492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Arial" panose="020B0604020202020204" pitchFamily="34" charset="0"/>
                <a:ea typeface="宋体" panose="02010600030101010101" pitchFamily="2" charset="-122"/>
              </a:rPr>
              <a:t>用户态</a:t>
            </a:r>
            <a:r>
              <a:rPr lang="en-US" altLang="zh-CN" sz="1800" b="0">
                <a:solidFill>
                  <a:schemeClr val="tx1"/>
                </a:solidFill>
                <a:latin typeface="Arial" panose="020B0604020202020204" pitchFamily="34" charset="0"/>
                <a:ea typeface="宋体" panose="02010600030101010101" pitchFamily="2" charset="-122"/>
              </a:rPr>
              <a:t>C</a:t>
            </a:r>
            <a:r>
              <a:rPr lang="zh-CN" altLang="en-US" sz="1800" b="0">
                <a:solidFill>
                  <a:schemeClr val="tx1"/>
                </a:solidFill>
                <a:latin typeface="Arial" panose="020B0604020202020204" pitchFamily="34" charset="0"/>
                <a:ea typeface="宋体" panose="02010600030101010101" pitchFamily="2" charset="-122"/>
              </a:rPr>
              <a:t>函数</a:t>
            </a:r>
          </a:p>
        </p:txBody>
      </p:sp>
      <p:sp>
        <p:nvSpPr>
          <p:cNvPr id="46090" name="Line 10"/>
          <p:cNvSpPr>
            <a:spLocks noChangeShapeType="1"/>
          </p:cNvSpPr>
          <p:nvPr/>
        </p:nvSpPr>
        <p:spPr bwMode="auto">
          <a:xfrm>
            <a:off x="1258888" y="4868863"/>
            <a:ext cx="10096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91" name="Text Box 11"/>
          <p:cNvSpPr txBox="1">
            <a:spLocks noChangeArrowheads="1"/>
          </p:cNvSpPr>
          <p:nvPr/>
        </p:nvSpPr>
        <p:spPr bwMode="auto">
          <a:xfrm>
            <a:off x="7308850" y="4797425"/>
            <a:ext cx="1031875" cy="376238"/>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6092" name="Text Box 12"/>
          <p:cNvSpPr txBox="1">
            <a:spLocks noChangeArrowheads="1"/>
          </p:cNvSpPr>
          <p:nvPr/>
        </p:nvSpPr>
        <p:spPr bwMode="auto">
          <a:xfrm>
            <a:off x="7308850" y="5013325"/>
            <a:ext cx="1031875" cy="376238"/>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6093" name="Text Box 13"/>
          <p:cNvSpPr txBox="1">
            <a:spLocks noChangeArrowheads="1"/>
          </p:cNvSpPr>
          <p:nvPr/>
        </p:nvSpPr>
        <p:spPr bwMode="auto">
          <a:xfrm>
            <a:off x="7308850" y="5302250"/>
            <a:ext cx="1031875" cy="376238"/>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6094" name="Text Box 14"/>
          <p:cNvSpPr txBox="1">
            <a:spLocks noChangeArrowheads="1"/>
          </p:cNvSpPr>
          <p:nvPr/>
        </p:nvSpPr>
        <p:spPr bwMode="auto">
          <a:xfrm>
            <a:off x="7308850" y="5518150"/>
            <a:ext cx="1031875" cy="376238"/>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6095" name="Text Box 15"/>
          <p:cNvSpPr txBox="1">
            <a:spLocks noChangeArrowheads="1"/>
          </p:cNvSpPr>
          <p:nvPr/>
        </p:nvSpPr>
        <p:spPr bwMode="auto">
          <a:xfrm>
            <a:off x="7164388" y="4365625"/>
            <a:ext cx="1327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Arial" panose="020B0604020202020204" pitchFamily="34" charset="0"/>
                <a:ea typeface="宋体" panose="02010600030101010101" pitchFamily="2" charset="-122"/>
              </a:rPr>
              <a:t>内核态堆栈</a:t>
            </a:r>
          </a:p>
        </p:txBody>
      </p:sp>
      <p:sp>
        <p:nvSpPr>
          <p:cNvPr id="46096" name="Text Box 16"/>
          <p:cNvSpPr txBox="1">
            <a:spLocks noChangeArrowheads="1"/>
          </p:cNvSpPr>
          <p:nvPr/>
        </p:nvSpPr>
        <p:spPr bwMode="auto">
          <a:xfrm>
            <a:off x="5651500" y="4365625"/>
            <a:ext cx="1492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Arial" panose="020B0604020202020204" pitchFamily="34" charset="0"/>
                <a:ea typeface="宋体" panose="02010600030101010101" pitchFamily="2" charset="-122"/>
              </a:rPr>
              <a:t>内核态</a:t>
            </a:r>
            <a:r>
              <a:rPr lang="en-US" altLang="zh-CN" sz="1800" b="0">
                <a:solidFill>
                  <a:schemeClr val="tx1"/>
                </a:solidFill>
                <a:latin typeface="Arial" panose="020B0604020202020204" pitchFamily="34" charset="0"/>
                <a:ea typeface="宋体" panose="02010600030101010101" pitchFamily="2" charset="-122"/>
              </a:rPr>
              <a:t>C</a:t>
            </a:r>
            <a:r>
              <a:rPr lang="zh-CN" altLang="en-US" sz="1800" b="0">
                <a:solidFill>
                  <a:schemeClr val="tx1"/>
                </a:solidFill>
                <a:latin typeface="Arial" panose="020B0604020202020204" pitchFamily="34" charset="0"/>
                <a:ea typeface="宋体" panose="02010600030101010101" pitchFamily="2" charset="-122"/>
              </a:rPr>
              <a:t>函数</a:t>
            </a:r>
          </a:p>
        </p:txBody>
      </p:sp>
      <p:sp>
        <p:nvSpPr>
          <p:cNvPr id="46097" name="AutoShape 17"/>
          <p:cNvSpPr>
            <a:spLocks noChangeArrowheads="1"/>
          </p:cNvSpPr>
          <p:nvPr/>
        </p:nvSpPr>
        <p:spPr bwMode="auto">
          <a:xfrm>
            <a:off x="4067175" y="4941888"/>
            <a:ext cx="1368425" cy="576262"/>
          </a:xfrm>
          <a:prstGeom prst="rightArrow">
            <a:avLst>
              <a:gd name="adj1" fmla="val 50000"/>
              <a:gd name="adj2" fmla="val 59366"/>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lnSpc>
                <a:spcPct val="90000"/>
              </a:lnSpc>
              <a:buFont typeface="Wingdings" panose="05000000000000000000" pitchFamily="2" charset="2"/>
              <a:buNone/>
            </a:pPr>
            <a:endParaRPr lang="zh-CN" altLang="en-US" sz="1400">
              <a:latin typeface="楷体_GB2312" pitchFamily="49" charset="-122"/>
              <a:ea typeface="楷体_GB2312" pitchFamily="49" charset="-122"/>
            </a:endParaRPr>
          </a:p>
        </p:txBody>
      </p:sp>
      <p:sp>
        <p:nvSpPr>
          <p:cNvPr id="46098" name="Line 18"/>
          <p:cNvSpPr>
            <a:spLocks noChangeShapeType="1"/>
          </p:cNvSpPr>
          <p:nvPr/>
        </p:nvSpPr>
        <p:spPr bwMode="auto">
          <a:xfrm>
            <a:off x="1258888" y="4724400"/>
            <a:ext cx="0"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9" name="Line 19"/>
          <p:cNvSpPr>
            <a:spLocks noChangeShapeType="1"/>
          </p:cNvSpPr>
          <p:nvPr/>
        </p:nvSpPr>
        <p:spPr bwMode="auto">
          <a:xfrm>
            <a:off x="6226175" y="4868863"/>
            <a:ext cx="10096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00" name="Line 20"/>
          <p:cNvSpPr>
            <a:spLocks noChangeShapeType="1"/>
          </p:cNvSpPr>
          <p:nvPr/>
        </p:nvSpPr>
        <p:spPr bwMode="auto">
          <a:xfrm>
            <a:off x="6227763" y="4724400"/>
            <a:ext cx="0"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1" name="Line 21"/>
          <p:cNvSpPr>
            <a:spLocks noChangeShapeType="1"/>
          </p:cNvSpPr>
          <p:nvPr/>
        </p:nvSpPr>
        <p:spPr bwMode="auto">
          <a:xfrm>
            <a:off x="4716463" y="4005263"/>
            <a:ext cx="0" cy="25923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9272685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p:txBody>
          <a:bodyPr/>
          <a:lstStyle/>
          <a:p>
            <a:pPr lvl="1" eaLnBrk="1" hangingPunct="1"/>
            <a:r>
              <a:rPr lang="zh-CN" altLang="en-US">
                <a:latin typeface="楷体_GB2312" pitchFamily="49" charset="-122"/>
                <a:ea typeface="楷体_GB2312" pitchFamily="49" charset="-122"/>
              </a:rPr>
              <a:t>在</a:t>
            </a:r>
            <a:r>
              <a:rPr lang="en-US" altLang="zh-CN">
                <a:latin typeface="楷体_GB2312" pitchFamily="49" charset="-122"/>
                <a:ea typeface="楷体_GB2312" pitchFamily="49" charset="-122"/>
              </a:rPr>
              <a:t>int $0x80</a:t>
            </a:r>
            <a:r>
              <a:rPr lang="zh-CN" altLang="en-US">
                <a:latin typeface="楷体_GB2312" pitchFamily="49" charset="-122"/>
                <a:ea typeface="楷体_GB2312" pitchFamily="49" charset="-122"/>
              </a:rPr>
              <a:t>汇编指令之前，系统调用的参数被写入</a:t>
            </a:r>
            <a:r>
              <a:rPr lang="en-US" altLang="zh-CN">
                <a:latin typeface="楷体_GB2312" pitchFamily="49" charset="-122"/>
                <a:ea typeface="楷体_GB2312" pitchFamily="49" charset="-122"/>
              </a:rPr>
              <a:t>CPU</a:t>
            </a:r>
            <a:r>
              <a:rPr lang="zh-CN" altLang="en-US">
                <a:latin typeface="楷体_GB2312" pitchFamily="49" charset="-122"/>
                <a:ea typeface="楷体_GB2312" pitchFamily="49" charset="-122"/>
              </a:rPr>
              <a:t>的</a:t>
            </a:r>
            <a:r>
              <a:rPr lang="zh-CN" altLang="en-US">
                <a:solidFill>
                  <a:srgbClr val="FF0000"/>
                </a:solidFill>
                <a:latin typeface="楷体_GB2312" pitchFamily="49" charset="-122"/>
                <a:ea typeface="楷体_GB2312" pitchFamily="49" charset="-122"/>
              </a:rPr>
              <a:t>寄存器</a:t>
            </a:r>
            <a:r>
              <a:rPr lang="zh-CN" altLang="en-US">
                <a:latin typeface="楷体_GB2312" pitchFamily="49" charset="-122"/>
                <a:ea typeface="楷体_GB2312" pitchFamily="49" charset="-122"/>
              </a:rPr>
              <a:t>。然后，在进入内核态调用系统调用服务例程之前，内核再把存放在</a:t>
            </a:r>
            <a:r>
              <a:rPr lang="en-US" altLang="zh-CN">
                <a:latin typeface="楷体_GB2312" pitchFamily="49" charset="-122"/>
                <a:ea typeface="楷体_GB2312" pitchFamily="49" charset="-122"/>
              </a:rPr>
              <a:t>CPU</a:t>
            </a:r>
            <a:r>
              <a:rPr lang="zh-CN" altLang="en-US">
                <a:latin typeface="楷体_GB2312" pitchFamily="49" charset="-122"/>
                <a:ea typeface="楷体_GB2312" pitchFamily="49" charset="-122"/>
              </a:rPr>
              <a:t>寄存器中的参数拷贝到内核态堆栈中。因为毕竟服务例程是</a:t>
            </a:r>
            <a:r>
              <a:rPr lang="en-US" altLang="zh-CN">
                <a:latin typeface="楷体_GB2312" pitchFamily="49" charset="-122"/>
                <a:ea typeface="楷体_GB2312" pitchFamily="49" charset="-122"/>
              </a:rPr>
              <a:t>C</a:t>
            </a:r>
            <a:r>
              <a:rPr lang="zh-CN" altLang="en-US">
                <a:latin typeface="楷体_GB2312" pitchFamily="49" charset="-122"/>
                <a:ea typeface="楷体_GB2312" pitchFamily="49" charset="-122"/>
              </a:rPr>
              <a:t>函数，它还是要到堆栈中去寻找参数的</a:t>
            </a:r>
            <a:r>
              <a:rPr lang="en-US" altLang="zh-CN">
                <a:latin typeface="楷体_GB2312" pitchFamily="49" charset="-122"/>
                <a:ea typeface="楷体_GB2312" pitchFamily="49" charset="-122"/>
              </a:rPr>
              <a:t>.</a:t>
            </a:r>
            <a:endParaRPr lang="zh-CN" altLang="en-US">
              <a:latin typeface="楷体_GB2312" pitchFamily="49" charset="-122"/>
              <a:ea typeface="楷体_GB2312" pitchFamily="49" charset="-122"/>
            </a:endParaRPr>
          </a:p>
        </p:txBody>
      </p:sp>
      <p:sp>
        <p:nvSpPr>
          <p:cNvPr id="47108" name="Text Box 4"/>
          <p:cNvSpPr txBox="1">
            <a:spLocks noChangeArrowheads="1"/>
          </p:cNvSpPr>
          <p:nvPr/>
        </p:nvSpPr>
        <p:spPr bwMode="auto">
          <a:xfrm>
            <a:off x="2339975" y="4852988"/>
            <a:ext cx="1031875" cy="376237"/>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7109" name="Text Box 5"/>
          <p:cNvSpPr txBox="1">
            <a:spLocks noChangeArrowheads="1"/>
          </p:cNvSpPr>
          <p:nvPr/>
        </p:nvSpPr>
        <p:spPr bwMode="auto">
          <a:xfrm>
            <a:off x="2339975" y="5068888"/>
            <a:ext cx="1031875" cy="376237"/>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7110" name="Text Box 6"/>
          <p:cNvSpPr txBox="1">
            <a:spLocks noChangeArrowheads="1"/>
          </p:cNvSpPr>
          <p:nvPr/>
        </p:nvSpPr>
        <p:spPr bwMode="auto">
          <a:xfrm>
            <a:off x="2339975" y="5357813"/>
            <a:ext cx="1031875" cy="376237"/>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7111" name="Text Box 7"/>
          <p:cNvSpPr txBox="1">
            <a:spLocks noChangeArrowheads="1"/>
          </p:cNvSpPr>
          <p:nvPr/>
        </p:nvSpPr>
        <p:spPr bwMode="auto">
          <a:xfrm>
            <a:off x="2339975" y="5573713"/>
            <a:ext cx="1031875" cy="376237"/>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7112" name="Text Box 8"/>
          <p:cNvSpPr txBox="1">
            <a:spLocks noChangeArrowheads="1"/>
          </p:cNvSpPr>
          <p:nvPr/>
        </p:nvSpPr>
        <p:spPr bwMode="auto">
          <a:xfrm>
            <a:off x="2195513" y="4421188"/>
            <a:ext cx="1327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Arial" panose="020B0604020202020204" pitchFamily="34" charset="0"/>
                <a:ea typeface="宋体" panose="02010600030101010101" pitchFamily="2" charset="-122"/>
              </a:rPr>
              <a:t>用户态堆栈</a:t>
            </a:r>
          </a:p>
        </p:txBody>
      </p:sp>
      <p:sp>
        <p:nvSpPr>
          <p:cNvPr id="47113" name="Text Box 9"/>
          <p:cNvSpPr txBox="1">
            <a:spLocks noChangeArrowheads="1"/>
          </p:cNvSpPr>
          <p:nvPr/>
        </p:nvSpPr>
        <p:spPr bwMode="auto">
          <a:xfrm>
            <a:off x="539750" y="4365625"/>
            <a:ext cx="1492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Arial" panose="020B0604020202020204" pitchFamily="34" charset="0"/>
                <a:ea typeface="宋体" panose="02010600030101010101" pitchFamily="2" charset="-122"/>
              </a:rPr>
              <a:t>用户态</a:t>
            </a:r>
            <a:r>
              <a:rPr lang="en-US" altLang="zh-CN" sz="1800" b="0">
                <a:solidFill>
                  <a:schemeClr val="tx1"/>
                </a:solidFill>
                <a:latin typeface="Arial" panose="020B0604020202020204" pitchFamily="34" charset="0"/>
                <a:ea typeface="宋体" panose="02010600030101010101" pitchFamily="2" charset="-122"/>
              </a:rPr>
              <a:t>C</a:t>
            </a:r>
            <a:r>
              <a:rPr lang="zh-CN" altLang="en-US" sz="1800" b="0">
                <a:solidFill>
                  <a:schemeClr val="tx1"/>
                </a:solidFill>
                <a:latin typeface="Arial" panose="020B0604020202020204" pitchFamily="34" charset="0"/>
                <a:ea typeface="宋体" panose="02010600030101010101" pitchFamily="2" charset="-122"/>
              </a:rPr>
              <a:t>函数</a:t>
            </a:r>
          </a:p>
        </p:txBody>
      </p:sp>
      <p:sp>
        <p:nvSpPr>
          <p:cNvPr id="47114" name="Line 10"/>
          <p:cNvSpPr>
            <a:spLocks noChangeShapeType="1"/>
          </p:cNvSpPr>
          <p:nvPr/>
        </p:nvSpPr>
        <p:spPr bwMode="auto">
          <a:xfrm>
            <a:off x="1258888" y="4868863"/>
            <a:ext cx="10096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5" name="Text Box 11"/>
          <p:cNvSpPr txBox="1">
            <a:spLocks noChangeArrowheads="1"/>
          </p:cNvSpPr>
          <p:nvPr/>
        </p:nvSpPr>
        <p:spPr bwMode="auto">
          <a:xfrm>
            <a:off x="7308850" y="4797425"/>
            <a:ext cx="1031875" cy="376238"/>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7116" name="Text Box 12"/>
          <p:cNvSpPr txBox="1">
            <a:spLocks noChangeArrowheads="1"/>
          </p:cNvSpPr>
          <p:nvPr/>
        </p:nvSpPr>
        <p:spPr bwMode="auto">
          <a:xfrm>
            <a:off x="7308850" y="5013325"/>
            <a:ext cx="1031875" cy="376238"/>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7117" name="Text Box 13"/>
          <p:cNvSpPr txBox="1">
            <a:spLocks noChangeArrowheads="1"/>
          </p:cNvSpPr>
          <p:nvPr/>
        </p:nvSpPr>
        <p:spPr bwMode="auto">
          <a:xfrm>
            <a:off x="7308850" y="5302250"/>
            <a:ext cx="1031875" cy="376238"/>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7118" name="Text Box 14"/>
          <p:cNvSpPr txBox="1">
            <a:spLocks noChangeArrowheads="1"/>
          </p:cNvSpPr>
          <p:nvPr/>
        </p:nvSpPr>
        <p:spPr bwMode="auto">
          <a:xfrm>
            <a:off x="7308850" y="5518150"/>
            <a:ext cx="1031875" cy="376238"/>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47119" name="Text Box 15"/>
          <p:cNvSpPr txBox="1">
            <a:spLocks noChangeArrowheads="1"/>
          </p:cNvSpPr>
          <p:nvPr/>
        </p:nvSpPr>
        <p:spPr bwMode="auto">
          <a:xfrm>
            <a:off x="7164388" y="4365625"/>
            <a:ext cx="1327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Arial" panose="020B0604020202020204" pitchFamily="34" charset="0"/>
                <a:ea typeface="宋体" panose="02010600030101010101" pitchFamily="2" charset="-122"/>
              </a:rPr>
              <a:t>内核态堆栈</a:t>
            </a:r>
          </a:p>
        </p:txBody>
      </p:sp>
      <p:sp>
        <p:nvSpPr>
          <p:cNvPr id="47120" name="Text Box 16"/>
          <p:cNvSpPr txBox="1">
            <a:spLocks noChangeArrowheads="1"/>
          </p:cNvSpPr>
          <p:nvPr/>
        </p:nvSpPr>
        <p:spPr bwMode="auto">
          <a:xfrm>
            <a:off x="5651500" y="4365625"/>
            <a:ext cx="1492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Arial" panose="020B0604020202020204" pitchFamily="34" charset="0"/>
                <a:ea typeface="宋体" panose="02010600030101010101" pitchFamily="2" charset="-122"/>
              </a:rPr>
              <a:t>内核态</a:t>
            </a:r>
            <a:r>
              <a:rPr lang="en-US" altLang="zh-CN" sz="1800" b="0">
                <a:solidFill>
                  <a:schemeClr val="tx1"/>
                </a:solidFill>
                <a:latin typeface="Arial" panose="020B0604020202020204" pitchFamily="34" charset="0"/>
                <a:ea typeface="宋体" panose="02010600030101010101" pitchFamily="2" charset="-122"/>
              </a:rPr>
              <a:t>C</a:t>
            </a:r>
            <a:r>
              <a:rPr lang="zh-CN" altLang="en-US" sz="1800" b="0">
                <a:solidFill>
                  <a:schemeClr val="tx1"/>
                </a:solidFill>
                <a:latin typeface="Arial" panose="020B0604020202020204" pitchFamily="34" charset="0"/>
                <a:ea typeface="宋体" panose="02010600030101010101" pitchFamily="2" charset="-122"/>
              </a:rPr>
              <a:t>函数</a:t>
            </a:r>
          </a:p>
        </p:txBody>
      </p:sp>
      <p:sp>
        <p:nvSpPr>
          <p:cNvPr id="47121" name="Line 17"/>
          <p:cNvSpPr>
            <a:spLocks noChangeShapeType="1"/>
          </p:cNvSpPr>
          <p:nvPr/>
        </p:nvSpPr>
        <p:spPr bwMode="auto">
          <a:xfrm>
            <a:off x="1258888" y="4724400"/>
            <a:ext cx="0"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2" name="Line 18"/>
          <p:cNvSpPr>
            <a:spLocks noChangeShapeType="1"/>
          </p:cNvSpPr>
          <p:nvPr/>
        </p:nvSpPr>
        <p:spPr bwMode="auto">
          <a:xfrm>
            <a:off x="6226175" y="4868863"/>
            <a:ext cx="10096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3" name="Line 19"/>
          <p:cNvSpPr>
            <a:spLocks noChangeShapeType="1"/>
          </p:cNvSpPr>
          <p:nvPr/>
        </p:nvSpPr>
        <p:spPr bwMode="auto">
          <a:xfrm>
            <a:off x="6227763" y="4724400"/>
            <a:ext cx="0"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4" name="Line 20"/>
          <p:cNvSpPr>
            <a:spLocks noChangeShapeType="1"/>
          </p:cNvSpPr>
          <p:nvPr/>
        </p:nvSpPr>
        <p:spPr bwMode="auto">
          <a:xfrm>
            <a:off x="4716463" y="4005263"/>
            <a:ext cx="0" cy="25923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5" name="Text Box 21"/>
          <p:cNvSpPr txBox="1">
            <a:spLocks noChangeArrowheads="1"/>
          </p:cNvSpPr>
          <p:nvPr/>
        </p:nvSpPr>
        <p:spPr bwMode="auto">
          <a:xfrm>
            <a:off x="4284663" y="5157788"/>
            <a:ext cx="8699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Arial" panose="020B0604020202020204" pitchFamily="34" charset="0"/>
                <a:ea typeface="宋体" panose="02010600030101010101" pitchFamily="2" charset="-122"/>
              </a:rPr>
              <a:t>寄存器</a:t>
            </a:r>
          </a:p>
        </p:txBody>
      </p:sp>
      <p:sp>
        <p:nvSpPr>
          <p:cNvPr id="47126" name="AutoShape 22"/>
          <p:cNvSpPr>
            <a:spLocks noChangeArrowheads="1"/>
          </p:cNvSpPr>
          <p:nvPr/>
        </p:nvSpPr>
        <p:spPr bwMode="auto">
          <a:xfrm>
            <a:off x="3635375" y="5157788"/>
            <a:ext cx="574675" cy="360362"/>
          </a:xfrm>
          <a:prstGeom prst="rightArrow">
            <a:avLst>
              <a:gd name="adj1" fmla="val 50000"/>
              <a:gd name="adj2" fmla="val 39868"/>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lnSpc>
                <a:spcPct val="90000"/>
              </a:lnSpc>
              <a:buFont typeface="Wingdings" panose="05000000000000000000" pitchFamily="2" charset="2"/>
              <a:buNone/>
            </a:pPr>
            <a:endParaRPr lang="zh-CN" altLang="en-US" sz="1400">
              <a:latin typeface="楷体_GB2312" pitchFamily="49" charset="-122"/>
              <a:ea typeface="楷体_GB2312" pitchFamily="49" charset="-122"/>
            </a:endParaRPr>
          </a:p>
        </p:txBody>
      </p:sp>
      <p:sp>
        <p:nvSpPr>
          <p:cNvPr id="47127" name="AutoShape 23"/>
          <p:cNvSpPr>
            <a:spLocks noChangeArrowheads="1"/>
          </p:cNvSpPr>
          <p:nvPr/>
        </p:nvSpPr>
        <p:spPr bwMode="auto">
          <a:xfrm>
            <a:off x="5219700" y="5156200"/>
            <a:ext cx="574675" cy="360363"/>
          </a:xfrm>
          <a:prstGeom prst="rightArrow">
            <a:avLst>
              <a:gd name="adj1" fmla="val 50000"/>
              <a:gd name="adj2" fmla="val 39868"/>
            </a:avLst>
          </a:prstGeom>
          <a:solidFill>
            <a:schemeClr val="hlink"/>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lnSpc>
                <a:spcPct val="90000"/>
              </a:lnSpc>
              <a:buFont typeface="Wingdings" panose="05000000000000000000" pitchFamily="2" charset="2"/>
              <a:buNone/>
            </a:pPr>
            <a:endParaRPr lang="zh-CN" altLang="en-US" sz="1400">
              <a:latin typeface="楷体_GB2312" pitchFamily="49" charset="-122"/>
              <a:ea typeface="楷体_GB2312" pitchFamily="49" charset="-122"/>
            </a:endParaRPr>
          </a:p>
        </p:txBody>
      </p:sp>
      <p:sp>
        <p:nvSpPr>
          <p:cNvPr id="26" name="Rectangle 2">
            <a:extLst>
              <a:ext uri="{FF2B5EF4-FFF2-40B4-BE49-F238E27FC236}">
                <a16:creationId xmlns:a16="http://schemas.microsoft.com/office/drawing/2014/main" id="{BA3D2AF4-BA0F-4120-B069-B9305EF0F151}"/>
              </a:ext>
            </a:extLst>
          </p:cNvPr>
          <p:cNvSpPr>
            <a:spLocks noGrp="1" noChangeArrowheads="1"/>
          </p:cNvSpPr>
          <p:nvPr>
            <p:ph type="title"/>
          </p:nvPr>
        </p:nvSpPr>
        <p:spPr>
          <a:xfrm>
            <a:off x="611188" y="115888"/>
            <a:ext cx="7632700" cy="609600"/>
          </a:xfrm>
        </p:spPr>
        <p:txBody>
          <a:bodyPr/>
          <a:lstStyle/>
          <a:p>
            <a:pPr eaLnBrk="1" hangingPunct="1"/>
            <a:r>
              <a:rPr lang="en-US" altLang="zh-CN" dirty="0">
                <a:latin typeface="楷体_GB2312" pitchFamily="49" charset="-122"/>
                <a:ea typeface="楷体_GB2312" pitchFamily="49" charset="-122"/>
              </a:rPr>
              <a:t>4.4 </a:t>
            </a:r>
            <a:r>
              <a:rPr lang="zh-CN" altLang="en-US" dirty="0">
                <a:latin typeface="楷体_GB2312" pitchFamily="49" charset="-122"/>
                <a:ea typeface="楷体_GB2312" pitchFamily="49" charset="-122"/>
              </a:rPr>
              <a:t>系统调用的参数传递</a:t>
            </a:r>
          </a:p>
        </p:txBody>
      </p:sp>
    </p:spTree>
    <p:extLst>
      <p:ext uri="{BB962C8B-B14F-4D97-AF65-F5344CB8AC3E}">
        <p14:creationId xmlns:p14="http://schemas.microsoft.com/office/powerpoint/2010/main" val="935861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0435" name="Rectangle 3"/>
          <p:cNvSpPr>
            <a:spLocks noGrp="1" noChangeArrowheads="1"/>
          </p:cNvSpPr>
          <p:nvPr>
            <p:ph type="body" idx="1"/>
          </p:nvPr>
        </p:nvSpPr>
        <p:spPr>
          <a:xfrm>
            <a:off x="323850" y="1052513"/>
            <a:ext cx="8640763" cy="5105400"/>
          </a:xfrm>
        </p:spPr>
        <p:txBody>
          <a:bodyPr/>
          <a:lstStyle/>
          <a:p>
            <a:pPr eaLnBrk="1" hangingPunct="1">
              <a:buFont typeface="Wingdings" panose="05000000000000000000" pitchFamily="2" charset="2"/>
              <a:buNone/>
            </a:pPr>
            <a:r>
              <a:rPr lang="zh-CN" altLang="en-US" dirty="0">
                <a:latin typeface="楷体_GB2312" pitchFamily="49" charset="-122"/>
                <a:ea typeface="楷体_GB2312" pitchFamily="49" charset="-122"/>
              </a:rPr>
              <a:t>系统调用</a:t>
            </a:r>
            <a:r>
              <a:rPr lang="zh-CN" altLang="en-US" dirty="0">
                <a:solidFill>
                  <a:srgbClr val="FF0000"/>
                </a:solidFill>
                <a:latin typeface="楷体_GB2312" pitchFamily="49" charset="-122"/>
                <a:ea typeface="楷体_GB2312" pitchFamily="49" charset="-122"/>
              </a:rPr>
              <a:t>使用寄存器来传递参数</a:t>
            </a:r>
            <a:r>
              <a:rPr lang="zh-CN" altLang="en-US" dirty="0">
                <a:latin typeface="楷体_GB2312" pitchFamily="49" charset="-122"/>
                <a:ea typeface="楷体_GB2312" pitchFamily="49" charset="-122"/>
              </a:rPr>
              <a:t>，要传递的参数有：</a:t>
            </a:r>
          </a:p>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rPr>
              <a:t>–</a:t>
            </a:r>
            <a:r>
              <a:rPr lang="zh-CN" altLang="en-US" dirty="0">
                <a:latin typeface="楷体_GB2312" pitchFamily="49" charset="-122"/>
                <a:ea typeface="楷体_GB2312" pitchFamily="49" charset="-122"/>
              </a:rPr>
              <a:t>系统调用号</a:t>
            </a:r>
          </a:p>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rPr>
              <a:t>–</a:t>
            </a:r>
            <a:r>
              <a:rPr lang="zh-CN" altLang="en-US" dirty="0">
                <a:latin typeface="楷体_GB2312" pitchFamily="49" charset="-122"/>
                <a:ea typeface="楷体_GB2312" pitchFamily="49" charset="-122"/>
              </a:rPr>
              <a:t>系统调用所需的参数</a:t>
            </a:r>
          </a:p>
          <a:p>
            <a:pPr eaLnBrk="1" hangingPunct="1">
              <a:buFont typeface="Wingdings" panose="05000000000000000000" pitchFamily="2" charset="2"/>
              <a:buNone/>
            </a:pPr>
            <a:endParaRPr lang="zh-CN" altLang="en-US" dirty="0">
              <a:latin typeface="楷体_GB2312" pitchFamily="49" charset="-122"/>
              <a:ea typeface="楷体_GB2312" pitchFamily="49" charset="-122"/>
            </a:endParaRPr>
          </a:p>
          <a:p>
            <a:pPr eaLnBrk="1" hangingPunct="1">
              <a:buFont typeface="Wingdings" panose="05000000000000000000" pitchFamily="2" charset="2"/>
              <a:buNone/>
            </a:pPr>
            <a:r>
              <a:rPr lang="zh-CN" altLang="en-US" dirty="0">
                <a:solidFill>
                  <a:srgbClr val="FF0000"/>
                </a:solidFill>
                <a:latin typeface="楷体_GB2312" pitchFamily="49" charset="-122"/>
                <a:ea typeface="楷体_GB2312" pitchFamily="49" charset="-122"/>
              </a:rPr>
              <a:t>用于传递参数的寄存器有：</a:t>
            </a:r>
          </a:p>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rPr>
              <a:t>–</a:t>
            </a:r>
            <a:r>
              <a:rPr lang="en-US" altLang="zh-CN" dirty="0" err="1">
                <a:latin typeface="楷体_GB2312" pitchFamily="49" charset="-122"/>
                <a:ea typeface="楷体_GB2312" pitchFamily="49" charset="-122"/>
              </a:rPr>
              <a:t>eax</a:t>
            </a:r>
            <a:r>
              <a:rPr lang="zh-CN" altLang="en-US" dirty="0">
                <a:latin typeface="楷体_GB2312" pitchFamily="49" charset="-122"/>
                <a:ea typeface="楷体_GB2312" pitchFamily="49" charset="-122"/>
              </a:rPr>
              <a:t>：用于保存系统调用号和系统调用返回值</a:t>
            </a:r>
          </a:p>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rPr>
              <a:t>–</a:t>
            </a:r>
            <a:r>
              <a:rPr lang="zh-CN" altLang="en-US" dirty="0">
                <a:latin typeface="楷体_GB2312" pitchFamily="49" charset="-122"/>
                <a:ea typeface="楷体_GB2312" pitchFamily="49" charset="-122"/>
              </a:rPr>
              <a:t>系统调用参数保存在：</a:t>
            </a:r>
            <a:r>
              <a:rPr lang="en-US" altLang="zh-CN" dirty="0" err="1">
                <a:latin typeface="楷体_GB2312" pitchFamily="49" charset="-122"/>
                <a:ea typeface="楷体_GB2312" pitchFamily="49" charset="-122"/>
              </a:rPr>
              <a:t>ebx,ecx,edx,esi</a:t>
            </a:r>
            <a:r>
              <a:rPr lang="zh-CN" altLang="en-US" dirty="0">
                <a:latin typeface="楷体_GB2312" pitchFamily="49" charset="-122"/>
                <a:ea typeface="楷体_GB2312" pitchFamily="49" charset="-122"/>
              </a:rPr>
              <a:t>和</a:t>
            </a:r>
            <a:r>
              <a:rPr lang="en-US" altLang="zh-CN" dirty="0" err="1">
                <a:latin typeface="楷体_GB2312" pitchFamily="49" charset="-122"/>
                <a:ea typeface="楷体_GB2312" pitchFamily="49" charset="-122"/>
              </a:rPr>
              <a:t>edi</a:t>
            </a:r>
            <a:r>
              <a:rPr lang="zh-CN" altLang="en-US" dirty="0">
                <a:latin typeface="楷体_GB2312" pitchFamily="49" charset="-122"/>
                <a:ea typeface="楷体_GB2312" pitchFamily="49" charset="-122"/>
              </a:rPr>
              <a:t>中</a:t>
            </a:r>
          </a:p>
          <a:p>
            <a:pPr eaLnBrk="1" hangingPunct="1">
              <a:buFont typeface="Wingdings" panose="05000000000000000000" pitchFamily="2" charset="2"/>
              <a:buNone/>
            </a:pPr>
            <a:endParaRPr lang="zh-CN" altLang="en-US" dirty="0">
              <a:latin typeface="楷体_GB2312" pitchFamily="49" charset="-122"/>
              <a:ea typeface="楷体_GB2312" pitchFamily="49" charset="-122"/>
            </a:endParaRPr>
          </a:p>
          <a:p>
            <a:pPr eaLnBrk="1" hangingPunct="1">
              <a:buFont typeface="Wingdings" panose="05000000000000000000" pitchFamily="2" charset="2"/>
              <a:buNone/>
            </a:pPr>
            <a:r>
              <a:rPr lang="zh-CN" altLang="en-US" dirty="0">
                <a:solidFill>
                  <a:srgbClr val="FF0000"/>
                </a:solidFill>
                <a:latin typeface="楷体_GB2312" pitchFamily="49" charset="-122"/>
                <a:ea typeface="楷体_GB2312" pitchFamily="49" charset="-122"/>
              </a:rPr>
              <a:t>进入内核态后，</a:t>
            </a:r>
            <a:r>
              <a:rPr lang="en-US" altLang="zh-CN" dirty="0" err="1">
                <a:solidFill>
                  <a:srgbClr val="FF0000"/>
                </a:solidFill>
                <a:latin typeface="楷体_GB2312" pitchFamily="49" charset="-122"/>
                <a:ea typeface="楷体_GB2312" pitchFamily="49" charset="-122"/>
              </a:rPr>
              <a:t>system_call</a:t>
            </a:r>
            <a:r>
              <a:rPr lang="en-US" altLang="zh-CN" dirty="0">
                <a:solidFill>
                  <a:srgbClr val="FF0000"/>
                </a:solidFill>
                <a:latin typeface="楷体_GB2312" pitchFamily="49" charset="-122"/>
                <a:ea typeface="楷体_GB2312" pitchFamily="49" charset="-122"/>
              </a:rPr>
              <a:t>(</a:t>
            </a:r>
            <a:r>
              <a:rPr lang="zh-CN" altLang="en-US" dirty="0">
                <a:solidFill>
                  <a:srgbClr val="FF0000"/>
                </a:solidFill>
                <a:latin typeface="楷体_GB2312" pitchFamily="49" charset="-122"/>
                <a:ea typeface="楷体_GB2312" pitchFamily="49" charset="-122"/>
              </a:rPr>
              <a:t>）</a:t>
            </a:r>
            <a:r>
              <a:rPr lang="zh-CN" altLang="en-US" dirty="0">
                <a:latin typeface="楷体_GB2312" pitchFamily="49" charset="-122"/>
                <a:ea typeface="楷体_GB2312" pitchFamily="49" charset="-122"/>
              </a:rPr>
              <a:t>通过使用</a:t>
            </a:r>
            <a:r>
              <a:rPr lang="en-US" altLang="zh-CN" dirty="0">
                <a:latin typeface="楷体_GB2312" pitchFamily="49" charset="-122"/>
                <a:ea typeface="楷体_GB2312" pitchFamily="49" charset="-122"/>
              </a:rPr>
              <a:t>SAVE_ALL</a:t>
            </a:r>
            <a:r>
              <a:rPr lang="zh-CN" altLang="en-US" dirty="0">
                <a:latin typeface="楷体_GB2312" pitchFamily="49" charset="-122"/>
                <a:ea typeface="楷体_GB2312" pitchFamily="49" charset="-122"/>
              </a:rPr>
              <a:t>宏把这些寄存器的值保存在内核态堆栈中。</a:t>
            </a:r>
          </a:p>
        </p:txBody>
      </p:sp>
      <p:sp>
        <p:nvSpPr>
          <p:cNvPr id="6" name="Rectangle 2">
            <a:extLst>
              <a:ext uri="{FF2B5EF4-FFF2-40B4-BE49-F238E27FC236}">
                <a16:creationId xmlns:a16="http://schemas.microsoft.com/office/drawing/2014/main" id="{5F51356B-A3F6-43B5-A301-9F27D7C1CCA5}"/>
              </a:ext>
            </a:extLst>
          </p:cNvPr>
          <p:cNvSpPr>
            <a:spLocks noGrp="1" noChangeArrowheads="1"/>
          </p:cNvSpPr>
          <p:nvPr>
            <p:ph type="title"/>
          </p:nvPr>
        </p:nvSpPr>
        <p:spPr>
          <a:xfrm>
            <a:off x="611188" y="115888"/>
            <a:ext cx="7632700" cy="609600"/>
          </a:xfrm>
        </p:spPr>
        <p:txBody>
          <a:bodyPr/>
          <a:lstStyle/>
          <a:p>
            <a:pPr eaLnBrk="1" hangingPunct="1"/>
            <a:r>
              <a:rPr lang="en-US" altLang="zh-CN" dirty="0">
                <a:latin typeface="楷体_GB2312" pitchFamily="49" charset="-122"/>
                <a:ea typeface="楷体_GB2312" pitchFamily="49" charset="-122"/>
              </a:rPr>
              <a:t>4.4 </a:t>
            </a:r>
            <a:r>
              <a:rPr lang="zh-CN" altLang="en-US" dirty="0">
                <a:latin typeface="楷体_GB2312" pitchFamily="49" charset="-122"/>
                <a:ea typeface="楷体_GB2312" pitchFamily="49" charset="-122"/>
              </a:rPr>
              <a:t>系统调用的参数传递</a:t>
            </a:r>
          </a:p>
        </p:txBody>
      </p:sp>
    </p:spTree>
    <p:extLst>
      <p:ext uri="{BB962C8B-B14F-4D97-AF65-F5344CB8AC3E}">
        <p14:creationId xmlns:p14="http://schemas.microsoft.com/office/powerpoint/2010/main" val="42668358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0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04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304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304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30435">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3043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304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435"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ChangeArrowheads="1"/>
          </p:cNvSpPr>
          <p:nvPr/>
        </p:nvSpPr>
        <p:spPr bwMode="auto">
          <a:xfrm>
            <a:off x="468313" y="1412875"/>
            <a:ext cx="8280400" cy="3834896"/>
          </a:xfrm>
          <a:prstGeom prst="rect">
            <a:avLst/>
          </a:prstGeom>
          <a:noFill/>
          <a:ln w="9525">
            <a:noFill/>
            <a:miter lim="800000"/>
            <a:headEnd/>
            <a:tailEnd/>
          </a:ln>
          <a:effectLst/>
        </p:spPr>
        <p:txBody>
          <a:bodyPr>
            <a:spAutoFit/>
          </a:bodyPr>
          <a:lstStyle/>
          <a:p>
            <a:pPr marL="457200" indent="-457200" eaLnBrk="1" hangingPunct="1">
              <a:spcBef>
                <a:spcPct val="20000"/>
              </a:spcBef>
              <a:buClr>
                <a:schemeClr val="hlink"/>
              </a:buClr>
              <a:buSzPct val="60000"/>
              <a:buFont typeface="Arial" panose="020B0604020202020204" pitchFamily="34" charset="0"/>
              <a:buChar char="•"/>
              <a:defRPr/>
            </a:pPr>
            <a:r>
              <a:rPr lang="zh-CN" altLang="en-US" sz="3200" dirty="0">
                <a:solidFill>
                  <a:srgbClr val="FF0000"/>
                </a:solidFill>
              </a:rPr>
              <a:t>用寄存器传递参数必须满足两个条件</a:t>
            </a:r>
          </a:p>
          <a:p>
            <a:pPr marL="914400" lvl="1" indent="-457200" eaLnBrk="1" hangingPunct="1">
              <a:spcBef>
                <a:spcPct val="20000"/>
              </a:spcBef>
              <a:buClr>
                <a:schemeClr val="hlink"/>
              </a:buClr>
              <a:buSzPct val="60000"/>
              <a:buFont typeface="Arial" panose="020B0604020202020204" pitchFamily="34" charset="0"/>
              <a:buChar char="•"/>
              <a:defRPr/>
            </a:pPr>
            <a:r>
              <a:rPr lang="zh-CN" altLang="en-US" sz="3200" dirty="0">
                <a:solidFill>
                  <a:schemeClr val="tx1"/>
                </a:solidFill>
              </a:rPr>
              <a:t> </a:t>
            </a:r>
            <a:r>
              <a:rPr lang="zh-CN" altLang="en-US" sz="3200" dirty="0">
                <a:solidFill>
                  <a:schemeClr val="accent6">
                    <a:lumMod val="75000"/>
                  </a:schemeClr>
                </a:solidFill>
              </a:rPr>
              <a:t>每个参数的长度不能超过寄存器的长度</a:t>
            </a:r>
          </a:p>
          <a:p>
            <a:pPr marL="914400" lvl="1" indent="-457200" eaLnBrk="1" hangingPunct="1">
              <a:spcBef>
                <a:spcPct val="20000"/>
              </a:spcBef>
              <a:buClr>
                <a:schemeClr val="hlink"/>
              </a:buClr>
              <a:buSzPct val="60000"/>
              <a:buFont typeface="Arial" panose="020B0604020202020204" pitchFamily="34" charset="0"/>
              <a:buChar char="•"/>
              <a:defRPr/>
            </a:pPr>
            <a:r>
              <a:rPr lang="zh-CN" altLang="en-US" sz="3200" dirty="0">
                <a:solidFill>
                  <a:schemeClr val="accent6">
                    <a:lumMod val="75000"/>
                  </a:schemeClr>
                </a:solidFill>
              </a:rPr>
              <a:t> 参数的个数不能超过</a:t>
            </a:r>
            <a:r>
              <a:rPr lang="en-US" altLang="zh-CN" sz="3200" dirty="0">
                <a:solidFill>
                  <a:schemeClr val="accent6">
                    <a:lumMod val="75000"/>
                  </a:schemeClr>
                </a:solidFill>
              </a:rPr>
              <a:t>6</a:t>
            </a:r>
            <a:r>
              <a:rPr lang="zh-CN" altLang="en-US" sz="3200" dirty="0">
                <a:solidFill>
                  <a:schemeClr val="accent6">
                    <a:lumMod val="75000"/>
                  </a:schemeClr>
                </a:solidFill>
              </a:rPr>
              <a:t>个</a:t>
            </a:r>
            <a:r>
              <a:rPr lang="en-US" altLang="zh-CN" sz="3200" dirty="0">
                <a:solidFill>
                  <a:schemeClr val="accent6">
                    <a:lumMod val="75000"/>
                  </a:schemeClr>
                </a:solidFill>
              </a:rPr>
              <a:t>(</a:t>
            </a:r>
            <a:r>
              <a:rPr lang="zh-CN" altLang="en-US" sz="3200" dirty="0">
                <a:solidFill>
                  <a:schemeClr val="accent6">
                    <a:lumMod val="75000"/>
                  </a:schemeClr>
                </a:solidFill>
              </a:rPr>
              <a:t>包括</a:t>
            </a:r>
            <a:r>
              <a:rPr lang="en-US" altLang="zh-CN" sz="3200" dirty="0" err="1">
                <a:solidFill>
                  <a:schemeClr val="accent6">
                    <a:lumMod val="75000"/>
                  </a:schemeClr>
                </a:solidFill>
              </a:rPr>
              <a:t>eax</a:t>
            </a:r>
            <a:r>
              <a:rPr lang="zh-CN" altLang="en-US" sz="3200" dirty="0">
                <a:solidFill>
                  <a:schemeClr val="accent6">
                    <a:lumMod val="75000"/>
                  </a:schemeClr>
                </a:solidFill>
              </a:rPr>
              <a:t>中传递的系统调用号</a:t>
            </a:r>
            <a:r>
              <a:rPr lang="en-US" altLang="zh-CN" sz="3200" dirty="0">
                <a:solidFill>
                  <a:schemeClr val="accent6">
                    <a:lumMod val="75000"/>
                  </a:schemeClr>
                </a:solidFill>
              </a:rPr>
              <a:t>);</a:t>
            </a:r>
            <a:r>
              <a:rPr lang="zh-CN" altLang="en-US" sz="3200" dirty="0">
                <a:solidFill>
                  <a:schemeClr val="accent6">
                    <a:lumMod val="75000"/>
                  </a:schemeClr>
                </a:solidFill>
              </a:rPr>
              <a:t>否则，需要用一个单独的寄存器</a:t>
            </a:r>
            <a:r>
              <a:rPr lang="en-US" altLang="zh-CN" sz="3200" dirty="0">
                <a:solidFill>
                  <a:schemeClr val="accent6">
                    <a:lumMod val="75000"/>
                  </a:schemeClr>
                </a:solidFill>
              </a:rPr>
              <a:t>(</a:t>
            </a:r>
            <a:r>
              <a:rPr lang="en-US" altLang="zh-CN" sz="3200" dirty="0" err="1">
                <a:solidFill>
                  <a:schemeClr val="accent6">
                    <a:lumMod val="75000"/>
                  </a:schemeClr>
                </a:solidFill>
              </a:rPr>
              <a:t>ebx</a:t>
            </a:r>
            <a:r>
              <a:rPr lang="en-US" altLang="zh-CN" sz="3200" dirty="0">
                <a:solidFill>
                  <a:schemeClr val="accent6">
                    <a:lumMod val="75000"/>
                  </a:schemeClr>
                </a:solidFill>
              </a:rPr>
              <a:t>)</a:t>
            </a:r>
            <a:r>
              <a:rPr lang="zh-CN" altLang="en-US" sz="3200" dirty="0">
                <a:solidFill>
                  <a:schemeClr val="accent6">
                    <a:lumMod val="75000"/>
                  </a:schemeClr>
                </a:solidFill>
              </a:rPr>
              <a:t>指向进程地址空间中这些参数值所在的一个内存区即可</a:t>
            </a:r>
          </a:p>
          <a:p>
            <a:pPr marL="457200" indent="-457200" eaLnBrk="1" hangingPunct="1">
              <a:spcBef>
                <a:spcPct val="20000"/>
              </a:spcBef>
              <a:buClr>
                <a:schemeClr val="hlink"/>
              </a:buClr>
              <a:buSzPct val="60000"/>
              <a:buFont typeface="Arial" panose="020B0604020202020204" pitchFamily="34" charset="0"/>
              <a:buChar char="•"/>
              <a:defRPr/>
            </a:pPr>
            <a:r>
              <a:rPr lang="zh-CN" altLang="en-US" sz="3200" dirty="0">
                <a:solidFill>
                  <a:schemeClr val="accent6">
                    <a:lumMod val="75000"/>
                  </a:schemeClr>
                </a:solidFill>
              </a:rPr>
              <a:t>返回值必须写到</a:t>
            </a:r>
            <a:r>
              <a:rPr lang="en-US" altLang="zh-CN" sz="3200" dirty="0" err="1">
                <a:solidFill>
                  <a:schemeClr val="accent6">
                    <a:lumMod val="75000"/>
                  </a:schemeClr>
                </a:solidFill>
              </a:rPr>
              <a:t>eax</a:t>
            </a:r>
            <a:r>
              <a:rPr lang="zh-CN" altLang="en-US" sz="3200" dirty="0">
                <a:solidFill>
                  <a:schemeClr val="accent6">
                    <a:lumMod val="75000"/>
                  </a:schemeClr>
                </a:solidFill>
              </a:rPr>
              <a:t>寄存器中</a:t>
            </a:r>
            <a:r>
              <a:rPr lang="zh-CN" altLang="en-US" sz="3200" dirty="0">
                <a:solidFill>
                  <a:schemeClr val="accent6">
                    <a:lumMod val="75000"/>
                  </a:schemeClr>
                </a:solidFill>
                <a:effectLst>
                  <a:outerShdw blurRad="38100" dist="38100" dir="2700000" algn="tl">
                    <a:srgbClr val="C0C0C0"/>
                  </a:outerShdw>
                </a:effectLst>
              </a:rPr>
              <a:t>  </a:t>
            </a:r>
          </a:p>
        </p:txBody>
      </p:sp>
      <p:sp>
        <p:nvSpPr>
          <p:cNvPr id="4" name="Rectangle 2">
            <a:extLst>
              <a:ext uri="{FF2B5EF4-FFF2-40B4-BE49-F238E27FC236}">
                <a16:creationId xmlns:a16="http://schemas.microsoft.com/office/drawing/2014/main" id="{6812C9D9-6C50-40C3-9ECB-75C5924CB745}"/>
              </a:ext>
            </a:extLst>
          </p:cNvPr>
          <p:cNvSpPr txBox="1">
            <a:spLocks noChangeArrowheads="1"/>
          </p:cNvSpPr>
          <p:nvPr/>
        </p:nvSpPr>
        <p:spPr>
          <a:xfrm>
            <a:off x="611188" y="115888"/>
            <a:ext cx="7632700" cy="609600"/>
          </a:xfrm>
          <a:prstGeom prst="rect">
            <a:avLst/>
          </a:prstGeom>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kern="0">
                <a:latin typeface="楷体_GB2312" pitchFamily="49" charset="-122"/>
                <a:ea typeface="楷体_GB2312" pitchFamily="49" charset="-122"/>
              </a:rPr>
              <a:t>4.4 </a:t>
            </a:r>
            <a:r>
              <a:rPr lang="zh-CN" altLang="en-US" kern="0">
                <a:latin typeface="楷体_GB2312" pitchFamily="49" charset="-122"/>
                <a:ea typeface="楷体_GB2312" pitchFamily="49" charset="-122"/>
              </a:rPr>
              <a:t>系统调用的参数传递</a:t>
            </a:r>
            <a:endParaRPr lang="zh-CN" altLang="en-US" kern="0" dirty="0">
              <a:latin typeface="楷体_GB2312" pitchFamily="49" charset="-122"/>
              <a:ea typeface="楷体_GB2312" pitchFamily="49" charset="-122"/>
            </a:endParaRPr>
          </a:p>
        </p:txBody>
      </p:sp>
    </p:spTree>
    <p:extLst>
      <p:ext uri="{BB962C8B-B14F-4D97-AF65-F5344CB8AC3E}">
        <p14:creationId xmlns:p14="http://schemas.microsoft.com/office/powerpoint/2010/main" val="425462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06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1"/>
          </p:nvPr>
        </p:nvSpPr>
        <p:spPr>
          <a:xfrm>
            <a:off x="285750" y="928688"/>
            <a:ext cx="8291513" cy="5572125"/>
          </a:xfrm>
        </p:spPr>
        <p:txBody>
          <a:bodyPr/>
          <a:lstStyle/>
          <a:p>
            <a:pPr lvl="1" eaLnBrk="1" hangingPunct="1">
              <a:lnSpc>
                <a:spcPct val="120000"/>
              </a:lnSpc>
              <a:buFont typeface="Arial" panose="020B0604020202020204" pitchFamily="34" charset="0"/>
              <a:buChar char="•"/>
            </a:pPr>
            <a:r>
              <a:rPr lang="zh-CN" altLang="en-US"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当一个系统调用所需的参数个数大于 </a:t>
            </a:r>
            <a:r>
              <a:rPr lang="en-US" altLang="zh-CN"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5 </a:t>
            </a:r>
            <a:r>
              <a:rPr lang="zh-CN" altLang="en-US"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时，执行</a:t>
            </a:r>
            <a:r>
              <a:rPr lang="en-US" altLang="zh-CN" sz="2800"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int</a:t>
            </a:r>
            <a:r>
              <a:rPr lang="en-US" altLang="zh-CN"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0x80 </a:t>
            </a:r>
            <a:r>
              <a:rPr lang="zh-CN" altLang="en-US"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指令时仍需将系统调用功能号保存在寄存器 </a:t>
            </a:r>
            <a:r>
              <a:rPr lang="en-US" altLang="zh-CN" sz="2800"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eax</a:t>
            </a:r>
            <a:r>
              <a:rPr lang="en-US" altLang="zh-CN"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a:t>
            </a:r>
            <a:r>
              <a:rPr lang="zh-CN" altLang="en-US"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中，所不同的只是全部参数应该依次放在一块连续的内存区域里，同时在寄存器 </a:t>
            </a:r>
            <a:r>
              <a:rPr lang="en-US" altLang="zh-CN" sz="2800"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ebx</a:t>
            </a:r>
            <a:r>
              <a:rPr lang="en-US" altLang="zh-CN"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a:t>
            </a:r>
            <a:r>
              <a:rPr lang="zh-CN" altLang="en-US"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中保存指向该内存区域的指针。系统调用完成之后，返回值仍将保存在寄存器 </a:t>
            </a:r>
            <a:r>
              <a:rPr lang="en-US" altLang="zh-CN" sz="2800" dirty="0" err="1">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eax</a:t>
            </a:r>
            <a:r>
              <a:rPr lang="en-US" altLang="zh-CN"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a:t>
            </a:r>
            <a:r>
              <a:rPr lang="zh-CN" altLang="en-US"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中。</a:t>
            </a:r>
          </a:p>
          <a:p>
            <a:pPr lvl="1" eaLnBrk="1" hangingPunct="1">
              <a:lnSpc>
                <a:spcPct val="120000"/>
              </a:lnSpc>
              <a:buFont typeface="Arial" panose="020B0604020202020204" pitchFamily="34" charset="0"/>
              <a:buChar char="•"/>
            </a:pPr>
            <a:r>
              <a:rPr lang="zh-CN" altLang="en-US"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 由于只是需要一块连续的内存区域来保存系统调用的参数，因此完全可以像普通的函数调用一样使用栈</a:t>
            </a:r>
            <a:r>
              <a:rPr lang="en-US" altLang="zh-CN"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(stack)</a:t>
            </a:r>
            <a:r>
              <a:rPr lang="zh-CN" altLang="en-US"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来传递系统调用所需的参数。</a:t>
            </a:r>
            <a:endParaRPr lang="en-US" altLang="zh-CN" sz="28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endParaRPr>
          </a:p>
        </p:txBody>
      </p:sp>
      <p:sp>
        <p:nvSpPr>
          <p:cNvPr id="6" name="Rectangle 2">
            <a:extLst>
              <a:ext uri="{FF2B5EF4-FFF2-40B4-BE49-F238E27FC236}">
                <a16:creationId xmlns:a16="http://schemas.microsoft.com/office/drawing/2014/main" id="{7A2A7F9A-8071-4F6F-87B9-544A8EAF10EC}"/>
              </a:ext>
            </a:extLst>
          </p:cNvPr>
          <p:cNvSpPr>
            <a:spLocks noGrp="1" noChangeArrowheads="1"/>
          </p:cNvSpPr>
          <p:nvPr>
            <p:ph type="title"/>
          </p:nvPr>
        </p:nvSpPr>
        <p:spPr>
          <a:xfrm>
            <a:off x="611188" y="115888"/>
            <a:ext cx="7632700" cy="609600"/>
          </a:xfrm>
        </p:spPr>
        <p:txBody>
          <a:bodyPr/>
          <a:lstStyle/>
          <a:p>
            <a:pPr eaLnBrk="1" hangingPunct="1"/>
            <a:r>
              <a:rPr lang="en-US" altLang="zh-CN" dirty="0">
                <a:latin typeface="楷体_GB2312" pitchFamily="49" charset="-122"/>
                <a:ea typeface="楷体_GB2312" pitchFamily="49" charset="-122"/>
              </a:rPr>
              <a:t>4.4 </a:t>
            </a:r>
            <a:r>
              <a:rPr lang="zh-CN" altLang="en-US" dirty="0">
                <a:latin typeface="楷体_GB2312" pitchFamily="49" charset="-122"/>
                <a:ea typeface="楷体_GB2312" pitchFamily="49" charset="-122"/>
              </a:rPr>
              <a:t>系统调用的参数传递</a:t>
            </a:r>
          </a:p>
        </p:txBody>
      </p:sp>
    </p:spTree>
    <p:extLst>
      <p:ext uri="{BB962C8B-B14F-4D97-AF65-F5344CB8AC3E}">
        <p14:creationId xmlns:p14="http://schemas.microsoft.com/office/powerpoint/2010/main" val="3493163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1"/>
          </p:nvPr>
        </p:nvSpPr>
        <p:spPr>
          <a:xfrm>
            <a:off x="285750" y="928688"/>
            <a:ext cx="8291513" cy="5572125"/>
          </a:xfrm>
        </p:spPr>
        <p:txBody>
          <a:bodyPr/>
          <a:lstStyle/>
          <a:p>
            <a:pPr lvl="1" eaLnBrk="1" hangingPunct="1">
              <a:lnSpc>
                <a:spcPct val="120000"/>
              </a:lnSpc>
              <a:buFont typeface="Arial" panose="020B0604020202020204" pitchFamily="34" charset="0"/>
              <a:buChar char="•"/>
            </a:pPr>
            <a:r>
              <a:rPr lang="zh-CN" altLang="en-US" sz="2800" dirty="0">
                <a:solidFill>
                  <a:srgbClr val="C00000"/>
                </a:solidFill>
                <a:latin typeface="Traditional Arabic" panose="02020603050405020304" pitchFamily="18" charset="-78"/>
                <a:ea typeface="楷体_GB2312" pitchFamily="49" charset="-122"/>
                <a:cs typeface="Traditional Arabic" panose="02020603050405020304" pitchFamily="18" charset="-78"/>
              </a:rPr>
              <a:t>要注意一点，</a:t>
            </a:r>
            <a:r>
              <a:rPr lang="en-US" altLang="zh-CN" sz="2800" dirty="0">
                <a:solidFill>
                  <a:schemeClr val="accent6">
                    <a:lumMod val="75000"/>
                  </a:schemeClr>
                </a:solidFill>
                <a:latin typeface="Traditional Arabic" panose="02020603050405020304" pitchFamily="18" charset="-78"/>
                <a:ea typeface="楷体_GB2312" pitchFamily="49" charset="-122"/>
                <a:cs typeface="Traditional Arabic" panose="02020603050405020304" pitchFamily="18" charset="-78"/>
              </a:rPr>
              <a:t>Linux </a:t>
            </a:r>
            <a:r>
              <a:rPr lang="zh-CN" altLang="en-US" sz="2800" dirty="0">
                <a:solidFill>
                  <a:schemeClr val="accent6">
                    <a:lumMod val="75000"/>
                  </a:schemeClr>
                </a:solidFill>
                <a:latin typeface="Traditional Arabic" panose="02020603050405020304" pitchFamily="18" charset="-78"/>
                <a:ea typeface="楷体_GB2312" pitchFamily="49" charset="-122"/>
                <a:cs typeface="Traditional Arabic" panose="02020603050405020304" pitchFamily="18" charset="-78"/>
              </a:rPr>
              <a:t>采用的是 </a:t>
            </a:r>
            <a:r>
              <a:rPr lang="en-US" altLang="zh-CN" sz="2800" dirty="0">
                <a:solidFill>
                  <a:schemeClr val="accent6">
                    <a:lumMod val="75000"/>
                  </a:schemeClr>
                </a:solidFill>
                <a:latin typeface="Traditional Arabic" panose="02020603050405020304" pitchFamily="18" charset="-78"/>
                <a:ea typeface="楷体_GB2312" pitchFamily="49" charset="-122"/>
                <a:cs typeface="Traditional Arabic" panose="02020603050405020304" pitchFamily="18" charset="-78"/>
              </a:rPr>
              <a:t>C </a:t>
            </a:r>
            <a:r>
              <a:rPr lang="zh-CN" altLang="en-US" sz="2800" dirty="0">
                <a:solidFill>
                  <a:schemeClr val="accent6">
                    <a:lumMod val="75000"/>
                  </a:schemeClr>
                </a:solidFill>
                <a:latin typeface="Traditional Arabic" panose="02020603050405020304" pitchFamily="18" charset="-78"/>
                <a:ea typeface="楷体_GB2312" pitchFamily="49" charset="-122"/>
                <a:cs typeface="Traditional Arabic" panose="02020603050405020304" pitchFamily="18" charset="-78"/>
              </a:rPr>
              <a:t>语言的调用模式，意味着所有参数必须以相反的顺序进栈，即最后一个参数先入栈，而第一个参数则最后入栈。</a:t>
            </a:r>
            <a:endParaRPr lang="en-US" altLang="zh-CN" sz="2800" dirty="0">
              <a:solidFill>
                <a:schemeClr val="accent6">
                  <a:lumMod val="75000"/>
                </a:schemeClr>
              </a:solidFill>
              <a:latin typeface="Traditional Arabic" panose="02020603050405020304" pitchFamily="18" charset="-78"/>
              <a:ea typeface="楷体_GB2312" pitchFamily="49" charset="-122"/>
              <a:cs typeface="Traditional Arabic" panose="02020603050405020304" pitchFamily="18" charset="-78"/>
            </a:endParaRPr>
          </a:p>
          <a:p>
            <a:pPr lvl="1" eaLnBrk="1" hangingPunct="1">
              <a:lnSpc>
                <a:spcPct val="120000"/>
              </a:lnSpc>
              <a:buFont typeface="Arial" panose="020B0604020202020204" pitchFamily="34" charset="0"/>
              <a:buChar char="•"/>
            </a:pPr>
            <a:r>
              <a:rPr lang="zh-CN" altLang="en-US" sz="2800" dirty="0">
                <a:solidFill>
                  <a:schemeClr val="accent6">
                    <a:lumMod val="75000"/>
                  </a:schemeClr>
                </a:solidFill>
                <a:latin typeface="Traditional Arabic" panose="02020603050405020304" pitchFamily="18" charset="-78"/>
                <a:ea typeface="楷体_GB2312" pitchFamily="49" charset="-122"/>
                <a:cs typeface="Traditional Arabic" panose="02020603050405020304" pitchFamily="18" charset="-78"/>
              </a:rPr>
              <a:t>如果采用栈来传递系统调用所需的参数，在执行</a:t>
            </a:r>
            <a:r>
              <a:rPr lang="en-US" altLang="zh-CN" sz="2800" dirty="0" err="1">
                <a:solidFill>
                  <a:schemeClr val="accent6">
                    <a:lumMod val="75000"/>
                  </a:schemeClr>
                </a:solidFill>
                <a:latin typeface="Traditional Arabic" panose="02020603050405020304" pitchFamily="18" charset="-78"/>
                <a:ea typeface="楷体_GB2312" pitchFamily="49" charset="-122"/>
                <a:cs typeface="Traditional Arabic" panose="02020603050405020304" pitchFamily="18" charset="-78"/>
              </a:rPr>
              <a:t>int</a:t>
            </a:r>
            <a:r>
              <a:rPr lang="en-US" altLang="zh-CN" sz="2800" dirty="0">
                <a:solidFill>
                  <a:schemeClr val="accent6">
                    <a:lumMod val="75000"/>
                  </a:schemeClr>
                </a:solidFill>
                <a:latin typeface="Traditional Arabic" panose="02020603050405020304" pitchFamily="18" charset="-78"/>
                <a:ea typeface="楷体_GB2312" pitchFamily="49" charset="-122"/>
                <a:cs typeface="Traditional Arabic" panose="02020603050405020304" pitchFamily="18" charset="-78"/>
              </a:rPr>
              <a:t> 0x80 </a:t>
            </a:r>
            <a:r>
              <a:rPr lang="zh-CN" altLang="en-US" sz="2800" dirty="0">
                <a:solidFill>
                  <a:schemeClr val="accent6">
                    <a:lumMod val="75000"/>
                  </a:schemeClr>
                </a:solidFill>
                <a:latin typeface="Traditional Arabic" panose="02020603050405020304" pitchFamily="18" charset="-78"/>
                <a:ea typeface="楷体_GB2312" pitchFamily="49" charset="-122"/>
                <a:cs typeface="Traditional Arabic" panose="02020603050405020304" pitchFamily="18" charset="-78"/>
              </a:rPr>
              <a:t>指令时还应该将栈指针的当前值复制到寄存器 </a:t>
            </a:r>
            <a:r>
              <a:rPr lang="en-US" altLang="zh-CN" sz="2800" dirty="0" err="1">
                <a:solidFill>
                  <a:schemeClr val="accent6">
                    <a:lumMod val="75000"/>
                  </a:schemeClr>
                </a:solidFill>
                <a:latin typeface="Traditional Arabic" panose="02020603050405020304" pitchFamily="18" charset="-78"/>
                <a:ea typeface="楷体_GB2312" pitchFamily="49" charset="-122"/>
                <a:cs typeface="Traditional Arabic" panose="02020603050405020304" pitchFamily="18" charset="-78"/>
              </a:rPr>
              <a:t>ebx</a:t>
            </a:r>
            <a:r>
              <a:rPr lang="zh-CN" altLang="en-US" sz="2800" dirty="0">
                <a:solidFill>
                  <a:schemeClr val="accent6">
                    <a:lumMod val="75000"/>
                  </a:schemeClr>
                </a:solidFill>
                <a:latin typeface="Traditional Arabic" panose="02020603050405020304" pitchFamily="18" charset="-78"/>
                <a:ea typeface="楷体_GB2312" pitchFamily="49" charset="-122"/>
                <a:cs typeface="Traditional Arabic" panose="02020603050405020304" pitchFamily="18" charset="-78"/>
              </a:rPr>
              <a:t>中。</a:t>
            </a:r>
          </a:p>
          <a:p>
            <a:pPr eaLnBrk="1" hangingPunct="1">
              <a:lnSpc>
                <a:spcPct val="80000"/>
              </a:lnSpc>
            </a:pPr>
            <a:endParaRPr lang="zh-CN" altLang="en-US" sz="2400" dirty="0">
              <a:solidFill>
                <a:schemeClr val="tx1"/>
              </a:solidFill>
              <a:latin typeface="楷体_GB2312" pitchFamily="49" charset="-122"/>
              <a:ea typeface="楷体_GB2312" pitchFamily="49" charset="-122"/>
            </a:endParaRPr>
          </a:p>
        </p:txBody>
      </p:sp>
      <p:sp>
        <p:nvSpPr>
          <p:cNvPr id="6" name="Rectangle 2">
            <a:extLst>
              <a:ext uri="{FF2B5EF4-FFF2-40B4-BE49-F238E27FC236}">
                <a16:creationId xmlns:a16="http://schemas.microsoft.com/office/drawing/2014/main" id="{4365C3BD-F74F-4911-8F0B-80D47C603DBC}"/>
              </a:ext>
            </a:extLst>
          </p:cNvPr>
          <p:cNvSpPr>
            <a:spLocks noGrp="1" noChangeArrowheads="1"/>
          </p:cNvSpPr>
          <p:nvPr>
            <p:ph type="title"/>
          </p:nvPr>
        </p:nvSpPr>
        <p:spPr>
          <a:xfrm>
            <a:off x="611188" y="115888"/>
            <a:ext cx="7632700" cy="609600"/>
          </a:xfrm>
        </p:spPr>
        <p:txBody>
          <a:bodyPr/>
          <a:lstStyle/>
          <a:p>
            <a:pPr eaLnBrk="1" hangingPunct="1"/>
            <a:r>
              <a:rPr lang="en-US" altLang="zh-CN" dirty="0">
                <a:latin typeface="楷体_GB2312" pitchFamily="49" charset="-122"/>
                <a:ea typeface="楷体_GB2312" pitchFamily="49" charset="-122"/>
              </a:rPr>
              <a:t>4.4 </a:t>
            </a:r>
            <a:r>
              <a:rPr lang="zh-CN" altLang="en-US" dirty="0">
                <a:latin typeface="楷体_GB2312" pitchFamily="49" charset="-122"/>
                <a:ea typeface="楷体_GB2312" pitchFamily="49" charset="-122"/>
              </a:rPr>
              <a:t>系统调用的参数传递</a:t>
            </a:r>
          </a:p>
        </p:txBody>
      </p:sp>
    </p:spTree>
    <p:extLst>
      <p:ext uri="{BB962C8B-B14F-4D97-AF65-F5344CB8AC3E}">
        <p14:creationId xmlns:p14="http://schemas.microsoft.com/office/powerpoint/2010/main" val="4280102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a:xfrm>
            <a:off x="426244" y="1340768"/>
            <a:ext cx="8291512" cy="5272087"/>
          </a:xfrm>
        </p:spPr>
        <p:txBody>
          <a:bodyPr/>
          <a:lstStyle/>
          <a:p>
            <a:pPr eaLnBrk="1" hangingPunct="1">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处理</a:t>
            </a:r>
            <a:r>
              <a:rPr lang="en-US" altLang="zh-CN" sz="2200" dirty="0">
                <a:latin typeface="Times New Roman" panose="02020603050405020304" pitchFamily="18" charset="0"/>
                <a:ea typeface="楷体_GB2312" pitchFamily="49" charset="-122"/>
                <a:cs typeface="Times New Roman" panose="02020603050405020304" pitchFamily="18" charset="0"/>
              </a:rPr>
              <a:t>write</a:t>
            </a:r>
            <a:r>
              <a:rPr lang="zh-CN" altLang="en-US" sz="2200" dirty="0">
                <a:latin typeface="Times New Roman" panose="02020603050405020304" pitchFamily="18" charset="0"/>
                <a:ea typeface="楷体_GB2312" pitchFamily="49" charset="-122"/>
                <a:cs typeface="Times New Roman" panose="02020603050405020304" pitchFamily="18" charset="0"/>
              </a:rPr>
              <a:t>系统调用的</a:t>
            </a:r>
            <a:r>
              <a:rPr lang="en-US" altLang="zh-CN" sz="2200" dirty="0" err="1">
                <a:latin typeface="Times New Roman" panose="02020603050405020304" pitchFamily="18" charset="0"/>
                <a:ea typeface="楷体_GB2312" pitchFamily="49" charset="-122"/>
                <a:cs typeface="Times New Roman" panose="02020603050405020304" pitchFamily="18" charset="0"/>
              </a:rPr>
              <a:t>sys_write</a:t>
            </a:r>
            <a:r>
              <a:rPr lang="zh-CN" altLang="en-US" sz="2200" dirty="0">
                <a:latin typeface="Times New Roman" panose="02020603050405020304" pitchFamily="18" charset="0"/>
                <a:ea typeface="楷体_GB2312" pitchFamily="49" charset="-122"/>
                <a:cs typeface="Times New Roman" panose="02020603050405020304" pitchFamily="18" charset="0"/>
              </a:rPr>
              <a:t>服务例程声明如下</a:t>
            </a:r>
          </a:p>
          <a:p>
            <a:pPr eaLnBrk="1" hangingPunct="1"/>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该函数期望在栈顶找到</a:t>
            </a:r>
            <a:r>
              <a:rPr lang="en-US" altLang="zh-CN" sz="2400" dirty="0" err="1">
                <a:latin typeface="Times New Roman" panose="02020603050405020304" pitchFamily="18" charset="0"/>
                <a:ea typeface="楷体_GB2312" pitchFamily="49" charset="-122"/>
                <a:cs typeface="Times New Roman" panose="02020603050405020304" pitchFamily="18" charset="0"/>
              </a:rPr>
              <a:t>fd</a:t>
            </a:r>
            <a:r>
              <a:rPr lang="zh-CN" altLang="en-US"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buf</a:t>
            </a:r>
            <a:r>
              <a:rPr lang="zh-CN" altLang="en-US" sz="2400" dirty="0">
                <a:latin typeface="Times New Roman" panose="02020603050405020304" pitchFamily="18" charset="0"/>
                <a:ea typeface="楷体_GB2312" pitchFamily="49" charset="-122"/>
                <a:cs typeface="Times New Roman" panose="02020603050405020304" pitchFamily="18" charset="0"/>
              </a:rPr>
              <a:t>和</a:t>
            </a:r>
            <a:r>
              <a:rPr lang="en-US" altLang="zh-CN" sz="2400" dirty="0">
                <a:latin typeface="Times New Roman" panose="02020603050405020304" pitchFamily="18" charset="0"/>
                <a:ea typeface="楷体_GB2312" pitchFamily="49" charset="-122"/>
                <a:cs typeface="Times New Roman" panose="02020603050405020304" pitchFamily="18" charset="0"/>
              </a:rPr>
              <a:t>count</a:t>
            </a:r>
            <a:r>
              <a:rPr lang="zh-CN" altLang="en-US" sz="2400" dirty="0">
                <a:latin typeface="Times New Roman" panose="02020603050405020304" pitchFamily="18" charset="0"/>
                <a:ea typeface="楷体_GB2312" pitchFamily="49" charset="-122"/>
                <a:cs typeface="Times New Roman" panose="02020603050405020304" pitchFamily="18" charset="0"/>
              </a:rPr>
              <a:t>参数</a:t>
            </a:r>
          </a:p>
          <a:p>
            <a:pPr eaLnBrk="1" hangingPunct="1">
              <a:buFont typeface="Wingdings" panose="05000000000000000000" pitchFamily="2" charset="2"/>
              <a:buNone/>
            </a:pPr>
            <a:r>
              <a:rPr lang="zh-CN" altLang="en-US" sz="2400" dirty="0">
                <a:latin typeface="Times New Roman" panose="02020603050405020304" pitchFamily="18" charset="0"/>
                <a:ea typeface="楷体_GB2312" pitchFamily="49" charset="-122"/>
                <a:cs typeface="Times New Roman" panose="02020603050405020304" pitchFamily="18" charset="0"/>
              </a:rPr>
              <a:t>	在封装</a:t>
            </a:r>
            <a:r>
              <a:rPr lang="en-US" altLang="zh-CN" sz="2400" dirty="0" err="1">
                <a:latin typeface="Times New Roman" panose="02020603050405020304" pitchFamily="18" charset="0"/>
                <a:ea typeface="楷体_GB2312" pitchFamily="49" charset="-122"/>
                <a:cs typeface="Times New Roman" panose="02020603050405020304" pitchFamily="18" charset="0"/>
              </a:rPr>
              <a:t>sys_write</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的封装例程中，将会在</a:t>
            </a:r>
            <a:r>
              <a:rPr lang="en-US" altLang="zh-CN" sz="2400" dirty="0" err="1">
                <a:latin typeface="Times New Roman" panose="02020603050405020304" pitchFamily="18" charset="0"/>
                <a:ea typeface="楷体_GB2312" pitchFamily="49" charset="-122"/>
                <a:cs typeface="Times New Roman" panose="02020603050405020304" pitchFamily="18" charset="0"/>
              </a:rPr>
              <a:t>ebx</a:t>
            </a:r>
            <a:r>
              <a:rPr lang="zh-CN" altLang="en-US"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ecx</a:t>
            </a:r>
            <a:r>
              <a:rPr lang="zh-CN" altLang="en-US" sz="2400" dirty="0">
                <a:latin typeface="Times New Roman" panose="02020603050405020304" pitchFamily="18" charset="0"/>
                <a:ea typeface="楷体_GB2312" pitchFamily="49" charset="-122"/>
                <a:cs typeface="Times New Roman" panose="02020603050405020304" pitchFamily="18" charset="0"/>
              </a:rPr>
              <a:t>和</a:t>
            </a:r>
            <a:r>
              <a:rPr lang="en-US" altLang="zh-CN" sz="2400" dirty="0" err="1">
                <a:latin typeface="Times New Roman" panose="02020603050405020304" pitchFamily="18" charset="0"/>
                <a:ea typeface="楷体_GB2312" pitchFamily="49" charset="-122"/>
                <a:cs typeface="Times New Roman" panose="02020603050405020304" pitchFamily="18" charset="0"/>
              </a:rPr>
              <a:t>edx</a:t>
            </a:r>
            <a:r>
              <a:rPr lang="zh-CN" altLang="en-US" sz="2400" dirty="0">
                <a:latin typeface="Times New Roman" panose="02020603050405020304" pitchFamily="18" charset="0"/>
                <a:ea typeface="楷体_GB2312" pitchFamily="49" charset="-122"/>
                <a:cs typeface="Times New Roman" panose="02020603050405020304" pitchFamily="18" charset="0"/>
              </a:rPr>
              <a:t>寄存器中分别填入这些参数的值，然后在进入</a:t>
            </a:r>
            <a:r>
              <a:rPr lang="en-US" altLang="zh-CN" sz="2400" dirty="0" err="1">
                <a:latin typeface="Times New Roman" panose="02020603050405020304" pitchFamily="18" charset="0"/>
                <a:ea typeface="楷体_GB2312" pitchFamily="49" charset="-122"/>
                <a:cs typeface="Times New Roman" panose="02020603050405020304" pitchFamily="18" charset="0"/>
              </a:rPr>
              <a:t>system_call</a:t>
            </a:r>
            <a:r>
              <a:rPr lang="zh-CN" altLang="en-US" sz="2400" dirty="0">
                <a:latin typeface="Times New Roman" panose="02020603050405020304" pitchFamily="18" charset="0"/>
                <a:ea typeface="楷体_GB2312" pitchFamily="49" charset="-122"/>
                <a:cs typeface="Times New Roman" panose="02020603050405020304" pitchFamily="18" charset="0"/>
              </a:rPr>
              <a:t>时，</a:t>
            </a:r>
            <a:r>
              <a:rPr lang="en-US" altLang="zh-CN" sz="2400" dirty="0">
                <a:latin typeface="Times New Roman" panose="02020603050405020304" pitchFamily="18" charset="0"/>
                <a:ea typeface="楷体_GB2312" pitchFamily="49" charset="-122"/>
                <a:cs typeface="Times New Roman" panose="02020603050405020304" pitchFamily="18" charset="0"/>
              </a:rPr>
              <a:t>SAVE_ALL</a:t>
            </a:r>
            <a:r>
              <a:rPr lang="zh-CN" altLang="en-US" sz="2400" dirty="0">
                <a:latin typeface="Times New Roman" panose="02020603050405020304" pitchFamily="18" charset="0"/>
                <a:ea typeface="楷体_GB2312" pitchFamily="49" charset="-122"/>
                <a:cs typeface="Times New Roman" panose="02020603050405020304" pitchFamily="18" charset="0"/>
              </a:rPr>
              <a:t>会把这些寄存器保存在堆栈中，进入</a:t>
            </a:r>
            <a:r>
              <a:rPr lang="en-US" altLang="zh-CN" sz="2400" dirty="0" err="1">
                <a:latin typeface="Times New Roman" panose="02020603050405020304" pitchFamily="18" charset="0"/>
                <a:ea typeface="楷体_GB2312" pitchFamily="49" charset="-122"/>
                <a:cs typeface="Times New Roman" panose="02020603050405020304" pitchFamily="18" charset="0"/>
              </a:rPr>
              <a:t>sys_write</a:t>
            </a:r>
            <a:r>
              <a:rPr lang="zh-CN" altLang="en-US" sz="2400" dirty="0">
                <a:latin typeface="Times New Roman" panose="02020603050405020304" pitchFamily="18" charset="0"/>
                <a:ea typeface="楷体_GB2312" pitchFamily="49" charset="-122"/>
                <a:cs typeface="Times New Roman" panose="02020603050405020304" pitchFamily="18" charset="0"/>
              </a:rPr>
              <a:t>服务例程后，就可以在相应的位置找到这些参数</a:t>
            </a:r>
            <a:endParaRPr lang="zh-CN" altLang="en-US" sz="3200" dirty="0">
              <a:latin typeface="Times New Roman" panose="02020603050405020304" pitchFamily="18" charset="0"/>
              <a:ea typeface="楷体_GB2312" pitchFamily="49" charset="-122"/>
              <a:cs typeface="Times New Roman" panose="02020603050405020304" pitchFamily="18" charset="0"/>
            </a:endParaRPr>
          </a:p>
        </p:txBody>
      </p:sp>
      <p:pic>
        <p:nvPicPr>
          <p:cNvPr id="532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276475"/>
            <a:ext cx="76660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3" name="Text Box 5"/>
          <p:cNvSpPr txBox="1">
            <a:spLocks noChangeArrowheads="1"/>
          </p:cNvSpPr>
          <p:nvPr/>
        </p:nvSpPr>
        <p:spPr bwMode="auto">
          <a:xfrm>
            <a:off x="179512" y="5589588"/>
            <a:ext cx="8784976" cy="461665"/>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2400" b="0" dirty="0" err="1">
                <a:solidFill>
                  <a:srgbClr val="FF0000"/>
                </a:solidFill>
                <a:latin typeface="Arial" panose="020B0604020202020204" pitchFamily="34" charset="0"/>
                <a:ea typeface="宋体" panose="02010600030101010101" pitchFamily="2" charset="-122"/>
              </a:rPr>
              <a:t>asmlinkage</a:t>
            </a:r>
            <a:r>
              <a:rPr lang="zh-CN" altLang="en-US" sz="2400" b="0" dirty="0">
                <a:solidFill>
                  <a:srgbClr val="FF0000"/>
                </a:solidFill>
                <a:latin typeface="Arial" panose="020B0604020202020204" pitchFamily="34" charset="0"/>
                <a:ea typeface="宋体" panose="02010600030101010101" pitchFamily="2" charset="-122"/>
              </a:rPr>
              <a:t>使得编译器不通过寄存器</a:t>
            </a:r>
            <a:r>
              <a:rPr lang="en-US" altLang="zh-CN" sz="2400" b="0" dirty="0">
                <a:solidFill>
                  <a:srgbClr val="FF0000"/>
                </a:solidFill>
                <a:latin typeface="Arial" panose="020B0604020202020204" pitchFamily="34" charset="0"/>
                <a:ea typeface="宋体" panose="02010600030101010101" pitchFamily="2" charset="-122"/>
              </a:rPr>
              <a:t>(x=0)</a:t>
            </a:r>
            <a:r>
              <a:rPr lang="zh-CN" altLang="en-US" sz="2400" b="0" dirty="0">
                <a:solidFill>
                  <a:srgbClr val="FF0000"/>
                </a:solidFill>
                <a:latin typeface="Arial" panose="020B0604020202020204" pitchFamily="34" charset="0"/>
                <a:ea typeface="宋体" panose="02010600030101010101" pitchFamily="2" charset="-122"/>
              </a:rPr>
              <a:t>而使用堆栈传递参数</a:t>
            </a:r>
          </a:p>
        </p:txBody>
      </p:sp>
      <p:sp>
        <p:nvSpPr>
          <p:cNvPr id="8" name="Rectangle 2">
            <a:extLst>
              <a:ext uri="{FF2B5EF4-FFF2-40B4-BE49-F238E27FC236}">
                <a16:creationId xmlns:a16="http://schemas.microsoft.com/office/drawing/2014/main" id="{354D8DF4-F474-4681-93E5-1AB603F4BFDA}"/>
              </a:ext>
            </a:extLst>
          </p:cNvPr>
          <p:cNvSpPr>
            <a:spLocks noGrp="1" noChangeArrowheads="1"/>
          </p:cNvSpPr>
          <p:nvPr>
            <p:ph type="title"/>
          </p:nvPr>
        </p:nvSpPr>
        <p:spPr>
          <a:xfrm>
            <a:off x="611188" y="115888"/>
            <a:ext cx="7632700" cy="609600"/>
          </a:xfrm>
        </p:spPr>
        <p:txBody>
          <a:bodyPr/>
          <a:lstStyle/>
          <a:p>
            <a:pPr eaLnBrk="1" hangingPunct="1"/>
            <a:r>
              <a:rPr lang="en-US" altLang="zh-CN" dirty="0">
                <a:latin typeface="楷体_GB2312" pitchFamily="49" charset="-122"/>
                <a:ea typeface="楷体_GB2312" pitchFamily="49" charset="-122"/>
              </a:rPr>
              <a:t>4.4 </a:t>
            </a:r>
            <a:r>
              <a:rPr lang="zh-CN" altLang="en-US" dirty="0">
                <a:latin typeface="楷体_GB2312" pitchFamily="49" charset="-122"/>
                <a:ea typeface="楷体_GB2312" pitchFamily="49" charset="-122"/>
              </a:rPr>
              <a:t>系统调用的参数传递</a:t>
            </a:r>
          </a:p>
        </p:txBody>
      </p:sp>
    </p:spTree>
    <p:extLst>
      <p:ext uri="{BB962C8B-B14F-4D97-AF65-F5344CB8AC3E}">
        <p14:creationId xmlns:p14="http://schemas.microsoft.com/office/powerpoint/2010/main" val="29497284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2196752" y="1019175"/>
            <a:ext cx="7632700" cy="609600"/>
          </a:xfrm>
        </p:spPr>
        <p:txBody>
          <a:bodyPr/>
          <a:lstStyle/>
          <a:p>
            <a:pPr eaLnBrk="1" hangingPunct="1"/>
            <a:r>
              <a:rPr lang="en-US" altLang="zh-CN"/>
              <a:t>SAVE_ALL</a:t>
            </a:r>
          </a:p>
        </p:txBody>
      </p:sp>
      <p:pic>
        <p:nvPicPr>
          <p:cNvPr id="542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773238"/>
            <a:ext cx="6192838"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AutoShape 4"/>
          <p:cNvSpPr>
            <a:spLocks/>
          </p:cNvSpPr>
          <p:nvPr/>
        </p:nvSpPr>
        <p:spPr bwMode="auto">
          <a:xfrm>
            <a:off x="4356100" y="4437063"/>
            <a:ext cx="287338" cy="792162"/>
          </a:xfrm>
          <a:prstGeom prst="rightBrace">
            <a:avLst>
              <a:gd name="adj1" fmla="val 22974"/>
              <a:gd name="adj2" fmla="val 50000"/>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54277" name="Text Box 5"/>
          <p:cNvSpPr txBox="1">
            <a:spLocks noChangeArrowheads="1"/>
          </p:cNvSpPr>
          <p:nvPr/>
        </p:nvSpPr>
        <p:spPr bwMode="auto">
          <a:xfrm>
            <a:off x="4624388" y="4600575"/>
            <a:ext cx="2317750" cy="366713"/>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1800" b="0">
                <a:solidFill>
                  <a:srgbClr val="FF0000"/>
                </a:solidFill>
                <a:latin typeface="Arial" panose="020B0604020202020204" pitchFamily="34" charset="0"/>
                <a:ea typeface="宋体" panose="02010600030101010101" pitchFamily="2" charset="-122"/>
              </a:rPr>
              <a:t>Sys_write</a:t>
            </a:r>
            <a:r>
              <a:rPr lang="zh-CN" altLang="en-US" sz="1800" b="0">
                <a:solidFill>
                  <a:srgbClr val="FF0000"/>
                </a:solidFill>
                <a:latin typeface="Arial" panose="020B0604020202020204" pitchFamily="34" charset="0"/>
                <a:ea typeface="宋体" panose="02010600030101010101" pitchFamily="2" charset="-122"/>
              </a:rPr>
              <a:t>需要的参数</a:t>
            </a:r>
          </a:p>
        </p:txBody>
      </p:sp>
      <p:sp>
        <p:nvSpPr>
          <p:cNvPr id="6" name="Rectangle 2">
            <a:extLst>
              <a:ext uri="{FF2B5EF4-FFF2-40B4-BE49-F238E27FC236}">
                <a16:creationId xmlns:a16="http://schemas.microsoft.com/office/drawing/2014/main" id="{8B530C20-1813-486F-9B42-04BBF108D64F}"/>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kern="0">
                <a:latin typeface="楷体_GB2312" pitchFamily="49" charset="-122"/>
                <a:ea typeface="楷体_GB2312" pitchFamily="49" charset="-122"/>
              </a:rPr>
              <a:t>4.4 </a:t>
            </a:r>
            <a:r>
              <a:rPr lang="zh-CN" altLang="en-US" kern="0">
                <a:latin typeface="楷体_GB2312" pitchFamily="49" charset="-122"/>
                <a:ea typeface="楷体_GB2312" pitchFamily="49" charset="-122"/>
              </a:rPr>
              <a:t>系统调用的参数传递</a:t>
            </a:r>
            <a:endParaRPr lang="zh-CN" altLang="en-US" kern="0" dirty="0">
              <a:latin typeface="楷体_GB2312" pitchFamily="49" charset="-122"/>
              <a:ea typeface="楷体_GB2312" pitchFamily="49" charset="-122"/>
            </a:endParaRPr>
          </a:p>
        </p:txBody>
      </p:sp>
    </p:spTree>
    <p:extLst>
      <p:ext uri="{BB962C8B-B14F-4D97-AF65-F5344CB8AC3E}">
        <p14:creationId xmlns:p14="http://schemas.microsoft.com/office/powerpoint/2010/main" val="3424154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044624" y="1268760"/>
            <a:ext cx="7632700" cy="461962"/>
          </a:xfrm>
        </p:spPr>
        <p:txBody>
          <a:bodyPr/>
          <a:lstStyle/>
          <a:p>
            <a:pPr eaLnBrk="1" hangingPunct="1"/>
            <a:r>
              <a:rPr lang="zh-CN" altLang="en-US" dirty="0">
                <a:latin typeface="楷体_GB2312" pitchFamily="49" charset="-122"/>
                <a:ea typeface="楷体_GB2312" pitchFamily="49" charset="-122"/>
              </a:rPr>
              <a:t>系统调用的参数传递</a:t>
            </a:r>
            <a:r>
              <a:rPr lang="en-US" altLang="zh-CN" dirty="0">
                <a:latin typeface="楷体_GB2312" pitchFamily="49" charset="-122"/>
                <a:ea typeface="楷体_GB2312" pitchFamily="49" charset="-122"/>
              </a:rPr>
              <a:t>-</a:t>
            </a:r>
            <a:r>
              <a:rPr lang="zh-CN" altLang="en-US" sz="2800" b="0" dirty="0">
                <a:solidFill>
                  <a:srgbClr val="FF0000"/>
                </a:solidFill>
                <a:latin typeface="楷体_GB2312" pitchFamily="49" charset="-122"/>
                <a:ea typeface="楷体_GB2312" pitchFamily="49" charset="-122"/>
              </a:rPr>
              <a:t>举例</a:t>
            </a:r>
          </a:p>
        </p:txBody>
      </p:sp>
      <p:sp>
        <p:nvSpPr>
          <p:cNvPr id="55299" name="Rectangle 3"/>
          <p:cNvSpPr>
            <a:spLocks noGrp="1" noChangeArrowheads="1"/>
          </p:cNvSpPr>
          <p:nvPr>
            <p:ph type="body" idx="1"/>
          </p:nvPr>
        </p:nvSpPr>
        <p:spPr>
          <a:xfrm>
            <a:off x="395536" y="2132856"/>
            <a:ext cx="8610600" cy="4906963"/>
          </a:xfrm>
        </p:spPr>
        <p:txBody>
          <a:bodyPr/>
          <a:lstStyle/>
          <a:p>
            <a:pPr eaLnBrk="1" hangingPunct="1">
              <a:lnSpc>
                <a:spcPct val="90000"/>
              </a:lnSpc>
              <a:buFont typeface="Wingdings" panose="05000000000000000000" pitchFamily="2" charset="2"/>
              <a:buNone/>
            </a:pPr>
            <a:r>
              <a:rPr lang="zh-CN" altLang="en-US" dirty="0">
                <a:latin typeface="楷体_GB2312" pitchFamily="49" charset="-122"/>
                <a:ea typeface="楷体_GB2312" pitchFamily="49" charset="-122"/>
              </a:rPr>
              <a:t>设</a:t>
            </a:r>
            <a:r>
              <a:rPr lang="en-US" altLang="zh-CN" b="0" dirty="0">
                <a:latin typeface="楷体_GB2312" pitchFamily="49" charset="-122"/>
                <a:ea typeface="楷体_GB2312" pitchFamily="49" charset="-122"/>
              </a:rPr>
              <a:t>C</a:t>
            </a:r>
            <a:r>
              <a:rPr lang="zh-CN" altLang="en-US" dirty="0">
                <a:latin typeface="楷体_GB2312" pitchFamily="49" charset="-122"/>
                <a:ea typeface="楷体_GB2312" pitchFamily="49" charset="-122"/>
              </a:rPr>
              <a:t>库中封装的系统调用号为</a:t>
            </a:r>
            <a:r>
              <a:rPr lang="en-US" altLang="zh-CN" b="0" dirty="0">
                <a:latin typeface="楷体_GB2312" pitchFamily="49" charset="-122"/>
                <a:ea typeface="楷体_GB2312" pitchFamily="49" charset="-122"/>
              </a:rPr>
              <a:t>3</a:t>
            </a:r>
            <a:r>
              <a:rPr lang="zh-CN" altLang="en-US" dirty="0">
                <a:latin typeface="楷体_GB2312" pitchFamily="49" charset="-122"/>
                <a:ea typeface="楷体_GB2312" pitchFamily="49" charset="-122"/>
              </a:rPr>
              <a:t>的函数原形如下：</a:t>
            </a:r>
          </a:p>
          <a:p>
            <a:pPr eaLnBrk="1" hangingPunct="1">
              <a:lnSpc>
                <a:spcPct val="90000"/>
              </a:lnSpc>
              <a:buFont typeface="Wingdings" panose="05000000000000000000" pitchFamily="2" charset="2"/>
              <a:buNone/>
            </a:pPr>
            <a:r>
              <a:rPr lang="zh-CN" altLang="en-US" sz="2400" b="0" dirty="0">
                <a:latin typeface="楷体_GB2312" pitchFamily="49" charset="-122"/>
                <a:ea typeface="楷体_GB2312" pitchFamily="49" charset="-122"/>
              </a:rPr>
              <a:t>     </a:t>
            </a:r>
            <a:r>
              <a:rPr lang="en-US" altLang="zh-CN" sz="2400" b="0" dirty="0">
                <a:latin typeface="楷体_GB2312" pitchFamily="49" charset="-122"/>
                <a:ea typeface="楷体_GB2312" pitchFamily="49" charset="-122"/>
              </a:rPr>
              <a:t>int </a:t>
            </a:r>
            <a:r>
              <a:rPr lang="en-US" altLang="zh-CN" sz="2400" b="0" dirty="0" err="1">
                <a:latin typeface="楷体_GB2312" pitchFamily="49" charset="-122"/>
                <a:ea typeface="楷体_GB2312" pitchFamily="49" charset="-122"/>
              </a:rPr>
              <a:t>sys_func</a:t>
            </a:r>
            <a:r>
              <a:rPr lang="en-US" altLang="zh-CN" sz="2400" b="0" dirty="0">
                <a:latin typeface="楷体_GB2312" pitchFamily="49" charset="-122"/>
                <a:ea typeface="楷体_GB2312" pitchFamily="49" charset="-122"/>
              </a:rPr>
              <a:t>(int para1, int para2)</a:t>
            </a:r>
          </a:p>
          <a:p>
            <a:pPr lvl="1" eaLnBrk="1" hangingPunct="1">
              <a:lnSpc>
                <a:spcPct val="90000"/>
              </a:lnSpc>
              <a:buFont typeface="Wingdings" panose="05000000000000000000" pitchFamily="2" charset="2"/>
              <a:buNone/>
            </a:pPr>
            <a:r>
              <a:rPr lang="en-US" altLang="zh-CN" sz="2200" b="0" dirty="0">
                <a:latin typeface="楷体_GB2312" pitchFamily="49" charset="-122"/>
                <a:ea typeface="楷体_GB2312" pitchFamily="49" charset="-122"/>
              </a:rPr>
              <a:t>C</a:t>
            </a:r>
            <a:r>
              <a:rPr lang="zh-CN" altLang="en-US" sz="2200" dirty="0">
                <a:latin typeface="楷体_GB2312" pitchFamily="49" charset="-122"/>
                <a:ea typeface="楷体_GB2312" pitchFamily="49" charset="-122"/>
              </a:rPr>
              <a:t>编译器产生的汇编伪码如：</a:t>
            </a:r>
          </a:p>
          <a:p>
            <a:pPr lvl="1" eaLnBrk="1" hangingPunct="1">
              <a:lnSpc>
                <a:spcPct val="90000"/>
              </a:lnSpc>
              <a:buFont typeface="Wingdings" panose="05000000000000000000" pitchFamily="2" charset="2"/>
              <a:buNone/>
            </a:pPr>
            <a:r>
              <a:rPr lang="en-US" altLang="zh-CN" sz="2200" b="0" dirty="0">
                <a:latin typeface="Times New Roman" panose="02020603050405020304" pitchFamily="18" charset="0"/>
                <a:ea typeface="楷体_GB2312" pitchFamily="49" charset="-122"/>
              </a:rPr>
              <a:t>…</a:t>
            </a:r>
            <a:r>
              <a:rPr lang="en-US" altLang="zh-CN" sz="2200" b="0" dirty="0" err="1">
                <a:latin typeface="楷体_GB2312" pitchFamily="49" charset="-122"/>
                <a:ea typeface="楷体_GB2312" pitchFamily="49" charset="-122"/>
              </a:rPr>
              <a:t>movl</a:t>
            </a:r>
            <a:r>
              <a:rPr lang="en-US" altLang="zh-CN" sz="2200" b="0" dirty="0">
                <a:latin typeface="楷体_GB2312" pitchFamily="49" charset="-122"/>
                <a:ea typeface="楷体_GB2312" pitchFamily="49" charset="-122"/>
              </a:rPr>
              <a:t>  0x8(%</a:t>
            </a:r>
            <a:r>
              <a:rPr lang="en-US" altLang="zh-CN" sz="2200" b="0" dirty="0" err="1">
                <a:latin typeface="楷体_GB2312" pitchFamily="49" charset="-122"/>
                <a:ea typeface="楷体_GB2312" pitchFamily="49" charset="-122"/>
              </a:rPr>
              <a:t>esp</a:t>
            </a:r>
            <a:r>
              <a:rPr lang="en-US" altLang="zh-CN" sz="2200" b="0" dirty="0">
                <a:latin typeface="楷体_GB2312" pitchFamily="49" charset="-122"/>
                <a:ea typeface="楷体_GB2312" pitchFamily="49" charset="-122"/>
              </a:rPr>
              <a:t>),%</a:t>
            </a:r>
            <a:r>
              <a:rPr lang="en-US" altLang="zh-CN" sz="2200" b="0" dirty="0" err="1">
                <a:latin typeface="楷体_GB2312" pitchFamily="49" charset="-122"/>
                <a:ea typeface="楷体_GB2312" pitchFamily="49" charset="-122"/>
              </a:rPr>
              <a:t>ecx</a:t>
            </a:r>
            <a:endParaRPr lang="en-US" altLang="zh-CN" sz="2200" b="0" dirty="0">
              <a:latin typeface="楷体_GB2312" pitchFamily="49" charset="-122"/>
              <a:ea typeface="楷体_GB2312" pitchFamily="49" charset="-122"/>
            </a:endParaRPr>
          </a:p>
          <a:p>
            <a:pPr lvl="1" eaLnBrk="1" hangingPunct="1">
              <a:lnSpc>
                <a:spcPct val="90000"/>
              </a:lnSpc>
              <a:buFont typeface="Wingdings" panose="05000000000000000000" pitchFamily="2" charset="2"/>
              <a:buNone/>
            </a:pPr>
            <a:r>
              <a:rPr lang="en-US" altLang="zh-CN" sz="2200" b="0" dirty="0">
                <a:latin typeface="楷体_GB2312" pitchFamily="49" charset="-122"/>
                <a:ea typeface="楷体_GB2312" pitchFamily="49" charset="-122"/>
              </a:rPr>
              <a:t>  /*</a:t>
            </a:r>
            <a:r>
              <a:rPr lang="zh-CN" altLang="en-US" sz="2200" dirty="0">
                <a:latin typeface="楷体_GB2312" pitchFamily="49" charset="-122"/>
                <a:ea typeface="楷体_GB2312" pitchFamily="49" charset="-122"/>
              </a:rPr>
              <a:t>将用户态堆栈中的</a:t>
            </a:r>
            <a:r>
              <a:rPr lang="en-US" altLang="zh-CN" sz="2200" b="0" dirty="0">
                <a:latin typeface="楷体_GB2312" pitchFamily="49" charset="-122"/>
                <a:ea typeface="楷体_GB2312" pitchFamily="49" charset="-122"/>
              </a:rPr>
              <a:t>para2</a:t>
            </a:r>
            <a:r>
              <a:rPr lang="zh-CN" altLang="en-US" sz="2200" dirty="0">
                <a:latin typeface="楷体_GB2312" pitchFamily="49" charset="-122"/>
                <a:ea typeface="楷体_GB2312" pitchFamily="49" charset="-122"/>
              </a:rPr>
              <a:t>放入</a:t>
            </a:r>
            <a:r>
              <a:rPr lang="en-US" altLang="zh-CN" sz="2200" b="0" dirty="0" err="1">
                <a:latin typeface="楷体_GB2312" pitchFamily="49" charset="-122"/>
                <a:ea typeface="楷体_GB2312" pitchFamily="49" charset="-122"/>
              </a:rPr>
              <a:t>ecx</a:t>
            </a:r>
            <a:endParaRPr lang="en-US" altLang="zh-CN" sz="2200" b="0" dirty="0">
              <a:latin typeface="楷体_GB2312" pitchFamily="49" charset="-122"/>
              <a:ea typeface="楷体_GB2312" pitchFamily="49" charset="-122"/>
            </a:endParaRPr>
          </a:p>
          <a:p>
            <a:pPr lvl="1" eaLnBrk="1" hangingPunct="1">
              <a:lnSpc>
                <a:spcPct val="90000"/>
              </a:lnSpc>
              <a:buFont typeface="Wingdings" panose="05000000000000000000" pitchFamily="2" charset="2"/>
              <a:buNone/>
            </a:pPr>
            <a:r>
              <a:rPr lang="en-US" altLang="zh-CN" sz="2200" b="0" dirty="0" err="1">
                <a:latin typeface="楷体_GB2312" pitchFamily="49" charset="-122"/>
                <a:ea typeface="楷体_GB2312" pitchFamily="49" charset="-122"/>
              </a:rPr>
              <a:t>Movl</a:t>
            </a:r>
            <a:r>
              <a:rPr lang="en-US" altLang="zh-CN" sz="2200" b="0" dirty="0">
                <a:latin typeface="楷体_GB2312" pitchFamily="49" charset="-122"/>
                <a:ea typeface="楷体_GB2312" pitchFamily="49" charset="-122"/>
              </a:rPr>
              <a:t> 0x4(%</a:t>
            </a:r>
            <a:r>
              <a:rPr lang="en-US" altLang="zh-CN" sz="2200" b="0" dirty="0" err="1">
                <a:latin typeface="楷体_GB2312" pitchFamily="49" charset="-122"/>
                <a:ea typeface="楷体_GB2312" pitchFamily="49" charset="-122"/>
              </a:rPr>
              <a:t>esp</a:t>
            </a:r>
            <a:r>
              <a:rPr lang="en-US" altLang="zh-CN" sz="2200" b="0" dirty="0">
                <a:latin typeface="楷体_GB2312" pitchFamily="49" charset="-122"/>
                <a:ea typeface="楷体_GB2312" pitchFamily="49" charset="-122"/>
              </a:rPr>
              <a:t>),%</a:t>
            </a:r>
            <a:r>
              <a:rPr lang="en-US" altLang="zh-CN" sz="2200" b="0" dirty="0" err="1">
                <a:latin typeface="楷体_GB2312" pitchFamily="49" charset="-122"/>
                <a:ea typeface="楷体_GB2312" pitchFamily="49" charset="-122"/>
              </a:rPr>
              <a:t>ebx</a:t>
            </a:r>
            <a:r>
              <a:rPr lang="en-US" altLang="zh-CN" sz="2200" b="0" dirty="0">
                <a:latin typeface="楷体_GB2312" pitchFamily="49" charset="-122"/>
                <a:ea typeface="楷体_GB2312" pitchFamily="49" charset="-122"/>
              </a:rPr>
              <a:t>  </a:t>
            </a:r>
          </a:p>
          <a:p>
            <a:pPr lvl="1" eaLnBrk="1" hangingPunct="1">
              <a:lnSpc>
                <a:spcPct val="90000"/>
              </a:lnSpc>
              <a:buFont typeface="Wingdings" panose="05000000000000000000" pitchFamily="2" charset="2"/>
              <a:buNone/>
            </a:pPr>
            <a:r>
              <a:rPr lang="en-US" altLang="zh-CN" sz="2200" b="0" dirty="0">
                <a:latin typeface="楷体_GB2312" pitchFamily="49" charset="-122"/>
                <a:ea typeface="楷体_GB2312" pitchFamily="49" charset="-122"/>
              </a:rPr>
              <a:t> /*#</a:t>
            </a:r>
            <a:r>
              <a:rPr lang="zh-CN" altLang="en-US" sz="2200" dirty="0">
                <a:latin typeface="楷体_GB2312" pitchFamily="49" charset="-122"/>
                <a:ea typeface="楷体_GB2312" pitchFamily="49" charset="-122"/>
              </a:rPr>
              <a:t>将用户态堆栈中的</a:t>
            </a:r>
            <a:r>
              <a:rPr lang="en-US" altLang="zh-CN" sz="2200" b="0" dirty="0">
                <a:latin typeface="楷体_GB2312" pitchFamily="49" charset="-122"/>
                <a:ea typeface="楷体_GB2312" pitchFamily="49" charset="-122"/>
              </a:rPr>
              <a:t>para1</a:t>
            </a:r>
            <a:r>
              <a:rPr lang="zh-CN" altLang="en-US" sz="2200" dirty="0">
                <a:latin typeface="楷体_GB2312" pitchFamily="49" charset="-122"/>
                <a:ea typeface="楷体_GB2312" pitchFamily="49" charset="-122"/>
              </a:rPr>
              <a:t>放入</a:t>
            </a:r>
            <a:r>
              <a:rPr lang="en-US" altLang="zh-CN" sz="2200" b="0" dirty="0" err="1">
                <a:latin typeface="楷体_GB2312" pitchFamily="49" charset="-122"/>
                <a:ea typeface="楷体_GB2312" pitchFamily="49" charset="-122"/>
              </a:rPr>
              <a:t>ebx</a:t>
            </a:r>
            <a:endParaRPr lang="en-US" altLang="zh-CN" sz="2200" b="0" dirty="0">
              <a:latin typeface="楷体_GB2312" pitchFamily="49" charset="-122"/>
              <a:ea typeface="楷体_GB2312" pitchFamily="49" charset="-122"/>
            </a:endParaRPr>
          </a:p>
          <a:p>
            <a:pPr lvl="1" eaLnBrk="1" hangingPunct="1">
              <a:lnSpc>
                <a:spcPct val="90000"/>
              </a:lnSpc>
              <a:buFont typeface="Wingdings" panose="05000000000000000000" pitchFamily="2" charset="2"/>
              <a:buNone/>
            </a:pPr>
            <a:r>
              <a:rPr lang="en-US" altLang="zh-CN" sz="2200" b="0" dirty="0" err="1">
                <a:latin typeface="楷体_GB2312" pitchFamily="49" charset="-122"/>
                <a:ea typeface="楷体_GB2312" pitchFamily="49" charset="-122"/>
              </a:rPr>
              <a:t>Movl</a:t>
            </a:r>
            <a:r>
              <a:rPr lang="en-US" altLang="zh-CN" sz="2200" b="0" dirty="0">
                <a:latin typeface="楷体_GB2312" pitchFamily="49" charset="-122"/>
                <a:ea typeface="楷体_GB2312" pitchFamily="49" charset="-122"/>
              </a:rPr>
              <a:t> $0x3,%eax </a:t>
            </a:r>
          </a:p>
          <a:p>
            <a:pPr lvl="1" eaLnBrk="1" hangingPunct="1">
              <a:lnSpc>
                <a:spcPct val="90000"/>
              </a:lnSpc>
              <a:buFont typeface="Wingdings" panose="05000000000000000000" pitchFamily="2" charset="2"/>
              <a:buNone/>
            </a:pPr>
            <a:r>
              <a:rPr lang="en-US" altLang="zh-CN" sz="2200" b="0" dirty="0">
                <a:latin typeface="楷体_GB2312" pitchFamily="49" charset="-122"/>
                <a:ea typeface="楷体_GB2312" pitchFamily="49" charset="-122"/>
              </a:rPr>
              <a:t>  /*</a:t>
            </a:r>
            <a:r>
              <a:rPr lang="zh-CN" altLang="en-US" sz="2200" dirty="0">
                <a:latin typeface="楷体_GB2312" pitchFamily="49" charset="-122"/>
                <a:ea typeface="楷体_GB2312" pitchFamily="49" charset="-122"/>
              </a:rPr>
              <a:t>系统调用号保存在</a:t>
            </a:r>
            <a:r>
              <a:rPr lang="en-US" altLang="zh-CN" sz="2200" b="0" dirty="0" err="1">
                <a:latin typeface="楷体_GB2312" pitchFamily="49" charset="-122"/>
                <a:ea typeface="楷体_GB2312" pitchFamily="49" charset="-122"/>
              </a:rPr>
              <a:t>eax</a:t>
            </a:r>
            <a:r>
              <a:rPr lang="zh-CN" altLang="en-US" sz="2200" dirty="0">
                <a:latin typeface="楷体_GB2312" pitchFamily="49" charset="-122"/>
                <a:ea typeface="楷体_GB2312" pitchFamily="49" charset="-122"/>
              </a:rPr>
              <a:t>中</a:t>
            </a:r>
            <a:r>
              <a:rPr lang="en-US" altLang="zh-CN" sz="2200" b="0" dirty="0">
                <a:latin typeface="楷体_GB2312" pitchFamily="49" charset="-122"/>
                <a:ea typeface="楷体_GB2312" pitchFamily="49" charset="-122"/>
              </a:rPr>
              <a:t>int$0x80 #</a:t>
            </a:r>
            <a:r>
              <a:rPr lang="zh-CN" altLang="en-US" sz="2200" dirty="0">
                <a:latin typeface="楷体_GB2312" pitchFamily="49" charset="-122"/>
                <a:ea typeface="楷体_GB2312" pitchFamily="49" charset="-122"/>
              </a:rPr>
              <a:t>引发系统调用</a:t>
            </a:r>
          </a:p>
          <a:p>
            <a:pPr lvl="1" eaLnBrk="1" hangingPunct="1">
              <a:lnSpc>
                <a:spcPct val="90000"/>
              </a:lnSpc>
              <a:buFont typeface="Wingdings" panose="05000000000000000000" pitchFamily="2" charset="2"/>
              <a:buNone/>
            </a:pPr>
            <a:r>
              <a:rPr lang="en-US" altLang="zh-CN" sz="2200" b="0" dirty="0">
                <a:latin typeface="Times New Roman" panose="02020603050405020304" pitchFamily="18" charset="0"/>
                <a:ea typeface="楷体_GB2312" pitchFamily="49" charset="-122"/>
              </a:rPr>
              <a:t>…</a:t>
            </a:r>
            <a:endParaRPr lang="en-US" altLang="zh-CN" sz="2200" b="0" dirty="0">
              <a:latin typeface="楷体_GB2312" pitchFamily="49" charset="-122"/>
              <a:ea typeface="楷体_GB2312" pitchFamily="49" charset="-122"/>
            </a:endParaRPr>
          </a:p>
          <a:p>
            <a:pPr lvl="1" eaLnBrk="1" hangingPunct="1">
              <a:lnSpc>
                <a:spcPct val="90000"/>
              </a:lnSpc>
              <a:buFont typeface="Wingdings" panose="05000000000000000000" pitchFamily="2" charset="2"/>
              <a:buNone/>
            </a:pPr>
            <a:r>
              <a:rPr lang="en-US" altLang="zh-CN" sz="2200" b="0" dirty="0" err="1">
                <a:latin typeface="楷体_GB2312" pitchFamily="49" charset="-122"/>
                <a:ea typeface="楷体_GB2312" pitchFamily="49" charset="-122"/>
              </a:rPr>
              <a:t>Movl</a:t>
            </a:r>
            <a:r>
              <a:rPr lang="en-US" altLang="zh-CN" sz="2200" b="0" dirty="0">
                <a:latin typeface="楷体_GB2312" pitchFamily="49" charset="-122"/>
                <a:ea typeface="楷体_GB2312" pitchFamily="49" charset="-122"/>
              </a:rPr>
              <a:t> %</a:t>
            </a:r>
            <a:r>
              <a:rPr lang="en-US" altLang="zh-CN" sz="2200" b="0" dirty="0" err="1">
                <a:latin typeface="楷体_GB2312" pitchFamily="49" charset="-122"/>
                <a:ea typeface="楷体_GB2312" pitchFamily="49" charset="-122"/>
              </a:rPr>
              <a:t>eax,errno</a:t>
            </a:r>
            <a:r>
              <a:rPr lang="en-US" altLang="zh-CN" sz="2200" b="0" dirty="0">
                <a:latin typeface="楷体_GB2312" pitchFamily="49" charset="-122"/>
                <a:ea typeface="楷体_GB2312" pitchFamily="49" charset="-122"/>
              </a:rPr>
              <a:t> /*</a:t>
            </a:r>
            <a:r>
              <a:rPr lang="zh-CN" altLang="en-US" sz="2200" dirty="0">
                <a:latin typeface="楷体_GB2312" pitchFamily="49" charset="-122"/>
                <a:ea typeface="楷体_GB2312" pitchFamily="49" charset="-122"/>
              </a:rPr>
              <a:t>将结果存入全局变量</a:t>
            </a:r>
            <a:r>
              <a:rPr lang="en-US" altLang="zh-CN" sz="2200" b="0" dirty="0" err="1">
                <a:latin typeface="楷体_GB2312" pitchFamily="49" charset="-122"/>
                <a:ea typeface="楷体_GB2312" pitchFamily="49" charset="-122"/>
              </a:rPr>
              <a:t>errno</a:t>
            </a:r>
            <a:r>
              <a:rPr lang="zh-CN" altLang="en-US" sz="2200" dirty="0">
                <a:latin typeface="楷体_GB2312" pitchFamily="49" charset="-122"/>
                <a:ea typeface="楷体_GB2312" pitchFamily="49" charset="-122"/>
              </a:rPr>
              <a:t>中</a:t>
            </a:r>
          </a:p>
          <a:p>
            <a:pPr lvl="1" eaLnBrk="1" hangingPunct="1">
              <a:lnSpc>
                <a:spcPct val="90000"/>
              </a:lnSpc>
              <a:buFont typeface="Wingdings" panose="05000000000000000000" pitchFamily="2" charset="2"/>
              <a:buNone/>
            </a:pPr>
            <a:r>
              <a:rPr lang="en-US" altLang="zh-CN" sz="2200" b="0" dirty="0" err="1">
                <a:latin typeface="楷体_GB2312" pitchFamily="49" charset="-122"/>
                <a:ea typeface="楷体_GB2312" pitchFamily="49" charset="-122"/>
              </a:rPr>
              <a:t>Movl</a:t>
            </a:r>
            <a:r>
              <a:rPr lang="en-US" altLang="zh-CN" sz="2200" b="0" dirty="0">
                <a:latin typeface="楷体_GB2312" pitchFamily="49" charset="-122"/>
                <a:ea typeface="楷体_GB2312" pitchFamily="49" charset="-122"/>
              </a:rPr>
              <a:t> $-1,%eax   /*</a:t>
            </a:r>
            <a:r>
              <a:rPr lang="en-US" altLang="zh-CN" sz="2200" b="0" dirty="0" err="1">
                <a:latin typeface="楷体_GB2312" pitchFamily="49" charset="-122"/>
                <a:ea typeface="楷体_GB2312" pitchFamily="49" charset="-122"/>
              </a:rPr>
              <a:t>eax</a:t>
            </a:r>
            <a:r>
              <a:rPr lang="zh-CN" altLang="en-US" sz="2200" dirty="0">
                <a:latin typeface="楷体_GB2312" pitchFamily="49" charset="-122"/>
                <a:ea typeface="楷体_GB2312" pitchFamily="49" charset="-122"/>
              </a:rPr>
              <a:t>置为</a:t>
            </a:r>
            <a:r>
              <a:rPr lang="en-US" altLang="zh-CN" sz="2200" b="0" dirty="0">
                <a:latin typeface="楷体_GB2312" pitchFamily="49" charset="-122"/>
                <a:ea typeface="楷体_GB2312" pitchFamily="49" charset="-122"/>
              </a:rPr>
              <a:t>-1</a:t>
            </a:r>
            <a:r>
              <a:rPr lang="zh-CN" altLang="en-US" sz="2200" dirty="0">
                <a:latin typeface="楷体_GB2312" pitchFamily="49" charset="-122"/>
                <a:ea typeface="楷体_GB2312" pitchFamily="49" charset="-122"/>
              </a:rPr>
              <a:t>，表示出错注</a:t>
            </a:r>
          </a:p>
        </p:txBody>
      </p:sp>
      <p:sp>
        <p:nvSpPr>
          <p:cNvPr id="4" name="Rectangle 2">
            <a:extLst>
              <a:ext uri="{FF2B5EF4-FFF2-40B4-BE49-F238E27FC236}">
                <a16:creationId xmlns:a16="http://schemas.microsoft.com/office/drawing/2014/main" id="{9956FB75-E4EF-41E3-99D0-8CB41FAA4EBE}"/>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kern="0">
                <a:latin typeface="楷体_GB2312" pitchFamily="49" charset="-122"/>
                <a:ea typeface="楷体_GB2312" pitchFamily="49" charset="-122"/>
              </a:rPr>
              <a:t>4.4 </a:t>
            </a:r>
            <a:r>
              <a:rPr lang="zh-CN" altLang="en-US" kern="0">
                <a:latin typeface="楷体_GB2312" pitchFamily="49" charset="-122"/>
                <a:ea typeface="楷体_GB2312" pitchFamily="49" charset="-122"/>
              </a:rPr>
              <a:t>系统调用的参数传递</a:t>
            </a:r>
            <a:endParaRPr lang="zh-CN" altLang="en-US" kern="0" dirty="0">
              <a:latin typeface="楷体_GB2312" pitchFamily="49" charset="-122"/>
              <a:ea typeface="楷体_GB2312" pitchFamily="49" charset="-122"/>
            </a:endParaRPr>
          </a:p>
        </p:txBody>
      </p:sp>
    </p:spTree>
    <p:extLst>
      <p:ext uri="{BB962C8B-B14F-4D97-AF65-F5344CB8AC3E}">
        <p14:creationId xmlns:p14="http://schemas.microsoft.com/office/powerpoint/2010/main" val="8563217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algn="l" eaLnBrk="1" hangingPunct="1"/>
            <a:r>
              <a:rPr lang="en-US" altLang="zh-CN" dirty="0">
                <a:latin typeface="楷体_GB2312" pitchFamily="49" charset="-122"/>
                <a:ea typeface="楷体_GB2312" pitchFamily="49" charset="-122"/>
              </a:rPr>
              <a:t>4.5 </a:t>
            </a:r>
            <a:r>
              <a:rPr lang="zh-CN" altLang="en-US" dirty="0">
                <a:solidFill>
                  <a:srgbClr val="990000"/>
                </a:solidFill>
                <a:latin typeface="楷体_GB2312" pitchFamily="49" charset="-122"/>
                <a:ea typeface="楷体_GB2312" pitchFamily="49" charset="-122"/>
              </a:rPr>
              <a:t>练习：</a:t>
            </a:r>
            <a:r>
              <a:rPr lang="zh-CN" altLang="en-US" dirty="0">
                <a:latin typeface="楷体_GB2312" pitchFamily="49" charset="-122"/>
                <a:ea typeface="楷体_GB2312" pitchFamily="49" charset="-122"/>
              </a:rPr>
              <a:t>添加一个系统调用</a:t>
            </a:r>
            <a:r>
              <a:rPr lang="en-US" altLang="zh-CN" dirty="0" err="1">
                <a:latin typeface="楷体_GB2312" pitchFamily="49" charset="-122"/>
                <a:ea typeface="楷体_GB2312" pitchFamily="49" charset="-122"/>
              </a:rPr>
              <a:t>mysyscall</a:t>
            </a:r>
            <a:endParaRPr lang="en-US" altLang="zh-CN" dirty="0">
              <a:latin typeface="楷体_GB2312" pitchFamily="49" charset="-122"/>
              <a:ea typeface="楷体_GB2312" pitchFamily="49" charset="-122"/>
            </a:endParaRPr>
          </a:p>
        </p:txBody>
      </p:sp>
      <p:sp>
        <p:nvSpPr>
          <p:cNvPr id="57347" name="Rectangle 3"/>
          <p:cNvSpPr>
            <a:spLocks noGrp="1" noChangeArrowheads="1"/>
          </p:cNvSpPr>
          <p:nvPr>
            <p:ph type="body" idx="1"/>
          </p:nvPr>
        </p:nvSpPr>
        <p:spPr>
          <a:xfrm>
            <a:off x="281781" y="1585912"/>
            <a:ext cx="8291513" cy="5272088"/>
          </a:xfrm>
        </p:spPr>
        <p:txBody>
          <a:bodyPr/>
          <a:lstStyle/>
          <a:p>
            <a:pPr eaLnBrk="1" hangingPunct="1">
              <a:buFont typeface="Arial" panose="020B0604020202020204" pitchFamily="34" charset="0"/>
              <a:buChar char="•"/>
            </a:pPr>
            <a:r>
              <a:rPr lang="zh-CN" altLang="en-US" dirty="0">
                <a:solidFill>
                  <a:srgbClr val="FF0000"/>
                </a:solidFill>
                <a:latin typeface="楷体_GB2312" pitchFamily="49" charset="-122"/>
                <a:ea typeface="楷体_GB2312" pitchFamily="49" charset="-122"/>
              </a:rPr>
              <a:t>功能要求</a:t>
            </a:r>
          </a:p>
          <a:p>
            <a:pPr lvl="1" eaLnBrk="1" hangingPunct="1">
              <a:buFont typeface="Arial" panose="020B0604020202020204" pitchFamily="34" charset="0"/>
              <a:buChar char="•"/>
            </a:pPr>
            <a:r>
              <a:rPr lang="zh-CN" altLang="en-US" sz="2800" dirty="0">
                <a:solidFill>
                  <a:srgbClr val="2B5681"/>
                </a:solidFill>
                <a:ea typeface="楷体_GB2312" pitchFamily="49" charset="-122"/>
                <a:cs typeface="+mn-cs"/>
              </a:rPr>
              <a:t>首先，自定义一个系统调用</a:t>
            </a:r>
            <a:r>
              <a:rPr lang="en-US" altLang="zh-CN" sz="2800" dirty="0" err="1">
                <a:solidFill>
                  <a:srgbClr val="2B5681"/>
                </a:solidFill>
                <a:ea typeface="楷体_GB2312" pitchFamily="49" charset="-122"/>
                <a:cs typeface="+mn-cs"/>
              </a:rPr>
              <a:t>mysyscall</a:t>
            </a:r>
            <a:r>
              <a:rPr lang="zh-CN" altLang="en-US" sz="2800" dirty="0">
                <a:solidFill>
                  <a:srgbClr val="2B5681"/>
                </a:solidFill>
                <a:ea typeface="楷体_GB2312" pitchFamily="49" charset="-122"/>
                <a:cs typeface="+mn-cs"/>
              </a:rPr>
              <a:t> ，它的功能是使用户的</a:t>
            </a:r>
            <a:r>
              <a:rPr lang="en-US" altLang="zh-CN" sz="2800" dirty="0" err="1">
                <a:solidFill>
                  <a:srgbClr val="2B5681"/>
                </a:solidFill>
                <a:ea typeface="楷体_GB2312" pitchFamily="49" charset="-122"/>
                <a:cs typeface="+mn-cs"/>
              </a:rPr>
              <a:t>uid</a:t>
            </a:r>
            <a:r>
              <a:rPr lang="zh-CN" altLang="en-US" sz="2800" dirty="0">
                <a:solidFill>
                  <a:srgbClr val="2B5681"/>
                </a:solidFill>
                <a:ea typeface="楷体_GB2312" pitchFamily="49" charset="-122"/>
                <a:cs typeface="+mn-cs"/>
              </a:rPr>
              <a:t>等于</a:t>
            </a:r>
            <a:r>
              <a:rPr lang="en-US" altLang="zh-CN" sz="2800" dirty="0">
                <a:solidFill>
                  <a:srgbClr val="2B5681"/>
                </a:solidFill>
                <a:ea typeface="楷体_GB2312" pitchFamily="49" charset="-122"/>
                <a:cs typeface="+mn-cs"/>
              </a:rPr>
              <a:t>0 </a:t>
            </a:r>
            <a:r>
              <a:rPr lang="zh-CN" altLang="en-US" sz="2800" dirty="0">
                <a:solidFill>
                  <a:srgbClr val="2B5681"/>
                </a:solidFill>
                <a:ea typeface="楷体_GB2312" pitchFamily="49" charset="-122"/>
                <a:cs typeface="+mn-cs"/>
              </a:rPr>
              <a:t>。然后，编写一段测试程序进行该系统调用的使用。</a:t>
            </a:r>
          </a:p>
          <a:p>
            <a:pPr eaLnBrk="1" hangingPunct="1">
              <a:buFont typeface="Arial" panose="020B0604020202020204" pitchFamily="34" charset="0"/>
              <a:buChar char="•"/>
            </a:pPr>
            <a:r>
              <a:rPr lang="zh-CN" altLang="en-US" dirty="0">
                <a:solidFill>
                  <a:srgbClr val="FF0000"/>
                </a:solidFill>
                <a:latin typeface="楷体_GB2312" pitchFamily="49" charset="-122"/>
                <a:ea typeface="楷体_GB2312" pitchFamily="49" charset="-122"/>
              </a:rPr>
              <a:t>执行步骤如下</a:t>
            </a:r>
            <a:endParaRPr lang="en-US" altLang="zh-CN" dirty="0">
              <a:solidFill>
                <a:srgbClr val="FF0000"/>
              </a:solidFill>
              <a:latin typeface="楷体_GB2312" pitchFamily="49" charset="-122"/>
              <a:ea typeface="楷体_GB2312" pitchFamily="49" charset="-122"/>
            </a:endParaRPr>
          </a:p>
          <a:p>
            <a:pPr lvl="1" eaLnBrk="1" hangingPunct="1">
              <a:buFont typeface="Arial" panose="020B0604020202020204" pitchFamily="34" charset="0"/>
              <a:buChar char="•"/>
            </a:pPr>
            <a:r>
              <a:rPr lang="zh-CN" altLang="en-US" sz="2800" dirty="0">
                <a:solidFill>
                  <a:srgbClr val="2B5681"/>
                </a:solidFill>
                <a:ea typeface="楷体_GB2312" pitchFamily="49" charset="-122"/>
                <a:cs typeface="+mn-cs"/>
              </a:rPr>
              <a:t>添加系统调用号</a:t>
            </a:r>
          </a:p>
          <a:p>
            <a:pPr lvl="1" eaLnBrk="1" hangingPunct="1">
              <a:buFont typeface="Arial" panose="020B0604020202020204" pitchFamily="34" charset="0"/>
              <a:buChar char="•"/>
            </a:pPr>
            <a:r>
              <a:rPr lang="zh-CN" altLang="en-US" sz="2800" dirty="0">
                <a:solidFill>
                  <a:srgbClr val="2B5681"/>
                </a:solidFill>
                <a:ea typeface="楷体_GB2312" pitchFamily="49" charset="-122"/>
                <a:cs typeface="+mn-cs"/>
              </a:rPr>
              <a:t>在系统调用表中添加相应的表项</a:t>
            </a:r>
          </a:p>
          <a:p>
            <a:pPr lvl="1" eaLnBrk="1" hangingPunct="1">
              <a:buFont typeface="Arial" panose="020B0604020202020204" pitchFamily="34" charset="0"/>
              <a:buChar char="•"/>
            </a:pPr>
            <a:r>
              <a:rPr lang="zh-CN" altLang="en-US" sz="2800" dirty="0">
                <a:solidFill>
                  <a:srgbClr val="2B5681"/>
                </a:solidFill>
                <a:ea typeface="楷体_GB2312" pitchFamily="49" charset="-122"/>
                <a:cs typeface="+mn-cs"/>
              </a:rPr>
              <a:t>实现系统调用服务例程</a:t>
            </a:r>
          </a:p>
          <a:p>
            <a:pPr lvl="1" eaLnBrk="1" hangingPunct="1">
              <a:buFont typeface="Arial" panose="020B0604020202020204" pitchFamily="34" charset="0"/>
              <a:buChar char="•"/>
            </a:pPr>
            <a:r>
              <a:rPr lang="zh-CN" altLang="en-US" sz="2800" dirty="0">
                <a:solidFill>
                  <a:srgbClr val="2B5681"/>
                </a:solidFill>
                <a:ea typeface="楷体_GB2312" pitchFamily="49" charset="-122"/>
                <a:cs typeface="+mn-cs"/>
              </a:rPr>
              <a:t>重新编译内核，启动新内核</a:t>
            </a:r>
          </a:p>
          <a:p>
            <a:pPr lvl="1" eaLnBrk="1" hangingPunct="1">
              <a:buFont typeface="Arial" panose="020B0604020202020204" pitchFamily="34" charset="0"/>
              <a:buChar char="•"/>
            </a:pPr>
            <a:r>
              <a:rPr lang="zh-CN" altLang="en-US" sz="2800" dirty="0">
                <a:solidFill>
                  <a:srgbClr val="2B5681"/>
                </a:solidFill>
                <a:ea typeface="楷体_GB2312" pitchFamily="49" charset="-122"/>
                <a:cs typeface="+mn-cs"/>
              </a:rPr>
              <a:t>编写一段测试程序检验实验结果</a:t>
            </a:r>
          </a:p>
          <a:p>
            <a:pPr eaLnBrk="1" hangingPunct="1">
              <a:buFont typeface="Arial" panose="020B0604020202020204" pitchFamily="34" charset="0"/>
              <a:buChar char="•"/>
            </a:pPr>
            <a:endParaRPr lang="zh-CN" altLang="en-US" dirty="0">
              <a:solidFill>
                <a:schemeClr val="tx2"/>
              </a:solidFill>
              <a:latin typeface="楷体_GB2312" pitchFamily="49" charset="-122"/>
              <a:ea typeface="楷体_GB2312" pitchFamily="49" charset="-122"/>
            </a:endParaRPr>
          </a:p>
          <a:p>
            <a:pPr eaLnBrk="1" hangingPunct="1">
              <a:buFont typeface="Arial" panose="020B0604020202020204" pitchFamily="34" charset="0"/>
              <a:buChar char="•"/>
            </a:pPr>
            <a:endParaRPr lang="en-US" altLang="zh-CN" dirty="0">
              <a:latin typeface="楷体_GB2312" pitchFamily="49" charset="-122"/>
              <a:ea typeface="楷体_GB2312" pitchFamily="49" charset="-122"/>
            </a:endParaRPr>
          </a:p>
          <a:p>
            <a:pPr eaLnBrk="1" hangingPunct="1">
              <a:buFont typeface="Arial" panose="020B0604020202020204" pitchFamily="34" charset="0"/>
              <a:buChar char="•"/>
            </a:pPr>
            <a:endParaRPr lang="zh-CN" altLang="en-US" dirty="0">
              <a:latin typeface="楷体_GB2312" pitchFamily="49" charset="-122"/>
              <a:ea typeface="楷体_GB2312" pitchFamily="49" charset="-122"/>
            </a:endParaRPr>
          </a:p>
        </p:txBody>
      </p:sp>
    </p:spTree>
    <p:extLst>
      <p:ext uri="{BB962C8B-B14F-4D97-AF65-F5344CB8AC3E}">
        <p14:creationId xmlns:p14="http://schemas.microsoft.com/office/powerpoint/2010/main" val="29209918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zh-CN" altLang="en-US" sz="2400">
                <a:solidFill>
                  <a:srgbClr val="990000"/>
                </a:solidFill>
                <a:latin typeface="楷体_GB2312" pitchFamily="49" charset="-122"/>
                <a:ea typeface="楷体_GB2312" pitchFamily="49" charset="-122"/>
              </a:rPr>
              <a:t>（</a:t>
            </a:r>
            <a:r>
              <a:rPr lang="en-US" altLang="zh-CN" sz="2400">
                <a:solidFill>
                  <a:srgbClr val="990000"/>
                </a:solidFill>
                <a:latin typeface="楷体_GB2312" pitchFamily="49" charset="-122"/>
                <a:ea typeface="楷体_GB2312" pitchFamily="49" charset="-122"/>
              </a:rPr>
              <a:t>1</a:t>
            </a:r>
            <a:r>
              <a:rPr lang="zh-CN" altLang="en-US" sz="2400">
                <a:solidFill>
                  <a:srgbClr val="990000"/>
                </a:solidFill>
                <a:latin typeface="楷体_GB2312" pitchFamily="49" charset="-122"/>
                <a:ea typeface="楷体_GB2312" pitchFamily="49" charset="-122"/>
              </a:rPr>
              <a:t>）添加系统调用号：</a:t>
            </a:r>
            <a:r>
              <a:rPr lang="zh-CN" altLang="en-US" sz="2400">
                <a:latin typeface="楷体_GB2312" pitchFamily="49" charset="-122"/>
                <a:ea typeface="楷体_GB2312" pitchFamily="49" charset="-122"/>
              </a:rPr>
              <a:t>它位于</a:t>
            </a:r>
            <a:r>
              <a:rPr lang="en-US" altLang="zh-CN" sz="2400">
                <a:latin typeface="楷体_GB2312" pitchFamily="49" charset="-122"/>
                <a:ea typeface="楷体_GB2312" pitchFamily="49" charset="-122"/>
              </a:rPr>
              <a:t>unistd.h</a:t>
            </a:r>
            <a:r>
              <a:rPr lang="zh-CN" altLang="en-US" sz="2400">
                <a:latin typeface="楷体_GB2312" pitchFamily="49" charset="-122"/>
                <a:ea typeface="楷体_GB2312" pitchFamily="49" charset="-122"/>
              </a:rPr>
              <a:t>，每个系统调用号都以</a:t>
            </a:r>
            <a:r>
              <a:rPr lang="zh-CN" altLang="en-US" sz="2400">
                <a:latin typeface="Times New Roman" panose="02020603050405020304" pitchFamily="18" charset="0"/>
                <a:ea typeface="楷体_GB2312" pitchFamily="49" charset="-122"/>
              </a:rPr>
              <a:t>“</a:t>
            </a:r>
            <a:r>
              <a:rPr lang="en-US" altLang="zh-CN" sz="2400">
                <a:latin typeface="楷体_GB2312" pitchFamily="49" charset="-122"/>
                <a:ea typeface="楷体_GB2312" pitchFamily="49" charset="-122"/>
              </a:rPr>
              <a:t>_NR_</a:t>
            </a:r>
            <a:r>
              <a:rPr lang="zh-CN" altLang="en-US" sz="2400">
                <a:latin typeface="楷体_GB2312" pitchFamily="49" charset="-122"/>
                <a:ea typeface="楷体_GB2312" pitchFamily="49" charset="-122"/>
              </a:rPr>
              <a:t>开头</a:t>
            </a:r>
            <a:r>
              <a:rPr lang="zh-CN" altLang="en-US" sz="2400">
                <a:latin typeface="Times New Roman" panose="02020603050405020304" pitchFamily="18" charset="0"/>
                <a:ea typeface="楷体_GB2312" pitchFamily="49" charset="-122"/>
              </a:rPr>
              <a:t>”</a:t>
            </a:r>
            <a:r>
              <a:rPr lang="zh-CN" altLang="en-US" sz="2400">
                <a:latin typeface="楷体_GB2312" pitchFamily="49" charset="-122"/>
                <a:ea typeface="楷体_GB2312" pitchFamily="49" charset="-122"/>
              </a:rPr>
              <a:t>，</a:t>
            </a:r>
          </a:p>
          <a:p>
            <a:pPr eaLnBrk="1" hangingPunct="1">
              <a:lnSpc>
                <a:spcPct val="90000"/>
              </a:lnSpc>
            </a:pPr>
            <a:r>
              <a:rPr lang="zh-CN" altLang="en-US" sz="2400">
                <a:latin typeface="楷体_GB2312" pitchFamily="49" charset="-122"/>
                <a:ea typeface="楷体_GB2312" pitchFamily="49" charset="-122"/>
              </a:rPr>
              <a:t>系统调用的编号命名为  </a:t>
            </a:r>
            <a:r>
              <a:rPr lang="en-US" altLang="zh-CN" sz="2400">
                <a:latin typeface="楷体_GB2312" pitchFamily="49" charset="-122"/>
                <a:ea typeface="楷体_GB2312" pitchFamily="49" charset="-122"/>
              </a:rPr>
              <a:t>__NR_mysyscall</a:t>
            </a:r>
          </a:p>
          <a:p>
            <a:pPr eaLnBrk="1" hangingPunct="1">
              <a:lnSpc>
                <a:spcPct val="90000"/>
              </a:lnSpc>
            </a:pPr>
            <a:r>
              <a:rPr lang="zh-CN" altLang="en-US" sz="2400">
                <a:latin typeface="楷体_GB2312" pitchFamily="49" charset="-122"/>
                <a:ea typeface="楷体_GB2312" pitchFamily="49" charset="-122"/>
              </a:rPr>
              <a:t>改写</a:t>
            </a:r>
            <a:r>
              <a:rPr lang="en-US" altLang="zh-CN" sz="2400">
                <a:latin typeface="楷体_GB2312" pitchFamily="49" charset="-122"/>
                <a:ea typeface="楷体_GB2312" pitchFamily="49" charset="-122"/>
              </a:rPr>
              <a:t>/usr/include/asm/unistd.h</a:t>
            </a:r>
          </a:p>
          <a:p>
            <a:pPr eaLnBrk="1" hangingPunct="1">
              <a:lnSpc>
                <a:spcPct val="90000"/>
              </a:lnSpc>
              <a:buFont typeface="Wingdings" panose="05000000000000000000" pitchFamily="2" charset="2"/>
              <a:buNone/>
            </a:pPr>
            <a:r>
              <a:rPr lang="en-US" altLang="zh-CN" sz="2400">
                <a:solidFill>
                  <a:srgbClr val="000000"/>
                </a:solidFill>
                <a:latin typeface="楷体_GB2312" pitchFamily="49" charset="-122"/>
                <a:ea typeface="楷体_GB2312" pitchFamily="49" charset="-122"/>
                <a:hlinkClick r:id="rId3"/>
              </a:rPr>
              <a:t>240</a:t>
            </a:r>
            <a:r>
              <a:rPr lang="en-US" altLang="zh-CN" sz="2400">
                <a:latin typeface="楷体_GB2312" pitchFamily="49" charset="-122"/>
                <a:ea typeface="楷体_GB2312" pitchFamily="49" charset="-122"/>
              </a:rPr>
              <a:t> #define </a:t>
            </a:r>
            <a:r>
              <a:rPr lang="en-US" altLang="zh-CN" sz="2400">
                <a:solidFill>
                  <a:srgbClr val="000000"/>
                </a:solidFill>
                <a:latin typeface="楷体_GB2312" pitchFamily="49" charset="-122"/>
                <a:ea typeface="楷体_GB2312" pitchFamily="49" charset="-122"/>
                <a:hlinkClick r:id="rId4"/>
              </a:rPr>
              <a:t>__NR_llistxattr</a:t>
            </a:r>
            <a:r>
              <a:rPr lang="en-US" altLang="zh-CN" sz="2400">
                <a:latin typeface="楷体_GB2312" pitchFamily="49" charset="-122"/>
                <a:ea typeface="楷体_GB2312" pitchFamily="49" charset="-122"/>
              </a:rPr>
              <a:t>        	 	233</a:t>
            </a:r>
          </a:p>
          <a:p>
            <a:pPr eaLnBrk="1" hangingPunct="1">
              <a:lnSpc>
                <a:spcPct val="90000"/>
              </a:lnSpc>
              <a:buFont typeface="Wingdings" panose="05000000000000000000" pitchFamily="2" charset="2"/>
              <a:buNone/>
            </a:pPr>
            <a:r>
              <a:rPr lang="en-US" altLang="zh-CN" sz="2400">
                <a:solidFill>
                  <a:srgbClr val="000000"/>
                </a:solidFill>
                <a:latin typeface="楷体_GB2312" pitchFamily="49" charset="-122"/>
                <a:ea typeface="楷体_GB2312" pitchFamily="49" charset="-122"/>
                <a:hlinkClick r:id="rId5"/>
              </a:rPr>
              <a:t>241</a:t>
            </a:r>
            <a:r>
              <a:rPr lang="en-US" altLang="zh-CN" sz="2400">
                <a:latin typeface="楷体_GB2312" pitchFamily="49" charset="-122"/>
                <a:ea typeface="楷体_GB2312" pitchFamily="49" charset="-122"/>
              </a:rPr>
              <a:t> #define </a:t>
            </a:r>
            <a:r>
              <a:rPr lang="en-US" altLang="zh-CN" sz="2400">
                <a:solidFill>
                  <a:srgbClr val="000000"/>
                </a:solidFill>
                <a:latin typeface="楷体_GB2312" pitchFamily="49" charset="-122"/>
                <a:ea typeface="楷体_GB2312" pitchFamily="49" charset="-122"/>
                <a:hlinkClick r:id="rId6"/>
              </a:rPr>
              <a:t>__NR_flistxattr</a:t>
            </a:r>
            <a:r>
              <a:rPr lang="en-US" altLang="zh-CN" sz="2400">
                <a:latin typeface="楷体_GB2312" pitchFamily="49" charset="-122"/>
                <a:ea typeface="楷体_GB2312" pitchFamily="49" charset="-122"/>
              </a:rPr>
              <a:t>        	 	234</a:t>
            </a:r>
          </a:p>
          <a:p>
            <a:pPr eaLnBrk="1" hangingPunct="1">
              <a:lnSpc>
                <a:spcPct val="90000"/>
              </a:lnSpc>
              <a:buFont typeface="Wingdings" panose="05000000000000000000" pitchFamily="2" charset="2"/>
              <a:buNone/>
            </a:pPr>
            <a:r>
              <a:rPr lang="en-US" altLang="zh-CN" sz="2400">
                <a:solidFill>
                  <a:srgbClr val="000000"/>
                </a:solidFill>
                <a:latin typeface="楷体_GB2312" pitchFamily="49" charset="-122"/>
                <a:ea typeface="楷体_GB2312" pitchFamily="49" charset="-122"/>
                <a:hlinkClick r:id="rId7"/>
              </a:rPr>
              <a:t>242</a:t>
            </a:r>
            <a:r>
              <a:rPr lang="en-US" altLang="zh-CN" sz="2400">
                <a:latin typeface="楷体_GB2312" pitchFamily="49" charset="-122"/>
                <a:ea typeface="楷体_GB2312" pitchFamily="49" charset="-122"/>
              </a:rPr>
              <a:t> #define </a:t>
            </a:r>
            <a:r>
              <a:rPr lang="en-US" altLang="zh-CN" sz="2400">
                <a:solidFill>
                  <a:srgbClr val="000000"/>
                </a:solidFill>
                <a:latin typeface="楷体_GB2312" pitchFamily="49" charset="-122"/>
                <a:ea typeface="楷体_GB2312" pitchFamily="49" charset="-122"/>
                <a:hlinkClick r:id="rId8"/>
              </a:rPr>
              <a:t>__NR_removexattr</a:t>
            </a:r>
            <a:r>
              <a:rPr lang="en-US" altLang="zh-CN" sz="2400">
                <a:latin typeface="楷体_GB2312" pitchFamily="49" charset="-122"/>
                <a:ea typeface="楷体_GB2312" pitchFamily="49" charset="-122"/>
              </a:rPr>
              <a:t>     		235</a:t>
            </a:r>
          </a:p>
          <a:p>
            <a:pPr eaLnBrk="1" hangingPunct="1">
              <a:lnSpc>
                <a:spcPct val="90000"/>
              </a:lnSpc>
              <a:buFont typeface="Wingdings" panose="05000000000000000000" pitchFamily="2" charset="2"/>
              <a:buNone/>
            </a:pPr>
            <a:r>
              <a:rPr lang="en-US" altLang="zh-CN" sz="2400">
                <a:solidFill>
                  <a:srgbClr val="000000"/>
                </a:solidFill>
                <a:latin typeface="楷体_GB2312" pitchFamily="49" charset="-122"/>
                <a:ea typeface="楷体_GB2312" pitchFamily="49" charset="-122"/>
                <a:hlinkClick r:id="rId9"/>
              </a:rPr>
              <a:t>243</a:t>
            </a:r>
            <a:r>
              <a:rPr lang="en-US" altLang="zh-CN" sz="2400">
                <a:latin typeface="楷体_GB2312" pitchFamily="49" charset="-122"/>
                <a:ea typeface="楷体_GB2312" pitchFamily="49" charset="-122"/>
              </a:rPr>
              <a:t> #define </a:t>
            </a:r>
            <a:r>
              <a:rPr lang="en-US" altLang="zh-CN" sz="2400">
                <a:solidFill>
                  <a:srgbClr val="000000"/>
                </a:solidFill>
                <a:latin typeface="楷体_GB2312" pitchFamily="49" charset="-122"/>
                <a:ea typeface="楷体_GB2312" pitchFamily="49" charset="-122"/>
                <a:hlinkClick r:id="rId10"/>
              </a:rPr>
              <a:t>__NR_lremovexattr</a:t>
            </a:r>
            <a:r>
              <a:rPr lang="en-US" altLang="zh-CN" sz="2400">
                <a:latin typeface="楷体_GB2312" pitchFamily="49" charset="-122"/>
                <a:ea typeface="楷体_GB2312" pitchFamily="49" charset="-122"/>
              </a:rPr>
              <a:t>    	  	236</a:t>
            </a:r>
          </a:p>
          <a:p>
            <a:pPr eaLnBrk="1" hangingPunct="1">
              <a:lnSpc>
                <a:spcPct val="90000"/>
              </a:lnSpc>
              <a:buFont typeface="Wingdings" panose="05000000000000000000" pitchFamily="2" charset="2"/>
              <a:buNone/>
            </a:pPr>
            <a:r>
              <a:rPr lang="en-US" altLang="zh-CN" sz="2400">
                <a:solidFill>
                  <a:srgbClr val="000000"/>
                </a:solidFill>
                <a:latin typeface="楷体_GB2312" pitchFamily="49" charset="-122"/>
                <a:ea typeface="楷体_GB2312" pitchFamily="49" charset="-122"/>
                <a:hlinkClick r:id="rId11"/>
              </a:rPr>
              <a:t>244</a:t>
            </a:r>
            <a:r>
              <a:rPr lang="en-US" altLang="zh-CN" sz="2400">
                <a:latin typeface="楷体_GB2312" pitchFamily="49" charset="-122"/>
                <a:ea typeface="楷体_GB2312" pitchFamily="49" charset="-122"/>
              </a:rPr>
              <a:t> #define </a:t>
            </a:r>
            <a:r>
              <a:rPr lang="en-US" altLang="zh-CN" sz="2400">
                <a:solidFill>
                  <a:srgbClr val="000000"/>
                </a:solidFill>
                <a:latin typeface="楷体_GB2312" pitchFamily="49" charset="-122"/>
                <a:ea typeface="楷体_GB2312" pitchFamily="49" charset="-122"/>
                <a:hlinkClick r:id="rId12"/>
              </a:rPr>
              <a:t>__NR_fremovexattr</a:t>
            </a:r>
            <a:r>
              <a:rPr lang="en-US" altLang="zh-CN" sz="2400">
                <a:latin typeface="楷体_GB2312" pitchFamily="49" charset="-122"/>
                <a:ea typeface="楷体_GB2312" pitchFamily="49" charset="-122"/>
              </a:rPr>
              <a:t>    	  	237</a:t>
            </a:r>
          </a:p>
          <a:p>
            <a:pPr eaLnBrk="1" hangingPunct="1">
              <a:lnSpc>
                <a:spcPct val="90000"/>
              </a:lnSpc>
              <a:buFont typeface="Wingdings" panose="05000000000000000000" pitchFamily="2" charset="2"/>
              <a:buNone/>
            </a:pPr>
            <a:r>
              <a:rPr lang="en-US" altLang="zh-CN" sz="2400">
                <a:solidFill>
                  <a:srgbClr val="000000"/>
                </a:solidFill>
                <a:latin typeface="楷体_GB2312" pitchFamily="49" charset="-122"/>
                <a:ea typeface="楷体_GB2312" pitchFamily="49" charset="-122"/>
                <a:hlinkClick r:id="rId13"/>
              </a:rPr>
              <a:t>245</a:t>
            </a:r>
            <a:r>
              <a:rPr lang="en-US" altLang="zh-CN" sz="2400">
                <a:latin typeface="楷体_GB2312" pitchFamily="49" charset="-122"/>
                <a:ea typeface="楷体_GB2312" pitchFamily="49" charset="-122"/>
              </a:rPr>
              <a:t> #define </a:t>
            </a:r>
            <a:r>
              <a:rPr lang="en-US" altLang="zh-CN" sz="2400" b="0">
                <a:latin typeface="楷体_GB2312" pitchFamily="49" charset="-122"/>
                <a:ea typeface="楷体_GB2312" pitchFamily="49" charset="-122"/>
              </a:rPr>
              <a:t>__</a:t>
            </a:r>
            <a:r>
              <a:rPr lang="en-US" altLang="zh-CN" sz="2400" b="0">
                <a:solidFill>
                  <a:srgbClr val="FF0000"/>
                </a:solidFill>
                <a:latin typeface="楷体_GB2312" pitchFamily="49" charset="-122"/>
                <a:ea typeface="楷体_GB2312" pitchFamily="49" charset="-122"/>
              </a:rPr>
              <a:t>NR_mysyscall</a:t>
            </a:r>
            <a:r>
              <a:rPr lang="en-US" altLang="zh-CN" sz="2400">
                <a:solidFill>
                  <a:srgbClr val="FF0000"/>
                </a:solidFill>
                <a:latin typeface="楷体_GB2312" pitchFamily="49" charset="-122"/>
                <a:ea typeface="楷体_GB2312" pitchFamily="49" charset="-122"/>
              </a:rPr>
              <a:t>	</a:t>
            </a:r>
            <a:r>
              <a:rPr lang="en-US" altLang="zh-CN" sz="2400">
                <a:latin typeface="楷体_GB2312" pitchFamily="49" charset="-122"/>
                <a:ea typeface="楷体_GB2312" pitchFamily="49" charset="-122"/>
              </a:rPr>
              <a:t>		238</a:t>
            </a:r>
          </a:p>
        </p:txBody>
      </p:sp>
      <p:sp>
        <p:nvSpPr>
          <p:cNvPr id="6" name="Rectangle 2">
            <a:extLst>
              <a:ext uri="{FF2B5EF4-FFF2-40B4-BE49-F238E27FC236}">
                <a16:creationId xmlns:a16="http://schemas.microsoft.com/office/drawing/2014/main" id="{141E4855-20DC-4187-85A3-3BE4EAEBE85B}"/>
              </a:ext>
            </a:extLst>
          </p:cNvPr>
          <p:cNvSpPr>
            <a:spLocks noGrp="1" noChangeArrowheads="1"/>
          </p:cNvSpPr>
          <p:nvPr>
            <p:ph type="title"/>
          </p:nvPr>
        </p:nvSpPr>
        <p:spPr>
          <a:xfrm>
            <a:off x="611188" y="115888"/>
            <a:ext cx="7632700" cy="609600"/>
          </a:xfrm>
        </p:spPr>
        <p:txBody>
          <a:bodyPr/>
          <a:lstStyle/>
          <a:p>
            <a:pPr algn="l" eaLnBrk="1" hangingPunct="1"/>
            <a:r>
              <a:rPr lang="en-US" altLang="zh-CN" dirty="0">
                <a:latin typeface="楷体_GB2312" pitchFamily="49" charset="-122"/>
                <a:ea typeface="楷体_GB2312" pitchFamily="49" charset="-122"/>
              </a:rPr>
              <a:t>4.5 </a:t>
            </a:r>
            <a:r>
              <a:rPr lang="zh-CN" altLang="en-US" dirty="0">
                <a:solidFill>
                  <a:srgbClr val="990000"/>
                </a:solidFill>
                <a:latin typeface="楷体_GB2312" pitchFamily="49" charset="-122"/>
                <a:ea typeface="楷体_GB2312" pitchFamily="49" charset="-122"/>
              </a:rPr>
              <a:t>练习：</a:t>
            </a:r>
            <a:r>
              <a:rPr lang="zh-CN" altLang="en-US" dirty="0">
                <a:latin typeface="楷体_GB2312" pitchFamily="49" charset="-122"/>
                <a:ea typeface="楷体_GB2312" pitchFamily="49" charset="-122"/>
              </a:rPr>
              <a:t>添加一个系统调用</a:t>
            </a:r>
            <a:r>
              <a:rPr lang="en-US" altLang="zh-CN" dirty="0" err="1">
                <a:latin typeface="楷体_GB2312" pitchFamily="49" charset="-122"/>
                <a:ea typeface="楷体_GB2312" pitchFamily="49" charset="-122"/>
              </a:rPr>
              <a:t>mysyscall</a:t>
            </a:r>
            <a:endParaRPr lang="en-US" altLang="zh-CN" dirty="0">
              <a:latin typeface="楷体_GB2312" pitchFamily="49" charset="-122"/>
              <a:ea typeface="楷体_GB2312" pitchFamily="49" charset="-122"/>
            </a:endParaRPr>
          </a:p>
        </p:txBody>
      </p:sp>
    </p:spTree>
    <p:extLst>
      <p:ext uri="{BB962C8B-B14F-4D97-AF65-F5344CB8AC3E}">
        <p14:creationId xmlns:p14="http://schemas.microsoft.com/office/powerpoint/2010/main" val="1005781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idx="1"/>
          </p:nvPr>
        </p:nvSpPr>
        <p:spPr>
          <a:xfrm>
            <a:off x="457200" y="1052513"/>
            <a:ext cx="8229600" cy="5073650"/>
          </a:xfrm>
        </p:spPr>
        <p:txBody>
          <a:bodyPr/>
          <a:lstStyle/>
          <a:p>
            <a:pPr eaLnBrk="1" hangingPunct="1">
              <a:lnSpc>
                <a:spcPct val="90000"/>
              </a:lnSpc>
              <a:buFont typeface="Wingdings" panose="05000000000000000000" pitchFamily="2" charset="2"/>
              <a:buNone/>
            </a:pPr>
            <a:r>
              <a:rPr lang="zh-CN" altLang="en-US" sz="2400" dirty="0">
                <a:solidFill>
                  <a:srgbClr val="FF0000"/>
                </a:solidFill>
                <a:latin typeface="楷体_GB2312" pitchFamily="49" charset="-122"/>
                <a:ea typeface="楷体_GB2312" pitchFamily="49" charset="-122"/>
              </a:rPr>
              <a:t>（</a:t>
            </a:r>
            <a:r>
              <a:rPr lang="en-US" altLang="zh-CN" sz="2400" dirty="0">
                <a:solidFill>
                  <a:srgbClr val="FF0000"/>
                </a:solidFill>
                <a:latin typeface="楷体_GB2312" pitchFamily="49" charset="-122"/>
                <a:ea typeface="楷体_GB2312" pitchFamily="49" charset="-122"/>
              </a:rPr>
              <a:t>2</a:t>
            </a:r>
            <a:r>
              <a:rPr lang="zh-CN" altLang="en-US" sz="2400" dirty="0">
                <a:solidFill>
                  <a:srgbClr val="FF0000"/>
                </a:solidFill>
                <a:latin typeface="楷体_GB2312" pitchFamily="49" charset="-122"/>
                <a:ea typeface="楷体_GB2312" pitchFamily="49" charset="-122"/>
              </a:rPr>
              <a:t>）在系统调用表中添加相应的表项</a:t>
            </a:r>
          </a:p>
          <a:p>
            <a:pPr eaLnBrk="1" hangingPunct="1">
              <a:lnSpc>
                <a:spcPct val="90000"/>
              </a:lnSpc>
              <a:buFont typeface="Arial" panose="020B0604020202020204" pitchFamily="34" charset="0"/>
              <a:buChar char="•"/>
            </a:pPr>
            <a:r>
              <a:rPr lang="zh-CN" altLang="en-US" sz="2400" dirty="0">
                <a:latin typeface="楷体_GB2312" pitchFamily="49" charset="-122"/>
                <a:ea typeface="楷体_GB2312" pitchFamily="49" charset="-122"/>
              </a:rPr>
              <a:t>内核中实现该系统调用的例程的名字    </a:t>
            </a:r>
            <a:r>
              <a:rPr lang="en-US" altLang="zh-CN" sz="2400" dirty="0" err="1">
                <a:latin typeface="楷体_GB2312" pitchFamily="49" charset="-122"/>
                <a:ea typeface="楷体_GB2312" pitchFamily="49" charset="-122"/>
              </a:rPr>
              <a:t>sys_mysyscall</a:t>
            </a:r>
            <a:endParaRPr lang="en-US" altLang="zh-CN" sz="2400" dirty="0">
              <a:latin typeface="楷体_GB2312" pitchFamily="49" charset="-122"/>
              <a:ea typeface="楷体_GB2312" pitchFamily="49" charset="-122"/>
            </a:endParaRPr>
          </a:p>
          <a:p>
            <a:pPr eaLnBrk="1" hangingPunct="1">
              <a:lnSpc>
                <a:spcPct val="90000"/>
              </a:lnSpc>
              <a:buFont typeface="Arial" panose="020B0604020202020204" pitchFamily="34" charset="0"/>
              <a:buChar char="•"/>
            </a:pPr>
            <a:r>
              <a:rPr lang="zh-CN" altLang="en-US" sz="2400" dirty="0">
                <a:latin typeface="楷体_GB2312" pitchFamily="49" charset="-122"/>
                <a:ea typeface="楷体_GB2312" pitchFamily="49" charset="-122"/>
              </a:rPr>
              <a:t>改写</a:t>
            </a:r>
            <a:r>
              <a:rPr lang="en-US" altLang="zh-CN" sz="2400" dirty="0">
                <a:latin typeface="楷体_GB2312" pitchFamily="49" charset="-122"/>
                <a:ea typeface="楷体_GB2312" pitchFamily="49" charset="-122"/>
              </a:rPr>
              <a:t>arch/i386/kernel/</a:t>
            </a:r>
            <a:r>
              <a:rPr lang="en-US" altLang="zh-CN" sz="2400" dirty="0" err="1">
                <a:latin typeface="楷体_GB2312" pitchFamily="49" charset="-122"/>
                <a:ea typeface="楷体_GB2312" pitchFamily="49" charset="-122"/>
              </a:rPr>
              <a:t>entry.S</a:t>
            </a:r>
            <a:endParaRPr lang="en-US" altLang="zh-CN" sz="2400" dirty="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hlinkClick r:id="rId3"/>
              </a:rPr>
              <a:t>398</a:t>
            </a:r>
            <a:r>
              <a:rPr lang="en-US" altLang="zh-CN" sz="2400" dirty="0">
                <a:latin typeface="楷体_GB2312" pitchFamily="49" charset="-122"/>
                <a:ea typeface="楷体_GB2312" pitchFamily="49" charset="-122"/>
              </a:rPr>
              <a:t> ENTRY(</a:t>
            </a:r>
            <a:r>
              <a:rPr lang="en-US" altLang="zh-CN" sz="2400" dirty="0" err="1">
                <a:latin typeface="楷体_GB2312" pitchFamily="49" charset="-122"/>
                <a:ea typeface="楷体_GB2312" pitchFamily="49" charset="-122"/>
              </a:rPr>
              <a:t>sys_call_table</a:t>
            </a:r>
            <a:r>
              <a:rPr lang="en-US" altLang="zh-CN" sz="2400" dirty="0">
                <a:latin typeface="楷体_GB2312" pitchFamily="49" charset="-122"/>
                <a:ea typeface="楷体_GB2312" pitchFamily="49" charset="-122"/>
              </a:rPr>
              <a:t>)</a:t>
            </a:r>
          </a:p>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hlinkClick r:id="rId4"/>
              </a:rPr>
              <a:t>399</a:t>
            </a:r>
            <a:r>
              <a:rPr lang="en-US" altLang="zh-CN" sz="2400" dirty="0">
                <a:latin typeface="楷体_GB2312" pitchFamily="49" charset="-122"/>
                <a:ea typeface="楷体_GB2312" pitchFamily="49" charset="-122"/>
              </a:rPr>
              <a:t>         .long SYMBOL_NAME(</a:t>
            </a:r>
            <a:r>
              <a:rPr lang="en-US" altLang="zh-CN" sz="2400" dirty="0" err="1">
                <a:latin typeface="楷体_GB2312" pitchFamily="49" charset="-122"/>
                <a:ea typeface="楷体_GB2312" pitchFamily="49" charset="-122"/>
              </a:rPr>
              <a:t>sys_ni_syscall</a:t>
            </a:r>
            <a:r>
              <a:rPr lang="en-US" altLang="zh-CN" sz="2400" dirty="0">
                <a:latin typeface="楷体_GB2312" pitchFamily="49" charset="-122"/>
                <a:ea typeface="楷体_GB2312" pitchFamily="49" charset="-122"/>
              </a:rPr>
              <a:t>)</a:t>
            </a:r>
          </a:p>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rPr>
              <a:t>                </a:t>
            </a:r>
            <a:r>
              <a:rPr lang="en-US" altLang="zh-CN" sz="2400" dirty="0">
                <a:latin typeface="Times New Roman" panose="02020603050405020304" pitchFamily="18" charset="0"/>
                <a:ea typeface="楷体_GB2312" pitchFamily="49" charset="-122"/>
              </a:rPr>
              <a:t>……</a:t>
            </a:r>
            <a:endParaRPr lang="en-US" altLang="zh-CN" sz="2400" dirty="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hlinkClick r:id="rId5"/>
              </a:rPr>
              <a:t>636</a:t>
            </a:r>
            <a:r>
              <a:rPr lang="en-US" altLang="zh-CN" sz="2400" dirty="0">
                <a:latin typeface="楷体_GB2312" pitchFamily="49" charset="-122"/>
                <a:ea typeface="楷体_GB2312" pitchFamily="49" charset="-122"/>
              </a:rPr>
              <a:t>         .long SYMBOL_NAME(</a:t>
            </a:r>
            <a:r>
              <a:rPr lang="en-US" altLang="zh-CN" sz="2400" dirty="0" err="1">
                <a:latin typeface="楷体_GB2312" pitchFamily="49" charset="-122"/>
                <a:ea typeface="楷体_GB2312" pitchFamily="49" charset="-122"/>
              </a:rPr>
              <a:t>sys_ni_syscall</a:t>
            </a:r>
            <a:r>
              <a:rPr lang="en-US" altLang="zh-CN" sz="2400" dirty="0">
                <a:latin typeface="楷体_GB2312" pitchFamily="49" charset="-122"/>
                <a:ea typeface="楷体_GB2312" pitchFamily="49" charset="-122"/>
              </a:rPr>
              <a:t>)       </a:t>
            </a:r>
          </a:p>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rPr>
              <a:t>637         </a:t>
            </a:r>
            <a:r>
              <a:rPr lang="en-US" altLang="zh-CN" sz="2400" dirty="0">
                <a:solidFill>
                  <a:srgbClr val="FF0000"/>
                </a:solidFill>
                <a:latin typeface="楷体_GB2312" pitchFamily="49" charset="-122"/>
                <a:ea typeface="楷体_GB2312" pitchFamily="49" charset="-122"/>
              </a:rPr>
              <a:t>.long SYMBOL_NAME(</a:t>
            </a:r>
            <a:r>
              <a:rPr lang="en-US" altLang="zh-CN" sz="2400" dirty="0" err="1">
                <a:solidFill>
                  <a:srgbClr val="FF0000"/>
                </a:solidFill>
                <a:latin typeface="楷体_GB2312" pitchFamily="49" charset="-122"/>
                <a:ea typeface="楷体_GB2312" pitchFamily="49" charset="-122"/>
              </a:rPr>
              <a:t>sys_mysyscall</a:t>
            </a:r>
            <a:r>
              <a:rPr lang="en-US" altLang="zh-CN" sz="2400" dirty="0">
                <a:solidFill>
                  <a:srgbClr val="FF0000"/>
                </a:solidFill>
                <a:latin typeface="楷体_GB2312" pitchFamily="49" charset="-122"/>
                <a:ea typeface="楷体_GB2312" pitchFamily="49" charset="-122"/>
              </a:rPr>
              <a:t>)</a:t>
            </a:r>
          </a:p>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rPr>
              <a:t>638 </a:t>
            </a:r>
          </a:p>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rPr>
              <a:t>639         .</a:t>
            </a:r>
            <a:r>
              <a:rPr lang="en-US" altLang="zh-CN" sz="2400" dirty="0" err="1">
                <a:latin typeface="楷体_GB2312" pitchFamily="49" charset="-122"/>
                <a:ea typeface="楷体_GB2312" pitchFamily="49" charset="-122"/>
              </a:rPr>
              <a:t>rept</a:t>
            </a:r>
            <a:r>
              <a:rPr lang="en-US" altLang="zh-CN" sz="2400" dirty="0">
                <a:latin typeface="楷体_GB2312" pitchFamily="49" charset="-122"/>
                <a:ea typeface="楷体_GB2312" pitchFamily="49" charset="-122"/>
              </a:rPr>
              <a:t> </a:t>
            </a:r>
            <a:r>
              <a:rPr lang="en-US" altLang="zh-CN" sz="2400" dirty="0" err="1">
                <a:latin typeface="楷体_GB2312" pitchFamily="49" charset="-122"/>
                <a:ea typeface="楷体_GB2312" pitchFamily="49" charset="-122"/>
              </a:rPr>
              <a:t>NR_syscalls</a:t>
            </a:r>
            <a:r>
              <a:rPr lang="en-US" altLang="zh-CN" sz="2400" dirty="0">
                <a:latin typeface="楷体_GB2312" pitchFamily="49" charset="-122"/>
                <a:ea typeface="楷体_GB2312" pitchFamily="49" charset="-122"/>
              </a:rPr>
              <a:t>-(.-</a:t>
            </a:r>
            <a:r>
              <a:rPr lang="en-US" altLang="zh-CN" sz="2400" dirty="0" err="1">
                <a:latin typeface="楷体_GB2312" pitchFamily="49" charset="-122"/>
                <a:ea typeface="楷体_GB2312" pitchFamily="49" charset="-122"/>
              </a:rPr>
              <a:t>sys_call_table</a:t>
            </a:r>
            <a:r>
              <a:rPr lang="en-US" altLang="zh-CN" sz="2400" dirty="0">
                <a:latin typeface="楷体_GB2312" pitchFamily="49" charset="-122"/>
                <a:ea typeface="楷体_GB2312" pitchFamily="49" charset="-122"/>
              </a:rPr>
              <a:t>)/4</a:t>
            </a:r>
          </a:p>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hlinkClick r:id="rId6"/>
              </a:rPr>
              <a:t>6</a:t>
            </a:r>
            <a:r>
              <a:rPr lang="en-US" altLang="zh-CN" sz="2400" dirty="0">
                <a:latin typeface="楷体_GB2312" pitchFamily="49" charset="-122"/>
                <a:ea typeface="楷体_GB2312" pitchFamily="49" charset="-122"/>
              </a:rPr>
              <a:t>40                 .long SYMBOL_NAME(</a:t>
            </a:r>
            <a:r>
              <a:rPr lang="en-US" altLang="zh-CN" sz="2400" dirty="0" err="1">
                <a:latin typeface="楷体_GB2312" pitchFamily="49" charset="-122"/>
                <a:ea typeface="楷体_GB2312" pitchFamily="49" charset="-122"/>
              </a:rPr>
              <a:t>sys_ni_syscall</a:t>
            </a:r>
            <a:r>
              <a:rPr lang="en-US" altLang="zh-CN" sz="2400" dirty="0">
                <a:latin typeface="楷体_GB2312" pitchFamily="49" charset="-122"/>
                <a:ea typeface="楷体_GB2312" pitchFamily="49" charset="-122"/>
              </a:rPr>
              <a:t>)</a:t>
            </a:r>
          </a:p>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hlinkClick r:id="rId7"/>
              </a:rPr>
              <a:t>64</a:t>
            </a:r>
            <a:r>
              <a:rPr lang="en-US" altLang="zh-CN" sz="2400" dirty="0">
                <a:latin typeface="楷体_GB2312" pitchFamily="49" charset="-122"/>
                <a:ea typeface="楷体_GB2312" pitchFamily="49" charset="-122"/>
              </a:rPr>
              <a:t>1         .</a:t>
            </a:r>
            <a:r>
              <a:rPr lang="en-US" altLang="zh-CN" sz="2400" dirty="0" err="1">
                <a:latin typeface="楷体_GB2312" pitchFamily="49" charset="-122"/>
                <a:ea typeface="楷体_GB2312" pitchFamily="49" charset="-122"/>
              </a:rPr>
              <a:t>endr</a:t>
            </a:r>
            <a:r>
              <a:rPr lang="en-US" altLang="zh-CN" sz="2400" dirty="0">
                <a:latin typeface="楷体_GB2312" pitchFamily="49" charset="-122"/>
                <a:ea typeface="楷体_GB2312" pitchFamily="49" charset="-122"/>
              </a:rPr>
              <a:t> </a:t>
            </a:r>
          </a:p>
        </p:txBody>
      </p:sp>
      <p:sp>
        <p:nvSpPr>
          <p:cNvPr id="6" name="Rectangle 2">
            <a:extLst>
              <a:ext uri="{FF2B5EF4-FFF2-40B4-BE49-F238E27FC236}">
                <a16:creationId xmlns:a16="http://schemas.microsoft.com/office/drawing/2014/main" id="{B82E9255-FE26-42AF-AAAD-BC4CA81D3604}"/>
              </a:ext>
            </a:extLst>
          </p:cNvPr>
          <p:cNvSpPr>
            <a:spLocks noGrp="1" noChangeArrowheads="1"/>
          </p:cNvSpPr>
          <p:nvPr>
            <p:ph type="title"/>
          </p:nvPr>
        </p:nvSpPr>
        <p:spPr>
          <a:xfrm>
            <a:off x="611188" y="115888"/>
            <a:ext cx="7632700" cy="609600"/>
          </a:xfrm>
        </p:spPr>
        <p:txBody>
          <a:bodyPr/>
          <a:lstStyle/>
          <a:p>
            <a:pPr algn="l" eaLnBrk="1" hangingPunct="1"/>
            <a:r>
              <a:rPr lang="en-US" altLang="zh-CN" dirty="0">
                <a:latin typeface="楷体_GB2312" pitchFamily="49" charset="-122"/>
                <a:ea typeface="楷体_GB2312" pitchFamily="49" charset="-122"/>
              </a:rPr>
              <a:t>4.5 </a:t>
            </a:r>
            <a:r>
              <a:rPr lang="zh-CN" altLang="en-US" dirty="0">
                <a:solidFill>
                  <a:srgbClr val="990000"/>
                </a:solidFill>
                <a:latin typeface="楷体_GB2312" pitchFamily="49" charset="-122"/>
                <a:ea typeface="楷体_GB2312" pitchFamily="49" charset="-122"/>
              </a:rPr>
              <a:t>练习：</a:t>
            </a:r>
            <a:r>
              <a:rPr lang="zh-CN" altLang="en-US" dirty="0">
                <a:latin typeface="楷体_GB2312" pitchFamily="49" charset="-122"/>
                <a:ea typeface="楷体_GB2312" pitchFamily="49" charset="-122"/>
              </a:rPr>
              <a:t>添加一个系统调用</a:t>
            </a:r>
            <a:r>
              <a:rPr lang="en-US" altLang="zh-CN" dirty="0" err="1">
                <a:latin typeface="楷体_GB2312" pitchFamily="49" charset="-122"/>
                <a:ea typeface="楷体_GB2312" pitchFamily="49" charset="-122"/>
              </a:rPr>
              <a:t>mysyscall</a:t>
            </a:r>
            <a:endParaRPr lang="en-US" altLang="zh-CN" dirty="0">
              <a:latin typeface="楷体_GB2312" pitchFamily="49" charset="-122"/>
              <a:ea typeface="楷体_GB2312" pitchFamily="49" charset="-122"/>
            </a:endParaRPr>
          </a:p>
        </p:txBody>
      </p:sp>
    </p:spTree>
    <p:extLst>
      <p:ext uri="{BB962C8B-B14F-4D97-AF65-F5344CB8AC3E}">
        <p14:creationId xmlns:p14="http://schemas.microsoft.com/office/powerpoint/2010/main" val="7614773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body" idx="1"/>
          </p:nvPr>
        </p:nvSpPr>
        <p:spPr>
          <a:xfrm>
            <a:off x="457200" y="1371600"/>
            <a:ext cx="8229600" cy="4754563"/>
          </a:xfrm>
          <a:ln cap="flat">
            <a:solidFill>
              <a:schemeClr val="tx1"/>
            </a:solidFill>
            <a:prstDash val="lgDashDotDot"/>
            <a:miter lim="800000"/>
            <a:headEnd/>
            <a:tailEnd/>
          </a:ln>
        </p:spPr>
        <p:txBody>
          <a:bodyPr/>
          <a:lstStyle/>
          <a:p>
            <a:pPr eaLnBrk="1" hangingPunct="1">
              <a:lnSpc>
                <a:spcPct val="90000"/>
              </a:lnSpc>
              <a:buFont typeface="Wingdings" panose="05000000000000000000" pitchFamily="2" charset="2"/>
              <a:buNone/>
            </a:pPr>
            <a:r>
              <a:rPr lang="zh-CN" altLang="en-US" dirty="0">
                <a:solidFill>
                  <a:srgbClr val="FF0000"/>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3</a:t>
            </a:r>
            <a:r>
              <a:rPr lang="zh-CN" altLang="en-US" dirty="0">
                <a:solidFill>
                  <a:srgbClr val="FF0000"/>
                </a:solidFill>
                <a:latin typeface="楷体_GB2312" pitchFamily="49" charset="-122"/>
                <a:ea typeface="楷体_GB2312" pitchFamily="49" charset="-122"/>
              </a:rPr>
              <a:t>）实现系统调用服务例程</a:t>
            </a:r>
          </a:p>
          <a:p>
            <a:pPr eaLnBrk="1" hangingPunct="1">
              <a:lnSpc>
                <a:spcPct val="90000"/>
              </a:lnSpc>
              <a:buFont typeface="Wingdings" panose="05000000000000000000" pitchFamily="2" charset="2"/>
              <a:buNone/>
            </a:pPr>
            <a:r>
              <a:rPr lang="zh-CN" altLang="en-US" dirty="0">
                <a:latin typeface="楷体_GB2312" pitchFamily="49" charset="-122"/>
                <a:ea typeface="楷体_GB2312" pitchFamily="49" charset="-122"/>
              </a:rPr>
              <a:t>  把一小段程序添加在</a:t>
            </a:r>
            <a:r>
              <a:rPr lang="en-US" altLang="zh-CN" dirty="0">
                <a:latin typeface="楷体_GB2312" pitchFamily="49" charset="-122"/>
                <a:ea typeface="楷体_GB2312" pitchFamily="49" charset="-122"/>
              </a:rPr>
              <a:t>kernel/</a:t>
            </a:r>
            <a:r>
              <a:rPr lang="en-US" altLang="zh-CN" dirty="0" err="1">
                <a:latin typeface="楷体_GB2312" pitchFamily="49" charset="-122"/>
                <a:ea typeface="楷体_GB2312" pitchFamily="49" charset="-122"/>
              </a:rPr>
              <a:t>sys.c</a:t>
            </a:r>
            <a:endParaRPr lang="en-US" altLang="zh-CN" dirty="0">
              <a:latin typeface="楷体_GB2312" pitchFamily="49" charset="-122"/>
              <a:ea typeface="楷体_GB2312" pitchFamily="49" charset="-122"/>
            </a:endParaRPr>
          </a:p>
          <a:p>
            <a:pPr eaLnBrk="1" hangingPunct="1">
              <a:lnSpc>
                <a:spcPct val="90000"/>
              </a:lnSpc>
              <a:buFont typeface="Wingdings" panose="05000000000000000000" pitchFamily="2" charset="2"/>
              <a:buNone/>
            </a:pPr>
            <a:endParaRPr lang="en-US" altLang="zh-CN" sz="2000" dirty="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en-US" altLang="zh-CN" sz="2000" dirty="0" err="1">
                <a:latin typeface="楷体_GB2312" pitchFamily="49" charset="-122"/>
                <a:ea typeface="楷体_GB2312" pitchFamily="49" charset="-122"/>
              </a:rPr>
              <a:t>asmlinkage</a:t>
            </a:r>
            <a:r>
              <a:rPr lang="en-US" altLang="zh-CN" sz="2000" dirty="0">
                <a:latin typeface="楷体_GB2312" pitchFamily="49" charset="-122"/>
                <a:ea typeface="楷体_GB2312" pitchFamily="49" charset="-122"/>
              </a:rPr>
              <a:t> int </a:t>
            </a:r>
            <a:r>
              <a:rPr lang="en-US" altLang="zh-CN" sz="2000" dirty="0" err="1">
                <a:latin typeface="楷体_GB2312" pitchFamily="49" charset="-122"/>
                <a:ea typeface="楷体_GB2312" pitchFamily="49" charset="-122"/>
              </a:rPr>
              <a:t>sys_mysyscall</a:t>
            </a:r>
            <a:r>
              <a:rPr lang="en-US" altLang="zh-CN" sz="2000" dirty="0">
                <a:latin typeface="楷体_GB2312" pitchFamily="49" charset="-122"/>
                <a:ea typeface="楷体_GB2312" pitchFamily="49" charset="-122"/>
              </a:rPr>
              <a:t>(void)</a:t>
            </a:r>
          </a:p>
          <a:p>
            <a:pPr eaLnBrk="1" hangingPunct="1">
              <a:lnSpc>
                <a:spcPct val="90000"/>
              </a:lnSpc>
              <a:buFont typeface="Wingdings" panose="05000000000000000000" pitchFamily="2" charset="2"/>
              <a:buNone/>
            </a:pPr>
            <a:r>
              <a:rPr lang="en-US" altLang="zh-CN" sz="2000" dirty="0">
                <a:latin typeface="楷体_GB2312" pitchFamily="49" charset="-122"/>
                <a:ea typeface="楷体_GB2312" pitchFamily="49" charset="-122"/>
              </a:rPr>
              <a:t>{</a:t>
            </a:r>
          </a:p>
          <a:p>
            <a:pPr eaLnBrk="1" hangingPunct="1">
              <a:lnSpc>
                <a:spcPct val="90000"/>
              </a:lnSpc>
              <a:buFont typeface="Wingdings" panose="05000000000000000000" pitchFamily="2" charset="2"/>
              <a:buNone/>
            </a:pPr>
            <a:r>
              <a:rPr lang="en-US" altLang="zh-CN" sz="2000" dirty="0">
                <a:latin typeface="楷体_GB2312" pitchFamily="49" charset="-122"/>
                <a:ea typeface="楷体_GB2312" pitchFamily="49" charset="-122"/>
              </a:rPr>
              <a:t>		current-&gt;</a:t>
            </a:r>
            <a:r>
              <a:rPr lang="en-US" altLang="zh-CN" sz="2000" dirty="0" err="1">
                <a:latin typeface="楷体_GB2312" pitchFamily="49" charset="-122"/>
                <a:ea typeface="楷体_GB2312" pitchFamily="49" charset="-122"/>
              </a:rPr>
              <a:t>uid</a:t>
            </a:r>
            <a:r>
              <a:rPr lang="en-US" altLang="zh-CN" sz="2000" dirty="0">
                <a:latin typeface="楷体_GB2312" pitchFamily="49" charset="-122"/>
                <a:ea typeface="楷体_GB2312" pitchFamily="49" charset="-122"/>
              </a:rPr>
              <a:t> = current-&gt;</a:t>
            </a:r>
            <a:r>
              <a:rPr lang="en-US" altLang="zh-CN" sz="2000" dirty="0" err="1">
                <a:latin typeface="楷体_GB2312" pitchFamily="49" charset="-122"/>
                <a:ea typeface="楷体_GB2312" pitchFamily="49" charset="-122"/>
              </a:rPr>
              <a:t>euid</a:t>
            </a:r>
            <a:r>
              <a:rPr lang="en-US" altLang="zh-CN" sz="2000" dirty="0">
                <a:latin typeface="楷体_GB2312" pitchFamily="49" charset="-122"/>
                <a:ea typeface="楷体_GB2312" pitchFamily="49" charset="-122"/>
              </a:rPr>
              <a:t> = current-&gt;</a:t>
            </a:r>
            <a:r>
              <a:rPr lang="en-US" altLang="zh-CN" sz="2000" dirty="0" err="1">
                <a:latin typeface="楷体_GB2312" pitchFamily="49" charset="-122"/>
                <a:ea typeface="楷体_GB2312" pitchFamily="49" charset="-122"/>
              </a:rPr>
              <a:t>suid</a:t>
            </a:r>
            <a:r>
              <a:rPr lang="en-US" altLang="zh-CN" sz="2000" dirty="0">
                <a:latin typeface="楷体_GB2312" pitchFamily="49" charset="-122"/>
                <a:ea typeface="楷体_GB2312" pitchFamily="49" charset="-122"/>
              </a:rPr>
              <a:t> = current-&gt;</a:t>
            </a:r>
            <a:r>
              <a:rPr lang="en-US" altLang="zh-CN" sz="2000" dirty="0" err="1">
                <a:latin typeface="楷体_GB2312" pitchFamily="49" charset="-122"/>
                <a:ea typeface="楷体_GB2312" pitchFamily="49" charset="-122"/>
              </a:rPr>
              <a:t>fsuid</a:t>
            </a:r>
            <a:r>
              <a:rPr lang="en-US" altLang="zh-CN" sz="2000" dirty="0">
                <a:latin typeface="楷体_GB2312" pitchFamily="49" charset="-122"/>
                <a:ea typeface="楷体_GB2312" pitchFamily="49" charset="-122"/>
              </a:rPr>
              <a:t> = 0;</a:t>
            </a:r>
          </a:p>
          <a:p>
            <a:pPr eaLnBrk="1" hangingPunct="1">
              <a:lnSpc>
                <a:spcPct val="90000"/>
              </a:lnSpc>
              <a:buFont typeface="Wingdings" panose="05000000000000000000" pitchFamily="2" charset="2"/>
              <a:buNone/>
            </a:pPr>
            <a:r>
              <a:rPr lang="en-US" altLang="zh-CN" sz="2000" dirty="0">
                <a:latin typeface="楷体_GB2312" pitchFamily="49" charset="-122"/>
                <a:ea typeface="楷体_GB2312" pitchFamily="49" charset="-122"/>
              </a:rPr>
              <a:t>		return 0;</a:t>
            </a:r>
          </a:p>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rPr>
              <a:t>}  </a:t>
            </a:r>
          </a:p>
          <a:p>
            <a:pPr eaLnBrk="1" hangingPunct="1">
              <a:lnSpc>
                <a:spcPct val="90000"/>
              </a:lnSpc>
              <a:buFont typeface="Wingdings" panose="05000000000000000000" pitchFamily="2" charset="2"/>
              <a:buNone/>
            </a:pPr>
            <a:endParaRPr lang="en-US" altLang="zh-CN" sz="2400" dirty="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zh-CN" altLang="en-US" dirty="0">
                <a:solidFill>
                  <a:srgbClr val="FF0000"/>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4</a:t>
            </a:r>
            <a:r>
              <a:rPr lang="zh-CN" altLang="en-US" dirty="0">
                <a:solidFill>
                  <a:srgbClr val="FF0000"/>
                </a:solidFill>
                <a:latin typeface="楷体_GB2312" pitchFamily="49" charset="-122"/>
                <a:ea typeface="楷体_GB2312" pitchFamily="49" charset="-122"/>
              </a:rPr>
              <a:t>）重新编译内核，启动新内核</a:t>
            </a:r>
            <a:endParaRPr lang="en-US" altLang="zh-CN" dirty="0">
              <a:solidFill>
                <a:srgbClr val="FF0000"/>
              </a:solidFill>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en-US" altLang="zh-CN" dirty="0" err="1">
                <a:latin typeface="楷体_GB2312" pitchFamily="49" charset="-122"/>
                <a:ea typeface="楷体_GB2312" pitchFamily="49" charset="-122"/>
              </a:rPr>
              <a:t>asmlinkage</a:t>
            </a:r>
            <a:r>
              <a:rPr lang="zh-CN" altLang="en-US" dirty="0">
                <a:latin typeface="楷体_GB2312" pitchFamily="49" charset="-122"/>
                <a:ea typeface="楷体_GB2312" pitchFamily="49" charset="-122"/>
              </a:rPr>
              <a:t>标志</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可以告诉编译器该函数不需要从寄存器中获得任何参数，而是从堆栈中取得参数</a:t>
            </a:r>
          </a:p>
        </p:txBody>
      </p:sp>
      <p:sp>
        <p:nvSpPr>
          <p:cNvPr id="6" name="Rectangle 2">
            <a:extLst>
              <a:ext uri="{FF2B5EF4-FFF2-40B4-BE49-F238E27FC236}">
                <a16:creationId xmlns:a16="http://schemas.microsoft.com/office/drawing/2014/main" id="{93A17CF2-4CFE-4E65-967C-9DA599A8937C}"/>
              </a:ext>
            </a:extLst>
          </p:cNvPr>
          <p:cNvSpPr>
            <a:spLocks noGrp="1" noChangeArrowheads="1"/>
          </p:cNvSpPr>
          <p:nvPr>
            <p:ph type="title"/>
          </p:nvPr>
        </p:nvSpPr>
        <p:spPr>
          <a:xfrm>
            <a:off x="611188" y="115888"/>
            <a:ext cx="7632700" cy="609600"/>
          </a:xfrm>
        </p:spPr>
        <p:txBody>
          <a:bodyPr/>
          <a:lstStyle/>
          <a:p>
            <a:pPr algn="l" eaLnBrk="1" hangingPunct="1"/>
            <a:r>
              <a:rPr lang="en-US" altLang="zh-CN" dirty="0">
                <a:latin typeface="楷体_GB2312" pitchFamily="49" charset="-122"/>
                <a:ea typeface="楷体_GB2312" pitchFamily="49" charset="-122"/>
              </a:rPr>
              <a:t>4.5 </a:t>
            </a:r>
            <a:r>
              <a:rPr lang="zh-CN" altLang="en-US" dirty="0">
                <a:solidFill>
                  <a:srgbClr val="FF0000"/>
                </a:solidFill>
                <a:latin typeface="楷体_GB2312" pitchFamily="49" charset="-122"/>
                <a:ea typeface="楷体_GB2312" pitchFamily="49" charset="-122"/>
              </a:rPr>
              <a:t>练习：</a:t>
            </a:r>
            <a:r>
              <a:rPr lang="zh-CN" altLang="en-US" dirty="0">
                <a:latin typeface="楷体_GB2312" pitchFamily="49" charset="-122"/>
                <a:ea typeface="楷体_GB2312" pitchFamily="49" charset="-122"/>
              </a:rPr>
              <a:t>添加一个系统调用</a:t>
            </a:r>
            <a:r>
              <a:rPr lang="en-US" altLang="zh-CN" dirty="0" err="1">
                <a:latin typeface="楷体_GB2312" pitchFamily="49" charset="-122"/>
                <a:ea typeface="楷体_GB2312" pitchFamily="49" charset="-122"/>
              </a:rPr>
              <a:t>mysyscall</a:t>
            </a:r>
            <a:endParaRPr lang="en-US" altLang="zh-CN" dirty="0">
              <a:latin typeface="楷体_GB2312" pitchFamily="49" charset="-122"/>
              <a:ea typeface="楷体_GB2312" pitchFamily="49" charset="-122"/>
            </a:endParaRPr>
          </a:p>
        </p:txBody>
      </p:sp>
    </p:spTree>
    <p:extLst>
      <p:ext uri="{BB962C8B-B14F-4D97-AF65-F5344CB8AC3E}">
        <p14:creationId xmlns:p14="http://schemas.microsoft.com/office/powerpoint/2010/main" val="34948789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body" idx="1"/>
          </p:nvPr>
        </p:nvSpPr>
        <p:spPr>
          <a:xfrm>
            <a:off x="395288" y="908050"/>
            <a:ext cx="8208962" cy="3241675"/>
          </a:xfrm>
          <a:solidFill>
            <a:srgbClr val="A5F9EB"/>
          </a:solidFill>
        </p:spPr>
        <p:txBody>
          <a:bodyPr/>
          <a:lstStyle/>
          <a:p>
            <a:pPr eaLnBrk="1" hangingPunct="1">
              <a:buFont typeface="Wingdings" panose="05000000000000000000" pitchFamily="2" charset="2"/>
              <a:buNone/>
            </a:pPr>
            <a:r>
              <a:rPr lang="zh-CN" altLang="en-US" dirty="0">
                <a:solidFill>
                  <a:srgbClr val="FF0000"/>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5</a:t>
            </a:r>
            <a:r>
              <a:rPr lang="zh-CN" altLang="en-US" dirty="0">
                <a:solidFill>
                  <a:srgbClr val="FF0000"/>
                </a:solidFill>
                <a:latin typeface="楷体_GB2312" pitchFamily="49" charset="-122"/>
                <a:ea typeface="楷体_GB2312" pitchFamily="49" charset="-122"/>
              </a:rPr>
              <a:t>）编写一段测试程序检验实验结果</a:t>
            </a:r>
          </a:p>
          <a:p>
            <a:pPr eaLnBrk="1" hangingPunct="1">
              <a:buFont typeface="Wingdings" panose="05000000000000000000" pitchFamily="2" charset="2"/>
              <a:buNone/>
            </a:pPr>
            <a:r>
              <a:rPr lang="en-US" altLang="zh-CN" sz="2400" dirty="0">
                <a:latin typeface="楷体_GB2312" pitchFamily="49" charset="-122"/>
                <a:ea typeface="楷体_GB2312" pitchFamily="49" charset="-122"/>
                <a:cs typeface="Times New Roman" panose="02020603050405020304" pitchFamily="18" charset="0"/>
              </a:rPr>
              <a:t>#include &lt;</a:t>
            </a:r>
            <a:r>
              <a:rPr lang="en-US" altLang="zh-CN" sz="2400" dirty="0" err="1">
                <a:latin typeface="楷体_GB2312" pitchFamily="49" charset="-122"/>
                <a:ea typeface="楷体_GB2312" pitchFamily="49" charset="-122"/>
                <a:cs typeface="Times New Roman" panose="02020603050405020304" pitchFamily="18" charset="0"/>
              </a:rPr>
              <a:t>linux</a:t>
            </a:r>
            <a:r>
              <a:rPr lang="en-US" altLang="zh-CN" sz="2400" dirty="0">
                <a:latin typeface="楷体_GB2312" pitchFamily="49" charset="-122"/>
                <a:ea typeface="楷体_GB2312" pitchFamily="49" charset="-122"/>
                <a:cs typeface="Times New Roman" panose="02020603050405020304" pitchFamily="18" charset="0"/>
              </a:rPr>
              <a:t>/</a:t>
            </a:r>
            <a:r>
              <a:rPr lang="en-US" altLang="zh-CN" sz="2400" dirty="0" err="1">
                <a:latin typeface="楷体_GB2312" pitchFamily="49" charset="-122"/>
                <a:ea typeface="楷体_GB2312" pitchFamily="49" charset="-122"/>
                <a:cs typeface="Times New Roman" panose="02020603050405020304" pitchFamily="18" charset="0"/>
              </a:rPr>
              <a:t>unistd.h</a:t>
            </a:r>
            <a:r>
              <a:rPr lang="en-US" altLang="zh-CN" sz="2400" dirty="0">
                <a:latin typeface="楷体_GB2312" pitchFamily="49" charset="-122"/>
                <a:ea typeface="楷体_GB2312" pitchFamily="49" charset="-122"/>
                <a:cs typeface="Times New Roman" panose="02020603050405020304" pitchFamily="18" charset="0"/>
              </a:rPr>
              <a:t>&gt;</a:t>
            </a:r>
          </a:p>
          <a:p>
            <a:pPr eaLnBrk="1" hangingPunct="1">
              <a:buFont typeface="Wingdings" panose="05000000000000000000" pitchFamily="2" charset="2"/>
              <a:buNone/>
            </a:pPr>
            <a:r>
              <a:rPr lang="en-US" altLang="zh-CN" sz="2400" dirty="0">
                <a:solidFill>
                  <a:srgbClr val="000000"/>
                </a:solidFill>
                <a:latin typeface="楷体_GB2312" pitchFamily="49" charset="-122"/>
                <a:ea typeface="楷体_GB2312" pitchFamily="49" charset="-122"/>
                <a:cs typeface="Times New Roman" panose="02020603050405020304" pitchFamily="18" charset="0"/>
              </a:rPr>
              <a:t>_syscall0</a:t>
            </a:r>
            <a:r>
              <a:rPr lang="en-US" altLang="zh-CN" sz="2400" dirty="0">
                <a:latin typeface="楷体_GB2312" pitchFamily="49" charset="-122"/>
                <a:ea typeface="楷体_GB2312" pitchFamily="49" charset="-122"/>
                <a:cs typeface="Times New Roman" panose="02020603050405020304" pitchFamily="18" charset="0"/>
              </a:rPr>
              <a:t>(</a:t>
            </a:r>
            <a:r>
              <a:rPr lang="en-US" altLang="zh-CN" sz="2400" dirty="0" err="1">
                <a:latin typeface="楷体_GB2312" pitchFamily="49" charset="-122"/>
                <a:ea typeface="楷体_GB2312" pitchFamily="49" charset="-122"/>
                <a:cs typeface="Times New Roman" panose="02020603050405020304" pitchFamily="18" charset="0"/>
              </a:rPr>
              <a:t>int,mysyscall</a:t>
            </a:r>
            <a:r>
              <a:rPr lang="en-US" altLang="zh-CN" sz="2400" dirty="0">
                <a:latin typeface="楷体_GB2312" pitchFamily="49" charset="-122"/>
                <a:ea typeface="楷体_GB2312" pitchFamily="49" charset="-122"/>
                <a:cs typeface="Times New Roman" panose="02020603050405020304" pitchFamily="18" charset="0"/>
              </a:rPr>
              <a:t>)/* </a:t>
            </a:r>
            <a:r>
              <a:rPr lang="zh-CN" altLang="en-US" sz="2400" dirty="0">
                <a:latin typeface="楷体_GB2312" pitchFamily="49" charset="-122"/>
                <a:ea typeface="楷体_GB2312" pitchFamily="49" charset="-122"/>
              </a:rPr>
              <a:t>注意这里没有分号 *</a:t>
            </a:r>
            <a:r>
              <a:rPr lang="en-US" altLang="zh-CN" sz="2400" dirty="0">
                <a:latin typeface="楷体_GB2312" pitchFamily="49" charset="-122"/>
                <a:ea typeface="楷体_GB2312" pitchFamily="49" charset="-122"/>
              </a:rPr>
              <a:t>/</a:t>
            </a:r>
          </a:p>
          <a:p>
            <a:pPr eaLnBrk="1" hangingPunct="1">
              <a:buFont typeface="Wingdings" panose="05000000000000000000" pitchFamily="2" charset="2"/>
              <a:buNone/>
            </a:pPr>
            <a:r>
              <a:rPr lang="en-US" altLang="zh-CN" sz="2400" dirty="0">
                <a:solidFill>
                  <a:srgbClr val="FF0000"/>
                </a:solidFill>
                <a:latin typeface="楷体_GB2312" pitchFamily="49" charset="-122"/>
                <a:ea typeface="楷体_GB2312" pitchFamily="49" charset="-122"/>
              </a:rPr>
              <a:t>int main()</a:t>
            </a:r>
          </a:p>
          <a:p>
            <a:pPr eaLnBrk="1" hangingPunct="1">
              <a:buFont typeface="Wingdings" panose="05000000000000000000" pitchFamily="2" charset="2"/>
              <a:buNone/>
            </a:pPr>
            <a:r>
              <a:rPr lang="en-US" altLang="zh-CN" sz="2400" dirty="0">
                <a:latin typeface="楷体_GB2312" pitchFamily="49" charset="-122"/>
                <a:ea typeface="楷体_GB2312" pitchFamily="49" charset="-122"/>
              </a:rPr>
              <a:t>{  </a:t>
            </a:r>
            <a:r>
              <a:rPr lang="en-US" altLang="zh-CN" sz="2400" dirty="0" err="1">
                <a:latin typeface="楷体_GB2312" pitchFamily="49" charset="-122"/>
                <a:ea typeface="楷体_GB2312" pitchFamily="49" charset="-122"/>
              </a:rPr>
              <a:t>mysyscall</a:t>
            </a:r>
            <a:r>
              <a:rPr lang="en-US" altLang="zh-CN" sz="2400" dirty="0">
                <a:latin typeface="楷体_GB2312" pitchFamily="49" charset="-122"/>
                <a:ea typeface="楷体_GB2312" pitchFamily="49" charset="-122"/>
              </a:rPr>
              <a:t>();</a:t>
            </a:r>
          </a:p>
          <a:p>
            <a:pPr eaLnBrk="1" hangingPunct="1">
              <a:buFont typeface="Wingdings" panose="05000000000000000000" pitchFamily="2" charset="2"/>
              <a:buNone/>
            </a:pPr>
            <a:r>
              <a:rPr lang="en-US" altLang="zh-CN" sz="2400" dirty="0">
                <a:latin typeface="楷体_GB2312" pitchFamily="49" charset="-122"/>
                <a:ea typeface="楷体_GB2312" pitchFamily="49" charset="-122"/>
              </a:rPr>
              <a:t>   </a:t>
            </a:r>
            <a:r>
              <a:rPr lang="en-US" altLang="zh-CN" sz="2400" dirty="0" err="1">
                <a:latin typeface="楷体_GB2312" pitchFamily="49" charset="-122"/>
                <a:ea typeface="楷体_GB2312" pitchFamily="49" charset="-122"/>
              </a:rPr>
              <a:t>printf</a:t>
            </a:r>
            <a:r>
              <a:rPr lang="en-US" altLang="zh-CN" sz="2400" dirty="0">
                <a:latin typeface="楷体_GB2312" pitchFamily="49" charset="-122"/>
                <a:ea typeface="楷体_GB2312" pitchFamily="49" charset="-122"/>
              </a:rPr>
              <a:t>(</a:t>
            </a:r>
            <a:r>
              <a:rPr lang="en-US" altLang="zh-CN" sz="2400" dirty="0">
                <a:latin typeface="Helvetica" panose="020B0604020202020204" pitchFamily="34" charset="0"/>
                <a:ea typeface="楷体_GB2312" pitchFamily="49" charset="-122"/>
              </a:rPr>
              <a:t>“</a:t>
            </a:r>
            <a:r>
              <a:rPr lang="en-US" altLang="zh-CN" sz="2400" dirty="0">
                <a:latin typeface="楷体_GB2312" pitchFamily="49" charset="-122"/>
                <a:ea typeface="楷体_GB2312" pitchFamily="49" charset="-122"/>
              </a:rPr>
              <a:t>This is my </a:t>
            </a:r>
            <a:r>
              <a:rPr lang="en-US" altLang="zh-CN" sz="2400" dirty="0" err="1">
                <a:latin typeface="楷体_GB2312" pitchFamily="49" charset="-122"/>
                <a:ea typeface="楷体_GB2312" pitchFamily="49" charset="-122"/>
              </a:rPr>
              <a:t>uid</a:t>
            </a:r>
            <a:r>
              <a:rPr lang="en-US" altLang="zh-CN" sz="2400" dirty="0">
                <a:latin typeface="楷体_GB2312" pitchFamily="49" charset="-122"/>
                <a:ea typeface="楷体_GB2312" pitchFamily="49" charset="-122"/>
              </a:rPr>
              <a:t>: %d. \n</a:t>
            </a:r>
            <a:r>
              <a:rPr lang="en-US" altLang="zh-CN" sz="2400" dirty="0">
                <a:latin typeface="Helvetica" panose="020B0604020202020204" pitchFamily="34" charset="0"/>
                <a:ea typeface="楷体_GB2312" pitchFamily="49" charset="-122"/>
              </a:rPr>
              <a:t>”</a:t>
            </a:r>
            <a:r>
              <a:rPr lang="en-US" altLang="zh-CN" sz="2400" dirty="0">
                <a:latin typeface="楷体_GB2312" pitchFamily="49" charset="-122"/>
                <a:ea typeface="楷体_GB2312" pitchFamily="49" charset="-122"/>
              </a:rPr>
              <a:t>, </a:t>
            </a:r>
            <a:r>
              <a:rPr lang="en-US" altLang="zh-CN" sz="2400" dirty="0" err="1">
                <a:latin typeface="楷体_GB2312" pitchFamily="49" charset="-122"/>
                <a:ea typeface="楷体_GB2312" pitchFamily="49" charset="-122"/>
              </a:rPr>
              <a:t>getuid</a:t>
            </a:r>
            <a:r>
              <a:rPr lang="en-US" altLang="zh-CN" sz="2400" dirty="0">
                <a:latin typeface="楷体_GB2312" pitchFamily="49" charset="-122"/>
                <a:ea typeface="楷体_GB2312" pitchFamily="49" charset="-122"/>
              </a:rPr>
              <a:t>());</a:t>
            </a:r>
          </a:p>
          <a:p>
            <a:pPr eaLnBrk="1" hangingPunct="1">
              <a:buFont typeface="Wingdings" panose="05000000000000000000" pitchFamily="2" charset="2"/>
              <a:buNone/>
            </a:pPr>
            <a:r>
              <a:rPr lang="en-US" altLang="zh-CN" sz="2400" dirty="0">
                <a:latin typeface="楷体_GB2312" pitchFamily="49" charset="-122"/>
                <a:ea typeface="楷体_GB2312" pitchFamily="49" charset="-122"/>
              </a:rPr>
              <a:t>}</a:t>
            </a:r>
          </a:p>
        </p:txBody>
      </p:sp>
      <p:sp>
        <p:nvSpPr>
          <p:cNvPr id="64516" name="Rectangle 5"/>
          <p:cNvSpPr>
            <a:spLocks noChangeArrowheads="1"/>
          </p:cNvSpPr>
          <p:nvPr/>
        </p:nvSpPr>
        <p:spPr bwMode="auto">
          <a:xfrm>
            <a:off x="323850" y="4194175"/>
            <a:ext cx="8280400" cy="2663825"/>
          </a:xfrm>
          <a:prstGeom prst="rect">
            <a:avLst/>
          </a:prstGeom>
          <a:solidFill>
            <a:schemeClr val="accent6">
              <a:lumMod val="40000"/>
              <a:lumOff val="60000"/>
            </a:schemeClr>
          </a:solidFill>
          <a:ln w="9525">
            <a:solidFill>
              <a:srgbClr val="F99C73"/>
            </a:solidFill>
            <a:miter lim="800000"/>
            <a:headEnd/>
            <a:tailEnd/>
          </a:ln>
        </p:spPr>
        <p:txBody>
          <a:bodyPr/>
          <a:lstStyle>
            <a:lvl1pPr marL="342900" indent="-342900">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buFont typeface="Arial" panose="020B0604020202020204" pitchFamily="34" charset="0"/>
              <a:buChar char="•"/>
            </a:pPr>
            <a:r>
              <a:rPr lang="en-US" altLang="zh-CN" sz="2400" b="0" dirty="0">
                <a:solidFill>
                  <a:schemeClr val="tx1"/>
                </a:solidFill>
                <a:latin typeface="楷体_GB2312" pitchFamily="49" charset="-122"/>
                <a:ea typeface="楷体_GB2312" pitchFamily="49" charset="-122"/>
              </a:rPr>
              <a:t>_syscall1(</a:t>
            </a:r>
            <a:r>
              <a:rPr lang="en-US" altLang="zh-CN" sz="2400" b="0" dirty="0" err="1">
                <a:solidFill>
                  <a:schemeClr val="tx1"/>
                </a:solidFill>
                <a:latin typeface="楷体_GB2312" pitchFamily="49" charset="-122"/>
                <a:ea typeface="楷体_GB2312" pitchFamily="49" charset="-122"/>
              </a:rPr>
              <a:t>int,print_info,int,testflag</a:t>
            </a:r>
            <a:r>
              <a:rPr lang="en-US" altLang="zh-CN" sz="2400" b="0" dirty="0">
                <a:solidFill>
                  <a:schemeClr val="tx1"/>
                </a:solidFill>
                <a:latin typeface="楷体_GB2312" pitchFamily="49" charset="-122"/>
                <a:ea typeface="楷体_GB2312" pitchFamily="49" charset="-122"/>
              </a:rPr>
              <a:t>)</a:t>
            </a:r>
          </a:p>
          <a:p>
            <a:pPr eaLnBrk="1" hangingPunct="1">
              <a:buFont typeface="Arial" panose="020B0604020202020204" pitchFamily="34" charset="0"/>
              <a:buChar char="•"/>
            </a:pPr>
            <a:r>
              <a:rPr lang="zh-CN" altLang="en-US" sz="2400" b="0" dirty="0">
                <a:solidFill>
                  <a:schemeClr val="tx1"/>
                </a:solidFill>
                <a:latin typeface="楷体_GB2312" pitchFamily="49" charset="-122"/>
                <a:ea typeface="楷体_GB2312" pitchFamily="49" charset="-122"/>
              </a:rPr>
              <a:t>如果要在用户程序中使用系统调用函数，那么在主函数</a:t>
            </a:r>
            <a:r>
              <a:rPr lang="en-US" altLang="zh-CN" sz="2400" b="0" dirty="0">
                <a:solidFill>
                  <a:schemeClr val="tx1"/>
                </a:solidFill>
                <a:latin typeface="楷体_GB2312" pitchFamily="49" charset="-122"/>
                <a:ea typeface="楷体_GB2312" pitchFamily="49" charset="-122"/>
              </a:rPr>
              <a:t>main</a:t>
            </a:r>
            <a:r>
              <a:rPr lang="zh-CN" altLang="en-US" sz="2400" b="0" dirty="0">
                <a:solidFill>
                  <a:schemeClr val="tx1"/>
                </a:solidFill>
                <a:latin typeface="楷体_GB2312" pitchFamily="49" charset="-122"/>
                <a:ea typeface="楷体_GB2312" pitchFamily="49" charset="-122"/>
              </a:rPr>
              <a:t>前必须申明调用</a:t>
            </a:r>
            <a:r>
              <a:rPr lang="en-US" altLang="zh-CN" sz="2400" b="0" dirty="0">
                <a:solidFill>
                  <a:schemeClr val="tx1"/>
                </a:solidFill>
                <a:latin typeface="楷体_GB2312" pitchFamily="49" charset="-122"/>
                <a:ea typeface="楷体_GB2312" pitchFamily="49" charset="-122"/>
              </a:rPr>
              <a:t>_</a:t>
            </a:r>
            <a:r>
              <a:rPr lang="en-US" altLang="zh-CN" sz="2400" b="0" dirty="0" err="1">
                <a:solidFill>
                  <a:schemeClr val="tx1"/>
                </a:solidFill>
                <a:latin typeface="楷体_GB2312" pitchFamily="49" charset="-122"/>
                <a:ea typeface="楷体_GB2312" pitchFamily="49" charset="-122"/>
              </a:rPr>
              <a:t>syscall</a:t>
            </a:r>
            <a:r>
              <a:rPr lang="zh-CN" altLang="en-US" sz="2400" b="0" dirty="0">
                <a:solidFill>
                  <a:schemeClr val="tx1"/>
                </a:solidFill>
                <a:latin typeface="楷体_GB2312" pitchFamily="49" charset="-122"/>
                <a:ea typeface="楷体_GB2312" pitchFamily="49" charset="-122"/>
              </a:rPr>
              <a:t>，其中</a:t>
            </a:r>
            <a:r>
              <a:rPr lang="en-US" altLang="zh-CN" sz="2400" b="0" dirty="0">
                <a:solidFill>
                  <a:schemeClr val="tx1"/>
                </a:solidFill>
                <a:latin typeface="楷体_GB2312" pitchFamily="49" charset="-122"/>
                <a:ea typeface="楷体_GB2312" pitchFamily="49" charset="-122"/>
              </a:rPr>
              <a:t>1 </a:t>
            </a:r>
            <a:r>
              <a:rPr lang="zh-CN" altLang="en-US" sz="2400" b="0" dirty="0">
                <a:solidFill>
                  <a:schemeClr val="tx1"/>
                </a:solidFill>
                <a:latin typeface="楷体_GB2312" pitchFamily="49" charset="-122"/>
                <a:ea typeface="楷体_GB2312" pitchFamily="49" charset="-122"/>
              </a:rPr>
              <a:t>表示该系统调用只有一个入口参数，第一个</a:t>
            </a:r>
            <a:r>
              <a:rPr lang="en-US" altLang="zh-CN" sz="2400" b="0" dirty="0">
                <a:solidFill>
                  <a:schemeClr val="tx1"/>
                </a:solidFill>
                <a:latin typeface="楷体_GB2312" pitchFamily="49" charset="-122"/>
                <a:ea typeface="楷体_GB2312" pitchFamily="49" charset="-122"/>
              </a:rPr>
              <a:t>int </a:t>
            </a:r>
            <a:r>
              <a:rPr lang="zh-CN" altLang="en-US" sz="2400" b="0" dirty="0">
                <a:solidFill>
                  <a:schemeClr val="tx1"/>
                </a:solidFill>
                <a:latin typeface="楷体_GB2312" pitchFamily="49" charset="-122"/>
                <a:ea typeface="楷体_GB2312" pitchFamily="49" charset="-122"/>
              </a:rPr>
              <a:t>表示系统调用的返回值为整型，</a:t>
            </a:r>
            <a:r>
              <a:rPr lang="en-US" altLang="zh-CN" sz="2400" b="0" dirty="0" err="1">
                <a:solidFill>
                  <a:schemeClr val="tx1"/>
                </a:solidFill>
                <a:latin typeface="楷体_GB2312" pitchFamily="49" charset="-122"/>
                <a:ea typeface="楷体_GB2312" pitchFamily="49" charset="-122"/>
              </a:rPr>
              <a:t>print_info</a:t>
            </a:r>
            <a:r>
              <a:rPr lang="zh-CN" altLang="en-US" sz="2400" b="0" dirty="0">
                <a:solidFill>
                  <a:schemeClr val="tx1"/>
                </a:solidFill>
                <a:latin typeface="楷体_GB2312" pitchFamily="49" charset="-122"/>
                <a:ea typeface="楷体_GB2312" pitchFamily="49" charset="-122"/>
              </a:rPr>
              <a:t>为系统调用函数名，第二个</a:t>
            </a:r>
            <a:r>
              <a:rPr lang="en-US" altLang="zh-CN" sz="2400" b="0" dirty="0">
                <a:solidFill>
                  <a:schemeClr val="tx1"/>
                </a:solidFill>
                <a:latin typeface="楷体_GB2312" pitchFamily="49" charset="-122"/>
                <a:ea typeface="楷体_GB2312" pitchFamily="49" charset="-122"/>
              </a:rPr>
              <a:t>int </a:t>
            </a:r>
            <a:r>
              <a:rPr lang="zh-CN" altLang="en-US" sz="2400" b="0" dirty="0">
                <a:solidFill>
                  <a:schemeClr val="tx1"/>
                </a:solidFill>
                <a:latin typeface="楷体_GB2312" pitchFamily="49" charset="-122"/>
                <a:ea typeface="楷体_GB2312" pitchFamily="49" charset="-122"/>
              </a:rPr>
              <a:t>表示入口参数的类型为整型，</a:t>
            </a:r>
            <a:r>
              <a:rPr lang="en-US" altLang="zh-CN" sz="2400" b="0" dirty="0" err="1">
                <a:solidFill>
                  <a:schemeClr val="tx1"/>
                </a:solidFill>
                <a:latin typeface="楷体_GB2312" pitchFamily="49" charset="-122"/>
                <a:ea typeface="楷体_GB2312" pitchFamily="49" charset="-122"/>
              </a:rPr>
              <a:t>testflag</a:t>
            </a:r>
            <a:r>
              <a:rPr lang="zh-CN" altLang="en-US" sz="2400" b="0" dirty="0">
                <a:solidFill>
                  <a:schemeClr val="tx1"/>
                </a:solidFill>
                <a:latin typeface="楷体_GB2312" pitchFamily="49" charset="-122"/>
                <a:ea typeface="楷体_GB2312" pitchFamily="49" charset="-122"/>
              </a:rPr>
              <a:t>为入口参数名。</a:t>
            </a:r>
            <a:endParaRPr lang="en-US" altLang="zh-CN" sz="2400" dirty="0">
              <a:solidFill>
                <a:schemeClr val="tx1"/>
              </a:solidFill>
              <a:latin typeface="楷体_GB2312" pitchFamily="49" charset="-122"/>
              <a:ea typeface="楷体_GB2312" pitchFamily="49" charset="-122"/>
            </a:endParaRPr>
          </a:p>
        </p:txBody>
      </p:sp>
      <p:sp>
        <p:nvSpPr>
          <p:cNvPr id="7" name="Rectangle 2">
            <a:extLst>
              <a:ext uri="{FF2B5EF4-FFF2-40B4-BE49-F238E27FC236}">
                <a16:creationId xmlns:a16="http://schemas.microsoft.com/office/drawing/2014/main" id="{85B55BB3-3313-4F00-B617-A2A2FDA665D9}"/>
              </a:ext>
            </a:extLst>
          </p:cNvPr>
          <p:cNvSpPr>
            <a:spLocks noGrp="1" noChangeArrowheads="1"/>
          </p:cNvSpPr>
          <p:nvPr>
            <p:ph type="title"/>
          </p:nvPr>
        </p:nvSpPr>
        <p:spPr>
          <a:xfrm>
            <a:off x="611188" y="115888"/>
            <a:ext cx="7632700" cy="609600"/>
          </a:xfrm>
        </p:spPr>
        <p:txBody>
          <a:bodyPr/>
          <a:lstStyle/>
          <a:p>
            <a:pPr algn="l" eaLnBrk="1" hangingPunct="1"/>
            <a:r>
              <a:rPr lang="en-US" altLang="zh-CN" dirty="0">
                <a:latin typeface="楷体_GB2312" pitchFamily="49" charset="-122"/>
                <a:ea typeface="楷体_GB2312" pitchFamily="49" charset="-122"/>
              </a:rPr>
              <a:t>4.5 </a:t>
            </a:r>
            <a:r>
              <a:rPr lang="zh-CN" altLang="en-US" dirty="0">
                <a:solidFill>
                  <a:srgbClr val="990000"/>
                </a:solidFill>
                <a:latin typeface="楷体_GB2312" pitchFamily="49" charset="-122"/>
                <a:ea typeface="楷体_GB2312" pitchFamily="49" charset="-122"/>
              </a:rPr>
              <a:t>练习：</a:t>
            </a:r>
            <a:r>
              <a:rPr lang="zh-CN" altLang="en-US" dirty="0">
                <a:latin typeface="楷体_GB2312" pitchFamily="49" charset="-122"/>
                <a:ea typeface="楷体_GB2312" pitchFamily="49" charset="-122"/>
              </a:rPr>
              <a:t>添加一个系统调用</a:t>
            </a:r>
            <a:r>
              <a:rPr lang="en-US" altLang="zh-CN" dirty="0" err="1">
                <a:latin typeface="楷体_GB2312" pitchFamily="49" charset="-122"/>
                <a:ea typeface="楷体_GB2312" pitchFamily="49" charset="-122"/>
              </a:rPr>
              <a:t>mysyscall</a:t>
            </a:r>
            <a:endParaRPr lang="en-US" altLang="zh-CN" dirty="0">
              <a:latin typeface="楷体_GB2312" pitchFamily="49" charset="-122"/>
              <a:ea typeface="楷体_GB2312" pitchFamily="49" charset="-122"/>
            </a:endParaRPr>
          </a:p>
        </p:txBody>
      </p:sp>
    </p:spTree>
    <p:extLst>
      <p:ext uri="{BB962C8B-B14F-4D97-AF65-F5344CB8AC3E}">
        <p14:creationId xmlns:p14="http://schemas.microsoft.com/office/powerpoint/2010/main" val="90075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2324100" y="1047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lnSpc>
                <a:spcPct val="90000"/>
              </a:lnSpc>
              <a:buFont typeface="Wingdings" panose="05000000000000000000" pitchFamily="2" charset="2"/>
              <a:buNone/>
            </a:pPr>
            <a:endParaRPr lang="zh-CN" altLang="en-US" sz="1400">
              <a:latin typeface="楷体_GB2312" pitchFamily="49" charset="-122"/>
              <a:ea typeface="楷体_GB2312" pitchFamily="49" charset="-122"/>
            </a:endParaRPr>
          </a:p>
        </p:txBody>
      </p:sp>
      <p:graphicFrame>
        <p:nvGraphicFramePr>
          <p:cNvPr id="66563" name="Object 3"/>
          <p:cNvGraphicFramePr>
            <a:graphicFrameLocks noChangeAspect="1"/>
          </p:cNvGraphicFramePr>
          <p:nvPr>
            <p:extLst>
              <p:ext uri="{D42A27DB-BD31-4B8C-83A1-F6EECF244321}">
                <p14:modId xmlns:p14="http://schemas.microsoft.com/office/powerpoint/2010/main" val="1776640320"/>
              </p:ext>
            </p:extLst>
          </p:nvPr>
        </p:nvGraphicFramePr>
        <p:xfrm>
          <a:off x="1043608" y="-90488"/>
          <a:ext cx="6559550" cy="6948488"/>
        </p:xfrm>
        <a:graphic>
          <a:graphicData uri="http://schemas.openxmlformats.org/presentationml/2006/ole">
            <mc:AlternateContent xmlns:mc="http://schemas.openxmlformats.org/markup-compatibility/2006">
              <mc:Choice xmlns:v="urn:schemas-microsoft-com:vml" Requires="v">
                <p:oleObj spid="_x0000_s38924" r:id="rId3" imgW="4367084" imgH="4762087" progId="Visio.Drawing.6">
                  <p:embed/>
                </p:oleObj>
              </mc:Choice>
              <mc:Fallback>
                <p:oleObj r:id="rId3" imgW="4367084" imgH="4762087" progId="Visio.Drawing.6">
                  <p:embed/>
                  <p:pic>
                    <p:nvPicPr>
                      <p:cNvPr id="6656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90488"/>
                        <a:ext cx="6559550" cy="694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591642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zh-CN" altLang="en-US" dirty="0">
                <a:latin typeface="楷体_GB2312" pitchFamily="49" charset="-122"/>
                <a:ea typeface="楷体_GB2312" pitchFamily="49" charset="-122"/>
              </a:rPr>
              <a:t>系统调用执行</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小结</a:t>
            </a:r>
          </a:p>
        </p:txBody>
      </p:sp>
      <p:sp>
        <p:nvSpPr>
          <p:cNvPr id="67587" name="Rectangle 3"/>
          <p:cNvSpPr>
            <a:spLocks noGrp="1" noChangeArrowheads="1"/>
          </p:cNvSpPr>
          <p:nvPr>
            <p:ph type="body" idx="1"/>
          </p:nvPr>
        </p:nvSpPr>
        <p:spPr/>
        <p:txBody>
          <a:bodyPr/>
          <a:lstStyle/>
          <a:p>
            <a:pPr marL="0" indent="0" eaLnBrk="1" hangingPunct="1">
              <a:buNone/>
            </a:pPr>
            <a:r>
              <a:rPr lang="en-US" altLang="zh-CN" dirty="0">
                <a:latin typeface="楷体_GB2312" pitchFamily="49" charset="-122"/>
                <a:ea typeface="楷体_GB2312" pitchFamily="49" charset="-122"/>
              </a:rPr>
              <a:t>1</a:t>
            </a:r>
            <a:r>
              <a:rPr lang="zh-CN" altLang="en-US" dirty="0">
                <a:latin typeface="楷体_GB2312" pitchFamily="49" charset="-122"/>
                <a:ea typeface="楷体_GB2312" pitchFamily="49" charset="-122"/>
              </a:rPr>
              <a:t>、程序调用库的封装函数 </a:t>
            </a:r>
          </a:p>
          <a:p>
            <a:pPr marL="0" indent="0" eaLnBrk="1" hangingPunct="1">
              <a:buNone/>
            </a:pPr>
            <a:r>
              <a:rPr lang="en-US" altLang="zh-CN" dirty="0">
                <a:latin typeface="楷体_GB2312" pitchFamily="49" charset="-122"/>
                <a:ea typeface="楷体_GB2312" pitchFamily="49" charset="-122"/>
              </a:rPr>
              <a:t>2</a:t>
            </a:r>
            <a:r>
              <a:rPr lang="zh-CN" altLang="en-US" dirty="0">
                <a:latin typeface="楷体_GB2312" pitchFamily="49" charset="-122"/>
                <a:ea typeface="楷体_GB2312" pitchFamily="49" charset="-122"/>
              </a:rPr>
              <a:t>、调用软中断 </a:t>
            </a:r>
            <a:r>
              <a:rPr lang="en-US" altLang="zh-CN" dirty="0">
                <a:latin typeface="楷体_GB2312" pitchFamily="49" charset="-122"/>
                <a:ea typeface="楷体_GB2312" pitchFamily="49" charset="-122"/>
              </a:rPr>
              <a:t>int $0x80 </a:t>
            </a:r>
            <a:r>
              <a:rPr lang="zh-CN" altLang="en-US" dirty="0">
                <a:latin typeface="楷体_GB2312" pitchFamily="49" charset="-122"/>
                <a:ea typeface="楷体_GB2312" pitchFamily="49" charset="-122"/>
              </a:rPr>
              <a:t>进入内核。 </a:t>
            </a:r>
          </a:p>
          <a:p>
            <a:pPr marL="0" indent="0" eaLnBrk="1" hangingPunct="1">
              <a:buNone/>
            </a:pPr>
            <a:r>
              <a:rPr lang="en-US" altLang="zh-CN" dirty="0">
                <a:latin typeface="楷体_GB2312" pitchFamily="49" charset="-122"/>
                <a:ea typeface="楷体_GB2312" pitchFamily="49" charset="-122"/>
              </a:rPr>
              <a:t>3</a:t>
            </a:r>
            <a:r>
              <a:rPr lang="zh-CN" altLang="en-US" dirty="0">
                <a:latin typeface="楷体_GB2312" pitchFamily="49" charset="-122"/>
                <a:ea typeface="楷体_GB2312" pitchFamily="49" charset="-122"/>
              </a:rPr>
              <a:t>、在内核中首先执行</a:t>
            </a:r>
            <a:r>
              <a:rPr lang="en-US" altLang="zh-CN" dirty="0" err="1">
                <a:latin typeface="楷体_GB2312" pitchFamily="49" charset="-122"/>
                <a:ea typeface="楷体_GB2312" pitchFamily="49" charset="-122"/>
              </a:rPr>
              <a:t>system_call</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函数，接着根   </a:t>
            </a:r>
            <a:endParaRPr lang="en-US" altLang="zh-CN" dirty="0">
              <a:latin typeface="楷体_GB2312" pitchFamily="49" charset="-122"/>
              <a:ea typeface="楷体_GB2312" pitchFamily="49" charset="-122"/>
            </a:endParaRPr>
          </a:p>
          <a:p>
            <a:pPr marL="0" indent="0" eaLnBrk="1" hangingPunct="1">
              <a:buNone/>
            </a:pPr>
            <a:r>
              <a:rPr lang="en-US" altLang="zh-CN" dirty="0">
                <a:latin typeface="楷体_GB2312" pitchFamily="49" charset="-122"/>
                <a:ea typeface="楷体_GB2312" pitchFamily="49" charset="-122"/>
              </a:rPr>
              <a:t>     </a:t>
            </a:r>
            <a:r>
              <a:rPr lang="zh-CN" altLang="en-US" dirty="0">
                <a:latin typeface="楷体_GB2312" pitchFamily="49" charset="-122"/>
                <a:ea typeface="楷体_GB2312" pitchFamily="49" charset="-122"/>
              </a:rPr>
              <a:t>据系统调用号在系统调用表中查找到对应的系统</a:t>
            </a:r>
            <a:endParaRPr lang="en-US" altLang="zh-CN" dirty="0">
              <a:latin typeface="楷体_GB2312" pitchFamily="49" charset="-122"/>
              <a:ea typeface="楷体_GB2312" pitchFamily="49" charset="-122"/>
            </a:endParaRPr>
          </a:p>
          <a:p>
            <a:pPr marL="0" indent="0" eaLnBrk="1" hangingPunct="1">
              <a:buNone/>
            </a:pPr>
            <a:r>
              <a:rPr lang="en-US" altLang="zh-CN" dirty="0">
                <a:latin typeface="楷体_GB2312" pitchFamily="49" charset="-122"/>
                <a:ea typeface="楷体_GB2312" pitchFamily="49" charset="-122"/>
              </a:rPr>
              <a:t>     </a:t>
            </a:r>
            <a:r>
              <a:rPr lang="zh-CN" altLang="en-US" dirty="0">
                <a:latin typeface="楷体_GB2312" pitchFamily="49" charset="-122"/>
                <a:ea typeface="楷体_GB2312" pitchFamily="49" charset="-122"/>
              </a:rPr>
              <a:t>调用服务例程 </a:t>
            </a:r>
          </a:p>
          <a:p>
            <a:pPr marL="0" indent="0" eaLnBrk="1" hangingPunct="1">
              <a:buNone/>
            </a:pPr>
            <a:r>
              <a:rPr lang="en-US" altLang="zh-CN" dirty="0">
                <a:latin typeface="楷体_GB2312" pitchFamily="49" charset="-122"/>
                <a:ea typeface="楷体_GB2312" pitchFamily="49" charset="-122"/>
              </a:rPr>
              <a:t>4</a:t>
            </a:r>
            <a:r>
              <a:rPr lang="zh-CN" altLang="en-US" dirty="0">
                <a:latin typeface="楷体_GB2312" pitchFamily="49" charset="-122"/>
                <a:ea typeface="楷体_GB2312" pitchFamily="49" charset="-122"/>
              </a:rPr>
              <a:t>、执行该服务例程 </a:t>
            </a:r>
          </a:p>
          <a:p>
            <a:pPr marL="0" indent="0" eaLnBrk="1" hangingPunct="1">
              <a:buNone/>
            </a:pPr>
            <a:r>
              <a:rPr lang="en-US" altLang="zh-CN" dirty="0">
                <a:latin typeface="楷体_GB2312" pitchFamily="49" charset="-122"/>
                <a:ea typeface="楷体_GB2312" pitchFamily="49" charset="-122"/>
              </a:rPr>
              <a:t>5</a:t>
            </a:r>
            <a:r>
              <a:rPr lang="zh-CN" altLang="en-US" dirty="0">
                <a:latin typeface="楷体_GB2312" pitchFamily="49" charset="-122"/>
                <a:ea typeface="楷体_GB2312" pitchFamily="49" charset="-122"/>
              </a:rPr>
              <a:t>、执行完毕后，转入</a:t>
            </a:r>
            <a:r>
              <a:rPr lang="en-US" altLang="zh-CN" dirty="0" err="1">
                <a:latin typeface="楷体_GB2312" pitchFamily="49" charset="-122"/>
                <a:ea typeface="楷体_GB2312" pitchFamily="49" charset="-122"/>
              </a:rPr>
              <a:t>ret_from_sys_call</a:t>
            </a:r>
            <a:r>
              <a:rPr lang="zh-CN" altLang="en-US" dirty="0">
                <a:latin typeface="楷体_GB2312" pitchFamily="49" charset="-122"/>
                <a:ea typeface="楷体_GB2312" pitchFamily="49" charset="-122"/>
              </a:rPr>
              <a:t>例程，从</a:t>
            </a:r>
            <a:endParaRPr lang="en-US" altLang="zh-CN" dirty="0">
              <a:latin typeface="楷体_GB2312" pitchFamily="49" charset="-122"/>
              <a:ea typeface="楷体_GB2312" pitchFamily="49" charset="-122"/>
            </a:endParaRPr>
          </a:p>
          <a:p>
            <a:pPr marL="0" indent="0" eaLnBrk="1" hangingPunct="1">
              <a:buNone/>
            </a:pPr>
            <a:r>
              <a:rPr lang="en-US" altLang="zh-CN" dirty="0">
                <a:latin typeface="楷体_GB2312" pitchFamily="49" charset="-122"/>
                <a:ea typeface="楷体_GB2312" pitchFamily="49" charset="-122"/>
              </a:rPr>
              <a:t>     </a:t>
            </a:r>
            <a:r>
              <a:rPr lang="zh-CN" altLang="en-US" dirty="0">
                <a:latin typeface="楷体_GB2312" pitchFamily="49" charset="-122"/>
                <a:ea typeface="楷体_GB2312" pitchFamily="49" charset="-122"/>
              </a:rPr>
              <a:t>系统调用返回 </a:t>
            </a:r>
          </a:p>
        </p:txBody>
      </p:sp>
    </p:spTree>
    <p:extLst>
      <p:ext uri="{BB962C8B-B14F-4D97-AF65-F5344CB8AC3E}">
        <p14:creationId xmlns:p14="http://schemas.microsoft.com/office/powerpoint/2010/main" val="42854558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zh-CN" dirty="0">
                <a:ea typeface="楷体_GB2312" pitchFamily="49" charset="-122"/>
              </a:rPr>
              <a:t>4.6 </a:t>
            </a:r>
            <a:r>
              <a:rPr lang="zh-CN" altLang="en-US" dirty="0">
                <a:ea typeface="楷体_GB2312" pitchFamily="49" charset="-122"/>
              </a:rPr>
              <a:t>升级内核与模块机制</a:t>
            </a:r>
          </a:p>
        </p:txBody>
      </p:sp>
      <p:sp>
        <p:nvSpPr>
          <p:cNvPr id="68611" name="Rectangle 3"/>
          <p:cNvSpPr>
            <a:spLocks noGrp="1" noChangeArrowheads="1"/>
          </p:cNvSpPr>
          <p:nvPr>
            <p:ph type="body" idx="1"/>
          </p:nvPr>
        </p:nvSpPr>
        <p:spPr>
          <a:xfrm>
            <a:off x="222036" y="1088231"/>
            <a:ext cx="8411003" cy="4681537"/>
          </a:xfrm>
        </p:spPr>
        <p:txBody>
          <a:bodyPr/>
          <a:lstStyle/>
          <a:p>
            <a:pPr marL="457200" lvl="1" indent="0">
              <a:buNone/>
            </a:pPr>
            <a:r>
              <a:rPr lang="en-US" altLang="zh-CN" sz="2800" dirty="0">
                <a:solidFill>
                  <a:srgbClr val="2B5681"/>
                </a:solidFill>
                <a:ea typeface="楷体_GB2312" pitchFamily="49" charset="-122"/>
                <a:cs typeface="+mn-cs"/>
              </a:rPr>
              <a:t>Linux</a:t>
            </a:r>
            <a:r>
              <a:rPr lang="zh-CN" altLang="en-US" sz="2800" dirty="0">
                <a:solidFill>
                  <a:srgbClr val="2B5681"/>
                </a:solidFill>
                <a:ea typeface="楷体_GB2312" pitchFamily="49" charset="-122"/>
                <a:cs typeface="+mn-cs"/>
              </a:rPr>
              <a:t>内核源代码公开、漏洞修补、优秀代码加入</a:t>
            </a:r>
            <a:r>
              <a:rPr lang="zh-CN" altLang="en-US" sz="2800" dirty="0">
                <a:solidFill>
                  <a:srgbClr val="2B5681"/>
                </a:solidFill>
                <a:ea typeface="楷体_GB2312" pitchFamily="49" charset="-122"/>
                <a:cs typeface="+mn-cs"/>
                <a:sym typeface="Wingdings" panose="05000000000000000000" pitchFamily="2" charset="2"/>
              </a:rPr>
              <a:t>、最新软件技术的加入，会导致内核快速升级。</a:t>
            </a:r>
          </a:p>
          <a:p>
            <a:pPr algn="just">
              <a:buFont typeface="Arial" panose="020B0604020202020204" pitchFamily="34" charset="0"/>
              <a:buChar char="•"/>
            </a:pPr>
            <a:r>
              <a:rPr lang="zh-CN" altLang="en-US" dirty="0">
                <a:solidFill>
                  <a:srgbClr val="FF0000"/>
                </a:solidFill>
                <a:ea typeface="楷体_GB2312" pitchFamily="49" charset="-122"/>
                <a:sym typeface="Wingdings" panose="05000000000000000000" pitchFamily="2" charset="2"/>
              </a:rPr>
              <a:t>为什么要升级内核</a:t>
            </a:r>
          </a:p>
          <a:p>
            <a:pPr lvl="1"/>
            <a:r>
              <a:rPr lang="zh-CN" altLang="en-US" sz="2800" dirty="0">
                <a:solidFill>
                  <a:srgbClr val="2B5681"/>
                </a:solidFill>
                <a:ea typeface="楷体_GB2312" pitchFamily="49" charset="-122"/>
                <a:cs typeface="+mn-cs"/>
              </a:rPr>
              <a:t>内核承担操作系统最核心的任务，是其他程序和硬件运行过程中的仲裁者。</a:t>
            </a:r>
          </a:p>
          <a:p>
            <a:pPr lvl="1"/>
            <a:r>
              <a:rPr lang="zh-CN" altLang="en-US" sz="2800" dirty="0">
                <a:solidFill>
                  <a:srgbClr val="2B5681"/>
                </a:solidFill>
                <a:ea typeface="楷体_GB2312" pitchFamily="49" charset="-122"/>
                <a:cs typeface="+mn-cs"/>
              </a:rPr>
              <a:t>内核要管理所有进程的内存，保证进程都能平等地得到</a:t>
            </a:r>
            <a:r>
              <a:rPr lang="en-US" altLang="zh-CN" sz="2800" dirty="0">
                <a:solidFill>
                  <a:srgbClr val="2B5681"/>
                </a:solidFill>
                <a:ea typeface="楷体_GB2312" pitchFamily="49" charset="-122"/>
                <a:cs typeface="+mn-cs"/>
              </a:rPr>
              <a:t>CPU</a:t>
            </a:r>
            <a:r>
              <a:rPr lang="zh-CN" altLang="en-US" sz="2800" dirty="0">
                <a:solidFill>
                  <a:srgbClr val="2B5681"/>
                </a:solidFill>
                <a:ea typeface="楷体_GB2312" pitchFamily="49" charset="-122"/>
                <a:cs typeface="+mn-cs"/>
              </a:rPr>
              <a:t>的时隙。</a:t>
            </a:r>
          </a:p>
          <a:p>
            <a:pPr lvl="1"/>
            <a:r>
              <a:rPr lang="zh-CN" altLang="en-US" sz="2800" dirty="0">
                <a:solidFill>
                  <a:srgbClr val="2B5681"/>
                </a:solidFill>
                <a:ea typeface="楷体_GB2312" pitchFamily="49" charset="-122"/>
                <a:cs typeface="+mn-cs"/>
              </a:rPr>
              <a:t>更新的内核会支持更多的硬件，具备更好的进程管理能力，运行速度更快且更稳定。且能修复旧版本中的漏洞。</a:t>
            </a:r>
          </a:p>
          <a:p>
            <a:pPr lvl="1"/>
            <a:r>
              <a:rPr lang="zh-CN" altLang="en-US" sz="2800" dirty="0">
                <a:solidFill>
                  <a:srgbClr val="2B5681"/>
                </a:solidFill>
                <a:ea typeface="楷体_GB2312" pitchFamily="49" charset="-122"/>
                <a:cs typeface="+mn-cs"/>
              </a:rPr>
              <a:t>经常升级内核是用户需要掌握的操作内容。</a:t>
            </a:r>
          </a:p>
        </p:txBody>
      </p:sp>
    </p:spTree>
    <p:extLst>
      <p:ext uri="{BB962C8B-B14F-4D97-AF65-F5344CB8AC3E}">
        <p14:creationId xmlns:p14="http://schemas.microsoft.com/office/powerpoint/2010/main" val="2076171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764704" y="1196752"/>
            <a:ext cx="7632700" cy="609600"/>
          </a:xfrm>
        </p:spPr>
        <p:txBody>
          <a:bodyPr/>
          <a:lstStyle/>
          <a:p>
            <a:r>
              <a:rPr lang="zh-CN" altLang="en-US" dirty="0">
                <a:solidFill>
                  <a:srgbClr val="FF0000"/>
                </a:solidFill>
                <a:latin typeface="楷体_GB2312" pitchFamily="49" charset="-122"/>
                <a:ea typeface="楷体_GB2312" pitchFamily="49" charset="-122"/>
              </a:rPr>
              <a:t>内核的配置与编译</a:t>
            </a:r>
          </a:p>
        </p:txBody>
      </p:sp>
      <p:sp>
        <p:nvSpPr>
          <p:cNvPr id="69635" name="Rectangle 3"/>
          <p:cNvSpPr>
            <a:spLocks noGrp="1" noChangeArrowheads="1"/>
          </p:cNvSpPr>
          <p:nvPr>
            <p:ph type="body" idx="1"/>
          </p:nvPr>
        </p:nvSpPr>
        <p:spPr>
          <a:xfrm>
            <a:off x="281782" y="1916832"/>
            <a:ext cx="8291512" cy="5272087"/>
          </a:xfrm>
        </p:spPr>
        <p:txBody>
          <a:bodyPr/>
          <a:lstStyle/>
          <a:p>
            <a:pPr>
              <a:lnSpc>
                <a:spcPct val="9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Linux</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支持的</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CPU</a:t>
            </a:r>
          </a:p>
          <a:p>
            <a:pPr lvl="1">
              <a:lnSpc>
                <a:spcPct val="9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X86</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ARM</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DEC Alpha</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SUN </a:t>
            </a:r>
            <a:r>
              <a:rPr lang="en-US" altLang="zh-CN" dirty="0" err="1">
                <a:latin typeface="华文中宋" panose="02010600040101010101" pitchFamily="2" charset="-122"/>
                <a:ea typeface="华文中宋" panose="02010600040101010101" pitchFamily="2" charset="-122"/>
                <a:cs typeface="Times New Roman" panose="02020603050405020304" pitchFamily="18" charset="0"/>
              </a:rPr>
              <a:t>Sparc</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M68000</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MIPS</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PowerPC</a:t>
            </a:r>
          </a:p>
          <a:p>
            <a:pPr lvl="1">
              <a:lnSpc>
                <a:spcPct val="9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cs typeface="Times New Roman" panose="02020603050405020304" pitchFamily="18" charset="0"/>
              </a:rPr>
              <a:t>安装过程中能自动识别这些</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CPU</a:t>
            </a:r>
          </a:p>
          <a:p>
            <a:pPr>
              <a:lnSpc>
                <a:spcPct val="9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cs typeface="Times New Roman" panose="02020603050405020304" pitchFamily="18" charset="0"/>
              </a:rPr>
              <a:t>将获得的内核放置在正确位置</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(x86</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型</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p>
          <a:p>
            <a:pPr lvl="1">
              <a:lnSpc>
                <a:spcPct val="9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err="1">
                <a:latin typeface="华文中宋" panose="02010600040101010101" pitchFamily="2" charset="-122"/>
                <a:ea typeface="华文中宋" panose="02010600040101010101" pitchFamily="2" charset="-122"/>
                <a:cs typeface="Times New Roman" panose="02020603050405020304" pitchFamily="18" charset="0"/>
              </a:rPr>
              <a:t>usr</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err="1">
                <a:latin typeface="华文中宋" panose="02010600040101010101" pitchFamily="2" charset="-122"/>
                <a:ea typeface="华文中宋" panose="02010600040101010101" pitchFamily="2" charset="-122"/>
                <a:cs typeface="Times New Roman" panose="02020603050405020304" pitchFamily="18" charset="0"/>
              </a:rPr>
              <a:t>src</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err="1">
                <a:latin typeface="华文中宋" panose="02010600040101010101" pitchFamily="2" charset="-122"/>
                <a:ea typeface="华文中宋" panose="02010600040101010101" pitchFamily="2" charset="-122"/>
                <a:cs typeface="Times New Roman" panose="02020603050405020304" pitchFamily="18" charset="0"/>
              </a:rPr>
              <a:t>linux</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/arch/i386/boot</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目录</a:t>
            </a:r>
          </a:p>
          <a:p>
            <a:pPr>
              <a:lnSpc>
                <a:spcPct val="9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cs typeface="Times New Roman" panose="02020603050405020304" pitchFamily="18" charset="0"/>
              </a:rPr>
              <a:t>检查源代码</a:t>
            </a:r>
          </a:p>
          <a:p>
            <a:pPr lvl="1">
              <a:lnSpc>
                <a:spcPct val="9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#cd /</a:t>
            </a:r>
            <a:r>
              <a:rPr lang="en-US" altLang="zh-CN" dirty="0" err="1">
                <a:latin typeface="华文中宋" panose="02010600040101010101" pitchFamily="2" charset="-122"/>
                <a:ea typeface="华文中宋" panose="02010600040101010101" pitchFamily="2" charset="-122"/>
                <a:cs typeface="Times New Roman" panose="02020603050405020304" pitchFamily="18" charset="0"/>
              </a:rPr>
              <a:t>usr</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err="1">
                <a:latin typeface="华文中宋" panose="02010600040101010101" pitchFamily="2" charset="-122"/>
                <a:ea typeface="华文中宋" panose="02010600040101010101" pitchFamily="2" charset="-122"/>
                <a:cs typeface="Times New Roman" panose="02020603050405020304" pitchFamily="18" charset="0"/>
              </a:rPr>
              <a:t>src</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err="1">
                <a:latin typeface="华文中宋" panose="02010600040101010101" pitchFamily="2" charset="-122"/>
                <a:ea typeface="华文中宋" panose="02010600040101010101" pitchFamily="2" charset="-122"/>
                <a:cs typeface="Times New Roman" panose="02020603050405020304" pitchFamily="18" charset="0"/>
              </a:rPr>
              <a:t>linux;make</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 </a:t>
            </a:r>
            <a:r>
              <a:rPr lang="en-US" altLang="zh-CN" dirty="0" err="1">
                <a:latin typeface="华文中宋" panose="02010600040101010101" pitchFamily="2" charset="-122"/>
                <a:ea typeface="华文中宋" panose="02010600040101010101" pitchFamily="2" charset="-122"/>
                <a:cs typeface="Times New Roman" panose="02020603050405020304" pitchFamily="18" charset="0"/>
              </a:rPr>
              <a:t>mrproper</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a:p>
            <a:pPr lvl="2">
              <a:lnSpc>
                <a:spcPct val="90000"/>
              </a:lnSpc>
              <a:buFont typeface="Arial" panose="020B0604020202020204" pitchFamily="34" charset="0"/>
              <a:buChar char="•"/>
            </a:pP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该命令确保源代码目录下没有不正确的</a:t>
            </a:r>
            <a:r>
              <a:rPr lang="en-US" altLang="zh-CN" b="1" dirty="0">
                <a:latin typeface="华文中宋" panose="02010600040101010101" pitchFamily="2" charset="-122"/>
                <a:ea typeface="华文中宋" panose="02010600040101010101" pitchFamily="2" charset="-122"/>
                <a:cs typeface="Times New Roman" panose="02020603050405020304" pitchFamily="18" charset="0"/>
              </a:rPr>
              <a:t>.o</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文件以及文件的互相依赖。</a:t>
            </a:r>
          </a:p>
        </p:txBody>
      </p:sp>
      <p:sp>
        <p:nvSpPr>
          <p:cNvPr id="4" name="Rectangle 2">
            <a:extLst>
              <a:ext uri="{FF2B5EF4-FFF2-40B4-BE49-F238E27FC236}">
                <a16:creationId xmlns:a16="http://schemas.microsoft.com/office/drawing/2014/main" id="{8EE05A82-68D3-49CE-9F38-3B2A85189F42}"/>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kern="0" dirty="0">
                <a:ea typeface="楷体_GB2312" pitchFamily="49" charset="-122"/>
              </a:rPr>
              <a:t>4.6 </a:t>
            </a:r>
            <a:r>
              <a:rPr lang="zh-CN" altLang="en-US" kern="0" dirty="0">
                <a:ea typeface="楷体_GB2312" pitchFamily="49" charset="-122"/>
              </a:rPr>
              <a:t>升级内核与模块机制</a:t>
            </a:r>
          </a:p>
        </p:txBody>
      </p:sp>
    </p:spTree>
    <p:extLst>
      <p:ext uri="{BB962C8B-B14F-4D97-AF65-F5344CB8AC3E}">
        <p14:creationId xmlns:p14="http://schemas.microsoft.com/office/powerpoint/2010/main" val="19633898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2196752" y="941245"/>
            <a:ext cx="7632700" cy="609600"/>
          </a:xfrm>
        </p:spPr>
        <p:txBody>
          <a:bodyPr/>
          <a:lstStyle/>
          <a:p>
            <a:r>
              <a:rPr lang="zh-CN" altLang="en-US" dirty="0">
                <a:solidFill>
                  <a:srgbClr val="FF0000"/>
                </a:solidFill>
                <a:latin typeface="楷体_GB2312" pitchFamily="49" charset="-122"/>
                <a:ea typeface="楷体_GB2312" pitchFamily="49" charset="-122"/>
              </a:rPr>
              <a:t>配置内核</a:t>
            </a:r>
          </a:p>
        </p:txBody>
      </p:sp>
      <p:sp>
        <p:nvSpPr>
          <p:cNvPr id="70659" name="Rectangle 3"/>
          <p:cNvSpPr>
            <a:spLocks noGrp="1" noChangeArrowheads="1"/>
          </p:cNvSpPr>
          <p:nvPr>
            <p:ph type="body" idx="1"/>
          </p:nvPr>
        </p:nvSpPr>
        <p:spPr>
          <a:xfrm>
            <a:off x="462756" y="1556792"/>
            <a:ext cx="7929563" cy="5040312"/>
          </a:xfrm>
        </p:spPr>
        <p:txBody>
          <a:bodyPr/>
          <a:lstStyle/>
          <a:p>
            <a:pPr>
              <a:buFont typeface="Arial" panose="020B0604020202020204" pitchFamily="34" charset="0"/>
              <a:buChar char="•"/>
            </a:pPr>
            <a:r>
              <a:rPr lang="zh-CN" altLang="en-US" sz="3200" dirty="0">
                <a:latin typeface="宋体" panose="02010600030101010101" pitchFamily="2" charset="-122"/>
                <a:ea typeface="宋体" panose="02010600030101010101" pitchFamily="2" charset="-122"/>
              </a:rPr>
              <a:t>配置命令</a:t>
            </a:r>
            <a:r>
              <a:rPr lang="en-US" altLang="zh-CN" sz="3200" dirty="0">
                <a:latin typeface="宋体" panose="02010600030101010101" pitchFamily="2" charset="-122"/>
                <a:ea typeface="宋体" panose="02010600030101010101" pitchFamily="2" charset="-122"/>
              </a:rPr>
              <a:t>(</a:t>
            </a:r>
            <a:r>
              <a:rPr lang="zh-CN" altLang="en-US" sz="3200" dirty="0">
                <a:latin typeface="宋体" panose="02010600030101010101" pitchFamily="2" charset="-122"/>
                <a:ea typeface="宋体" panose="02010600030101010101" pitchFamily="2" charset="-122"/>
              </a:rPr>
              <a:t>任选一种</a:t>
            </a:r>
            <a:r>
              <a:rPr lang="en-US" altLang="zh-CN" sz="3200" dirty="0">
                <a:latin typeface="宋体" panose="02010600030101010101" pitchFamily="2" charset="-122"/>
                <a:ea typeface="宋体" panose="02010600030101010101" pitchFamily="2" charset="-122"/>
              </a:rPr>
              <a:t>)</a:t>
            </a:r>
          </a:p>
          <a:p>
            <a:pPr lvl="1"/>
            <a:r>
              <a:rPr lang="en-US" altLang="zh-CN" sz="2800" dirty="0">
                <a:latin typeface="宋体" panose="02010600030101010101" pitchFamily="2" charset="-122"/>
                <a:ea typeface="宋体" panose="02010600030101010101" pitchFamily="2" charset="-122"/>
              </a:rPr>
              <a:t>#make </a:t>
            </a:r>
            <a:r>
              <a:rPr lang="en-US" altLang="zh-CN" sz="2800" dirty="0" err="1">
                <a:latin typeface="宋体" panose="02010600030101010101" pitchFamily="2" charset="-122"/>
                <a:ea typeface="宋体" panose="02010600030101010101" pitchFamily="2" charset="-122"/>
              </a:rPr>
              <a:t>config</a:t>
            </a:r>
            <a:endParaRPr lang="en-US" altLang="zh-CN" sz="2800" dirty="0">
              <a:latin typeface="宋体" panose="02010600030101010101" pitchFamily="2" charset="-122"/>
              <a:ea typeface="宋体" panose="02010600030101010101" pitchFamily="2" charset="-122"/>
            </a:endParaRPr>
          </a:p>
          <a:p>
            <a:pPr lvl="2"/>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基于文本的最传统的配置界面</a:t>
            </a:r>
            <a:r>
              <a:rPr lang="en-US" altLang="zh-CN" sz="2800" dirty="0">
                <a:latin typeface="宋体" panose="02010600030101010101" pitchFamily="2" charset="-122"/>
                <a:ea typeface="宋体" panose="02010600030101010101" pitchFamily="2" charset="-122"/>
              </a:rPr>
              <a:t>)</a:t>
            </a:r>
          </a:p>
          <a:p>
            <a:pPr lvl="1"/>
            <a:r>
              <a:rPr lang="en-US" altLang="zh-CN" sz="2800" dirty="0">
                <a:latin typeface="宋体" panose="02010600030101010101" pitchFamily="2" charset="-122"/>
                <a:ea typeface="宋体" panose="02010600030101010101" pitchFamily="2" charset="-122"/>
              </a:rPr>
              <a:t>#make </a:t>
            </a:r>
            <a:r>
              <a:rPr lang="en-US" altLang="zh-CN" sz="2800" dirty="0" err="1">
                <a:latin typeface="宋体" panose="02010600030101010101" pitchFamily="2" charset="-122"/>
                <a:ea typeface="宋体" panose="02010600030101010101" pitchFamily="2" charset="-122"/>
              </a:rPr>
              <a:t>menuconfig</a:t>
            </a:r>
            <a:endParaRPr lang="en-US" altLang="zh-CN" sz="2800" dirty="0">
              <a:latin typeface="宋体" panose="02010600030101010101" pitchFamily="2" charset="-122"/>
              <a:ea typeface="宋体" panose="02010600030101010101" pitchFamily="2" charset="-122"/>
            </a:endParaRPr>
          </a:p>
          <a:p>
            <a:pPr lvl="2"/>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基于文本选单的配置界面</a:t>
            </a:r>
            <a:r>
              <a:rPr lang="en-US" altLang="zh-CN" sz="2800" dirty="0">
                <a:latin typeface="宋体" panose="02010600030101010101" pitchFamily="2" charset="-122"/>
                <a:ea typeface="宋体" panose="02010600030101010101" pitchFamily="2" charset="-122"/>
              </a:rPr>
              <a:t>)</a:t>
            </a:r>
          </a:p>
          <a:p>
            <a:pPr lvl="1"/>
            <a:r>
              <a:rPr lang="en-US" altLang="zh-CN" sz="2800" dirty="0">
                <a:latin typeface="宋体" panose="02010600030101010101" pitchFamily="2" charset="-122"/>
                <a:ea typeface="宋体" panose="02010600030101010101" pitchFamily="2" charset="-122"/>
              </a:rPr>
              <a:t>#make </a:t>
            </a:r>
            <a:r>
              <a:rPr lang="en-US" altLang="zh-CN" sz="2800" dirty="0" err="1">
                <a:latin typeface="宋体" panose="02010600030101010101" pitchFamily="2" charset="-122"/>
                <a:ea typeface="宋体" panose="02010600030101010101" pitchFamily="2" charset="-122"/>
              </a:rPr>
              <a:t>xconfig</a:t>
            </a:r>
            <a:endParaRPr lang="en-US" altLang="zh-CN" sz="2800" dirty="0">
              <a:latin typeface="宋体" panose="02010600030101010101" pitchFamily="2" charset="-122"/>
              <a:ea typeface="宋体" panose="02010600030101010101" pitchFamily="2" charset="-122"/>
            </a:endParaRPr>
          </a:p>
          <a:p>
            <a:pPr lvl="2"/>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基于图形窗口模式的配置界面</a:t>
            </a:r>
            <a:r>
              <a:rPr lang="en-US" altLang="zh-CN" sz="2800" dirty="0">
                <a:latin typeface="宋体" panose="02010600030101010101" pitchFamily="2" charset="-122"/>
                <a:ea typeface="宋体" panose="02010600030101010101" pitchFamily="2" charset="-122"/>
              </a:rPr>
              <a:t>)</a:t>
            </a:r>
          </a:p>
          <a:p>
            <a:pPr lvl="1"/>
            <a:r>
              <a:rPr lang="en-US" altLang="zh-CN" sz="2800" dirty="0">
                <a:latin typeface="宋体" panose="02010600030101010101" pitchFamily="2" charset="-122"/>
                <a:ea typeface="宋体" panose="02010600030101010101" pitchFamily="2" charset="-122"/>
              </a:rPr>
              <a:t>#make </a:t>
            </a:r>
            <a:r>
              <a:rPr lang="en-US" altLang="zh-CN" sz="2800" dirty="0" err="1">
                <a:latin typeface="宋体" panose="02010600030101010101" pitchFamily="2" charset="-122"/>
                <a:ea typeface="宋体" panose="02010600030101010101" pitchFamily="2" charset="-122"/>
              </a:rPr>
              <a:t>oldconfig</a:t>
            </a:r>
            <a:endParaRPr lang="en-US" altLang="zh-CN" sz="2800" dirty="0">
              <a:latin typeface="宋体" panose="02010600030101010101" pitchFamily="2" charset="-122"/>
              <a:ea typeface="宋体" panose="02010600030101010101" pitchFamily="2" charset="-122"/>
            </a:endParaRPr>
          </a:p>
          <a:p>
            <a:pPr lvl="2"/>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只想在原来内核配置的基础上上修改一些小地方，则用这个命令会省去不少麻烦</a:t>
            </a:r>
            <a:r>
              <a:rPr lang="en-US" altLang="zh-CN" sz="2800" dirty="0">
                <a:latin typeface="宋体" panose="02010600030101010101" pitchFamily="2" charset="-122"/>
                <a:ea typeface="宋体" panose="02010600030101010101" pitchFamily="2" charset="-122"/>
              </a:rPr>
              <a:t>)</a:t>
            </a:r>
          </a:p>
        </p:txBody>
      </p:sp>
      <p:sp>
        <p:nvSpPr>
          <p:cNvPr id="4" name="Rectangle 2">
            <a:extLst>
              <a:ext uri="{FF2B5EF4-FFF2-40B4-BE49-F238E27FC236}">
                <a16:creationId xmlns:a16="http://schemas.microsoft.com/office/drawing/2014/main" id="{CBB4C4D4-AC5F-46A9-8D62-810A2BE34AE4}"/>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kern="0" dirty="0">
                <a:ea typeface="楷体_GB2312" pitchFamily="49" charset="-122"/>
              </a:rPr>
              <a:t>4.6 </a:t>
            </a:r>
            <a:r>
              <a:rPr lang="zh-CN" altLang="en-US" kern="0" dirty="0">
                <a:ea typeface="楷体_GB2312" pitchFamily="49" charset="-122"/>
              </a:rPr>
              <a:t>升级内核与模块机制</a:t>
            </a:r>
          </a:p>
        </p:txBody>
      </p:sp>
    </p:spTree>
    <p:extLst>
      <p:ext uri="{BB962C8B-B14F-4D97-AF65-F5344CB8AC3E}">
        <p14:creationId xmlns:p14="http://schemas.microsoft.com/office/powerpoint/2010/main" val="15205669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type="body" idx="1"/>
          </p:nvPr>
        </p:nvSpPr>
        <p:spPr>
          <a:xfrm>
            <a:off x="323850" y="1766602"/>
            <a:ext cx="7962900" cy="4758023"/>
          </a:xfrm>
        </p:spPr>
        <p:txBody>
          <a:bodyPr/>
          <a:lstStyle/>
          <a:p>
            <a:pPr lvl="1">
              <a:lnSpc>
                <a:spcPct val="90000"/>
              </a:lnSpc>
            </a:pPr>
            <a:r>
              <a:rPr lang="zh-CN" altLang="en-US" sz="2800" dirty="0">
                <a:latin typeface="宋体" panose="02010600030101010101" pitchFamily="2" charset="-122"/>
                <a:ea typeface="宋体" panose="02010600030101010101" pitchFamily="2" charset="-122"/>
              </a:rPr>
              <a:t>大部分可使用默认值，只有小部分需要根据用户不同的需要进行选择。</a:t>
            </a:r>
          </a:p>
          <a:p>
            <a:pPr lvl="1">
              <a:lnSpc>
                <a:spcPct val="90000"/>
              </a:lnSpc>
            </a:pPr>
            <a:r>
              <a:rPr lang="zh-CN" altLang="en-US" sz="2800" dirty="0">
                <a:latin typeface="宋体" panose="02010600030101010101" pitchFamily="2" charset="-122"/>
                <a:ea typeface="宋体" panose="02010600030101010101" pitchFamily="2" charset="-122"/>
              </a:rPr>
              <a:t>选择相应的配置</a:t>
            </a:r>
          </a:p>
          <a:p>
            <a:pPr lvl="2">
              <a:lnSpc>
                <a:spcPct val="90000"/>
              </a:lnSpc>
            </a:pPr>
            <a:r>
              <a:rPr lang="en-US" altLang="zh-CN" sz="2800" dirty="0">
                <a:latin typeface="宋体" panose="02010600030101010101" pitchFamily="2" charset="-122"/>
                <a:ea typeface="宋体" panose="02010600030101010101" pitchFamily="2" charset="-122"/>
              </a:rPr>
              <a:t>Y   </a:t>
            </a:r>
            <a:r>
              <a:rPr lang="zh-CN" altLang="en-US" sz="2800" dirty="0">
                <a:latin typeface="宋体" panose="02010600030101010101" pitchFamily="2" charset="-122"/>
                <a:ea typeface="宋体" panose="02010600030101010101" pitchFamily="2" charset="-122"/>
              </a:rPr>
              <a:t>表示将该功能编译进内核</a:t>
            </a:r>
          </a:p>
          <a:p>
            <a:pPr lvl="2">
              <a:lnSpc>
                <a:spcPct val="90000"/>
              </a:lnSpc>
            </a:pPr>
            <a:r>
              <a:rPr lang="en-US" altLang="zh-CN" sz="2800" dirty="0">
                <a:latin typeface="宋体" panose="02010600030101010101" pitchFamily="2" charset="-122"/>
                <a:ea typeface="宋体" panose="02010600030101010101" pitchFamily="2" charset="-122"/>
              </a:rPr>
              <a:t>N   </a:t>
            </a:r>
            <a:r>
              <a:rPr lang="zh-CN" altLang="en-US" sz="2800" dirty="0">
                <a:latin typeface="宋体" panose="02010600030101010101" pitchFamily="2" charset="-122"/>
                <a:ea typeface="宋体" panose="02010600030101010101" pitchFamily="2" charset="-122"/>
              </a:rPr>
              <a:t>表示不将该功能编译进内核</a:t>
            </a:r>
          </a:p>
          <a:p>
            <a:pPr lvl="2">
              <a:lnSpc>
                <a:spcPct val="90000"/>
              </a:lnSpc>
            </a:pPr>
            <a:r>
              <a:rPr lang="en-US" altLang="zh-CN" sz="2800" dirty="0">
                <a:latin typeface="宋体" panose="02010600030101010101" pitchFamily="2" charset="-122"/>
                <a:ea typeface="宋体" panose="02010600030101010101" pitchFamily="2" charset="-122"/>
              </a:rPr>
              <a:t>M   </a:t>
            </a:r>
            <a:r>
              <a:rPr lang="zh-CN" altLang="en-US" sz="2800" dirty="0">
                <a:latin typeface="宋体" panose="02010600030101010101" pitchFamily="2" charset="-122"/>
                <a:ea typeface="宋体" panose="02010600030101010101" pitchFamily="2" charset="-122"/>
              </a:rPr>
              <a:t>将该功能编译成可以在需要时动态插入到内核中的模块</a:t>
            </a:r>
          </a:p>
          <a:p>
            <a:pPr lvl="1">
              <a:lnSpc>
                <a:spcPct val="90000"/>
              </a:lnSpc>
            </a:pPr>
            <a:r>
              <a:rPr lang="zh-CN" altLang="en-US" sz="2800" dirty="0">
                <a:latin typeface="宋体" panose="02010600030101010101" pitchFamily="2" charset="-122"/>
                <a:ea typeface="宋体" panose="02010600030101010101" pitchFamily="2" charset="-122"/>
              </a:rPr>
              <a:t>将与内核其他部分关系较远且不经常使用的部分功能代码编译成为可加载模块有利于减少内核的长度、减少内核消耗的内存。</a:t>
            </a:r>
          </a:p>
        </p:txBody>
      </p:sp>
      <p:sp>
        <p:nvSpPr>
          <p:cNvPr id="4" name="Rectangle 2">
            <a:extLst>
              <a:ext uri="{FF2B5EF4-FFF2-40B4-BE49-F238E27FC236}">
                <a16:creationId xmlns:a16="http://schemas.microsoft.com/office/drawing/2014/main" id="{886417C8-B779-46DE-9A29-2013B5C21A56}"/>
              </a:ext>
            </a:extLst>
          </p:cNvPr>
          <p:cNvSpPr txBox="1">
            <a:spLocks noChangeArrowheads="1"/>
          </p:cNvSpPr>
          <p:nvPr/>
        </p:nvSpPr>
        <p:spPr bwMode="black">
          <a:xfrm>
            <a:off x="-1620688" y="941245"/>
            <a:ext cx="7056636"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r>
              <a:rPr lang="zh-CN" altLang="en-US" kern="0" dirty="0">
                <a:solidFill>
                  <a:srgbClr val="FF0000"/>
                </a:solidFill>
                <a:latin typeface="楷体_GB2312" pitchFamily="49" charset="-122"/>
                <a:ea typeface="楷体_GB2312" pitchFamily="49" charset="-122"/>
              </a:rPr>
              <a:t>配置内核（选项）</a:t>
            </a:r>
          </a:p>
        </p:txBody>
      </p:sp>
      <p:sp>
        <p:nvSpPr>
          <p:cNvPr id="7" name="Rectangle 2">
            <a:extLst>
              <a:ext uri="{FF2B5EF4-FFF2-40B4-BE49-F238E27FC236}">
                <a16:creationId xmlns:a16="http://schemas.microsoft.com/office/drawing/2014/main" id="{B0D26BD5-B3D0-442B-8A4A-B73920CF4A21}"/>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kern="0" dirty="0">
                <a:ea typeface="楷体_GB2312" pitchFamily="49" charset="-122"/>
              </a:rPr>
              <a:t>4.6 </a:t>
            </a:r>
            <a:r>
              <a:rPr lang="zh-CN" altLang="en-US" kern="0" dirty="0">
                <a:ea typeface="楷体_GB2312" pitchFamily="49" charset="-122"/>
              </a:rPr>
              <a:t>升级内核与模块机制</a:t>
            </a:r>
          </a:p>
        </p:txBody>
      </p:sp>
    </p:spTree>
    <p:extLst>
      <p:ext uri="{BB962C8B-B14F-4D97-AF65-F5344CB8AC3E}">
        <p14:creationId xmlns:p14="http://schemas.microsoft.com/office/powerpoint/2010/main" val="38531691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612576" y="980728"/>
            <a:ext cx="7632700" cy="609600"/>
          </a:xfrm>
        </p:spPr>
        <p:txBody>
          <a:bodyPr/>
          <a:lstStyle/>
          <a:p>
            <a:r>
              <a:rPr lang="zh-CN" altLang="en-US" dirty="0">
                <a:solidFill>
                  <a:srgbClr val="FF0000"/>
                </a:solidFill>
                <a:ea typeface="楷体_GB2312" pitchFamily="49" charset="-122"/>
              </a:rPr>
              <a:t>内核源代码文件的检验与编译</a:t>
            </a:r>
          </a:p>
        </p:txBody>
      </p:sp>
      <p:sp>
        <p:nvSpPr>
          <p:cNvPr id="72707" name="Rectangle 3"/>
          <p:cNvSpPr>
            <a:spLocks noGrp="1" noChangeArrowheads="1"/>
          </p:cNvSpPr>
          <p:nvPr>
            <p:ph type="body" idx="1"/>
          </p:nvPr>
        </p:nvSpPr>
        <p:spPr>
          <a:xfrm>
            <a:off x="89756" y="1484784"/>
            <a:ext cx="8964488" cy="5113337"/>
          </a:xfrm>
        </p:spPr>
        <p:txBody>
          <a:bodyPr/>
          <a:lstStyle/>
          <a:p>
            <a:pPr>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对内核源代码文件的依赖性和完整性进行检验后进行编译</a:t>
            </a:r>
          </a:p>
          <a:p>
            <a:pPr lvl="1">
              <a:buFont typeface="Arial" panose="020B0604020202020204" pitchFamily="34" charset="0"/>
              <a:buChar cha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#make dep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确保关键文件在正确的位置</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lvl="1">
              <a:buFont typeface="Arial" panose="020B0604020202020204" pitchFamily="34" charset="0"/>
              <a:buChar cha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#make clean(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确保所有有关文件都处于最新版本状态</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lvl="1">
              <a:buFont typeface="Arial" panose="020B0604020202020204" pitchFamily="34" charset="0"/>
              <a:buChar cha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#make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zImage</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编译压缩形式的内核</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lvl="1">
              <a:buFont typeface="Arial" panose="020B0604020202020204" pitchFamily="34" charset="0"/>
              <a:buChar cha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#make </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bzImage</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编译内核</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若选择了可加载模块，则编译完内核后，要对选择的模块进行编译</a:t>
            </a:r>
          </a:p>
          <a:p>
            <a:pPr lvl="1">
              <a:buFont typeface="Arial" panose="020B0604020202020204" pitchFamily="34" charset="0"/>
              <a:buChar cha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#make module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编译选择的模块</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lvl="1">
              <a:buFont typeface="Arial" panose="020B0604020202020204" pitchFamily="34" charset="0"/>
              <a:buChar cha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#make module-install(</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将编译后的模块转移到系统标准位置</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lvl="1">
              <a:buFont typeface="Arial" panose="020B0604020202020204" pitchFamily="34" charset="0"/>
              <a:buChar cha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模块的标准位置</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/lib/modules/</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x.y.z</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版本号</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p>
          <a:p>
            <a:pPr lvl="1">
              <a:buFont typeface="Arial" panose="020B0604020202020204" pitchFamily="34" charset="0"/>
              <a:buChar cha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Ismod</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列出内核的当前模块</a:t>
            </a:r>
          </a:p>
        </p:txBody>
      </p:sp>
      <p:sp>
        <p:nvSpPr>
          <p:cNvPr id="4" name="Rectangle 2">
            <a:extLst>
              <a:ext uri="{FF2B5EF4-FFF2-40B4-BE49-F238E27FC236}">
                <a16:creationId xmlns:a16="http://schemas.microsoft.com/office/drawing/2014/main" id="{D28BF0C7-FB57-4773-9D57-71DA85E9C880}"/>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kern="0" dirty="0">
                <a:ea typeface="楷体_GB2312" pitchFamily="49" charset="-122"/>
              </a:rPr>
              <a:t>4.6 </a:t>
            </a:r>
            <a:r>
              <a:rPr lang="zh-CN" altLang="en-US" kern="0" dirty="0">
                <a:ea typeface="楷体_GB2312" pitchFamily="49" charset="-122"/>
              </a:rPr>
              <a:t>升级内核与模块机制</a:t>
            </a:r>
          </a:p>
        </p:txBody>
      </p:sp>
    </p:spTree>
    <p:extLst>
      <p:ext uri="{BB962C8B-B14F-4D97-AF65-F5344CB8AC3E}">
        <p14:creationId xmlns:p14="http://schemas.microsoft.com/office/powerpoint/2010/main" val="29715430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xfrm>
            <a:off x="-756592" y="1196752"/>
            <a:ext cx="7632700" cy="465138"/>
          </a:xfrm>
        </p:spPr>
        <p:txBody>
          <a:bodyPr/>
          <a:lstStyle/>
          <a:p>
            <a:r>
              <a:rPr lang="zh-CN" altLang="en-US" dirty="0">
                <a:solidFill>
                  <a:srgbClr val="FF0000"/>
                </a:solidFill>
                <a:ea typeface="楷体_GB2312" pitchFamily="49" charset="-122"/>
              </a:rPr>
              <a:t>利用内核模块添加系统调用 </a:t>
            </a:r>
            <a:br>
              <a:rPr lang="zh-CN" altLang="en-US" dirty="0">
                <a:solidFill>
                  <a:srgbClr val="FF0000"/>
                </a:solidFill>
                <a:ea typeface="楷体_GB2312" pitchFamily="49" charset="-122"/>
              </a:rPr>
            </a:br>
            <a:endParaRPr lang="zh-CN" altLang="en-US" dirty="0">
              <a:solidFill>
                <a:srgbClr val="FF0000"/>
              </a:solidFill>
              <a:ea typeface="楷体_GB2312" pitchFamily="49" charset="-122"/>
            </a:endParaRPr>
          </a:p>
        </p:txBody>
      </p:sp>
      <p:sp>
        <p:nvSpPr>
          <p:cNvPr id="73731" name="内容占位符 2"/>
          <p:cNvSpPr>
            <a:spLocks noGrp="1"/>
          </p:cNvSpPr>
          <p:nvPr>
            <p:ph idx="1"/>
          </p:nvPr>
        </p:nvSpPr>
        <p:spPr>
          <a:xfrm>
            <a:off x="323528" y="1518871"/>
            <a:ext cx="8717756" cy="5272088"/>
          </a:xfrm>
        </p:spPr>
        <p:txBody>
          <a:bodyPr/>
          <a:lstStyle/>
          <a:p>
            <a:pPr>
              <a:buFont typeface="Arial" panose="020B0604020202020204" pitchFamily="34" charset="0"/>
              <a:buChar char="•"/>
            </a:pPr>
            <a:r>
              <a:rPr lang="zh-CN" altLang="en-US" sz="2400" dirty="0">
                <a:ea typeface="楷体_GB2312" pitchFamily="49" charset="-122"/>
              </a:rPr>
              <a:t>模块是内核的一部分，但是并没有被编译到内核里面去。它们被分别编译并连接成一组目标文件， 这些文件能被插入到正在运行的内核，或者从正在运行的内核中移走。内核模块至少必须有</a:t>
            </a:r>
            <a:r>
              <a:rPr lang="en-US" altLang="zh-CN" sz="2400" dirty="0">
                <a:ea typeface="楷体_GB2312" pitchFamily="49" charset="-122"/>
              </a:rPr>
              <a:t>2</a:t>
            </a:r>
            <a:r>
              <a:rPr lang="zh-CN" altLang="en-US" sz="2400" dirty="0">
                <a:ea typeface="楷体_GB2312" pitchFamily="49" charset="-122"/>
              </a:rPr>
              <a:t>个函数：</a:t>
            </a:r>
          </a:p>
          <a:p>
            <a:pPr>
              <a:buFont typeface="Arial" panose="020B0604020202020204" pitchFamily="34" charset="0"/>
              <a:buChar char="•"/>
            </a:pPr>
            <a:r>
              <a:rPr lang="en-US" altLang="zh-CN" sz="2400" dirty="0" err="1">
                <a:solidFill>
                  <a:srgbClr val="FF0000"/>
                </a:solidFill>
                <a:ea typeface="楷体_GB2312" pitchFamily="49" charset="-122"/>
              </a:rPr>
              <a:t>int_module</a:t>
            </a:r>
            <a:r>
              <a:rPr lang="zh-CN" altLang="en-US" sz="2400" dirty="0">
                <a:solidFill>
                  <a:srgbClr val="FF0000"/>
                </a:solidFill>
                <a:ea typeface="楷体_GB2312" pitchFamily="49" charset="-122"/>
              </a:rPr>
              <a:t>和</a:t>
            </a:r>
            <a:r>
              <a:rPr lang="en-US" altLang="zh-CN" sz="2400" dirty="0" err="1">
                <a:solidFill>
                  <a:srgbClr val="FF0000"/>
                </a:solidFill>
                <a:ea typeface="楷体_GB2312" pitchFamily="49" charset="-122"/>
              </a:rPr>
              <a:t>cleanup_module</a:t>
            </a:r>
            <a:r>
              <a:rPr lang="zh-CN" altLang="en-US" sz="2400" dirty="0">
                <a:solidFill>
                  <a:srgbClr val="FF0000"/>
                </a:solidFill>
                <a:ea typeface="楷体_GB2312" pitchFamily="49" charset="-122"/>
              </a:rPr>
              <a:t>。</a:t>
            </a:r>
            <a:r>
              <a:rPr lang="zh-CN" altLang="en-US" sz="2400" dirty="0">
                <a:ea typeface="楷体_GB2312" pitchFamily="49" charset="-122"/>
              </a:rPr>
              <a:t>第一个函数是在把模块插入内核时调用的；第二个函数则在删除该模块时调用。由于内核模块是内核的一部分，所以能访问所有内核资源。</a:t>
            </a:r>
            <a:endParaRPr lang="en-US" altLang="zh-CN" sz="2400" dirty="0">
              <a:ea typeface="楷体_GB2312" pitchFamily="49" charset="-122"/>
            </a:endParaRPr>
          </a:p>
          <a:p>
            <a:pPr>
              <a:buFont typeface="Arial" panose="020B0604020202020204" pitchFamily="34" charset="0"/>
              <a:buChar char="•"/>
            </a:pPr>
            <a:r>
              <a:rPr lang="zh-CN" altLang="en-US" sz="2400" dirty="0">
                <a:ea typeface="楷体_GB2312" pitchFamily="49" charset="-122"/>
              </a:rPr>
              <a:t>根据对</a:t>
            </a:r>
            <a:r>
              <a:rPr lang="en-US" altLang="zh-CN" sz="2400" dirty="0" err="1">
                <a:ea typeface="楷体_GB2312" pitchFamily="49" charset="-122"/>
              </a:rPr>
              <a:t>linux</a:t>
            </a:r>
            <a:r>
              <a:rPr lang="zh-CN" altLang="en-US" sz="2400" dirty="0">
                <a:ea typeface="楷体_GB2312" pitchFamily="49" charset="-122"/>
              </a:rPr>
              <a:t>系统调用机制的分析，如果要增加系统调用，可以编写自己的函数来实现，然后在</a:t>
            </a:r>
            <a:r>
              <a:rPr lang="en-US" altLang="zh-CN" sz="2400" dirty="0" err="1">
                <a:ea typeface="楷体_GB2312" pitchFamily="49" charset="-122"/>
              </a:rPr>
              <a:t>sys_call_table</a:t>
            </a:r>
            <a:r>
              <a:rPr lang="zh-CN" altLang="en-US" sz="2400" dirty="0">
                <a:ea typeface="楷体_GB2312" pitchFamily="49" charset="-122"/>
              </a:rPr>
              <a:t>表中增加一项，使该项中的指针指向自己编写的函数，就可以实现系统调用。</a:t>
            </a:r>
          </a:p>
        </p:txBody>
      </p:sp>
      <p:sp>
        <p:nvSpPr>
          <p:cNvPr id="4" name="Rectangle 2">
            <a:extLst>
              <a:ext uri="{FF2B5EF4-FFF2-40B4-BE49-F238E27FC236}">
                <a16:creationId xmlns:a16="http://schemas.microsoft.com/office/drawing/2014/main" id="{227C6449-E43D-47CB-9722-63B44C9D7691}"/>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kern="0" dirty="0">
                <a:ea typeface="楷体_GB2312" pitchFamily="49" charset="-122"/>
              </a:rPr>
              <a:t>4.6 </a:t>
            </a:r>
            <a:r>
              <a:rPr lang="zh-CN" altLang="en-US" kern="0" dirty="0">
                <a:ea typeface="楷体_GB2312" pitchFamily="49" charset="-122"/>
              </a:rPr>
              <a:t>升级内核与模块机制</a:t>
            </a:r>
          </a:p>
        </p:txBody>
      </p:sp>
    </p:spTree>
    <p:extLst>
      <p:ext uri="{BB962C8B-B14F-4D97-AF65-F5344CB8AC3E}">
        <p14:creationId xmlns:p14="http://schemas.microsoft.com/office/powerpoint/2010/main" val="39489785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内容占位符 2"/>
          <p:cNvSpPr>
            <a:spLocks noGrp="1"/>
          </p:cNvSpPr>
          <p:nvPr>
            <p:ph idx="1"/>
          </p:nvPr>
        </p:nvSpPr>
        <p:spPr/>
        <p:txBody>
          <a:bodyPr/>
          <a:lstStyle/>
          <a:p>
            <a:pPr>
              <a:buFont typeface="Arial" panose="020B0604020202020204" pitchFamily="34" charset="0"/>
              <a:buChar char="•"/>
            </a:pPr>
            <a:r>
              <a:rPr lang="zh-CN" altLang="en-US" dirty="0">
                <a:ea typeface="楷体_GB2312" pitchFamily="49" charset="-122"/>
              </a:rPr>
              <a:t>具体实现实例通过本课程的实验完成</a:t>
            </a:r>
          </a:p>
        </p:txBody>
      </p:sp>
      <p:sp>
        <p:nvSpPr>
          <p:cNvPr id="4" name="Rectangle 2">
            <a:extLst>
              <a:ext uri="{FF2B5EF4-FFF2-40B4-BE49-F238E27FC236}">
                <a16:creationId xmlns:a16="http://schemas.microsoft.com/office/drawing/2014/main" id="{E5E8A1C0-245C-47E3-B226-7FCF24CA97B6}"/>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kern="0" dirty="0">
                <a:ea typeface="楷体_GB2312" pitchFamily="49" charset="-122"/>
              </a:rPr>
              <a:t>4.6 </a:t>
            </a:r>
            <a:r>
              <a:rPr lang="zh-CN" altLang="en-US" kern="0" dirty="0">
                <a:ea typeface="楷体_GB2312" pitchFamily="49" charset="-122"/>
              </a:rPr>
              <a:t>升级内核与模块机制</a:t>
            </a:r>
          </a:p>
        </p:txBody>
      </p:sp>
    </p:spTree>
    <p:extLst>
      <p:ext uri="{BB962C8B-B14F-4D97-AF65-F5344CB8AC3E}">
        <p14:creationId xmlns:p14="http://schemas.microsoft.com/office/powerpoint/2010/main" val="22145448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内容占位符 2"/>
          <p:cNvSpPr>
            <a:spLocks noGrp="1"/>
          </p:cNvSpPr>
          <p:nvPr>
            <p:ph idx="1"/>
          </p:nvPr>
        </p:nvSpPr>
        <p:spPr/>
        <p:txBody>
          <a:bodyPr/>
          <a:lstStyle/>
          <a:p>
            <a:pPr>
              <a:buFont typeface="Arial" panose="020B0604020202020204" pitchFamily="34" charset="0"/>
              <a:buChar char="•"/>
            </a:pPr>
            <a:r>
              <a:rPr lang="zh-CN" altLang="en-US" dirty="0">
                <a:latin typeface="楷体_GB2312" pitchFamily="49" charset="-122"/>
                <a:ea typeface="楷体_GB2312" pitchFamily="49" charset="-122"/>
              </a:rPr>
              <a:t>编译内核模块并插入内核</a:t>
            </a:r>
          </a:p>
          <a:p>
            <a:pPr>
              <a:buFont typeface="Arial" panose="020B0604020202020204" pitchFamily="34" charset="0"/>
              <a:buChar char="•"/>
            </a:pPr>
            <a:r>
              <a:rPr lang="zh-CN" altLang="en-US" dirty="0">
                <a:latin typeface="楷体_GB2312" pitchFamily="49" charset="-122"/>
                <a:ea typeface="楷体_GB2312" pitchFamily="49" charset="-122"/>
              </a:rPr>
              <a:t>编译内核的命令为：</a:t>
            </a:r>
            <a:r>
              <a:rPr lang="en-US" altLang="zh-CN" dirty="0" err="1">
                <a:latin typeface="楷体_GB2312" pitchFamily="49" charset="-122"/>
                <a:ea typeface="楷体_GB2312" pitchFamily="49" charset="-122"/>
              </a:rPr>
              <a:t>gcc</a:t>
            </a:r>
            <a:r>
              <a:rPr lang="en-US" altLang="zh-CN" dirty="0">
                <a:latin typeface="楷体_GB2312" pitchFamily="49" charset="-122"/>
                <a:ea typeface="楷体_GB2312" pitchFamily="49" charset="-122"/>
              </a:rPr>
              <a:t> -Wall -02 -DMODULE -D_KERNEL_-C </a:t>
            </a:r>
            <a:r>
              <a:rPr lang="en-US" altLang="zh-CN" dirty="0" err="1">
                <a:latin typeface="楷体_GB2312" pitchFamily="49" charset="-122"/>
                <a:ea typeface="楷体_GB2312" pitchFamily="49" charset="-122"/>
              </a:rPr>
              <a:t>syscall.c</a:t>
            </a:r>
            <a:endParaRPr lang="en-US" altLang="zh-CN" dirty="0">
              <a:latin typeface="楷体_GB2312" pitchFamily="49" charset="-122"/>
              <a:ea typeface="楷体_GB2312" pitchFamily="49" charset="-122"/>
            </a:endParaRPr>
          </a:p>
          <a:p>
            <a:pPr>
              <a:buFont typeface="Arial" panose="020B0604020202020204" pitchFamily="34" charset="0"/>
              <a:buChar char="•"/>
            </a:pPr>
            <a:r>
              <a:rPr lang="en-US" altLang="zh-CN" dirty="0">
                <a:latin typeface="楷体_GB2312" pitchFamily="49" charset="-122"/>
                <a:ea typeface="楷体_GB2312" pitchFamily="49" charset="-122"/>
              </a:rPr>
              <a:t> -Wall</a:t>
            </a:r>
            <a:r>
              <a:rPr lang="zh-CN" altLang="en-US" dirty="0">
                <a:latin typeface="楷体_GB2312" pitchFamily="49" charset="-122"/>
                <a:ea typeface="楷体_GB2312" pitchFamily="49" charset="-122"/>
              </a:rPr>
              <a:t>通知编译程序显示警告信息；参数</a:t>
            </a:r>
            <a:r>
              <a:rPr lang="en-US" altLang="zh-CN" dirty="0">
                <a:latin typeface="楷体_GB2312" pitchFamily="49" charset="-122"/>
                <a:ea typeface="楷体_GB2312" pitchFamily="49" charset="-122"/>
              </a:rPr>
              <a:t>-02 </a:t>
            </a:r>
            <a:r>
              <a:rPr lang="zh-CN" altLang="en-US" dirty="0">
                <a:latin typeface="楷体_GB2312" pitchFamily="49" charset="-122"/>
                <a:ea typeface="楷体_GB2312" pitchFamily="49" charset="-122"/>
              </a:rPr>
              <a:t>是关于代码优化的设置， 内核模块必须优化；</a:t>
            </a:r>
          </a:p>
          <a:p>
            <a:pPr>
              <a:buFont typeface="Arial" panose="020B0604020202020204" pitchFamily="34" charset="0"/>
              <a:buChar char="•"/>
            </a:pPr>
            <a:r>
              <a:rPr lang="zh-CN" altLang="en-US" dirty="0">
                <a:latin typeface="楷体_GB2312" pitchFamily="49" charset="-122"/>
                <a:ea typeface="楷体_GB2312" pitchFamily="49" charset="-122"/>
              </a:rPr>
              <a:t>参数</a:t>
            </a:r>
            <a:r>
              <a:rPr lang="en-US" altLang="zh-CN" dirty="0">
                <a:latin typeface="楷体_GB2312" pitchFamily="49" charset="-122"/>
                <a:ea typeface="楷体_GB2312" pitchFamily="49" charset="-122"/>
              </a:rPr>
              <a:t>-DMODULE</a:t>
            </a:r>
            <a:r>
              <a:rPr lang="zh-CN" altLang="en-US" dirty="0">
                <a:latin typeface="楷体_GB2312" pitchFamily="49" charset="-122"/>
                <a:ea typeface="楷体_GB2312" pitchFamily="49" charset="-122"/>
              </a:rPr>
              <a:t>通知头文件向内核模块提供正确的定义； 参数</a:t>
            </a:r>
            <a:r>
              <a:rPr lang="en-US" altLang="zh-CN" dirty="0">
                <a:latin typeface="楷体_GB2312" pitchFamily="49" charset="-122"/>
                <a:ea typeface="楷体_GB2312" pitchFamily="49" charset="-122"/>
              </a:rPr>
              <a:t>-D_KERNEL_</a:t>
            </a:r>
            <a:r>
              <a:rPr lang="zh-CN" altLang="en-US" dirty="0">
                <a:latin typeface="楷体_GB2312" pitchFamily="49" charset="-122"/>
                <a:ea typeface="楷体_GB2312" pitchFamily="49" charset="-122"/>
              </a:rPr>
              <a:t>通知头文件，这个程序代码将在内核模式下运行。</a:t>
            </a:r>
            <a:endParaRPr lang="en-US" altLang="zh-CN" dirty="0">
              <a:latin typeface="楷体_GB2312" pitchFamily="49" charset="-122"/>
              <a:ea typeface="楷体_GB2312" pitchFamily="49" charset="-122"/>
            </a:endParaRPr>
          </a:p>
          <a:p>
            <a:pPr>
              <a:buFont typeface="Arial" panose="020B0604020202020204" pitchFamily="34" charset="0"/>
              <a:buChar char="•"/>
            </a:pPr>
            <a:r>
              <a:rPr lang="zh-CN" altLang="en-US" dirty="0">
                <a:latin typeface="楷体_GB2312" pitchFamily="49" charset="-122"/>
                <a:ea typeface="楷体_GB2312" pitchFamily="49" charset="-122"/>
              </a:rPr>
              <a:t>编译成功后将生成 </a:t>
            </a:r>
            <a:r>
              <a:rPr lang="en-US" altLang="zh-CN" dirty="0" err="1">
                <a:latin typeface="楷体_GB2312" pitchFamily="49" charset="-122"/>
                <a:ea typeface="楷体_GB2312" pitchFamily="49" charset="-122"/>
              </a:rPr>
              <a:t>syscall.o</a:t>
            </a:r>
            <a:r>
              <a:rPr lang="zh-CN" altLang="en-US" dirty="0">
                <a:latin typeface="楷体_GB2312" pitchFamily="49" charset="-122"/>
                <a:ea typeface="楷体_GB2312" pitchFamily="49" charset="-122"/>
              </a:rPr>
              <a:t>文件。最后使用</a:t>
            </a:r>
            <a:r>
              <a:rPr lang="en-US" altLang="zh-CN" dirty="0" err="1">
                <a:latin typeface="楷体_GB2312" pitchFamily="49" charset="-122"/>
                <a:ea typeface="楷体_GB2312" pitchFamily="49" charset="-122"/>
              </a:rPr>
              <a:t>insmod</a:t>
            </a:r>
            <a:r>
              <a:rPr lang="en-US" altLang="zh-CN" dirty="0">
                <a:latin typeface="楷体_GB2312" pitchFamily="49" charset="-122"/>
                <a:ea typeface="楷体_GB2312" pitchFamily="49" charset="-122"/>
              </a:rPr>
              <a:t> </a:t>
            </a:r>
            <a:r>
              <a:rPr lang="en-US" altLang="zh-CN" dirty="0" err="1">
                <a:latin typeface="楷体_GB2312" pitchFamily="49" charset="-122"/>
                <a:ea typeface="楷体_GB2312" pitchFamily="49" charset="-122"/>
              </a:rPr>
              <a:t>syscall.o</a:t>
            </a:r>
            <a:r>
              <a:rPr lang="zh-CN" altLang="en-US" dirty="0">
                <a:latin typeface="楷体_GB2312" pitchFamily="49" charset="-122"/>
                <a:ea typeface="楷体_GB2312" pitchFamily="49" charset="-122"/>
              </a:rPr>
              <a:t>命令将模块插入内核后即可使用增加的系统调用。   </a:t>
            </a:r>
          </a:p>
        </p:txBody>
      </p:sp>
      <p:sp>
        <p:nvSpPr>
          <p:cNvPr id="4" name="Rectangle 2">
            <a:extLst>
              <a:ext uri="{FF2B5EF4-FFF2-40B4-BE49-F238E27FC236}">
                <a16:creationId xmlns:a16="http://schemas.microsoft.com/office/drawing/2014/main" id="{4A3CE047-458A-4355-B266-8C7048F66306}"/>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kern="0" dirty="0">
                <a:ea typeface="楷体_GB2312" pitchFamily="49" charset="-122"/>
              </a:rPr>
              <a:t>4.6 </a:t>
            </a:r>
            <a:r>
              <a:rPr lang="zh-CN" altLang="en-US" kern="0" dirty="0">
                <a:ea typeface="楷体_GB2312" pitchFamily="49" charset="-122"/>
              </a:rPr>
              <a:t>升级内核与模块机制</a:t>
            </a:r>
          </a:p>
        </p:txBody>
      </p:sp>
    </p:spTree>
    <p:extLst>
      <p:ext uri="{BB962C8B-B14F-4D97-AF65-F5344CB8AC3E}">
        <p14:creationId xmlns:p14="http://schemas.microsoft.com/office/powerpoint/2010/main" val="20215004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内容占位符 2"/>
          <p:cNvSpPr>
            <a:spLocks noGrp="1"/>
          </p:cNvSpPr>
          <p:nvPr>
            <p:ph idx="1"/>
          </p:nvPr>
        </p:nvSpPr>
        <p:spPr/>
        <p:txBody>
          <a:bodyPr/>
          <a:lstStyle/>
          <a:p>
            <a:pPr>
              <a:buFont typeface="Arial" panose="020B0604020202020204" pitchFamily="34" charset="0"/>
              <a:buChar char="•"/>
            </a:pPr>
            <a:r>
              <a:rPr lang="zh-CN" altLang="en-US" dirty="0">
                <a:latin typeface="楷体_GB2312" pitchFamily="49" charset="-122"/>
                <a:ea typeface="楷体_GB2312" pitchFamily="49" charset="-122"/>
              </a:rPr>
              <a:t>比较以上两种方法，采用内核模块的方法较好。因为这种方法可省去编译新内核并用新内核重新 启动的麻烦，这一优点对于代码的调试是非常有价值的， 可以节省大量时间。  </a:t>
            </a:r>
          </a:p>
          <a:p>
            <a:endParaRPr lang="zh-CN" altLang="en-US" dirty="0">
              <a:latin typeface="楷体_GB2312" pitchFamily="49" charset="-122"/>
              <a:ea typeface="楷体_GB2312" pitchFamily="49" charset="-122"/>
            </a:endParaRPr>
          </a:p>
        </p:txBody>
      </p:sp>
      <p:sp>
        <p:nvSpPr>
          <p:cNvPr id="4" name="Rectangle 2">
            <a:extLst>
              <a:ext uri="{FF2B5EF4-FFF2-40B4-BE49-F238E27FC236}">
                <a16:creationId xmlns:a16="http://schemas.microsoft.com/office/drawing/2014/main" id="{2251A9F9-386C-489A-A05F-D81044E88C9B}"/>
              </a:ext>
            </a:extLst>
          </p:cNvPr>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eaLnBrk="1" hangingPunct="1"/>
            <a:r>
              <a:rPr lang="en-US" altLang="zh-CN" kern="0" dirty="0">
                <a:ea typeface="楷体_GB2312" pitchFamily="49" charset="-122"/>
              </a:rPr>
              <a:t>4.6 </a:t>
            </a:r>
            <a:r>
              <a:rPr lang="zh-CN" altLang="en-US" kern="0" dirty="0">
                <a:ea typeface="楷体_GB2312" pitchFamily="49" charset="-122"/>
              </a:rPr>
              <a:t>升级内核与模块机制</a:t>
            </a:r>
          </a:p>
        </p:txBody>
      </p:sp>
    </p:spTree>
    <p:extLst>
      <p:ext uri="{BB962C8B-B14F-4D97-AF65-F5344CB8AC3E}">
        <p14:creationId xmlns:p14="http://schemas.microsoft.com/office/powerpoint/2010/main" val="4100506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4CA9492-2875-4188-8CF4-EE5421707B73}"/>
              </a:ext>
            </a:extLst>
          </p:cNvPr>
          <p:cNvSpPr txBox="1">
            <a:spLocks noChangeArrowheads="1"/>
          </p:cNvSpPr>
          <p:nvPr/>
        </p:nvSpPr>
        <p:spPr bwMode="black">
          <a:xfrm>
            <a:off x="575469" y="260648"/>
            <a:ext cx="79930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pPr algn="l" eaLnBrk="1" hangingPunct="1"/>
            <a:r>
              <a:rPr lang="zh-CN" altLang="en-US" sz="2800" kern="0" dirty="0">
                <a:latin typeface="Times New Roman" panose="02020603050405020304" pitchFamily="18" charset="0"/>
                <a:ea typeface="楷体_GB2312" pitchFamily="49" charset="-122"/>
                <a:cs typeface="Times New Roman" panose="02020603050405020304" pitchFamily="18" charset="0"/>
              </a:rPr>
              <a:t>                 </a:t>
            </a:r>
            <a:r>
              <a:rPr lang="zh-CN" altLang="en-US" kern="0" dirty="0">
                <a:latin typeface="Times New Roman" panose="02020603050405020304" pitchFamily="18" charset="0"/>
                <a:ea typeface="楷体_GB2312" pitchFamily="49" charset="-122"/>
                <a:cs typeface="Times New Roman" panose="02020603050405020304" pitchFamily="18" charset="0"/>
              </a:rPr>
              <a:t>本章小结</a:t>
            </a:r>
          </a:p>
        </p:txBody>
      </p:sp>
      <p:sp>
        <p:nvSpPr>
          <p:cNvPr id="5" name="Rectangle 3">
            <a:extLst>
              <a:ext uri="{FF2B5EF4-FFF2-40B4-BE49-F238E27FC236}">
                <a16:creationId xmlns:a16="http://schemas.microsoft.com/office/drawing/2014/main" id="{612468A2-6EF4-488E-82B4-E020B6D12CCC}"/>
              </a:ext>
            </a:extLst>
          </p:cNvPr>
          <p:cNvSpPr txBox="1">
            <a:spLocks noChangeArrowheads="1"/>
          </p:cNvSpPr>
          <p:nvPr/>
        </p:nvSpPr>
        <p:spPr bwMode="auto">
          <a:xfrm>
            <a:off x="547688" y="1204913"/>
            <a:ext cx="8291512" cy="527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anose="05000000000000000000" pitchFamily="2" charset="2"/>
              <a:buChar char="u"/>
              <a:defRPr sz="2800" b="1">
                <a:solidFill>
                  <a:srgbClr val="2B5681"/>
                </a:solidFill>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anose="05000000000000000000" pitchFamily="2" charset="2"/>
              <a:buChar char="n"/>
              <a:defRPr sz="2600" b="1">
                <a:solidFill>
                  <a:srgbClr val="008080"/>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rgbClr val="339966"/>
                </a:solidFill>
                <a:latin typeface="+mn-lt"/>
                <a:ea typeface="+mn-ea"/>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9pPr>
          </a:lstStyle>
          <a:p>
            <a:pPr eaLnBrk="1" hangingPunct="1">
              <a:buFont typeface="Arial" panose="020B0604020202020204" pitchFamily="34" charset="0"/>
              <a:buChar char="•"/>
            </a:pPr>
            <a:r>
              <a:rPr lang="en-US" altLang="zh-CN" kern="0" dirty="0">
                <a:latin typeface="Times New Roman" panose="02020603050405020304" pitchFamily="18" charset="0"/>
                <a:ea typeface="楷体_GB2312" pitchFamily="49" charset="-122"/>
                <a:cs typeface="Times New Roman" panose="02020603050405020304" pitchFamily="18" charset="0"/>
              </a:rPr>
              <a:t>Linux</a:t>
            </a:r>
            <a:r>
              <a:rPr lang="zh-CN" altLang="en-US" kern="0" dirty="0">
                <a:latin typeface="Times New Roman" panose="02020603050405020304" pitchFamily="18" charset="0"/>
                <a:ea typeface="楷体_GB2312" pitchFamily="49" charset="-122"/>
                <a:cs typeface="Times New Roman" panose="02020603050405020304" pitchFamily="18" charset="0"/>
              </a:rPr>
              <a:t>系统调用功能的实现机制</a:t>
            </a:r>
          </a:p>
          <a:p>
            <a:pPr eaLnBrk="1" hangingPunct="1">
              <a:buFont typeface="Arial" panose="020B0604020202020204" pitchFamily="34" charset="0"/>
              <a:buChar char="•"/>
            </a:pPr>
            <a:r>
              <a:rPr lang="en-US" altLang="zh-CN" kern="0" dirty="0">
                <a:latin typeface="Times New Roman" panose="02020603050405020304" pitchFamily="18" charset="0"/>
                <a:ea typeface="楷体_GB2312" pitchFamily="49" charset="-122"/>
                <a:cs typeface="Times New Roman" panose="02020603050405020304" pitchFamily="18" charset="0"/>
              </a:rPr>
              <a:t>Linux</a:t>
            </a:r>
            <a:r>
              <a:rPr lang="zh-CN" altLang="en-US" kern="0" dirty="0">
                <a:latin typeface="Times New Roman" panose="02020603050405020304" pitchFamily="18" charset="0"/>
                <a:ea typeface="楷体_GB2312" pitchFamily="49" charset="-122"/>
                <a:cs typeface="Times New Roman" panose="02020603050405020304" pitchFamily="18" charset="0"/>
              </a:rPr>
              <a:t>系统调用的处理过程</a:t>
            </a:r>
          </a:p>
          <a:p>
            <a:pPr eaLnBrk="1" hangingPunct="1">
              <a:buFont typeface="Arial" panose="020B0604020202020204" pitchFamily="34" charset="0"/>
              <a:buChar char="•"/>
            </a:pPr>
            <a:r>
              <a:rPr lang="zh-CN" altLang="en-US" kern="0" dirty="0">
                <a:latin typeface="Times New Roman" panose="02020603050405020304" pitchFamily="18" charset="0"/>
                <a:ea typeface="楷体_GB2312" pitchFamily="49" charset="-122"/>
                <a:cs typeface="Times New Roman" panose="02020603050405020304" pitchFamily="18" charset="0"/>
              </a:rPr>
              <a:t>通过实例分析</a:t>
            </a:r>
            <a:r>
              <a:rPr lang="en-US" altLang="zh-CN" kern="0" dirty="0">
                <a:latin typeface="Times New Roman" panose="02020603050405020304" pitchFamily="18" charset="0"/>
                <a:ea typeface="楷体_GB2312" pitchFamily="49" charset="-122"/>
                <a:cs typeface="Times New Roman" panose="02020603050405020304" pitchFamily="18" charset="0"/>
              </a:rPr>
              <a:t>Linux</a:t>
            </a:r>
            <a:r>
              <a:rPr lang="zh-CN" altLang="en-US" kern="0" dirty="0">
                <a:latin typeface="Times New Roman" panose="02020603050405020304" pitchFamily="18" charset="0"/>
                <a:ea typeface="楷体_GB2312" pitchFamily="49" charset="-122"/>
                <a:cs typeface="Times New Roman" panose="02020603050405020304" pitchFamily="18" charset="0"/>
              </a:rPr>
              <a:t>系统调用的过程</a:t>
            </a:r>
            <a:endParaRPr lang="en-US" altLang="zh-CN" kern="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kern="0" dirty="0">
                <a:latin typeface="Times New Roman" panose="02020603050405020304" pitchFamily="18" charset="0"/>
                <a:ea typeface="楷体_GB2312" pitchFamily="49" charset="-122"/>
                <a:cs typeface="Times New Roman" panose="02020603050405020304" pitchFamily="18" charset="0"/>
              </a:rPr>
              <a:t>通过实验强化如何增加一个系统调用</a:t>
            </a:r>
            <a:endParaRPr lang="en-US" altLang="zh-CN" kern="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kern="0" dirty="0">
                <a:latin typeface="Times New Roman" panose="02020603050405020304" pitchFamily="18" charset="0"/>
                <a:ea typeface="楷体_GB2312" pitchFamily="49" charset="-122"/>
                <a:cs typeface="Times New Roman" panose="02020603050405020304" pitchFamily="18" charset="0"/>
              </a:rPr>
              <a:t>通过实验强化</a:t>
            </a:r>
            <a:r>
              <a:rPr lang="en-US" altLang="zh-CN" kern="0" dirty="0">
                <a:latin typeface="Times New Roman" panose="02020603050405020304" pitchFamily="18" charset="0"/>
                <a:ea typeface="楷体_GB2312" pitchFamily="49" charset="-122"/>
                <a:cs typeface="Times New Roman" panose="02020603050405020304" pitchFamily="18" charset="0"/>
              </a:rPr>
              <a:t>Linux</a:t>
            </a:r>
            <a:r>
              <a:rPr lang="zh-CN" altLang="en-US" kern="0" dirty="0">
                <a:latin typeface="Times New Roman" panose="02020603050405020304" pitchFamily="18" charset="0"/>
                <a:ea typeface="楷体_GB2312" pitchFamily="49" charset="-122"/>
                <a:cs typeface="Times New Roman" panose="02020603050405020304" pitchFamily="18" charset="0"/>
              </a:rPr>
              <a:t>的模块机制 </a:t>
            </a:r>
            <a:r>
              <a:rPr lang="zh-CN" altLang="en-US" kern="0" dirty="0">
                <a:solidFill>
                  <a:srgbClr val="8B3A21"/>
                </a:solidFill>
                <a:latin typeface="Times New Roman" panose="02020603050405020304" pitchFamily="18" charset="0"/>
                <a:ea typeface="楷体_GB2312" pitchFamily="49" charset="-122"/>
                <a:cs typeface="Times New Roman" panose="02020603050405020304" pitchFamily="18" charset="0"/>
              </a:rPr>
              <a:t> </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extLst>
      <p:ext uri="{BB962C8B-B14F-4D97-AF65-F5344CB8AC3E}">
        <p14:creationId xmlns:p14="http://schemas.microsoft.com/office/powerpoint/2010/main" val="10784712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a:latin typeface="楷体_GB2312" pitchFamily="49" charset="-122"/>
                <a:ea typeface="楷体_GB2312" pitchFamily="49" charset="-122"/>
              </a:rPr>
              <a:t>作业</a:t>
            </a:r>
          </a:p>
        </p:txBody>
      </p:sp>
      <p:sp>
        <p:nvSpPr>
          <p:cNvPr id="77827" name="Rectangle 3"/>
          <p:cNvSpPr>
            <a:spLocks noGrp="1" noChangeArrowheads="1"/>
          </p:cNvSpPr>
          <p:nvPr>
            <p:ph type="body" idx="1"/>
          </p:nvPr>
        </p:nvSpPr>
        <p:spPr/>
        <p:txBody>
          <a:bodyPr/>
          <a:lstStyle/>
          <a:p>
            <a:pPr eaLnBrk="1" hangingPunct="1"/>
            <a:r>
              <a:rPr lang="zh-CN" altLang="en-US">
                <a:latin typeface="楷体_GB2312" pitchFamily="49" charset="-122"/>
                <a:ea typeface="楷体_GB2312" pitchFamily="49" charset="-122"/>
              </a:rPr>
              <a:t>什么是系统调用？它与普通函数调用有何区别？</a:t>
            </a:r>
          </a:p>
          <a:p>
            <a:pPr eaLnBrk="1" hangingPunct="1"/>
            <a:r>
              <a:rPr lang="zh-CN" altLang="en-US">
                <a:latin typeface="楷体_GB2312" pitchFamily="49" charset="-122"/>
                <a:ea typeface="楷体_GB2312" pitchFamily="49" charset="-122"/>
              </a:rPr>
              <a:t>什么是系统调用号和系统调用表？</a:t>
            </a:r>
          </a:p>
          <a:p>
            <a:pPr eaLnBrk="1" hangingPunct="1"/>
            <a:r>
              <a:rPr lang="zh-CN" altLang="en-US">
                <a:latin typeface="楷体_GB2312" pitchFamily="49" charset="-122"/>
                <a:ea typeface="楷体_GB2312" pitchFamily="49" charset="-122"/>
              </a:rPr>
              <a:t>系统调用的参数如何传递到内核？</a:t>
            </a:r>
            <a:endParaRPr lang="en-US" altLang="zh-CN">
              <a:latin typeface="楷体_GB2312" pitchFamily="49" charset="-122"/>
              <a:ea typeface="楷体_GB2312" pitchFamily="49" charset="-122"/>
            </a:endParaRPr>
          </a:p>
          <a:p>
            <a:pPr eaLnBrk="1" hangingPunct="1"/>
            <a:r>
              <a:rPr lang="zh-CN" altLang="en-US">
                <a:latin typeface="楷体_GB2312" pitchFamily="49" charset="-122"/>
                <a:ea typeface="楷体_GB2312" pitchFamily="49" charset="-122"/>
              </a:rPr>
              <a:t>简述添加系统调用的大致流程。</a:t>
            </a:r>
          </a:p>
        </p:txBody>
      </p:sp>
    </p:spTree>
    <p:extLst>
      <p:ext uri="{BB962C8B-B14F-4D97-AF65-F5344CB8AC3E}">
        <p14:creationId xmlns:p14="http://schemas.microsoft.com/office/powerpoint/2010/main" val="2426160131"/>
      </p:ext>
    </p:extLst>
  </p:cSld>
  <p:clrMapOvr>
    <a:masterClrMapping/>
  </p:clrMapOvr>
</p:sld>
</file>

<file path=ppt/theme/theme1.xml><?xml version="1.0" encoding="utf-8"?>
<a:theme xmlns:a="http://schemas.openxmlformats.org/drawingml/2006/main" name="041tgp_figure_blue">
  <a:themeElements>
    <a:clrScheme name="041tgp_figure_blue 3">
      <a:dk1>
        <a:srgbClr val="0F1A81"/>
      </a:dk1>
      <a:lt1>
        <a:srgbClr val="FFFFFF"/>
      </a:lt1>
      <a:dk2>
        <a:srgbClr val="175B5B"/>
      </a:dk2>
      <a:lt2>
        <a:srgbClr val="DDDDDD"/>
      </a:lt2>
      <a:accent1>
        <a:srgbClr val="A4C226"/>
      </a:accent1>
      <a:accent2>
        <a:srgbClr val="6CA5D8"/>
      </a:accent2>
      <a:accent3>
        <a:srgbClr val="FFFFFF"/>
      </a:accent3>
      <a:accent4>
        <a:srgbClr val="0B146D"/>
      </a:accent4>
      <a:accent5>
        <a:srgbClr val="CFDDAC"/>
      </a:accent5>
      <a:accent6>
        <a:srgbClr val="6195C4"/>
      </a:accent6>
      <a:hlink>
        <a:srgbClr val="5D4BC7"/>
      </a:hlink>
      <a:folHlink>
        <a:srgbClr val="878FA5"/>
      </a:folHlink>
    </a:clrScheme>
    <a:fontScheme name="041tgp_figure_blue">
      <a:majorFont>
        <a:latin typeface="黑体"/>
        <a:ea typeface="黑体"/>
        <a:cs typeface=""/>
      </a:majorFont>
      <a:minorFont>
        <a:latin typeface="新宋体"/>
        <a:ea typeface="新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lgDashDotDot"/>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20000"/>
          </a:spcBef>
          <a:spcAft>
            <a:spcPct val="0"/>
          </a:spcAft>
          <a:buClr>
            <a:schemeClr val="accent2"/>
          </a:buClr>
          <a:buSzTx/>
          <a:buFont typeface="Wingdings" pitchFamily="2" charset="2"/>
          <a:buNone/>
          <a:tabLst/>
          <a:defRPr kumimoji="0" lang="en-US" sz="1400" b="1" i="0" u="none" strike="noStrike" cap="none" normalizeH="0" baseline="0" smtClean="0">
            <a:ln>
              <a:noFill/>
            </a:ln>
            <a:solidFill>
              <a:srgbClr val="2B568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solidFill>
            <a:schemeClr val="tx1"/>
          </a:solidFill>
          <a:prstDash val="lgDashDotDot"/>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20000"/>
          </a:spcBef>
          <a:spcAft>
            <a:spcPct val="0"/>
          </a:spcAft>
          <a:buClr>
            <a:schemeClr val="accent2"/>
          </a:buClr>
          <a:buSzTx/>
          <a:buFont typeface="Wingdings" pitchFamily="2" charset="2"/>
          <a:buNone/>
          <a:tabLst/>
          <a:defRPr kumimoji="0" lang="en-US" sz="1400" b="1" i="0" u="none" strike="noStrike" cap="none" normalizeH="0" baseline="0" smtClean="0">
            <a:ln>
              <a:noFill/>
            </a:ln>
            <a:solidFill>
              <a:srgbClr val="2B5681"/>
            </a:solidFill>
            <a:effectLst/>
            <a:latin typeface="楷体_GB2312" pitchFamily="49" charset="-122"/>
            <a:ea typeface="楷体_GB2312" pitchFamily="49" charset="-122"/>
          </a:defRPr>
        </a:defPPr>
      </a:lstStyle>
    </a:lnDef>
  </a:objectDefaults>
  <a:extraClrSchemeLst>
    <a:extraClrScheme>
      <a:clrScheme name="041tgp_figure_blue 1">
        <a:dk1>
          <a:srgbClr val="000000"/>
        </a:dk1>
        <a:lt1>
          <a:srgbClr val="FFFFFF"/>
        </a:lt1>
        <a:dk2>
          <a:srgbClr val="000066"/>
        </a:dk2>
        <a:lt2>
          <a:srgbClr val="DDDDDD"/>
        </a:lt2>
        <a:accent1>
          <a:srgbClr val="E47F6E"/>
        </a:accent1>
        <a:accent2>
          <a:srgbClr val="0099CC"/>
        </a:accent2>
        <a:accent3>
          <a:srgbClr val="FFFFFF"/>
        </a:accent3>
        <a:accent4>
          <a:srgbClr val="000000"/>
        </a:accent4>
        <a:accent5>
          <a:srgbClr val="EFC0BA"/>
        </a:accent5>
        <a:accent6>
          <a:srgbClr val="008AB9"/>
        </a:accent6>
        <a:hlink>
          <a:srgbClr val="7648EA"/>
        </a:hlink>
        <a:folHlink>
          <a:srgbClr val="DFAE6D"/>
        </a:folHlink>
      </a:clrScheme>
      <a:clrMap bg1="lt1" tx1="dk1" bg2="lt2" tx2="dk2" accent1="accent1" accent2="accent2" accent3="accent3" accent4="accent4" accent5="accent5" accent6="accent6" hlink="hlink" folHlink="folHlink"/>
    </a:extraClrScheme>
    <a:extraClrScheme>
      <a:clrScheme name="041tgp_figure_blue 2">
        <a:dk1>
          <a:srgbClr val="333333"/>
        </a:dk1>
        <a:lt1>
          <a:srgbClr val="FFFFFF"/>
        </a:lt1>
        <a:dk2>
          <a:srgbClr val="003366"/>
        </a:dk2>
        <a:lt2>
          <a:srgbClr val="B2B2B2"/>
        </a:lt2>
        <a:accent1>
          <a:srgbClr val="4CA491"/>
        </a:accent1>
        <a:accent2>
          <a:srgbClr val="E2AF52"/>
        </a:accent2>
        <a:accent3>
          <a:srgbClr val="FFFFFF"/>
        </a:accent3>
        <a:accent4>
          <a:srgbClr val="2A2A2A"/>
        </a:accent4>
        <a:accent5>
          <a:srgbClr val="B2CFC7"/>
        </a:accent5>
        <a:accent6>
          <a:srgbClr val="CD9E49"/>
        </a:accent6>
        <a:hlink>
          <a:srgbClr val="576CD5"/>
        </a:hlink>
        <a:folHlink>
          <a:srgbClr val="D87252"/>
        </a:folHlink>
      </a:clrScheme>
      <a:clrMap bg1="lt1" tx1="dk1" bg2="lt2" tx2="dk2" accent1="accent1" accent2="accent2" accent3="accent3" accent4="accent4" accent5="accent5" accent6="accent6" hlink="hlink" folHlink="folHlink"/>
    </a:extraClrScheme>
    <a:extraClrScheme>
      <a:clrScheme name="041tgp_figure_blue 3">
        <a:dk1>
          <a:srgbClr val="0F1A81"/>
        </a:dk1>
        <a:lt1>
          <a:srgbClr val="FFFFFF"/>
        </a:lt1>
        <a:dk2>
          <a:srgbClr val="175B5B"/>
        </a:dk2>
        <a:lt2>
          <a:srgbClr val="DDDDDD"/>
        </a:lt2>
        <a:accent1>
          <a:srgbClr val="A4C226"/>
        </a:accent1>
        <a:accent2>
          <a:srgbClr val="6CA5D8"/>
        </a:accent2>
        <a:accent3>
          <a:srgbClr val="FFFFFF"/>
        </a:accent3>
        <a:accent4>
          <a:srgbClr val="0B146D"/>
        </a:accent4>
        <a:accent5>
          <a:srgbClr val="CFDDAC"/>
        </a:accent5>
        <a:accent6>
          <a:srgbClr val="6195C4"/>
        </a:accent6>
        <a:hlink>
          <a:srgbClr val="5D4BC7"/>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1662</TotalTime>
  <Words>5572</Words>
  <Application>Microsoft Office PowerPoint</Application>
  <PresentationFormat>全屏显示(4:3)</PresentationFormat>
  <Paragraphs>459</Paragraphs>
  <Slides>54</Slides>
  <Notes>20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54</vt:i4>
      </vt:variant>
    </vt:vector>
  </HeadingPairs>
  <TitlesOfParts>
    <vt:vector size="70" baseType="lpstr">
      <vt:lpstr>Gulim</vt:lpstr>
      <vt:lpstr>黑体</vt:lpstr>
      <vt:lpstr>华文中宋</vt:lpstr>
      <vt:lpstr>楷体_GB2312</vt:lpstr>
      <vt:lpstr>宋体</vt:lpstr>
      <vt:lpstr>新宋体</vt:lpstr>
      <vt:lpstr>Arial</vt:lpstr>
      <vt:lpstr>Helvetica</vt:lpstr>
      <vt:lpstr>Times New Roman</vt:lpstr>
      <vt:lpstr>Traditional Arabic</vt:lpstr>
      <vt:lpstr>Verdana</vt:lpstr>
      <vt:lpstr>Wingdings</vt:lpstr>
      <vt:lpstr>041tgp_figure_blue</vt:lpstr>
      <vt:lpstr>VISIO</vt:lpstr>
      <vt:lpstr>位图图像</vt:lpstr>
      <vt:lpstr>Microsoft Visio 2000/2002 Drawing</vt:lpstr>
      <vt:lpstr>             第4章  Linux系统调用</vt:lpstr>
      <vt:lpstr>知识回顾：系统调用概述</vt:lpstr>
      <vt:lpstr>4.1 Linux系统调用功能</vt:lpstr>
      <vt:lpstr>4.1 Linux系统调用功能</vt:lpstr>
      <vt:lpstr>PowerPoint 演示文稿</vt:lpstr>
      <vt:lpstr>PowerPoint 演示文稿</vt:lpstr>
      <vt:lpstr>系统调用和普通函数调用</vt:lpstr>
      <vt:lpstr>PowerPoint 演示文稿</vt:lpstr>
      <vt:lpstr>封装例程(wrapper routine)</vt:lpstr>
      <vt:lpstr>PowerPoint 演示文稿</vt:lpstr>
      <vt:lpstr>PowerPoint 演示文稿</vt:lpstr>
      <vt:lpstr>PowerPoint 演示文稿</vt:lpstr>
      <vt:lpstr>PowerPoint 演示文稿</vt:lpstr>
      <vt:lpstr>system_call()函数执行过程</vt:lpstr>
      <vt:lpstr>SAVE_ALL宏定义 </vt:lpstr>
      <vt:lpstr>PowerPoint 演示文稿</vt:lpstr>
      <vt:lpstr>PowerPoint 演示文稿</vt:lpstr>
      <vt:lpstr>PowerPoint 演示文稿</vt:lpstr>
      <vt:lpstr>PowerPoint 演示文稿</vt:lpstr>
      <vt:lpstr>系统调用号</vt:lpstr>
      <vt:lpstr>系统调用表 (arch/i386/kernel/entry.s)</vt:lpstr>
      <vt:lpstr>PowerPoint 演示文稿</vt:lpstr>
      <vt:lpstr>PowerPoint 演示文稿</vt:lpstr>
      <vt:lpstr>PowerPoint 演示文稿</vt:lpstr>
      <vt:lpstr>PowerPoint 演示文稿</vt:lpstr>
      <vt:lpstr>4.3 系统调用-实例分析</vt:lpstr>
      <vt:lpstr>4.3 系统调用-实例分析</vt:lpstr>
      <vt:lpstr>4.4 系统调用的参数传递</vt:lpstr>
      <vt:lpstr>4.4 系统调用的参数传递</vt:lpstr>
      <vt:lpstr>4.4 系统调用的参数传递</vt:lpstr>
      <vt:lpstr>PowerPoint 演示文稿</vt:lpstr>
      <vt:lpstr>4.4 系统调用的参数传递</vt:lpstr>
      <vt:lpstr>4.4 系统调用的参数传递</vt:lpstr>
      <vt:lpstr>4.4 系统调用的参数传递</vt:lpstr>
      <vt:lpstr>SAVE_ALL</vt:lpstr>
      <vt:lpstr>系统调用的参数传递-举例</vt:lpstr>
      <vt:lpstr>4.5 练习：添加一个系统调用mysyscall</vt:lpstr>
      <vt:lpstr>4.5 练习：添加一个系统调用mysyscall</vt:lpstr>
      <vt:lpstr>4.5 练习：添加一个系统调用mysyscall</vt:lpstr>
      <vt:lpstr>4.5 练习：添加一个系统调用mysyscall</vt:lpstr>
      <vt:lpstr>4.5 练习：添加一个系统调用mysyscall</vt:lpstr>
      <vt:lpstr>PowerPoint 演示文稿</vt:lpstr>
      <vt:lpstr>系统调用执行-小结</vt:lpstr>
      <vt:lpstr>4.6 升级内核与模块机制</vt:lpstr>
      <vt:lpstr>内核的配置与编译</vt:lpstr>
      <vt:lpstr>配置内核</vt:lpstr>
      <vt:lpstr>PowerPoint 演示文稿</vt:lpstr>
      <vt:lpstr>内核源代码文件的检验与编译</vt:lpstr>
      <vt:lpstr>利用内核模块添加系统调用  </vt:lpstr>
      <vt:lpstr>PowerPoint 演示文稿</vt:lpstr>
      <vt:lpstr>PowerPoint 演示文稿</vt:lpstr>
      <vt:lpstr>PowerPoint 演示文稿</vt:lpstr>
      <vt:lpstr>PowerPoint 演示文稿</vt:lpstr>
      <vt:lpstr>作业</vt:lpstr>
    </vt:vector>
  </TitlesOfParts>
  <Company>Guild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dc:title>
  <dc:creator>admin</dc:creator>
  <cp:lastModifiedBy>wd</cp:lastModifiedBy>
  <cp:revision>440</cp:revision>
  <dcterms:created xsi:type="dcterms:W3CDTF">2003-08-26T05:45:41Z</dcterms:created>
  <dcterms:modified xsi:type="dcterms:W3CDTF">2022-03-01T22:56:50Z</dcterms:modified>
</cp:coreProperties>
</file>