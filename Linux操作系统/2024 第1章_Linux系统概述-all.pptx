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6" r:id="rId1"/>
  </p:sldMasterIdLst>
  <p:notesMasterIdLst>
    <p:notesMasterId r:id="rId60"/>
  </p:notesMasterIdLst>
  <p:handoutMasterIdLst>
    <p:handoutMasterId r:id="rId61"/>
  </p:handoutMasterIdLst>
  <p:sldIdLst>
    <p:sldId id="258" r:id="rId2"/>
    <p:sldId id="350" r:id="rId3"/>
    <p:sldId id="259" r:id="rId4"/>
    <p:sldId id="290" r:id="rId5"/>
    <p:sldId id="292" r:id="rId6"/>
    <p:sldId id="293" r:id="rId7"/>
    <p:sldId id="260" r:id="rId8"/>
    <p:sldId id="326" r:id="rId9"/>
    <p:sldId id="261" r:id="rId10"/>
    <p:sldId id="324" r:id="rId11"/>
    <p:sldId id="341" r:id="rId12"/>
    <p:sldId id="263" r:id="rId13"/>
    <p:sldId id="264" r:id="rId14"/>
    <p:sldId id="309" r:id="rId15"/>
    <p:sldId id="265" r:id="rId16"/>
    <p:sldId id="315" r:id="rId17"/>
    <p:sldId id="320" r:id="rId18"/>
    <p:sldId id="268" r:id="rId19"/>
    <p:sldId id="271" r:id="rId20"/>
    <p:sldId id="298" r:id="rId21"/>
    <p:sldId id="299" r:id="rId22"/>
    <p:sldId id="272" r:id="rId23"/>
    <p:sldId id="338" r:id="rId24"/>
    <p:sldId id="346" r:id="rId25"/>
    <p:sldId id="296" r:id="rId26"/>
    <p:sldId id="345" r:id="rId27"/>
    <p:sldId id="336" r:id="rId28"/>
    <p:sldId id="343" r:id="rId29"/>
    <p:sldId id="278" r:id="rId30"/>
    <p:sldId id="379" r:id="rId31"/>
    <p:sldId id="297" r:id="rId32"/>
    <p:sldId id="351" r:id="rId33"/>
    <p:sldId id="352" r:id="rId34"/>
    <p:sldId id="353" r:id="rId35"/>
    <p:sldId id="354" r:id="rId36"/>
    <p:sldId id="355" r:id="rId37"/>
    <p:sldId id="356" r:id="rId38"/>
    <p:sldId id="357" r:id="rId39"/>
    <p:sldId id="358" r:id="rId40"/>
    <p:sldId id="359" r:id="rId41"/>
    <p:sldId id="360" r:id="rId42"/>
    <p:sldId id="361" r:id="rId43"/>
    <p:sldId id="362" r:id="rId44"/>
    <p:sldId id="363" r:id="rId45"/>
    <p:sldId id="364" r:id="rId46"/>
    <p:sldId id="365" r:id="rId47"/>
    <p:sldId id="366" r:id="rId48"/>
    <p:sldId id="367" r:id="rId49"/>
    <p:sldId id="368" r:id="rId50"/>
    <p:sldId id="369" r:id="rId51"/>
    <p:sldId id="370" r:id="rId52"/>
    <p:sldId id="371" r:id="rId53"/>
    <p:sldId id="372" r:id="rId54"/>
    <p:sldId id="373" r:id="rId55"/>
    <p:sldId id="374" r:id="rId56"/>
    <p:sldId id="375" r:id="rId57"/>
    <p:sldId id="376" r:id="rId58"/>
    <p:sldId id="377" r:id="rId59"/>
  </p:sldIdLst>
  <p:sldSz cx="9144000" cy="6858000" type="screen4x3"/>
  <p:notesSz cx="6858000" cy="9947275"/>
  <p:defaultTextStyle>
    <a:defPPr>
      <a:defRPr lang="en-US"/>
    </a:defPPr>
    <a:lvl1pPr algn="l" rtl="0" eaLnBrk="0" fontAlgn="base" hangingPunct="0">
      <a:spcBef>
        <a:spcPct val="0"/>
      </a:spcBef>
      <a:spcAft>
        <a:spcPct val="0"/>
      </a:spcAft>
      <a:defRPr sz="1400" kern="1200">
        <a:solidFill>
          <a:schemeClr val="tx1"/>
        </a:solidFill>
        <a:latin typeface="Times New Roman" panose="02020603050405020304" pitchFamily="18" charset="0"/>
        <a:ea typeface="楷体_GB2312" pitchFamily="49" charset="-122"/>
        <a:cs typeface="+mn-cs"/>
      </a:defRPr>
    </a:lvl1pPr>
    <a:lvl2pPr marL="457200" algn="l" rtl="0" eaLnBrk="0" fontAlgn="base" hangingPunct="0">
      <a:spcBef>
        <a:spcPct val="0"/>
      </a:spcBef>
      <a:spcAft>
        <a:spcPct val="0"/>
      </a:spcAft>
      <a:defRPr sz="1400" kern="1200">
        <a:solidFill>
          <a:schemeClr val="tx1"/>
        </a:solidFill>
        <a:latin typeface="Times New Roman" panose="02020603050405020304" pitchFamily="18" charset="0"/>
        <a:ea typeface="楷体_GB2312" pitchFamily="49" charset="-122"/>
        <a:cs typeface="+mn-cs"/>
      </a:defRPr>
    </a:lvl2pPr>
    <a:lvl3pPr marL="914400" algn="l" rtl="0" eaLnBrk="0" fontAlgn="base" hangingPunct="0">
      <a:spcBef>
        <a:spcPct val="0"/>
      </a:spcBef>
      <a:spcAft>
        <a:spcPct val="0"/>
      </a:spcAft>
      <a:defRPr sz="1400" kern="1200">
        <a:solidFill>
          <a:schemeClr val="tx1"/>
        </a:solidFill>
        <a:latin typeface="Times New Roman" panose="02020603050405020304" pitchFamily="18" charset="0"/>
        <a:ea typeface="楷体_GB2312" pitchFamily="49" charset="-122"/>
        <a:cs typeface="+mn-cs"/>
      </a:defRPr>
    </a:lvl3pPr>
    <a:lvl4pPr marL="1371600" algn="l" rtl="0" eaLnBrk="0" fontAlgn="base" hangingPunct="0">
      <a:spcBef>
        <a:spcPct val="0"/>
      </a:spcBef>
      <a:spcAft>
        <a:spcPct val="0"/>
      </a:spcAft>
      <a:defRPr sz="1400" kern="1200">
        <a:solidFill>
          <a:schemeClr val="tx1"/>
        </a:solidFill>
        <a:latin typeface="Times New Roman" panose="02020603050405020304" pitchFamily="18" charset="0"/>
        <a:ea typeface="楷体_GB2312" pitchFamily="49" charset="-122"/>
        <a:cs typeface="+mn-cs"/>
      </a:defRPr>
    </a:lvl4pPr>
    <a:lvl5pPr marL="1828800" algn="l" rtl="0" eaLnBrk="0" fontAlgn="base" hangingPunct="0">
      <a:spcBef>
        <a:spcPct val="0"/>
      </a:spcBef>
      <a:spcAft>
        <a:spcPct val="0"/>
      </a:spcAft>
      <a:defRPr sz="1400" kern="1200">
        <a:solidFill>
          <a:schemeClr val="tx1"/>
        </a:solidFill>
        <a:latin typeface="Times New Roman" panose="02020603050405020304" pitchFamily="18" charset="0"/>
        <a:ea typeface="楷体_GB2312" pitchFamily="49" charset="-122"/>
        <a:cs typeface="+mn-cs"/>
      </a:defRPr>
    </a:lvl5pPr>
    <a:lvl6pPr marL="2286000" algn="l" defTabSz="914400" rtl="0" eaLnBrk="1" latinLnBrk="0" hangingPunct="1">
      <a:defRPr sz="1400" kern="1200">
        <a:solidFill>
          <a:schemeClr val="tx1"/>
        </a:solidFill>
        <a:latin typeface="Times New Roman" panose="02020603050405020304" pitchFamily="18" charset="0"/>
        <a:ea typeface="楷体_GB2312" pitchFamily="49" charset="-122"/>
        <a:cs typeface="+mn-cs"/>
      </a:defRPr>
    </a:lvl6pPr>
    <a:lvl7pPr marL="2743200" algn="l" defTabSz="914400" rtl="0" eaLnBrk="1" latinLnBrk="0" hangingPunct="1">
      <a:defRPr sz="1400" kern="1200">
        <a:solidFill>
          <a:schemeClr val="tx1"/>
        </a:solidFill>
        <a:latin typeface="Times New Roman" panose="02020603050405020304" pitchFamily="18" charset="0"/>
        <a:ea typeface="楷体_GB2312" pitchFamily="49" charset="-122"/>
        <a:cs typeface="+mn-cs"/>
      </a:defRPr>
    </a:lvl7pPr>
    <a:lvl8pPr marL="3200400" algn="l" defTabSz="914400" rtl="0" eaLnBrk="1" latinLnBrk="0" hangingPunct="1">
      <a:defRPr sz="1400" kern="1200">
        <a:solidFill>
          <a:schemeClr val="tx1"/>
        </a:solidFill>
        <a:latin typeface="Times New Roman" panose="02020603050405020304" pitchFamily="18" charset="0"/>
        <a:ea typeface="楷体_GB2312" pitchFamily="49" charset="-122"/>
        <a:cs typeface="+mn-cs"/>
      </a:defRPr>
    </a:lvl8pPr>
    <a:lvl9pPr marL="3657600" algn="l" defTabSz="914400" rtl="0" eaLnBrk="1" latinLnBrk="0" hangingPunct="1">
      <a:defRPr sz="1400" kern="1200">
        <a:solidFill>
          <a:schemeClr val="tx1"/>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33">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1464"/>
    <a:srgbClr val="03061F"/>
    <a:srgbClr val="004182"/>
    <a:srgbClr val="2B5681"/>
    <a:srgbClr val="006666"/>
    <a:srgbClr val="669900"/>
    <a:srgbClr val="2E5C8A"/>
    <a:srgbClr val="D71B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830" autoAdjust="0"/>
  </p:normalViewPr>
  <p:slideViewPr>
    <p:cSldViewPr>
      <p:cViewPr varScale="1">
        <p:scale>
          <a:sx n="108" d="100"/>
          <a:sy n="108" d="100"/>
        </p:scale>
        <p:origin x="1704" y="102"/>
      </p:cViewPr>
      <p:guideLst>
        <p:guide orient="horz" pos="2160"/>
        <p:guide pos="2880"/>
      </p:guideLst>
    </p:cSldViewPr>
  </p:slideViewPr>
  <p:outlineViewPr>
    <p:cViewPr>
      <p:scale>
        <a:sx n="33" d="100"/>
        <a:sy n="33" d="100"/>
      </p:scale>
      <p:origin x="0" y="0"/>
    </p:cViewPr>
    <p:sldLst>
      <p:sld r:id="rId1" collapse="1"/>
    </p:sldLst>
  </p:outlineViewPr>
  <p:notesTextViewPr>
    <p:cViewPr>
      <p:scale>
        <a:sx n="75" d="100"/>
        <a:sy n="75" d="100"/>
      </p:scale>
      <p:origin x="0" y="0"/>
    </p:cViewPr>
  </p:notesTextViewPr>
  <p:sorterViewPr>
    <p:cViewPr>
      <p:scale>
        <a:sx n="66" d="100"/>
        <a:sy n="66" d="100"/>
      </p:scale>
      <p:origin x="0" y="612"/>
    </p:cViewPr>
  </p:sorterViewPr>
  <p:notesViewPr>
    <p:cSldViewPr>
      <p:cViewPr varScale="1">
        <p:scale>
          <a:sx n="56" d="100"/>
          <a:sy n="56" d="100"/>
        </p:scale>
        <p:origin x="-1854" y="-96"/>
      </p:cViewPr>
      <p:guideLst>
        <p:guide orient="horz" pos="3133"/>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_rels/viewProps.xml.rels><?xml version="1.0" encoding="UTF-8" standalone="yes"?>
<Relationships xmlns="http://schemas.openxmlformats.org/package/2006/relationships"><Relationship Id="rId1" Type="http://schemas.openxmlformats.org/officeDocument/2006/relationships/slide" Target="slides/slide1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0"/>
            <a:ext cx="2971800" cy="498475"/>
          </a:xfrm>
          <a:prstGeom prst="rect">
            <a:avLst/>
          </a:prstGeom>
          <a:noFill/>
          <a:ln w="9525">
            <a:noFill/>
            <a:miter lim="800000"/>
            <a:headEnd/>
            <a:tailEnd/>
          </a:ln>
          <a:effectLst/>
        </p:spPr>
        <p:txBody>
          <a:bodyPr vert="horz" wrap="square" lIns="91870" tIns="45935" rIns="91870" bIns="45935" numCol="1" anchor="t" anchorCtr="0" compatLnSpc="1">
            <a:prstTxWarp prst="textNoShape">
              <a:avLst/>
            </a:prstTxWarp>
          </a:bodyPr>
          <a:lstStyle>
            <a:lvl1pPr eaLnBrk="1" hangingPunct="1">
              <a:defRPr sz="1200">
                <a:latin typeface="Arial" pitchFamily="34" charset="0"/>
                <a:ea typeface="Gulim" pitchFamily="34" charset="-127"/>
              </a:defRPr>
            </a:lvl1pPr>
          </a:lstStyle>
          <a:p>
            <a:pPr>
              <a:defRPr/>
            </a:pPr>
            <a:endParaRPr lang="en-US" altLang="ko-KR"/>
          </a:p>
        </p:txBody>
      </p:sp>
      <p:sp>
        <p:nvSpPr>
          <p:cNvPr id="77827" name="Rectangle 3"/>
          <p:cNvSpPr>
            <a:spLocks noGrp="1" noChangeArrowheads="1"/>
          </p:cNvSpPr>
          <p:nvPr>
            <p:ph type="dt" sz="quarter" idx="1"/>
          </p:nvPr>
        </p:nvSpPr>
        <p:spPr bwMode="auto">
          <a:xfrm>
            <a:off x="3884613" y="0"/>
            <a:ext cx="2971800" cy="498475"/>
          </a:xfrm>
          <a:prstGeom prst="rect">
            <a:avLst/>
          </a:prstGeom>
          <a:noFill/>
          <a:ln w="9525">
            <a:noFill/>
            <a:miter lim="800000"/>
            <a:headEnd/>
            <a:tailEnd/>
          </a:ln>
          <a:effectLst/>
        </p:spPr>
        <p:txBody>
          <a:bodyPr vert="horz" wrap="square" lIns="91870" tIns="45935" rIns="91870" bIns="45935" numCol="1" anchor="t" anchorCtr="0" compatLnSpc="1">
            <a:prstTxWarp prst="textNoShape">
              <a:avLst/>
            </a:prstTxWarp>
          </a:bodyPr>
          <a:lstStyle>
            <a:lvl1pPr algn="r" eaLnBrk="1" hangingPunct="1">
              <a:defRPr sz="1200">
                <a:latin typeface="Arial" pitchFamily="34" charset="0"/>
                <a:ea typeface="Gulim" pitchFamily="34" charset="-127"/>
              </a:defRPr>
            </a:lvl1pPr>
          </a:lstStyle>
          <a:p>
            <a:pPr>
              <a:defRPr/>
            </a:pPr>
            <a:endParaRPr lang="en-US" altLang="ko-KR"/>
          </a:p>
        </p:txBody>
      </p:sp>
      <p:sp>
        <p:nvSpPr>
          <p:cNvPr id="77828" name="Rectangle 4"/>
          <p:cNvSpPr>
            <a:spLocks noGrp="1" noChangeArrowheads="1"/>
          </p:cNvSpPr>
          <p:nvPr>
            <p:ph type="ftr" sz="quarter" idx="2"/>
          </p:nvPr>
        </p:nvSpPr>
        <p:spPr bwMode="auto">
          <a:xfrm>
            <a:off x="0" y="9447213"/>
            <a:ext cx="2971800" cy="498475"/>
          </a:xfrm>
          <a:prstGeom prst="rect">
            <a:avLst/>
          </a:prstGeom>
          <a:noFill/>
          <a:ln w="9525">
            <a:noFill/>
            <a:miter lim="800000"/>
            <a:headEnd/>
            <a:tailEnd/>
          </a:ln>
          <a:effectLst/>
        </p:spPr>
        <p:txBody>
          <a:bodyPr vert="horz" wrap="square" lIns="91870" tIns="45935" rIns="91870" bIns="45935" numCol="1" anchor="b" anchorCtr="0" compatLnSpc="1">
            <a:prstTxWarp prst="textNoShape">
              <a:avLst/>
            </a:prstTxWarp>
          </a:bodyPr>
          <a:lstStyle>
            <a:lvl1pPr eaLnBrk="1" hangingPunct="1">
              <a:defRPr sz="1200">
                <a:latin typeface="Arial" pitchFamily="34" charset="0"/>
                <a:ea typeface="Gulim" pitchFamily="34" charset="-127"/>
              </a:defRPr>
            </a:lvl1pPr>
          </a:lstStyle>
          <a:p>
            <a:pPr>
              <a:defRPr/>
            </a:pPr>
            <a:endParaRPr lang="en-US" altLang="ko-KR"/>
          </a:p>
        </p:txBody>
      </p:sp>
      <p:sp>
        <p:nvSpPr>
          <p:cNvPr id="77829" name="Rectangle 5"/>
          <p:cNvSpPr>
            <a:spLocks noGrp="1" noChangeArrowheads="1"/>
          </p:cNvSpPr>
          <p:nvPr>
            <p:ph type="sldNum" sz="quarter" idx="3"/>
          </p:nvPr>
        </p:nvSpPr>
        <p:spPr bwMode="auto">
          <a:xfrm>
            <a:off x="3884613" y="9447213"/>
            <a:ext cx="2971800" cy="498475"/>
          </a:xfrm>
          <a:prstGeom prst="rect">
            <a:avLst/>
          </a:prstGeom>
          <a:noFill/>
          <a:ln w="9525">
            <a:noFill/>
            <a:miter lim="800000"/>
            <a:headEnd/>
            <a:tailEnd/>
          </a:ln>
          <a:effectLst/>
        </p:spPr>
        <p:txBody>
          <a:bodyPr vert="horz" wrap="square" lIns="91870" tIns="45935" rIns="91870" bIns="45935" numCol="1" anchor="b" anchorCtr="0" compatLnSpc="1">
            <a:prstTxWarp prst="textNoShape">
              <a:avLst/>
            </a:prstTxWarp>
          </a:bodyPr>
          <a:lstStyle>
            <a:lvl1pPr algn="r" eaLnBrk="1" hangingPunct="1">
              <a:defRPr sz="1200">
                <a:latin typeface="Arial" panose="020B0604020202020204" pitchFamily="34" charset="0"/>
                <a:ea typeface="Gulim" panose="020B0600000101010101" pitchFamily="34" charset="-127"/>
              </a:defRPr>
            </a:lvl1pPr>
          </a:lstStyle>
          <a:p>
            <a:pPr>
              <a:defRPr/>
            </a:pPr>
            <a:fld id="{E0C87C7D-D4D7-40B4-B43C-BA54D88591CD}" type="slidenum">
              <a:rPr lang="ko-KR" altLang="en-US"/>
              <a:pPr>
                <a:defRPr/>
              </a:pPr>
              <a:t>‹#›</a:t>
            </a:fld>
            <a:endParaRPr lang="en-US" altLang="ko-K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1138" name="Rectangle 2"/>
          <p:cNvSpPr>
            <a:spLocks noGrp="1" noChangeArrowheads="1"/>
          </p:cNvSpPr>
          <p:nvPr>
            <p:ph type="hdr" sz="quarter"/>
          </p:nvPr>
        </p:nvSpPr>
        <p:spPr bwMode="auto">
          <a:xfrm>
            <a:off x="0" y="0"/>
            <a:ext cx="2971800" cy="498475"/>
          </a:xfrm>
          <a:prstGeom prst="rect">
            <a:avLst/>
          </a:prstGeom>
          <a:noFill/>
          <a:ln w="9525">
            <a:noFill/>
            <a:miter lim="800000"/>
            <a:headEnd/>
            <a:tailEnd/>
          </a:ln>
          <a:effectLst/>
        </p:spPr>
        <p:txBody>
          <a:bodyPr vert="horz" wrap="square" lIns="91870" tIns="45935" rIns="91870" bIns="45935" numCol="1" anchor="t" anchorCtr="0" compatLnSpc="1">
            <a:prstTxWarp prst="textNoShape">
              <a:avLst/>
            </a:prstTxWarp>
          </a:bodyPr>
          <a:lstStyle>
            <a:lvl1pPr eaLnBrk="1" hangingPunct="1">
              <a:defRPr sz="1200">
                <a:latin typeface="Arial" charset="0"/>
                <a:ea typeface="宋体" pitchFamily="2" charset="-122"/>
              </a:defRPr>
            </a:lvl1pPr>
          </a:lstStyle>
          <a:p>
            <a:pPr>
              <a:defRPr/>
            </a:pPr>
            <a:endParaRPr lang="zh-CN" altLang="en-US"/>
          </a:p>
        </p:txBody>
      </p:sp>
      <p:sp>
        <p:nvSpPr>
          <p:cNvPr id="91139" name="Rectangle 3"/>
          <p:cNvSpPr>
            <a:spLocks noGrp="1" noChangeArrowheads="1"/>
          </p:cNvSpPr>
          <p:nvPr>
            <p:ph type="dt" idx="1"/>
          </p:nvPr>
        </p:nvSpPr>
        <p:spPr bwMode="auto">
          <a:xfrm>
            <a:off x="3884613" y="0"/>
            <a:ext cx="2971800" cy="498475"/>
          </a:xfrm>
          <a:prstGeom prst="rect">
            <a:avLst/>
          </a:prstGeom>
          <a:noFill/>
          <a:ln w="9525">
            <a:noFill/>
            <a:miter lim="800000"/>
            <a:headEnd/>
            <a:tailEnd/>
          </a:ln>
          <a:effectLst/>
        </p:spPr>
        <p:txBody>
          <a:bodyPr vert="horz" wrap="square" lIns="91870" tIns="45935" rIns="91870" bIns="45935" numCol="1" anchor="t" anchorCtr="0" compatLnSpc="1">
            <a:prstTxWarp prst="textNoShape">
              <a:avLst/>
            </a:prstTxWarp>
          </a:bodyPr>
          <a:lstStyle>
            <a:lvl1pPr algn="r" eaLnBrk="1" hangingPunct="1">
              <a:defRPr sz="1200">
                <a:latin typeface="Arial" charset="0"/>
                <a:ea typeface="宋体" pitchFamily="2" charset="-122"/>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42975" y="746125"/>
            <a:ext cx="4972050" cy="37290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41" name="Rectangle 5"/>
          <p:cNvSpPr>
            <a:spLocks noGrp="1" noChangeArrowheads="1"/>
          </p:cNvSpPr>
          <p:nvPr>
            <p:ph type="body" sz="quarter" idx="3"/>
          </p:nvPr>
        </p:nvSpPr>
        <p:spPr bwMode="auto">
          <a:xfrm>
            <a:off x="685800" y="4725988"/>
            <a:ext cx="5486400" cy="4475162"/>
          </a:xfrm>
          <a:prstGeom prst="rect">
            <a:avLst/>
          </a:prstGeom>
          <a:noFill/>
          <a:ln w="9525">
            <a:noFill/>
            <a:miter lim="800000"/>
            <a:headEnd/>
            <a:tailEnd/>
          </a:ln>
          <a:effectLst/>
        </p:spPr>
        <p:txBody>
          <a:bodyPr vert="horz" wrap="square" lIns="91870" tIns="45935" rIns="91870" bIns="45935"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91142" name="Rectangle 6"/>
          <p:cNvSpPr>
            <a:spLocks noGrp="1" noChangeArrowheads="1"/>
          </p:cNvSpPr>
          <p:nvPr>
            <p:ph type="ftr" sz="quarter" idx="4"/>
          </p:nvPr>
        </p:nvSpPr>
        <p:spPr bwMode="auto">
          <a:xfrm>
            <a:off x="0" y="9447213"/>
            <a:ext cx="2971800" cy="498475"/>
          </a:xfrm>
          <a:prstGeom prst="rect">
            <a:avLst/>
          </a:prstGeom>
          <a:noFill/>
          <a:ln w="9525">
            <a:noFill/>
            <a:miter lim="800000"/>
            <a:headEnd/>
            <a:tailEnd/>
          </a:ln>
          <a:effectLst/>
        </p:spPr>
        <p:txBody>
          <a:bodyPr vert="horz" wrap="square" lIns="91870" tIns="45935" rIns="91870" bIns="45935" numCol="1" anchor="b"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
        <p:nvSpPr>
          <p:cNvPr id="91143" name="Rectangle 7"/>
          <p:cNvSpPr>
            <a:spLocks noGrp="1" noChangeArrowheads="1"/>
          </p:cNvSpPr>
          <p:nvPr>
            <p:ph type="sldNum" sz="quarter" idx="5"/>
          </p:nvPr>
        </p:nvSpPr>
        <p:spPr bwMode="auto">
          <a:xfrm>
            <a:off x="3884613" y="9447213"/>
            <a:ext cx="2971800" cy="498475"/>
          </a:xfrm>
          <a:prstGeom prst="rect">
            <a:avLst/>
          </a:prstGeom>
          <a:noFill/>
          <a:ln w="9525">
            <a:noFill/>
            <a:miter lim="800000"/>
            <a:headEnd/>
            <a:tailEnd/>
          </a:ln>
          <a:effectLst/>
        </p:spPr>
        <p:txBody>
          <a:bodyPr vert="horz" wrap="square" lIns="91870" tIns="45935" rIns="91870" bIns="45935" numCol="1" anchor="b" anchorCtr="0" compatLnSpc="1">
            <a:prstTxWarp prst="textNoShape">
              <a:avLst/>
            </a:prstTxWarp>
          </a:bodyPr>
          <a:lstStyle>
            <a:lvl1pPr algn="r" eaLnBrk="1" hangingPunct="1">
              <a:defRPr sz="1200">
                <a:latin typeface="Arial" panose="020B0604020202020204" pitchFamily="34" charset="0"/>
                <a:ea typeface="宋体" panose="02010600030101010101" pitchFamily="2" charset="-122"/>
              </a:defRPr>
            </a:lvl1pPr>
          </a:lstStyle>
          <a:p>
            <a:pPr>
              <a:defRPr/>
            </a:pPr>
            <a:fld id="{63F432EE-8B80-49FD-ABD5-01639251BD04}"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Gulim" pitchFamily="34" charset="-127"/>
        <a:ea typeface="Gulim" pitchFamily="34" charset="-127"/>
        <a:cs typeface="+mn-cs"/>
      </a:defRPr>
    </a:lvl1pPr>
    <a:lvl2pPr marL="457200" algn="l" rtl="0" eaLnBrk="0" fontAlgn="base" latinLnBrk="1" hangingPunct="0">
      <a:spcBef>
        <a:spcPct val="30000"/>
      </a:spcBef>
      <a:spcAft>
        <a:spcPct val="0"/>
      </a:spcAft>
      <a:defRPr kumimoji="1" sz="1200" kern="1200">
        <a:solidFill>
          <a:schemeClr val="tx1"/>
        </a:solidFill>
        <a:latin typeface="Gulim" pitchFamily="34" charset="-127"/>
        <a:ea typeface="Gulim" pitchFamily="34" charset="-127"/>
        <a:cs typeface="+mn-cs"/>
      </a:defRPr>
    </a:lvl2pPr>
    <a:lvl3pPr marL="914400" algn="l" rtl="0" eaLnBrk="0" fontAlgn="base" latinLnBrk="1" hangingPunct="0">
      <a:spcBef>
        <a:spcPct val="30000"/>
      </a:spcBef>
      <a:spcAft>
        <a:spcPct val="0"/>
      </a:spcAft>
      <a:defRPr kumimoji="1" sz="1200" kern="1200">
        <a:solidFill>
          <a:schemeClr val="tx1"/>
        </a:solidFill>
        <a:latin typeface="Gulim" pitchFamily="34" charset="-127"/>
        <a:ea typeface="Gulim" pitchFamily="34" charset="-127"/>
        <a:cs typeface="+mn-cs"/>
      </a:defRPr>
    </a:lvl3pPr>
    <a:lvl4pPr marL="1371600" algn="l" rtl="0" eaLnBrk="0" fontAlgn="base" latinLnBrk="1" hangingPunct="0">
      <a:spcBef>
        <a:spcPct val="30000"/>
      </a:spcBef>
      <a:spcAft>
        <a:spcPct val="0"/>
      </a:spcAft>
      <a:defRPr kumimoji="1" sz="1200" kern="1200">
        <a:solidFill>
          <a:schemeClr val="tx1"/>
        </a:solidFill>
        <a:latin typeface="Gulim" pitchFamily="34" charset="-127"/>
        <a:ea typeface="Gulim" pitchFamily="34" charset="-127"/>
        <a:cs typeface="+mn-cs"/>
      </a:defRPr>
    </a:lvl4pPr>
    <a:lvl5pPr marL="1828800" algn="l" rtl="0" eaLnBrk="0" fontAlgn="base" latinLnBrk="1" hangingPunct="0">
      <a:spcBef>
        <a:spcPct val="30000"/>
      </a:spcBef>
      <a:spcAft>
        <a:spcPct val="0"/>
      </a:spcAft>
      <a:defRPr kumimoji="1" sz="1200" kern="1200">
        <a:solidFill>
          <a:schemeClr val="tx1"/>
        </a:solidFill>
        <a:latin typeface="Gulim" pitchFamily="34" charset="-127"/>
        <a:ea typeface="Gulim" pitchFamily="34" charset="-127"/>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8943E8DB-6D18-464E-B67D-00092948D913}" type="slidenum">
              <a:rPr lang="zh-CN" altLang="en-US" sz="1200" smtClean="0">
                <a:latin typeface="Arial" panose="020B0604020202020204" pitchFamily="34" charset="0"/>
                <a:ea typeface="宋体" panose="02010600030101010101" pitchFamily="2" charset="-122"/>
              </a:rPr>
              <a:pPr/>
              <a:t>1</a:t>
            </a:fld>
            <a:endParaRPr lang="en-US" altLang="zh-CN" sz="1200">
              <a:latin typeface="Arial" panose="020B0604020202020204" pitchFamily="34" charset="0"/>
              <a:ea typeface="宋体" panose="02010600030101010101" pitchFamily="2" charset="-122"/>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总体介绍</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CEDBB415-F4A1-4F97-B752-B689B68E138F}" type="slidenum">
              <a:rPr lang="zh-CN" altLang="en-US" sz="1200" smtClean="0">
                <a:latin typeface="Arial" panose="020B0604020202020204" pitchFamily="34" charset="0"/>
                <a:ea typeface="宋体" panose="02010600030101010101" pitchFamily="2" charset="-122"/>
              </a:rPr>
              <a:pPr/>
              <a:t>2</a:t>
            </a:fld>
            <a:endParaRPr lang="en-US" altLang="zh-CN" sz="1200">
              <a:latin typeface="Arial" panose="020B0604020202020204" pitchFamily="34" charset="0"/>
              <a:ea typeface="宋体" panose="02010600030101010101" pitchFamily="2" charset="-122"/>
            </a:endParaRPr>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总体介绍</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9F5B88BB-CF4D-4592-8934-F53C205496F6}" type="slidenum">
              <a:rPr lang="zh-CN" altLang="en-US" sz="1200" smtClean="0">
                <a:latin typeface="Arial" panose="020B0604020202020204" pitchFamily="34" charset="0"/>
                <a:ea typeface="宋体" panose="02010600030101010101" pitchFamily="2" charset="-122"/>
              </a:rPr>
              <a:pPr/>
              <a:t>3</a:t>
            </a:fld>
            <a:endParaRPr lang="en-US" altLang="zh-CN" sz="1200">
              <a:latin typeface="Arial" panose="020B0604020202020204" pitchFamily="34" charset="0"/>
              <a:ea typeface="宋体" panose="02010600030101010101" pitchFamily="2" charset="-122"/>
            </a:endParaRPr>
          </a:p>
        </p:txBody>
      </p:sp>
      <p:sp>
        <p:nvSpPr>
          <p:cNvPr id="7" name="Rectangle 7"/>
          <p:cNvSpPr txBox="1">
            <a:spLocks noGrp="1" noChangeArrowheads="1"/>
          </p:cNvSpPr>
          <p:nvPr/>
        </p:nvSpPr>
        <p:spPr bwMode="auto">
          <a:xfrm>
            <a:off x="3886200" y="9448800"/>
            <a:ext cx="2971800" cy="498475"/>
          </a:xfrm>
          <a:prstGeom prst="rect">
            <a:avLst/>
          </a:prstGeom>
          <a:noFill/>
          <a:ln>
            <a:miter lim="800000"/>
            <a:headEnd/>
            <a:tailEnd/>
          </a:ln>
        </p:spPr>
        <p:txBody>
          <a:bodyPr lIns="91870" tIns="45935" rIns="91870" bIns="45935" anchor="b"/>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pPr algn="r" eaLnBrk="1" hangingPunct="1">
              <a:defRPr/>
            </a:pPr>
            <a:fld id="{8FF8474C-4B20-4A33-9037-7CED90FAFA87}" type="slidenum">
              <a:rPr lang="en-US" altLang="zh-CN" sz="1200" smtClean="0">
                <a:effectLst>
                  <a:outerShdw blurRad="38100" dist="38100" dir="2700000" algn="tl">
                    <a:srgbClr val="C0C0C0"/>
                  </a:outerShdw>
                </a:effectLst>
                <a:latin typeface="Verdana" panose="020B0604030504040204" pitchFamily="34" charset="0"/>
                <a:ea typeface="宋体" panose="02010600030101010101" pitchFamily="2" charset="-122"/>
              </a:rPr>
              <a:pPr algn="r" eaLnBrk="1" hangingPunct="1">
                <a:defRPr/>
              </a:pPr>
              <a:t>3</a:t>
            </a:fld>
            <a:endParaRPr lang="en-US" altLang="zh-CN" sz="1200">
              <a:effectLst>
                <a:outerShdw blurRad="38100" dist="38100" dir="2700000" algn="tl">
                  <a:srgbClr val="C0C0C0"/>
                </a:outerShdw>
              </a:effectLst>
              <a:latin typeface="Verdana" panose="020B0604030504040204" pitchFamily="34" charset="0"/>
              <a:ea typeface="宋体" panose="02010600030101010101" pitchFamily="2" charset="-122"/>
            </a:endParaRPr>
          </a:p>
        </p:txBody>
      </p:sp>
      <p:sp>
        <p:nvSpPr>
          <p:cNvPr id="10244" name="Rectangle 2"/>
          <p:cNvSpPr>
            <a:spLocks noGrp="1" noRot="1" noChangeAspect="1" noChangeArrowheads="1" noTextEdit="1"/>
          </p:cNvSpPr>
          <p:nvPr>
            <p:ph type="sldImg"/>
          </p:nvPr>
        </p:nvSpPr>
        <p:spPr>
          <a:ln/>
        </p:spPr>
      </p:sp>
      <p:sp>
        <p:nvSpPr>
          <p:cNvPr id="10245" name="Rectangle 3"/>
          <p:cNvSpPr>
            <a:spLocks noGrp="1" noChangeArrowheads="1"/>
          </p:cNvSpPr>
          <p:nvPr>
            <p:ph type="body" idx="1"/>
          </p:nvPr>
        </p:nvSpPr>
        <p:spPr>
          <a:xfrm>
            <a:off x="914400" y="4725988"/>
            <a:ext cx="5029200" cy="44751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2A32B34A-E491-4A82-ADF0-54CDA97F2AD2}" type="slidenum">
              <a:rPr lang="zh-CN" altLang="en-US" sz="1200" smtClean="0">
                <a:latin typeface="Arial" panose="020B0604020202020204" pitchFamily="34" charset="0"/>
                <a:ea typeface="宋体" panose="02010600030101010101" pitchFamily="2" charset="-122"/>
              </a:rPr>
              <a:pPr/>
              <a:t>4</a:t>
            </a:fld>
            <a:endParaRPr lang="en-US" altLang="zh-CN" sz="1200">
              <a:latin typeface="Arial" panose="020B0604020202020204" pitchFamily="34" charset="0"/>
              <a:ea typeface="宋体" panose="02010600030101010101" pitchFamily="2" charset="-122"/>
            </a:endParaRPr>
          </a:p>
        </p:txBody>
      </p:sp>
      <p:sp>
        <p:nvSpPr>
          <p:cNvPr id="12291" name="Rectangle 2"/>
          <p:cNvSpPr>
            <a:spLocks noChangeArrowheads="1"/>
          </p:cNvSpPr>
          <p:nvPr/>
        </p:nvSpPr>
        <p:spPr bwMode="auto">
          <a:xfrm>
            <a:off x="5784850" y="9407525"/>
            <a:ext cx="803275"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139" tIns="0" rIns="19139" bIns="0" anchor="b"/>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pPr algn="r"/>
            <a:r>
              <a:rPr lang="zh-CN" altLang="en-US" sz="800">
                <a:latin typeface="Arial" panose="020B0604020202020204" pitchFamily="34" charset="0"/>
                <a:ea typeface="宋体" panose="02010600030101010101" pitchFamily="2" charset="-122"/>
              </a:rPr>
              <a:t>9</a:t>
            </a:r>
          </a:p>
        </p:txBody>
      </p:sp>
      <p:sp>
        <p:nvSpPr>
          <p:cNvPr id="12292" name="Rectangle 3"/>
          <p:cNvSpPr>
            <a:spLocks noGrp="1" noRot="1" noChangeAspect="1" noChangeArrowheads="1" noTextEdit="1"/>
          </p:cNvSpPr>
          <p:nvPr>
            <p:ph type="sldImg"/>
          </p:nvPr>
        </p:nvSpPr>
        <p:spPr>
          <a:ln w="12700" cap="flat">
            <a:solidFill>
              <a:schemeClr val="tx1"/>
            </a:solidFill>
          </a:ln>
        </p:spPr>
      </p:sp>
      <p:sp>
        <p:nvSpPr>
          <p:cNvPr id="12293" name="Rectangle 4"/>
          <p:cNvSpPr>
            <a:spLocks noGrp="1" noChangeArrowheads="1"/>
          </p:cNvSpPr>
          <p:nvPr>
            <p:ph type="body" idx="1"/>
          </p:nvPr>
        </p:nvSpPr>
        <p:spPr>
          <a:xfrm>
            <a:off x="374650" y="4811713"/>
            <a:ext cx="5984875" cy="48371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GB" sz="28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a:ln/>
        </p:spPr>
      </p:sp>
      <p:sp>
        <p:nvSpPr>
          <p:cNvPr id="143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zh-CN" altLang="en-US" sz="1200" b="1" i="0" kern="1200" dirty="0">
                <a:solidFill>
                  <a:schemeClr val="tx1"/>
                </a:solidFill>
                <a:effectLst/>
                <a:latin typeface="Gulim" pitchFamily="34" charset="-127"/>
                <a:ea typeface="Gulim" pitchFamily="34" charset="-127"/>
                <a:cs typeface="+mn-cs"/>
              </a:rPr>
              <a:t>正如人们所期待的那样，</a:t>
            </a:r>
            <a:r>
              <a:rPr kumimoji="1" lang="en-US" altLang="zh-CN" sz="1200" b="1" i="0" kern="1200" dirty="0">
                <a:solidFill>
                  <a:schemeClr val="tx1"/>
                </a:solidFill>
                <a:effectLst/>
                <a:latin typeface="Gulim" pitchFamily="34" charset="-127"/>
                <a:ea typeface="Gulim" pitchFamily="34" charset="-127"/>
                <a:cs typeface="+mn-cs"/>
              </a:rPr>
              <a:t>Linus Torvalds</a:t>
            </a:r>
            <a:r>
              <a:rPr kumimoji="1" lang="zh-CN" altLang="en-US" sz="1200" b="1" i="0" kern="1200" dirty="0">
                <a:solidFill>
                  <a:schemeClr val="tx1"/>
                </a:solidFill>
                <a:effectLst/>
                <a:latin typeface="Gulim" pitchFamily="34" charset="-127"/>
                <a:ea typeface="Gulim" pitchFamily="34" charset="-127"/>
                <a:cs typeface="+mn-cs"/>
              </a:rPr>
              <a:t>今天正式发布了</a:t>
            </a:r>
            <a:r>
              <a:rPr kumimoji="1" lang="en-US" altLang="zh-CN" sz="1200" b="1" i="0" kern="1200" dirty="0">
                <a:solidFill>
                  <a:schemeClr val="tx1"/>
                </a:solidFill>
                <a:effectLst/>
                <a:latin typeface="Gulim" pitchFamily="34" charset="-127"/>
                <a:ea typeface="Gulim" pitchFamily="34" charset="-127"/>
                <a:cs typeface="+mn-cs"/>
              </a:rPr>
              <a:t>Linux 5.10</a:t>
            </a:r>
            <a:r>
              <a:rPr kumimoji="1" lang="zh-CN" altLang="en-US" sz="1200" b="1" i="0" kern="1200" dirty="0">
                <a:solidFill>
                  <a:schemeClr val="tx1"/>
                </a:solidFill>
                <a:effectLst/>
                <a:latin typeface="Gulim" pitchFamily="34" charset="-127"/>
                <a:ea typeface="Gulim" pitchFamily="34" charset="-127"/>
                <a:cs typeface="+mn-cs"/>
              </a:rPr>
              <a:t>。</a:t>
            </a:r>
            <a:r>
              <a:rPr kumimoji="1" lang="zh-CN" altLang="en-US" sz="1200" b="0" i="0" kern="1200" dirty="0">
                <a:solidFill>
                  <a:schemeClr val="tx1"/>
                </a:solidFill>
                <a:effectLst/>
                <a:latin typeface="Gulim" pitchFamily="34" charset="-127"/>
                <a:ea typeface="Gulim" pitchFamily="34" charset="-127"/>
                <a:cs typeface="+mn-cs"/>
              </a:rPr>
              <a:t>除了是</a:t>
            </a:r>
            <a:r>
              <a:rPr kumimoji="1" lang="en-US" altLang="zh-CN" sz="1200" b="0" i="0" kern="1200" dirty="0">
                <a:solidFill>
                  <a:schemeClr val="tx1"/>
                </a:solidFill>
                <a:effectLst/>
                <a:latin typeface="Gulim" pitchFamily="34" charset="-127"/>
                <a:ea typeface="Gulim" pitchFamily="34" charset="-127"/>
                <a:cs typeface="+mn-cs"/>
              </a:rPr>
              <a:t>2020</a:t>
            </a:r>
            <a:r>
              <a:rPr kumimoji="1" lang="zh-CN" altLang="en-US" sz="1200" b="0" i="0" kern="1200" dirty="0">
                <a:solidFill>
                  <a:schemeClr val="tx1"/>
                </a:solidFill>
                <a:effectLst/>
                <a:latin typeface="Gulim" pitchFamily="34" charset="-127"/>
                <a:ea typeface="Gulim" pitchFamily="34" charset="-127"/>
                <a:cs typeface="+mn-cs"/>
              </a:rPr>
              <a:t>年的最后一个内核发布，这也是一个重要的里程碑，因为它是一个至少要维护五年的长期支持（</a:t>
            </a:r>
            <a:r>
              <a:rPr kumimoji="1" lang="en-US" altLang="zh-CN" sz="1200" b="0" i="0" kern="1200" dirty="0">
                <a:solidFill>
                  <a:schemeClr val="tx1"/>
                </a:solidFill>
                <a:effectLst/>
                <a:latin typeface="Gulim" pitchFamily="34" charset="-127"/>
                <a:ea typeface="Gulim" pitchFamily="34" charset="-127"/>
                <a:cs typeface="+mn-cs"/>
              </a:rPr>
              <a:t>LTS</a:t>
            </a:r>
            <a:r>
              <a:rPr kumimoji="1" lang="zh-CN" altLang="en-US" sz="1200" b="0" i="0" kern="1200" dirty="0">
                <a:solidFill>
                  <a:schemeClr val="tx1"/>
                </a:solidFill>
                <a:effectLst/>
                <a:latin typeface="Gulim" pitchFamily="34" charset="-127"/>
                <a:ea typeface="Gulim" pitchFamily="34" charset="-127"/>
                <a:cs typeface="+mn-cs"/>
              </a:rPr>
              <a:t>）内核，同时功能上也是一个大范围的内核更新，带来了许多改进。</a:t>
            </a:r>
            <a:endParaRPr lang="zh-CN" altLang="en-US" dirty="0"/>
          </a:p>
        </p:txBody>
      </p:sp>
      <p:sp>
        <p:nvSpPr>
          <p:cNvPr id="143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52DADD3C-669D-4FDD-9AF9-E932233F2056}" type="slidenum">
              <a:rPr lang="zh-CN" altLang="en-US" sz="1200" smtClean="0">
                <a:latin typeface="Arial" panose="020B0604020202020204" pitchFamily="34" charset="0"/>
                <a:ea typeface="宋体" panose="02010600030101010101" pitchFamily="2" charset="-122"/>
              </a:rPr>
              <a:pPr/>
              <a:t>5</a:t>
            </a:fld>
            <a:endParaRPr lang="en-US" altLang="zh-CN" sz="1200">
              <a:latin typeface="Arial" panose="020B060402020202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B65EC66C-6E5B-47DA-978F-2445245BDAF0}" type="slidenum">
              <a:rPr lang="zh-CN" altLang="en-US" sz="1200" smtClean="0">
                <a:latin typeface="Arial" panose="020B0604020202020204" pitchFamily="34" charset="0"/>
                <a:ea typeface="宋体" panose="02010600030101010101" pitchFamily="2" charset="-122"/>
              </a:rPr>
              <a:pPr/>
              <a:t>6</a:t>
            </a:fld>
            <a:endParaRPr lang="en-US" altLang="zh-CN" sz="1200">
              <a:latin typeface="Arial" panose="020B0604020202020204" pitchFamily="34" charset="0"/>
              <a:ea typeface="宋体" panose="02010600030101010101" pitchFamily="2" charset="-122"/>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7331CAB3-5BDA-4109-9A9C-4D4EFE264BE7}" type="slidenum">
              <a:rPr lang="zh-CN" altLang="en-US" sz="1200" smtClean="0">
                <a:latin typeface="Arial" panose="020B0604020202020204" pitchFamily="34" charset="0"/>
                <a:ea typeface="宋体" panose="02010600030101010101" pitchFamily="2" charset="-122"/>
              </a:rPr>
              <a:pPr/>
              <a:t>7</a:t>
            </a:fld>
            <a:endParaRPr lang="en-US" altLang="zh-CN" sz="1200">
              <a:latin typeface="Arial" panose="020B0604020202020204" pitchFamily="34" charset="0"/>
              <a:ea typeface="宋体" panose="02010600030101010101" pitchFamily="2" charset="-122"/>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08BE3FE2-A22C-4DF6-BD08-5C09E6F160B2}" type="slidenum">
              <a:rPr lang="zh-CN" altLang="en-US" sz="1200" smtClean="0">
                <a:latin typeface="Arial" panose="020B0604020202020204" pitchFamily="34" charset="0"/>
                <a:ea typeface="宋体" panose="02010600030101010101" pitchFamily="2" charset="-122"/>
              </a:rPr>
              <a:pPr/>
              <a:t>8</a:t>
            </a:fld>
            <a:endParaRPr lang="en-US" altLang="zh-CN" sz="1200">
              <a:latin typeface="Arial" panose="020B0604020202020204" pitchFamily="34" charset="0"/>
              <a:ea typeface="宋体" panose="02010600030101010101" pitchFamily="2" charset="-122"/>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它的发音为“</a:t>
            </a:r>
            <a:r>
              <a:rPr lang="en-US" altLang="zh-CN"/>
              <a:t>guh-NEW”</a:t>
            </a:r>
            <a:r>
              <a:rPr lang="zh-CN" altLang="en-US"/>
              <a:t>，又称革奴计划</a:t>
            </a:r>
            <a:endParaRPr lang="en-US" altLang="zh-CN"/>
          </a:p>
          <a:p>
            <a:pPr eaLnBrk="1" hangingPunct="1"/>
            <a:r>
              <a:rPr lang="zh-CN" altLang="en-US"/>
              <a:t>为保证</a:t>
            </a:r>
            <a:r>
              <a:rPr lang="en-US" altLang="zh-CN"/>
              <a:t>GNU</a:t>
            </a:r>
            <a:r>
              <a:rPr lang="zh-CN" altLang="en-US"/>
              <a:t>软件可以自由地“使用、复制、修改和发布”，所有</a:t>
            </a:r>
            <a:r>
              <a:rPr lang="en-US" altLang="zh-CN"/>
              <a:t>GNU</a:t>
            </a:r>
            <a:r>
              <a:rPr lang="zh-CN" altLang="en-US"/>
              <a:t>软件都在一份在禁止其他人添加任何限制的情况下授权所有权利给任何人的协议条款，</a:t>
            </a:r>
            <a:r>
              <a:rPr lang="en-US" altLang="zh-CN"/>
              <a:t>GNU</a:t>
            </a:r>
            <a:r>
              <a:rPr lang="zh-CN" altLang="en-US"/>
              <a:t>通用公共许可证（</a:t>
            </a:r>
            <a:r>
              <a:rPr lang="en-US" altLang="zh-CN"/>
              <a:t>GNU General Public License</a:t>
            </a:r>
            <a:r>
              <a:rPr lang="zh-CN" altLang="en-US"/>
              <a:t>，</a:t>
            </a:r>
            <a:r>
              <a:rPr lang="en-US" altLang="zh-CN"/>
              <a:t>GPL</a:t>
            </a:r>
            <a:r>
              <a:rPr lang="zh-CN" altLang="en-US"/>
              <a:t>）。这个就是被称为“反版权”（或称</a:t>
            </a:r>
            <a:r>
              <a:rPr lang="en-US" altLang="zh-CN"/>
              <a:t>Copyleft</a:t>
            </a:r>
            <a:r>
              <a:rPr lang="zh-CN" altLang="en-US"/>
              <a:t>）的概念。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a:ln/>
        </p:spPr>
      </p:sp>
      <p:sp>
        <p:nvSpPr>
          <p:cNvPr id="235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35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6F7F3BC2-082F-4F99-9FDF-0211D1FCD3A3}" type="slidenum">
              <a:rPr lang="zh-CN" altLang="en-US" sz="1200" smtClean="0">
                <a:latin typeface="Arial" panose="020B0604020202020204" pitchFamily="34" charset="0"/>
                <a:ea typeface="宋体" panose="02010600030101010101" pitchFamily="2" charset="-122"/>
              </a:rPr>
              <a:pPr/>
              <a:t>9</a:t>
            </a:fld>
            <a:endParaRPr lang="en-US" altLang="zh-CN" sz="1200">
              <a:latin typeface="Arial" panose="020B060402020202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BA506CD3-532A-43EF-AFD0-B2E8BBE2DAA5}" type="slidenum">
              <a:rPr lang="zh-CN" altLang="en-US" sz="1200" smtClean="0">
                <a:latin typeface="Arial" panose="020B0604020202020204" pitchFamily="34" charset="0"/>
                <a:ea typeface="宋体" panose="02010600030101010101" pitchFamily="2" charset="-122"/>
              </a:rPr>
              <a:pPr/>
              <a:t>12</a:t>
            </a:fld>
            <a:endParaRPr lang="en-US" altLang="zh-CN" sz="1200">
              <a:latin typeface="Arial" panose="020B0604020202020204" pitchFamily="34" charset="0"/>
              <a:ea typeface="宋体" panose="02010600030101010101" pitchFamily="2" charset="-122"/>
            </a:endParaRPr>
          </a:p>
        </p:txBody>
      </p:sp>
      <p:sp>
        <p:nvSpPr>
          <p:cNvPr id="7" name="Rectangle 7"/>
          <p:cNvSpPr txBox="1">
            <a:spLocks noGrp="1" noChangeArrowheads="1"/>
          </p:cNvSpPr>
          <p:nvPr/>
        </p:nvSpPr>
        <p:spPr bwMode="auto">
          <a:xfrm>
            <a:off x="3886200" y="9448800"/>
            <a:ext cx="2971800" cy="498475"/>
          </a:xfrm>
          <a:prstGeom prst="rect">
            <a:avLst/>
          </a:prstGeom>
          <a:noFill/>
          <a:ln>
            <a:miter lim="800000"/>
            <a:headEnd/>
            <a:tailEnd/>
          </a:ln>
        </p:spPr>
        <p:txBody>
          <a:bodyPr lIns="91870" tIns="45935" rIns="91870" bIns="45935" anchor="b"/>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pPr algn="r" eaLnBrk="1" hangingPunct="1">
              <a:defRPr/>
            </a:pPr>
            <a:fld id="{DFCE69E5-300F-4A28-84B3-F52B9190BDFB}" type="slidenum">
              <a:rPr lang="en-US" altLang="zh-CN" sz="1200" smtClean="0">
                <a:effectLst>
                  <a:outerShdw blurRad="38100" dist="38100" dir="2700000" algn="tl">
                    <a:srgbClr val="C0C0C0"/>
                  </a:outerShdw>
                </a:effectLst>
                <a:latin typeface="Verdana" panose="020B0604030504040204" pitchFamily="34" charset="0"/>
                <a:ea typeface="宋体" panose="02010600030101010101" pitchFamily="2" charset="-122"/>
              </a:rPr>
              <a:pPr algn="r" eaLnBrk="1" hangingPunct="1">
                <a:defRPr/>
              </a:pPr>
              <a:t>12</a:t>
            </a:fld>
            <a:endParaRPr lang="en-US" altLang="zh-CN" sz="1200">
              <a:effectLst>
                <a:outerShdw blurRad="38100" dist="38100" dir="2700000" algn="tl">
                  <a:srgbClr val="C0C0C0"/>
                </a:outerShdw>
              </a:effectLst>
              <a:latin typeface="Verdana" panose="020B0604030504040204" pitchFamily="34" charset="0"/>
              <a:ea typeface="宋体" panose="02010600030101010101" pitchFamily="2" charset="-122"/>
            </a:endParaRPr>
          </a:p>
        </p:txBody>
      </p:sp>
      <p:sp>
        <p:nvSpPr>
          <p:cNvPr id="27652" name="Rectangle 2"/>
          <p:cNvSpPr>
            <a:spLocks noGrp="1" noRot="1" noChangeAspect="1" noChangeArrowheads="1" noTextEdit="1"/>
          </p:cNvSpPr>
          <p:nvPr>
            <p:ph type="sldImg"/>
          </p:nvPr>
        </p:nvSpPr>
        <p:spPr>
          <a:ln/>
        </p:spPr>
      </p:sp>
      <p:sp>
        <p:nvSpPr>
          <p:cNvPr id="27653" name="Rectangle 3"/>
          <p:cNvSpPr>
            <a:spLocks noGrp="1" noChangeArrowheads="1"/>
          </p:cNvSpPr>
          <p:nvPr>
            <p:ph type="body" idx="1"/>
          </p:nvPr>
        </p:nvSpPr>
        <p:spPr>
          <a:xfrm>
            <a:off x="914400" y="4725988"/>
            <a:ext cx="5029200" cy="44751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F49BC56D-7B7F-4DBD-9368-2028C4B8F184}" type="slidenum">
              <a:rPr lang="zh-CN" altLang="en-US" sz="1200" smtClean="0">
                <a:latin typeface="Arial" panose="020B0604020202020204" pitchFamily="34" charset="0"/>
                <a:ea typeface="宋体" panose="02010600030101010101" pitchFamily="2" charset="-122"/>
              </a:rPr>
              <a:pPr/>
              <a:t>15</a:t>
            </a:fld>
            <a:endParaRPr lang="en-US" altLang="zh-CN" sz="1200">
              <a:latin typeface="Arial" panose="020B0604020202020204" pitchFamily="34" charset="0"/>
              <a:ea typeface="宋体" panose="02010600030101010101" pitchFamily="2" charset="-122"/>
            </a:endParaRPr>
          </a:p>
        </p:txBody>
      </p:sp>
      <p:sp>
        <p:nvSpPr>
          <p:cNvPr id="7" name="Rectangle 7"/>
          <p:cNvSpPr txBox="1">
            <a:spLocks noGrp="1" noChangeArrowheads="1"/>
          </p:cNvSpPr>
          <p:nvPr/>
        </p:nvSpPr>
        <p:spPr bwMode="auto">
          <a:xfrm>
            <a:off x="3886200" y="9448800"/>
            <a:ext cx="2971800" cy="498475"/>
          </a:xfrm>
          <a:prstGeom prst="rect">
            <a:avLst/>
          </a:prstGeom>
          <a:noFill/>
          <a:ln>
            <a:miter lim="800000"/>
            <a:headEnd/>
            <a:tailEnd/>
          </a:ln>
        </p:spPr>
        <p:txBody>
          <a:bodyPr lIns="91870" tIns="45935" rIns="91870" bIns="45935" anchor="b"/>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pPr algn="r" eaLnBrk="1" hangingPunct="1">
              <a:defRPr/>
            </a:pPr>
            <a:fld id="{6D27303D-8F66-47E0-BDEB-B7AE915ED69E}" type="slidenum">
              <a:rPr lang="en-US" altLang="zh-CN" sz="1200" smtClean="0">
                <a:effectLst>
                  <a:outerShdw blurRad="38100" dist="38100" dir="2700000" algn="tl">
                    <a:srgbClr val="C0C0C0"/>
                  </a:outerShdw>
                </a:effectLst>
                <a:latin typeface="Verdana" panose="020B0604030504040204" pitchFamily="34" charset="0"/>
                <a:ea typeface="宋体" panose="02010600030101010101" pitchFamily="2" charset="-122"/>
              </a:rPr>
              <a:pPr algn="r" eaLnBrk="1" hangingPunct="1">
                <a:defRPr/>
              </a:pPr>
              <a:t>15</a:t>
            </a:fld>
            <a:endParaRPr lang="en-US" altLang="zh-CN" sz="1200">
              <a:effectLst>
                <a:outerShdw blurRad="38100" dist="38100" dir="2700000" algn="tl">
                  <a:srgbClr val="C0C0C0"/>
                </a:outerShdw>
              </a:effectLst>
              <a:latin typeface="Verdana" panose="020B0604030504040204" pitchFamily="34" charset="0"/>
              <a:ea typeface="宋体" panose="02010600030101010101" pitchFamily="2" charset="-122"/>
            </a:endParaRPr>
          </a:p>
        </p:txBody>
      </p:sp>
      <p:sp>
        <p:nvSpPr>
          <p:cNvPr id="31748" name="Rectangle 2"/>
          <p:cNvSpPr>
            <a:spLocks noGrp="1" noRot="1" noChangeAspect="1" noChangeArrowheads="1" noTextEdit="1"/>
          </p:cNvSpPr>
          <p:nvPr>
            <p:ph type="sldImg"/>
          </p:nvPr>
        </p:nvSpPr>
        <p:spPr>
          <a:ln/>
        </p:spPr>
      </p:sp>
      <p:sp>
        <p:nvSpPr>
          <p:cNvPr id="31749" name="Rectangle 3"/>
          <p:cNvSpPr>
            <a:spLocks noGrp="1" noChangeArrowheads="1"/>
          </p:cNvSpPr>
          <p:nvPr>
            <p:ph type="body" idx="1"/>
          </p:nvPr>
        </p:nvSpPr>
        <p:spPr>
          <a:xfrm>
            <a:off x="914400" y="4725988"/>
            <a:ext cx="5029200" cy="44751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FB01948D-186F-449C-80B5-1835CFBC3BF6}" type="slidenum">
              <a:rPr lang="zh-CN" altLang="en-US" sz="1200" smtClean="0">
                <a:latin typeface="Arial" panose="020B0604020202020204" pitchFamily="34" charset="0"/>
                <a:ea typeface="宋体" panose="02010600030101010101" pitchFamily="2" charset="-122"/>
              </a:rPr>
              <a:pPr/>
              <a:t>16</a:t>
            </a:fld>
            <a:endParaRPr lang="en-US" altLang="zh-CN" sz="1200">
              <a:latin typeface="Arial" panose="020B0604020202020204" pitchFamily="34" charset="0"/>
              <a:ea typeface="宋体" panose="02010600030101010101" pitchFamily="2" charset="-122"/>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D626A437-9B90-468B-B8BB-BD95A6B84DE6}" type="slidenum">
              <a:rPr lang="zh-CN" altLang="en-US" sz="1200" smtClean="0">
                <a:latin typeface="Arial" panose="020B0604020202020204" pitchFamily="34" charset="0"/>
                <a:ea typeface="宋体" panose="02010600030101010101" pitchFamily="2" charset="-122"/>
              </a:rPr>
              <a:pPr/>
              <a:t>17</a:t>
            </a:fld>
            <a:endParaRPr lang="en-US" altLang="zh-CN" sz="1200">
              <a:latin typeface="Arial" panose="020B0604020202020204" pitchFamily="34" charset="0"/>
              <a:ea typeface="宋体" panose="02010600030101010101" pitchFamily="2" charset="-122"/>
            </a:endParaRPr>
          </a:p>
        </p:txBody>
      </p:sp>
      <p:sp>
        <p:nvSpPr>
          <p:cNvPr id="7" name="Rectangle 7"/>
          <p:cNvSpPr txBox="1">
            <a:spLocks noGrp="1" noChangeArrowheads="1"/>
          </p:cNvSpPr>
          <p:nvPr/>
        </p:nvSpPr>
        <p:spPr bwMode="auto">
          <a:xfrm>
            <a:off x="3886200" y="9448800"/>
            <a:ext cx="2971800" cy="498475"/>
          </a:xfrm>
          <a:prstGeom prst="rect">
            <a:avLst/>
          </a:prstGeom>
          <a:noFill/>
          <a:ln>
            <a:miter lim="800000"/>
            <a:headEnd/>
            <a:tailEnd/>
          </a:ln>
        </p:spPr>
        <p:txBody>
          <a:bodyPr lIns="91870" tIns="45935" rIns="91870" bIns="45935" anchor="b"/>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pPr algn="r" eaLnBrk="1" hangingPunct="1">
              <a:defRPr/>
            </a:pPr>
            <a:fld id="{D7BE03AB-62F6-44DF-8021-5BE744DF6F09}" type="slidenum">
              <a:rPr lang="en-US" altLang="zh-CN" sz="1200" smtClean="0">
                <a:effectLst>
                  <a:outerShdw blurRad="38100" dist="38100" dir="2700000" algn="tl">
                    <a:srgbClr val="C0C0C0"/>
                  </a:outerShdw>
                </a:effectLst>
                <a:latin typeface="Verdana" panose="020B0604030504040204" pitchFamily="34" charset="0"/>
                <a:ea typeface="宋体" panose="02010600030101010101" pitchFamily="2" charset="-122"/>
              </a:rPr>
              <a:pPr algn="r" eaLnBrk="1" hangingPunct="1">
                <a:defRPr/>
              </a:pPr>
              <a:t>17</a:t>
            </a:fld>
            <a:endParaRPr lang="en-US" altLang="zh-CN" sz="1200">
              <a:effectLst>
                <a:outerShdw blurRad="38100" dist="38100" dir="2700000" algn="tl">
                  <a:srgbClr val="C0C0C0"/>
                </a:outerShdw>
              </a:effectLst>
              <a:latin typeface="Verdana" panose="020B0604030504040204" pitchFamily="34" charset="0"/>
              <a:ea typeface="宋体" panose="02010600030101010101" pitchFamily="2" charset="-122"/>
            </a:endParaRPr>
          </a:p>
        </p:txBody>
      </p:sp>
      <p:sp>
        <p:nvSpPr>
          <p:cNvPr id="35844" name="Rectangle 2"/>
          <p:cNvSpPr>
            <a:spLocks noGrp="1" noRot="1" noChangeAspect="1" noChangeArrowheads="1" noTextEdit="1"/>
          </p:cNvSpPr>
          <p:nvPr>
            <p:ph type="sldImg"/>
          </p:nvPr>
        </p:nvSpPr>
        <p:spPr>
          <a:ln/>
        </p:spPr>
      </p:sp>
      <p:sp>
        <p:nvSpPr>
          <p:cNvPr id="35845" name="Rectangle 3"/>
          <p:cNvSpPr>
            <a:spLocks noGrp="1" noChangeArrowheads="1"/>
          </p:cNvSpPr>
          <p:nvPr>
            <p:ph type="body" idx="1"/>
          </p:nvPr>
        </p:nvSpPr>
        <p:spPr>
          <a:xfrm>
            <a:off x="914400" y="4725988"/>
            <a:ext cx="5029200" cy="44751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20C5CA61-A828-464B-B5CB-6B1BDC8946FE}" type="slidenum">
              <a:rPr lang="zh-CN" altLang="en-US" sz="1200" smtClean="0">
                <a:latin typeface="Arial" panose="020B0604020202020204" pitchFamily="34" charset="0"/>
                <a:ea typeface="宋体" panose="02010600030101010101" pitchFamily="2" charset="-122"/>
              </a:rPr>
              <a:pPr/>
              <a:t>18</a:t>
            </a:fld>
            <a:endParaRPr lang="en-US" altLang="zh-CN" sz="1200">
              <a:latin typeface="Arial" panose="020B0604020202020204" pitchFamily="34" charset="0"/>
              <a:ea typeface="宋体" panose="02010600030101010101" pitchFamily="2" charset="-122"/>
            </a:endParaRPr>
          </a:p>
        </p:txBody>
      </p:sp>
      <p:sp>
        <p:nvSpPr>
          <p:cNvPr id="7" name="Rectangle 7"/>
          <p:cNvSpPr txBox="1">
            <a:spLocks noGrp="1" noChangeArrowheads="1"/>
          </p:cNvSpPr>
          <p:nvPr/>
        </p:nvSpPr>
        <p:spPr bwMode="auto">
          <a:xfrm>
            <a:off x="3886200" y="9448800"/>
            <a:ext cx="2971800" cy="498475"/>
          </a:xfrm>
          <a:prstGeom prst="rect">
            <a:avLst/>
          </a:prstGeom>
          <a:noFill/>
          <a:ln>
            <a:miter lim="800000"/>
            <a:headEnd/>
            <a:tailEnd/>
          </a:ln>
        </p:spPr>
        <p:txBody>
          <a:bodyPr lIns="91870" tIns="45935" rIns="91870" bIns="45935" anchor="b"/>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pPr algn="r" eaLnBrk="1" hangingPunct="1">
              <a:defRPr/>
            </a:pPr>
            <a:fld id="{4A2BF91E-3860-4822-9876-8E424A50D837}" type="slidenum">
              <a:rPr lang="en-US" altLang="zh-CN" sz="1200" smtClean="0">
                <a:effectLst>
                  <a:outerShdw blurRad="38100" dist="38100" dir="2700000" algn="tl">
                    <a:srgbClr val="C0C0C0"/>
                  </a:outerShdw>
                </a:effectLst>
                <a:latin typeface="Verdana" panose="020B0604030504040204" pitchFamily="34" charset="0"/>
                <a:ea typeface="宋体" panose="02010600030101010101" pitchFamily="2" charset="-122"/>
              </a:rPr>
              <a:pPr algn="r" eaLnBrk="1" hangingPunct="1">
                <a:defRPr/>
              </a:pPr>
              <a:t>18</a:t>
            </a:fld>
            <a:endParaRPr lang="en-US" altLang="zh-CN" sz="1200">
              <a:effectLst>
                <a:outerShdw blurRad="38100" dist="38100" dir="2700000" algn="tl">
                  <a:srgbClr val="C0C0C0"/>
                </a:outerShdw>
              </a:effectLst>
              <a:latin typeface="Verdana" panose="020B0604030504040204" pitchFamily="34" charset="0"/>
              <a:ea typeface="宋体" panose="02010600030101010101" pitchFamily="2" charset="-122"/>
            </a:endParaRPr>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xfrm>
            <a:off x="914400" y="4725988"/>
            <a:ext cx="5029200" cy="44751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8763FC5D-9987-4404-95B3-DAFA9C93C4F0}" type="slidenum">
              <a:rPr lang="zh-CN" altLang="en-US" sz="1200" smtClean="0">
                <a:latin typeface="Arial" panose="020B0604020202020204" pitchFamily="34" charset="0"/>
                <a:ea typeface="宋体" panose="02010600030101010101" pitchFamily="2" charset="-122"/>
              </a:rPr>
              <a:pPr/>
              <a:t>19</a:t>
            </a:fld>
            <a:endParaRPr lang="en-US" altLang="zh-CN" sz="1200">
              <a:latin typeface="Arial" panose="020B0604020202020204" pitchFamily="34" charset="0"/>
              <a:ea typeface="宋体" panose="02010600030101010101" pitchFamily="2" charset="-122"/>
            </a:endParaRPr>
          </a:p>
        </p:txBody>
      </p:sp>
      <p:sp>
        <p:nvSpPr>
          <p:cNvPr id="7" name="Rectangle 7"/>
          <p:cNvSpPr txBox="1">
            <a:spLocks noGrp="1" noChangeArrowheads="1"/>
          </p:cNvSpPr>
          <p:nvPr/>
        </p:nvSpPr>
        <p:spPr bwMode="auto">
          <a:xfrm>
            <a:off x="3886200" y="9448800"/>
            <a:ext cx="2971800" cy="498475"/>
          </a:xfrm>
          <a:prstGeom prst="rect">
            <a:avLst/>
          </a:prstGeom>
          <a:noFill/>
          <a:ln>
            <a:miter lim="800000"/>
            <a:headEnd/>
            <a:tailEnd/>
          </a:ln>
        </p:spPr>
        <p:txBody>
          <a:bodyPr lIns="91870" tIns="45935" rIns="91870" bIns="45935" anchor="b"/>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pPr algn="r" eaLnBrk="1" hangingPunct="1">
              <a:defRPr/>
            </a:pPr>
            <a:fld id="{BE2C555E-49C4-4622-9774-69D3182FBC6E}" type="slidenum">
              <a:rPr lang="en-US" altLang="zh-CN" sz="1200" smtClean="0">
                <a:effectLst>
                  <a:outerShdw blurRad="38100" dist="38100" dir="2700000" algn="tl">
                    <a:srgbClr val="C0C0C0"/>
                  </a:outerShdw>
                </a:effectLst>
                <a:latin typeface="Verdana" panose="020B0604030504040204" pitchFamily="34" charset="0"/>
                <a:ea typeface="宋体" panose="02010600030101010101" pitchFamily="2" charset="-122"/>
              </a:rPr>
              <a:pPr algn="r" eaLnBrk="1" hangingPunct="1">
                <a:defRPr/>
              </a:pPr>
              <a:t>19</a:t>
            </a:fld>
            <a:endParaRPr lang="en-US" altLang="zh-CN" sz="1200">
              <a:effectLst>
                <a:outerShdw blurRad="38100" dist="38100" dir="2700000" algn="tl">
                  <a:srgbClr val="C0C0C0"/>
                </a:outerShdw>
              </a:effectLst>
              <a:latin typeface="Verdana" panose="020B0604030504040204" pitchFamily="34" charset="0"/>
              <a:ea typeface="宋体" panose="02010600030101010101" pitchFamily="2" charset="-122"/>
            </a:endParaRPr>
          </a:p>
        </p:txBody>
      </p:sp>
      <p:sp>
        <p:nvSpPr>
          <p:cNvPr id="39940" name="Rectangle 2"/>
          <p:cNvSpPr>
            <a:spLocks noGrp="1" noRot="1" noChangeAspect="1" noChangeArrowheads="1" noTextEdit="1"/>
          </p:cNvSpPr>
          <p:nvPr>
            <p:ph type="sldImg"/>
          </p:nvPr>
        </p:nvSpPr>
        <p:spPr>
          <a:ln/>
        </p:spPr>
      </p:sp>
      <p:sp>
        <p:nvSpPr>
          <p:cNvPr id="39941" name="Rectangle 3"/>
          <p:cNvSpPr>
            <a:spLocks noGrp="1" noChangeArrowheads="1"/>
          </p:cNvSpPr>
          <p:nvPr>
            <p:ph type="body" idx="1"/>
          </p:nvPr>
        </p:nvSpPr>
        <p:spPr>
          <a:xfrm>
            <a:off x="914400" y="4725988"/>
            <a:ext cx="5029200" cy="44751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8305C605-5B3E-4AB2-8AB3-580E2DAD8D98}" type="slidenum">
              <a:rPr lang="zh-CN" altLang="en-US" sz="1200" smtClean="0">
                <a:latin typeface="Arial" panose="020B0604020202020204" pitchFamily="34" charset="0"/>
                <a:ea typeface="宋体" panose="02010600030101010101" pitchFamily="2" charset="-122"/>
              </a:rPr>
              <a:pPr/>
              <a:t>20</a:t>
            </a:fld>
            <a:endParaRPr lang="en-US" altLang="zh-CN" sz="1200">
              <a:latin typeface="Arial" panose="020B0604020202020204" pitchFamily="34" charset="0"/>
              <a:ea typeface="宋体" panose="02010600030101010101" pitchFamily="2" charset="-122"/>
            </a:endParaRPr>
          </a:p>
        </p:txBody>
      </p:sp>
      <p:sp>
        <p:nvSpPr>
          <p:cNvPr id="7" name="Rectangle 7"/>
          <p:cNvSpPr txBox="1">
            <a:spLocks noGrp="1" noChangeArrowheads="1"/>
          </p:cNvSpPr>
          <p:nvPr/>
        </p:nvSpPr>
        <p:spPr bwMode="auto">
          <a:xfrm>
            <a:off x="3886200" y="9448800"/>
            <a:ext cx="2971800" cy="498475"/>
          </a:xfrm>
          <a:prstGeom prst="rect">
            <a:avLst/>
          </a:prstGeom>
          <a:noFill/>
          <a:ln>
            <a:miter lim="800000"/>
            <a:headEnd/>
            <a:tailEnd/>
          </a:ln>
        </p:spPr>
        <p:txBody>
          <a:bodyPr lIns="91870" tIns="45935" rIns="91870" bIns="45935" anchor="b"/>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pPr algn="r" eaLnBrk="1" hangingPunct="1">
              <a:defRPr/>
            </a:pPr>
            <a:fld id="{E1BED8D7-7CEF-4D5B-8944-455553D2D0EC}" type="slidenum">
              <a:rPr lang="en-US" altLang="zh-CN" sz="1200" smtClean="0">
                <a:effectLst>
                  <a:outerShdw blurRad="38100" dist="38100" dir="2700000" algn="tl">
                    <a:srgbClr val="C0C0C0"/>
                  </a:outerShdw>
                </a:effectLst>
                <a:latin typeface="Verdana" panose="020B0604030504040204" pitchFamily="34" charset="0"/>
                <a:ea typeface="宋体" panose="02010600030101010101" pitchFamily="2" charset="-122"/>
              </a:rPr>
              <a:pPr algn="r" eaLnBrk="1" hangingPunct="1">
                <a:defRPr/>
              </a:pPr>
              <a:t>20</a:t>
            </a:fld>
            <a:endParaRPr lang="en-US" altLang="zh-CN" sz="1200">
              <a:effectLst>
                <a:outerShdw blurRad="38100" dist="38100" dir="2700000" algn="tl">
                  <a:srgbClr val="C0C0C0"/>
                </a:outerShdw>
              </a:effectLst>
              <a:latin typeface="Verdana" panose="020B0604030504040204" pitchFamily="34" charset="0"/>
              <a:ea typeface="宋体" panose="02010600030101010101" pitchFamily="2" charset="-122"/>
            </a:endParaRPr>
          </a:p>
        </p:txBody>
      </p:sp>
      <p:sp>
        <p:nvSpPr>
          <p:cNvPr id="41988" name="Rectangle 2"/>
          <p:cNvSpPr>
            <a:spLocks noGrp="1" noRot="1" noChangeAspect="1" noChangeArrowheads="1" noTextEdit="1"/>
          </p:cNvSpPr>
          <p:nvPr>
            <p:ph type="sldImg"/>
          </p:nvPr>
        </p:nvSpPr>
        <p:spPr>
          <a:ln/>
        </p:spPr>
      </p:sp>
      <p:sp>
        <p:nvSpPr>
          <p:cNvPr id="41989" name="Rectangle 3"/>
          <p:cNvSpPr>
            <a:spLocks noGrp="1" noChangeArrowheads="1"/>
          </p:cNvSpPr>
          <p:nvPr>
            <p:ph type="body" idx="1"/>
          </p:nvPr>
        </p:nvSpPr>
        <p:spPr>
          <a:xfrm>
            <a:off x="914400" y="4725988"/>
            <a:ext cx="5029200" cy="44751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77C17A0A-E993-45D3-B4E3-F06D0786D28C}" type="slidenum">
              <a:rPr lang="zh-CN" altLang="en-US" sz="1200" smtClean="0">
                <a:latin typeface="Arial" panose="020B0604020202020204" pitchFamily="34" charset="0"/>
                <a:ea typeface="宋体" panose="02010600030101010101" pitchFamily="2" charset="-122"/>
              </a:rPr>
              <a:pPr/>
              <a:t>21</a:t>
            </a:fld>
            <a:endParaRPr lang="en-US" altLang="zh-CN" sz="1200">
              <a:latin typeface="Arial" panose="020B0604020202020204" pitchFamily="34" charset="0"/>
              <a:ea typeface="宋体" panose="02010600030101010101" pitchFamily="2" charset="-122"/>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1">
                <a:ea typeface="宋体" panose="02010600030101010101" pitchFamily="2" charset="-122"/>
              </a:rPr>
              <a:t>各个子系统之间的依赖关系如下：</a:t>
            </a:r>
            <a:endParaRPr lang="zh-CN" altLang="en-US">
              <a:ea typeface="宋体" panose="02010600030101010101" pitchFamily="2" charset="-122"/>
            </a:endParaRPr>
          </a:p>
          <a:p>
            <a:pPr eaLnBrk="1" hangingPunct="1"/>
            <a:r>
              <a:rPr lang="en-US" altLang="zh-CN">
                <a:latin typeface="Arial" panose="020B0604020202020204" pitchFamily="34" charset="0"/>
                <a:ea typeface="宋体" panose="02010600030101010101" pitchFamily="2" charset="-122"/>
              </a:rPr>
              <a:t>·</a:t>
            </a:r>
            <a:r>
              <a:rPr lang="en-US" altLang="zh-CN">
                <a:ea typeface="宋体" panose="02010600030101010101" pitchFamily="2" charset="-122"/>
              </a:rPr>
              <a:t> </a:t>
            </a:r>
            <a:r>
              <a:rPr lang="zh-CN" altLang="en-US">
                <a:ea typeface="宋体" panose="02010600030101010101" pitchFamily="2" charset="-122"/>
              </a:rPr>
              <a:t>进程调度与内存管理之间的关系：这两个子系统互相依赖。在多道程序环境下，程序要运行必须为之创建进程，而创建进程的第一件事，就是要将程序和数据装入内存。 </a:t>
            </a:r>
          </a:p>
          <a:p>
            <a:pPr eaLnBrk="1" hangingPunct="1"/>
            <a:r>
              <a:rPr lang="en-US" altLang="zh-CN">
                <a:latin typeface="Arial" panose="020B0604020202020204" pitchFamily="34" charset="0"/>
                <a:ea typeface="宋体" panose="02010600030101010101" pitchFamily="2" charset="-122"/>
              </a:rPr>
              <a:t>·</a:t>
            </a:r>
            <a:r>
              <a:rPr lang="en-US" altLang="zh-CN">
                <a:ea typeface="宋体" panose="02010600030101010101" pitchFamily="2" charset="-122"/>
              </a:rPr>
              <a:t> </a:t>
            </a:r>
            <a:r>
              <a:rPr lang="zh-CN" altLang="en-US">
                <a:ea typeface="宋体" panose="02010600030101010101" pitchFamily="2" charset="-122"/>
              </a:rPr>
              <a:t>进程间通信与内存管理的关系：进程间通信子系统要依赖内存管理支持共享内存通信机制，这种机制允许两个进程除了拥有自己的私有内存，还可存取共同的内存区域。</a:t>
            </a:r>
          </a:p>
          <a:p>
            <a:pPr eaLnBrk="1" hangingPunct="1"/>
            <a:r>
              <a:rPr lang="en-US" altLang="zh-CN">
                <a:latin typeface="Arial" panose="020B0604020202020204" pitchFamily="34" charset="0"/>
                <a:ea typeface="宋体" panose="02010600030101010101" pitchFamily="2" charset="-122"/>
              </a:rPr>
              <a:t>·</a:t>
            </a:r>
            <a:r>
              <a:rPr lang="zh-CN" altLang="en-US">
                <a:ea typeface="宋体" panose="02010600030101010101" pitchFamily="2" charset="-122"/>
              </a:rPr>
              <a:t>虚拟文件系统与网络接口之间的关系：虚拟文件系统利用网络接口支持网络文件系统</a:t>
            </a:r>
            <a:r>
              <a:rPr lang="en-US" altLang="zh-CN">
                <a:ea typeface="宋体" panose="02010600030101010101" pitchFamily="2" charset="-122"/>
              </a:rPr>
              <a:t>(NFS)</a:t>
            </a:r>
            <a:r>
              <a:rPr lang="zh-CN" altLang="en-US">
                <a:ea typeface="宋体" panose="02010600030101010101" pitchFamily="2" charset="-122"/>
              </a:rPr>
              <a:t>，也利用内存管理支持</a:t>
            </a:r>
            <a:r>
              <a:rPr lang="en-US" altLang="zh-CN">
                <a:ea typeface="宋体" panose="02010600030101010101" pitchFamily="2" charset="-122"/>
              </a:rPr>
              <a:t>RAMDISK </a:t>
            </a:r>
            <a:r>
              <a:rPr lang="zh-CN" altLang="en-US">
                <a:ea typeface="宋体" panose="02010600030101010101" pitchFamily="2" charset="-122"/>
              </a:rPr>
              <a:t>设备。</a:t>
            </a:r>
          </a:p>
          <a:p>
            <a:pPr eaLnBrk="1" hangingPunct="1"/>
            <a:r>
              <a:rPr lang="en-US" altLang="zh-CN">
                <a:latin typeface="Arial" panose="020B0604020202020204" pitchFamily="34" charset="0"/>
                <a:ea typeface="宋体" panose="02010600030101010101" pitchFamily="2" charset="-122"/>
              </a:rPr>
              <a:t>·</a:t>
            </a:r>
            <a:r>
              <a:rPr lang="en-US" altLang="zh-CN">
                <a:ea typeface="宋体" panose="02010600030101010101" pitchFamily="2" charset="-122"/>
              </a:rPr>
              <a:t> </a:t>
            </a:r>
            <a:r>
              <a:rPr lang="zh-CN" altLang="en-US">
                <a:ea typeface="宋体" panose="02010600030101010101" pitchFamily="2" charset="-122"/>
              </a:rPr>
              <a:t>内存管理与虚拟文件系统之间的关系： 内存管理利用虚拟文件系统支持交换，交换进程</a:t>
            </a:r>
            <a:r>
              <a:rPr lang="en-US" altLang="zh-CN">
                <a:ea typeface="宋体" panose="02010600030101010101" pitchFamily="2" charset="-122"/>
              </a:rPr>
              <a:t>(swapd)</a:t>
            </a:r>
            <a:r>
              <a:rPr lang="zh-CN" altLang="en-US">
                <a:ea typeface="宋体" panose="02010600030101010101" pitchFamily="2" charset="-122"/>
              </a:rPr>
              <a:t>定期地由调度程序调度，这也是内存管理依赖于进程调度的唯一原因。当一个进程存取的内存映射被换出时，内存管理向文件系统发出请求，同时，挂起当前正在运行的进程。</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1EAA4564-4405-4DCE-9FEE-AD05E485486E}" type="slidenum">
              <a:rPr lang="zh-CN" altLang="en-US" sz="1200" smtClean="0">
                <a:latin typeface="Arial" panose="020B0604020202020204" pitchFamily="34" charset="0"/>
                <a:ea typeface="宋体" panose="02010600030101010101" pitchFamily="2" charset="-122"/>
              </a:rPr>
              <a:pPr/>
              <a:t>22</a:t>
            </a:fld>
            <a:endParaRPr lang="en-US" altLang="zh-CN" sz="1200">
              <a:latin typeface="Arial" panose="020B0604020202020204" pitchFamily="34" charset="0"/>
              <a:ea typeface="宋体" panose="02010600030101010101" pitchFamily="2" charset="-122"/>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800" dirty="0"/>
              <a:t>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E5B8787F-5940-460D-A409-E14D44BBB2D8}" type="slidenum">
              <a:rPr lang="zh-CN" altLang="en-US" sz="1200" smtClean="0">
                <a:latin typeface="Arial" panose="020B0604020202020204" pitchFamily="34" charset="0"/>
                <a:ea typeface="宋体" panose="02010600030101010101" pitchFamily="2" charset="-122"/>
              </a:rPr>
              <a:pPr/>
              <a:t>26</a:t>
            </a:fld>
            <a:endParaRPr lang="en-US" altLang="zh-CN" sz="1200">
              <a:latin typeface="Arial" panose="020B0604020202020204" pitchFamily="34" charset="0"/>
              <a:ea typeface="宋体" panose="02010600030101010101" pitchFamily="2" charset="-122"/>
            </a:endParaRPr>
          </a:p>
        </p:txBody>
      </p:sp>
      <p:sp>
        <p:nvSpPr>
          <p:cNvPr id="7" name="Rectangle 7"/>
          <p:cNvSpPr txBox="1">
            <a:spLocks noGrp="1" noChangeArrowheads="1"/>
          </p:cNvSpPr>
          <p:nvPr/>
        </p:nvSpPr>
        <p:spPr bwMode="auto">
          <a:xfrm>
            <a:off x="3886200" y="9448800"/>
            <a:ext cx="2971800" cy="498475"/>
          </a:xfrm>
          <a:prstGeom prst="rect">
            <a:avLst/>
          </a:prstGeom>
          <a:noFill/>
          <a:ln>
            <a:miter lim="800000"/>
            <a:headEnd/>
            <a:tailEnd/>
          </a:ln>
        </p:spPr>
        <p:txBody>
          <a:bodyPr lIns="91870" tIns="45935" rIns="91870" bIns="45935" anchor="b"/>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pPr algn="r" eaLnBrk="1" hangingPunct="1">
              <a:defRPr/>
            </a:pPr>
            <a:fld id="{73169BD7-08E7-446D-9A5A-CB895717618A}" type="slidenum">
              <a:rPr lang="en-US" altLang="zh-CN" sz="1200" smtClean="0">
                <a:effectLst>
                  <a:outerShdw blurRad="38100" dist="38100" dir="2700000" algn="tl">
                    <a:srgbClr val="C0C0C0"/>
                  </a:outerShdw>
                </a:effectLst>
                <a:latin typeface="Verdana" panose="020B0604030504040204" pitchFamily="34" charset="0"/>
                <a:ea typeface="宋体" panose="02010600030101010101" pitchFamily="2" charset="-122"/>
              </a:rPr>
              <a:pPr algn="r" eaLnBrk="1" hangingPunct="1">
                <a:defRPr/>
              </a:pPr>
              <a:t>26</a:t>
            </a:fld>
            <a:endParaRPr lang="en-US" altLang="zh-CN" sz="1200">
              <a:effectLst>
                <a:outerShdw blurRad="38100" dist="38100" dir="2700000" algn="tl">
                  <a:srgbClr val="C0C0C0"/>
                </a:outerShdw>
              </a:effectLst>
              <a:latin typeface="Verdana" panose="020B0604030504040204" pitchFamily="34" charset="0"/>
              <a:ea typeface="宋体" panose="02010600030101010101" pitchFamily="2" charset="-122"/>
            </a:endParaRPr>
          </a:p>
        </p:txBody>
      </p:sp>
      <p:sp>
        <p:nvSpPr>
          <p:cNvPr id="51204" name="Rectangle 2"/>
          <p:cNvSpPr>
            <a:spLocks noGrp="1" noRot="1" noChangeAspect="1" noChangeArrowheads="1" noTextEdit="1"/>
          </p:cNvSpPr>
          <p:nvPr>
            <p:ph type="sldImg"/>
          </p:nvPr>
        </p:nvSpPr>
        <p:spPr>
          <a:ln/>
        </p:spPr>
      </p:sp>
      <p:sp>
        <p:nvSpPr>
          <p:cNvPr id="51205"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a:ln/>
        </p:spPr>
      </p:sp>
      <p:sp>
        <p:nvSpPr>
          <p:cNvPr id="532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a:t>版本号</a:t>
            </a:r>
          </a:p>
          <a:p>
            <a:r>
              <a:rPr lang="en-US" altLang="zh-CN"/>
              <a:t>Linux</a:t>
            </a:r>
            <a:r>
              <a:rPr lang="zh-CN" altLang="en-US"/>
              <a:t>内核使用三种不同的版本编号方式。</a:t>
            </a:r>
            <a:br>
              <a:rPr lang="zh-CN" altLang="en-US"/>
            </a:br>
            <a:r>
              <a:rPr lang="zh-CN" altLang="en-US"/>
              <a:t>　　第一种方式用于</a:t>
            </a:r>
            <a:r>
              <a:rPr lang="en-US" altLang="zh-CN"/>
              <a:t>1.0</a:t>
            </a:r>
            <a:r>
              <a:rPr lang="zh-CN" altLang="en-US"/>
              <a:t>版本之前（包括</a:t>
            </a:r>
            <a:r>
              <a:rPr lang="en-US" altLang="zh-CN"/>
              <a:t>1.0</a:t>
            </a:r>
            <a:r>
              <a:rPr lang="zh-CN" altLang="en-US"/>
              <a:t>）。第一个版本是</a:t>
            </a:r>
            <a:r>
              <a:rPr lang="en-US" altLang="zh-CN"/>
              <a:t>0.01</a:t>
            </a:r>
            <a:r>
              <a:rPr lang="zh-CN" altLang="en-US"/>
              <a:t>，紧接着是</a:t>
            </a:r>
            <a:r>
              <a:rPr lang="en-US" altLang="zh-CN"/>
              <a:t>0.02</a:t>
            </a:r>
            <a:r>
              <a:rPr lang="zh-CN" altLang="en-US"/>
              <a:t>、</a:t>
            </a:r>
            <a:r>
              <a:rPr lang="en-US" altLang="zh-CN"/>
              <a:t>0.03</a:t>
            </a:r>
            <a:r>
              <a:rPr lang="zh-CN" altLang="en-US"/>
              <a:t>、</a:t>
            </a:r>
            <a:r>
              <a:rPr lang="en-US" altLang="zh-CN"/>
              <a:t>0.10</a:t>
            </a:r>
            <a:r>
              <a:rPr lang="zh-CN" altLang="en-US"/>
              <a:t>、</a:t>
            </a:r>
            <a:r>
              <a:rPr lang="en-US" altLang="zh-CN"/>
              <a:t>0.11</a:t>
            </a:r>
            <a:r>
              <a:rPr lang="zh-CN" altLang="en-US"/>
              <a:t>、</a:t>
            </a:r>
            <a:r>
              <a:rPr lang="en-US" altLang="zh-CN"/>
              <a:t>0.12</a:t>
            </a:r>
            <a:r>
              <a:rPr lang="zh-CN" altLang="en-US"/>
              <a:t>、</a:t>
            </a:r>
            <a:r>
              <a:rPr lang="en-US" altLang="zh-CN"/>
              <a:t>0.95</a:t>
            </a:r>
            <a:r>
              <a:rPr lang="zh-CN" altLang="en-US"/>
              <a:t>、</a:t>
            </a:r>
            <a:r>
              <a:rPr lang="en-US" altLang="zh-CN"/>
              <a:t>0.96</a:t>
            </a:r>
            <a:r>
              <a:rPr lang="zh-CN" altLang="en-US"/>
              <a:t>、</a:t>
            </a:r>
            <a:r>
              <a:rPr lang="en-US" altLang="zh-CN"/>
              <a:t>0.97</a:t>
            </a:r>
            <a:r>
              <a:rPr lang="zh-CN" altLang="en-US"/>
              <a:t>、</a:t>
            </a:r>
            <a:r>
              <a:rPr lang="en-US" altLang="zh-CN"/>
              <a:t>0.98</a:t>
            </a:r>
            <a:r>
              <a:rPr lang="zh-CN" altLang="en-US"/>
              <a:t>、</a:t>
            </a:r>
            <a:r>
              <a:rPr lang="en-US" altLang="zh-CN"/>
              <a:t>0.99</a:t>
            </a:r>
            <a:r>
              <a:rPr lang="zh-CN" altLang="en-US"/>
              <a:t>和之后的</a:t>
            </a:r>
            <a:r>
              <a:rPr lang="en-US" altLang="zh-CN"/>
              <a:t>1.0</a:t>
            </a:r>
            <a:r>
              <a:rPr lang="zh-CN" altLang="en-US"/>
              <a:t>。</a:t>
            </a:r>
          </a:p>
          <a:p>
            <a:r>
              <a:rPr lang="zh-CN" altLang="en-US"/>
              <a:t>第二种方式用于</a:t>
            </a:r>
            <a:r>
              <a:rPr lang="en-US" altLang="zh-CN"/>
              <a:t>1.0</a:t>
            </a:r>
            <a:r>
              <a:rPr lang="zh-CN" altLang="en-US"/>
              <a:t>之后到</a:t>
            </a:r>
            <a:r>
              <a:rPr lang="en-US" altLang="zh-CN"/>
              <a:t>2.6</a:t>
            </a:r>
            <a:r>
              <a:rPr lang="zh-CN" altLang="en-US"/>
              <a:t>，数字由三部分“</a:t>
            </a:r>
            <a:r>
              <a:rPr lang="en-US" altLang="zh-CN"/>
              <a:t>A.B.C”</a:t>
            </a:r>
            <a:r>
              <a:rPr lang="zh-CN" altLang="en-US"/>
              <a:t>，</a:t>
            </a:r>
            <a:r>
              <a:rPr lang="en-US" altLang="zh-CN"/>
              <a:t>A</a:t>
            </a:r>
            <a:r>
              <a:rPr lang="zh-CN" altLang="en-US"/>
              <a:t>代表主版本号，</a:t>
            </a:r>
            <a:r>
              <a:rPr lang="en-US" altLang="zh-CN"/>
              <a:t>B</a:t>
            </a:r>
            <a:r>
              <a:rPr lang="zh-CN" altLang="en-US"/>
              <a:t>代表次主版本号，</a:t>
            </a:r>
            <a:r>
              <a:rPr lang="en-US" altLang="zh-CN"/>
              <a:t>C</a:t>
            </a:r>
            <a:r>
              <a:rPr lang="zh-CN" altLang="en-US"/>
              <a:t>代表较小的末版本号。只有在内核发生很大变化时（历史上只发生过两次，</a:t>
            </a:r>
            <a:r>
              <a:rPr lang="en-US" altLang="zh-CN"/>
              <a:t>1994</a:t>
            </a:r>
            <a:r>
              <a:rPr lang="zh-CN" altLang="en-US"/>
              <a:t>年的</a:t>
            </a:r>
            <a:r>
              <a:rPr lang="en-US" altLang="zh-CN"/>
              <a:t>1.0,1996</a:t>
            </a:r>
            <a:r>
              <a:rPr lang="zh-CN" altLang="en-US"/>
              <a:t>年的</a:t>
            </a:r>
            <a:r>
              <a:rPr lang="en-US" altLang="zh-CN"/>
              <a:t>2.0</a:t>
            </a:r>
            <a:r>
              <a:rPr lang="zh-CN" altLang="en-US"/>
              <a:t>），</a:t>
            </a:r>
            <a:r>
              <a:rPr lang="en-US" altLang="zh-CN"/>
              <a:t>A</a:t>
            </a:r>
            <a:r>
              <a:rPr lang="zh-CN" altLang="en-US"/>
              <a:t>才变化。可以通过数字</a:t>
            </a:r>
            <a:r>
              <a:rPr lang="en-US" altLang="zh-CN"/>
              <a:t>B</a:t>
            </a:r>
            <a:r>
              <a:rPr lang="zh-CN" altLang="en-US"/>
              <a:t>来判断</a:t>
            </a:r>
            <a:r>
              <a:rPr lang="en-US" altLang="zh-CN"/>
              <a:t>Linux</a:t>
            </a:r>
            <a:r>
              <a:rPr lang="zh-CN" altLang="en-US"/>
              <a:t>是否稳定，偶数的</a:t>
            </a:r>
            <a:r>
              <a:rPr lang="en-US" altLang="zh-CN"/>
              <a:t>B</a:t>
            </a:r>
            <a:r>
              <a:rPr lang="zh-CN" altLang="en-US"/>
              <a:t>代表稳定版，奇数的</a:t>
            </a:r>
            <a:r>
              <a:rPr lang="en-US" altLang="zh-CN"/>
              <a:t>B</a:t>
            </a:r>
            <a:r>
              <a:rPr lang="zh-CN" altLang="en-US"/>
              <a:t>代表开发版。</a:t>
            </a:r>
            <a:r>
              <a:rPr lang="en-US" altLang="zh-CN"/>
              <a:t>C</a:t>
            </a:r>
            <a:r>
              <a:rPr lang="zh-CN" altLang="en-US"/>
              <a:t>代表一些</a:t>
            </a:r>
            <a:r>
              <a:rPr lang="en-US" altLang="zh-CN"/>
              <a:t>bug</a:t>
            </a:r>
            <a:r>
              <a:rPr lang="zh-CN" altLang="en-US"/>
              <a:t>修复，安全更新，新特性和驱动的次数。以版本</a:t>
            </a:r>
            <a:r>
              <a:rPr lang="en-US" altLang="zh-CN"/>
              <a:t>2.4.0</a:t>
            </a:r>
            <a:r>
              <a:rPr lang="zh-CN" altLang="en-US"/>
              <a:t>为例，</a:t>
            </a:r>
            <a:r>
              <a:rPr lang="en-US" altLang="zh-CN"/>
              <a:t>2</a:t>
            </a:r>
            <a:r>
              <a:rPr lang="zh-CN" altLang="en-US"/>
              <a:t>代表主版本号，</a:t>
            </a:r>
            <a:r>
              <a:rPr lang="en-US" altLang="zh-CN"/>
              <a:t>4</a:t>
            </a:r>
            <a:r>
              <a:rPr lang="zh-CN" altLang="en-US"/>
              <a:t>代表次版本号，</a:t>
            </a:r>
            <a:r>
              <a:rPr lang="en-US" altLang="zh-CN"/>
              <a:t>0</a:t>
            </a:r>
            <a:r>
              <a:rPr lang="zh-CN" altLang="en-US"/>
              <a:t>代表改动较小的末版本号。在版本号中，序号的第二位为偶数的版本表明这是一个可以使用的稳定版本，如</a:t>
            </a:r>
            <a:r>
              <a:rPr lang="en-US" altLang="zh-CN"/>
              <a:t>2.2.5</a:t>
            </a:r>
            <a:r>
              <a:rPr lang="zh-CN" altLang="en-US"/>
              <a:t>，而序号的第二位为奇数的版本一般有一些新的东西加入，是个不一定很稳定的测试版本，如</a:t>
            </a:r>
            <a:r>
              <a:rPr lang="en-US" altLang="zh-CN"/>
              <a:t>2.3.1</a:t>
            </a:r>
            <a:r>
              <a:rPr lang="zh-CN" altLang="en-US"/>
              <a:t>。这样稳定版本来源于上一个测试版升级版本号，而一个稳定版本发展到完全成熟后就不再发展。</a:t>
            </a:r>
          </a:p>
          <a:p>
            <a:r>
              <a:rPr lang="zh-CN" altLang="en-US"/>
              <a:t>第三种方式从</a:t>
            </a:r>
            <a:r>
              <a:rPr lang="en-US" altLang="zh-CN"/>
              <a:t>2004</a:t>
            </a:r>
            <a:r>
              <a:rPr lang="zh-CN" altLang="en-US"/>
              <a:t>年</a:t>
            </a:r>
            <a:r>
              <a:rPr lang="en-US" altLang="zh-CN"/>
              <a:t>2.6.0</a:t>
            </a:r>
            <a:r>
              <a:rPr lang="zh-CN" altLang="en-US"/>
              <a:t>版本开始，使用一种“</a:t>
            </a:r>
            <a:r>
              <a:rPr lang="en-US" altLang="zh-CN"/>
              <a:t>time-based”</a:t>
            </a:r>
            <a:r>
              <a:rPr lang="zh-CN" altLang="en-US"/>
              <a:t>的方式。</a:t>
            </a:r>
            <a:r>
              <a:rPr lang="en-US" altLang="zh-CN"/>
              <a:t>3.0</a:t>
            </a:r>
            <a:r>
              <a:rPr lang="zh-CN" altLang="en-US"/>
              <a:t>版本之前，是一种“</a:t>
            </a:r>
            <a:r>
              <a:rPr lang="en-US" altLang="zh-CN"/>
              <a:t>A.B.C.D”</a:t>
            </a:r>
            <a:r>
              <a:rPr lang="zh-CN" altLang="en-US"/>
              <a:t>的格式。七年里，前两个数字</a:t>
            </a:r>
            <a:r>
              <a:rPr lang="en-US" altLang="zh-CN"/>
              <a:t>A.B</a:t>
            </a:r>
            <a:r>
              <a:rPr lang="zh-CN" altLang="en-US"/>
              <a:t>即“</a:t>
            </a:r>
            <a:r>
              <a:rPr lang="en-US" altLang="zh-CN"/>
              <a:t>2.6”</a:t>
            </a:r>
            <a:r>
              <a:rPr lang="zh-CN" altLang="en-US"/>
              <a:t>保持不变，</a:t>
            </a:r>
            <a:r>
              <a:rPr lang="en-US" altLang="zh-CN"/>
              <a:t>C</a:t>
            </a:r>
            <a:r>
              <a:rPr lang="zh-CN" altLang="en-US"/>
              <a:t>随着新版本的发布而增加</a:t>
            </a:r>
            <a:r>
              <a:rPr lang="en-US" altLang="zh-CN"/>
              <a:t>,D</a:t>
            </a:r>
            <a:r>
              <a:rPr lang="zh-CN" altLang="en-US"/>
              <a:t>代表一些</a:t>
            </a:r>
            <a:r>
              <a:rPr lang="en-US" altLang="zh-CN"/>
              <a:t>bug</a:t>
            </a:r>
            <a:r>
              <a:rPr lang="zh-CN" altLang="en-US"/>
              <a:t>修复，安全更新，添加新特性和驱动的次数。</a:t>
            </a:r>
            <a:r>
              <a:rPr lang="en-US" altLang="zh-CN"/>
              <a:t>3.0</a:t>
            </a:r>
            <a:r>
              <a:rPr lang="zh-CN" altLang="en-US"/>
              <a:t>版本之后是“</a:t>
            </a:r>
            <a:r>
              <a:rPr lang="en-US" altLang="zh-CN"/>
              <a:t>A.B.C”</a:t>
            </a:r>
            <a:r>
              <a:rPr lang="zh-CN" altLang="en-US"/>
              <a:t>格式，</a:t>
            </a:r>
            <a:r>
              <a:rPr lang="en-US" altLang="zh-CN"/>
              <a:t>B</a:t>
            </a:r>
            <a:r>
              <a:rPr lang="zh-CN" altLang="en-US"/>
              <a:t>随着新版本的发布而增加</a:t>
            </a:r>
            <a:r>
              <a:rPr lang="en-US" altLang="zh-CN"/>
              <a:t>,C</a:t>
            </a:r>
            <a:r>
              <a:rPr lang="zh-CN" altLang="en-US"/>
              <a:t>代表一些</a:t>
            </a:r>
            <a:r>
              <a:rPr lang="en-US" altLang="zh-CN"/>
              <a:t>bug</a:t>
            </a:r>
            <a:r>
              <a:rPr lang="zh-CN" altLang="en-US"/>
              <a:t>修复，安全更新，新特性和驱动的次数。第三种方式中不再使用偶数代表稳定版，奇数代表开发版这样的命名方式。举个例子：</a:t>
            </a:r>
            <a:r>
              <a:rPr lang="en-US" altLang="zh-CN"/>
              <a:t>3.7.0</a:t>
            </a:r>
            <a:r>
              <a:rPr lang="zh-CN" altLang="en-US"/>
              <a:t>代表的不是开发版，而是稳定版！</a:t>
            </a:r>
            <a:r>
              <a:rPr lang="en-US" altLang="zh-CN" baseline="30000"/>
              <a:t>[3]</a:t>
            </a:r>
            <a:r>
              <a:rPr lang="zh-CN" altLang="en-US"/>
              <a:t> </a:t>
            </a:r>
          </a:p>
          <a:p>
            <a:endParaRPr lang="zh-CN" altLang="en-US"/>
          </a:p>
        </p:txBody>
      </p:sp>
      <p:sp>
        <p:nvSpPr>
          <p:cNvPr id="532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AB2579CE-2E4F-4F16-B00F-C16BAC6F84A2}" type="slidenum">
              <a:rPr lang="zh-CN" altLang="en-US" sz="1200" smtClean="0">
                <a:latin typeface="Arial" panose="020B0604020202020204" pitchFamily="34" charset="0"/>
                <a:ea typeface="宋体" panose="02010600030101010101" pitchFamily="2" charset="-122"/>
              </a:rPr>
              <a:pPr/>
              <a:t>27</a:t>
            </a:fld>
            <a:endParaRPr lang="en-US" altLang="zh-CN" sz="1200">
              <a:latin typeface="Arial" panose="020B0604020202020204" pitchFamily="34" charset="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DE5BA6C8-BE74-4550-B677-2F8D9AFA82B3}" type="slidenum">
              <a:rPr lang="zh-CN" altLang="en-US" sz="1200" smtClean="0">
                <a:latin typeface="Arial" panose="020B0604020202020204" pitchFamily="34" charset="0"/>
                <a:ea typeface="宋体" panose="02010600030101010101" pitchFamily="2" charset="-122"/>
              </a:rPr>
              <a:pPr/>
              <a:t>29</a:t>
            </a:fld>
            <a:endParaRPr lang="en-US" altLang="zh-CN" sz="1200">
              <a:latin typeface="Arial" panose="020B0604020202020204" pitchFamily="34" charset="0"/>
              <a:ea typeface="宋体" panose="02010600030101010101" pitchFamily="2" charset="-122"/>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ea typeface="宋体" panose="02010600030101010101" pitchFamily="2" charset="-122"/>
              </a:rPr>
              <a:t>当</a:t>
            </a:r>
            <a:r>
              <a:rPr lang="en-US" altLang="zh-CN">
                <a:ea typeface="宋体" panose="02010600030101010101" pitchFamily="2" charset="-122"/>
              </a:rPr>
              <a:t>Linux</a:t>
            </a:r>
            <a:r>
              <a:rPr lang="zh-CN" altLang="en-US">
                <a:ea typeface="宋体" panose="02010600030101010101" pitchFamily="2" charset="-122"/>
              </a:rPr>
              <a:t>走向成熟时，一些人开始建立软件包来简化新用户安装和使用</a:t>
            </a:r>
            <a:r>
              <a:rPr lang="en-US" altLang="zh-CN">
                <a:ea typeface="宋体" panose="02010600030101010101" pitchFamily="2" charset="-122"/>
              </a:rPr>
              <a:t>Linux</a:t>
            </a:r>
            <a:r>
              <a:rPr lang="zh-CN" altLang="en-US">
                <a:ea typeface="宋体" panose="02010600030101010101" pitchFamily="2" charset="-122"/>
              </a:rPr>
              <a:t>。这些软件包称为</a:t>
            </a:r>
            <a:r>
              <a:rPr lang="en-US" altLang="zh-CN">
                <a:ea typeface="宋体" panose="02010600030101010101" pitchFamily="2" charset="-122"/>
              </a:rPr>
              <a:t>Linux</a:t>
            </a:r>
            <a:r>
              <a:rPr lang="zh-CN" altLang="en-US">
                <a:ea typeface="宋体" panose="02010600030101010101" pitchFamily="2" charset="-122"/>
              </a:rPr>
              <a:t>发布或</a:t>
            </a:r>
            <a:r>
              <a:rPr lang="en-US" altLang="zh-CN">
                <a:ea typeface="宋体" panose="02010600030101010101" pitchFamily="2" charset="-122"/>
              </a:rPr>
              <a:t>Linux</a:t>
            </a:r>
            <a:r>
              <a:rPr lang="zh-CN" altLang="en-US">
                <a:ea typeface="宋体" panose="02010600030101010101" pitchFamily="2" charset="-122"/>
              </a:rPr>
              <a:t>发行版本。发行</a:t>
            </a:r>
            <a:r>
              <a:rPr lang="en-US" altLang="zh-CN">
                <a:ea typeface="宋体" panose="02010600030101010101" pitchFamily="2" charset="-122"/>
              </a:rPr>
              <a:t>Linux</a:t>
            </a:r>
            <a:r>
              <a:rPr lang="zh-CN" altLang="en-US">
                <a:ea typeface="宋体" panose="02010600030101010101" pitchFamily="2" charset="-122"/>
              </a:rPr>
              <a:t>不是某个个人或组织的事。任何人都可以将</a:t>
            </a:r>
            <a:r>
              <a:rPr lang="en-US" altLang="zh-CN">
                <a:ea typeface="宋体" panose="02010600030101010101" pitchFamily="2" charset="-122"/>
              </a:rPr>
              <a:t>Linux</a:t>
            </a:r>
            <a:r>
              <a:rPr lang="zh-CN" altLang="en-US">
                <a:ea typeface="宋体" panose="02010600030101010101" pitchFamily="2" charset="-122"/>
              </a:rPr>
              <a:t>内核和操作系统其它组成部分组合在一起进行分布。在中文的</a:t>
            </a:r>
            <a:r>
              <a:rPr lang="en-US" altLang="zh-CN">
                <a:ea typeface="宋体" panose="02010600030101010101" pitchFamily="2" charset="-122"/>
              </a:rPr>
              <a:t>Linux</a:t>
            </a:r>
            <a:r>
              <a:rPr lang="zh-CN" altLang="en-US">
                <a:ea typeface="宋体" panose="02010600030101010101" pitchFamily="2" charset="-122"/>
              </a:rPr>
              <a:t>发行版本方面，国内已经有众多的</a:t>
            </a:r>
            <a:r>
              <a:rPr lang="en-US" altLang="zh-CN">
                <a:ea typeface="宋体" panose="02010600030101010101" pitchFamily="2" charset="-122"/>
              </a:rPr>
              <a:t>Linux</a:t>
            </a:r>
            <a:r>
              <a:rPr lang="zh-CN" altLang="en-US">
                <a:ea typeface="宋体" panose="02010600030101010101" pitchFamily="2" charset="-122"/>
              </a:rPr>
              <a:t>厂商，如红旗</a:t>
            </a:r>
            <a:r>
              <a:rPr lang="en-US" altLang="zh-CN">
                <a:ea typeface="宋体" panose="02010600030101010101" pitchFamily="2" charset="-122"/>
              </a:rPr>
              <a:t>Linux</a:t>
            </a:r>
            <a:r>
              <a:rPr lang="zh-CN" altLang="en-US">
                <a:ea typeface="宋体" panose="02010600030101010101" pitchFamily="2" charset="-122"/>
              </a:rPr>
              <a:t>，</a:t>
            </a:r>
            <a:r>
              <a:rPr lang="en-US" altLang="zh-CN">
                <a:ea typeface="宋体" panose="02010600030101010101" pitchFamily="2" charset="-122"/>
              </a:rPr>
              <a:t>BluePoint Linux</a:t>
            </a:r>
            <a:r>
              <a:rPr lang="zh-CN" altLang="en-US">
                <a:ea typeface="宋体" panose="02010600030101010101" pitchFamily="2" charset="-122"/>
              </a:rPr>
              <a:t>，中软</a:t>
            </a:r>
            <a:r>
              <a:rPr lang="en-US" altLang="zh-CN">
                <a:ea typeface="宋体" panose="02010600030101010101" pitchFamily="2" charset="-122"/>
              </a:rPr>
              <a:t>Linux</a:t>
            </a:r>
            <a:r>
              <a:rPr lang="zh-CN" altLang="en-US">
                <a:ea typeface="宋体" panose="02010600030101010101" pitchFamily="2" charset="-122"/>
              </a:rPr>
              <a:t>等。每种发行版本有各自的优点和弱点，但它们使用的</a:t>
            </a:r>
            <a:r>
              <a:rPr lang="zh-CN" altLang="en-US" b="1">
                <a:ea typeface="宋体" panose="02010600030101010101" pitchFamily="2" charset="-122"/>
              </a:rPr>
              <a:t>内核</a:t>
            </a:r>
            <a:r>
              <a:rPr lang="zh-CN" altLang="en-US">
                <a:ea typeface="宋体" panose="02010600030101010101" pitchFamily="2" charset="-122"/>
              </a:rPr>
              <a:t>和开发工具则是一致的。</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DE5BA6C8-BE74-4550-B677-2F8D9AFA82B3}" type="slidenum">
              <a:rPr lang="zh-CN" altLang="en-US" sz="1200" smtClean="0">
                <a:latin typeface="Arial" panose="020B0604020202020204" pitchFamily="34" charset="0"/>
                <a:ea typeface="宋体" panose="02010600030101010101" pitchFamily="2" charset="-122"/>
              </a:rPr>
              <a:pPr/>
              <a:t>30</a:t>
            </a:fld>
            <a:endParaRPr lang="en-US" altLang="zh-CN" sz="1200">
              <a:latin typeface="Arial" panose="020B0604020202020204" pitchFamily="34" charset="0"/>
              <a:ea typeface="宋体" panose="02010600030101010101" pitchFamily="2" charset="-122"/>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ea typeface="宋体" panose="02010600030101010101" pitchFamily="2" charset="-122"/>
              </a:rPr>
              <a:t>当</a:t>
            </a:r>
            <a:r>
              <a:rPr lang="en-US" altLang="zh-CN">
                <a:ea typeface="宋体" panose="02010600030101010101" pitchFamily="2" charset="-122"/>
              </a:rPr>
              <a:t>Linux</a:t>
            </a:r>
            <a:r>
              <a:rPr lang="zh-CN" altLang="en-US">
                <a:ea typeface="宋体" panose="02010600030101010101" pitchFamily="2" charset="-122"/>
              </a:rPr>
              <a:t>走向成熟时，一些人开始建立软件包来简化新用户安装和使用</a:t>
            </a:r>
            <a:r>
              <a:rPr lang="en-US" altLang="zh-CN">
                <a:ea typeface="宋体" panose="02010600030101010101" pitchFamily="2" charset="-122"/>
              </a:rPr>
              <a:t>Linux</a:t>
            </a:r>
            <a:r>
              <a:rPr lang="zh-CN" altLang="en-US">
                <a:ea typeface="宋体" panose="02010600030101010101" pitchFamily="2" charset="-122"/>
              </a:rPr>
              <a:t>。这些软件包称为</a:t>
            </a:r>
            <a:r>
              <a:rPr lang="en-US" altLang="zh-CN">
                <a:ea typeface="宋体" panose="02010600030101010101" pitchFamily="2" charset="-122"/>
              </a:rPr>
              <a:t>Linux</a:t>
            </a:r>
            <a:r>
              <a:rPr lang="zh-CN" altLang="en-US">
                <a:ea typeface="宋体" panose="02010600030101010101" pitchFamily="2" charset="-122"/>
              </a:rPr>
              <a:t>发布或</a:t>
            </a:r>
            <a:r>
              <a:rPr lang="en-US" altLang="zh-CN">
                <a:ea typeface="宋体" panose="02010600030101010101" pitchFamily="2" charset="-122"/>
              </a:rPr>
              <a:t>Linux</a:t>
            </a:r>
            <a:r>
              <a:rPr lang="zh-CN" altLang="en-US">
                <a:ea typeface="宋体" panose="02010600030101010101" pitchFamily="2" charset="-122"/>
              </a:rPr>
              <a:t>发行版本。发行</a:t>
            </a:r>
            <a:r>
              <a:rPr lang="en-US" altLang="zh-CN">
                <a:ea typeface="宋体" panose="02010600030101010101" pitchFamily="2" charset="-122"/>
              </a:rPr>
              <a:t>Linux</a:t>
            </a:r>
            <a:r>
              <a:rPr lang="zh-CN" altLang="en-US">
                <a:ea typeface="宋体" panose="02010600030101010101" pitchFamily="2" charset="-122"/>
              </a:rPr>
              <a:t>不是某个个人或组织的事。任何人都可以将</a:t>
            </a:r>
            <a:r>
              <a:rPr lang="en-US" altLang="zh-CN">
                <a:ea typeface="宋体" panose="02010600030101010101" pitchFamily="2" charset="-122"/>
              </a:rPr>
              <a:t>Linux</a:t>
            </a:r>
            <a:r>
              <a:rPr lang="zh-CN" altLang="en-US">
                <a:ea typeface="宋体" panose="02010600030101010101" pitchFamily="2" charset="-122"/>
              </a:rPr>
              <a:t>内核和操作系统其它组成部分组合在一起进行分布。在中文的</a:t>
            </a:r>
            <a:r>
              <a:rPr lang="en-US" altLang="zh-CN">
                <a:ea typeface="宋体" panose="02010600030101010101" pitchFamily="2" charset="-122"/>
              </a:rPr>
              <a:t>Linux</a:t>
            </a:r>
            <a:r>
              <a:rPr lang="zh-CN" altLang="en-US">
                <a:ea typeface="宋体" panose="02010600030101010101" pitchFamily="2" charset="-122"/>
              </a:rPr>
              <a:t>发行版本方面，国内已经有众多的</a:t>
            </a:r>
            <a:r>
              <a:rPr lang="en-US" altLang="zh-CN">
                <a:ea typeface="宋体" panose="02010600030101010101" pitchFamily="2" charset="-122"/>
              </a:rPr>
              <a:t>Linux</a:t>
            </a:r>
            <a:r>
              <a:rPr lang="zh-CN" altLang="en-US">
                <a:ea typeface="宋体" panose="02010600030101010101" pitchFamily="2" charset="-122"/>
              </a:rPr>
              <a:t>厂商，如红旗</a:t>
            </a:r>
            <a:r>
              <a:rPr lang="en-US" altLang="zh-CN">
                <a:ea typeface="宋体" panose="02010600030101010101" pitchFamily="2" charset="-122"/>
              </a:rPr>
              <a:t>Linux</a:t>
            </a:r>
            <a:r>
              <a:rPr lang="zh-CN" altLang="en-US">
                <a:ea typeface="宋体" panose="02010600030101010101" pitchFamily="2" charset="-122"/>
              </a:rPr>
              <a:t>，</a:t>
            </a:r>
            <a:r>
              <a:rPr lang="en-US" altLang="zh-CN">
                <a:ea typeface="宋体" panose="02010600030101010101" pitchFamily="2" charset="-122"/>
              </a:rPr>
              <a:t>BluePoint Linux</a:t>
            </a:r>
            <a:r>
              <a:rPr lang="zh-CN" altLang="en-US">
                <a:ea typeface="宋体" panose="02010600030101010101" pitchFamily="2" charset="-122"/>
              </a:rPr>
              <a:t>，中软</a:t>
            </a:r>
            <a:r>
              <a:rPr lang="en-US" altLang="zh-CN">
                <a:ea typeface="宋体" panose="02010600030101010101" pitchFamily="2" charset="-122"/>
              </a:rPr>
              <a:t>Linux</a:t>
            </a:r>
            <a:r>
              <a:rPr lang="zh-CN" altLang="en-US">
                <a:ea typeface="宋体" panose="02010600030101010101" pitchFamily="2" charset="-122"/>
              </a:rPr>
              <a:t>等。每种发行版本有各自的优点和弱点，但它们使用的</a:t>
            </a:r>
            <a:r>
              <a:rPr lang="zh-CN" altLang="en-US" b="1">
                <a:ea typeface="宋体" panose="02010600030101010101" pitchFamily="2" charset="-122"/>
              </a:rPr>
              <a:t>内核</a:t>
            </a:r>
            <a:r>
              <a:rPr lang="zh-CN" altLang="en-US">
                <a:ea typeface="宋体" panose="02010600030101010101" pitchFamily="2" charset="-122"/>
              </a:rPr>
              <a:t>和开发工具则是一致的。</a:t>
            </a:r>
          </a:p>
        </p:txBody>
      </p:sp>
    </p:spTree>
    <p:extLst>
      <p:ext uri="{BB962C8B-B14F-4D97-AF65-F5344CB8AC3E}">
        <p14:creationId xmlns:p14="http://schemas.microsoft.com/office/powerpoint/2010/main" val="16348437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9BECA1C7-C9A6-471A-935E-9C69F6B906A9}" type="slidenum">
              <a:rPr lang="zh-CN" altLang="en-US" sz="1200" smtClean="0">
                <a:latin typeface="Arial" panose="020B0604020202020204" pitchFamily="34" charset="0"/>
                <a:ea typeface="宋体" panose="02010600030101010101" pitchFamily="2" charset="-122"/>
              </a:rPr>
              <a:pPr/>
              <a:t>33</a:t>
            </a:fld>
            <a:endParaRPr lang="en-US" altLang="zh-CN" sz="1200">
              <a:latin typeface="Arial" panose="020B0604020202020204" pitchFamily="34" charset="0"/>
              <a:ea typeface="宋体" panose="02010600030101010101" pitchFamily="2" charset="-122"/>
            </a:endParaRPr>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核心目录</a:t>
            </a:r>
          </a:p>
          <a:p>
            <a:pPr eaLnBrk="1" hangingPunct="1">
              <a:buFont typeface="Wingdings" panose="05000000000000000000" pitchFamily="2" charset="2"/>
              <a:buNone/>
            </a:pPr>
            <a:r>
              <a:rPr lang="zh-CN" altLang="en-US">
                <a:latin typeface="楷体_GB2312" pitchFamily="49" charset="-122"/>
                <a:ea typeface="楷体_GB2312" pitchFamily="49" charset="-122"/>
              </a:rPr>
              <a:t>（如，</a:t>
            </a:r>
            <a:r>
              <a:rPr lang="en-US" altLang="zh-CN">
                <a:latin typeface="楷体_GB2312" pitchFamily="49" charset="-122"/>
                <a:ea typeface="楷体_GB2312" pitchFamily="49" charset="-122"/>
              </a:rPr>
              <a:t>include/linux,include/asm-i386,include/scsi) </a:t>
            </a:r>
          </a:p>
          <a:p>
            <a:pPr eaLnBrk="1" hangingPunct="1"/>
            <a:endParaRPr lang="zh-CN" altLang="en-US"/>
          </a:p>
        </p:txBody>
      </p:sp>
    </p:spTree>
    <p:extLst>
      <p:ext uri="{BB962C8B-B14F-4D97-AF65-F5344CB8AC3E}">
        <p14:creationId xmlns:p14="http://schemas.microsoft.com/office/powerpoint/2010/main" val="17803890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a:ln/>
        </p:spPr>
      </p:sp>
      <p:sp>
        <p:nvSpPr>
          <p:cNvPr id="102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2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0FC6E23A-395E-493D-B89B-0C228B61F79F}" type="slidenum">
              <a:rPr lang="zh-CN" altLang="en-US" sz="1200" smtClean="0">
                <a:latin typeface="Arial" panose="020B0604020202020204" pitchFamily="34" charset="0"/>
                <a:ea typeface="宋体" panose="02010600030101010101" pitchFamily="2" charset="-122"/>
              </a:rPr>
              <a:pPr/>
              <a:t>35</a:t>
            </a:fld>
            <a:endParaRPr lang="en-US" altLang="zh-CN" sz="120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135264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168C5F46-58DF-46FD-BF7A-882269EB7581}" type="slidenum">
              <a:rPr lang="zh-CN" altLang="en-US" sz="1200" smtClean="0">
                <a:latin typeface="Arial" panose="020B0604020202020204" pitchFamily="34" charset="0"/>
                <a:ea typeface="宋体" panose="02010600030101010101" pitchFamily="2" charset="-122"/>
              </a:rPr>
              <a:pPr/>
              <a:t>40</a:t>
            </a:fld>
            <a:endParaRPr lang="en-US" altLang="zh-CN" sz="1200">
              <a:latin typeface="Arial" panose="020B0604020202020204" pitchFamily="34" charset="0"/>
              <a:ea typeface="宋体" panose="02010600030101010101" pitchFamily="2" charset="-122"/>
            </a:endParaRPr>
          </a:p>
        </p:txBody>
      </p:sp>
      <p:sp>
        <p:nvSpPr>
          <p:cNvPr id="7" name="Rectangle 7"/>
          <p:cNvSpPr txBox="1">
            <a:spLocks noGrp="1" noChangeArrowheads="1"/>
          </p:cNvSpPr>
          <p:nvPr/>
        </p:nvSpPr>
        <p:spPr bwMode="auto">
          <a:xfrm>
            <a:off x="3886200" y="9448800"/>
            <a:ext cx="2971800" cy="498475"/>
          </a:xfrm>
          <a:prstGeom prst="rect">
            <a:avLst/>
          </a:prstGeom>
          <a:noFill/>
          <a:ln>
            <a:miter lim="800000"/>
            <a:headEnd/>
            <a:tailEnd/>
          </a:ln>
        </p:spPr>
        <p:txBody>
          <a:bodyPr lIns="91870" tIns="45935" rIns="91870" bIns="45935" anchor="b"/>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pPr algn="r" eaLnBrk="1" hangingPunct="1">
              <a:defRPr/>
            </a:pPr>
            <a:fld id="{236C0883-24FE-4232-8307-72CD9DAFC8FD}" type="slidenum">
              <a:rPr lang="en-US" altLang="zh-CN" sz="1200" smtClean="0">
                <a:effectLst>
                  <a:outerShdw blurRad="38100" dist="38100" dir="2700000" algn="tl">
                    <a:srgbClr val="C0C0C0"/>
                  </a:outerShdw>
                </a:effectLst>
                <a:latin typeface="Verdana" panose="020B0604030504040204" pitchFamily="34" charset="0"/>
                <a:ea typeface="宋体" panose="02010600030101010101" pitchFamily="2" charset="-122"/>
              </a:rPr>
              <a:pPr algn="r" eaLnBrk="1" hangingPunct="1">
                <a:defRPr/>
              </a:pPr>
              <a:t>40</a:t>
            </a:fld>
            <a:endParaRPr lang="en-US" altLang="zh-CN" sz="1200">
              <a:effectLst>
                <a:outerShdw blurRad="38100" dist="38100" dir="2700000" algn="tl">
                  <a:srgbClr val="C0C0C0"/>
                </a:outerShdw>
              </a:effectLst>
              <a:latin typeface="Verdana" panose="020B0604030504040204" pitchFamily="34" charset="0"/>
              <a:ea typeface="宋体" panose="02010600030101010101" pitchFamily="2" charset="-122"/>
            </a:endParaRPr>
          </a:p>
        </p:txBody>
      </p:sp>
      <p:sp>
        <p:nvSpPr>
          <p:cNvPr id="16388" name="Rectangle 2"/>
          <p:cNvSpPr>
            <a:spLocks noGrp="1" noRot="1" noChangeAspect="1" noChangeArrowheads="1" noTextEdit="1"/>
          </p:cNvSpPr>
          <p:nvPr>
            <p:ph type="sldImg"/>
          </p:nvPr>
        </p:nvSpPr>
        <p:spPr>
          <a:ln/>
        </p:spPr>
      </p:sp>
      <p:sp>
        <p:nvSpPr>
          <p:cNvPr id="16389" name="Rectangle 3"/>
          <p:cNvSpPr>
            <a:spLocks noGrp="1" noChangeArrowheads="1"/>
          </p:cNvSpPr>
          <p:nvPr>
            <p:ph type="body" idx="1"/>
          </p:nvPr>
        </p:nvSpPr>
        <p:spPr>
          <a:xfrm>
            <a:off x="914400" y="4725988"/>
            <a:ext cx="5029200" cy="44751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0217410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输入和输出都用</a:t>
            </a:r>
            <a:r>
              <a:rPr lang="en-US" altLang="zh-CN"/>
              <a:t>r</a:t>
            </a:r>
            <a:r>
              <a:rPr lang="zh-CN" altLang="en-US"/>
              <a:t>来约束</a:t>
            </a:r>
            <a:r>
              <a:rPr lang="en-US" altLang="zh-CN"/>
              <a:t>,</a:t>
            </a:r>
            <a:r>
              <a:rPr lang="zh-CN" altLang="en-US"/>
              <a:t>表示存储在寄存器中</a:t>
            </a:r>
            <a:r>
              <a:rPr lang="en-US" altLang="zh-CN"/>
              <a:t>.</a:t>
            </a:r>
            <a:endParaRPr lang="zh-CN" altLang="en-US"/>
          </a:p>
        </p:txBody>
      </p:sp>
      <p:sp>
        <p:nvSpPr>
          <p:cNvPr id="337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fld id="{D5E1ECBA-763F-4C6C-840C-3080EB39BDE2}" type="slidenum">
              <a:rPr lang="zh-CN" altLang="en-US" sz="1200" smtClean="0">
                <a:latin typeface="Arial" panose="020B0604020202020204" pitchFamily="34" charset="0"/>
                <a:ea typeface="宋体" panose="02010600030101010101" pitchFamily="2" charset="-122"/>
              </a:rPr>
              <a:pPr/>
              <a:t>56</a:t>
            </a:fld>
            <a:endParaRPr lang="en-US" altLang="zh-CN" sz="120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855155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bwMode="gray">
      <p:bgPr>
        <a:solidFill>
          <a:schemeClr val="bg1"/>
        </a:solidFill>
        <a:effectLst/>
      </p:bgPr>
    </p:bg>
    <p:spTree>
      <p:nvGrpSpPr>
        <p:cNvPr id="1" name=""/>
        <p:cNvGrpSpPr/>
        <p:nvPr/>
      </p:nvGrpSpPr>
      <p:grpSpPr>
        <a:xfrm>
          <a:off x="0" y="0"/>
          <a:ext cx="0" cy="0"/>
          <a:chOff x="0" y="0"/>
          <a:chExt cx="0" cy="0"/>
        </a:xfrm>
      </p:grpSpPr>
      <p:sp>
        <p:nvSpPr>
          <p:cNvPr id="4" name="Rectangle 42"/>
          <p:cNvSpPr>
            <a:spLocks noChangeArrowheads="1"/>
          </p:cNvSpPr>
          <p:nvPr/>
        </p:nvSpPr>
        <p:spPr bwMode="ltGray">
          <a:xfrm>
            <a:off x="0" y="0"/>
            <a:ext cx="9144000" cy="483235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5" name="AutoShape 37"/>
          <p:cNvSpPr>
            <a:spLocks noChangeArrowheads="1"/>
          </p:cNvSpPr>
          <p:nvPr/>
        </p:nvSpPr>
        <p:spPr bwMode="ltGray">
          <a:xfrm flipH="1">
            <a:off x="2411413" y="4581525"/>
            <a:ext cx="863600" cy="503238"/>
          </a:xfrm>
          <a:prstGeom prst="homePlate">
            <a:avLst>
              <a:gd name="adj" fmla="val 42902"/>
            </a:avLst>
          </a:prstGeom>
          <a:gradFill rotWithShape="1">
            <a:gsLst>
              <a:gs pos="0">
                <a:schemeClr val="tx1">
                  <a:gamma/>
                  <a:shade val="46275"/>
                  <a:invGamma/>
                </a:schemeClr>
              </a:gs>
              <a:gs pos="100000">
                <a:schemeClr val="tx1"/>
              </a:gs>
            </a:gsLst>
            <a:lin ang="0" scaled="1"/>
          </a:gradFill>
          <a:ln w="9525">
            <a:noFill/>
            <a:miter lim="800000"/>
            <a:headEnd/>
            <a:tailEnd/>
          </a:ln>
          <a:effectLst/>
        </p:spPr>
        <p:txBody>
          <a:bodyPr wrap="none" anchor="ctr"/>
          <a:lstStyle/>
          <a:p>
            <a:pPr>
              <a:defRPr/>
            </a:pPr>
            <a:endParaRPr lang="zh-CN" altLang="en-US"/>
          </a:p>
        </p:txBody>
      </p:sp>
      <p:sp>
        <p:nvSpPr>
          <p:cNvPr id="6" name="AutoShape 38"/>
          <p:cNvSpPr>
            <a:spLocks noChangeArrowheads="1"/>
          </p:cNvSpPr>
          <p:nvPr/>
        </p:nvSpPr>
        <p:spPr bwMode="ltGray">
          <a:xfrm flipH="1">
            <a:off x="2700338" y="4581525"/>
            <a:ext cx="719137" cy="503238"/>
          </a:xfrm>
          <a:prstGeom prst="homePlate">
            <a:avLst>
              <a:gd name="adj" fmla="val 35725"/>
            </a:avLst>
          </a:prstGeom>
          <a:gradFill rotWithShape="1">
            <a:gsLst>
              <a:gs pos="0">
                <a:schemeClr val="hlink">
                  <a:gamma/>
                  <a:shade val="46275"/>
                  <a:invGamma/>
                </a:schemeClr>
              </a:gs>
              <a:gs pos="100000">
                <a:schemeClr val="hlink"/>
              </a:gs>
            </a:gsLst>
            <a:lin ang="0" scaled="1"/>
          </a:gradFill>
          <a:ln w="9525">
            <a:noFill/>
            <a:miter lim="800000"/>
            <a:headEnd/>
            <a:tailEnd/>
          </a:ln>
          <a:effectLst/>
        </p:spPr>
        <p:txBody>
          <a:bodyPr wrap="none" anchor="ctr"/>
          <a:lstStyle/>
          <a:p>
            <a:pPr>
              <a:defRPr/>
            </a:pPr>
            <a:endParaRPr lang="zh-CN" altLang="en-US"/>
          </a:p>
        </p:txBody>
      </p:sp>
      <p:grpSp>
        <p:nvGrpSpPr>
          <p:cNvPr id="7" name="Group 44"/>
          <p:cNvGrpSpPr>
            <a:grpSpLocks/>
          </p:cNvGrpSpPr>
          <p:nvPr/>
        </p:nvGrpSpPr>
        <p:grpSpPr bwMode="auto">
          <a:xfrm>
            <a:off x="2987675" y="4581525"/>
            <a:ext cx="6156325" cy="503238"/>
            <a:chOff x="1882" y="2886"/>
            <a:chExt cx="3878" cy="317"/>
          </a:xfrm>
        </p:grpSpPr>
        <p:sp>
          <p:nvSpPr>
            <p:cNvPr id="8" name="Rectangle 40"/>
            <p:cNvSpPr>
              <a:spLocks noChangeArrowheads="1"/>
            </p:cNvSpPr>
            <p:nvPr/>
          </p:nvSpPr>
          <p:spPr bwMode="gray">
            <a:xfrm flipH="1">
              <a:off x="2147" y="2887"/>
              <a:ext cx="3613" cy="31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9" name="AutoShape 41"/>
            <p:cNvSpPr>
              <a:spLocks noChangeArrowheads="1"/>
            </p:cNvSpPr>
            <p:nvPr/>
          </p:nvSpPr>
          <p:spPr bwMode="gray">
            <a:xfrm flipH="1">
              <a:off x="1882" y="2886"/>
              <a:ext cx="411" cy="316"/>
            </a:xfrm>
            <a:prstGeom prst="homePlate">
              <a:avLst>
                <a:gd name="adj" fmla="val 32516"/>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pPr>
                <a:defRPr/>
              </a:pPr>
              <a:endParaRPr lang="zh-CN" altLang="en-US"/>
            </a:p>
          </p:txBody>
        </p:sp>
      </p:grpSp>
      <p:sp>
        <p:nvSpPr>
          <p:cNvPr id="13333" name="Rectangle 21"/>
          <p:cNvSpPr>
            <a:spLocks noGrp="1" noChangeArrowheads="1"/>
          </p:cNvSpPr>
          <p:nvPr>
            <p:ph type="ctrTitle" sz="quarter"/>
          </p:nvPr>
        </p:nvSpPr>
        <p:spPr>
          <a:xfrm>
            <a:off x="2843213" y="2349500"/>
            <a:ext cx="6300787" cy="1944688"/>
          </a:xfrm>
          <a:effectLst>
            <a:outerShdw dist="35921" dir="2700000" algn="ctr" rotWithShape="0">
              <a:schemeClr val="tx1"/>
            </a:outerShdw>
          </a:effectLst>
        </p:spPr>
        <p:txBody>
          <a:bodyPr/>
          <a:lstStyle>
            <a:lvl1pPr algn="l">
              <a:defRPr sz="5400">
                <a:solidFill>
                  <a:schemeClr val="bg1"/>
                </a:solidFill>
              </a:defRPr>
            </a:lvl1pPr>
          </a:lstStyle>
          <a:p>
            <a:r>
              <a:rPr lang="en-US" altLang="ko-KR"/>
              <a:t>Click to edit Master title style</a:t>
            </a:r>
          </a:p>
        </p:txBody>
      </p:sp>
      <p:sp>
        <p:nvSpPr>
          <p:cNvPr id="13334" name="Rectangle 22"/>
          <p:cNvSpPr>
            <a:spLocks noGrp="1" noChangeArrowheads="1"/>
          </p:cNvSpPr>
          <p:nvPr>
            <p:ph type="subTitle" sz="quarter" idx="1"/>
          </p:nvPr>
        </p:nvSpPr>
        <p:spPr bwMode="white">
          <a:xfrm>
            <a:off x="3348038" y="4581525"/>
            <a:ext cx="5795962" cy="376238"/>
          </a:xfrm>
        </p:spPr>
        <p:txBody>
          <a:bodyPr/>
          <a:lstStyle>
            <a:lvl1pPr marL="0" indent="0">
              <a:buFont typeface="Wingdings" pitchFamily="2" charset="2"/>
              <a:buNone/>
              <a:defRPr sz="2400">
                <a:solidFill>
                  <a:schemeClr val="tx1"/>
                </a:solidFill>
              </a:defRPr>
            </a:lvl1pPr>
          </a:lstStyle>
          <a:p>
            <a:r>
              <a:rPr lang="en-US" altLang="ko-KR"/>
              <a:t>Click to edit Master subtitle style</a:t>
            </a:r>
          </a:p>
        </p:txBody>
      </p:sp>
      <p:sp>
        <p:nvSpPr>
          <p:cNvPr id="10" name="Rectangle 23"/>
          <p:cNvSpPr>
            <a:spLocks noGrp="1" noChangeArrowheads="1"/>
          </p:cNvSpPr>
          <p:nvPr>
            <p:ph type="dt" sz="quarter" idx="10"/>
          </p:nvPr>
        </p:nvSpPr>
        <p:spPr bwMode="black">
          <a:xfrm>
            <a:off x="457200" y="6553200"/>
            <a:ext cx="2133600" cy="1524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eaLnBrk="1" hangingPunct="1">
              <a:defRPr>
                <a:effectLst>
                  <a:outerShdw blurRad="38100" dist="38100" dir="2700000" algn="tl">
                    <a:srgbClr val="C0C0C0"/>
                  </a:outerShdw>
                </a:effectLst>
                <a:ea typeface="Gulim" pitchFamily="34" charset="-127"/>
              </a:defRPr>
            </a:lvl1pPr>
          </a:lstStyle>
          <a:p>
            <a:pPr>
              <a:defRPr/>
            </a:pPr>
            <a:endParaRPr lang="en-US" altLang="ko-KR"/>
          </a:p>
        </p:txBody>
      </p:sp>
      <p:sp>
        <p:nvSpPr>
          <p:cNvPr id="11" name="Rectangle 24"/>
          <p:cNvSpPr>
            <a:spLocks noGrp="1" noChangeArrowheads="1"/>
          </p:cNvSpPr>
          <p:nvPr>
            <p:ph type="ftr" sz="quarter" idx="11"/>
          </p:nvPr>
        </p:nvSpPr>
        <p:spPr bwMode="black">
          <a:xfrm>
            <a:off x="3124200" y="6553200"/>
            <a:ext cx="2895600" cy="1524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eaLnBrk="1" hangingPunct="1">
              <a:defRPr>
                <a:effectLst>
                  <a:outerShdw blurRad="38100" dist="38100" dir="2700000" algn="tl">
                    <a:srgbClr val="C0C0C0"/>
                  </a:outerShdw>
                </a:effectLst>
                <a:ea typeface="Gulim" pitchFamily="34" charset="-127"/>
              </a:defRPr>
            </a:lvl1pPr>
          </a:lstStyle>
          <a:p>
            <a:pPr>
              <a:defRPr/>
            </a:pPr>
            <a:endParaRPr lang="en-US" altLang="ko-KR"/>
          </a:p>
        </p:txBody>
      </p:sp>
      <p:sp>
        <p:nvSpPr>
          <p:cNvPr id="12" name="Rectangle 25"/>
          <p:cNvSpPr>
            <a:spLocks noGrp="1" noChangeArrowheads="1"/>
          </p:cNvSpPr>
          <p:nvPr>
            <p:ph type="sldNum" sz="quarter" idx="12"/>
          </p:nvPr>
        </p:nvSpPr>
        <p:spPr bwMode="black">
          <a:xfrm>
            <a:off x="6553200" y="6553200"/>
            <a:ext cx="2133600" cy="152400"/>
          </a:xfrm>
        </p:spPr>
        <p:txBody>
          <a:bodyPr/>
          <a:lstStyle>
            <a:lvl1pPr algn="r">
              <a:defRPr sz="1400">
                <a:latin typeface="Times New Roman" panose="02020603050405020304" pitchFamily="18" charset="0"/>
              </a:defRPr>
            </a:lvl1pPr>
          </a:lstStyle>
          <a:p>
            <a:pPr>
              <a:defRPr/>
            </a:pPr>
            <a:fld id="{29F387FE-6E1C-4262-82C2-5BA1577DC936}" type="slidenum">
              <a:rPr lang="ko-KR" altLang="en-US"/>
              <a:pPr>
                <a:defRPr/>
              </a:pPr>
              <a:t>‹#›</a:t>
            </a:fld>
            <a:endParaRPr lang="en-US" altLang="ko-KR"/>
          </a:p>
        </p:txBody>
      </p:sp>
    </p:spTree>
    <p:extLst>
      <p:ext uri="{BB962C8B-B14F-4D97-AF65-F5344CB8AC3E}">
        <p14:creationId xmlns:p14="http://schemas.microsoft.com/office/powerpoint/2010/main" val="24692257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5"/>
          <p:cNvSpPr>
            <a:spLocks noGrp="1" noChangeArrowheads="1"/>
          </p:cNvSpPr>
          <p:nvPr>
            <p:ph type="sldNum" sz="quarter" idx="10"/>
          </p:nvPr>
        </p:nvSpPr>
        <p:spPr>
          <a:ln/>
        </p:spPr>
        <p:txBody>
          <a:bodyPr/>
          <a:lstStyle>
            <a:lvl1pPr>
              <a:defRPr/>
            </a:lvl1pPr>
          </a:lstStyle>
          <a:p>
            <a:pPr>
              <a:defRPr/>
            </a:pPr>
            <a:fld id="{50A1AECA-253B-465B-90F5-D6245EA8E3CA}" type="slidenum">
              <a:rPr lang="ko-KR" altLang="en-US"/>
              <a:pPr>
                <a:defRPr/>
              </a:pPr>
              <a:t>‹#›</a:t>
            </a:fld>
            <a:endParaRPr lang="en-US" altLang="ko-KR"/>
          </a:p>
        </p:txBody>
      </p:sp>
    </p:spTree>
    <p:extLst>
      <p:ext uri="{BB962C8B-B14F-4D97-AF65-F5344CB8AC3E}">
        <p14:creationId xmlns:p14="http://schemas.microsoft.com/office/powerpoint/2010/main" val="3768640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5"/>
          <p:cNvSpPr>
            <a:spLocks noGrp="1" noChangeArrowheads="1"/>
          </p:cNvSpPr>
          <p:nvPr>
            <p:ph type="sldNum" sz="quarter" idx="10"/>
          </p:nvPr>
        </p:nvSpPr>
        <p:spPr>
          <a:ln/>
        </p:spPr>
        <p:txBody>
          <a:bodyPr/>
          <a:lstStyle>
            <a:lvl1pPr>
              <a:defRPr/>
            </a:lvl1pPr>
          </a:lstStyle>
          <a:p>
            <a:pPr>
              <a:defRPr/>
            </a:pPr>
            <a:fld id="{7BAD2ECD-168C-468A-AAA9-5D4398EB4E16}" type="slidenum">
              <a:rPr lang="ko-KR" altLang="en-US"/>
              <a:pPr>
                <a:defRPr/>
              </a:pPr>
              <a:t>‹#›</a:t>
            </a:fld>
            <a:endParaRPr lang="en-US" altLang="ko-KR"/>
          </a:p>
        </p:txBody>
      </p:sp>
    </p:spTree>
    <p:extLst>
      <p:ext uri="{BB962C8B-B14F-4D97-AF65-F5344CB8AC3E}">
        <p14:creationId xmlns:p14="http://schemas.microsoft.com/office/powerpoint/2010/main" val="1586841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95288" y="1052513"/>
            <a:ext cx="4068762" cy="52720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6450" y="1052513"/>
            <a:ext cx="4070350" cy="52720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5"/>
          <p:cNvSpPr>
            <a:spLocks noGrp="1" noChangeArrowheads="1"/>
          </p:cNvSpPr>
          <p:nvPr>
            <p:ph type="sldNum" sz="quarter" idx="10"/>
          </p:nvPr>
        </p:nvSpPr>
        <p:spPr>
          <a:ln/>
        </p:spPr>
        <p:txBody>
          <a:bodyPr/>
          <a:lstStyle>
            <a:lvl1pPr>
              <a:defRPr/>
            </a:lvl1pPr>
          </a:lstStyle>
          <a:p>
            <a:pPr>
              <a:defRPr/>
            </a:pPr>
            <a:fld id="{C282EE6F-219F-4459-AA7B-98D0D5A62E3F}" type="slidenum">
              <a:rPr lang="ko-KR" altLang="en-US"/>
              <a:pPr>
                <a:defRPr/>
              </a:pPr>
              <a:t>‹#›</a:t>
            </a:fld>
            <a:endParaRPr lang="en-US" altLang="ko-KR"/>
          </a:p>
        </p:txBody>
      </p:sp>
    </p:spTree>
    <p:extLst>
      <p:ext uri="{BB962C8B-B14F-4D97-AF65-F5344CB8AC3E}">
        <p14:creationId xmlns:p14="http://schemas.microsoft.com/office/powerpoint/2010/main" val="1297950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5"/>
          <p:cNvSpPr>
            <a:spLocks noGrp="1" noChangeArrowheads="1"/>
          </p:cNvSpPr>
          <p:nvPr>
            <p:ph type="sldNum" sz="quarter" idx="10"/>
          </p:nvPr>
        </p:nvSpPr>
        <p:spPr>
          <a:ln/>
        </p:spPr>
        <p:txBody>
          <a:bodyPr/>
          <a:lstStyle>
            <a:lvl1pPr>
              <a:defRPr/>
            </a:lvl1pPr>
          </a:lstStyle>
          <a:p>
            <a:pPr>
              <a:defRPr/>
            </a:pPr>
            <a:fld id="{3B562EAA-0DB5-4BA1-AA7F-8487321D7065}" type="slidenum">
              <a:rPr lang="ko-KR" altLang="en-US"/>
              <a:pPr>
                <a:defRPr/>
              </a:pPr>
              <a:t>‹#›</a:t>
            </a:fld>
            <a:endParaRPr lang="en-US" altLang="ko-KR"/>
          </a:p>
        </p:txBody>
      </p:sp>
    </p:spTree>
    <p:extLst>
      <p:ext uri="{BB962C8B-B14F-4D97-AF65-F5344CB8AC3E}">
        <p14:creationId xmlns:p14="http://schemas.microsoft.com/office/powerpoint/2010/main" val="407897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5"/>
          <p:cNvSpPr>
            <a:spLocks noGrp="1" noChangeArrowheads="1"/>
          </p:cNvSpPr>
          <p:nvPr>
            <p:ph type="sldNum" sz="quarter" idx="10"/>
          </p:nvPr>
        </p:nvSpPr>
        <p:spPr>
          <a:ln/>
        </p:spPr>
        <p:txBody>
          <a:bodyPr/>
          <a:lstStyle>
            <a:lvl1pPr>
              <a:defRPr/>
            </a:lvl1pPr>
          </a:lstStyle>
          <a:p>
            <a:pPr>
              <a:defRPr/>
            </a:pPr>
            <a:fld id="{7F4CB65E-AD95-435B-BBDA-C11598D7C73D}" type="slidenum">
              <a:rPr lang="ko-KR" altLang="en-US"/>
              <a:pPr>
                <a:defRPr/>
              </a:pPr>
              <a:t>‹#›</a:t>
            </a:fld>
            <a:endParaRPr lang="en-US" altLang="ko-KR"/>
          </a:p>
        </p:txBody>
      </p:sp>
    </p:spTree>
    <p:extLst>
      <p:ext uri="{BB962C8B-B14F-4D97-AF65-F5344CB8AC3E}">
        <p14:creationId xmlns:p14="http://schemas.microsoft.com/office/powerpoint/2010/main" val="3671679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5"/>
          <p:cNvSpPr>
            <a:spLocks noGrp="1" noChangeArrowheads="1"/>
          </p:cNvSpPr>
          <p:nvPr>
            <p:ph type="sldNum" sz="quarter" idx="10"/>
          </p:nvPr>
        </p:nvSpPr>
        <p:spPr>
          <a:ln/>
        </p:spPr>
        <p:txBody>
          <a:bodyPr/>
          <a:lstStyle>
            <a:lvl1pPr>
              <a:defRPr/>
            </a:lvl1pPr>
          </a:lstStyle>
          <a:p>
            <a:pPr>
              <a:defRPr/>
            </a:pPr>
            <a:fld id="{29818923-EE9F-4B9F-B6C4-D5067DC5CE04}" type="slidenum">
              <a:rPr lang="ko-KR" altLang="en-US"/>
              <a:pPr>
                <a:defRPr/>
              </a:pPr>
              <a:t>‹#›</a:t>
            </a:fld>
            <a:endParaRPr lang="en-US" altLang="ko-KR"/>
          </a:p>
        </p:txBody>
      </p:sp>
    </p:spTree>
    <p:extLst>
      <p:ext uri="{BB962C8B-B14F-4D97-AF65-F5344CB8AC3E}">
        <p14:creationId xmlns:p14="http://schemas.microsoft.com/office/powerpoint/2010/main" val="2362240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5"/>
          <p:cNvSpPr>
            <a:spLocks noGrp="1" noChangeArrowheads="1"/>
          </p:cNvSpPr>
          <p:nvPr>
            <p:ph type="sldNum" sz="quarter" idx="10"/>
          </p:nvPr>
        </p:nvSpPr>
        <p:spPr>
          <a:ln/>
        </p:spPr>
        <p:txBody>
          <a:bodyPr/>
          <a:lstStyle>
            <a:lvl1pPr>
              <a:defRPr/>
            </a:lvl1pPr>
          </a:lstStyle>
          <a:p>
            <a:pPr>
              <a:defRPr/>
            </a:pPr>
            <a:fld id="{CF58C283-75EA-4A58-B415-A379F1074EF1}" type="slidenum">
              <a:rPr lang="ko-KR" altLang="en-US"/>
              <a:pPr>
                <a:defRPr/>
              </a:pPr>
              <a:t>‹#›</a:t>
            </a:fld>
            <a:endParaRPr lang="en-US" altLang="ko-KR"/>
          </a:p>
        </p:txBody>
      </p:sp>
    </p:spTree>
    <p:extLst>
      <p:ext uri="{BB962C8B-B14F-4D97-AF65-F5344CB8AC3E}">
        <p14:creationId xmlns:p14="http://schemas.microsoft.com/office/powerpoint/2010/main" val="1178260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5"/>
          <p:cNvSpPr>
            <a:spLocks noGrp="1" noChangeArrowheads="1"/>
          </p:cNvSpPr>
          <p:nvPr>
            <p:ph type="sldNum" sz="quarter" idx="10"/>
          </p:nvPr>
        </p:nvSpPr>
        <p:spPr>
          <a:ln/>
        </p:spPr>
        <p:txBody>
          <a:bodyPr/>
          <a:lstStyle>
            <a:lvl1pPr>
              <a:defRPr/>
            </a:lvl1pPr>
          </a:lstStyle>
          <a:p>
            <a:pPr>
              <a:defRPr/>
            </a:pPr>
            <a:fld id="{EE336CA9-9177-4CC9-8AB0-95FD7BADD36A}" type="slidenum">
              <a:rPr lang="ko-KR" altLang="en-US"/>
              <a:pPr>
                <a:defRPr/>
              </a:pPr>
              <a:t>‹#›</a:t>
            </a:fld>
            <a:endParaRPr lang="en-US" altLang="ko-KR"/>
          </a:p>
        </p:txBody>
      </p:sp>
    </p:spTree>
    <p:extLst>
      <p:ext uri="{BB962C8B-B14F-4D97-AF65-F5344CB8AC3E}">
        <p14:creationId xmlns:p14="http://schemas.microsoft.com/office/powerpoint/2010/main" val="1735307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5"/>
          <p:cNvSpPr>
            <a:spLocks noGrp="1" noChangeArrowheads="1"/>
          </p:cNvSpPr>
          <p:nvPr>
            <p:ph type="sldNum" sz="quarter" idx="10"/>
          </p:nvPr>
        </p:nvSpPr>
        <p:spPr>
          <a:ln/>
        </p:spPr>
        <p:txBody>
          <a:bodyPr/>
          <a:lstStyle>
            <a:lvl1pPr>
              <a:defRPr/>
            </a:lvl1pPr>
          </a:lstStyle>
          <a:p>
            <a:pPr>
              <a:defRPr/>
            </a:pPr>
            <a:fld id="{04B32A88-9C9B-4796-8569-DFC5213EA3A9}" type="slidenum">
              <a:rPr lang="ko-KR" altLang="en-US"/>
              <a:pPr>
                <a:defRPr/>
              </a:pPr>
              <a:t>‹#›</a:t>
            </a:fld>
            <a:endParaRPr lang="en-US" altLang="ko-KR"/>
          </a:p>
        </p:txBody>
      </p:sp>
    </p:spTree>
    <p:extLst>
      <p:ext uri="{BB962C8B-B14F-4D97-AF65-F5344CB8AC3E}">
        <p14:creationId xmlns:p14="http://schemas.microsoft.com/office/powerpoint/2010/main" val="64471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5113" y="115888"/>
            <a:ext cx="2071687" cy="62087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95288" y="115888"/>
            <a:ext cx="6067425" cy="62087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5"/>
          <p:cNvSpPr>
            <a:spLocks noGrp="1" noChangeArrowheads="1"/>
          </p:cNvSpPr>
          <p:nvPr>
            <p:ph type="sldNum" sz="quarter" idx="10"/>
          </p:nvPr>
        </p:nvSpPr>
        <p:spPr>
          <a:ln/>
        </p:spPr>
        <p:txBody>
          <a:bodyPr/>
          <a:lstStyle>
            <a:lvl1pPr>
              <a:defRPr/>
            </a:lvl1pPr>
          </a:lstStyle>
          <a:p>
            <a:pPr>
              <a:defRPr/>
            </a:pPr>
            <a:fld id="{4F026AF8-1AD9-47B2-8841-74E25E1008E1}" type="slidenum">
              <a:rPr lang="ko-KR" altLang="en-US"/>
              <a:pPr>
                <a:defRPr/>
              </a:pPr>
              <a:t>‹#›</a:t>
            </a:fld>
            <a:endParaRPr lang="en-US" altLang="ko-KR"/>
          </a:p>
        </p:txBody>
      </p:sp>
    </p:spTree>
    <p:extLst>
      <p:ext uri="{BB962C8B-B14F-4D97-AF65-F5344CB8AC3E}">
        <p14:creationId xmlns:p14="http://schemas.microsoft.com/office/powerpoint/2010/main" val="14569547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reserve="1">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a:xfrm>
            <a:off x="611188" y="115888"/>
            <a:ext cx="7632700" cy="609600"/>
          </a:xfrm>
        </p:spPr>
        <p:txBody>
          <a:bodyPr/>
          <a:lstStyle/>
          <a:p>
            <a:r>
              <a:rPr lang="zh-CN" altLang="en-US"/>
              <a:t>单击此处编辑母版标题样式</a:t>
            </a:r>
          </a:p>
        </p:txBody>
      </p:sp>
      <p:sp>
        <p:nvSpPr>
          <p:cNvPr id="3" name="内容占位符 2"/>
          <p:cNvSpPr>
            <a:spLocks noGrp="1"/>
          </p:cNvSpPr>
          <p:nvPr>
            <p:ph sz="half" idx="1"/>
          </p:nvPr>
        </p:nvSpPr>
        <p:spPr>
          <a:xfrm>
            <a:off x="395288" y="1052513"/>
            <a:ext cx="4068762" cy="52720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616450" y="1052513"/>
            <a:ext cx="4070350" cy="52720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5"/>
          <p:cNvSpPr>
            <a:spLocks noGrp="1" noChangeArrowheads="1"/>
          </p:cNvSpPr>
          <p:nvPr>
            <p:ph type="sldNum" sz="quarter" idx="10"/>
          </p:nvPr>
        </p:nvSpPr>
        <p:spPr>
          <a:ln/>
        </p:spPr>
        <p:txBody>
          <a:bodyPr/>
          <a:lstStyle>
            <a:lvl1pPr>
              <a:defRPr/>
            </a:lvl1pPr>
          </a:lstStyle>
          <a:p>
            <a:pPr>
              <a:defRPr/>
            </a:pPr>
            <a:fld id="{AD8EBF43-5A8A-4D4F-97E6-3E2AD841CB1A}" type="slidenum">
              <a:rPr lang="ko-KR" altLang="en-US"/>
              <a:pPr>
                <a:defRPr/>
              </a:pPr>
              <a:t>‹#›</a:t>
            </a:fld>
            <a:endParaRPr lang="en-US" altLang="ko-KR"/>
          </a:p>
        </p:txBody>
      </p:sp>
    </p:spTree>
    <p:extLst>
      <p:ext uri="{BB962C8B-B14F-4D97-AF65-F5344CB8AC3E}">
        <p14:creationId xmlns:p14="http://schemas.microsoft.com/office/powerpoint/2010/main" val="3701100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chemeClr val="bg1"/>
        </a:solidFill>
        <a:effectLst/>
      </p:bgPr>
    </p:bg>
    <p:spTree>
      <p:nvGrpSpPr>
        <p:cNvPr id="1" name=""/>
        <p:cNvGrpSpPr/>
        <p:nvPr/>
      </p:nvGrpSpPr>
      <p:grpSpPr>
        <a:xfrm>
          <a:off x="0" y="0"/>
          <a:ext cx="0" cy="0"/>
          <a:chOff x="0" y="0"/>
          <a:chExt cx="0" cy="0"/>
        </a:xfrm>
      </p:grpSpPr>
      <p:sp>
        <p:nvSpPr>
          <p:cNvPr id="12324" name="Rectangle 36"/>
          <p:cNvSpPr>
            <a:spLocks noChangeArrowheads="1"/>
          </p:cNvSpPr>
          <p:nvPr/>
        </p:nvSpPr>
        <p:spPr bwMode="ltGray">
          <a:xfrm>
            <a:off x="8859838" y="0"/>
            <a:ext cx="284162" cy="6858000"/>
          </a:xfrm>
          <a:prstGeom prst="rect">
            <a:avLst/>
          </a:prstGeom>
          <a:gradFill rotWithShape="1">
            <a:gsLst>
              <a:gs pos="0">
                <a:schemeClr val="accent1"/>
              </a:gs>
              <a:gs pos="100000">
                <a:schemeClr val="accent1">
                  <a:gamma/>
                  <a:tint val="0"/>
                  <a:invGamma/>
                </a:schemeClr>
              </a:gs>
            </a:gsLst>
            <a:lin ang="5400000" scaled="1"/>
          </a:gradFill>
          <a:ln w="9525">
            <a:noFill/>
            <a:miter lim="800000"/>
            <a:headEnd/>
            <a:tailEnd/>
          </a:ln>
          <a:effectLst/>
        </p:spPr>
        <p:txBody>
          <a:bodyPr wrap="none" anchor="ctr"/>
          <a:lstStyle/>
          <a:p>
            <a:pPr>
              <a:defRPr/>
            </a:pPr>
            <a:endParaRPr lang="zh-CN" altLang="en-US"/>
          </a:p>
        </p:txBody>
      </p:sp>
      <p:sp>
        <p:nvSpPr>
          <p:cNvPr id="1027" name="Rectangle 22"/>
          <p:cNvSpPr>
            <a:spLocks noGrp="1" noChangeArrowheads="1"/>
          </p:cNvSpPr>
          <p:nvPr>
            <p:ph type="body" idx="1"/>
          </p:nvPr>
        </p:nvSpPr>
        <p:spPr bwMode="auto">
          <a:xfrm>
            <a:off x="395288" y="1052513"/>
            <a:ext cx="8291512" cy="527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p>
        </p:txBody>
      </p:sp>
      <p:sp>
        <p:nvSpPr>
          <p:cNvPr id="12313" name="Rectangle 25"/>
          <p:cNvSpPr>
            <a:spLocks noGrp="1" noChangeArrowheads="1"/>
          </p:cNvSpPr>
          <p:nvPr>
            <p:ph type="sldNum" sz="quarter" idx="4"/>
          </p:nvPr>
        </p:nvSpPr>
        <p:spPr bwMode="auto">
          <a:xfrm>
            <a:off x="3276600" y="6477000"/>
            <a:ext cx="21336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effectLst>
                  <a:outerShdw blurRad="38100" dist="38100" dir="2700000" algn="tl">
                    <a:srgbClr val="C0C0C0"/>
                  </a:outerShdw>
                </a:effectLst>
                <a:latin typeface="Verdana" panose="020B0604030504040204" pitchFamily="34" charset="0"/>
                <a:ea typeface="Gulim" panose="020B0600000101010101" pitchFamily="34" charset="-127"/>
              </a:defRPr>
            </a:lvl1pPr>
          </a:lstStyle>
          <a:p>
            <a:pPr>
              <a:defRPr/>
            </a:pPr>
            <a:fld id="{32E41973-5DCA-4074-AAAA-26A1FE507300}" type="slidenum">
              <a:rPr lang="ko-KR" altLang="en-US"/>
              <a:pPr>
                <a:defRPr/>
              </a:pPr>
              <a:t>‹#›</a:t>
            </a:fld>
            <a:endParaRPr lang="en-US" altLang="ko-KR"/>
          </a:p>
        </p:txBody>
      </p:sp>
      <p:sp>
        <p:nvSpPr>
          <p:cNvPr id="12326" name="AutoShape 38"/>
          <p:cNvSpPr>
            <a:spLocks noChangeArrowheads="1"/>
          </p:cNvSpPr>
          <p:nvPr/>
        </p:nvSpPr>
        <p:spPr bwMode="ltGray">
          <a:xfrm>
            <a:off x="8461375" y="-6350"/>
            <a:ext cx="539750" cy="835025"/>
          </a:xfrm>
          <a:prstGeom prst="homePlate">
            <a:avLst>
              <a:gd name="adj" fmla="val 25000"/>
            </a:avLst>
          </a:prstGeom>
          <a:gradFill rotWithShape="1">
            <a:gsLst>
              <a:gs pos="0">
                <a:schemeClr val="tx1">
                  <a:gamma/>
                  <a:shade val="46275"/>
                  <a:invGamma/>
                </a:schemeClr>
              </a:gs>
              <a:gs pos="100000">
                <a:schemeClr val="tx1"/>
              </a:gs>
            </a:gsLst>
            <a:lin ang="0" scaled="1"/>
          </a:gradFill>
          <a:ln w="9525">
            <a:noFill/>
            <a:miter lim="800000"/>
            <a:headEnd/>
            <a:tailEnd/>
          </a:ln>
          <a:effectLst/>
        </p:spPr>
        <p:txBody>
          <a:bodyPr wrap="none" anchor="ctr"/>
          <a:lstStyle/>
          <a:p>
            <a:pPr>
              <a:defRPr/>
            </a:pPr>
            <a:endParaRPr lang="zh-CN" altLang="en-US"/>
          </a:p>
        </p:txBody>
      </p:sp>
      <p:sp>
        <p:nvSpPr>
          <p:cNvPr id="12328" name="AutoShape 40"/>
          <p:cNvSpPr>
            <a:spLocks noChangeArrowheads="1"/>
          </p:cNvSpPr>
          <p:nvPr/>
        </p:nvSpPr>
        <p:spPr bwMode="ltGray">
          <a:xfrm>
            <a:off x="8101013" y="1588"/>
            <a:ext cx="574675" cy="835025"/>
          </a:xfrm>
          <a:prstGeom prst="homePlate">
            <a:avLst>
              <a:gd name="adj" fmla="val 25000"/>
            </a:avLst>
          </a:prstGeom>
          <a:gradFill rotWithShape="1">
            <a:gsLst>
              <a:gs pos="0">
                <a:schemeClr val="hlink">
                  <a:gamma/>
                  <a:shade val="46275"/>
                  <a:invGamma/>
                </a:schemeClr>
              </a:gs>
              <a:gs pos="100000">
                <a:schemeClr val="hlink"/>
              </a:gs>
            </a:gsLst>
            <a:lin ang="0" scaled="1"/>
          </a:gradFill>
          <a:ln w="9525">
            <a:noFill/>
            <a:miter lim="800000"/>
            <a:headEnd/>
            <a:tailEnd/>
          </a:ln>
          <a:effectLst/>
        </p:spPr>
        <p:txBody>
          <a:bodyPr wrap="none" anchor="ctr"/>
          <a:lstStyle/>
          <a:p>
            <a:pPr algn="ctr">
              <a:defRPr/>
            </a:pPr>
            <a:endParaRPr lang="ko-KR" altLang="en-US" sz="1800">
              <a:ea typeface="Gulim" pitchFamily="34" charset="-127"/>
            </a:endParaRPr>
          </a:p>
        </p:txBody>
      </p:sp>
      <p:sp>
        <p:nvSpPr>
          <p:cNvPr id="12323" name="Rectangle 35"/>
          <p:cNvSpPr>
            <a:spLocks noChangeArrowheads="1"/>
          </p:cNvSpPr>
          <p:nvPr/>
        </p:nvSpPr>
        <p:spPr bwMode="ltGray">
          <a:xfrm>
            <a:off x="107950" y="0"/>
            <a:ext cx="7951788" cy="847725"/>
          </a:xfrm>
          <a:prstGeom prst="rect">
            <a:avLst/>
          </a:prstGeom>
          <a:gradFill rotWithShape="1">
            <a:gsLst>
              <a:gs pos="0">
                <a:schemeClr val="accent2">
                  <a:gamma/>
                  <a:tint val="0"/>
                  <a:invGamma/>
                </a:schemeClr>
              </a:gs>
              <a:gs pos="100000">
                <a:schemeClr val="accent2"/>
              </a:gs>
            </a:gsLst>
            <a:lin ang="0" scaled="1"/>
          </a:gradFill>
          <a:ln w="9525">
            <a:noFill/>
            <a:miter lim="800000"/>
            <a:headEnd/>
            <a:tailEnd/>
          </a:ln>
          <a:effectLst/>
        </p:spPr>
        <p:txBody>
          <a:bodyPr wrap="none" anchor="ctr"/>
          <a:lstStyle/>
          <a:p>
            <a:pPr>
              <a:defRPr/>
            </a:pPr>
            <a:endParaRPr lang="zh-CN" altLang="en-US"/>
          </a:p>
        </p:txBody>
      </p:sp>
      <p:sp>
        <p:nvSpPr>
          <p:cNvPr id="1032" name="AutoShape 41"/>
          <p:cNvSpPr>
            <a:spLocks noChangeArrowheads="1"/>
          </p:cNvSpPr>
          <p:nvPr/>
        </p:nvSpPr>
        <p:spPr bwMode="ltGray">
          <a:xfrm>
            <a:off x="7888288" y="0"/>
            <a:ext cx="427037" cy="835025"/>
          </a:xfrm>
          <a:prstGeom prst="homePlate">
            <a:avLst>
              <a:gd name="adj" fmla="val 25000"/>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1033" name="Rectangle 21"/>
          <p:cNvSpPr>
            <a:spLocks noGrp="1" noChangeArrowheads="1"/>
          </p:cNvSpPr>
          <p:nvPr>
            <p:ph type="title"/>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ko-KR"/>
              <a:t>Click to edit Master title style</a:t>
            </a:r>
          </a:p>
        </p:txBody>
      </p:sp>
    </p:spTree>
  </p:cSld>
  <p:clrMap bg1="lt1" tx1="dk1" bg2="lt2" tx2="dk2" accent1="accent1" accent2="accent2" accent3="accent3" accent4="accent4" accent5="accent5" accent6="accent6" hlink="hlink" folHlink="folHlink"/>
  <p:sldLayoutIdLst>
    <p:sldLayoutId id="2147483915" r:id="rId1"/>
    <p:sldLayoutId id="2147483904" r:id="rId2"/>
    <p:sldLayoutId id="2147483905" r:id="rId3"/>
    <p:sldLayoutId id="2147483906" r:id="rId4"/>
    <p:sldLayoutId id="2147483907" r:id="rId5"/>
    <p:sldLayoutId id="2147483908" r:id="rId6"/>
    <p:sldLayoutId id="2147483909" r:id="rId7"/>
    <p:sldLayoutId id="2147483910" r:id="rId8"/>
    <p:sldLayoutId id="2147483911" r:id="rId9"/>
    <p:sldLayoutId id="2147483912" r:id="rId10"/>
    <p:sldLayoutId id="2147483913" r:id="rId11"/>
    <p:sldLayoutId id="2147483914" r:id="rId12"/>
  </p:sldLayoutIdLst>
  <p:txStyles>
    <p:title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p:titleStyle>
    <p:bodyStyle>
      <a:lvl1pPr marL="342900" indent="-342900" algn="l" rtl="0" eaLnBrk="0" fontAlgn="base" hangingPunct="0">
        <a:spcBef>
          <a:spcPct val="20000"/>
        </a:spcBef>
        <a:spcAft>
          <a:spcPct val="0"/>
        </a:spcAft>
        <a:buClr>
          <a:schemeClr val="accent2"/>
        </a:buClr>
        <a:buFont typeface="Wingdings" panose="05000000000000000000" pitchFamily="2" charset="2"/>
        <a:buChar char="u"/>
        <a:defRPr sz="2800" b="1">
          <a:solidFill>
            <a:srgbClr val="2B5681"/>
          </a:solidFill>
          <a:latin typeface="+mn-lt"/>
          <a:ea typeface="+mn-ea"/>
          <a:cs typeface="+mn-cs"/>
        </a:defRPr>
      </a:lvl1pPr>
      <a:lvl2pPr marL="742950" indent="-285750" algn="l" rtl="0" eaLnBrk="0" fontAlgn="base" hangingPunct="0">
        <a:spcBef>
          <a:spcPct val="20000"/>
        </a:spcBef>
        <a:spcAft>
          <a:spcPct val="0"/>
        </a:spcAft>
        <a:buClr>
          <a:schemeClr val="tx2"/>
        </a:buClr>
        <a:buSzPct val="60000"/>
        <a:buFont typeface="Wingdings" panose="05000000000000000000" pitchFamily="2" charset="2"/>
        <a:buChar char="n"/>
        <a:defRPr sz="2600" b="1">
          <a:solidFill>
            <a:srgbClr val="008080"/>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rgbClr val="339966"/>
          </a:solidFill>
          <a:latin typeface="+mn-lt"/>
          <a:ea typeface="+mn-ea"/>
        </a:defRPr>
      </a:lvl3pPr>
      <a:lvl4pPr marL="1600200" indent="-228600" algn="l" rtl="0" eaLnBrk="0" fontAlgn="base" hangingPunct="0">
        <a:spcBef>
          <a:spcPct val="20000"/>
        </a:spcBef>
        <a:spcAft>
          <a:spcPct val="0"/>
        </a:spcAft>
        <a:buClr>
          <a:schemeClr val="tx1"/>
        </a:buClr>
        <a:buSzPct val="60000"/>
        <a:buFont typeface="Wingdings" panose="05000000000000000000" pitchFamily="2" charset="2"/>
        <a:buChar char="n"/>
        <a:defRPr sz="2000">
          <a:solidFill>
            <a:schemeClr val="tx2"/>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mn-lt"/>
          <a:ea typeface="+mn-ea"/>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ea typeface="+mn-ea"/>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ea typeface="+mn-ea"/>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ea typeface="+mn-ea"/>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kernel.org/"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jpeg"/><Relationship Id="rId7" Type="http://schemas.openxmlformats.org/officeDocument/2006/relationships/image" Target="../media/image11.jpeg"/><Relationship Id="rId12" Type="http://schemas.openxmlformats.org/officeDocument/2006/relationships/image" Target="../media/image16.jpe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10.jpeg"/><Relationship Id="rId11" Type="http://schemas.openxmlformats.org/officeDocument/2006/relationships/image" Target="../media/image15.jpeg"/><Relationship Id="rId5" Type="http://schemas.openxmlformats.org/officeDocument/2006/relationships/image" Target="../media/image9.jpeg"/><Relationship Id="rId10" Type="http://schemas.openxmlformats.org/officeDocument/2006/relationships/image" Target="../media/image14.jpeg"/><Relationship Id="rId4" Type="http://schemas.openxmlformats.org/officeDocument/2006/relationships/image" Target="../media/image8.jpeg"/><Relationship Id="rId9" Type="http://schemas.openxmlformats.org/officeDocument/2006/relationships/image" Target="../media/image13.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kscope.sourceforge.net/"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hyperlink" Target="http://gcc.gnu.org/onlinedocs/"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26"/>
          <p:cNvSpPr>
            <a:spLocks noGrp="1" noChangeArrowheads="1"/>
          </p:cNvSpPr>
          <p:nvPr>
            <p:ph type="title" idx="4294967295"/>
          </p:nvPr>
        </p:nvSpPr>
        <p:spPr>
          <a:xfrm>
            <a:off x="539750" y="260350"/>
            <a:ext cx="8229600" cy="560388"/>
          </a:xfrm>
        </p:spPr>
        <p:txBody>
          <a:bodyPr anchorCtr="1"/>
          <a:lstStyle/>
          <a:p>
            <a:pPr eaLnBrk="1" hangingPunct="1"/>
            <a:r>
              <a:rPr lang="zh-CN" altLang="en-US">
                <a:latin typeface="楷体_GB2312" pitchFamily="49" charset="-122"/>
                <a:ea typeface="楷体_GB2312" pitchFamily="49" charset="-122"/>
              </a:rPr>
              <a:t>第</a:t>
            </a:r>
            <a:r>
              <a:rPr lang="en-US" altLang="zh-CN">
                <a:latin typeface="楷体_GB2312" pitchFamily="49" charset="-122"/>
                <a:ea typeface="楷体_GB2312" pitchFamily="49" charset="-122"/>
              </a:rPr>
              <a:t>1</a:t>
            </a:r>
            <a:r>
              <a:rPr lang="zh-CN" altLang="en-US">
                <a:latin typeface="楷体_GB2312" pitchFamily="49" charset="-122"/>
                <a:ea typeface="楷体_GB2312" pitchFamily="49" charset="-122"/>
              </a:rPr>
              <a:t>章 </a:t>
            </a:r>
            <a:r>
              <a:rPr lang="en-US" altLang="zh-CN">
                <a:latin typeface="楷体_GB2312" pitchFamily="49" charset="-122"/>
                <a:ea typeface="楷体_GB2312" pitchFamily="49" charset="-122"/>
              </a:rPr>
              <a:t>Linux </a:t>
            </a:r>
            <a:r>
              <a:rPr lang="zh-CN" altLang="en-US">
                <a:latin typeface="楷体_GB2312" pitchFamily="49" charset="-122"/>
                <a:ea typeface="楷体_GB2312" pitchFamily="49" charset="-122"/>
              </a:rPr>
              <a:t>操作系统概述</a:t>
            </a:r>
            <a:endParaRPr lang="zh-CN" altLang="en-US" sz="3600" b="0">
              <a:solidFill>
                <a:srgbClr val="FB1705"/>
              </a:solidFill>
              <a:latin typeface="楷体_GB2312" pitchFamily="49" charset="-122"/>
              <a:ea typeface="楷体_GB2312" pitchFamily="49" charset="-122"/>
            </a:endParaRPr>
          </a:p>
        </p:txBody>
      </p:sp>
      <p:sp>
        <p:nvSpPr>
          <p:cNvPr id="4" name="矩形 3"/>
          <p:cNvSpPr/>
          <p:nvPr/>
        </p:nvSpPr>
        <p:spPr>
          <a:xfrm>
            <a:off x="1165225" y="2708275"/>
            <a:ext cx="1473200" cy="641350"/>
          </a:xfrm>
          <a:prstGeom prst="rect">
            <a:avLst/>
          </a:prstGeom>
          <a:solidFill>
            <a:srgbClr val="257DB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chemeClr val="tx1"/>
              </a:solidFill>
            </a:endParaRPr>
          </a:p>
        </p:txBody>
      </p:sp>
      <p:sp>
        <p:nvSpPr>
          <p:cNvPr id="5" name="TextBox 49"/>
          <p:cNvSpPr txBox="1">
            <a:spLocks noChangeArrowheads="1"/>
          </p:cNvSpPr>
          <p:nvPr/>
        </p:nvSpPr>
        <p:spPr bwMode="auto">
          <a:xfrm>
            <a:off x="1187450" y="2781300"/>
            <a:ext cx="1490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r>
              <a:rPr lang="zh-CN" altLang="en-US" sz="2400">
                <a:solidFill>
                  <a:schemeClr val="bg1"/>
                </a:solidFill>
                <a:latin typeface="华文中宋" panose="02010600040101010101" pitchFamily="2" charset="-122"/>
                <a:ea typeface="华文中宋" panose="02010600040101010101" pitchFamily="2" charset="-122"/>
              </a:rPr>
              <a:t>知识目标</a:t>
            </a:r>
          </a:p>
        </p:txBody>
      </p:sp>
      <p:sp>
        <p:nvSpPr>
          <p:cNvPr id="6" name="矩形 5"/>
          <p:cNvSpPr/>
          <p:nvPr/>
        </p:nvSpPr>
        <p:spPr>
          <a:xfrm>
            <a:off x="2673350" y="2208213"/>
            <a:ext cx="5354638" cy="1739900"/>
          </a:xfrm>
          <a:prstGeom prst="rect">
            <a:avLst/>
          </a:prstGeom>
          <a:noFill/>
          <a:ln w="6350">
            <a:solidFill>
              <a:schemeClr val="accent1">
                <a:shade val="50000"/>
                <a:alpha val="44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chemeClr val="tx1"/>
              </a:solidFill>
            </a:endParaRPr>
          </a:p>
        </p:txBody>
      </p:sp>
      <p:sp>
        <p:nvSpPr>
          <p:cNvPr id="7" name="TextBox 51"/>
          <p:cNvSpPr txBox="1"/>
          <p:nvPr/>
        </p:nvSpPr>
        <p:spPr>
          <a:xfrm>
            <a:off x="2708275" y="2281238"/>
            <a:ext cx="5594350" cy="1939925"/>
          </a:xfrm>
          <a:prstGeom prst="rect">
            <a:avLst/>
          </a:prstGeom>
          <a:noFill/>
          <a:effectLst/>
        </p:spPr>
        <p:txBody>
          <a:bodyPr>
            <a:spAutoFit/>
          </a:bodyPr>
          <a:lstStyle/>
          <a:p>
            <a:pPr marL="342900" indent="-342900">
              <a:buFont typeface="Wingdings" panose="05000000000000000000" pitchFamily="2" charset="2"/>
              <a:buChar char="p"/>
              <a:defRPr/>
            </a:pPr>
            <a:r>
              <a:rPr lang="zh-CN" altLang="en-US" sz="2400" dirty="0">
                <a:solidFill>
                  <a:schemeClr val="accent2">
                    <a:lumMod val="50000"/>
                  </a:schemeClr>
                </a:solidFill>
                <a:latin typeface="+mn-ea"/>
                <a:ea typeface="+mn-ea"/>
              </a:rPr>
              <a:t>了解</a:t>
            </a:r>
            <a:r>
              <a:rPr lang="en-US" altLang="zh-CN" sz="2400" dirty="0">
                <a:solidFill>
                  <a:schemeClr val="accent2">
                    <a:lumMod val="50000"/>
                  </a:schemeClr>
                </a:solidFill>
                <a:latin typeface="+mn-ea"/>
                <a:ea typeface="+mn-ea"/>
              </a:rPr>
              <a:t>Linux</a:t>
            </a:r>
            <a:r>
              <a:rPr lang="zh-CN" altLang="en-US" sz="2400" dirty="0">
                <a:solidFill>
                  <a:schemeClr val="accent2">
                    <a:lumMod val="50000"/>
                  </a:schemeClr>
                </a:solidFill>
                <a:latin typeface="+mn-ea"/>
                <a:ea typeface="+mn-ea"/>
              </a:rPr>
              <a:t>操作系统起源、发展过程</a:t>
            </a:r>
            <a:endParaRPr lang="en-US" altLang="zh-CN" sz="2400" dirty="0">
              <a:solidFill>
                <a:schemeClr val="accent2">
                  <a:lumMod val="50000"/>
                </a:schemeClr>
              </a:solidFill>
              <a:latin typeface="+mn-ea"/>
              <a:ea typeface="+mn-ea"/>
            </a:endParaRPr>
          </a:p>
          <a:p>
            <a:pPr marL="342900" indent="-342900">
              <a:buFont typeface="Wingdings" panose="05000000000000000000" pitchFamily="2" charset="2"/>
              <a:buChar char="p"/>
              <a:defRPr/>
            </a:pPr>
            <a:r>
              <a:rPr lang="zh-CN" altLang="en-US" sz="2400" dirty="0">
                <a:solidFill>
                  <a:schemeClr val="accent2">
                    <a:lumMod val="50000"/>
                  </a:schemeClr>
                </a:solidFill>
                <a:latin typeface="+mn-ea"/>
                <a:ea typeface="+mn-ea"/>
              </a:rPr>
              <a:t>掌握</a:t>
            </a:r>
            <a:r>
              <a:rPr lang="en-US" altLang="zh-CN" sz="2400" dirty="0">
                <a:solidFill>
                  <a:schemeClr val="accent2">
                    <a:lumMod val="50000"/>
                  </a:schemeClr>
                </a:solidFill>
                <a:latin typeface="+mn-ea"/>
                <a:ea typeface="+mn-ea"/>
              </a:rPr>
              <a:t>Linux</a:t>
            </a:r>
            <a:r>
              <a:rPr lang="zh-CN" altLang="en-US" sz="2400" dirty="0">
                <a:solidFill>
                  <a:schemeClr val="accent2">
                    <a:lumMod val="50000"/>
                  </a:schemeClr>
                </a:solidFill>
                <a:latin typeface="+mn-ea"/>
                <a:ea typeface="+mn-ea"/>
              </a:rPr>
              <a:t>操作系统的特点</a:t>
            </a:r>
            <a:endParaRPr lang="en-US" altLang="zh-CN" sz="2400" dirty="0">
              <a:solidFill>
                <a:schemeClr val="accent2">
                  <a:lumMod val="50000"/>
                </a:schemeClr>
              </a:solidFill>
              <a:latin typeface="+mn-ea"/>
              <a:ea typeface="+mn-ea"/>
            </a:endParaRPr>
          </a:p>
          <a:p>
            <a:pPr marL="342900" indent="-342900">
              <a:buFont typeface="Wingdings" panose="05000000000000000000" pitchFamily="2" charset="2"/>
              <a:buChar char="p"/>
              <a:defRPr/>
            </a:pPr>
            <a:r>
              <a:rPr lang="zh-CN" altLang="en-US" sz="2400" dirty="0">
                <a:solidFill>
                  <a:schemeClr val="accent2">
                    <a:lumMod val="50000"/>
                  </a:schemeClr>
                </a:solidFill>
                <a:latin typeface="+mn-ea"/>
                <a:ea typeface="+mn-ea"/>
              </a:rPr>
              <a:t>掌握</a:t>
            </a:r>
            <a:r>
              <a:rPr lang="en-US" altLang="zh-CN" sz="2400" dirty="0">
                <a:solidFill>
                  <a:schemeClr val="accent2">
                    <a:lumMod val="50000"/>
                  </a:schemeClr>
                </a:solidFill>
                <a:latin typeface="+mn-ea"/>
                <a:ea typeface="+mn-ea"/>
              </a:rPr>
              <a:t>Linux</a:t>
            </a:r>
            <a:r>
              <a:rPr lang="zh-CN" altLang="en-US" sz="2400" dirty="0">
                <a:solidFill>
                  <a:schemeClr val="accent2">
                    <a:lumMod val="50000"/>
                  </a:schemeClr>
                </a:solidFill>
                <a:latin typeface="+mn-ea"/>
                <a:ea typeface="+mn-ea"/>
              </a:rPr>
              <a:t>内核源代码的组织结构</a:t>
            </a:r>
            <a:endParaRPr lang="en-US" altLang="zh-CN" sz="2400" dirty="0">
              <a:solidFill>
                <a:schemeClr val="accent2">
                  <a:lumMod val="50000"/>
                </a:schemeClr>
              </a:solidFill>
              <a:latin typeface="+mn-ea"/>
              <a:ea typeface="+mn-ea"/>
            </a:endParaRPr>
          </a:p>
          <a:p>
            <a:pPr marL="342900" indent="-342900">
              <a:buFont typeface="Wingdings" panose="05000000000000000000" pitchFamily="2" charset="2"/>
              <a:buChar char="p"/>
              <a:defRPr/>
            </a:pPr>
            <a:r>
              <a:rPr lang="zh-CN" altLang="en-US" sz="2400" dirty="0">
                <a:solidFill>
                  <a:schemeClr val="accent2">
                    <a:lumMod val="50000"/>
                  </a:schemeClr>
                </a:solidFill>
                <a:latin typeface="+mn-ea"/>
                <a:ea typeface="+mn-ea"/>
              </a:rPr>
              <a:t>掌握</a:t>
            </a:r>
            <a:r>
              <a:rPr lang="en-US" altLang="zh-CN" sz="2400" dirty="0">
                <a:solidFill>
                  <a:schemeClr val="accent2">
                    <a:lumMod val="50000"/>
                  </a:schemeClr>
                </a:solidFill>
                <a:latin typeface="+mn-ea"/>
                <a:ea typeface="+mn-ea"/>
              </a:rPr>
              <a:t>Linux</a:t>
            </a:r>
            <a:r>
              <a:rPr lang="zh-CN" altLang="en-US" sz="2400" dirty="0">
                <a:solidFill>
                  <a:schemeClr val="accent2">
                    <a:lumMod val="50000"/>
                  </a:schemeClr>
                </a:solidFill>
                <a:latin typeface="+mn-ea"/>
                <a:ea typeface="+mn-ea"/>
              </a:rPr>
              <a:t>内核分析方法</a:t>
            </a:r>
          </a:p>
          <a:p>
            <a:pPr marL="342900" indent="-342900">
              <a:buFont typeface="Wingdings" panose="05000000000000000000" pitchFamily="2" charset="2"/>
              <a:buChar char="p"/>
              <a:defRPr/>
            </a:pPr>
            <a:endParaRPr lang="zh-CN" altLang="zh-CN" sz="2400" dirty="0">
              <a:solidFill>
                <a:schemeClr val="accent2">
                  <a:lumMod val="50000"/>
                </a:schemeClr>
              </a:solidFill>
              <a:latin typeface="+mn-ea"/>
              <a:ea typeface="+mn-ea"/>
            </a:endParaRPr>
          </a:p>
        </p:txBody>
      </p:sp>
      <p:sp>
        <p:nvSpPr>
          <p:cNvPr id="8" name="矩形 7"/>
          <p:cNvSpPr/>
          <p:nvPr/>
        </p:nvSpPr>
        <p:spPr>
          <a:xfrm>
            <a:off x="1195388" y="4322763"/>
            <a:ext cx="1468437" cy="641350"/>
          </a:xfrm>
          <a:prstGeom prst="rect">
            <a:avLst/>
          </a:prstGeom>
          <a:solidFill>
            <a:srgbClr val="257DB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chemeClr val="tx1"/>
              </a:solidFill>
            </a:endParaRPr>
          </a:p>
        </p:txBody>
      </p:sp>
      <p:sp>
        <p:nvSpPr>
          <p:cNvPr id="9" name="TextBox 53"/>
          <p:cNvSpPr txBox="1">
            <a:spLocks noChangeArrowheads="1"/>
          </p:cNvSpPr>
          <p:nvPr/>
        </p:nvSpPr>
        <p:spPr bwMode="auto">
          <a:xfrm>
            <a:off x="1204913" y="4430713"/>
            <a:ext cx="15859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r>
              <a:rPr lang="zh-CN" altLang="en-US" sz="2400">
                <a:solidFill>
                  <a:schemeClr val="bg1"/>
                </a:solidFill>
                <a:latin typeface="华文中宋" panose="02010600040101010101" pitchFamily="2" charset="-122"/>
                <a:ea typeface="华文中宋" panose="02010600040101010101" pitchFamily="2" charset="-122"/>
              </a:rPr>
              <a:t>能力目标</a:t>
            </a:r>
          </a:p>
        </p:txBody>
      </p:sp>
      <p:sp>
        <p:nvSpPr>
          <p:cNvPr id="10" name="矩形 9"/>
          <p:cNvSpPr/>
          <p:nvPr/>
        </p:nvSpPr>
        <p:spPr>
          <a:xfrm>
            <a:off x="2659063" y="4076700"/>
            <a:ext cx="5368925" cy="1152525"/>
          </a:xfrm>
          <a:prstGeom prst="rect">
            <a:avLst/>
          </a:prstGeom>
          <a:noFill/>
          <a:ln w="6350">
            <a:solidFill>
              <a:schemeClr val="accent1">
                <a:shade val="50000"/>
                <a:alpha val="44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lvl="4" indent="-342900">
              <a:buFont typeface="Wingdings" panose="05000000000000000000" pitchFamily="2" charset="2"/>
              <a:buChar char="p"/>
              <a:defRPr/>
            </a:pPr>
            <a:r>
              <a:rPr lang="zh-CN" altLang="en-US" sz="2400" dirty="0">
                <a:solidFill>
                  <a:schemeClr val="accent2">
                    <a:lumMod val="50000"/>
                  </a:schemeClr>
                </a:solidFill>
                <a:latin typeface="+mn-ea"/>
              </a:rPr>
              <a:t>能够认识</a:t>
            </a:r>
            <a:r>
              <a:rPr lang="en-US" altLang="zh-CN" sz="2400" dirty="0">
                <a:solidFill>
                  <a:schemeClr val="accent2">
                    <a:lumMod val="50000"/>
                  </a:schemeClr>
                </a:solidFill>
                <a:latin typeface="+mn-ea"/>
              </a:rPr>
              <a:t>Linux</a:t>
            </a:r>
            <a:r>
              <a:rPr lang="zh-CN" altLang="en-US" sz="2400" dirty="0">
                <a:solidFill>
                  <a:schemeClr val="accent2">
                    <a:lumMod val="50000"/>
                  </a:schemeClr>
                </a:solidFill>
                <a:latin typeface="+mn-ea"/>
              </a:rPr>
              <a:t>操作系统版本的含义</a:t>
            </a:r>
            <a:endParaRPr lang="en-US" altLang="zh-CN" sz="2400" dirty="0">
              <a:solidFill>
                <a:schemeClr val="accent2">
                  <a:lumMod val="50000"/>
                </a:schemeClr>
              </a:solidFill>
              <a:latin typeface="+mn-ea"/>
            </a:endParaRPr>
          </a:p>
          <a:p>
            <a:pPr marL="342900" lvl="4" indent="-342900">
              <a:buFont typeface="Wingdings" panose="05000000000000000000" pitchFamily="2" charset="2"/>
              <a:buChar char="p"/>
              <a:defRPr/>
            </a:pPr>
            <a:r>
              <a:rPr lang="zh-CN" altLang="en-US" sz="2400" dirty="0">
                <a:solidFill>
                  <a:schemeClr val="accent2">
                    <a:lumMod val="50000"/>
                  </a:schemeClr>
                </a:solidFill>
                <a:latin typeface="+mn-ea"/>
              </a:rPr>
              <a:t>能够分析与其他产品的区别</a:t>
            </a:r>
            <a:endParaRPr lang="en-US" altLang="zh-CN" sz="2400" dirty="0">
              <a:solidFill>
                <a:schemeClr val="accent2">
                  <a:lumMod val="50000"/>
                </a:schemeClr>
              </a:solidFill>
              <a:latin typeface="+mn-ea"/>
            </a:endParaRPr>
          </a:p>
        </p:txBody>
      </p:sp>
      <p:sp>
        <p:nvSpPr>
          <p:cNvPr id="11" name="矩形 10"/>
          <p:cNvSpPr/>
          <p:nvPr/>
        </p:nvSpPr>
        <p:spPr>
          <a:xfrm>
            <a:off x="1204913" y="5373688"/>
            <a:ext cx="1481137" cy="639762"/>
          </a:xfrm>
          <a:prstGeom prst="rect">
            <a:avLst/>
          </a:prstGeom>
          <a:solidFill>
            <a:srgbClr val="257DB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chemeClr val="tx1"/>
              </a:solidFill>
            </a:endParaRPr>
          </a:p>
        </p:txBody>
      </p:sp>
      <p:sp>
        <p:nvSpPr>
          <p:cNvPr id="12" name="矩形 11"/>
          <p:cNvSpPr/>
          <p:nvPr/>
        </p:nvSpPr>
        <p:spPr>
          <a:xfrm>
            <a:off x="2700338" y="5300663"/>
            <a:ext cx="5294312" cy="830262"/>
          </a:xfrm>
          <a:prstGeom prst="rect">
            <a:avLst/>
          </a:prstGeom>
          <a:noFill/>
          <a:ln w="6350">
            <a:solidFill>
              <a:schemeClr val="accent1">
                <a:shade val="50000"/>
                <a:alpha val="44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indent="-342900">
              <a:buFont typeface="Wingdings" panose="05000000000000000000" pitchFamily="2" charset="2"/>
              <a:buChar char="p"/>
              <a:defRPr/>
            </a:pPr>
            <a:r>
              <a:rPr lang="zh-CN" altLang="en-US" sz="2400" dirty="0">
                <a:solidFill>
                  <a:schemeClr val="accent2">
                    <a:lumMod val="50000"/>
                  </a:schemeClr>
                </a:solidFill>
                <a:latin typeface="+mn-ea"/>
              </a:rPr>
              <a:t>增强思考观察能力</a:t>
            </a:r>
            <a:endParaRPr lang="en-US" altLang="zh-CN" sz="2400" dirty="0">
              <a:solidFill>
                <a:schemeClr val="accent2">
                  <a:lumMod val="50000"/>
                </a:schemeClr>
              </a:solidFill>
              <a:latin typeface="+mn-ea"/>
            </a:endParaRPr>
          </a:p>
          <a:p>
            <a:pPr marL="342900" indent="-342900">
              <a:buFont typeface="Wingdings" panose="05000000000000000000" pitchFamily="2" charset="2"/>
              <a:buChar char="p"/>
              <a:defRPr/>
            </a:pPr>
            <a:r>
              <a:rPr lang="zh-CN" altLang="en-US" sz="2400" dirty="0">
                <a:solidFill>
                  <a:schemeClr val="accent2">
                    <a:lumMod val="50000"/>
                  </a:schemeClr>
                </a:solidFill>
                <a:latin typeface="+mn-ea"/>
              </a:rPr>
              <a:t>强化分析比较能力</a:t>
            </a:r>
          </a:p>
        </p:txBody>
      </p:sp>
      <p:sp>
        <p:nvSpPr>
          <p:cNvPr id="13" name="TextBox 53"/>
          <p:cNvSpPr txBox="1">
            <a:spLocks noChangeArrowheads="1"/>
          </p:cNvSpPr>
          <p:nvPr/>
        </p:nvSpPr>
        <p:spPr bwMode="auto">
          <a:xfrm>
            <a:off x="1155700" y="5427663"/>
            <a:ext cx="1587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r>
              <a:rPr lang="zh-CN" altLang="en-US" sz="2400">
                <a:solidFill>
                  <a:schemeClr val="bg1"/>
                </a:solidFill>
                <a:latin typeface="华文中宋" panose="02010600040101010101" pitchFamily="2" charset="-122"/>
                <a:ea typeface="华文中宋" panose="02010600040101010101" pitchFamily="2" charset="-122"/>
              </a:rPr>
              <a:t>素质目标</a:t>
            </a:r>
          </a:p>
        </p:txBody>
      </p:sp>
      <p:sp>
        <p:nvSpPr>
          <p:cNvPr id="5133" name="Freeform 8"/>
          <p:cNvSpPr>
            <a:spLocks/>
          </p:cNvSpPr>
          <p:nvPr/>
        </p:nvSpPr>
        <p:spPr bwMode="auto">
          <a:xfrm>
            <a:off x="1008063" y="1628775"/>
            <a:ext cx="144462" cy="215900"/>
          </a:xfrm>
          <a:custGeom>
            <a:avLst/>
            <a:gdLst>
              <a:gd name="T0" fmla="*/ 23115315 w 725"/>
              <a:gd name="T1" fmla="*/ 15119279 h 1169"/>
              <a:gd name="T2" fmla="*/ 28696330 w 725"/>
              <a:gd name="T3" fmla="*/ 19965486 h 1169"/>
              <a:gd name="T4" fmla="*/ 23115315 w 725"/>
              <a:gd name="T5" fmla="*/ 24777711 h 1169"/>
              <a:gd name="T6" fmla="*/ 5581015 w 725"/>
              <a:gd name="T7" fmla="*/ 39896990 h 1169"/>
              <a:gd name="T8" fmla="*/ 0 w 725"/>
              <a:gd name="T9" fmla="*/ 35084766 h 1169"/>
              <a:gd name="T10" fmla="*/ 17534499 w 725"/>
              <a:gd name="T11" fmla="*/ 19965486 h 1169"/>
              <a:gd name="T12" fmla="*/ 0 w 725"/>
              <a:gd name="T13" fmla="*/ 4812224 h 1169"/>
              <a:gd name="T14" fmla="*/ 5581015 w 725"/>
              <a:gd name="T15" fmla="*/ 0 h 1169"/>
              <a:gd name="T16" fmla="*/ 23115315 w 725"/>
              <a:gd name="T17" fmla="*/ 15119279 h 11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5" h="1169">
                <a:moveTo>
                  <a:pt x="584" y="443"/>
                </a:moveTo>
                <a:lnTo>
                  <a:pt x="725" y="585"/>
                </a:lnTo>
                <a:lnTo>
                  <a:pt x="584" y="726"/>
                </a:lnTo>
                <a:lnTo>
                  <a:pt x="141" y="1169"/>
                </a:lnTo>
                <a:lnTo>
                  <a:pt x="0" y="1028"/>
                </a:lnTo>
                <a:lnTo>
                  <a:pt x="443" y="585"/>
                </a:lnTo>
                <a:lnTo>
                  <a:pt x="0" y="141"/>
                </a:lnTo>
                <a:lnTo>
                  <a:pt x="141" y="0"/>
                </a:lnTo>
                <a:lnTo>
                  <a:pt x="584" y="44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62" tIns="34281" rIns="68562" bIns="34281"/>
          <a:lstStyle/>
          <a:p>
            <a:endParaRPr lang="zh-CN" altLang="en-US"/>
          </a:p>
        </p:txBody>
      </p:sp>
      <p:sp>
        <p:nvSpPr>
          <p:cNvPr id="17" name="Title 1">
            <a:extLst>
              <a:ext uri="{FF2B5EF4-FFF2-40B4-BE49-F238E27FC236}">
                <a16:creationId xmlns:a16="http://schemas.microsoft.com/office/drawing/2014/main" id="{C4088F5A-C448-45A7-A958-3CF490995205}"/>
              </a:ext>
            </a:extLst>
          </p:cNvPr>
          <p:cNvSpPr txBox="1">
            <a:spLocks/>
          </p:cNvSpPr>
          <p:nvPr/>
        </p:nvSpPr>
        <p:spPr>
          <a:xfrm>
            <a:off x="1081088" y="1503363"/>
            <a:ext cx="3600450" cy="284162"/>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eaLnBrk="0" hangingPunct="0">
              <a:defRPr/>
            </a:pPr>
            <a:r>
              <a:rPr lang="zh-CN" altLang="en-US" sz="2800" b="1" dirty="0">
                <a:solidFill>
                  <a:schemeClr val="accent2">
                    <a:lumMod val="50000"/>
                  </a:schemeClr>
                </a:solidFill>
                <a:latin typeface="+mn-ea"/>
                <a:ea typeface="+mn-ea"/>
                <a:cs typeface="+mn-cs"/>
              </a:rPr>
              <a:t>本章学习目标</a:t>
            </a:r>
            <a:endParaRPr lang="en-GB" altLang="zh-CN" sz="2800" b="1" dirty="0">
              <a:solidFill>
                <a:schemeClr val="accent2">
                  <a:lumMod val="50000"/>
                </a:schemeClr>
              </a:solidFill>
              <a:latin typeface="+mn-ea"/>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p:bldP spid="8" grpId="0" animBg="1"/>
      <p:bldP spid="9" grpId="0"/>
      <p:bldP spid="10" grpId="0" animBg="1"/>
      <p:bldP spid="11" grpId="0" animBg="1"/>
      <p:bldP spid="12" grpId="0" animBg="1"/>
      <p:bldP spid="1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026"/>
          <p:cNvSpPr>
            <a:spLocks noGrp="1" noChangeArrowheads="1"/>
          </p:cNvSpPr>
          <p:nvPr>
            <p:ph type="title" idx="4294967295"/>
          </p:nvPr>
        </p:nvSpPr>
        <p:spPr>
          <a:xfrm>
            <a:off x="539750" y="260350"/>
            <a:ext cx="8229600" cy="560388"/>
          </a:xfrm>
        </p:spPr>
        <p:txBody>
          <a:bodyPr anchorCtr="1"/>
          <a:lstStyle/>
          <a:p>
            <a:pPr eaLnBrk="1" hangingPunct="1"/>
            <a:r>
              <a:rPr lang="zh-CN" altLang="en-US">
                <a:latin typeface="楷体_GB2312" pitchFamily="49" charset="-122"/>
                <a:ea typeface="楷体_GB2312" pitchFamily="49" charset="-122"/>
              </a:rPr>
              <a:t>第</a:t>
            </a:r>
            <a:r>
              <a:rPr lang="en-US" altLang="zh-CN">
                <a:latin typeface="楷体_GB2312" pitchFamily="49" charset="-122"/>
                <a:ea typeface="楷体_GB2312" pitchFamily="49" charset="-122"/>
              </a:rPr>
              <a:t>1</a:t>
            </a:r>
            <a:r>
              <a:rPr lang="zh-CN" altLang="en-US">
                <a:latin typeface="楷体_GB2312" pitchFamily="49" charset="-122"/>
                <a:ea typeface="楷体_GB2312" pitchFamily="49" charset="-122"/>
              </a:rPr>
              <a:t>章 </a:t>
            </a:r>
            <a:r>
              <a:rPr lang="en-US" altLang="zh-CN">
                <a:latin typeface="楷体_GB2312" pitchFamily="49" charset="-122"/>
                <a:ea typeface="楷体_GB2312" pitchFamily="49" charset="-122"/>
              </a:rPr>
              <a:t>Linux </a:t>
            </a:r>
            <a:r>
              <a:rPr lang="zh-CN" altLang="en-US">
                <a:latin typeface="楷体_GB2312" pitchFamily="49" charset="-122"/>
                <a:ea typeface="楷体_GB2312" pitchFamily="49" charset="-122"/>
              </a:rPr>
              <a:t>操作系统概述</a:t>
            </a:r>
            <a:endParaRPr lang="zh-CN" altLang="en-US" sz="3600" b="0">
              <a:solidFill>
                <a:srgbClr val="FB1705"/>
              </a:solidFill>
              <a:latin typeface="楷体_GB2312" pitchFamily="49" charset="-122"/>
              <a:ea typeface="楷体_GB2312" pitchFamily="49" charset="-122"/>
            </a:endParaRPr>
          </a:p>
        </p:txBody>
      </p:sp>
      <p:sp>
        <p:nvSpPr>
          <p:cNvPr id="7171" name="Rectangle 1027"/>
          <p:cNvSpPr>
            <a:spLocks noGrp="1" noChangeArrowheads="1"/>
          </p:cNvSpPr>
          <p:nvPr>
            <p:ph type="body" idx="4294967295"/>
          </p:nvPr>
        </p:nvSpPr>
        <p:spPr>
          <a:xfrm>
            <a:off x="1143000" y="1628775"/>
            <a:ext cx="6580188" cy="3490913"/>
          </a:xfrm>
        </p:spPr>
        <p:txBody>
          <a:bodyPr/>
          <a:lstStyle/>
          <a:p>
            <a:pPr marL="533400" indent="-533400" eaLnBrk="1" hangingPunct="1">
              <a:lnSpc>
                <a:spcPct val="80000"/>
              </a:lnSpc>
              <a:buFont typeface="Wingdings" panose="05000000000000000000" pitchFamily="2" charset="2"/>
              <a:buAutoNum type="arabicPeriod"/>
            </a:pPr>
            <a:r>
              <a:rPr lang="en-US" altLang="zh-CN" sz="3200">
                <a:latin typeface="楷体_GB2312" pitchFamily="49" charset="-122"/>
                <a:ea typeface="楷体_GB2312" pitchFamily="49" charset="-122"/>
              </a:rPr>
              <a:t>Linux</a:t>
            </a:r>
            <a:r>
              <a:rPr lang="zh-CN" altLang="en-US" sz="3200">
                <a:latin typeface="楷体_GB2312" pitchFamily="49" charset="-122"/>
                <a:ea typeface="楷体_GB2312" pitchFamily="49" charset="-122"/>
              </a:rPr>
              <a:t>的起源与发展</a:t>
            </a:r>
            <a:endParaRPr lang="en-US" altLang="zh-CN" sz="3200">
              <a:latin typeface="楷体_GB2312" pitchFamily="49" charset="-122"/>
              <a:ea typeface="楷体_GB2312" pitchFamily="49" charset="-122"/>
            </a:endParaRPr>
          </a:p>
          <a:p>
            <a:pPr marL="533400" indent="-533400" eaLnBrk="1" hangingPunct="1">
              <a:lnSpc>
                <a:spcPct val="80000"/>
              </a:lnSpc>
              <a:buFont typeface="Wingdings" panose="05000000000000000000" pitchFamily="2" charset="2"/>
              <a:buAutoNum type="arabicPeriod"/>
            </a:pPr>
            <a:r>
              <a:rPr lang="zh-CN" altLang="en-US" sz="3200">
                <a:latin typeface="楷体_GB2312" pitchFamily="49" charset="-122"/>
                <a:ea typeface="楷体_GB2312" pitchFamily="49" charset="-122"/>
              </a:rPr>
              <a:t>自由软件</a:t>
            </a:r>
            <a:r>
              <a:rPr lang="en-US" altLang="zh-CN" sz="3200">
                <a:latin typeface="楷体_GB2312" pitchFamily="49" charset="-122"/>
                <a:ea typeface="楷体_GB2312" pitchFamily="49" charset="-122"/>
              </a:rPr>
              <a:t>GNU</a:t>
            </a:r>
            <a:r>
              <a:rPr lang="zh-CN" altLang="en-US" sz="3200">
                <a:latin typeface="楷体_GB2312" pitchFamily="49" charset="-122"/>
                <a:ea typeface="楷体_GB2312" pitchFamily="49" charset="-122"/>
              </a:rPr>
              <a:t>与</a:t>
            </a:r>
            <a:r>
              <a:rPr lang="en-US" altLang="zh-CN" sz="3200">
                <a:latin typeface="楷体_GB2312" pitchFamily="49" charset="-122"/>
                <a:ea typeface="楷体_GB2312" pitchFamily="49" charset="-122"/>
              </a:rPr>
              <a:t>GPL</a:t>
            </a:r>
          </a:p>
          <a:p>
            <a:pPr marL="533400" indent="-533400" eaLnBrk="1" hangingPunct="1">
              <a:lnSpc>
                <a:spcPct val="80000"/>
              </a:lnSpc>
              <a:buFont typeface="Wingdings" panose="05000000000000000000" pitchFamily="2" charset="2"/>
              <a:buAutoNum type="arabicPeriod"/>
            </a:pPr>
            <a:r>
              <a:rPr lang="en-US" altLang="zh-CN" sz="3200">
                <a:latin typeface="楷体_GB2312" pitchFamily="49" charset="-122"/>
                <a:ea typeface="楷体_GB2312" pitchFamily="49" charset="-122"/>
              </a:rPr>
              <a:t>Linux</a:t>
            </a:r>
            <a:r>
              <a:rPr lang="zh-CN" altLang="en-US" sz="3200">
                <a:latin typeface="楷体_GB2312" pitchFamily="49" charset="-122"/>
                <a:ea typeface="楷体_GB2312" pitchFamily="49" charset="-122"/>
              </a:rPr>
              <a:t>的特点</a:t>
            </a:r>
          </a:p>
          <a:p>
            <a:pPr marL="533400" indent="-533400" eaLnBrk="1" hangingPunct="1">
              <a:lnSpc>
                <a:spcPct val="80000"/>
              </a:lnSpc>
              <a:buFont typeface="Wingdings" panose="05000000000000000000" pitchFamily="2" charset="2"/>
              <a:buAutoNum type="arabicPeriod"/>
            </a:pPr>
            <a:r>
              <a:rPr lang="en-US" altLang="zh-CN" sz="3200">
                <a:latin typeface="楷体_GB2312" pitchFamily="49" charset="-122"/>
                <a:ea typeface="楷体_GB2312" pitchFamily="49" charset="-122"/>
              </a:rPr>
              <a:t>Linux</a:t>
            </a:r>
            <a:r>
              <a:rPr lang="zh-CN" altLang="en-US" sz="3200">
                <a:latin typeface="楷体_GB2312" pitchFamily="49" charset="-122"/>
                <a:ea typeface="楷体_GB2312" pitchFamily="49" charset="-122"/>
              </a:rPr>
              <a:t>系统及内核的组成</a:t>
            </a:r>
          </a:p>
          <a:p>
            <a:pPr marL="533400" indent="-533400" eaLnBrk="1" hangingPunct="1">
              <a:lnSpc>
                <a:spcPct val="80000"/>
              </a:lnSpc>
              <a:buFont typeface="Wingdings" panose="05000000000000000000" pitchFamily="2" charset="2"/>
              <a:buAutoNum type="arabicPeriod"/>
            </a:pPr>
            <a:r>
              <a:rPr lang="en-US" altLang="zh-CN" sz="3200">
                <a:latin typeface="楷体_GB2312" pitchFamily="49" charset="-122"/>
                <a:ea typeface="楷体_GB2312" pitchFamily="49" charset="-122"/>
              </a:rPr>
              <a:t>Linux</a:t>
            </a:r>
            <a:r>
              <a:rPr lang="zh-CN" altLang="en-US" sz="3200">
                <a:latin typeface="楷体_GB2312" pitchFamily="49" charset="-122"/>
                <a:ea typeface="楷体_GB2312" pitchFamily="49" charset="-122"/>
              </a:rPr>
              <a:t>版本的认识</a:t>
            </a:r>
          </a:p>
          <a:p>
            <a:pPr marL="533400" indent="-533400" eaLnBrk="1" hangingPunct="1">
              <a:lnSpc>
                <a:spcPct val="80000"/>
              </a:lnSpc>
              <a:buFont typeface="Wingdings" panose="05000000000000000000" pitchFamily="2" charset="2"/>
              <a:buAutoNum type="arabicPeriod"/>
            </a:pPr>
            <a:r>
              <a:rPr lang="en-US" altLang="zh-CN" sz="3200">
                <a:latin typeface="楷体_GB2312" pitchFamily="49" charset="-122"/>
                <a:ea typeface="楷体_GB2312" pitchFamily="49" charset="-122"/>
              </a:rPr>
              <a:t>Linux</a:t>
            </a:r>
            <a:r>
              <a:rPr lang="zh-CN" altLang="en-US" sz="3200">
                <a:latin typeface="楷体_GB2312" pitchFamily="49" charset="-122"/>
                <a:ea typeface="楷体_GB2312" pitchFamily="49" charset="-122"/>
              </a:rPr>
              <a:t>内核源代码的组织</a:t>
            </a:r>
          </a:p>
          <a:p>
            <a:pPr marL="533400" indent="-533400" eaLnBrk="1" hangingPunct="1">
              <a:lnSpc>
                <a:spcPct val="80000"/>
              </a:lnSpc>
              <a:buFont typeface="Wingdings" panose="05000000000000000000" pitchFamily="2" charset="2"/>
              <a:buAutoNum type="arabicPeriod"/>
            </a:pPr>
            <a:r>
              <a:rPr lang="en-US" altLang="zh-CN" sz="3200">
                <a:latin typeface="楷体_GB2312" pitchFamily="49" charset="-122"/>
                <a:ea typeface="楷体_GB2312" pitchFamily="49" charset="-122"/>
              </a:rPr>
              <a:t>Linux</a:t>
            </a:r>
            <a:r>
              <a:rPr lang="zh-CN" altLang="en-US" sz="3200">
                <a:latin typeface="楷体_GB2312" pitchFamily="49" charset="-122"/>
                <a:ea typeface="楷体_GB2312" pitchFamily="49" charset="-122"/>
              </a:rPr>
              <a:t>内核分析方法</a:t>
            </a:r>
          </a:p>
          <a:p>
            <a:pPr marL="533400" indent="-533400" eaLnBrk="1" hangingPunct="1">
              <a:lnSpc>
                <a:spcPct val="80000"/>
              </a:lnSpc>
              <a:buFont typeface="Wingdings" panose="05000000000000000000" pitchFamily="2" charset="2"/>
              <a:buAutoNum type="arabicPeriod"/>
            </a:pPr>
            <a:r>
              <a:rPr lang="zh-CN" altLang="en-US" sz="3200">
                <a:latin typeface="楷体_GB2312" pitchFamily="49" charset="-122"/>
                <a:ea typeface="楷体_GB2312" pitchFamily="49" charset="-122"/>
              </a:rPr>
              <a:t>与其它几种操作系统的比较</a:t>
            </a:r>
          </a:p>
          <a:p>
            <a:pPr marL="533400" indent="-533400" eaLnBrk="1" hangingPunct="1">
              <a:lnSpc>
                <a:spcPct val="80000"/>
              </a:lnSpc>
              <a:buFont typeface="Wingdings" panose="05000000000000000000" pitchFamily="2" charset="2"/>
              <a:buAutoNum type="arabicPeriod"/>
            </a:pPr>
            <a:r>
              <a:rPr lang="en-US" altLang="zh-CN" sz="3200">
                <a:latin typeface="楷体_GB2312" pitchFamily="49" charset="-122"/>
                <a:ea typeface="楷体_GB2312" pitchFamily="49" charset="-122"/>
              </a:rPr>
              <a:t>Linux</a:t>
            </a:r>
            <a:r>
              <a:rPr lang="zh-CN" altLang="en-US" sz="3200">
                <a:latin typeface="楷体_GB2312" pitchFamily="49" charset="-122"/>
                <a:ea typeface="楷体_GB2312" pitchFamily="49" charset="-122"/>
              </a:rPr>
              <a:t>中的</a:t>
            </a:r>
            <a:r>
              <a:rPr lang="en-US" altLang="zh-CN" sz="3200">
                <a:latin typeface="楷体_GB2312" pitchFamily="49" charset="-122"/>
                <a:ea typeface="楷体_GB2312" pitchFamily="49" charset="-122"/>
              </a:rPr>
              <a:t>C</a:t>
            </a:r>
            <a:r>
              <a:rPr lang="zh-CN" altLang="en-US" sz="3200">
                <a:latin typeface="楷体_GB2312" pitchFamily="49" charset="-122"/>
                <a:ea typeface="楷体_GB2312" pitchFamily="49" charset="-122"/>
              </a:rPr>
              <a:t>语言及汇编语言</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282575" y="188913"/>
            <a:ext cx="8229600" cy="560387"/>
          </a:xfrm>
        </p:spPr>
        <p:txBody>
          <a:bodyPr anchorCtr="1"/>
          <a:lstStyle/>
          <a:p>
            <a:pPr eaLnBrk="1" hangingPunct="1"/>
            <a:r>
              <a:rPr lang="en-US" altLang="zh-CN">
                <a:latin typeface="楷体_GB2312" pitchFamily="49" charset="-122"/>
                <a:ea typeface="楷体_GB2312" pitchFamily="49" charset="-122"/>
              </a:rPr>
              <a:t>1</a:t>
            </a:r>
            <a:r>
              <a:rPr lang="zh-CN" altLang="en-US">
                <a:latin typeface="楷体_GB2312" pitchFamily="49" charset="-122"/>
                <a:ea typeface="楷体_GB2312" pitchFamily="49" charset="-122"/>
              </a:rPr>
              <a:t>、 </a:t>
            </a:r>
            <a:r>
              <a:rPr lang="en-US" altLang="zh-CN">
                <a:latin typeface="楷体_GB2312" pitchFamily="49" charset="-122"/>
                <a:ea typeface="楷体_GB2312" pitchFamily="49" charset="-122"/>
              </a:rPr>
              <a:t>Linux</a:t>
            </a:r>
            <a:r>
              <a:rPr lang="zh-CN" altLang="en-US">
                <a:latin typeface="楷体_GB2312" pitchFamily="49" charset="-122"/>
                <a:ea typeface="楷体_GB2312" pitchFamily="49" charset="-122"/>
              </a:rPr>
              <a:t>的起源与发展</a:t>
            </a:r>
          </a:p>
        </p:txBody>
      </p:sp>
      <p:sp>
        <p:nvSpPr>
          <p:cNvPr id="301059" name="Rectangle 3"/>
          <p:cNvSpPr>
            <a:spLocks noGrp="1" noChangeArrowheads="1"/>
          </p:cNvSpPr>
          <p:nvPr>
            <p:ph type="body" idx="4294967295"/>
          </p:nvPr>
        </p:nvSpPr>
        <p:spPr>
          <a:xfrm>
            <a:off x="549275" y="981075"/>
            <a:ext cx="7983538" cy="5191125"/>
          </a:xfrm>
        </p:spPr>
        <p:txBody>
          <a:bodyPr/>
          <a:lstStyle/>
          <a:p>
            <a:pPr algn="just" eaLnBrk="1" hangingPunct="1">
              <a:lnSpc>
                <a:spcPct val="115000"/>
              </a:lnSpc>
              <a:buFont typeface="Arial" panose="020B0604020202020204" pitchFamily="34" charset="0"/>
              <a:buChar char="•"/>
            </a:pPr>
            <a:r>
              <a:rPr lang="en-US" altLang="zh-CN" sz="2400" dirty="0">
                <a:latin typeface="楷体_GB2312" pitchFamily="49" charset="-122"/>
                <a:ea typeface="楷体_GB2312" pitchFamily="49" charset="-122"/>
              </a:rPr>
              <a:t>1990</a:t>
            </a:r>
            <a:r>
              <a:rPr lang="zh-CN" altLang="en-US" sz="2400" dirty="0">
                <a:latin typeface="楷体_GB2312" pitchFamily="49" charset="-122"/>
                <a:ea typeface="楷体_GB2312" pitchFamily="49" charset="-122"/>
              </a:rPr>
              <a:t>年秋天，学生</a:t>
            </a:r>
            <a:r>
              <a:rPr lang="en-US" altLang="zh-CN" sz="2400" dirty="0">
                <a:latin typeface="楷体_GB2312" pitchFamily="49" charset="-122"/>
                <a:ea typeface="楷体_GB2312" pitchFamily="49" charset="-122"/>
              </a:rPr>
              <a:t>Linus</a:t>
            </a:r>
            <a:r>
              <a:rPr lang="zh-CN" altLang="en-US" sz="2400" dirty="0">
                <a:latin typeface="楷体_GB2312" pitchFamily="49" charset="-122"/>
                <a:ea typeface="楷体_GB2312" pitchFamily="49" charset="-122"/>
              </a:rPr>
              <a:t>在芬兰首都赫尔辛基大学学习操作系统课程。因为上机需要排队等待，</a:t>
            </a:r>
            <a:r>
              <a:rPr lang="en-US" altLang="zh-CN" sz="2400" dirty="0">
                <a:latin typeface="楷体_GB2312" pitchFamily="49" charset="-122"/>
                <a:ea typeface="楷体_GB2312" pitchFamily="49" charset="-122"/>
              </a:rPr>
              <a:t>Linus</a:t>
            </a:r>
            <a:r>
              <a:rPr lang="zh-CN" altLang="en-US" sz="2400" dirty="0">
                <a:latin typeface="楷体_GB2312" pitchFamily="49" charset="-122"/>
                <a:ea typeface="楷体_GB2312" pitchFamily="49" charset="-122"/>
              </a:rPr>
              <a:t>买了台</a:t>
            </a:r>
            <a:r>
              <a:rPr lang="en-US" altLang="zh-CN" sz="2400" dirty="0">
                <a:latin typeface="楷体_GB2312" pitchFamily="49" charset="-122"/>
                <a:ea typeface="楷体_GB2312" pitchFamily="49" charset="-122"/>
              </a:rPr>
              <a:t>PC</a:t>
            </a:r>
            <a:r>
              <a:rPr lang="zh-CN" altLang="en-US" sz="2400" dirty="0">
                <a:latin typeface="楷体_GB2312" pitchFamily="49" charset="-122"/>
                <a:ea typeface="楷体_GB2312" pitchFamily="49" charset="-122"/>
              </a:rPr>
              <a:t>机，开发了第一个程序。程序包括两个进程，向屏幕上写字母，然后用定时器来切换进程</a:t>
            </a:r>
          </a:p>
          <a:p>
            <a:pPr algn="just" eaLnBrk="1" hangingPunct="1">
              <a:lnSpc>
                <a:spcPct val="115000"/>
              </a:lnSpc>
              <a:buFont typeface="Arial" panose="020B0604020202020204" pitchFamily="34" charset="0"/>
              <a:buChar char="•"/>
            </a:pPr>
            <a:r>
              <a:rPr lang="en-US" altLang="zh-CN" sz="2400" dirty="0">
                <a:latin typeface="楷体_GB2312" pitchFamily="49" charset="-122"/>
                <a:ea typeface="楷体_GB2312" pitchFamily="49" charset="-122"/>
              </a:rPr>
              <a:t>Linus</a:t>
            </a:r>
            <a:r>
              <a:rPr lang="zh-CN" altLang="en-US" sz="2400" dirty="0">
                <a:latin typeface="楷体_GB2312" pitchFamily="49" charset="-122"/>
                <a:ea typeface="楷体_GB2312" pitchFamily="49" charset="-122"/>
              </a:rPr>
              <a:t>需要终端仿真程序来存取</a:t>
            </a:r>
            <a:r>
              <a:rPr lang="en-US" altLang="zh-CN" sz="2400" dirty="0">
                <a:latin typeface="楷体_GB2312" pitchFamily="49" charset="-122"/>
                <a:ea typeface="楷体_GB2312" pitchFamily="49" charset="-122"/>
              </a:rPr>
              <a:t>Usenet</a:t>
            </a:r>
            <a:r>
              <a:rPr lang="zh-CN" altLang="en-US" sz="2400" dirty="0">
                <a:latin typeface="楷体_GB2312" pitchFamily="49" charset="-122"/>
                <a:ea typeface="楷体_GB2312" pitchFamily="49" charset="-122"/>
              </a:rPr>
              <a:t>新闻组的内容，于是他写了从调制解调器上收发信息的程序以及显示器、键盘和调制解调器的驱动程序</a:t>
            </a:r>
          </a:p>
          <a:p>
            <a:pPr algn="just" eaLnBrk="1" hangingPunct="1">
              <a:lnSpc>
                <a:spcPct val="115000"/>
              </a:lnSpc>
              <a:buFont typeface="Arial" panose="020B0604020202020204" pitchFamily="34" charset="0"/>
              <a:buChar char="•"/>
            </a:pPr>
            <a:r>
              <a:rPr lang="zh-CN" altLang="en-US" sz="2400" dirty="0">
                <a:latin typeface="楷体_GB2312" pitchFamily="49" charset="-122"/>
                <a:ea typeface="楷体_GB2312" pitchFamily="49" charset="-122"/>
              </a:rPr>
              <a:t>然后</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写了磁盘驱动程序，文件系统</a:t>
            </a:r>
          </a:p>
          <a:p>
            <a:pPr eaLnBrk="1" hangingPunct="1">
              <a:lnSpc>
                <a:spcPct val="115000"/>
              </a:lnSpc>
              <a:buFont typeface="Arial" panose="020B0604020202020204" pitchFamily="34" charset="0"/>
              <a:buChar char="•"/>
            </a:pPr>
            <a:r>
              <a:rPr lang="zh-CN" altLang="en-US" sz="2400" dirty="0">
                <a:solidFill>
                  <a:srgbClr val="FF0000"/>
                </a:solidFill>
                <a:latin typeface="楷体_GB2312" pitchFamily="49" charset="-122"/>
                <a:ea typeface="楷体_GB2312" pitchFamily="49" charset="-122"/>
              </a:rPr>
              <a:t>一旦有了进程切换、文件系统和设备驱动程序，就拥有了一个操作系统原型，或者至少是它的一个内核</a:t>
            </a:r>
          </a:p>
          <a:p>
            <a:pPr eaLnBrk="1" hangingPunct="1">
              <a:lnSpc>
                <a:spcPct val="115000"/>
              </a:lnSpc>
              <a:buFont typeface="Arial" panose="020B0604020202020204" pitchFamily="34" charset="0"/>
              <a:buChar char="•"/>
            </a:pPr>
            <a:r>
              <a:rPr lang="en-US" altLang="zh-CN" sz="2400" dirty="0">
                <a:solidFill>
                  <a:srgbClr val="8B3A21"/>
                </a:solidFill>
                <a:latin typeface="楷体_GB2312" pitchFamily="49" charset="-122"/>
                <a:ea typeface="楷体_GB2312" pitchFamily="49" charset="-122"/>
              </a:rPr>
              <a:t>     </a:t>
            </a:r>
            <a:r>
              <a:rPr lang="en-US" altLang="zh-CN" sz="2400" dirty="0">
                <a:latin typeface="楷体_GB2312" pitchFamily="49" charset="-122"/>
                <a:ea typeface="楷体_GB2312" pitchFamily="49" charset="-122"/>
              </a:rPr>
              <a:t>Linux</a:t>
            </a:r>
            <a:r>
              <a:rPr lang="zh-CN" altLang="en-US" sz="2400" dirty="0">
                <a:latin typeface="楷体_GB2312" pitchFamily="49" charset="-122"/>
                <a:ea typeface="楷体_GB2312" pitchFamily="49" charset="-122"/>
              </a:rPr>
              <a:t>就以这样极其古怪但也极其自然式问世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10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0105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0105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0105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010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59"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a:xfrm>
            <a:off x="704850" y="995363"/>
            <a:ext cx="7772400" cy="1141412"/>
          </a:xfrm>
        </p:spPr>
        <p:txBody>
          <a:bodyPr lIns="82124" tIns="41061" rIns="82124" bIns="41061"/>
          <a:lstStyle/>
          <a:p>
            <a:pPr algn="l" eaLnBrk="1" hangingPunct="1">
              <a:defRPr/>
            </a:pPr>
            <a:r>
              <a:rPr lang="en-US" altLang="zh-CN" sz="2400" dirty="0">
                <a:effectLst>
                  <a:outerShdw blurRad="38100" dist="38100" dir="2700000" algn="tl">
                    <a:srgbClr val="C0C0C0"/>
                  </a:outerShdw>
                </a:effectLst>
                <a:latin typeface="楷体_GB2312" pitchFamily="49" charset="-122"/>
                <a:ea typeface="楷体_GB2312" pitchFamily="49" charset="-122"/>
              </a:rPr>
              <a:t>Linux</a:t>
            </a:r>
            <a:r>
              <a:rPr lang="zh-CN" altLang="en-US" sz="2400" dirty="0">
                <a:effectLst>
                  <a:outerShdw blurRad="38100" dist="38100" dir="2700000" algn="tl">
                    <a:srgbClr val="C0C0C0"/>
                  </a:outerShdw>
                </a:effectLst>
                <a:latin typeface="楷体_GB2312" pitchFamily="49" charset="-122"/>
                <a:ea typeface="楷体_GB2312" pitchFamily="49" charset="-122"/>
              </a:rPr>
              <a:t>之父-</a:t>
            </a:r>
            <a:r>
              <a:rPr lang="en-US" altLang="zh-CN" sz="2400" dirty="0">
                <a:effectLst>
                  <a:outerShdw blurRad="38100" dist="38100" dir="2700000" algn="tl">
                    <a:srgbClr val="C0C0C0"/>
                  </a:outerShdw>
                </a:effectLst>
                <a:latin typeface="楷体_GB2312" pitchFamily="49" charset="-122"/>
                <a:ea typeface="楷体_GB2312" pitchFamily="49" charset="-122"/>
              </a:rPr>
              <a:t>Linus </a:t>
            </a:r>
            <a:r>
              <a:rPr lang="en-US" altLang="zh-CN" sz="2400" dirty="0" err="1">
                <a:effectLst>
                  <a:outerShdw blurRad="38100" dist="38100" dir="2700000" algn="tl">
                    <a:srgbClr val="C0C0C0"/>
                  </a:outerShdw>
                </a:effectLst>
                <a:latin typeface="楷体_GB2312" pitchFamily="49" charset="-122"/>
                <a:ea typeface="楷体_GB2312" pitchFamily="49" charset="-122"/>
              </a:rPr>
              <a:t>Tovalds</a:t>
            </a:r>
            <a:br>
              <a:rPr lang="en-US" altLang="zh-CN" sz="2400" dirty="0">
                <a:effectLst>
                  <a:outerShdw blurRad="38100" dist="38100" dir="2700000" algn="tl">
                    <a:srgbClr val="C0C0C0"/>
                  </a:outerShdw>
                </a:effectLst>
                <a:latin typeface="楷体_GB2312" pitchFamily="49" charset="-122"/>
                <a:ea typeface="楷体_GB2312" pitchFamily="49" charset="-122"/>
              </a:rPr>
            </a:br>
            <a:endParaRPr lang="zh-CN" altLang="en-US" sz="2400" dirty="0">
              <a:effectLst>
                <a:outerShdw blurRad="38100" dist="38100" dir="2700000" algn="tl">
                  <a:srgbClr val="C0C0C0"/>
                </a:outerShdw>
              </a:effectLst>
              <a:latin typeface="楷体_GB2312" pitchFamily="49" charset="-122"/>
              <a:ea typeface="楷体_GB2312" pitchFamily="49" charset="-122"/>
            </a:endParaRPr>
          </a:p>
        </p:txBody>
      </p:sp>
      <p:sp>
        <p:nvSpPr>
          <p:cNvPr id="11267" name="Rectangle 3"/>
          <p:cNvSpPr>
            <a:spLocks noGrp="1" noChangeArrowheads="1"/>
          </p:cNvSpPr>
          <p:nvPr>
            <p:ph type="body" sz="half" idx="2"/>
          </p:nvPr>
        </p:nvSpPr>
        <p:spPr>
          <a:xfrm>
            <a:off x="2987675" y="1268413"/>
            <a:ext cx="5695950" cy="4768850"/>
          </a:xfrm>
          <a:noFill/>
        </p:spPr>
        <p:txBody>
          <a:bodyPr lIns="82124" tIns="41061" rIns="82124" bIns="41061" anchor="ctr" anchorCtr="1"/>
          <a:lstStyle/>
          <a:p>
            <a:pPr eaLnBrk="1" hangingPunct="1">
              <a:lnSpc>
                <a:spcPct val="85000"/>
              </a:lnSpc>
              <a:buFont typeface="Arial" panose="020B0604020202020204" pitchFamily="34" charset="0"/>
              <a:buChar char="•"/>
            </a:pPr>
            <a:r>
              <a:rPr lang="zh-CN" altLang="en-US" dirty="0">
                <a:solidFill>
                  <a:srgbClr val="2E5C8A"/>
                </a:solidFill>
                <a:latin typeface="楷体_GB2312" pitchFamily="49" charset="-122"/>
                <a:ea typeface="楷体_GB2312" pitchFamily="49" charset="-122"/>
              </a:rPr>
              <a:t>芬兰赫尔辛基大学</a:t>
            </a:r>
            <a:r>
              <a:rPr lang="en-US" altLang="zh-CN" dirty="0">
                <a:solidFill>
                  <a:srgbClr val="2E5C8A"/>
                </a:solidFill>
                <a:latin typeface="楷体_GB2312" pitchFamily="49" charset="-122"/>
                <a:ea typeface="楷体_GB2312" pitchFamily="49" charset="-122"/>
              </a:rPr>
              <a:t>:</a:t>
            </a:r>
            <a:r>
              <a:rPr lang="zh-CN" altLang="en-US" dirty="0">
                <a:solidFill>
                  <a:srgbClr val="2E5C8A"/>
                </a:solidFill>
                <a:latin typeface="楷体_GB2312" pitchFamily="49" charset="-122"/>
                <a:ea typeface="楷体_GB2312" pitchFamily="49" charset="-122"/>
              </a:rPr>
              <a:t>1990</a:t>
            </a:r>
          </a:p>
          <a:p>
            <a:pPr eaLnBrk="1" hangingPunct="1">
              <a:lnSpc>
                <a:spcPct val="85000"/>
              </a:lnSpc>
              <a:buFont typeface="Arial" panose="020B0604020202020204" pitchFamily="34" charset="0"/>
              <a:buChar char="•"/>
            </a:pPr>
            <a:r>
              <a:rPr lang="en-US" altLang="zh-CN" dirty="0">
                <a:solidFill>
                  <a:srgbClr val="2E5C8A"/>
                </a:solidFill>
                <a:latin typeface="楷体_GB2312" pitchFamily="49" charset="-122"/>
                <a:ea typeface="楷体_GB2312" pitchFamily="49" charset="-122"/>
              </a:rPr>
              <a:t>Linux</a:t>
            </a:r>
            <a:r>
              <a:rPr lang="zh-CN" altLang="en-US" dirty="0">
                <a:solidFill>
                  <a:srgbClr val="2E5C8A"/>
                </a:solidFill>
                <a:latin typeface="楷体_GB2312" pitchFamily="49" charset="-122"/>
                <a:ea typeface="楷体_GB2312" pitchFamily="49" charset="-122"/>
              </a:rPr>
              <a:t>是一匹自由而奔放的黑马</a:t>
            </a:r>
          </a:p>
          <a:p>
            <a:pPr lvl="1" eaLnBrk="1" hangingPunct="1">
              <a:buFont typeface="Arial" panose="020B0604020202020204" pitchFamily="34" charset="0"/>
              <a:buChar char="•"/>
            </a:pPr>
            <a:r>
              <a:rPr lang="zh-CN" altLang="en-US" sz="2800" dirty="0">
                <a:solidFill>
                  <a:srgbClr val="2E5C8A"/>
                </a:solidFill>
                <a:latin typeface="楷体_GB2312" pitchFamily="49" charset="-122"/>
                <a:ea typeface="楷体_GB2312" pitchFamily="49" charset="-122"/>
              </a:rPr>
              <a:t>诞生于学生之手</a:t>
            </a:r>
          </a:p>
          <a:p>
            <a:pPr lvl="1" eaLnBrk="1" hangingPunct="1">
              <a:buFont typeface="Arial" panose="020B0604020202020204" pitchFamily="34" charset="0"/>
              <a:buChar char="•"/>
            </a:pPr>
            <a:r>
              <a:rPr lang="zh-CN" altLang="en-US" sz="2800" dirty="0">
                <a:solidFill>
                  <a:srgbClr val="2E5C8A"/>
                </a:solidFill>
                <a:latin typeface="楷体_GB2312" pitchFamily="49" charset="-122"/>
                <a:ea typeface="楷体_GB2312" pitchFamily="49" charset="-122"/>
              </a:rPr>
              <a:t>成长于</a:t>
            </a:r>
            <a:r>
              <a:rPr lang="en-US" altLang="zh-CN" sz="2800" dirty="0">
                <a:solidFill>
                  <a:srgbClr val="2E5C8A"/>
                </a:solidFill>
                <a:latin typeface="楷体_GB2312" pitchFamily="49" charset="-122"/>
                <a:ea typeface="楷体_GB2312" pitchFamily="49" charset="-122"/>
              </a:rPr>
              <a:t>Internet </a:t>
            </a:r>
          </a:p>
          <a:p>
            <a:pPr lvl="1" eaLnBrk="1" hangingPunct="1">
              <a:buFont typeface="Arial" panose="020B0604020202020204" pitchFamily="34" charset="0"/>
              <a:buChar char="•"/>
            </a:pPr>
            <a:r>
              <a:rPr lang="zh-CN" altLang="en-US" sz="2800" dirty="0">
                <a:solidFill>
                  <a:srgbClr val="2E5C8A"/>
                </a:solidFill>
                <a:latin typeface="楷体_GB2312" pitchFamily="49" charset="-122"/>
                <a:ea typeface="楷体_GB2312" pitchFamily="49" charset="-122"/>
              </a:rPr>
              <a:t>壮大于自由而开放的文化</a:t>
            </a:r>
          </a:p>
          <a:p>
            <a:pPr eaLnBrk="1" hangingPunct="1">
              <a:lnSpc>
                <a:spcPct val="85000"/>
              </a:lnSpc>
            </a:pPr>
            <a:endParaRPr lang="zh-CN" altLang="en-US" sz="3000" dirty="0">
              <a:solidFill>
                <a:schemeClr val="tx1"/>
              </a:solidFill>
              <a:latin typeface="楷体_GB2312" pitchFamily="49" charset="-122"/>
              <a:ea typeface="楷体_GB2312" pitchFamily="49" charset="-122"/>
            </a:endParaRPr>
          </a:p>
          <a:p>
            <a:pPr eaLnBrk="1" hangingPunct="1">
              <a:lnSpc>
                <a:spcPct val="85000"/>
              </a:lnSpc>
            </a:pPr>
            <a:endParaRPr lang="zh-CN" altLang="en-US" sz="2600" dirty="0">
              <a:solidFill>
                <a:srgbClr val="35C5FF"/>
              </a:solidFill>
              <a:latin typeface="楷体_GB2312" pitchFamily="49" charset="-122"/>
              <a:ea typeface="楷体_GB2312" pitchFamily="49" charset="-122"/>
            </a:endParaRPr>
          </a:p>
        </p:txBody>
      </p:sp>
      <p:pic>
        <p:nvPicPr>
          <p:cNvPr id="11268" name="Picture 4" descr="linu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057400"/>
            <a:ext cx="16002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9925" y="4581525"/>
            <a:ext cx="1457325" cy="172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p:cNvSpPr txBox="1">
            <a:spLocks noChangeArrowheads="1"/>
          </p:cNvSpPr>
          <p:nvPr/>
        </p:nvSpPr>
        <p:spPr bwMode="black">
          <a:xfrm>
            <a:off x="282575" y="188913"/>
            <a:ext cx="822960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defRPr/>
            </a:pPr>
            <a:r>
              <a:rPr lang="en-US" altLang="zh-CN" kern="0">
                <a:latin typeface="楷体_GB2312" pitchFamily="49" charset="-122"/>
                <a:ea typeface="楷体_GB2312" pitchFamily="49" charset="-122"/>
              </a:rPr>
              <a:t>1</a:t>
            </a:r>
            <a:r>
              <a:rPr lang="zh-CN" altLang="en-US" kern="0">
                <a:latin typeface="楷体_GB2312" pitchFamily="49" charset="-122"/>
                <a:ea typeface="楷体_GB2312" pitchFamily="49" charset="-122"/>
              </a:rPr>
              <a:t>、 </a:t>
            </a:r>
            <a:r>
              <a:rPr lang="en-US" altLang="zh-CN" kern="0">
                <a:latin typeface="楷体_GB2312" pitchFamily="49" charset="-122"/>
                <a:ea typeface="楷体_GB2312" pitchFamily="49" charset="-122"/>
              </a:rPr>
              <a:t>Linux</a:t>
            </a:r>
            <a:r>
              <a:rPr lang="zh-CN" altLang="en-US" kern="0">
                <a:latin typeface="楷体_GB2312" pitchFamily="49" charset="-122"/>
                <a:ea typeface="楷体_GB2312" pitchFamily="49" charset="-122"/>
              </a:rPr>
              <a:t>的起源与发展</a:t>
            </a:r>
            <a:endParaRPr lang="zh-CN" altLang="en-US" kern="0" dirty="0">
              <a:latin typeface="楷体_GB2312" pitchFamily="49" charset="-122"/>
              <a:ea typeface="楷体_GB2312" pitchFamily="49"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80975" y="877888"/>
            <a:ext cx="3384550" cy="609600"/>
          </a:xfrm>
        </p:spPr>
        <p:txBody>
          <a:bodyPr/>
          <a:lstStyle/>
          <a:p>
            <a:pPr eaLnBrk="1" hangingPunct="1">
              <a:defRPr/>
            </a:pPr>
            <a:r>
              <a:rPr lang="en-US" altLang="zh-CN" sz="2400" dirty="0">
                <a:solidFill>
                  <a:srgbClr val="2B5681"/>
                </a:solidFill>
                <a:latin typeface="楷体_GB2312" pitchFamily="49" charset="-122"/>
                <a:ea typeface="楷体_GB2312" pitchFamily="49" charset="-122"/>
                <a:cs typeface="+mn-cs"/>
              </a:rPr>
              <a:t>Linux</a:t>
            </a:r>
            <a:r>
              <a:rPr lang="zh-CN" altLang="en-US" sz="2400" dirty="0">
                <a:solidFill>
                  <a:srgbClr val="2B5681"/>
                </a:solidFill>
                <a:latin typeface="楷体_GB2312" pitchFamily="49" charset="-122"/>
                <a:ea typeface="楷体_GB2312" pitchFamily="49" charset="-122"/>
                <a:cs typeface="+mn-cs"/>
              </a:rPr>
              <a:t>内核编年史</a:t>
            </a:r>
          </a:p>
        </p:txBody>
      </p:sp>
      <p:sp>
        <p:nvSpPr>
          <p:cNvPr id="13315" name="Rectangle 3"/>
          <p:cNvSpPr>
            <a:spLocks noGrp="1" noChangeArrowheads="1"/>
          </p:cNvSpPr>
          <p:nvPr>
            <p:ph type="body" idx="1"/>
          </p:nvPr>
        </p:nvSpPr>
        <p:spPr>
          <a:xfrm>
            <a:off x="282575" y="1412776"/>
            <a:ext cx="8537897" cy="5272087"/>
          </a:xfrm>
        </p:spPr>
        <p:txBody>
          <a:bodyPr/>
          <a:lstStyle/>
          <a:p>
            <a:pPr eaLnBrk="1" hangingPunct="1">
              <a:buFont typeface="Arial" panose="020B0604020202020204" pitchFamily="34" charset="0"/>
              <a:buChar char="•"/>
              <a:defRPr/>
            </a:pPr>
            <a:r>
              <a:rPr lang="en-US" altLang="zh-CN" sz="2000" dirty="0">
                <a:solidFill>
                  <a:srgbClr val="FF0000"/>
                </a:solidFill>
                <a:latin typeface="楷体_GB2312" pitchFamily="49" charset="-122"/>
                <a:ea typeface="楷体_GB2312" pitchFamily="49" charset="-122"/>
              </a:rPr>
              <a:t>1990</a:t>
            </a:r>
            <a:r>
              <a:rPr lang="zh-CN" altLang="en-US" sz="2000" dirty="0">
                <a:solidFill>
                  <a:srgbClr val="FF0000"/>
                </a:solidFill>
                <a:latin typeface="楷体_GB2312" pitchFamily="49" charset="-122"/>
                <a:ea typeface="楷体_GB2312" pitchFamily="49" charset="-122"/>
              </a:rPr>
              <a:t>年</a:t>
            </a:r>
            <a:r>
              <a:rPr lang="zh-CN" altLang="en-US" sz="2000" dirty="0">
                <a:solidFill>
                  <a:schemeClr val="tx1"/>
                </a:solidFill>
                <a:latin typeface="楷体_GB2312" pitchFamily="49" charset="-122"/>
                <a:ea typeface="楷体_GB2312" pitchFamily="49" charset="-122"/>
              </a:rPr>
              <a:t>：</a:t>
            </a:r>
            <a:r>
              <a:rPr lang="en-US" altLang="zh-CN" sz="2000" dirty="0">
                <a:latin typeface="楷体_GB2312" pitchFamily="49" charset="-122"/>
                <a:ea typeface="楷体_GB2312" pitchFamily="49" charset="-122"/>
              </a:rPr>
              <a:t>Linux 0.0.1</a:t>
            </a:r>
            <a:endParaRPr lang="zh-CN" altLang="en-US" sz="2000" dirty="0">
              <a:latin typeface="楷体_GB2312" pitchFamily="49" charset="-122"/>
              <a:ea typeface="楷体_GB2312" pitchFamily="49" charset="-122"/>
            </a:endParaRPr>
          </a:p>
          <a:p>
            <a:pPr eaLnBrk="1" hangingPunct="1">
              <a:buFont typeface="Arial" panose="020B0604020202020204" pitchFamily="34" charset="0"/>
              <a:buChar char="•"/>
              <a:defRPr/>
            </a:pPr>
            <a:r>
              <a:rPr lang="zh-CN" altLang="en-US" sz="2000" dirty="0">
                <a:solidFill>
                  <a:srgbClr val="FF0000"/>
                </a:solidFill>
                <a:latin typeface="楷体_GB2312" pitchFamily="49" charset="-122"/>
                <a:ea typeface="楷体_GB2312" pitchFamily="49" charset="-122"/>
              </a:rPr>
              <a:t>1991年</a:t>
            </a:r>
            <a:r>
              <a:rPr lang="zh-CN" altLang="en-US" sz="2000" dirty="0">
                <a:solidFill>
                  <a:srgbClr val="8B3A21"/>
                </a:solidFill>
                <a:latin typeface="楷体_GB2312" pitchFamily="49" charset="-122"/>
                <a:ea typeface="楷体_GB2312" pitchFamily="49" charset="-122"/>
              </a:rPr>
              <a:t>：</a:t>
            </a:r>
            <a:r>
              <a:rPr lang="en-US" altLang="zh-CN" sz="2000" dirty="0">
                <a:latin typeface="楷体_GB2312" pitchFamily="49" charset="-122"/>
                <a:ea typeface="楷体_GB2312" pitchFamily="49" charset="-122"/>
              </a:rPr>
              <a:t>Linux 0.0.2</a:t>
            </a:r>
            <a:r>
              <a:rPr lang="zh-CN" altLang="en-US" sz="2000" dirty="0">
                <a:latin typeface="楷体_GB2312" pitchFamily="49" charset="-122"/>
                <a:ea typeface="楷体_GB2312" pitchFamily="49" charset="-122"/>
              </a:rPr>
              <a:t>，</a:t>
            </a:r>
            <a:r>
              <a:rPr lang="en-US" altLang="zh-CN" sz="2000" dirty="0" err="1">
                <a:latin typeface="楷体_GB2312" pitchFamily="49" charset="-122"/>
                <a:ea typeface="楷体_GB2312" pitchFamily="49" charset="-122"/>
              </a:rPr>
              <a:t>bash、gcc</a:t>
            </a:r>
            <a:endParaRPr lang="en-US" altLang="zh-CN" sz="2000" dirty="0">
              <a:latin typeface="楷体_GB2312" pitchFamily="49" charset="-122"/>
              <a:ea typeface="楷体_GB2312" pitchFamily="49" charset="-122"/>
            </a:endParaRPr>
          </a:p>
          <a:p>
            <a:pPr eaLnBrk="1" hangingPunct="1">
              <a:buFont typeface="Arial" panose="020B0604020202020204" pitchFamily="34" charset="0"/>
              <a:buChar char="•"/>
              <a:defRPr/>
            </a:pPr>
            <a:r>
              <a:rPr lang="zh-CN" altLang="en-US" sz="2000" dirty="0">
                <a:solidFill>
                  <a:srgbClr val="FF0000"/>
                </a:solidFill>
                <a:latin typeface="楷体_GB2312" pitchFamily="49" charset="-122"/>
                <a:ea typeface="楷体_GB2312" pitchFamily="49" charset="-122"/>
              </a:rPr>
              <a:t>1993年底</a:t>
            </a:r>
            <a:r>
              <a:rPr lang="zh-CN" altLang="en-US" sz="2000" dirty="0">
                <a:latin typeface="楷体_GB2312" pitchFamily="49" charset="-122"/>
                <a:ea typeface="楷体_GB2312" pitchFamily="49" charset="-122"/>
              </a:rPr>
              <a:t>：</a:t>
            </a:r>
            <a:r>
              <a:rPr lang="en-US" altLang="zh-CN" sz="2000" dirty="0">
                <a:latin typeface="楷体_GB2312" pitchFamily="49" charset="-122"/>
                <a:ea typeface="楷体_GB2312" pitchFamily="49" charset="-122"/>
              </a:rPr>
              <a:t>Linux 1.0</a:t>
            </a:r>
            <a:r>
              <a:rPr lang="zh-CN" altLang="en-US" sz="2000" dirty="0">
                <a:latin typeface="楷体_GB2312" pitchFamily="49" charset="-122"/>
                <a:ea typeface="楷体_GB2312" pitchFamily="49" charset="-122"/>
              </a:rPr>
              <a:t>版诞生</a:t>
            </a:r>
          </a:p>
          <a:p>
            <a:pPr eaLnBrk="1" hangingPunct="1">
              <a:buFont typeface="Arial" panose="020B0604020202020204" pitchFamily="34" charset="0"/>
              <a:buChar char="•"/>
              <a:defRPr/>
            </a:pPr>
            <a:r>
              <a:rPr lang="en-US" altLang="zh-CN" sz="2000" dirty="0">
                <a:solidFill>
                  <a:srgbClr val="FF0000"/>
                </a:solidFill>
                <a:latin typeface="楷体_GB2312" pitchFamily="49" charset="-122"/>
                <a:ea typeface="楷体_GB2312" pitchFamily="49" charset="-122"/>
              </a:rPr>
              <a:t>1994</a:t>
            </a:r>
            <a:r>
              <a:rPr lang="zh-CN" altLang="en-US" sz="2000" dirty="0">
                <a:solidFill>
                  <a:srgbClr val="FF0000"/>
                </a:solidFill>
                <a:latin typeface="楷体_GB2312" pitchFamily="49" charset="-122"/>
                <a:ea typeface="楷体_GB2312" pitchFamily="49" charset="-122"/>
              </a:rPr>
              <a:t>年</a:t>
            </a:r>
            <a:r>
              <a:rPr lang="zh-CN" altLang="en-US" sz="2000" dirty="0">
                <a:latin typeface="楷体_GB2312" pitchFamily="49" charset="-122"/>
                <a:ea typeface="楷体_GB2312" pitchFamily="49" charset="-122"/>
              </a:rPr>
              <a:t>：</a:t>
            </a:r>
            <a:r>
              <a:rPr lang="en-US" altLang="zh-CN" sz="2000" dirty="0">
                <a:latin typeface="楷体_GB2312" pitchFamily="49" charset="-122"/>
                <a:ea typeface="楷体_GB2312" pitchFamily="49" charset="-122"/>
              </a:rPr>
              <a:t>Linux </a:t>
            </a:r>
            <a:r>
              <a:rPr lang="zh-CN" altLang="en-US" sz="2000" dirty="0">
                <a:latin typeface="楷体_GB2312" pitchFamily="49" charset="-122"/>
                <a:ea typeface="楷体_GB2312" pitchFamily="49" charset="-122"/>
              </a:rPr>
              <a:t>的第一个商业发行版 </a:t>
            </a:r>
            <a:r>
              <a:rPr lang="en-US" altLang="zh-CN" sz="2000" dirty="0">
                <a:latin typeface="楷体_GB2312" pitchFamily="49" charset="-122"/>
                <a:ea typeface="楷体_GB2312" pitchFamily="49" charset="-122"/>
              </a:rPr>
              <a:t>Slackware </a:t>
            </a:r>
            <a:r>
              <a:rPr lang="zh-CN" altLang="en-US" sz="2000" dirty="0">
                <a:latin typeface="楷体_GB2312" pitchFamily="49" charset="-122"/>
                <a:ea typeface="楷体_GB2312" pitchFamily="49" charset="-122"/>
              </a:rPr>
              <a:t>问世</a:t>
            </a:r>
          </a:p>
          <a:p>
            <a:pPr eaLnBrk="1" hangingPunct="1">
              <a:buFont typeface="Arial" panose="020B0604020202020204" pitchFamily="34" charset="0"/>
              <a:buChar char="•"/>
              <a:defRPr/>
            </a:pPr>
            <a:r>
              <a:rPr lang="en-US" altLang="zh-CN" sz="2000" dirty="0">
                <a:solidFill>
                  <a:srgbClr val="FF0000"/>
                </a:solidFill>
                <a:latin typeface="楷体_GB2312" pitchFamily="49" charset="-122"/>
                <a:ea typeface="楷体_GB2312" pitchFamily="49" charset="-122"/>
              </a:rPr>
              <a:t>1996</a:t>
            </a:r>
            <a:r>
              <a:rPr lang="zh-CN" altLang="en-US" sz="2000" dirty="0">
                <a:solidFill>
                  <a:srgbClr val="FF0000"/>
                </a:solidFill>
                <a:latin typeface="楷体_GB2312" pitchFamily="49" charset="-122"/>
                <a:ea typeface="楷体_GB2312" pitchFamily="49" charset="-122"/>
              </a:rPr>
              <a:t>年</a:t>
            </a:r>
            <a:r>
              <a:rPr lang="zh-CN" altLang="en-US" sz="2000" dirty="0">
                <a:latin typeface="楷体_GB2312" pitchFamily="49" charset="-122"/>
                <a:ea typeface="楷体_GB2312" pitchFamily="49" charset="-122"/>
              </a:rPr>
              <a:t>：美国国家标准技术局的计算机系统实验室确认</a:t>
            </a:r>
            <a:r>
              <a:rPr lang="en-US" altLang="zh-CN" sz="2000" dirty="0">
                <a:latin typeface="楷体_GB2312" pitchFamily="49" charset="-122"/>
                <a:ea typeface="楷体_GB2312" pitchFamily="49" charset="-122"/>
              </a:rPr>
              <a:t>Linux </a:t>
            </a:r>
            <a:r>
              <a:rPr lang="zh-CN" altLang="en-US" sz="2000" dirty="0">
                <a:latin typeface="楷体_GB2312" pitchFamily="49" charset="-122"/>
                <a:ea typeface="楷体_GB2312" pitchFamily="49" charset="-122"/>
              </a:rPr>
              <a:t>版本    </a:t>
            </a:r>
            <a:endParaRPr lang="en-US" altLang="zh-CN" sz="2000" dirty="0">
              <a:latin typeface="楷体_GB2312" pitchFamily="49" charset="-122"/>
              <a:ea typeface="楷体_GB2312" pitchFamily="49" charset="-122"/>
            </a:endParaRPr>
          </a:p>
          <a:p>
            <a:pPr marL="0" indent="0" eaLnBrk="1" hangingPunct="1">
              <a:buNone/>
              <a:defRPr/>
            </a:pPr>
            <a:r>
              <a:rPr lang="en-US" altLang="zh-CN" sz="2000" dirty="0">
                <a:latin typeface="楷体_GB2312" pitchFamily="49" charset="-122"/>
                <a:ea typeface="楷体_GB2312" pitchFamily="49" charset="-122"/>
              </a:rPr>
              <a:t>                  1.2.13</a:t>
            </a:r>
            <a:r>
              <a:rPr lang="zh-CN" altLang="en-US" sz="2000" dirty="0">
                <a:latin typeface="楷体_GB2312" pitchFamily="49" charset="-122"/>
                <a:ea typeface="楷体_GB2312" pitchFamily="49" charset="-122"/>
              </a:rPr>
              <a:t>（由 </a:t>
            </a:r>
            <a:r>
              <a:rPr lang="en-US" altLang="zh-CN" sz="2000" dirty="0">
                <a:latin typeface="楷体_GB2312" pitchFamily="49" charset="-122"/>
                <a:ea typeface="楷体_GB2312" pitchFamily="49" charset="-122"/>
              </a:rPr>
              <a:t>Open Linux </a:t>
            </a:r>
            <a:r>
              <a:rPr lang="zh-CN" altLang="en-US" sz="2000" dirty="0">
                <a:latin typeface="楷体_GB2312" pitchFamily="49" charset="-122"/>
                <a:ea typeface="楷体_GB2312" pitchFamily="49" charset="-122"/>
              </a:rPr>
              <a:t>公司打包） ，符合 </a:t>
            </a:r>
            <a:r>
              <a:rPr lang="en-US" altLang="zh-CN" sz="2000" dirty="0">
                <a:latin typeface="楷体_GB2312" pitchFamily="49" charset="-122"/>
                <a:ea typeface="楷体_GB2312" pitchFamily="49" charset="-122"/>
              </a:rPr>
              <a:t>POSIX </a:t>
            </a:r>
            <a:r>
              <a:rPr lang="zh-CN" altLang="en-US" sz="2000" dirty="0">
                <a:latin typeface="楷体_GB2312" pitchFamily="49" charset="-122"/>
                <a:ea typeface="楷体_GB2312" pitchFamily="49" charset="-122"/>
              </a:rPr>
              <a:t>标准</a:t>
            </a:r>
          </a:p>
          <a:p>
            <a:pPr eaLnBrk="1" hangingPunct="1">
              <a:buFont typeface="Arial" panose="020B0604020202020204" pitchFamily="34" charset="0"/>
              <a:buChar char="•"/>
              <a:defRPr/>
            </a:pPr>
            <a:r>
              <a:rPr lang="zh-CN" altLang="en-US" sz="2000" dirty="0">
                <a:solidFill>
                  <a:srgbClr val="FF0000"/>
                </a:solidFill>
                <a:latin typeface="楷体_GB2312" pitchFamily="49" charset="-122"/>
                <a:ea typeface="楷体_GB2312" pitchFamily="49" charset="-122"/>
              </a:rPr>
              <a:t>1999年</a:t>
            </a:r>
            <a:r>
              <a:rPr lang="zh-CN" altLang="en-US" sz="2000" dirty="0">
                <a:latin typeface="楷体_GB2312" pitchFamily="49" charset="-122"/>
                <a:ea typeface="楷体_GB2312" pitchFamily="49" charset="-122"/>
              </a:rPr>
              <a:t>：</a:t>
            </a:r>
            <a:r>
              <a:rPr lang="en-US" altLang="zh-CN" sz="2000" dirty="0">
                <a:latin typeface="楷体_GB2312" pitchFamily="49" charset="-122"/>
                <a:ea typeface="楷体_GB2312" pitchFamily="49" charset="-122"/>
              </a:rPr>
              <a:t>Linux 2.2</a:t>
            </a:r>
            <a:r>
              <a:rPr lang="zh-CN" altLang="en-US" sz="2000" dirty="0">
                <a:latin typeface="楷体_GB2312" pitchFamily="49" charset="-122"/>
                <a:ea typeface="楷体_GB2312" pitchFamily="49" charset="-122"/>
              </a:rPr>
              <a:t>发布，</a:t>
            </a:r>
            <a:r>
              <a:rPr lang="en-US" altLang="zh-CN" sz="2000" dirty="0">
                <a:latin typeface="楷体_GB2312" pitchFamily="49" charset="-122"/>
                <a:ea typeface="楷体_GB2312" pitchFamily="49" charset="-122"/>
              </a:rPr>
              <a:t>64</a:t>
            </a:r>
            <a:r>
              <a:rPr lang="zh-CN" altLang="en-US" sz="2000" dirty="0">
                <a:latin typeface="楷体_GB2312" pitchFamily="49" charset="-122"/>
                <a:ea typeface="楷体_GB2312" pitchFamily="49" charset="-122"/>
              </a:rPr>
              <a:t>位平台，</a:t>
            </a:r>
            <a:r>
              <a:rPr lang="en-US" altLang="zh-CN" sz="2000" dirty="0">
                <a:latin typeface="楷体_GB2312" pitchFamily="49" charset="-122"/>
                <a:ea typeface="楷体_GB2312" pitchFamily="49" charset="-122"/>
              </a:rPr>
              <a:t>SMP</a:t>
            </a:r>
            <a:r>
              <a:rPr lang="zh-CN" altLang="en-US" sz="2000" dirty="0">
                <a:latin typeface="楷体_GB2312" pitchFamily="49" charset="-122"/>
                <a:ea typeface="楷体_GB2312" pitchFamily="49" charset="-122"/>
              </a:rPr>
              <a:t>，</a:t>
            </a:r>
            <a:r>
              <a:rPr lang="en-US" altLang="zh-CN" sz="2000" dirty="0">
                <a:latin typeface="楷体_GB2312" pitchFamily="49" charset="-122"/>
                <a:ea typeface="楷体_GB2312" pitchFamily="49" charset="-122"/>
              </a:rPr>
              <a:t>NTFS，SCSI，</a:t>
            </a:r>
            <a:r>
              <a:rPr lang="zh-CN" altLang="en-US" sz="2000" dirty="0">
                <a:latin typeface="楷体_GB2312" pitchFamily="49" charset="-122"/>
                <a:ea typeface="楷体_GB2312" pitchFamily="49" charset="-122"/>
              </a:rPr>
              <a:t>多媒体</a:t>
            </a:r>
          </a:p>
          <a:p>
            <a:pPr eaLnBrk="1" hangingPunct="1">
              <a:buFont typeface="Arial" panose="020B0604020202020204" pitchFamily="34" charset="0"/>
              <a:buChar char="•"/>
              <a:defRPr/>
            </a:pPr>
            <a:r>
              <a:rPr lang="en-US" altLang="zh-CN" sz="2000" dirty="0">
                <a:solidFill>
                  <a:srgbClr val="FF0000"/>
                </a:solidFill>
                <a:latin typeface="楷体_GB2312" pitchFamily="49" charset="-122"/>
                <a:ea typeface="楷体_GB2312" pitchFamily="49" charset="-122"/>
              </a:rPr>
              <a:t>2001</a:t>
            </a:r>
            <a:r>
              <a:rPr lang="zh-CN" altLang="en-US" sz="2000" dirty="0">
                <a:solidFill>
                  <a:srgbClr val="FF0000"/>
                </a:solidFill>
                <a:latin typeface="楷体_GB2312" pitchFamily="49" charset="-122"/>
                <a:ea typeface="楷体_GB2312" pitchFamily="49" charset="-122"/>
              </a:rPr>
              <a:t>年</a:t>
            </a:r>
            <a:r>
              <a:rPr lang="zh-CN" altLang="en-US" sz="2000" dirty="0">
                <a:latin typeface="楷体_GB2312" pitchFamily="49" charset="-122"/>
                <a:ea typeface="楷体_GB2312" pitchFamily="49" charset="-122"/>
              </a:rPr>
              <a:t>：</a:t>
            </a:r>
            <a:r>
              <a:rPr lang="en-US" altLang="zh-CN" sz="2000" dirty="0">
                <a:latin typeface="楷体_GB2312" pitchFamily="49" charset="-122"/>
                <a:ea typeface="楷体_GB2312" pitchFamily="49" charset="-122"/>
              </a:rPr>
              <a:t>Linux 2.4</a:t>
            </a:r>
            <a:r>
              <a:rPr lang="zh-CN" altLang="en-US" sz="2000" dirty="0">
                <a:latin typeface="楷体_GB2312" pitchFamily="49" charset="-122"/>
                <a:ea typeface="楷体_GB2312" pitchFamily="49" charset="-122"/>
              </a:rPr>
              <a:t>版内核发布 </a:t>
            </a:r>
          </a:p>
          <a:p>
            <a:pPr eaLnBrk="1" hangingPunct="1">
              <a:buFont typeface="Arial" panose="020B0604020202020204" pitchFamily="34" charset="0"/>
              <a:buChar char="•"/>
              <a:defRPr/>
            </a:pPr>
            <a:r>
              <a:rPr lang="en-US" altLang="zh-CN" sz="2000" dirty="0">
                <a:solidFill>
                  <a:srgbClr val="FF0000"/>
                </a:solidFill>
                <a:latin typeface="楷体_GB2312" pitchFamily="49" charset="-122"/>
                <a:ea typeface="楷体_GB2312" pitchFamily="49" charset="-122"/>
              </a:rPr>
              <a:t>2003</a:t>
            </a:r>
            <a:r>
              <a:rPr lang="zh-CN" altLang="en-US" sz="2000" dirty="0">
                <a:solidFill>
                  <a:srgbClr val="FF0000"/>
                </a:solidFill>
                <a:latin typeface="楷体_GB2312" pitchFamily="49" charset="-122"/>
                <a:ea typeface="楷体_GB2312" pitchFamily="49" charset="-122"/>
              </a:rPr>
              <a:t>年</a:t>
            </a:r>
            <a:r>
              <a:rPr lang="zh-CN" altLang="en-US" sz="2000" dirty="0">
                <a:solidFill>
                  <a:schemeClr val="tx1"/>
                </a:solidFill>
                <a:latin typeface="楷体_GB2312" pitchFamily="49" charset="-122"/>
                <a:ea typeface="楷体_GB2312" pitchFamily="49" charset="-122"/>
              </a:rPr>
              <a:t>：</a:t>
            </a:r>
            <a:r>
              <a:rPr lang="en-US" altLang="zh-CN" sz="2000" dirty="0">
                <a:latin typeface="楷体_GB2312" pitchFamily="49" charset="-122"/>
                <a:ea typeface="楷体_GB2312" pitchFamily="49" charset="-122"/>
              </a:rPr>
              <a:t>Linux 2.6</a:t>
            </a:r>
            <a:r>
              <a:rPr lang="zh-CN" altLang="en-US" sz="2000" dirty="0">
                <a:latin typeface="楷体_GB2312" pitchFamily="49" charset="-122"/>
                <a:ea typeface="楷体_GB2312" pitchFamily="49" charset="-122"/>
              </a:rPr>
              <a:t>版内核发布</a:t>
            </a:r>
            <a:endParaRPr lang="en-US" altLang="zh-CN" sz="2000" dirty="0">
              <a:latin typeface="楷体_GB2312" pitchFamily="49" charset="-122"/>
              <a:ea typeface="楷体_GB2312" pitchFamily="49" charset="-122"/>
            </a:endParaRPr>
          </a:p>
          <a:p>
            <a:pPr eaLnBrk="1" hangingPunct="1">
              <a:buFont typeface="Arial" panose="020B0604020202020204" pitchFamily="34" charset="0"/>
              <a:buChar char="•"/>
              <a:defRPr/>
            </a:pPr>
            <a:r>
              <a:rPr lang="en-US" altLang="zh-CN" sz="2000" dirty="0">
                <a:latin typeface="楷体_GB2312" pitchFamily="49" charset="-122"/>
                <a:ea typeface="楷体_GB2312" pitchFamily="49" charset="-122"/>
              </a:rPr>
              <a:t>……………………..</a:t>
            </a:r>
          </a:p>
          <a:p>
            <a:pPr eaLnBrk="1" hangingPunct="1">
              <a:buFont typeface="Arial" panose="020B0604020202020204" pitchFamily="34" charset="0"/>
              <a:buChar char="•"/>
              <a:defRPr/>
            </a:pPr>
            <a:r>
              <a:rPr lang="en-US" altLang="zh-CN" sz="2000" dirty="0">
                <a:solidFill>
                  <a:srgbClr val="FF0000"/>
                </a:solidFill>
                <a:latin typeface="楷体_GB2312" pitchFamily="49" charset="-122"/>
                <a:ea typeface="楷体_GB2312" pitchFamily="49" charset="-122"/>
              </a:rPr>
              <a:t>2020</a:t>
            </a:r>
            <a:r>
              <a:rPr lang="zh-CN" altLang="en-US" sz="2000" dirty="0">
                <a:solidFill>
                  <a:srgbClr val="FF0000"/>
                </a:solidFill>
                <a:latin typeface="楷体_GB2312" pitchFamily="49" charset="-122"/>
                <a:ea typeface="楷体_GB2312" pitchFamily="49" charset="-122"/>
              </a:rPr>
              <a:t>年</a:t>
            </a:r>
            <a:r>
              <a:rPr lang="en-US" altLang="zh-CN" sz="2000" dirty="0">
                <a:solidFill>
                  <a:srgbClr val="FF0000"/>
                </a:solidFill>
                <a:latin typeface="楷体_GB2312" pitchFamily="49" charset="-122"/>
                <a:ea typeface="楷体_GB2312" pitchFamily="49" charset="-122"/>
              </a:rPr>
              <a:t>12</a:t>
            </a:r>
            <a:r>
              <a:rPr lang="zh-CN" altLang="en-US" sz="2000" dirty="0">
                <a:solidFill>
                  <a:srgbClr val="FF0000"/>
                </a:solidFill>
                <a:latin typeface="楷体_GB2312" pitchFamily="49" charset="-122"/>
                <a:ea typeface="楷体_GB2312" pitchFamily="49" charset="-122"/>
              </a:rPr>
              <a:t>月：</a:t>
            </a:r>
            <a:r>
              <a:rPr lang="en-US" altLang="zh-CN" sz="2000" dirty="0">
                <a:ea typeface="楷体_GB2312" pitchFamily="49" charset="-122"/>
              </a:rPr>
              <a:t>Linux 5.10</a:t>
            </a:r>
            <a:r>
              <a:rPr lang="zh-CN" altLang="en-US" sz="2000" dirty="0">
                <a:ea typeface="楷体_GB2312" pitchFamily="49" charset="-122"/>
              </a:rPr>
              <a:t>版内核发布</a:t>
            </a:r>
            <a:endParaRPr lang="en-US" altLang="zh-CN" sz="2000" dirty="0">
              <a:ea typeface="楷体_GB2312" pitchFamily="49" charset="-122"/>
            </a:endParaRPr>
          </a:p>
          <a:p>
            <a:pPr marL="0" indent="0" eaLnBrk="1" hangingPunct="1">
              <a:buNone/>
              <a:defRPr/>
            </a:pPr>
            <a:r>
              <a:rPr lang="en-US" altLang="zh-CN" sz="2000" dirty="0">
                <a:latin typeface="楷体_GB2312" pitchFamily="49" charset="-122"/>
                <a:ea typeface="楷体_GB2312" pitchFamily="49" charset="-122"/>
              </a:rPr>
              <a:t>    ……………………..</a:t>
            </a:r>
          </a:p>
          <a:p>
            <a:pPr eaLnBrk="1" hangingPunct="1">
              <a:buFont typeface="Arial" panose="020B0604020202020204" pitchFamily="34" charset="0"/>
              <a:buChar char="•"/>
              <a:defRPr/>
            </a:pPr>
            <a:r>
              <a:rPr lang="en-US" altLang="zh-CN" sz="2000" dirty="0">
                <a:solidFill>
                  <a:srgbClr val="FF0000"/>
                </a:solidFill>
                <a:ea typeface="楷体_GB2312"/>
              </a:rPr>
              <a:t>2022</a:t>
            </a:r>
            <a:r>
              <a:rPr lang="zh-CN" altLang="en-US" sz="2000" dirty="0">
                <a:solidFill>
                  <a:srgbClr val="FF0000"/>
                </a:solidFill>
                <a:ea typeface="楷体_GB2312"/>
              </a:rPr>
              <a:t>年</a:t>
            </a:r>
            <a:r>
              <a:rPr lang="en-US" altLang="zh-CN" sz="2000" dirty="0">
                <a:solidFill>
                  <a:srgbClr val="FF0000"/>
                </a:solidFill>
                <a:ea typeface="楷体_GB2312"/>
              </a:rPr>
              <a:t>10</a:t>
            </a:r>
            <a:r>
              <a:rPr lang="zh-CN" altLang="en-US" sz="2000" dirty="0">
                <a:solidFill>
                  <a:srgbClr val="FF0000"/>
                </a:solidFill>
                <a:ea typeface="楷体_GB2312"/>
              </a:rPr>
              <a:t>月</a:t>
            </a:r>
            <a:r>
              <a:rPr lang="zh-CN" altLang="en-US" sz="2000" dirty="0">
                <a:solidFill>
                  <a:srgbClr val="FF0000"/>
                </a:solidFill>
                <a:ea typeface="楷体_GB2312" pitchFamily="49" charset="-122"/>
              </a:rPr>
              <a:t>：</a:t>
            </a:r>
            <a:r>
              <a:rPr lang="en-US" altLang="zh-CN" sz="2000" dirty="0">
                <a:solidFill>
                  <a:srgbClr val="FF0000"/>
                </a:solidFill>
                <a:ea typeface="楷体_GB2312" pitchFamily="49" charset="-122"/>
              </a:rPr>
              <a:t> </a:t>
            </a:r>
            <a:r>
              <a:rPr lang="en-US" altLang="zh-CN" sz="2000" dirty="0">
                <a:ea typeface="楷体_GB2312" pitchFamily="49" charset="-122"/>
              </a:rPr>
              <a:t>Linux</a:t>
            </a:r>
            <a:r>
              <a:rPr lang="zh-CN" altLang="en-US" sz="2000" dirty="0">
                <a:ea typeface="楷体_GB2312" pitchFamily="49" charset="-122"/>
              </a:rPr>
              <a:t>6.0.10版内核发布</a:t>
            </a:r>
          </a:p>
          <a:p>
            <a:pPr eaLnBrk="1" hangingPunct="1">
              <a:defRPr/>
            </a:pPr>
            <a:endParaRPr lang="zh-CN" altLang="en-US" sz="2000" dirty="0">
              <a:ea typeface="楷体_GB2312" pitchFamily="49" charset="-122"/>
            </a:endParaRPr>
          </a:p>
          <a:p>
            <a:pPr eaLnBrk="1" hangingPunct="1">
              <a:buFont typeface="Wingdings" panose="05000000000000000000" pitchFamily="2" charset="2"/>
              <a:buNone/>
              <a:defRPr/>
            </a:pPr>
            <a:endParaRPr lang="zh-CN" altLang="en-US" sz="2000" dirty="0">
              <a:ea typeface="楷体_GB2312" pitchFamily="49" charset="-122"/>
            </a:endParaRPr>
          </a:p>
        </p:txBody>
      </p:sp>
      <p:sp>
        <p:nvSpPr>
          <p:cNvPr id="5" name="Rectangle 2"/>
          <p:cNvSpPr txBox="1">
            <a:spLocks noChangeArrowheads="1"/>
          </p:cNvSpPr>
          <p:nvPr/>
        </p:nvSpPr>
        <p:spPr bwMode="black">
          <a:xfrm>
            <a:off x="282575" y="188913"/>
            <a:ext cx="822960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defRPr/>
            </a:pPr>
            <a:r>
              <a:rPr lang="en-US" altLang="zh-CN" kern="0" dirty="0">
                <a:latin typeface="楷体_GB2312" pitchFamily="49" charset="-122"/>
                <a:ea typeface="楷体_GB2312" pitchFamily="49" charset="-122"/>
              </a:rPr>
              <a:t>1</a:t>
            </a:r>
            <a:r>
              <a:rPr lang="zh-CN" altLang="en-US" kern="0" dirty="0">
                <a:latin typeface="楷体_GB2312" pitchFamily="49" charset="-122"/>
                <a:ea typeface="楷体_GB2312" pitchFamily="49" charset="-122"/>
              </a:rPr>
              <a:t>、 </a:t>
            </a:r>
            <a:r>
              <a:rPr lang="en-US" altLang="zh-CN" kern="0" dirty="0">
                <a:latin typeface="楷体_GB2312" pitchFamily="49" charset="-122"/>
                <a:ea typeface="楷体_GB2312" pitchFamily="49" charset="-122"/>
              </a:rPr>
              <a:t>Linux</a:t>
            </a:r>
            <a:r>
              <a:rPr lang="zh-CN" altLang="en-US" kern="0" dirty="0">
                <a:latin typeface="楷体_GB2312" pitchFamily="49" charset="-122"/>
                <a:ea typeface="楷体_GB2312" pitchFamily="49" charset="-122"/>
              </a:rPr>
              <a:t>的起源与发展</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zh-CN">
                <a:latin typeface="楷体_GB2312" pitchFamily="49" charset="-122"/>
                <a:ea typeface="楷体_GB2312" pitchFamily="49" charset="-122"/>
              </a:rPr>
              <a:t>2</a:t>
            </a:r>
            <a:r>
              <a:rPr lang="zh-CN" altLang="en-US">
                <a:latin typeface="楷体_GB2312" pitchFamily="49" charset="-122"/>
                <a:ea typeface="楷体_GB2312" pitchFamily="49" charset="-122"/>
              </a:rPr>
              <a:t>、自由软件与</a:t>
            </a:r>
            <a:r>
              <a:rPr lang="en-US" altLang="zh-CN">
                <a:latin typeface="楷体_GB2312" pitchFamily="49" charset="-122"/>
                <a:ea typeface="楷体_GB2312" pitchFamily="49" charset="-122"/>
              </a:rPr>
              <a:t>GPL</a:t>
            </a:r>
            <a:endParaRPr lang="zh-CN" altLang="en-US">
              <a:latin typeface="楷体_GB2312" pitchFamily="49" charset="-122"/>
              <a:ea typeface="楷体_GB2312" pitchFamily="49" charset="-122"/>
            </a:endParaRPr>
          </a:p>
        </p:txBody>
      </p:sp>
      <p:sp>
        <p:nvSpPr>
          <p:cNvPr id="16387" name="Rectangle 3"/>
          <p:cNvSpPr>
            <a:spLocks noGrp="1" noChangeArrowheads="1"/>
          </p:cNvSpPr>
          <p:nvPr>
            <p:ph type="body" idx="1"/>
          </p:nvPr>
        </p:nvSpPr>
        <p:spPr>
          <a:xfrm>
            <a:off x="395288" y="1052513"/>
            <a:ext cx="8353425" cy="5272087"/>
          </a:xfrm>
        </p:spPr>
        <p:txBody>
          <a:bodyPr/>
          <a:lstStyle/>
          <a:p>
            <a:pPr eaLnBrk="1" hangingPunct="1">
              <a:lnSpc>
                <a:spcPct val="90000"/>
              </a:lnSpc>
              <a:buClrTx/>
              <a:buFont typeface="Arial" panose="020B0604020202020204" pitchFamily="34" charset="0"/>
              <a:buChar char="•"/>
            </a:pPr>
            <a:r>
              <a:rPr lang="zh-CN" altLang="en-US" dirty="0">
                <a:solidFill>
                  <a:srgbClr val="FB1705"/>
                </a:solidFill>
                <a:latin typeface="楷体_GB2312" pitchFamily="49" charset="-122"/>
                <a:ea typeface="楷体_GB2312" pitchFamily="49" charset="-122"/>
              </a:rPr>
              <a:t>自由软件：</a:t>
            </a:r>
            <a:r>
              <a:rPr lang="zh-CN" altLang="en-US" dirty="0">
                <a:latin typeface="楷体_GB2312" pitchFamily="49" charset="-122"/>
                <a:ea typeface="楷体_GB2312" pitchFamily="49" charset="-122"/>
              </a:rPr>
              <a:t>指允许自由地使用、复制、修改、分发的软件，软件的源代码必须是可得到的。</a:t>
            </a:r>
          </a:p>
          <a:p>
            <a:pPr lvl="1" eaLnBrk="1" hangingPunct="1">
              <a:lnSpc>
                <a:spcPct val="90000"/>
              </a:lnSpc>
              <a:buClrTx/>
              <a:buFont typeface="Arial" panose="020B0604020202020204" pitchFamily="34" charset="0"/>
              <a:buChar char="•"/>
            </a:pPr>
            <a:r>
              <a:rPr lang="en-US" altLang="zh-CN" sz="2800" dirty="0">
                <a:solidFill>
                  <a:srgbClr val="2E5C8A"/>
                </a:solidFill>
                <a:latin typeface="楷体_GB2312" pitchFamily="49" charset="-122"/>
                <a:ea typeface="楷体_GB2312" pitchFamily="49" charset="-122"/>
              </a:rPr>
              <a:t>GNU/</a:t>
            </a:r>
            <a:r>
              <a:rPr lang="en-US" altLang="zh-CN" sz="2800" dirty="0" err="1">
                <a:solidFill>
                  <a:srgbClr val="2E5C8A"/>
                </a:solidFill>
                <a:latin typeface="楷体_GB2312" pitchFamily="49" charset="-122"/>
                <a:ea typeface="楷体_GB2312" pitchFamily="49" charset="-122"/>
              </a:rPr>
              <a:t>Linux、freeBSD</a:t>
            </a:r>
            <a:endParaRPr lang="en-US" altLang="zh-CN" sz="2800" dirty="0">
              <a:solidFill>
                <a:srgbClr val="2E5C8A"/>
              </a:solidFill>
              <a:latin typeface="楷体_GB2312" pitchFamily="49" charset="-122"/>
              <a:ea typeface="楷体_GB2312" pitchFamily="49" charset="-122"/>
            </a:endParaRPr>
          </a:p>
          <a:p>
            <a:pPr lvl="1" eaLnBrk="1" hangingPunct="1">
              <a:lnSpc>
                <a:spcPct val="90000"/>
              </a:lnSpc>
              <a:buClrTx/>
              <a:buFont typeface="Arial" panose="020B0604020202020204" pitchFamily="34" charset="0"/>
              <a:buChar char="•"/>
            </a:pPr>
            <a:r>
              <a:rPr lang="zh-CN" altLang="en-US" sz="2800" dirty="0">
                <a:solidFill>
                  <a:srgbClr val="2E5C8A"/>
                </a:solidFill>
                <a:latin typeface="楷体_GB2312" pitchFamily="49" charset="-122"/>
                <a:ea typeface="楷体_GB2312" pitchFamily="49" charset="-122"/>
              </a:rPr>
              <a:t>电子邮件服务器 </a:t>
            </a:r>
            <a:r>
              <a:rPr lang="en-US" altLang="zh-CN" sz="2800" dirty="0" err="1">
                <a:solidFill>
                  <a:srgbClr val="2E5C8A"/>
                </a:solidFill>
                <a:latin typeface="楷体_GB2312" pitchFamily="49" charset="-122"/>
                <a:ea typeface="楷体_GB2312" pitchFamily="49" charset="-122"/>
              </a:rPr>
              <a:t>sendmail</a:t>
            </a:r>
            <a:r>
              <a:rPr lang="en-US" altLang="zh-CN" sz="2800" dirty="0">
                <a:solidFill>
                  <a:srgbClr val="2E5C8A"/>
                </a:solidFill>
                <a:latin typeface="楷体_GB2312" pitchFamily="49" charset="-122"/>
                <a:ea typeface="楷体_GB2312" pitchFamily="49" charset="-122"/>
              </a:rPr>
              <a:t> </a:t>
            </a:r>
          </a:p>
          <a:p>
            <a:pPr lvl="1" eaLnBrk="1" hangingPunct="1">
              <a:lnSpc>
                <a:spcPct val="90000"/>
              </a:lnSpc>
              <a:buClrTx/>
              <a:buFont typeface="Arial" panose="020B0604020202020204" pitchFamily="34" charset="0"/>
              <a:buChar char="•"/>
            </a:pPr>
            <a:r>
              <a:rPr lang="zh-CN" altLang="en-US" sz="2800" dirty="0">
                <a:solidFill>
                  <a:srgbClr val="2E5C8A"/>
                </a:solidFill>
                <a:latin typeface="楷体_GB2312" pitchFamily="49" charset="-122"/>
                <a:ea typeface="楷体_GB2312" pitchFamily="49" charset="-122"/>
              </a:rPr>
              <a:t>服务器 </a:t>
            </a:r>
            <a:r>
              <a:rPr lang="en-US" altLang="zh-CN" sz="2800" dirty="0">
                <a:solidFill>
                  <a:srgbClr val="2E5C8A"/>
                </a:solidFill>
                <a:latin typeface="楷体_GB2312" pitchFamily="49" charset="-122"/>
                <a:ea typeface="楷体_GB2312" pitchFamily="49" charset="-122"/>
              </a:rPr>
              <a:t>Apache</a:t>
            </a:r>
          </a:p>
          <a:p>
            <a:pPr eaLnBrk="1" hangingPunct="1">
              <a:lnSpc>
                <a:spcPct val="90000"/>
              </a:lnSpc>
              <a:buClrTx/>
              <a:buFont typeface="Arial" panose="020B0604020202020204" pitchFamily="34" charset="0"/>
              <a:buChar char="•"/>
            </a:pPr>
            <a:r>
              <a:rPr lang="zh-CN" altLang="en-US" dirty="0">
                <a:solidFill>
                  <a:srgbClr val="FB1705"/>
                </a:solidFill>
                <a:latin typeface="楷体_GB2312" pitchFamily="49" charset="-122"/>
                <a:ea typeface="楷体_GB2312" pitchFamily="49" charset="-122"/>
              </a:rPr>
              <a:t>自由软件基金会</a:t>
            </a:r>
            <a:r>
              <a:rPr lang="en-US" altLang="zh-CN" dirty="0">
                <a:solidFill>
                  <a:srgbClr val="FB1705"/>
                </a:solidFill>
                <a:latin typeface="楷体_GB2312" pitchFamily="49" charset="-122"/>
                <a:ea typeface="楷体_GB2312" pitchFamily="49" charset="-122"/>
              </a:rPr>
              <a:t>FSF</a:t>
            </a:r>
            <a:r>
              <a:rPr lang="zh-CN" altLang="en-US"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Free Software Foundation</a:t>
            </a:r>
            <a:r>
              <a:rPr lang="zh-CN" altLang="en-US" dirty="0">
                <a:latin typeface="楷体_GB2312" pitchFamily="49" charset="-122"/>
                <a:ea typeface="楷体_GB2312" pitchFamily="49" charset="-122"/>
              </a:rPr>
              <a:t>）</a:t>
            </a:r>
          </a:p>
          <a:p>
            <a:pPr eaLnBrk="1" hangingPunct="1">
              <a:lnSpc>
                <a:spcPct val="90000"/>
              </a:lnSpc>
              <a:buClrTx/>
              <a:buFont typeface="Arial" panose="020B0604020202020204" pitchFamily="34" charset="0"/>
              <a:buChar char="•"/>
            </a:pPr>
            <a:r>
              <a:rPr lang="zh-CN" altLang="en-US" dirty="0">
                <a:solidFill>
                  <a:srgbClr val="FB1705"/>
                </a:solidFill>
                <a:latin typeface="楷体_GB2312" pitchFamily="49" charset="-122"/>
                <a:ea typeface="楷体_GB2312" pitchFamily="49" charset="-122"/>
              </a:rPr>
              <a:t>自由软件之父：</a:t>
            </a:r>
            <a:r>
              <a:rPr lang="en-US" altLang="zh-CN" dirty="0">
                <a:latin typeface="楷体_GB2312" pitchFamily="49" charset="-122"/>
                <a:ea typeface="楷体_GB2312" pitchFamily="49" charset="-122"/>
              </a:rPr>
              <a:t> Richard Stallman</a:t>
            </a:r>
          </a:p>
          <a:p>
            <a:pPr eaLnBrk="1" hangingPunct="1">
              <a:lnSpc>
                <a:spcPct val="90000"/>
              </a:lnSpc>
              <a:buFont typeface="Arial" panose="020B0604020202020204" pitchFamily="34" charset="0"/>
              <a:buChar char="•"/>
            </a:pPr>
            <a:r>
              <a:rPr lang="en-US" altLang="zh-CN" dirty="0">
                <a:latin typeface="楷体_GB2312" pitchFamily="49" charset="-122"/>
                <a:ea typeface="楷体_GB2312" pitchFamily="49" charset="-122"/>
              </a:rPr>
              <a:t>Linux</a:t>
            </a:r>
            <a:r>
              <a:rPr lang="zh-CN" altLang="en-US" dirty="0">
                <a:latin typeface="楷体_GB2312" pitchFamily="49" charset="-122"/>
                <a:ea typeface="楷体_GB2312" pitchFamily="49" charset="-122"/>
              </a:rPr>
              <a:t>内核的开发工作都是基于</a:t>
            </a:r>
            <a:r>
              <a:rPr lang="en-US" altLang="zh-CN" dirty="0">
                <a:latin typeface="楷体_GB2312" pitchFamily="49" charset="-122"/>
                <a:ea typeface="楷体_GB2312" pitchFamily="49" charset="-122"/>
              </a:rPr>
              <a:t>GNU</a:t>
            </a:r>
            <a:r>
              <a:rPr lang="zh-CN" altLang="en-US" dirty="0">
                <a:latin typeface="楷体_GB2312" pitchFamily="49" charset="-122"/>
                <a:ea typeface="楷体_GB2312" pitchFamily="49" charset="-122"/>
              </a:rPr>
              <a:t>推出的自由软件完成的。</a:t>
            </a:r>
            <a:r>
              <a:rPr lang="en-US" altLang="zh-CN" dirty="0">
                <a:solidFill>
                  <a:srgbClr val="FF0000"/>
                </a:solidFill>
                <a:latin typeface="楷体_GB2312" pitchFamily="49" charset="-122"/>
                <a:ea typeface="楷体_GB2312" pitchFamily="49" charset="-122"/>
              </a:rPr>
              <a:t>GNU</a:t>
            </a:r>
            <a:r>
              <a:rPr lang="zh-CN" altLang="en-US" dirty="0">
                <a:solidFill>
                  <a:srgbClr val="FF0000"/>
                </a:solidFill>
                <a:latin typeface="楷体_GB2312" pitchFamily="49" charset="-122"/>
                <a:ea typeface="楷体_GB2312" pitchFamily="49" charset="-122"/>
              </a:rPr>
              <a:t>和</a:t>
            </a:r>
            <a:r>
              <a:rPr lang="en-US" altLang="zh-CN" dirty="0">
                <a:solidFill>
                  <a:srgbClr val="FF0000"/>
                </a:solidFill>
                <a:latin typeface="楷体_GB2312" pitchFamily="49" charset="-122"/>
                <a:ea typeface="楷体_GB2312" pitchFamily="49" charset="-122"/>
              </a:rPr>
              <a:t>Linux</a:t>
            </a:r>
            <a:r>
              <a:rPr lang="zh-CN" altLang="en-US" dirty="0">
                <a:solidFill>
                  <a:srgbClr val="FF0000"/>
                </a:solidFill>
                <a:latin typeface="楷体_GB2312" pitchFamily="49" charset="-122"/>
                <a:ea typeface="楷体_GB2312" pitchFamily="49" charset="-122"/>
              </a:rPr>
              <a:t>相辅相承。</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5331" name="Rectangle 3"/>
          <p:cNvSpPr>
            <a:spLocks noGrp="1" noChangeArrowheads="1"/>
          </p:cNvSpPr>
          <p:nvPr>
            <p:ph type="body" idx="4294967295"/>
          </p:nvPr>
        </p:nvSpPr>
        <p:spPr>
          <a:xfrm>
            <a:off x="381000" y="838200"/>
            <a:ext cx="8294688" cy="6019800"/>
          </a:xfrm>
        </p:spPr>
        <p:txBody>
          <a:bodyPr/>
          <a:lstStyle/>
          <a:p>
            <a:pPr eaLnBrk="1" hangingPunct="1">
              <a:buClrTx/>
              <a:buFont typeface="Arial" panose="020B0604020202020204" pitchFamily="34" charset="0"/>
              <a:buChar char="•"/>
            </a:pPr>
            <a:r>
              <a:rPr lang="en-US" altLang="zh-CN" sz="3000" dirty="0">
                <a:solidFill>
                  <a:srgbClr val="FF0000"/>
                </a:solidFill>
                <a:latin typeface="楷体_GB2312" pitchFamily="49" charset="-122"/>
                <a:ea typeface="楷体_GB2312" pitchFamily="49" charset="-122"/>
              </a:rPr>
              <a:t>POSIX</a:t>
            </a:r>
          </a:p>
          <a:p>
            <a:pPr lvl="1" eaLnBrk="1" hangingPunct="1">
              <a:buClrTx/>
              <a:buFont typeface="Arial" panose="020B0604020202020204" pitchFamily="34" charset="0"/>
              <a:buChar char="•"/>
            </a:pPr>
            <a:r>
              <a:rPr lang="en-US" altLang="zh-CN" sz="2800" dirty="0">
                <a:solidFill>
                  <a:srgbClr val="2E5C8A"/>
                </a:solidFill>
                <a:latin typeface="楷体_GB2312" pitchFamily="49" charset="-122"/>
                <a:ea typeface="楷体_GB2312" pitchFamily="49" charset="-122"/>
              </a:rPr>
              <a:t>UNIX</a:t>
            </a:r>
            <a:r>
              <a:rPr lang="zh-CN" altLang="en-US" sz="2800" dirty="0">
                <a:solidFill>
                  <a:srgbClr val="2E5C8A"/>
                </a:solidFill>
                <a:latin typeface="楷体_GB2312" pitchFamily="49" charset="-122"/>
                <a:ea typeface="楷体_GB2312" pitchFamily="49" charset="-122"/>
              </a:rPr>
              <a:t>发展过程中，出现了许多变种（</a:t>
            </a:r>
            <a:r>
              <a:rPr lang="en-US" altLang="zh-CN" sz="2800" dirty="0">
                <a:solidFill>
                  <a:srgbClr val="2E5C8A"/>
                </a:solidFill>
                <a:latin typeface="楷体_GB2312" pitchFamily="49" charset="-122"/>
                <a:ea typeface="楷体_GB2312" pitchFamily="49" charset="-122"/>
              </a:rPr>
              <a:t>BSD</a:t>
            </a:r>
            <a:r>
              <a:rPr lang="zh-CN" altLang="en-US" sz="2800" dirty="0">
                <a:solidFill>
                  <a:srgbClr val="2E5C8A"/>
                </a:solidFill>
                <a:latin typeface="楷体_GB2312" pitchFamily="49" charset="-122"/>
                <a:ea typeface="楷体_GB2312" pitchFamily="49" charset="-122"/>
              </a:rPr>
              <a:t>，</a:t>
            </a:r>
            <a:r>
              <a:rPr lang="en-US" altLang="zh-CN" sz="2800" dirty="0">
                <a:solidFill>
                  <a:srgbClr val="2E5C8A"/>
                </a:solidFill>
                <a:latin typeface="楷体_GB2312" pitchFamily="49" charset="-122"/>
                <a:ea typeface="楷体_GB2312" pitchFamily="49" charset="-122"/>
              </a:rPr>
              <a:t>System V</a:t>
            </a:r>
            <a:r>
              <a:rPr lang="zh-CN" altLang="en-US" sz="2800" dirty="0">
                <a:solidFill>
                  <a:srgbClr val="2E5C8A"/>
                </a:solidFill>
                <a:latin typeface="楷体_GB2312" pitchFamily="49" charset="-122"/>
                <a:ea typeface="楷体_GB2312" pitchFamily="49" charset="-122"/>
              </a:rPr>
              <a:t>等）。</a:t>
            </a:r>
            <a:endParaRPr lang="en-US" altLang="zh-CN" sz="2800" dirty="0">
              <a:solidFill>
                <a:srgbClr val="2E5C8A"/>
              </a:solidFill>
              <a:latin typeface="楷体_GB2312" pitchFamily="49" charset="-122"/>
              <a:ea typeface="楷体_GB2312" pitchFamily="49" charset="-122"/>
            </a:endParaRPr>
          </a:p>
          <a:p>
            <a:pPr lvl="1" eaLnBrk="1" hangingPunct="1">
              <a:buClrTx/>
              <a:buFont typeface="Arial" panose="020B0604020202020204" pitchFamily="34" charset="0"/>
              <a:buChar char="•"/>
            </a:pPr>
            <a:r>
              <a:rPr lang="en-US" altLang="zh-CN" sz="2800" dirty="0">
                <a:solidFill>
                  <a:srgbClr val="2E5C8A"/>
                </a:solidFill>
                <a:latin typeface="楷体_GB2312" pitchFamily="49" charset="-122"/>
                <a:ea typeface="楷体_GB2312" pitchFamily="49" charset="-122"/>
              </a:rPr>
              <a:t>1986</a:t>
            </a:r>
            <a:r>
              <a:rPr lang="zh-CN" altLang="en-US" sz="2800" dirty="0">
                <a:solidFill>
                  <a:srgbClr val="2E5C8A"/>
                </a:solidFill>
                <a:latin typeface="楷体_GB2312" pitchFamily="49" charset="-122"/>
                <a:ea typeface="楷体_GB2312" pitchFamily="49" charset="-122"/>
              </a:rPr>
              <a:t>年，</a:t>
            </a:r>
            <a:r>
              <a:rPr lang="en-US" altLang="zh-CN" sz="2800" dirty="0">
                <a:solidFill>
                  <a:srgbClr val="2E5C8A"/>
                </a:solidFill>
                <a:latin typeface="楷体_GB2312" pitchFamily="49" charset="-122"/>
                <a:ea typeface="楷体_GB2312" pitchFamily="49" charset="-122"/>
              </a:rPr>
              <a:t>IEEE</a:t>
            </a:r>
            <a:r>
              <a:rPr lang="zh-CN" altLang="en-US" sz="2800" dirty="0">
                <a:solidFill>
                  <a:srgbClr val="2E5C8A"/>
                </a:solidFill>
                <a:latin typeface="楷体_GB2312" pitchFamily="49" charset="-122"/>
                <a:ea typeface="楷体_GB2312" pitchFamily="49" charset="-122"/>
              </a:rPr>
              <a:t>的一个委员会指定了一套</a:t>
            </a:r>
            <a:r>
              <a:rPr lang="zh-CN" altLang="en-US" sz="2800" dirty="0">
                <a:solidFill>
                  <a:srgbClr val="2E5C8A"/>
                </a:solidFill>
                <a:latin typeface="Arial" panose="020B0604020202020204" pitchFamily="34" charset="0"/>
                <a:ea typeface="楷体_GB2312" pitchFamily="49" charset="-122"/>
              </a:rPr>
              <a:t>“</a:t>
            </a:r>
            <a:r>
              <a:rPr lang="zh-CN" altLang="en-US" sz="2800" dirty="0">
                <a:solidFill>
                  <a:srgbClr val="2E5C8A"/>
                </a:solidFill>
                <a:latin typeface="楷体_GB2312" pitchFamily="49" charset="-122"/>
                <a:ea typeface="楷体_GB2312" pitchFamily="49" charset="-122"/>
              </a:rPr>
              <a:t>基于</a:t>
            </a:r>
            <a:r>
              <a:rPr lang="en-US" altLang="zh-CN" sz="2800" dirty="0">
                <a:solidFill>
                  <a:srgbClr val="2E5C8A"/>
                </a:solidFill>
                <a:latin typeface="楷体_GB2312" pitchFamily="49" charset="-122"/>
                <a:ea typeface="楷体_GB2312" pitchFamily="49" charset="-122"/>
              </a:rPr>
              <a:t>Unix</a:t>
            </a:r>
            <a:r>
              <a:rPr lang="zh-CN" altLang="en-US" sz="2800" dirty="0">
                <a:solidFill>
                  <a:srgbClr val="2E5C8A"/>
                </a:solidFill>
                <a:latin typeface="楷体_GB2312" pitchFamily="49" charset="-122"/>
                <a:ea typeface="楷体_GB2312" pitchFamily="49" charset="-122"/>
              </a:rPr>
              <a:t>的可移植操作系统</a:t>
            </a:r>
            <a:r>
              <a:rPr lang="zh-CN" altLang="en-US" sz="2800" dirty="0">
                <a:solidFill>
                  <a:srgbClr val="2E5C8A"/>
                </a:solidFill>
                <a:latin typeface="Arial" panose="020B0604020202020204" pitchFamily="34" charset="0"/>
                <a:ea typeface="楷体_GB2312" pitchFamily="49" charset="-122"/>
              </a:rPr>
              <a:t>”</a:t>
            </a:r>
            <a:r>
              <a:rPr lang="zh-CN" altLang="en-US" sz="2800" dirty="0">
                <a:solidFill>
                  <a:srgbClr val="2E5C8A"/>
                </a:solidFill>
                <a:latin typeface="楷体_GB2312" pitchFamily="49" charset="-122"/>
                <a:ea typeface="楷体_GB2312" pitchFamily="49" charset="-122"/>
              </a:rPr>
              <a:t>的标准，</a:t>
            </a:r>
            <a:r>
              <a:rPr lang="zh-CN" altLang="en-US" sz="2800" dirty="0">
                <a:solidFill>
                  <a:srgbClr val="FF0000"/>
                </a:solidFill>
                <a:latin typeface="楷体_GB2312" pitchFamily="49" charset="-122"/>
                <a:ea typeface="楷体_GB2312" pitchFamily="49" charset="-122"/>
              </a:rPr>
              <a:t>命名为</a:t>
            </a:r>
            <a:r>
              <a:rPr lang="en-US" altLang="zh-CN" sz="2800" dirty="0">
                <a:solidFill>
                  <a:srgbClr val="FF0000"/>
                </a:solidFill>
                <a:latin typeface="楷体_GB2312" pitchFamily="49" charset="-122"/>
                <a:ea typeface="楷体_GB2312" pitchFamily="49" charset="-122"/>
              </a:rPr>
              <a:t>POSIX</a:t>
            </a:r>
            <a:r>
              <a:rPr lang="zh-CN" altLang="en-US" sz="2800" dirty="0">
                <a:solidFill>
                  <a:srgbClr val="FF0000"/>
                </a:solidFill>
                <a:latin typeface="楷体_GB2312" pitchFamily="49" charset="-122"/>
                <a:ea typeface="楷体_GB2312" pitchFamily="49" charset="-122"/>
              </a:rPr>
              <a:t>标准（</a:t>
            </a:r>
            <a:r>
              <a:rPr lang="en-US" altLang="zh-CN" sz="2800" dirty="0">
                <a:solidFill>
                  <a:srgbClr val="FF0000"/>
                </a:solidFill>
                <a:latin typeface="楷体_GB2312" pitchFamily="49" charset="-122"/>
                <a:ea typeface="楷体_GB2312" pitchFamily="49" charset="-122"/>
              </a:rPr>
              <a:t>Portable Operating System Interface Standard</a:t>
            </a:r>
            <a:r>
              <a:rPr lang="zh-CN" altLang="en-US" sz="2800" dirty="0">
                <a:solidFill>
                  <a:srgbClr val="FF0000"/>
                </a:solidFill>
                <a:latin typeface="楷体_GB2312" pitchFamily="49" charset="-122"/>
                <a:ea typeface="楷体_GB2312" pitchFamily="49" charset="-122"/>
              </a:rPr>
              <a:t>）</a:t>
            </a:r>
            <a:br>
              <a:rPr lang="zh-CN" altLang="en-US" sz="2400" dirty="0">
                <a:solidFill>
                  <a:srgbClr val="D71B07"/>
                </a:solidFill>
                <a:latin typeface="楷体_GB2312" pitchFamily="49" charset="-122"/>
                <a:ea typeface="楷体_GB2312" pitchFamily="49" charset="-122"/>
              </a:rPr>
            </a:br>
            <a:endParaRPr lang="en-US" altLang="zh-CN" sz="2400" dirty="0">
              <a:solidFill>
                <a:srgbClr val="D71B07"/>
              </a:solidFill>
              <a:latin typeface="楷体_GB2312" pitchFamily="49" charset="-122"/>
              <a:ea typeface="楷体_GB2312" pitchFamily="49" charset="-122"/>
            </a:endParaRPr>
          </a:p>
          <a:p>
            <a:pPr lvl="1" eaLnBrk="1" hangingPunct="1">
              <a:buClrTx/>
              <a:buFont typeface="Arial" panose="020B0604020202020204" pitchFamily="34" charset="0"/>
              <a:buChar char="•"/>
            </a:pPr>
            <a:r>
              <a:rPr lang="en-US" altLang="zh-CN" sz="2800" dirty="0">
                <a:solidFill>
                  <a:srgbClr val="2E5C8A"/>
                </a:solidFill>
                <a:latin typeface="楷体_GB2312" pitchFamily="49" charset="-122"/>
                <a:ea typeface="楷体_GB2312" pitchFamily="49" charset="-122"/>
              </a:rPr>
              <a:t>POSIX</a:t>
            </a:r>
            <a:r>
              <a:rPr lang="zh-CN" altLang="en-US" sz="2800" dirty="0">
                <a:solidFill>
                  <a:srgbClr val="2E5C8A"/>
                </a:solidFill>
                <a:latin typeface="楷体_GB2312" pitchFamily="49" charset="-122"/>
                <a:ea typeface="楷体_GB2312" pitchFamily="49" charset="-122"/>
              </a:rPr>
              <a:t>定义了一套标准的操作系统接口和工具，并由</a:t>
            </a:r>
            <a:r>
              <a:rPr lang="en-US" altLang="zh-CN" sz="2800" dirty="0">
                <a:solidFill>
                  <a:srgbClr val="2E5C8A"/>
                </a:solidFill>
                <a:latin typeface="楷体_GB2312" pitchFamily="49" charset="-122"/>
                <a:ea typeface="楷体_GB2312" pitchFamily="49" charset="-122"/>
              </a:rPr>
              <a:t>ISO</a:t>
            </a:r>
            <a:r>
              <a:rPr lang="zh-CN" altLang="en-US" sz="2800" dirty="0">
                <a:solidFill>
                  <a:srgbClr val="2E5C8A"/>
                </a:solidFill>
                <a:latin typeface="楷体_GB2312" pitchFamily="49" charset="-122"/>
                <a:ea typeface="楷体_GB2312" pitchFamily="49" charset="-122"/>
              </a:rPr>
              <a:t>接受为国际标准。几乎所有的正式操作系统都以支持</a:t>
            </a:r>
            <a:r>
              <a:rPr lang="en-US" altLang="zh-CN" sz="2800" dirty="0">
                <a:solidFill>
                  <a:srgbClr val="2E5C8A"/>
                </a:solidFill>
                <a:latin typeface="楷体_GB2312" pitchFamily="49" charset="-122"/>
                <a:ea typeface="楷体_GB2312" pitchFamily="49" charset="-122"/>
              </a:rPr>
              <a:t>POSIX</a:t>
            </a:r>
            <a:r>
              <a:rPr lang="zh-CN" altLang="en-US" sz="2800" dirty="0">
                <a:solidFill>
                  <a:srgbClr val="2E5C8A"/>
                </a:solidFill>
                <a:latin typeface="楷体_GB2312" pitchFamily="49" charset="-122"/>
                <a:ea typeface="楷体_GB2312" pitchFamily="49" charset="-122"/>
              </a:rPr>
              <a:t>标准为目标。易移植。</a:t>
            </a:r>
            <a:endParaRPr lang="en-US" altLang="zh-CN" sz="2800" dirty="0">
              <a:solidFill>
                <a:srgbClr val="2E5C8A"/>
              </a:solidFill>
              <a:latin typeface="楷体_GB2312" pitchFamily="49" charset="-122"/>
              <a:ea typeface="楷体_GB2312" pitchFamily="49" charset="-122"/>
            </a:endParaRPr>
          </a:p>
        </p:txBody>
      </p:sp>
      <p:sp>
        <p:nvSpPr>
          <p:cNvPr id="4" name="Rectangle 2"/>
          <p:cNvSpPr txBox="1">
            <a:spLocks noChangeArrowheads="1"/>
          </p:cNvSpPr>
          <p:nvPr/>
        </p:nvSpPr>
        <p:spPr>
          <a:xfrm>
            <a:off x="611188" y="115888"/>
            <a:ext cx="7632700" cy="609600"/>
          </a:xfrm>
          <a:prstGeom prst="rect">
            <a:avLst/>
          </a:prstGeom>
        </p:spPr>
        <p:txBody>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defRPr/>
            </a:pPr>
            <a:r>
              <a:rPr lang="en-US" altLang="zh-CN" kern="0">
                <a:latin typeface="楷体_GB2312" pitchFamily="49" charset="-122"/>
                <a:ea typeface="楷体_GB2312" pitchFamily="49" charset="-122"/>
              </a:rPr>
              <a:t>2</a:t>
            </a:r>
            <a:r>
              <a:rPr lang="zh-CN" altLang="en-US" kern="0">
                <a:latin typeface="楷体_GB2312" pitchFamily="49" charset="-122"/>
                <a:ea typeface="楷体_GB2312" pitchFamily="49" charset="-122"/>
              </a:rPr>
              <a:t>、自由软件与</a:t>
            </a:r>
            <a:r>
              <a:rPr lang="en-US" altLang="zh-CN" kern="0">
                <a:latin typeface="楷体_GB2312" pitchFamily="49" charset="-122"/>
                <a:ea typeface="楷体_GB2312" pitchFamily="49" charset="-122"/>
              </a:rPr>
              <a:t>GPL</a:t>
            </a:r>
            <a:endParaRPr lang="zh-CN" altLang="en-US" kern="0" dirty="0">
              <a:latin typeface="楷体_GB2312" pitchFamily="49" charset="-122"/>
              <a:ea typeface="楷体_GB2312" pitchFamily="49" charset="-122"/>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533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35533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35533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3553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1"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5331" name="Rectangle 3"/>
          <p:cNvSpPr>
            <a:spLocks noGrp="1" noChangeArrowheads="1"/>
          </p:cNvSpPr>
          <p:nvPr>
            <p:ph type="body" idx="4294967295"/>
          </p:nvPr>
        </p:nvSpPr>
        <p:spPr>
          <a:xfrm>
            <a:off x="381000" y="838200"/>
            <a:ext cx="8223250" cy="6019800"/>
          </a:xfrm>
        </p:spPr>
        <p:txBody>
          <a:bodyPr/>
          <a:lstStyle/>
          <a:p>
            <a:pPr eaLnBrk="1" hangingPunct="1">
              <a:buClrTx/>
            </a:pPr>
            <a:r>
              <a:rPr lang="en-US" altLang="zh-CN" sz="3000">
                <a:solidFill>
                  <a:srgbClr val="FF0000"/>
                </a:solidFill>
                <a:latin typeface="楷体_GB2312" pitchFamily="49" charset="-122"/>
                <a:ea typeface="楷体_GB2312" pitchFamily="49" charset="-122"/>
              </a:rPr>
              <a:t>GNU</a:t>
            </a:r>
            <a:r>
              <a:rPr lang="zh-CN" altLang="en-US" sz="3000">
                <a:solidFill>
                  <a:srgbClr val="FF0000"/>
                </a:solidFill>
                <a:latin typeface="楷体_GB2312" pitchFamily="49" charset="-122"/>
                <a:ea typeface="楷体_GB2312" pitchFamily="49" charset="-122"/>
              </a:rPr>
              <a:t>项目</a:t>
            </a:r>
          </a:p>
          <a:p>
            <a:pPr lvl="1" eaLnBrk="1" hangingPunct="1">
              <a:buClrTx/>
            </a:pPr>
            <a:r>
              <a:rPr lang="zh-CN" altLang="en-US" sz="2800">
                <a:solidFill>
                  <a:srgbClr val="2E5C8A"/>
                </a:solidFill>
                <a:latin typeface="楷体_GB2312" pitchFamily="49" charset="-122"/>
                <a:ea typeface="楷体_GB2312" pitchFamily="49" charset="-122"/>
              </a:rPr>
              <a:t>开始于</a:t>
            </a:r>
            <a:r>
              <a:rPr lang="en-US" altLang="zh-CN" sz="2800">
                <a:solidFill>
                  <a:srgbClr val="2E5C8A"/>
                </a:solidFill>
                <a:latin typeface="楷体_GB2312" pitchFamily="49" charset="-122"/>
                <a:ea typeface="楷体_GB2312" pitchFamily="49" charset="-122"/>
              </a:rPr>
              <a:t>1984</a:t>
            </a:r>
            <a:r>
              <a:rPr lang="zh-CN" altLang="en-US" sz="2800">
                <a:solidFill>
                  <a:srgbClr val="2E5C8A"/>
                </a:solidFill>
                <a:latin typeface="楷体_GB2312" pitchFamily="49" charset="-122"/>
                <a:ea typeface="楷体_GB2312" pitchFamily="49" charset="-122"/>
              </a:rPr>
              <a:t>年， 由</a:t>
            </a:r>
            <a:r>
              <a:rPr lang="en-US" altLang="zh-CN" sz="2800">
                <a:solidFill>
                  <a:srgbClr val="2E5C8A"/>
                </a:solidFill>
                <a:latin typeface="楷体_GB2312" pitchFamily="49" charset="-122"/>
                <a:ea typeface="楷体_GB2312" pitchFamily="49" charset="-122"/>
              </a:rPr>
              <a:t>Richard Stallman</a:t>
            </a:r>
            <a:r>
              <a:rPr lang="zh-CN" altLang="en-US" sz="2800">
                <a:solidFill>
                  <a:srgbClr val="2E5C8A"/>
                </a:solidFill>
                <a:latin typeface="楷体_GB2312" pitchFamily="49" charset="-122"/>
                <a:ea typeface="楷体_GB2312" pitchFamily="49" charset="-122"/>
              </a:rPr>
              <a:t>（自由软件之父）创立，主要由自由软件基金（</a:t>
            </a:r>
            <a:r>
              <a:rPr lang="en-US" altLang="zh-CN" sz="2800">
                <a:solidFill>
                  <a:srgbClr val="2E5C8A"/>
                </a:solidFill>
                <a:latin typeface="楷体_GB2312" pitchFamily="49" charset="-122"/>
                <a:ea typeface="楷体_GB2312" pitchFamily="49" charset="-122"/>
              </a:rPr>
              <a:t>FSF</a:t>
            </a:r>
            <a:r>
              <a:rPr lang="zh-CN" altLang="en-US" sz="2800">
                <a:solidFill>
                  <a:srgbClr val="2E5C8A"/>
                </a:solidFill>
                <a:latin typeface="楷体_GB2312" pitchFamily="49" charset="-122"/>
                <a:ea typeface="楷体_GB2312" pitchFamily="49" charset="-122"/>
              </a:rPr>
              <a:t>）资助的一个项目。</a:t>
            </a:r>
            <a:endParaRPr lang="en-US" altLang="zh-CN" sz="2800">
              <a:solidFill>
                <a:srgbClr val="2E5C8A"/>
              </a:solidFill>
              <a:latin typeface="楷体_GB2312" pitchFamily="49" charset="-122"/>
              <a:ea typeface="楷体_GB2312" pitchFamily="49" charset="-122"/>
            </a:endParaRPr>
          </a:p>
          <a:p>
            <a:pPr lvl="1" eaLnBrk="1" hangingPunct="1">
              <a:buClrTx/>
            </a:pPr>
            <a:r>
              <a:rPr lang="zh-CN" altLang="en-US" sz="2800">
                <a:solidFill>
                  <a:srgbClr val="2E5C8A"/>
                </a:solidFill>
                <a:latin typeface="楷体_GB2312" pitchFamily="49" charset="-122"/>
                <a:ea typeface="楷体_GB2312" pitchFamily="49" charset="-122"/>
              </a:rPr>
              <a:t>目标：是开发一个完全自由的、</a:t>
            </a:r>
            <a:r>
              <a:rPr lang="en-US" altLang="zh-CN" sz="2800">
                <a:solidFill>
                  <a:srgbClr val="2E5C8A"/>
                </a:solidFill>
                <a:latin typeface="楷体_GB2312" pitchFamily="49" charset="-122"/>
                <a:ea typeface="楷体_GB2312" pitchFamily="49" charset="-122"/>
              </a:rPr>
              <a:t>UNIX</a:t>
            </a:r>
            <a:r>
              <a:rPr lang="zh-CN" altLang="en-US" sz="2800">
                <a:solidFill>
                  <a:srgbClr val="2E5C8A"/>
                </a:solidFill>
                <a:latin typeface="楷体_GB2312" pitchFamily="49" charset="-122"/>
                <a:ea typeface="楷体_GB2312" pitchFamily="49" charset="-122"/>
              </a:rPr>
              <a:t>类型的操作系统，称为</a:t>
            </a:r>
            <a:r>
              <a:rPr lang="en-US" altLang="zh-CN" sz="2800">
                <a:solidFill>
                  <a:srgbClr val="2E5C8A"/>
                </a:solidFill>
                <a:latin typeface="楷体_GB2312" pitchFamily="49" charset="-122"/>
                <a:ea typeface="楷体_GB2312" pitchFamily="49" charset="-122"/>
              </a:rPr>
              <a:t>GNU</a:t>
            </a:r>
            <a:r>
              <a:rPr lang="zh-CN" altLang="en-US" sz="2800">
                <a:solidFill>
                  <a:srgbClr val="2E5C8A"/>
                </a:solidFill>
                <a:latin typeface="楷体_GB2312" pitchFamily="49" charset="-122"/>
                <a:ea typeface="楷体_GB2312" pitchFamily="49" charset="-122"/>
              </a:rPr>
              <a:t>系统。与此相应的有一份通用公共许可证</a:t>
            </a:r>
            <a:r>
              <a:rPr lang="en-US" altLang="zh-CN" sz="2800">
                <a:solidFill>
                  <a:srgbClr val="2E5C8A"/>
                </a:solidFill>
                <a:latin typeface="楷体_GB2312" pitchFamily="49" charset="-122"/>
                <a:ea typeface="楷体_GB2312" pitchFamily="49" charset="-122"/>
              </a:rPr>
              <a:t>GPL</a:t>
            </a:r>
            <a:r>
              <a:rPr lang="zh-CN" altLang="en-US" sz="2800">
                <a:solidFill>
                  <a:srgbClr val="2E5C8A"/>
                </a:solidFill>
                <a:latin typeface="楷体_GB2312" pitchFamily="49" charset="-122"/>
                <a:ea typeface="楷体_GB2312" pitchFamily="49" charset="-122"/>
              </a:rPr>
              <a:t>。</a:t>
            </a:r>
          </a:p>
          <a:p>
            <a:pPr lvl="1" eaLnBrk="1" hangingPunct="1">
              <a:buClrTx/>
            </a:pPr>
            <a:r>
              <a:rPr lang="en-US" altLang="zh-CN" sz="2800">
                <a:solidFill>
                  <a:srgbClr val="2E5C8A"/>
                </a:solidFill>
                <a:latin typeface="楷体_GB2312" pitchFamily="49" charset="-122"/>
                <a:ea typeface="楷体_GB2312" pitchFamily="49" charset="-122"/>
              </a:rPr>
              <a:t>GNU</a:t>
            </a:r>
            <a:r>
              <a:rPr lang="zh-CN" altLang="en-US" sz="2800">
                <a:solidFill>
                  <a:srgbClr val="2E5C8A"/>
                </a:solidFill>
                <a:latin typeface="楷体_GB2312" pitchFamily="49" charset="-122"/>
                <a:ea typeface="楷体_GB2312" pitchFamily="49" charset="-122"/>
              </a:rPr>
              <a:t>软件的开发不是为了经济目的，而是不断开发并传播新的软件，每个人都能自由获得。</a:t>
            </a:r>
          </a:p>
        </p:txBody>
      </p:sp>
      <p:sp>
        <p:nvSpPr>
          <p:cNvPr id="4" name="Rectangle 2"/>
          <p:cNvSpPr txBox="1">
            <a:spLocks noChangeArrowheads="1"/>
          </p:cNvSpPr>
          <p:nvPr/>
        </p:nvSpPr>
        <p:spPr>
          <a:xfrm>
            <a:off x="611188" y="115888"/>
            <a:ext cx="7632700" cy="609600"/>
          </a:xfrm>
          <a:prstGeom prst="rect">
            <a:avLst/>
          </a:prstGeom>
        </p:spPr>
        <p:txBody>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defRPr/>
            </a:pPr>
            <a:r>
              <a:rPr lang="en-US" altLang="zh-CN" kern="0">
                <a:latin typeface="楷体_GB2312" pitchFamily="49" charset="-122"/>
                <a:ea typeface="楷体_GB2312" pitchFamily="49" charset="-122"/>
              </a:rPr>
              <a:t>2</a:t>
            </a:r>
            <a:r>
              <a:rPr lang="zh-CN" altLang="en-US" kern="0">
                <a:latin typeface="楷体_GB2312" pitchFamily="49" charset="-122"/>
                <a:ea typeface="楷体_GB2312" pitchFamily="49" charset="-122"/>
              </a:rPr>
              <a:t>、自由软件与</a:t>
            </a:r>
            <a:r>
              <a:rPr lang="en-US" altLang="zh-CN" kern="0">
                <a:latin typeface="楷体_GB2312" pitchFamily="49" charset="-122"/>
                <a:ea typeface="楷体_GB2312" pitchFamily="49" charset="-122"/>
              </a:rPr>
              <a:t>GPL</a:t>
            </a:r>
            <a:endParaRPr lang="zh-CN" altLang="en-US" kern="0" dirty="0">
              <a:latin typeface="楷体_GB2312" pitchFamily="49" charset="-122"/>
              <a:ea typeface="楷体_GB2312" pitchFamily="49" charset="-122"/>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533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35533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35533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3553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1"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6355" name="Rectangle 3"/>
          <p:cNvSpPr>
            <a:spLocks noGrp="1" noChangeArrowheads="1"/>
          </p:cNvSpPr>
          <p:nvPr>
            <p:ph type="body" idx="4294967295"/>
          </p:nvPr>
        </p:nvSpPr>
        <p:spPr>
          <a:xfrm>
            <a:off x="323850" y="838200"/>
            <a:ext cx="8458200" cy="6019800"/>
          </a:xfrm>
        </p:spPr>
        <p:txBody>
          <a:bodyPr/>
          <a:lstStyle/>
          <a:p>
            <a:pPr eaLnBrk="1" hangingPunct="1"/>
            <a:r>
              <a:rPr lang="zh-CN" altLang="en-US" sz="2400">
                <a:solidFill>
                  <a:srgbClr val="FB1705"/>
                </a:solidFill>
                <a:latin typeface="楷体_GB2312" pitchFamily="49" charset="-122"/>
                <a:ea typeface="楷体_GB2312" pitchFamily="49" charset="-122"/>
              </a:rPr>
              <a:t>通用公共许可证</a:t>
            </a:r>
            <a:r>
              <a:rPr lang="en-US" altLang="zh-CN" sz="2400">
                <a:solidFill>
                  <a:srgbClr val="FB1705"/>
                </a:solidFill>
                <a:latin typeface="楷体_GB2312" pitchFamily="49" charset="-122"/>
                <a:ea typeface="楷体_GB2312" pitchFamily="49" charset="-122"/>
              </a:rPr>
              <a:t>GPL</a:t>
            </a:r>
            <a:r>
              <a:rPr lang="en-US" altLang="zh-CN">
                <a:solidFill>
                  <a:srgbClr val="FB1705"/>
                </a:solidFill>
                <a:latin typeface="楷体_GB2312" pitchFamily="49" charset="-122"/>
                <a:ea typeface="楷体_GB2312" pitchFamily="49" charset="-122"/>
              </a:rPr>
              <a:t>(General public License</a:t>
            </a:r>
            <a:r>
              <a:rPr lang="zh-CN" altLang="en-US">
                <a:solidFill>
                  <a:srgbClr val="FB1705"/>
                </a:solidFill>
                <a:latin typeface="楷体_GB2312" pitchFamily="49" charset="-122"/>
                <a:ea typeface="楷体_GB2312" pitchFamily="49" charset="-122"/>
              </a:rPr>
              <a:t>）</a:t>
            </a:r>
            <a:endParaRPr lang="en-US" altLang="zh-CN" sz="2400">
              <a:solidFill>
                <a:srgbClr val="FB1705"/>
              </a:solidFill>
              <a:latin typeface="楷体_GB2312" pitchFamily="49" charset="-122"/>
              <a:ea typeface="楷体_GB2312" pitchFamily="49" charset="-122"/>
            </a:endParaRPr>
          </a:p>
          <a:p>
            <a:pPr lvl="1" eaLnBrk="1" hangingPunct="1"/>
            <a:r>
              <a:rPr lang="zh-CN" altLang="en-US" sz="2400">
                <a:solidFill>
                  <a:srgbClr val="004182"/>
                </a:solidFill>
                <a:latin typeface="楷体_GB2312" pitchFamily="49" charset="-122"/>
                <a:ea typeface="楷体_GB2312" pitchFamily="49" charset="-122"/>
              </a:rPr>
              <a:t>保证自由软件对所有用户都是自由的</a:t>
            </a:r>
            <a:r>
              <a:rPr lang="en-US" altLang="zh-CN" sz="2400">
                <a:solidFill>
                  <a:srgbClr val="004182"/>
                </a:solidFill>
                <a:latin typeface="楷体_GB2312" pitchFamily="49" charset="-122"/>
                <a:ea typeface="楷体_GB2312" pitchFamily="49" charset="-122"/>
              </a:rPr>
              <a:t>(</a:t>
            </a:r>
            <a:r>
              <a:rPr lang="zh-CN" altLang="en-US" sz="2400">
                <a:solidFill>
                  <a:srgbClr val="004182"/>
                </a:solidFill>
                <a:latin typeface="楷体_GB2312" pitchFamily="49" charset="-122"/>
                <a:ea typeface="楷体_GB2312" pitchFamily="49" charset="-122"/>
              </a:rPr>
              <a:t>不一定免费</a:t>
            </a:r>
            <a:r>
              <a:rPr lang="en-US" altLang="zh-CN" sz="2400">
                <a:solidFill>
                  <a:srgbClr val="004182"/>
                </a:solidFill>
                <a:latin typeface="楷体_GB2312" pitchFamily="49" charset="-122"/>
                <a:ea typeface="楷体_GB2312" pitchFamily="49" charset="-122"/>
              </a:rPr>
              <a:t>)</a:t>
            </a:r>
            <a:endParaRPr lang="zh-CN" altLang="en-US" sz="2400">
              <a:solidFill>
                <a:srgbClr val="004182"/>
              </a:solidFill>
              <a:latin typeface="楷体_GB2312" pitchFamily="49" charset="-122"/>
              <a:ea typeface="楷体_GB2312" pitchFamily="49" charset="-122"/>
            </a:endParaRPr>
          </a:p>
          <a:p>
            <a:pPr lvl="1" eaLnBrk="1" hangingPunct="1"/>
            <a:r>
              <a:rPr lang="zh-CN" altLang="en-US" sz="2400">
                <a:solidFill>
                  <a:srgbClr val="004182"/>
                </a:solidFill>
                <a:latin typeface="楷体_GB2312" pitchFamily="49" charset="-122"/>
                <a:ea typeface="楷体_GB2312" pitchFamily="49" charset="-122"/>
              </a:rPr>
              <a:t>所有的</a:t>
            </a:r>
            <a:r>
              <a:rPr lang="en-US" altLang="zh-CN" sz="2400">
                <a:solidFill>
                  <a:srgbClr val="004182"/>
                </a:solidFill>
                <a:latin typeface="楷体_GB2312" pitchFamily="49" charset="-122"/>
                <a:ea typeface="楷体_GB2312" pitchFamily="49" charset="-122"/>
              </a:rPr>
              <a:t>GNU</a:t>
            </a:r>
            <a:r>
              <a:rPr lang="zh-CN" altLang="en-US" sz="2400">
                <a:solidFill>
                  <a:srgbClr val="004182"/>
                </a:solidFill>
                <a:latin typeface="楷体_GB2312" pitchFamily="49" charset="-122"/>
                <a:ea typeface="楷体_GB2312" pitchFamily="49" charset="-122"/>
              </a:rPr>
              <a:t>软件和派生工作均遵循</a:t>
            </a:r>
            <a:r>
              <a:rPr lang="en-US" altLang="zh-CN" sz="2400">
                <a:solidFill>
                  <a:srgbClr val="004182"/>
                </a:solidFill>
                <a:latin typeface="楷体_GB2312" pitchFamily="49" charset="-122"/>
                <a:ea typeface="楷体_GB2312" pitchFamily="49" charset="-122"/>
              </a:rPr>
              <a:t>GNU</a:t>
            </a:r>
            <a:r>
              <a:rPr lang="zh-CN" altLang="en-US" sz="2400">
                <a:solidFill>
                  <a:srgbClr val="004182"/>
                </a:solidFill>
                <a:latin typeface="楷体_GB2312" pitchFamily="49" charset="-122"/>
                <a:ea typeface="楷体_GB2312" pitchFamily="49" charset="-122"/>
              </a:rPr>
              <a:t>通用公共许可证，即</a:t>
            </a:r>
            <a:r>
              <a:rPr lang="en-US" altLang="zh-CN" sz="2400">
                <a:solidFill>
                  <a:srgbClr val="004182"/>
                </a:solidFill>
                <a:latin typeface="楷体_GB2312" pitchFamily="49" charset="-122"/>
                <a:ea typeface="楷体_GB2312" pitchFamily="49" charset="-122"/>
              </a:rPr>
              <a:t>GPL</a:t>
            </a:r>
            <a:r>
              <a:rPr lang="zh-CN" altLang="en-US" sz="2400">
                <a:solidFill>
                  <a:srgbClr val="004182"/>
                </a:solidFill>
                <a:latin typeface="楷体_GB2312" pitchFamily="49" charset="-122"/>
                <a:ea typeface="楷体_GB2312" pitchFamily="49" charset="-122"/>
              </a:rPr>
              <a:t>。</a:t>
            </a:r>
            <a:r>
              <a:rPr lang="en-US" altLang="zh-CN" sz="2400">
                <a:solidFill>
                  <a:srgbClr val="004182"/>
                </a:solidFill>
                <a:latin typeface="楷体_GB2312" pitchFamily="49" charset="-122"/>
                <a:ea typeface="楷体_GB2312" pitchFamily="49" charset="-122"/>
              </a:rPr>
              <a:t>http://www.gnu.org/licenses/licenses.html</a:t>
            </a:r>
          </a:p>
          <a:p>
            <a:pPr eaLnBrk="1" hangingPunct="1"/>
            <a:r>
              <a:rPr lang="en-US" altLang="zh-CN" sz="2400">
                <a:solidFill>
                  <a:srgbClr val="FB1705"/>
                </a:solidFill>
                <a:latin typeface="楷体_GB2312" pitchFamily="49" charset="-122"/>
                <a:ea typeface="楷体_GB2312" pitchFamily="49" charset="-122"/>
              </a:rPr>
              <a:t>GPL</a:t>
            </a:r>
            <a:r>
              <a:rPr lang="zh-CN" altLang="en-US" sz="2400">
                <a:solidFill>
                  <a:srgbClr val="FB1705"/>
                </a:solidFill>
                <a:latin typeface="楷体_GB2312" pitchFamily="49" charset="-122"/>
                <a:ea typeface="楷体_GB2312" pitchFamily="49" charset="-122"/>
              </a:rPr>
              <a:t>类软件遵循一定的规则</a:t>
            </a:r>
          </a:p>
          <a:p>
            <a:pPr lvl="1" algn="just" eaLnBrk="1" hangingPunct="1"/>
            <a:r>
              <a:rPr lang="zh-CN" altLang="en-US" sz="2400">
                <a:solidFill>
                  <a:srgbClr val="004182"/>
                </a:solidFill>
                <a:latin typeface="楷体_GB2312" pitchFamily="49" charset="-122"/>
                <a:ea typeface="楷体_GB2312" pitchFamily="49" charset="-122"/>
              </a:rPr>
              <a:t>传播者不能限制购买软件的用户自由权。如果用户买了一套</a:t>
            </a:r>
            <a:r>
              <a:rPr lang="en-US" altLang="zh-CN" sz="2400">
                <a:solidFill>
                  <a:srgbClr val="004182"/>
                </a:solidFill>
                <a:latin typeface="楷体_GB2312" pitchFamily="49" charset="-122"/>
                <a:ea typeface="楷体_GB2312" pitchFamily="49" charset="-122"/>
              </a:rPr>
              <a:t>GPL</a:t>
            </a:r>
            <a:r>
              <a:rPr lang="zh-CN" altLang="en-US" sz="2400">
                <a:solidFill>
                  <a:srgbClr val="004182"/>
                </a:solidFill>
                <a:latin typeface="楷体_GB2312" pitchFamily="49" charset="-122"/>
                <a:ea typeface="楷体_GB2312" pitchFamily="49" charset="-122"/>
              </a:rPr>
              <a:t>软件，就可免费复制、传播或出售。</a:t>
            </a:r>
          </a:p>
          <a:p>
            <a:pPr lvl="1" algn="just" eaLnBrk="1" hangingPunct="1"/>
            <a:r>
              <a:rPr lang="zh-CN" altLang="en-US" sz="2400">
                <a:solidFill>
                  <a:srgbClr val="004182"/>
                </a:solidFill>
                <a:latin typeface="楷体_GB2312" pitchFamily="49" charset="-122"/>
                <a:ea typeface="楷体_GB2312" pitchFamily="49" charset="-122"/>
              </a:rPr>
              <a:t>传播者必须清楚告诉用户该软件属于</a:t>
            </a:r>
            <a:r>
              <a:rPr lang="en-US" altLang="zh-CN" sz="2400">
                <a:solidFill>
                  <a:srgbClr val="004182"/>
                </a:solidFill>
                <a:latin typeface="楷体_GB2312" pitchFamily="49" charset="-122"/>
                <a:ea typeface="楷体_GB2312" pitchFamily="49" charset="-122"/>
              </a:rPr>
              <a:t>GPL</a:t>
            </a:r>
            <a:r>
              <a:rPr lang="zh-CN" altLang="en-US" sz="2400">
                <a:solidFill>
                  <a:srgbClr val="004182"/>
                </a:solidFill>
                <a:latin typeface="楷体_GB2312" pitchFamily="49" charset="-122"/>
                <a:ea typeface="楷体_GB2312" pitchFamily="49" charset="-122"/>
              </a:rPr>
              <a:t>软件。</a:t>
            </a:r>
          </a:p>
          <a:p>
            <a:pPr lvl="1" algn="just" eaLnBrk="1" hangingPunct="1"/>
            <a:r>
              <a:rPr lang="zh-CN" altLang="en-US" sz="2400">
                <a:solidFill>
                  <a:srgbClr val="004182"/>
                </a:solidFill>
                <a:latin typeface="楷体_GB2312" pitchFamily="49" charset="-122"/>
                <a:ea typeface="楷体_GB2312" pitchFamily="49" charset="-122"/>
              </a:rPr>
              <a:t>传播者必须免费提供软件的完整源代码，且任何用户能以源代码形式将软件复制或发布给别的用户。</a:t>
            </a:r>
          </a:p>
          <a:p>
            <a:pPr lvl="1" eaLnBrk="1" hangingPunct="1"/>
            <a:r>
              <a:rPr lang="zh-CN" altLang="en-US" sz="2400">
                <a:solidFill>
                  <a:srgbClr val="004182"/>
                </a:solidFill>
                <a:latin typeface="楷体_GB2312" pitchFamily="49" charset="-122"/>
                <a:ea typeface="楷体_GB2312" pitchFamily="49" charset="-122"/>
              </a:rPr>
              <a:t>如果用户的软件使用了受</a:t>
            </a:r>
            <a:r>
              <a:rPr lang="en-US" altLang="zh-CN" sz="2400">
                <a:solidFill>
                  <a:srgbClr val="004182"/>
                </a:solidFill>
                <a:latin typeface="楷体_GB2312" pitchFamily="49" charset="-122"/>
                <a:ea typeface="楷体_GB2312" pitchFamily="49" charset="-122"/>
              </a:rPr>
              <a:t>GPL</a:t>
            </a:r>
            <a:r>
              <a:rPr lang="zh-CN" altLang="en-US" sz="2400">
                <a:solidFill>
                  <a:srgbClr val="004182"/>
                </a:solidFill>
                <a:latin typeface="楷体_GB2312" pitchFamily="49" charset="-122"/>
                <a:ea typeface="楷体_GB2312" pitchFamily="49" charset="-122"/>
              </a:rPr>
              <a:t>保护的任何软件的一部分，则该软件也成为</a:t>
            </a:r>
            <a:r>
              <a:rPr lang="en-US" altLang="zh-CN" sz="2400">
                <a:solidFill>
                  <a:srgbClr val="004182"/>
                </a:solidFill>
                <a:latin typeface="楷体_GB2312" pitchFamily="49" charset="-122"/>
                <a:ea typeface="楷体_GB2312" pitchFamily="49" charset="-122"/>
              </a:rPr>
              <a:t>GPL</a:t>
            </a:r>
            <a:r>
              <a:rPr lang="zh-CN" altLang="en-US" sz="2400">
                <a:solidFill>
                  <a:srgbClr val="004182"/>
                </a:solidFill>
                <a:latin typeface="楷体_GB2312" pitchFamily="49" charset="-122"/>
                <a:ea typeface="楷体_GB2312" pitchFamily="49" charset="-122"/>
              </a:rPr>
              <a:t>软件，它必须随应用程序一起发布源代码。</a:t>
            </a:r>
          </a:p>
        </p:txBody>
      </p:sp>
      <p:sp>
        <p:nvSpPr>
          <p:cNvPr id="4" name="Rectangle 2"/>
          <p:cNvSpPr txBox="1">
            <a:spLocks noChangeArrowheads="1"/>
          </p:cNvSpPr>
          <p:nvPr/>
        </p:nvSpPr>
        <p:spPr>
          <a:xfrm>
            <a:off x="611188" y="115888"/>
            <a:ext cx="7632700" cy="609600"/>
          </a:xfrm>
          <a:prstGeom prst="rect">
            <a:avLst/>
          </a:prstGeom>
        </p:spPr>
        <p:txBody>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defRPr/>
            </a:pPr>
            <a:r>
              <a:rPr lang="en-US" altLang="zh-CN" kern="0">
                <a:latin typeface="楷体_GB2312" pitchFamily="49" charset="-122"/>
                <a:ea typeface="楷体_GB2312" pitchFamily="49" charset="-122"/>
              </a:rPr>
              <a:t>2</a:t>
            </a:r>
            <a:r>
              <a:rPr lang="zh-CN" altLang="en-US" kern="0">
                <a:latin typeface="楷体_GB2312" pitchFamily="49" charset="-122"/>
                <a:ea typeface="楷体_GB2312" pitchFamily="49" charset="-122"/>
              </a:rPr>
              <a:t>、自由软件与</a:t>
            </a:r>
            <a:r>
              <a:rPr lang="en-US" altLang="zh-CN" kern="0">
                <a:latin typeface="楷体_GB2312" pitchFamily="49" charset="-122"/>
                <a:ea typeface="楷体_GB2312" pitchFamily="49" charset="-122"/>
              </a:rPr>
              <a:t>GPL</a:t>
            </a:r>
            <a:endParaRPr lang="zh-CN" altLang="en-US" kern="0" dirty="0">
              <a:latin typeface="楷体_GB2312" pitchFamily="49" charset="-122"/>
              <a:ea typeface="楷体_GB2312" pitchFamily="49" charset="-122"/>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635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35635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35635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5635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35635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35635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35635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35635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5"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6355" name="Rectangle 3"/>
          <p:cNvSpPr>
            <a:spLocks noGrp="1" noChangeArrowheads="1"/>
          </p:cNvSpPr>
          <p:nvPr>
            <p:ph type="body" idx="4294967295"/>
          </p:nvPr>
        </p:nvSpPr>
        <p:spPr>
          <a:xfrm>
            <a:off x="304800" y="838200"/>
            <a:ext cx="7939088" cy="6019800"/>
          </a:xfrm>
        </p:spPr>
        <p:txBody>
          <a:bodyPr/>
          <a:lstStyle/>
          <a:p>
            <a:pPr lvl="1" eaLnBrk="1" hangingPunct="1"/>
            <a:r>
              <a:rPr lang="en-US" altLang="zh-CN" sz="3000">
                <a:solidFill>
                  <a:srgbClr val="D71B07"/>
                </a:solidFill>
                <a:latin typeface="楷体_GB2312" pitchFamily="49" charset="-122"/>
                <a:ea typeface="楷体_GB2312" pitchFamily="49" charset="-122"/>
              </a:rPr>
              <a:t>GNU/Linux</a:t>
            </a:r>
          </a:p>
          <a:p>
            <a:pPr lvl="2" eaLnBrk="1" hangingPunct="1"/>
            <a:r>
              <a:rPr lang="en-US" altLang="zh-CN" sz="3000" b="1">
                <a:solidFill>
                  <a:srgbClr val="004182"/>
                </a:solidFill>
                <a:latin typeface="楷体_GB2312" pitchFamily="49" charset="-122"/>
                <a:ea typeface="楷体_GB2312" pitchFamily="49" charset="-122"/>
              </a:rPr>
              <a:t>Linux:</a:t>
            </a:r>
            <a:r>
              <a:rPr lang="zh-CN" altLang="en-US" sz="3000" b="1">
                <a:solidFill>
                  <a:srgbClr val="004182"/>
                </a:solidFill>
                <a:latin typeface="楷体_GB2312" pitchFamily="49" charset="-122"/>
                <a:ea typeface="楷体_GB2312" pitchFamily="49" charset="-122"/>
              </a:rPr>
              <a:t>内核</a:t>
            </a:r>
          </a:p>
          <a:p>
            <a:pPr lvl="2" eaLnBrk="1" hangingPunct="1"/>
            <a:r>
              <a:rPr lang="en-US" altLang="zh-CN" sz="3000" b="1">
                <a:solidFill>
                  <a:srgbClr val="004182"/>
                </a:solidFill>
                <a:latin typeface="楷体_GB2312" pitchFamily="49" charset="-122"/>
                <a:ea typeface="楷体_GB2312" pitchFamily="49" charset="-122"/>
              </a:rPr>
              <a:t>GNU/Linux</a:t>
            </a:r>
            <a:r>
              <a:rPr lang="zh-CN" altLang="en-US" sz="3000" b="1">
                <a:solidFill>
                  <a:srgbClr val="004182"/>
                </a:solidFill>
                <a:latin typeface="楷体_GB2312" pitchFamily="49" charset="-122"/>
                <a:ea typeface="楷体_GB2312" pitchFamily="49" charset="-122"/>
              </a:rPr>
              <a:t>：操作系统名称。</a:t>
            </a:r>
          </a:p>
          <a:p>
            <a:pPr lvl="1" eaLnBrk="1" hangingPunct="1"/>
            <a:r>
              <a:rPr lang="zh-CN" altLang="en-US" sz="3000">
                <a:solidFill>
                  <a:srgbClr val="004182"/>
                </a:solidFill>
                <a:latin typeface="楷体_GB2312" pitchFamily="49" charset="-122"/>
                <a:ea typeface="楷体_GB2312" pitchFamily="49" charset="-122"/>
              </a:rPr>
              <a:t>使</a:t>
            </a:r>
            <a:r>
              <a:rPr lang="en-US" altLang="zh-CN" sz="3000">
                <a:solidFill>
                  <a:srgbClr val="004182"/>
                </a:solidFill>
                <a:latin typeface="楷体_GB2312" pitchFamily="49" charset="-122"/>
                <a:ea typeface="楷体_GB2312" pitchFamily="49" charset="-122"/>
              </a:rPr>
              <a:t>Linux</a:t>
            </a:r>
            <a:r>
              <a:rPr lang="zh-CN" altLang="en-US" sz="3000">
                <a:solidFill>
                  <a:srgbClr val="004182"/>
                </a:solidFill>
                <a:latin typeface="楷体_GB2312" pitchFamily="49" charset="-122"/>
                <a:ea typeface="楷体_GB2312" pitchFamily="49" charset="-122"/>
              </a:rPr>
              <a:t>内核变得强大的大量应用程序都是</a:t>
            </a:r>
            <a:r>
              <a:rPr lang="en-US" altLang="zh-CN" sz="3000">
                <a:solidFill>
                  <a:srgbClr val="004182"/>
                </a:solidFill>
                <a:latin typeface="楷体_GB2312" pitchFamily="49" charset="-122"/>
                <a:ea typeface="楷体_GB2312" pitchFamily="49" charset="-122"/>
              </a:rPr>
              <a:t>GNU</a:t>
            </a:r>
            <a:r>
              <a:rPr lang="zh-CN" altLang="en-US" sz="3000">
                <a:solidFill>
                  <a:srgbClr val="004182"/>
                </a:solidFill>
                <a:latin typeface="楷体_GB2312" pitchFamily="49" charset="-122"/>
                <a:ea typeface="楷体_GB2312" pitchFamily="49" charset="-122"/>
              </a:rPr>
              <a:t>软件，都是在</a:t>
            </a:r>
            <a:r>
              <a:rPr lang="en-US" altLang="zh-CN" sz="3000">
                <a:solidFill>
                  <a:srgbClr val="004182"/>
                </a:solidFill>
                <a:latin typeface="楷体_GB2312" pitchFamily="49" charset="-122"/>
                <a:ea typeface="楷体_GB2312" pitchFamily="49" charset="-122"/>
              </a:rPr>
              <a:t>GPL</a:t>
            </a:r>
            <a:r>
              <a:rPr lang="zh-CN" altLang="en-US" sz="3000">
                <a:solidFill>
                  <a:srgbClr val="004182"/>
                </a:solidFill>
                <a:latin typeface="楷体_GB2312" pitchFamily="49" charset="-122"/>
                <a:ea typeface="楷体_GB2312" pitchFamily="49" charset="-122"/>
              </a:rPr>
              <a:t>许可证下发布的。如：窗口管理工具、编译器、各种</a:t>
            </a:r>
            <a:r>
              <a:rPr lang="en-US" altLang="zh-CN" sz="3000">
                <a:solidFill>
                  <a:srgbClr val="004182"/>
                </a:solidFill>
                <a:latin typeface="楷体_GB2312" pitchFamily="49" charset="-122"/>
                <a:ea typeface="楷体_GB2312" pitchFamily="49" charset="-122"/>
              </a:rPr>
              <a:t>shell</a:t>
            </a:r>
            <a:r>
              <a:rPr lang="zh-CN" altLang="en-US" sz="3000">
                <a:solidFill>
                  <a:srgbClr val="004182"/>
                </a:solidFill>
                <a:latin typeface="楷体_GB2312" pitchFamily="49" charset="-122"/>
                <a:ea typeface="楷体_GB2312" pitchFamily="49" charset="-122"/>
              </a:rPr>
              <a:t>、浏览器等。</a:t>
            </a:r>
          </a:p>
        </p:txBody>
      </p:sp>
      <p:sp>
        <p:nvSpPr>
          <p:cNvPr id="4" name="Rectangle 2"/>
          <p:cNvSpPr txBox="1">
            <a:spLocks noChangeArrowheads="1"/>
          </p:cNvSpPr>
          <p:nvPr/>
        </p:nvSpPr>
        <p:spPr>
          <a:xfrm>
            <a:off x="611188" y="115888"/>
            <a:ext cx="7632700" cy="609600"/>
          </a:xfrm>
          <a:prstGeom prst="rect">
            <a:avLst/>
          </a:prstGeom>
        </p:spPr>
        <p:txBody>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defRPr/>
            </a:pPr>
            <a:r>
              <a:rPr lang="en-US" altLang="zh-CN" kern="0">
                <a:latin typeface="楷体_GB2312" pitchFamily="49" charset="-122"/>
                <a:ea typeface="楷体_GB2312" pitchFamily="49" charset="-122"/>
              </a:rPr>
              <a:t>2</a:t>
            </a:r>
            <a:r>
              <a:rPr lang="zh-CN" altLang="en-US" kern="0">
                <a:latin typeface="楷体_GB2312" pitchFamily="49" charset="-122"/>
                <a:ea typeface="楷体_GB2312" pitchFamily="49" charset="-122"/>
              </a:rPr>
              <a:t>、自由软件与</a:t>
            </a:r>
            <a:r>
              <a:rPr lang="en-US" altLang="zh-CN" kern="0">
                <a:latin typeface="楷体_GB2312" pitchFamily="49" charset="-122"/>
                <a:ea typeface="楷体_GB2312" pitchFamily="49" charset="-122"/>
              </a:rPr>
              <a:t>GPL</a:t>
            </a:r>
            <a:endParaRPr lang="zh-CN" altLang="en-US" kern="0" dirty="0">
              <a:latin typeface="楷体_GB2312" pitchFamily="49" charset="-122"/>
              <a:ea typeface="楷体_GB2312" pitchFamily="49" charset="-122"/>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635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35635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35635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3563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5"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3"/>
          <p:cNvSpPr>
            <a:spLocks noChangeArrowheads="1"/>
          </p:cNvSpPr>
          <p:nvPr/>
        </p:nvSpPr>
        <p:spPr bwMode="auto">
          <a:xfrm>
            <a:off x="611188" y="908050"/>
            <a:ext cx="38163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en-US" altLang="zh-CN" sz="2000" b="0" dirty="0">
                <a:solidFill>
                  <a:schemeClr val="tx1"/>
                </a:solidFill>
                <a:latin typeface="Times New Roman" panose="02020603050405020304" pitchFamily="18" charset="0"/>
                <a:ea typeface="楷体_GB2312" pitchFamily="49" charset="-122"/>
                <a:cs typeface="Times New Roman" panose="02020603050405020304" pitchFamily="18" charset="0"/>
                <a:hlinkClick r:id="rId2"/>
              </a:rPr>
              <a:t>http://www.kernel.org/</a:t>
            </a:r>
            <a:endParaRPr lang="en-US" altLang="zh-CN" sz="2000" b="0" dirty="0">
              <a:solidFill>
                <a:schemeClr val="tx1"/>
              </a:solidFill>
              <a:latin typeface="Times New Roman" panose="02020603050405020304" pitchFamily="18" charset="0"/>
              <a:ea typeface="楷体_GB2312" pitchFamily="49" charset="-122"/>
              <a:cs typeface="Times New Roman" panose="02020603050405020304" pitchFamily="18" charset="0"/>
            </a:endParaRPr>
          </a:p>
        </p:txBody>
      </p:sp>
      <p:sp>
        <p:nvSpPr>
          <p:cNvPr id="5" name="Rectangle 4"/>
          <p:cNvSpPr txBox="1">
            <a:spLocks noChangeArrowheads="1"/>
          </p:cNvSpPr>
          <p:nvPr/>
        </p:nvSpPr>
        <p:spPr>
          <a:xfrm>
            <a:off x="358775" y="1123950"/>
            <a:ext cx="8137525" cy="649288"/>
          </a:xfrm>
          <a:prstGeom prst="rect">
            <a:avLst/>
          </a:prstGeom>
          <a:noFill/>
        </p:spPr>
        <p:txBody>
          <a:bodyPr anchor="b"/>
          <a:lstStyle/>
          <a:p>
            <a:pPr algn="ctr" eaLnBrk="1" hangingPunct="1">
              <a:defRPr/>
            </a:pPr>
            <a:r>
              <a:rPr lang="en-US" altLang="zh-CN" sz="2000" b="1" kern="0" dirty="0">
                <a:solidFill>
                  <a:schemeClr val="accent4"/>
                </a:solidFill>
                <a:latin typeface="楷体_GB2312" pitchFamily="49" charset="-122"/>
                <a:cs typeface="+mj-cs"/>
              </a:rPr>
              <a:t>Linux</a:t>
            </a:r>
            <a:r>
              <a:rPr lang="zh-CN" altLang="en-US" sz="2000" b="1" kern="0" dirty="0">
                <a:solidFill>
                  <a:schemeClr val="accent4"/>
                </a:solidFill>
                <a:latin typeface="楷体_GB2312" pitchFamily="49" charset="-122"/>
                <a:cs typeface="+mj-cs"/>
              </a:rPr>
              <a:t>内核维护网站</a:t>
            </a:r>
          </a:p>
        </p:txBody>
      </p:sp>
      <p:sp>
        <p:nvSpPr>
          <p:cNvPr id="6" name="Rectangle 2"/>
          <p:cNvSpPr txBox="1">
            <a:spLocks noChangeArrowheads="1"/>
          </p:cNvSpPr>
          <p:nvPr/>
        </p:nvSpPr>
        <p:spPr>
          <a:xfrm>
            <a:off x="611188" y="115888"/>
            <a:ext cx="7632700" cy="609600"/>
          </a:xfrm>
          <a:prstGeom prst="rect">
            <a:avLst/>
          </a:prstGeom>
        </p:spPr>
        <p:txBody>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defRPr/>
            </a:pPr>
            <a:r>
              <a:rPr lang="en-US" altLang="zh-CN" kern="0">
                <a:latin typeface="楷体_GB2312" pitchFamily="49" charset="-122"/>
                <a:ea typeface="楷体_GB2312" pitchFamily="49" charset="-122"/>
              </a:rPr>
              <a:t>2</a:t>
            </a:r>
            <a:r>
              <a:rPr lang="zh-CN" altLang="en-US" kern="0">
                <a:latin typeface="楷体_GB2312" pitchFamily="49" charset="-122"/>
                <a:ea typeface="楷体_GB2312" pitchFamily="49" charset="-122"/>
              </a:rPr>
              <a:t>、自由软件与</a:t>
            </a:r>
            <a:r>
              <a:rPr lang="en-US" altLang="zh-CN" kern="0">
                <a:latin typeface="楷体_GB2312" pitchFamily="49" charset="-122"/>
                <a:ea typeface="楷体_GB2312" pitchFamily="49" charset="-122"/>
              </a:rPr>
              <a:t>GPL</a:t>
            </a:r>
            <a:endParaRPr lang="zh-CN" altLang="en-US" kern="0" dirty="0">
              <a:latin typeface="楷体_GB2312" pitchFamily="49" charset="-122"/>
              <a:ea typeface="楷体_GB2312" pitchFamily="49" charset="-122"/>
            </a:endParaRPr>
          </a:p>
        </p:txBody>
      </p:sp>
      <p:pic>
        <p:nvPicPr>
          <p:cNvPr id="2" name="图片 1">
            <a:extLst>
              <a:ext uri="{FF2B5EF4-FFF2-40B4-BE49-F238E27FC236}">
                <a16:creationId xmlns:a16="http://schemas.microsoft.com/office/drawing/2014/main" id="{C3004AC6-5454-41AB-B8E0-0448DD99157A}"/>
              </a:ext>
            </a:extLst>
          </p:cNvPr>
          <p:cNvPicPr>
            <a:picLocks noChangeAspect="1"/>
          </p:cNvPicPr>
          <p:nvPr/>
        </p:nvPicPr>
        <p:blipFill>
          <a:blip r:embed="rId3"/>
          <a:stretch>
            <a:fillRect/>
          </a:stretch>
        </p:blipFill>
        <p:spPr>
          <a:xfrm>
            <a:off x="2195736" y="2020290"/>
            <a:ext cx="4464496" cy="427607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a:xfrm>
            <a:off x="762000" y="152400"/>
            <a:ext cx="7772400" cy="762000"/>
          </a:xfrm>
        </p:spPr>
        <p:txBody>
          <a:bodyPr anchorCtr="1"/>
          <a:lstStyle/>
          <a:p>
            <a:pPr eaLnBrk="1" hangingPunct="1"/>
            <a:r>
              <a:rPr lang="en-US" altLang="zh-CN">
                <a:latin typeface="楷体_GB2312" pitchFamily="49" charset="-122"/>
                <a:ea typeface="楷体_GB2312" pitchFamily="49" charset="-122"/>
              </a:rPr>
              <a:t>3</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Linux</a:t>
            </a:r>
            <a:r>
              <a:rPr lang="zh-CN" altLang="en-US">
                <a:latin typeface="楷体_GB2312" pitchFamily="49" charset="-122"/>
                <a:ea typeface="楷体_GB2312" pitchFamily="49" charset="-122"/>
              </a:rPr>
              <a:t>系统的主要特点</a:t>
            </a:r>
          </a:p>
        </p:txBody>
      </p:sp>
      <p:sp>
        <p:nvSpPr>
          <p:cNvPr id="296963" name="Rectangle 3"/>
          <p:cNvSpPr>
            <a:spLocks noGrp="1" noChangeArrowheads="1"/>
          </p:cNvSpPr>
          <p:nvPr>
            <p:ph type="body" idx="4294967295"/>
          </p:nvPr>
        </p:nvSpPr>
        <p:spPr>
          <a:xfrm>
            <a:off x="762000" y="914400"/>
            <a:ext cx="7772400" cy="5334000"/>
          </a:xfrm>
        </p:spPr>
        <p:txBody>
          <a:bodyPr/>
          <a:lstStyle/>
          <a:p>
            <a:pPr algn="just" eaLnBrk="1" hangingPunct="1">
              <a:buFont typeface="Arial" panose="020B0604020202020204" pitchFamily="34" charset="0"/>
              <a:buChar char="•"/>
              <a:defRPr/>
            </a:pPr>
            <a:r>
              <a:rPr lang="en-US" altLang="zh-CN" sz="2400" dirty="0">
                <a:latin typeface="楷体_GB2312" pitchFamily="49" charset="-122"/>
                <a:ea typeface="楷体_GB2312" pitchFamily="49" charset="-122"/>
              </a:rPr>
              <a:t>Linux</a:t>
            </a:r>
            <a:r>
              <a:rPr lang="zh-CN" altLang="en-US" sz="2400" dirty="0">
                <a:latin typeface="楷体_GB2312" pitchFamily="49" charset="-122"/>
                <a:ea typeface="楷体_GB2312" pitchFamily="49" charset="-122"/>
              </a:rPr>
              <a:t>是一套免费使用的，遵循 </a:t>
            </a:r>
            <a:r>
              <a:rPr lang="en-US" altLang="zh-CN" sz="2400" dirty="0">
                <a:latin typeface="楷体_GB2312" pitchFamily="49" charset="-122"/>
                <a:ea typeface="楷体_GB2312" pitchFamily="49" charset="-122"/>
              </a:rPr>
              <a:t>GPL</a:t>
            </a: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POSIX</a:t>
            </a:r>
            <a:r>
              <a:rPr lang="zh-CN" altLang="en-US" sz="2400" dirty="0">
                <a:latin typeface="楷体_GB2312" pitchFamily="49" charset="-122"/>
                <a:ea typeface="楷体_GB2312" pitchFamily="49" charset="-122"/>
              </a:rPr>
              <a:t>标准的、与</a:t>
            </a:r>
            <a:r>
              <a:rPr lang="en-US" altLang="zh-CN" sz="2400" dirty="0">
                <a:latin typeface="楷体_GB2312" pitchFamily="49" charset="-122"/>
                <a:ea typeface="楷体_GB2312" pitchFamily="49" charset="-122"/>
              </a:rPr>
              <a:t>UNIX</a:t>
            </a:r>
            <a:r>
              <a:rPr lang="zh-CN" altLang="en-US" sz="2400" dirty="0">
                <a:solidFill>
                  <a:srgbClr val="FF0000"/>
                </a:solidFill>
                <a:latin typeface="楷体_GB2312" pitchFamily="49" charset="-122"/>
                <a:ea typeface="楷体_GB2312" pitchFamily="49" charset="-122"/>
              </a:rPr>
              <a:t>兼容</a:t>
            </a:r>
            <a:r>
              <a:rPr lang="zh-CN" altLang="en-US" sz="2400" dirty="0">
                <a:latin typeface="楷体_GB2312" pitchFamily="49" charset="-122"/>
                <a:ea typeface="楷体_GB2312" pitchFamily="49" charset="-122"/>
              </a:rPr>
              <a:t>的操作系统。</a:t>
            </a:r>
          </a:p>
          <a:p>
            <a:pPr algn="just" eaLnBrk="1" hangingPunct="1">
              <a:buFont typeface="Arial" panose="020B0604020202020204" pitchFamily="34" charset="0"/>
              <a:buChar char="•"/>
              <a:defRPr/>
            </a:pPr>
            <a:r>
              <a:rPr lang="zh-CN" altLang="en-US" sz="2400" dirty="0">
                <a:latin typeface="楷体_GB2312" pitchFamily="49" charset="-122"/>
                <a:ea typeface="楷体_GB2312" pitchFamily="49" charset="-122"/>
              </a:rPr>
              <a:t>能够在从微型计算机到大型计算机的任何环境中和任何平台上运行，良好的</a:t>
            </a:r>
            <a:r>
              <a:rPr lang="zh-CN" altLang="en-US" sz="2400" dirty="0">
                <a:solidFill>
                  <a:srgbClr val="FF0000"/>
                </a:solidFill>
                <a:latin typeface="楷体_GB2312" pitchFamily="49" charset="-122"/>
                <a:ea typeface="楷体_GB2312" pitchFamily="49" charset="-122"/>
              </a:rPr>
              <a:t>可移植性</a:t>
            </a:r>
            <a:r>
              <a:rPr lang="zh-CN" altLang="en-US" sz="2400" dirty="0">
                <a:latin typeface="楷体_GB2312" pitchFamily="49" charset="-122"/>
                <a:ea typeface="楷体_GB2312" pitchFamily="49" charset="-122"/>
              </a:rPr>
              <a:t>。</a:t>
            </a:r>
          </a:p>
          <a:p>
            <a:pPr algn="just" eaLnBrk="1" hangingPunct="1">
              <a:buFont typeface="Arial" panose="020B0604020202020204" pitchFamily="34" charset="0"/>
              <a:buChar char="•"/>
              <a:defRPr/>
            </a:pPr>
            <a:r>
              <a:rPr lang="zh-CN" altLang="en-US" sz="2400" dirty="0">
                <a:latin typeface="楷体_GB2312" pitchFamily="49" charset="-122"/>
                <a:ea typeface="楷体_GB2312" pitchFamily="49" charset="-122"/>
              </a:rPr>
              <a:t>可运行于</a:t>
            </a:r>
            <a:r>
              <a:rPr lang="zh-CN" altLang="en-US" sz="2400" dirty="0">
                <a:solidFill>
                  <a:srgbClr val="FF0000"/>
                </a:solidFill>
                <a:latin typeface="楷体_GB2312" pitchFamily="49" charset="-122"/>
                <a:ea typeface="楷体_GB2312" pitchFamily="49" charset="-122"/>
              </a:rPr>
              <a:t>多种平台</a:t>
            </a: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x86、Alpha、MIPS、PowerPC、 SPARC</a:t>
            </a:r>
            <a:r>
              <a:rPr lang="zh-CN" altLang="en-US" sz="2400" dirty="0">
                <a:latin typeface="楷体_GB2312" pitchFamily="49" charset="-122"/>
                <a:ea typeface="楷体_GB2312" pitchFamily="49" charset="-122"/>
              </a:rPr>
              <a:t>等）之上，是目前支持硬件最多的操作系统</a:t>
            </a:r>
          </a:p>
          <a:p>
            <a:pPr eaLnBrk="1" hangingPunct="1">
              <a:buFont typeface="Arial" panose="020B0604020202020204" pitchFamily="34" charset="0"/>
              <a:buChar char="•"/>
              <a:defRPr/>
            </a:pPr>
            <a:r>
              <a:rPr lang="zh-CN" altLang="en-US" sz="2400" dirty="0">
                <a:latin typeface="楷体_GB2312" pitchFamily="49" charset="-122"/>
                <a:ea typeface="楷体_GB2312" pitchFamily="49" charset="-122"/>
              </a:rPr>
              <a:t>拥有现代操作系统具有的所有内容，例如</a:t>
            </a:r>
            <a:r>
              <a:rPr lang="en-US" altLang="zh-CN" sz="2400" dirty="0">
                <a:latin typeface="楷体_GB2312" pitchFamily="49" charset="-122"/>
                <a:ea typeface="楷体_GB2312" pitchFamily="49" charset="-122"/>
              </a:rPr>
              <a:t>: </a:t>
            </a:r>
          </a:p>
          <a:p>
            <a:pPr lvl="1" eaLnBrk="1" hangingPunct="1">
              <a:buFont typeface="Arial" panose="020B0604020202020204" pitchFamily="34" charset="0"/>
              <a:buChar char="•"/>
              <a:defRPr/>
            </a:pPr>
            <a:r>
              <a:rPr lang="zh-CN" altLang="en-US" sz="2400" dirty="0">
                <a:solidFill>
                  <a:srgbClr val="2B5681"/>
                </a:solidFill>
                <a:latin typeface="楷体_GB2312" pitchFamily="49" charset="-122"/>
                <a:ea typeface="楷体_GB2312" pitchFamily="49" charset="-122"/>
                <a:cs typeface="+mn-cs"/>
              </a:rPr>
              <a:t>抢占式多任务处理，支持多用户</a:t>
            </a:r>
          </a:p>
          <a:p>
            <a:pPr lvl="1" eaLnBrk="1" hangingPunct="1">
              <a:buFont typeface="Arial" panose="020B0604020202020204" pitchFamily="34" charset="0"/>
              <a:buChar char="•"/>
              <a:defRPr/>
            </a:pPr>
            <a:r>
              <a:rPr lang="zh-CN" altLang="en-US" sz="2400" dirty="0">
                <a:solidFill>
                  <a:srgbClr val="2B5681"/>
                </a:solidFill>
                <a:latin typeface="楷体_GB2312" pitchFamily="49" charset="-122"/>
                <a:ea typeface="楷体_GB2312" pitchFamily="49" charset="-122"/>
                <a:cs typeface="+mn-cs"/>
              </a:rPr>
              <a:t>内存保护</a:t>
            </a:r>
          </a:p>
          <a:p>
            <a:pPr lvl="1" eaLnBrk="1" hangingPunct="1">
              <a:buFont typeface="Arial" panose="020B0604020202020204" pitchFamily="34" charset="0"/>
              <a:buChar char="•"/>
              <a:defRPr/>
            </a:pPr>
            <a:r>
              <a:rPr lang="zh-CN" altLang="en-US" sz="2400" dirty="0">
                <a:solidFill>
                  <a:srgbClr val="2B5681"/>
                </a:solidFill>
                <a:latin typeface="楷体_GB2312" pitchFamily="49" charset="-122"/>
                <a:ea typeface="楷体_GB2312" pitchFamily="49" charset="-122"/>
                <a:cs typeface="+mn-cs"/>
              </a:rPr>
              <a:t>支持</a:t>
            </a:r>
            <a:r>
              <a:rPr lang="en-US" altLang="zh-CN" sz="2400" dirty="0">
                <a:solidFill>
                  <a:srgbClr val="2B5681"/>
                </a:solidFill>
                <a:latin typeface="楷体_GB2312" pitchFamily="49" charset="-122"/>
                <a:ea typeface="楷体_GB2312" pitchFamily="49" charset="-122"/>
                <a:cs typeface="+mn-cs"/>
              </a:rPr>
              <a:t>SMP</a:t>
            </a:r>
            <a:r>
              <a:rPr lang="zh-CN" altLang="en-US" sz="2400" dirty="0">
                <a:solidFill>
                  <a:srgbClr val="2B5681"/>
                </a:solidFill>
                <a:latin typeface="楷体_GB2312" pitchFamily="49" charset="-122"/>
                <a:ea typeface="楷体_GB2312" pitchFamily="49" charset="-122"/>
                <a:cs typeface="+mn-cs"/>
              </a:rPr>
              <a:t>，支持</a:t>
            </a:r>
            <a:r>
              <a:rPr lang="en-US" altLang="zh-CN" sz="2400" dirty="0">
                <a:solidFill>
                  <a:srgbClr val="2B5681"/>
                </a:solidFill>
                <a:latin typeface="楷体_GB2312" pitchFamily="49" charset="-122"/>
                <a:ea typeface="楷体_GB2312" pitchFamily="49" charset="-122"/>
                <a:cs typeface="+mn-cs"/>
              </a:rPr>
              <a:t>TCP/IP</a:t>
            </a:r>
            <a:endParaRPr lang="zh-CN" altLang="en-US" sz="2400" dirty="0">
              <a:solidFill>
                <a:srgbClr val="2B5681"/>
              </a:solidFill>
              <a:latin typeface="楷体_GB2312" pitchFamily="49" charset="-122"/>
              <a:ea typeface="楷体_GB2312" pitchFamily="49" charset="-122"/>
              <a:cs typeface="+mn-cs"/>
            </a:endParaRPr>
          </a:p>
          <a:p>
            <a:pPr lvl="1" eaLnBrk="1" hangingPunct="1">
              <a:buFont typeface="Arial" panose="020B0604020202020204" pitchFamily="34" charset="0"/>
              <a:buChar char="•"/>
              <a:defRPr/>
            </a:pPr>
            <a:r>
              <a:rPr lang="zh-CN" altLang="en-US" sz="2400" dirty="0">
                <a:solidFill>
                  <a:srgbClr val="2B5681"/>
                </a:solidFill>
                <a:latin typeface="楷体_GB2312" pitchFamily="49" charset="-122"/>
                <a:ea typeface="楷体_GB2312" pitchFamily="49" charset="-122"/>
                <a:cs typeface="+mn-cs"/>
              </a:rPr>
              <a:t>支持绝大多数的</a:t>
            </a:r>
            <a:r>
              <a:rPr lang="en-US" altLang="zh-CN" sz="2400" dirty="0">
                <a:solidFill>
                  <a:srgbClr val="2B5681"/>
                </a:solidFill>
                <a:latin typeface="楷体_GB2312" pitchFamily="49" charset="-122"/>
                <a:ea typeface="楷体_GB2312" pitchFamily="49" charset="-122"/>
                <a:cs typeface="+mn-cs"/>
              </a:rPr>
              <a:t>32</a:t>
            </a:r>
            <a:r>
              <a:rPr lang="zh-CN" altLang="en-US" sz="2400" dirty="0">
                <a:solidFill>
                  <a:srgbClr val="2B5681"/>
                </a:solidFill>
                <a:latin typeface="楷体_GB2312" pitchFamily="49" charset="-122"/>
                <a:ea typeface="楷体_GB2312" pitchFamily="49" charset="-122"/>
                <a:cs typeface="+mn-cs"/>
              </a:rPr>
              <a:t>位和</a:t>
            </a:r>
            <a:r>
              <a:rPr lang="en-US" altLang="zh-CN" sz="2400" dirty="0">
                <a:solidFill>
                  <a:srgbClr val="2B5681"/>
                </a:solidFill>
                <a:latin typeface="楷体_GB2312" pitchFamily="49" charset="-122"/>
                <a:ea typeface="楷体_GB2312" pitchFamily="49" charset="-122"/>
                <a:cs typeface="+mn-cs"/>
              </a:rPr>
              <a:t>64</a:t>
            </a:r>
            <a:r>
              <a:rPr lang="zh-CN" altLang="en-US" sz="2400" dirty="0">
                <a:solidFill>
                  <a:srgbClr val="2B5681"/>
                </a:solidFill>
                <a:latin typeface="楷体_GB2312" pitchFamily="49" charset="-122"/>
                <a:ea typeface="楷体_GB2312" pitchFamily="49" charset="-122"/>
                <a:cs typeface="+mn-cs"/>
              </a:rPr>
              <a:t>位</a:t>
            </a:r>
            <a:r>
              <a:rPr lang="en-US" altLang="zh-CN" sz="2400" dirty="0">
                <a:solidFill>
                  <a:srgbClr val="2B5681"/>
                </a:solidFill>
                <a:latin typeface="楷体_GB2312" pitchFamily="49" charset="-122"/>
                <a:ea typeface="楷体_GB2312" pitchFamily="49" charset="-122"/>
                <a:cs typeface="+mn-cs"/>
              </a:rPr>
              <a:t>CPU </a:t>
            </a:r>
            <a:r>
              <a:rPr lang="zh-CN" altLang="en-US" sz="2400" dirty="0">
                <a:solidFill>
                  <a:srgbClr val="2B5681"/>
                </a:solidFill>
                <a:latin typeface="楷体_GB2312" pitchFamily="49" charset="-122"/>
                <a:ea typeface="楷体_GB2312" pitchFamily="49" charset="-122"/>
                <a:cs typeface="+mn-cs"/>
              </a:rPr>
              <a:t>等</a:t>
            </a:r>
          </a:p>
          <a:p>
            <a:pPr eaLnBrk="1" hangingPunct="1">
              <a:buFont typeface="Arial" panose="020B0604020202020204" pitchFamily="34" charset="0"/>
              <a:buChar char="•"/>
              <a:defRPr/>
            </a:pPr>
            <a:r>
              <a:rPr lang="zh-CN" altLang="en-US" sz="2400" dirty="0">
                <a:latin typeface="楷体_GB2312" pitchFamily="49" charset="-122"/>
                <a:ea typeface="楷体_GB2312" pitchFamily="49" charset="-122"/>
              </a:rPr>
              <a:t>还有一些其他操作系统没有的</a:t>
            </a:r>
            <a:r>
              <a:rPr lang="zh-CN" altLang="en-US" sz="2400" dirty="0">
                <a:solidFill>
                  <a:srgbClr val="FF0000"/>
                </a:solidFill>
                <a:latin typeface="楷体_GB2312" pitchFamily="49" charset="-122"/>
                <a:ea typeface="楷体_GB2312" pitchFamily="49" charset="-122"/>
              </a:rPr>
              <a:t>特色</a:t>
            </a:r>
            <a:r>
              <a:rPr lang="zh-CN" altLang="en-US" sz="2400" dirty="0">
                <a:latin typeface="楷体_GB2312" pitchFamily="49" charset="-122"/>
                <a:ea typeface="楷体_GB2312" pitchFamily="49" charset="-122"/>
              </a:rPr>
              <a:t>，比如</a:t>
            </a:r>
            <a:r>
              <a:rPr lang="en-US" altLang="zh-CN" sz="2400" dirty="0">
                <a:latin typeface="楷体_GB2312" pitchFamily="49" charset="-122"/>
                <a:ea typeface="楷体_GB2312" pitchFamily="49" charset="-122"/>
              </a:rPr>
              <a:t>:</a:t>
            </a:r>
            <a:endParaRPr lang="zh-CN" altLang="en-US" sz="2400" dirty="0">
              <a:latin typeface="楷体_GB2312" pitchFamily="49" charset="-122"/>
              <a:ea typeface="楷体_GB2312" pitchFamily="49" charset="-122"/>
            </a:endParaRPr>
          </a:p>
          <a:p>
            <a:pPr lvl="1" eaLnBrk="1" hangingPunct="1">
              <a:buFont typeface="Arial" panose="020B0604020202020204" pitchFamily="34" charset="0"/>
              <a:buChar char="•"/>
              <a:defRPr/>
            </a:pPr>
            <a:r>
              <a:rPr lang="en-US" altLang="zh-CN" sz="2400" dirty="0">
                <a:solidFill>
                  <a:srgbClr val="2B5681"/>
                </a:solidFill>
                <a:latin typeface="楷体_GB2312" pitchFamily="49" charset="-122"/>
                <a:ea typeface="楷体_GB2312" pitchFamily="49" charset="-122"/>
                <a:cs typeface="+mn-cs"/>
              </a:rPr>
              <a:t>NFS</a:t>
            </a:r>
            <a:r>
              <a:rPr lang="zh-CN" altLang="en-US" sz="2400" dirty="0">
                <a:solidFill>
                  <a:srgbClr val="2B5681"/>
                </a:solidFill>
                <a:latin typeface="楷体_GB2312" pitchFamily="49" charset="-122"/>
                <a:ea typeface="楷体_GB2312" pitchFamily="49" charset="-122"/>
                <a:cs typeface="+mn-cs"/>
              </a:rPr>
              <a:t>，</a:t>
            </a:r>
            <a:r>
              <a:rPr lang="en-US" altLang="zh-CN" sz="2400" dirty="0">
                <a:solidFill>
                  <a:srgbClr val="2B5681"/>
                </a:solidFill>
                <a:latin typeface="楷体_GB2312" pitchFamily="49" charset="-122"/>
                <a:ea typeface="楷体_GB2312" pitchFamily="49" charset="-122"/>
                <a:cs typeface="+mn-cs"/>
              </a:rPr>
              <a:t>VFS</a:t>
            </a:r>
            <a:r>
              <a:rPr lang="zh-CN" altLang="en-US" sz="2400" dirty="0">
                <a:solidFill>
                  <a:srgbClr val="2B5681"/>
                </a:solidFill>
                <a:latin typeface="楷体_GB2312" pitchFamily="49" charset="-122"/>
                <a:ea typeface="楷体_GB2312" pitchFamily="49" charset="-122"/>
                <a:cs typeface="+mn-cs"/>
              </a:rPr>
              <a:t>，高效的</a:t>
            </a:r>
            <a:r>
              <a:rPr lang="en-US" altLang="zh-CN" sz="2400" dirty="0">
                <a:solidFill>
                  <a:srgbClr val="2B5681"/>
                </a:solidFill>
                <a:latin typeface="楷体_GB2312" pitchFamily="49" charset="-122"/>
                <a:ea typeface="楷体_GB2312" pitchFamily="49" charset="-122"/>
                <a:cs typeface="+mn-cs"/>
              </a:rPr>
              <a:t>EXT</a:t>
            </a:r>
            <a:r>
              <a:rPr lang="zh-CN" altLang="en-US" sz="2400" dirty="0">
                <a:solidFill>
                  <a:srgbClr val="2B5681"/>
                </a:solidFill>
                <a:latin typeface="楷体_GB2312" pitchFamily="49" charset="-122"/>
                <a:ea typeface="楷体_GB2312" pitchFamily="49" charset="-122"/>
                <a:cs typeface="+mn-cs"/>
              </a:rPr>
              <a:t>系列文件系统等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969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9696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9696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9696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29696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29696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29696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296963">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9696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499"/>
                                          </p:stCondLst>
                                        </p:cTn>
                                        <p:tgtEl>
                                          <p:spTgt spid="29696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3"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3283" name="Rectangle 3"/>
          <p:cNvSpPr>
            <a:spLocks noGrp="1" noChangeArrowheads="1"/>
          </p:cNvSpPr>
          <p:nvPr>
            <p:ph type="body" idx="4294967295"/>
          </p:nvPr>
        </p:nvSpPr>
        <p:spPr/>
        <p:txBody>
          <a:bodyPr/>
          <a:lstStyle/>
          <a:p>
            <a:pPr eaLnBrk="1" hangingPunct="1">
              <a:lnSpc>
                <a:spcPct val="90000"/>
              </a:lnSpc>
            </a:pPr>
            <a:r>
              <a:rPr lang="zh-CN" altLang="en-US">
                <a:solidFill>
                  <a:srgbClr val="FF0000"/>
                </a:solidFill>
                <a:latin typeface="楷体_GB2312" pitchFamily="49" charset="-122"/>
                <a:ea typeface="楷体_GB2312" pitchFamily="49" charset="-122"/>
              </a:rPr>
              <a:t>广泛的支持</a:t>
            </a:r>
          </a:p>
          <a:p>
            <a:pPr lvl="1" eaLnBrk="1" hangingPunct="1">
              <a:lnSpc>
                <a:spcPct val="90000"/>
              </a:lnSpc>
            </a:pPr>
            <a:r>
              <a:rPr lang="zh-CN" altLang="en-US">
                <a:solidFill>
                  <a:srgbClr val="2B5681"/>
                </a:solidFill>
                <a:latin typeface="楷体_GB2312" pitchFamily="49" charset="-122"/>
                <a:ea typeface="楷体_GB2312" pitchFamily="49" charset="-122"/>
              </a:rPr>
              <a:t>处理器芯片的广泛支持：</a:t>
            </a:r>
            <a:r>
              <a:rPr lang="en-US" altLang="zh-CN">
                <a:solidFill>
                  <a:srgbClr val="2B5681"/>
                </a:solidFill>
                <a:latin typeface="楷体_GB2312" pitchFamily="49" charset="-122"/>
                <a:ea typeface="楷体_GB2312" pitchFamily="49" charset="-122"/>
              </a:rPr>
              <a:t>Intel x86,SPARC</a:t>
            </a:r>
            <a:r>
              <a:rPr lang="zh-CN" altLang="en-US">
                <a:solidFill>
                  <a:srgbClr val="2B5681"/>
                </a:solidFill>
                <a:latin typeface="楷体_GB2312" pitchFamily="49" charset="-122"/>
                <a:ea typeface="楷体_GB2312" pitchFamily="49" charset="-122"/>
              </a:rPr>
              <a:t>，</a:t>
            </a:r>
            <a:r>
              <a:rPr lang="en-US" altLang="zh-CN">
                <a:solidFill>
                  <a:srgbClr val="2B5681"/>
                </a:solidFill>
                <a:latin typeface="楷体_GB2312" pitchFamily="49" charset="-122"/>
                <a:ea typeface="楷体_GB2312" pitchFamily="49" charset="-122"/>
              </a:rPr>
              <a:t>PowerPC,Alpha,IA64</a:t>
            </a:r>
          </a:p>
          <a:p>
            <a:pPr lvl="1" eaLnBrk="1" hangingPunct="1">
              <a:lnSpc>
                <a:spcPct val="90000"/>
              </a:lnSpc>
            </a:pPr>
            <a:r>
              <a:rPr lang="zh-CN" altLang="en-US">
                <a:solidFill>
                  <a:srgbClr val="2B5681"/>
                </a:solidFill>
                <a:latin typeface="楷体_GB2312" pitchFamily="49" charset="-122"/>
                <a:ea typeface="楷体_GB2312" pitchFamily="49" charset="-122"/>
              </a:rPr>
              <a:t>硬件公司：</a:t>
            </a:r>
            <a:r>
              <a:rPr lang="en-US" altLang="zh-CN">
                <a:solidFill>
                  <a:srgbClr val="2B5681"/>
                </a:solidFill>
                <a:latin typeface="楷体_GB2312" pitchFamily="49" charset="-122"/>
                <a:ea typeface="楷体_GB2312" pitchFamily="49" charset="-122"/>
              </a:rPr>
              <a:t>IBM</a:t>
            </a:r>
            <a:r>
              <a:rPr lang="zh-CN" altLang="en-US">
                <a:solidFill>
                  <a:srgbClr val="2B5681"/>
                </a:solidFill>
                <a:latin typeface="楷体_GB2312" pitchFamily="49" charset="-122"/>
                <a:ea typeface="楷体_GB2312" pitchFamily="49" charset="-122"/>
              </a:rPr>
              <a:t>，</a:t>
            </a:r>
            <a:r>
              <a:rPr lang="en-US" altLang="zh-CN">
                <a:solidFill>
                  <a:srgbClr val="2B5681"/>
                </a:solidFill>
                <a:latin typeface="楷体_GB2312" pitchFamily="49" charset="-122"/>
                <a:ea typeface="楷体_GB2312" pitchFamily="49" charset="-122"/>
              </a:rPr>
              <a:t>HP</a:t>
            </a:r>
            <a:r>
              <a:rPr lang="zh-CN" altLang="en-US">
                <a:solidFill>
                  <a:srgbClr val="2B5681"/>
                </a:solidFill>
                <a:latin typeface="楷体_GB2312" pitchFamily="49" charset="-122"/>
                <a:ea typeface="楷体_GB2312" pitchFamily="49" charset="-122"/>
              </a:rPr>
              <a:t>，</a:t>
            </a:r>
            <a:r>
              <a:rPr lang="en-US" altLang="zh-CN">
                <a:solidFill>
                  <a:srgbClr val="2B5681"/>
                </a:solidFill>
                <a:latin typeface="楷体_GB2312" pitchFamily="49" charset="-122"/>
                <a:ea typeface="楷体_GB2312" pitchFamily="49" charset="-122"/>
              </a:rPr>
              <a:t>Sun</a:t>
            </a:r>
            <a:r>
              <a:rPr lang="zh-CN" altLang="en-US">
                <a:solidFill>
                  <a:srgbClr val="2B5681"/>
                </a:solidFill>
                <a:latin typeface="楷体_GB2312" pitchFamily="49" charset="-122"/>
                <a:ea typeface="楷体_GB2312" pitchFamily="49" charset="-122"/>
              </a:rPr>
              <a:t>，</a:t>
            </a:r>
            <a:r>
              <a:rPr lang="en-US" altLang="zh-CN">
                <a:solidFill>
                  <a:srgbClr val="2B5681"/>
                </a:solidFill>
                <a:latin typeface="楷体_GB2312" pitchFamily="49" charset="-122"/>
                <a:ea typeface="楷体_GB2312" pitchFamily="49" charset="-122"/>
              </a:rPr>
              <a:t>Intel</a:t>
            </a:r>
            <a:r>
              <a:rPr lang="zh-CN" altLang="en-US">
                <a:solidFill>
                  <a:srgbClr val="2B5681"/>
                </a:solidFill>
                <a:latin typeface="楷体_GB2312" pitchFamily="49" charset="-122"/>
                <a:ea typeface="楷体_GB2312" pitchFamily="49" charset="-122"/>
              </a:rPr>
              <a:t>，</a:t>
            </a:r>
            <a:r>
              <a:rPr lang="en-US" altLang="zh-CN">
                <a:solidFill>
                  <a:srgbClr val="2B5681"/>
                </a:solidFill>
                <a:latin typeface="楷体_GB2312" pitchFamily="49" charset="-122"/>
                <a:ea typeface="楷体_GB2312" pitchFamily="49" charset="-122"/>
              </a:rPr>
              <a:t>AMD</a:t>
            </a:r>
            <a:r>
              <a:rPr lang="zh-CN" altLang="en-US">
                <a:solidFill>
                  <a:srgbClr val="2B5681"/>
                </a:solidFill>
                <a:latin typeface="楷体_GB2312" pitchFamily="49" charset="-122"/>
                <a:ea typeface="楷体_GB2312" pitchFamily="49" charset="-122"/>
              </a:rPr>
              <a:t>，</a:t>
            </a:r>
            <a:r>
              <a:rPr lang="en-US" altLang="zh-CN">
                <a:solidFill>
                  <a:srgbClr val="2B5681"/>
                </a:solidFill>
                <a:latin typeface="楷体_GB2312" pitchFamily="49" charset="-122"/>
                <a:ea typeface="楷体_GB2312" pitchFamily="49" charset="-122"/>
              </a:rPr>
              <a:t>Sony</a:t>
            </a:r>
            <a:endParaRPr lang="zh-CN" altLang="en-US">
              <a:solidFill>
                <a:srgbClr val="2B5681"/>
              </a:solidFill>
              <a:latin typeface="楷体_GB2312" pitchFamily="49" charset="-122"/>
              <a:ea typeface="楷体_GB2312" pitchFamily="49" charset="-122"/>
            </a:endParaRPr>
          </a:p>
          <a:p>
            <a:pPr lvl="1" eaLnBrk="1" hangingPunct="1">
              <a:lnSpc>
                <a:spcPct val="90000"/>
              </a:lnSpc>
            </a:pPr>
            <a:r>
              <a:rPr lang="zh-CN" altLang="en-US">
                <a:solidFill>
                  <a:srgbClr val="2B5681"/>
                </a:solidFill>
                <a:latin typeface="楷体_GB2312" pitchFamily="49" charset="-122"/>
                <a:ea typeface="楷体_GB2312" pitchFamily="49" charset="-122"/>
              </a:rPr>
              <a:t>软件公司：</a:t>
            </a:r>
            <a:r>
              <a:rPr lang="en-US" altLang="zh-CN">
                <a:solidFill>
                  <a:srgbClr val="2B5681"/>
                </a:solidFill>
                <a:latin typeface="楷体_GB2312" pitchFamily="49" charset="-122"/>
                <a:ea typeface="楷体_GB2312" pitchFamily="49" charset="-122"/>
              </a:rPr>
              <a:t>Oracle</a:t>
            </a:r>
            <a:r>
              <a:rPr lang="zh-CN" altLang="en-US">
                <a:solidFill>
                  <a:srgbClr val="2B5681"/>
                </a:solidFill>
                <a:latin typeface="楷体_GB2312" pitchFamily="49" charset="-122"/>
                <a:ea typeface="楷体_GB2312" pitchFamily="49" charset="-122"/>
              </a:rPr>
              <a:t>、</a:t>
            </a:r>
            <a:r>
              <a:rPr lang="en-US" altLang="zh-CN">
                <a:solidFill>
                  <a:srgbClr val="2B5681"/>
                </a:solidFill>
                <a:latin typeface="楷体_GB2312" pitchFamily="49" charset="-122"/>
                <a:ea typeface="楷体_GB2312" pitchFamily="49" charset="-122"/>
              </a:rPr>
              <a:t>Informix</a:t>
            </a:r>
            <a:r>
              <a:rPr lang="zh-CN" altLang="en-US">
                <a:solidFill>
                  <a:srgbClr val="2B5681"/>
                </a:solidFill>
                <a:latin typeface="楷体_GB2312" pitchFamily="49" charset="-122"/>
                <a:ea typeface="楷体_GB2312" pitchFamily="49" charset="-122"/>
              </a:rPr>
              <a:t>、</a:t>
            </a:r>
            <a:r>
              <a:rPr lang="en-US" altLang="zh-CN">
                <a:solidFill>
                  <a:srgbClr val="2B5681"/>
                </a:solidFill>
                <a:latin typeface="楷体_GB2312" pitchFamily="49" charset="-122"/>
                <a:ea typeface="楷体_GB2312" pitchFamily="49" charset="-122"/>
              </a:rPr>
              <a:t>Ingres</a:t>
            </a:r>
            <a:r>
              <a:rPr lang="zh-CN" altLang="en-US">
                <a:solidFill>
                  <a:srgbClr val="2B5681"/>
                </a:solidFill>
                <a:latin typeface="楷体_GB2312" pitchFamily="49" charset="-122"/>
                <a:ea typeface="楷体_GB2312" pitchFamily="49" charset="-122"/>
              </a:rPr>
              <a:t>，</a:t>
            </a:r>
            <a:r>
              <a:rPr lang="en-US" altLang="zh-CN">
                <a:solidFill>
                  <a:srgbClr val="2B5681"/>
                </a:solidFill>
                <a:latin typeface="楷体_GB2312" pitchFamily="49" charset="-122"/>
                <a:ea typeface="楷体_GB2312" pitchFamily="49" charset="-122"/>
              </a:rPr>
              <a:t>SAP</a:t>
            </a:r>
            <a:r>
              <a:rPr lang="zh-CN" altLang="en-US">
                <a:solidFill>
                  <a:srgbClr val="2B5681"/>
                </a:solidFill>
                <a:latin typeface="楷体_GB2312" pitchFamily="49" charset="-122"/>
                <a:ea typeface="楷体_GB2312" pitchFamily="49" charset="-122"/>
              </a:rPr>
              <a:t>，</a:t>
            </a:r>
            <a:r>
              <a:rPr lang="en-US" altLang="zh-CN">
                <a:solidFill>
                  <a:srgbClr val="2B5681"/>
                </a:solidFill>
                <a:latin typeface="楷体_GB2312" pitchFamily="49" charset="-122"/>
                <a:ea typeface="楷体_GB2312" pitchFamily="49" charset="-122"/>
              </a:rPr>
              <a:t>Borland</a:t>
            </a:r>
            <a:r>
              <a:rPr lang="zh-CN" altLang="en-US">
                <a:solidFill>
                  <a:srgbClr val="2B5681"/>
                </a:solidFill>
                <a:latin typeface="楷体_GB2312" pitchFamily="49" charset="-122"/>
                <a:ea typeface="楷体_GB2312" pitchFamily="49" charset="-122"/>
              </a:rPr>
              <a:t>等</a:t>
            </a:r>
          </a:p>
          <a:p>
            <a:pPr lvl="1" eaLnBrk="1" hangingPunct="1">
              <a:lnSpc>
                <a:spcPct val="90000"/>
              </a:lnSpc>
            </a:pPr>
            <a:r>
              <a:rPr lang="zh-CN" altLang="en-US">
                <a:solidFill>
                  <a:srgbClr val="2B5681"/>
                </a:solidFill>
                <a:latin typeface="楷体_GB2312" pitchFamily="49" charset="-122"/>
                <a:ea typeface="楷体_GB2312" pitchFamily="49" charset="-122"/>
              </a:rPr>
              <a:t>对即插即用设备的支持</a:t>
            </a:r>
          </a:p>
          <a:p>
            <a:pPr lvl="1" eaLnBrk="1" hangingPunct="1">
              <a:lnSpc>
                <a:spcPct val="90000"/>
              </a:lnSpc>
            </a:pPr>
            <a:r>
              <a:rPr lang="zh-CN" altLang="en-US">
                <a:solidFill>
                  <a:srgbClr val="2B5681"/>
                </a:solidFill>
                <a:latin typeface="楷体_GB2312" pitchFamily="49" charset="-122"/>
                <a:ea typeface="楷体_GB2312" pitchFamily="49" charset="-122"/>
              </a:rPr>
              <a:t>广泛的文件系统的支持：</a:t>
            </a:r>
            <a:r>
              <a:rPr lang="en-US" altLang="zh-CN">
                <a:solidFill>
                  <a:srgbClr val="2B5681"/>
                </a:solidFill>
                <a:latin typeface="楷体_GB2312" pitchFamily="49" charset="-122"/>
                <a:ea typeface="楷体_GB2312" pitchFamily="49" charset="-122"/>
              </a:rPr>
              <a:t>VFAT,FAT,HFS,HPFS,NTFS,Ext2</a:t>
            </a:r>
            <a:r>
              <a:rPr lang="zh-CN" altLang="en-US">
                <a:solidFill>
                  <a:srgbClr val="2B5681"/>
                </a:solidFill>
                <a:latin typeface="楷体_GB2312" pitchFamily="49" charset="-122"/>
                <a:ea typeface="楷体_GB2312" pitchFamily="49" charset="-122"/>
              </a:rPr>
              <a:t>等</a:t>
            </a:r>
            <a:endParaRPr lang="en-US" altLang="zh-CN">
              <a:solidFill>
                <a:srgbClr val="2B5681"/>
              </a:solidFill>
              <a:latin typeface="楷体_GB2312" pitchFamily="49" charset="-122"/>
              <a:ea typeface="楷体_GB2312" pitchFamily="49" charset="-122"/>
            </a:endParaRPr>
          </a:p>
          <a:p>
            <a:pPr lvl="1" eaLnBrk="1" hangingPunct="1">
              <a:lnSpc>
                <a:spcPct val="90000"/>
              </a:lnSpc>
            </a:pPr>
            <a:r>
              <a:rPr lang="zh-CN" altLang="en-US">
                <a:solidFill>
                  <a:srgbClr val="2B5681"/>
                </a:solidFill>
                <a:latin typeface="楷体_GB2312" pitchFamily="49" charset="-122"/>
                <a:ea typeface="楷体_GB2312" pitchFamily="49" charset="-122"/>
              </a:rPr>
              <a:t>大型数据库公司的支持：</a:t>
            </a:r>
            <a:r>
              <a:rPr lang="en-US" altLang="zh-CN">
                <a:solidFill>
                  <a:srgbClr val="2B5681"/>
                </a:solidFill>
                <a:latin typeface="楷体_GB2312" pitchFamily="49" charset="-122"/>
                <a:ea typeface="楷体_GB2312" pitchFamily="49" charset="-122"/>
              </a:rPr>
              <a:t>Oracle</a:t>
            </a:r>
            <a:r>
              <a:rPr lang="zh-CN" altLang="en-US">
                <a:solidFill>
                  <a:srgbClr val="2B5681"/>
                </a:solidFill>
                <a:latin typeface="楷体_GB2312" pitchFamily="49" charset="-122"/>
                <a:ea typeface="楷体_GB2312" pitchFamily="49" charset="-122"/>
              </a:rPr>
              <a:t>、</a:t>
            </a:r>
            <a:r>
              <a:rPr lang="en-US" altLang="zh-CN">
                <a:solidFill>
                  <a:srgbClr val="2B5681"/>
                </a:solidFill>
                <a:latin typeface="楷体_GB2312" pitchFamily="49" charset="-122"/>
                <a:ea typeface="楷体_GB2312" pitchFamily="49" charset="-122"/>
              </a:rPr>
              <a:t>Informix</a:t>
            </a:r>
            <a:r>
              <a:rPr lang="zh-CN" altLang="en-US">
                <a:solidFill>
                  <a:srgbClr val="2B5681"/>
                </a:solidFill>
                <a:latin typeface="楷体_GB2312" pitchFamily="49" charset="-122"/>
                <a:ea typeface="楷体_GB2312" pitchFamily="49" charset="-122"/>
              </a:rPr>
              <a:t>、</a:t>
            </a:r>
            <a:r>
              <a:rPr lang="en-US" altLang="zh-CN">
                <a:solidFill>
                  <a:srgbClr val="2B5681"/>
                </a:solidFill>
                <a:latin typeface="楷体_GB2312" pitchFamily="49" charset="-122"/>
                <a:ea typeface="楷体_GB2312" pitchFamily="49" charset="-122"/>
              </a:rPr>
              <a:t>Ingres</a:t>
            </a:r>
            <a:endParaRPr lang="zh-CN" altLang="en-US" sz="2300">
              <a:solidFill>
                <a:srgbClr val="2B5681"/>
              </a:solidFill>
              <a:latin typeface="楷体_GB2312" pitchFamily="49" charset="-122"/>
              <a:ea typeface="楷体_GB2312" pitchFamily="49" charset="-122"/>
            </a:endParaRPr>
          </a:p>
          <a:p>
            <a:pPr eaLnBrk="1" hangingPunct="1">
              <a:lnSpc>
                <a:spcPct val="90000"/>
              </a:lnSpc>
              <a:buClr>
                <a:schemeClr val="tx2"/>
              </a:buClr>
              <a:buSzPct val="60000"/>
              <a:buFont typeface="Wingdings" panose="05000000000000000000" pitchFamily="2" charset="2"/>
              <a:buChar char="n"/>
            </a:pPr>
            <a:endParaRPr lang="en-US" altLang="zh-CN" sz="2600">
              <a:solidFill>
                <a:srgbClr val="008080"/>
              </a:solidFill>
              <a:latin typeface="楷体_GB2312" pitchFamily="49" charset="-122"/>
              <a:ea typeface="楷体_GB2312" pitchFamily="49" charset="-122"/>
            </a:endParaRPr>
          </a:p>
        </p:txBody>
      </p:sp>
      <p:sp>
        <p:nvSpPr>
          <p:cNvPr id="28675" name="Rectangle 2052"/>
          <p:cNvSpPr>
            <a:spLocks noChangeArrowheads="1"/>
          </p:cNvSpPr>
          <p:nvPr/>
        </p:nvSpPr>
        <p:spPr bwMode="black">
          <a:xfrm>
            <a:off x="762000" y="1524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eaLnBrk="1" hangingPunct="1">
              <a:spcBef>
                <a:spcPct val="0"/>
              </a:spcBef>
              <a:buClrTx/>
              <a:buFontTx/>
              <a:buNone/>
            </a:pPr>
            <a:r>
              <a:rPr lang="en-US" altLang="zh-CN" sz="3200">
                <a:solidFill>
                  <a:schemeClr val="tx1"/>
                </a:solidFill>
                <a:latin typeface="楷体_GB2312" pitchFamily="49" charset="-122"/>
                <a:ea typeface="楷体_GB2312" pitchFamily="49" charset="-122"/>
              </a:rPr>
              <a:t>3</a:t>
            </a:r>
            <a:r>
              <a:rPr lang="zh-CN" altLang="en-US" sz="3200">
                <a:solidFill>
                  <a:schemeClr val="tx1"/>
                </a:solidFill>
                <a:latin typeface="楷体_GB2312" pitchFamily="49" charset="-122"/>
                <a:ea typeface="楷体_GB2312" pitchFamily="49" charset="-122"/>
              </a:rPr>
              <a:t>、</a:t>
            </a:r>
            <a:r>
              <a:rPr lang="en-US" altLang="zh-CN" sz="3200">
                <a:solidFill>
                  <a:schemeClr val="tx1"/>
                </a:solidFill>
                <a:latin typeface="楷体_GB2312" pitchFamily="49" charset="-122"/>
                <a:ea typeface="楷体_GB2312" pitchFamily="49" charset="-122"/>
              </a:rPr>
              <a:t>Linux</a:t>
            </a:r>
            <a:r>
              <a:rPr lang="zh-CN" altLang="en-US" sz="3200" b="0">
                <a:solidFill>
                  <a:schemeClr val="tx1"/>
                </a:solidFill>
                <a:latin typeface="楷体_GB2312" pitchFamily="49" charset="-122"/>
                <a:ea typeface="楷体_GB2312" pitchFamily="49" charset="-122"/>
              </a:rPr>
              <a:t>系统</a:t>
            </a:r>
            <a:r>
              <a:rPr lang="zh-CN" altLang="en-US" sz="3200">
                <a:solidFill>
                  <a:schemeClr val="tx1"/>
                </a:solidFill>
                <a:latin typeface="楷体_GB2312" pitchFamily="49" charset="-122"/>
                <a:ea typeface="楷体_GB2312" pitchFamily="49" charset="-122"/>
              </a:rPr>
              <a:t>的主要特点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32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35328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35328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35328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35328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35328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35328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83"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dirty="0">
                <a:solidFill>
                  <a:srgbClr val="FF0000"/>
                </a:solidFill>
                <a:latin typeface="楷体_GB2312" pitchFamily="49" charset="-122"/>
                <a:ea typeface="楷体_GB2312" pitchFamily="49" charset="-122"/>
              </a:rPr>
              <a:t>企业应用领域</a:t>
            </a:r>
          </a:p>
          <a:p>
            <a:pPr lvl="1" eaLnBrk="1" hangingPunct="1">
              <a:buFont typeface="Arial" panose="020B0604020202020204" pitchFamily="34" charset="0"/>
              <a:buChar char="•"/>
            </a:pPr>
            <a:r>
              <a:rPr lang="zh-CN" altLang="en-US" dirty="0">
                <a:solidFill>
                  <a:srgbClr val="2B5681"/>
                </a:solidFill>
                <a:latin typeface="楷体_GB2312" pitchFamily="49" charset="-122"/>
                <a:ea typeface="楷体_GB2312" pitchFamily="49" charset="-122"/>
              </a:rPr>
              <a:t>成熟的服务器级的操作系统、大型文件系统、多处理器、日志型文件系统、高可用集群、提供</a:t>
            </a:r>
            <a:r>
              <a:rPr lang="en-US" altLang="zh-CN" dirty="0">
                <a:solidFill>
                  <a:srgbClr val="2B5681"/>
                </a:solidFill>
                <a:latin typeface="楷体_GB2312" pitchFamily="49" charset="-122"/>
                <a:ea typeface="楷体_GB2312" pitchFamily="49" charset="-122"/>
              </a:rPr>
              <a:t>Web</a:t>
            </a:r>
            <a:r>
              <a:rPr lang="zh-CN" altLang="en-US" dirty="0">
                <a:solidFill>
                  <a:srgbClr val="2B5681"/>
                </a:solidFill>
                <a:latin typeface="楷体_GB2312" pitchFamily="49" charset="-122"/>
                <a:ea typeface="楷体_GB2312" pitchFamily="49" charset="-122"/>
              </a:rPr>
              <a:t>服务等</a:t>
            </a:r>
            <a:endParaRPr lang="en-US" altLang="zh-CN" dirty="0">
              <a:solidFill>
                <a:srgbClr val="2B5681"/>
              </a:solidFill>
              <a:latin typeface="楷体_GB2312" pitchFamily="49" charset="-122"/>
              <a:ea typeface="楷体_GB2312" pitchFamily="49" charset="-122"/>
            </a:endParaRPr>
          </a:p>
          <a:p>
            <a:pPr eaLnBrk="1" hangingPunct="1">
              <a:buFont typeface="Arial" panose="020B0604020202020204" pitchFamily="34" charset="0"/>
              <a:buChar char="•"/>
            </a:pPr>
            <a:r>
              <a:rPr lang="zh-CN" altLang="en-US" dirty="0">
                <a:solidFill>
                  <a:srgbClr val="FF0000"/>
                </a:solidFill>
                <a:latin typeface="楷体_GB2312" pitchFamily="49" charset="-122"/>
                <a:ea typeface="楷体_GB2312" pitchFamily="49" charset="-122"/>
              </a:rPr>
              <a:t>嵌入式领域</a:t>
            </a:r>
          </a:p>
          <a:p>
            <a:pPr lvl="1" eaLnBrk="1" hangingPunct="1">
              <a:buFont typeface="Arial" panose="020B0604020202020204" pitchFamily="34" charset="0"/>
              <a:buChar char="•"/>
            </a:pPr>
            <a:r>
              <a:rPr lang="zh-CN" altLang="en-US" dirty="0">
                <a:solidFill>
                  <a:srgbClr val="2B5681"/>
                </a:solidFill>
                <a:latin typeface="楷体_GB2312" pitchFamily="49" charset="-122"/>
                <a:ea typeface="楷体_GB2312" pitchFamily="49" charset="-122"/>
              </a:rPr>
              <a:t>商业化的嵌入式操作系统：</a:t>
            </a:r>
            <a:r>
              <a:rPr lang="en-US" altLang="zh-CN" dirty="0" err="1">
                <a:solidFill>
                  <a:srgbClr val="2B5681"/>
                </a:solidFill>
                <a:latin typeface="楷体_GB2312" pitchFamily="49" charset="-122"/>
                <a:ea typeface="楷体_GB2312" pitchFamily="49" charset="-122"/>
              </a:rPr>
              <a:t>VxWorks,pSOS</a:t>
            </a:r>
            <a:r>
              <a:rPr lang="zh-CN" altLang="en-US" dirty="0">
                <a:solidFill>
                  <a:srgbClr val="2B5681"/>
                </a:solidFill>
                <a:latin typeface="楷体_GB2312" pitchFamily="49" charset="-122"/>
                <a:ea typeface="楷体_GB2312" pitchFamily="49" charset="-122"/>
              </a:rPr>
              <a:t>，</a:t>
            </a:r>
            <a:r>
              <a:rPr lang="en-US" altLang="zh-CN" dirty="0">
                <a:solidFill>
                  <a:srgbClr val="2B5681"/>
                </a:solidFill>
                <a:latin typeface="楷体_GB2312" pitchFamily="49" charset="-122"/>
                <a:ea typeface="楷体_GB2312" pitchFamily="49" charset="-122"/>
              </a:rPr>
              <a:t>Windows CE</a:t>
            </a:r>
            <a:r>
              <a:rPr lang="zh-CN" altLang="en-US" dirty="0">
                <a:solidFill>
                  <a:srgbClr val="2B5681"/>
                </a:solidFill>
                <a:latin typeface="楷体_GB2312" pitchFamily="49" charset="-122"/>
                <a:ea typeface="楷体_GB2312" pitchFamily="49" charset="-122"/>
              </a:rPr>
              <a:t>等：高价格，源代码封闭</a:t>
            </a:r>
          </a:p>
          <a:p>
            <a:pPr lvl="1" eaLnBrk="1" hangingPunct="1">
              <a:buFont typeface="Arial" panose="020B0604020202020204" pitchFamily="34" charset="0"/>
              <a:buChar char="•"/>
            </a:pPr>
            <a:r>
              <a:rPr lang="en-US" altLang="zh-CN" dirty="0">
                <a:solidFill>
                  <a:srgbClr val="2B5681"/>
                </a:solidFill>
                <a:latin typeface="楷体_GB2312" pitchFamily="49" charset="-122"/>
                <a:ea typeface="楷体_GB2312" pitchFamily="49" charset="-122"/>
              </a:rPr>
              <a:t>Linux</a:t>
            </a:r>
            <a:r>
              <a:rPr lang="zh-CN" altLang="en-US" dirty="0">
                <a:solidFill>
                  <a:srgbClr val="2B5681"/>
                </a:solidFill>
                <a:latin typeface="楷体_GB2312" pitchFamily="49" charset="-122"/>
                <a:ea typeface="楷体_GB2312" pitchFamily="49" charset="-122"/>
              </a:rPr>
              <a:t>在嵌入式系统蓬勃发展，广泛应用</a:t>
            </a:r>
          </a:p>
          <a:p>
            <a:pPr lvl="2" eaLnBrk="1" hangingPunct="1">
              <a:buFont typeface="Arial" panose="020B0604020202020204" pitchFamily="34" charset="0"/>
              <a:buChar char="•"/>
            </a:pPr>
            <a:r>
              <a:rPr lang="zh-CN" altLang="en-US" b="1" dirty="0">
                <a:solidFill>
                  <a:srgbClr val="2B5681"/>
                </a:solidFill>
                <a:latin typeface="楷体_GB2312" pitchFamily="49" charset="-122"/>
                <a:ea typeface="楷体_GB2312" pitchFamily="49" charset="-122"/>
              </a:rPr>
              <a:t>路由器，防火墙，机顶盒，电器设备</a:t>
            </a:r>
          </a:p>
          <a:p>
            <a:pPr eaLnBrk="1" hangingPunct="1"/>
            <a:endParaRPr lang="zh-CN" altLang="en-US" dirty="0">
              <a:latin typeface="楷体_GB2312" pitchFamily="49" charset="-122"/>
              <a:ea typeface="楷体_GB2312" pitchFamily="49" charset="-122"/>
            </a:endParaRPr>
          </a:p>
        </p:txBody>
      </p:sp>
      <p:sp>
        <p:nvSpPr>
          <p:cNvPr id="29699" name="Rectangle 2052"/>
          <p:cNvSpPr>
            <a:spLocks noChangeArrowheads="1"/>
          </p:cNvSpPr>
          <p:nvPr/>
        </p:nvSpPr>
        <p:spPr bwMode="black">
          <a:xfrm>
            <a:off x="762000" y="1524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eaLnBrk="1" hangingPunct="1">
              <a:spcBef>
                <a:spcPct val="0"/>
              </a:spcBef>
              <a:buClrTx/>
              <a:buFontTx/>
              <a:buNone/>
            </a:pPr>
            <a:r>
              <a:rPr lang="en-US" altLang="zh-CN" sz="3200">
                <a:solidFill>
                  <a:schemeClr val="tx1"/>
                </a:solidFill>
                <a:latin typeface="楷体_GB2312" pitchFamily="49" charset="-122"/>
                <a:ea typeface="楷体_GB2312" pitchFamily="49" charset="-122"/>
              </a:rPr>
              <a:t>3</a:t>
            </a:r>
            <a:r>
              <a:rPr lang="zh-CN" altLang="en-US" sz="3200">
                <a:solidFill>
                  <a:schemeClr val="tx1"/>
                </a:solidFill>
                <a:latin typeface="楷体_GB2312" pitchFamily="49" charset="-122"/>
                <a:ea typeface="楷体_GB2312" pitchFamily="49" charset="-122"/>
              </a:rPr>
              <a:t>、</a:t>
            </a:r>
            <a:r>
              <a:rPr lang="en-US" altLang="zh-CN" sz="3200">
                <a:solidFill>
                  <a:schemeClr val="tx1"/>
                </a:solidFill>
                <a:latin typeface="楷体_GB2312" pitchFamily="49" charset="-122"/>
                <a:ea typeface="楷体_GB2312" pitchFamily="49" charset="-122"/>
              </a:rPr>
              <a:t>Linux</a:t>
            </a:r>
            <a:r>
              <a:rPr lang="zh-CN" altLang="en-US" sz="3200" b="0">
                <a:solidFill>
                  <a:schemeClr val="tx1"/>
                </a:solidFill>
                <a:latin typeface="楷体_GB2312" pitchFamily="49" charset="-122"/>
                <a:ea typeface="楷体_GB2312" pitchFamily="49" charset="-122"/>
              </a:rPr>
              <a:t>系统</a:t>
            </a:r>
            <a:r>
              <a:rPr lang="zh-CN" altLang="en-US" sz="3200">
                <a:solidFill>
                  <a:schemeClr val="tx1"/>
                </a:solidFill>
                <a:latin typeface="楷体_GB2312" pitchFamily="49" charset="-122"/>
                <a:ea typeface="楷体_GB2312" pitchFamily="49" charset="-122"/>
              </a:rPr>
              <a:t>的主要特点</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7987" name="Rectangle 2051"/>
          <p:cNvSpPr>
            <a:spLocks noGrp="1" noChangeArrowheads="1"/>
          </p:cNvSpPr>
          <p:nvPr>
            <p:ph type="body" idx="4294967295"/>
          </p:nvPr>
        </p:nvSpPr>
        <p:spPr>
          <a:xfrm>
            <a:off x="622300" y="1268413"/>
            <a:ext cx="8051800" cy="4781550"/>
          </a:xfrm>
        </p:spPr>
        <p:txBody>
          <a:bodyPr/>
          <a:lstStyle/>
          <a:p>
            <a:pPr eaLnBrk="1" hangingPunct="1">
              <a:buFont typeface="Arial" panose="020B0604020202020204" pitchFamily="34" charset="0"/>
              <a:buChar char="•"/>
            </a:pPr>
            <a:r>
              <a:rPr lang="zh-CN" altLang="en-US" sz="2400" dirty="0">
                <a:solidFill>
                  <a:srgbClr val="FF0000"/>
                </a:solidFill>
                <a:latin typeface="楷体_GB2312" pitchFamily="49" charset="-122"/>
                <a:ea typeface="楷体_GB2312" pitchFamily="49" charset="-122"/>
              </a:rPr>
              <a:t>设备独立性：</a:t>
            </a:r>
            <a:r>
              <a:rPr lang="zh-CN" altLang="en-US" sz="2400" dirty="0">
                <a:latin typeface="楷体_GB2312" pitchFamily="49" charset="-122"/>
                <a:ea typeface="楷体_GB2312" pitchFamily="49" charset="-122"/>
              </a:rPr>
              <a:t>把所有外部设备统一当作成文件来看待，只要安装它们的驱动程序，用户可以象使用文件一样使用设备</a:t>
            </a:r>
          </a:p>
          <a:p>
            <a:pPr eaLnBrk="1" hangingPunct="1">
              <a:buFont typeface="Arial" panose="020B0604020202020204" pitchFamily="34" charset="0"/>
              <a:buChar char="•"/>
            </a:pPr>
            <a:r>
              <a:rPr lang="zh-CN" altLang="en-US" sz="2400" dirty="0">
                <a:solidFill>
                  <a:srgbClr val="FF0000"/>
                </a:solidFill>
                <a:latin typeface="楷体_GB2312" pitchFamily="49" charset="-122"/>
                <a:ea typeface="楷体_GB2312" pitchFamily="49" charset="-122"/>
              </a:rPr>
              <a:t>丰富的网络功能</a:t>
            </a:r>
            <a:r>
              <a:rPr lang="zh-CN" altLang="en-US" sz="2400" dirty="0">
                <a:latin typeface="楷体_GB2312" pitchFamily="49" charset="-122"/>
                <a:ea typeface="楷体_GB2312" pitchFamily="49" charset="-122"/>
              </a:rPr>
              <a:t>：具有完善的内置网络，大量有用的实用程序和通信、联网工具，可以实现远程管理功能</a:t>
            </a:r>
          </a:p>
          <a:p>
            <a:pPr eaLnBrk="1" hangingPunct="1">
              <a:buFont typeface="Arial" panose="020B0604020202020204" pitchFamily="34" charset="0"/>
              <a:buChar char="•"/>
            </a:pPr>
            <a:r>
              <a:rPr lang="zh-CN" altLang="en-US" sz="2400" dirty="0">
                <a:solidFill>
                  <a:srgbClr val="FF0000"/>
                </a:solidFill>
                <a:latin typeface="楷体_GB2312" pitchFamily="49" charset="-122"/>
                <a:ea typeface="楷体_GB2312" pitchFamily="49" charset="-122"/>
              </a:rPr>
              <a:t>性能高和安全性强</a:t>
            </a: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Linux</a:t>
            </a:r>
            <a:r>
              <a:rPr lang="zh-CN" altLang="en-US" sz="2400" dirty="0">
                <a:latin typeface="楷体_GB2312" pitchFamily="49" charset="-122"/>
                <a:ea typeface="楷体_GB2312" pitchFamily="49" charset="-122"/>
              </a:rPr>
              <a:t>采取了许多安全技术措施，包括对读、写控制、带保护的子系统、审计跟踪、核心授权等，可以作为中小型</a:t>
            </a:r>
            <a:r>
              <a:rPr lang="en-US" altLang="zh-CN" sz="2400" dirty="0">
                <a:latin typeface="楷体_GB2312" pitchFamily="49" charset="-122"/>
                <a:ea typeface="楷体_GB2312" pitchFamily="49" charset="-122"/>
              </a:rPr>
              <a:t>ISP</a:t>
            </a:r>
            <a:r>
              <a:rPr lang="zh-CN" altLang="en-US" sz="2400" dirty="0">
                <a:latin typeface="楷体_GB2312" pitchFamily="49" charset="-122"/>
                <a:ea typeface="楷体_GB2312" pitchFamily="49" charset="-122"/>
              </a:rPr>
              <a:t>或</a:t>
            </a:r>
            <a:r>
              <a:rPr lang="en-US" altLang="zh-CN" sz="2400" dirty="0">
                <a:latin typeface="楷体_GB2312" pitchFamily="49" charset="-122"/>
                <a:ea typeface="楷体_GB2312" pitchFamily="49" charset="-122"/>
              </a:rPr>
              <a:t>Web</a:t>
            </a:r>
            <a:r>
              <a:rPr lang="zh-CN" altLang="en-US" sz="2400" dirty="0">
                <a:latin typeface="楷体_GB2312" pitchFamily="49" charset="-122"/>
                <a:ea typeface="楷体_GB2312" pitchFamily="49" charset="-122"/>
              </a:rPr>
              <a:t>服务器工作平台。</a:t>
            </a:r>
          </a:p>
          <a:p>
            <a:pPr eaLnBrk="1" hangingPunct="1">
              <a:buFont typeface="Arial" panose="020B0604020202020204" pitchFamily="34" charset="0"/>
              <a:buChar char="•"/>
            </a:pPr>
            <a:r>
              <a:rPr lang="zh-CN" altLang="en-US" sz="2400" dirty="0">
                <a:solidFill>
                  <a:srgbClr val="FF0000"/>
                </a:solidFill>
                <a:latin typeface="楷体_GB2312" pitchFamily="49" charset="-122"/>
                <a:ea typeface="楷体_GB2312" pitchFamily="49" charset="-122"/>
              </a:rPr>
              <a:t>便于定制和再开发</a:t>
            </a:r>
            <a:r>
              <a:rPr lang="zh-CN" altLang="en-US" sz="2400" dirty="0">
                <a:latin typeface="楷体_GB2312" pitchFamily="49" charset="-122"/>
                <a:ea typeface="楷体_GB2312" pitchFamily="49" charset="-122"/>
              </a:rPr>
              <a:t>：在遵从</a:t>
            </a:r>
            <a:r>
              <a:rPr lang="en-US" altLang="zh-CN" sz="2400" dirty="0">
                <a:latin typeface="楷体_GB2312" pitchFamily="49" charset="-122"/>
                <a:ea typeface="楷体_GB2312" pitchFamily="49" charset="-122"/>
              </a:rPr>
              <a:t>GPL</a:t>
            </a:r>
            <a:r>
              <a:rPr lang="zh-CN" altLang="en-US" sz="2400" dirty="0">
                <a:latin typeface="楷体_GB2312" pitchFamily="49" charset="-122"/>
                <a:ea typeface="楷体_GB2312" pitchFamily="49" charset="-122"/>
              </a:rPr>
              <a:t>版权协议的条件下， 各部门、企业、单位或个人可根据自己的实际需要和使用环境对</a:t>
            </a:r>
            <a:r>
              <a:rPr lang="en-US" altLang="zh-CN" sz="2400" dirty="0">
                <a:latin typeface="楷体_GB2312" pitchFamily="49" charset="-122"/>
                <a:ea typeface="楷体_GB2312" pitchFamily="49" charset="-122"/>
              </a:rPr>
              <a:t>Linux</a:t>
            </a:r>
            <a:r>
              <a:rPr lang="zh-CN" altLang="en-US" sz="2400" dirty="0">
                <a:latin typeface="楷体_GB2312" pitchFamily="49" charset="-122"/>
                <a:ea typeface="楷体_GB2312" pitchFamily="49" charset="-122"/>
              </a:rPr>
              <a:t>系统进行裁剪、 扩充、 修改或者再开发。</a:t>
            </a:r>
            <a:endParaRPr lang="zh-CN" altLang="en-US" sz="1600" dirty="0">
              <a:latin typeface="楷体_GB2312" pitchFamily="49" charset="-122"/>
              <a:ea typeface="楷体_GB2312" pitchFamily="49" charset="-122"/>
            </a:endParaRPr>
          </a:p>
          <a:p>
            <a:pPr eaLnBrk="1" hangingPunct="1"/>
            <a:endParaRPr lang="zh-CN" altLang="en-US" sz="2400" dirty="0">
              <a:latin typeface="楷体_GB2312" pitchFamily="49" charset="-122"/>
              <a:ea typeface="楷体_GB2312" pitchFamily="49" charset="-122"/>
            </a:endParaRPr>
          </a:p>
        </p:txBody>
      </p:sp>
      <p:sp>
        <p:nvSpPr>
          <p:cNvPr id="30723" name="Rectangle 2052"/>
          <p:cNvSpPr>
            <a:spLocks noGrp="1" noChangeArrowheads="1"/>
          </p:cNvSpPr>
          <p:nvPr>
            <p:ph type="title" idx="4294967295"/>
          </p:nvPr>
        </p:nvSpPr>
        <p:spPr>
          <a:xfrm>
            <a:off x="762000" y="152400"/>
            <a:ext cx="7772400" cy="762000"/>
          </a:xfrm>
        </p:spPr>
        <p:txBody>
          <a:bodyPr anchorCtr="1"/>
          <a:lstStyle/>
          <a:p>
            <a:pPr eaLnBrk="1" hangingPunct="1"/>
            <a:r>
              <a:rPr lang="en-US" altLang="zh-CN">
                <a:latin typeface="楷体_GB2312" pitchFamily="49" charset="-122"/>
                <a:ea typeface="楷体_GB2312" pitchFamily="49" charset="-122"/>
              </a:rPr>
              <a:t>3</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Linux</a:t>
            </a:r>
            <a:r>
              <a:rPr lang="zh-CN" altLang="en-US">
                <a:latin typeface="楷体_GB2312" pitchFamily="49" charset="-122"/>
                <a:ea typeface="楷体_GB2312" pitchFamily="49" charset="-122"/>
              </a:rPr>
              <a:t>系统的主要特点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979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979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9798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9798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7"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zh-CN">
                <a:latin typeface="楷体_GB2312" pitchFamily="49" charset="-122"/>
                <a:ea typeface="楷体_GB2312" pitchFamily="49" charset="-122"/>
              </a:rPr>
              <a:t>3</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Linux</a:t>
            </a:r>
            <a:r>
              <a:rPr lang="zh-CN" altLang="en-US">
                <a:latin typeface="楷体_GB2312" pitchFamily="49" charset="-122"/>
                <a:ea typeface="楷体_GB2312" pitchFamily="49" charset="-122"/>
              </a:rPr>
              <a:t>系统的主要特点</a:t>
            </a:r>
          </a:p>
        </p:txBody>
      </p:sp>
      <p:sp>
        <p:nvSpPr>
          <p:cNvPr id="24579" name="Rectangle 3"/>
          <p:cNvSpPr>
            <a:spLocks noGrp="1" noChangeArrowheads="1"/>
          </p:cNvSpPr>
          <p:nvPr>
            <p:ph type="body" idx="1"/>
          </p:nvPr>
        </p:nvSpPr>
        <p:spPr>
          <a:xfrm>
            <a:off x="395288" y="1109663"/>
            <a:ext cx="8291512" cy="5272087"/>
          </a:xfrm>
        </p:spPr>
        <p:txBody>
          <a:bodyPr/>
          <a:lstStyle/>
          <a:p>
            <a:pPr eaLnBrk="1" hangingPunct="1">
              <a:buFont typeface="Arial" panose="020B0604020202020204" pitchFamily="34" charset="0"/>
              <a:buChar char="•"/>
              <a:defRPr/>
            </a:pPr>
            <a:r>
              <a:rPr lang="zh-CN" altLang="en-US" dirty="0">
                <a:solidFill>
                  <a:srgbClr val="FF0000"/>
                </a:solidFill>
                <a:latin typeface="楷体_GB2312" pitchFamily="49" charset="-122"/>
                <a:ea typeface="楷体_GB2312" pitchFamily="49" charset="-122"/>
              </a:rPr>
              <a:t>一个杰出的学习系统 </a:t>
            </a:r>
          </a:p>
          <a:p>
            <a:pPr lvl="1" eaLnBrk="1" hangingPunct="1">
              <a:buFont typeface="Arial" panose="020B0604020202020204" pitchFamily="34" charset="0"/>
              <a:buChar char="•"/>
              <a:defRPr/>
            </a:pPr>
            <a:r>
              <a:rPr lang="zh-CN" altLang="en-US" sz="2800" dirty="0">
                <a:solidFill>
                  <a:srgbClr val="2B5681"/>
                </a:solidFill>
                <a:latin typeface="楷体_GB2312" pitchFamily="49" charset="-122"/>
                <a:ea typeface="楷体_GB2312" pitchFamily="49" charset="-122"/>
                <a:cs typeface="+mn-cs"/>
              </a:rPr>
              <a:t>很多顶级的系统开发平台，友好的编程语言及编程工具都免费包含在操作系统里面 </a:t>
            </a:r>
          </a:p>
          <a:p>
            <a:pPr lvl="1" eaLnBrk="1" hangingPunct="1">
              <a:buFont typeface="Arial" panose="020B0604020202020204" pitchFamily="34" charset="0"/>
              <a:buChar char="•"/>
              <a:defRPr/>
            </a:pPr>
            <a:r>
              <a:rPr lang="zh-CN" altLang="en-US" sz="2800" dirty="0">
                <a:solidFill>
                  <a:srgbClr val="2B5681"/>
                </a:solidFill>
                <a:latin typeface="楷体_GB2312" pitchFamily="49" charset="-122"/>
                <a:ea typeface="楷体_GB2312" pitchFamily="49" charset="-122"/>
                <a:cs typeface="+mn-cs"/>
              </a:rPr>
              <a:t>病毒入侵，计算机的“后门”，软件提供商的“特别要求”，强迫性的软件升级，专有的文件格式，软件使用许可证和市场策略，产品注册登记，高得惊人的软件价格，等等 </a:t>
            </a:r>
            <a:r>
              <a:rPr lang="en-US" altLang="zh-CN" sz="2800" dirty="0">
                <a:solidFill>
                  <a:srgbClr val="2B5681"/>
                </a:solidFill>
                <a:latin typeface="楷体_GB2312" pitchFamily="49" charset="-122"/>
                <a:ea typeface="楷体_GB2312" pitchFamily="49" charset="-122"/>
                <a:cs typeface="+mn-cs"/>
              </a:rPr>
              <a:t>…---Linux</a:t>
            </a:r>
            <a:r>
              <a:rPr lang="zh-CN" altLang="en-US" sz="2800" dirty="0">
                <a:solidFill>
                  <a:srgbClr val="2B5681"/>
                </a:solidFill>
                <a:latin typeface="楷体_GB2312" pitchFamily="49" charset="-122"/>
                <a:ea typeface="楷体_GB2312" pitchFamily="49" charset="-122"/>
                <a:cs typeface="+mn-cs"/>
              </a:rPr>
              <a:t>都没有</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a:xfrm>
            <a:off x="468313" y="188913"/>
            <a:ext cx="8229600" cy="560387"/>
          </a:xfrm>
        </p:spPr>
        <p:txBody>
          <a:bodyPr anchorCtr="1"/>
          <a:lstStyle/>
          <a:p>
            <a:pPr eaLnBrk="1" hangingPunct="1"/>
            <a:r>
              <a:rPr lang="en-US" altLang="zh-CN">
                <a:latin typeface="楷体_GB2312" pitchFamily="49" charset="-122"/>
                <a:ea typeface="楷体_GB2312" pitchFamily="49" charset="-122"/>
              </a:rPr>
              <a:t>4.</a:t>
            </a:r>
            <a:r>
              <a:rPr lang="zh-CN" altLang="en-US">
                <a:latin typeface="楷体_GB2312" pitchFamily="49" charset="-122"/>
                <a:ea typeface="楷体_GB2312" pitchFamily="49" charset="-122"/>
              </a:rPr>
              <a:t> </a:t>
            </a:r>
            <a:r>
              <a:rPr lang="en-US" altLang="zh-CN">
                <a:latin typeface="楷体_GB2312" pitchFamily="49" charset="-122"/>
                <a:ea typeface="楷体_GB2312" pitchFamily="49" charset="-122"/>
              </a:rPr>
              <a:t>Linux </a:t>
            </a:r>
            <a:r>
              <a:rPr lang="zh-CN" altLang="en-US">
                <a:latin typeface="楷体_GB2312" pitchFamily="49" charset="-122"/>
                <a:ea typeface="楷体_GB2312" pitchFamily="49" charset="-122"/>
              </a:rPr>
              <a:t>系统及内核的组成</a:t>
            </a:r>
          </a:p>
        </p:txBody>
      </p:sp>
      <p:graphicFrame>
        <p:nvGraphicFramePr>
          <p:cNvPr id="34819" name="Object 2"/>
          <p:cNvGraphicFramePr>
            <a:graphicFrameLocks noChangeAspect="1"/>
          </p:cNvGraphicFramePr>
          <p:nvPr/>
        </p:nvGraphicFramePr>
        <p:xfrm>
          <a:off x="1042988" y="1412875"/>
          <a:ext cx="7145337" cy="4222750"/>
        </p:xfrm>
        <a:graphic>
          <a:graphicData uri="http://schemas.openxmlformats.org/presentationml/2006/ole">
            <mc:AlternateContent xmlns:mc="http://schemas.openxmlformats.org/markup-compatibility/2006">
              <mc:Choice xmlns:v="urn:schemas-microsoft-com:vml" Requires="v">
                <p:oleObj spid="_x0000_s34836" name="Visio" r:id="rId4" imgW="6230874" imgH="3836670" progId="Visio.Drawing.11">
                  <p:embed/>
                </p:oleObj>
              </mc:Choice>
              <mc:Fallback>
                <p:oleObj name="Visio" r:id="rId4" imgW="6230874" imgH="3836670" progId="Visio.Drawing.11">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1412875"/>
                        <a:ext cx="7145337" cy="422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idx="4294967295"/>
          </p:nvPr>
        </p:nvSpPr>
        <p:spPr>
          <a:xfrm>
            <a:off x="539750" y="188913"/>
            <a:ext cx="8229600" cy="560387"/>
          </a:xfrm>
        </p:spPr>
        <p:txBody>
          <a:bodyPr anchorCtr="1"/>
          <a:lstStyle/>
          <a:p>
            <a:pPr eaLnBrk="1" hangingPunct="1"/>
            <a:r>
              <a:rPr lang="en-US" altLang="zh-CN">
                <a:latin typeface="楷体_GB2312" pitchFamily="49" charset="-122"/>
                <a:ea typeface="楷体_GB2312" pitchFamily="49" charset="-122"/>
              </a:rPr>
              <a:t>4.</a:t>
            </a:r>
            <a:r>
              <a:rPr lang="zh-CN" altLang="en-US">
                <a:latin typeface="楷体_GB2312" pitchFamily="49" charset="-122"/>
                <a:ea typeface="楷体_GB2312" pitchFamily="49" charset="-122"/>
              </a:rPr>
              <a:t> </a:t>
            </a:r>
            <a:r>
              <a:rPr lang="en-US" altLang="zh-CN">
                <a:latin typeface="楷体_GB2312" pitchFamily="49" charset="-122"/>
                <a:ea typeface="楷体_GB2312" pitchFamily="49" charset="-122"/>
              </a:rPr>
              <a:t>Linux </a:t>
            </a:r>
            <a:r>
              <a:rPr lang="zh-CN" altLang="en-US">
                <a:latin typeface="楷体_GB2312" pitchFamily="49" charset="-122"/>
                <a:ea typeface="楷体_GB2312" pitchFamily="49" charset="-122"/>
              </a:rPr>
              <a:t>系统及内核的组成</a:t>
            </a:r>
          </a:p>
        </p:txBody>
      </p:sp>
      <p:sp>
        <p:nvSpPr>
          <p:cNvPr id="25603" name="Rectangle 3"/>
          <p:cNvSpPr>
            <a:spLocks noGrp="1" noChangeArrowheads="1"/>
          </p:cNvSpPr>
          <p:nvPr>
            <p:ph type="body" idx="4294967295"/>
          </p:nvPr>
        </p:nvSpPr>
        <p:spPr>
          <a:xfrm>
            <a:off x="549275" y="1196975"/>
            <a:ext cx="7786688" cy="4513263"/>
          </a:xfrm>
        </p:spPr>
        <p:txBody>
          <a:bodyPr/>
          <a:lstStyle/>
          <a:p>
            <a:pPr eaLnBrk="1" hangingPunct="1">
              <a:defRPr/>
            </a:pPr>
            <a:r>
              <a:rPr lang="en-US" altLang="zh-CN" sz="3200" dirty="0">
                <a:latin typeface="楷体_GB2312" pitchFamily="49" charset="-122"/>
                <a:ea typeface="楷体_GB2312" pitchFamily="49" charset="-122"/>
              </a:rPr>
              <a:t>Linux </a:t>
            </a:r>
            <a:r>
              <a:rPr lang="zh-CN" altLang="en-US" sz="3200" dirty="0">
                <a:latin typeface="楷体_GB2312" pitchFamily="49" charset="-122"/>
                <a:ea typeface="楷体_GB2312" pitchFamily="49" charset="-122"/>
              </a:rPr>
              <a:t>系统由四部分组成</a:t>
            </a:r>
            <a:endParaRPr lang="zh-CN" altLang="en-US" sz="3200" dirty="0">
              <a:solidFill>
                <a:srgbClr val="FB1705"/>
              </a:solidFill>
              <a:latin typeface="楷体_GB2312" pitchFamily="49" charset="-122"/>
              <a:ea typeface="楷体_GB2312" pitchFamily="49" charset="-122"/>
            </a:endParaRPr>
          </a:p>
          <a:p>
            <a:pPr lvl="1" eaLnBrk="1" hangingPunct="1">
              <a:defRPr/>
            </a:pPr>
            <a:r>
              <a:rPr lang="zh-CN" altLang="en-US" sz="2800" dirty="0">
                <a:solidFill>
                  <a:srgbClr val="FB1705"/>
                </a:solidFill>
                <a:latin typeface="楷体_GB2312" pitchFamily="49" charset="-122"/>
                <a:ea typeface="楷体_GB2312" pitchFamily="49" charset="-122"/>
              </a:rPr>
              <a:t>用户进程：</a:t>
            </a:r>
            <a:r>
              <a:rPr lang="zh-CN" altLang="en-US" sz="2800" dirty="0">
                <a:solidFill>
                  <a:srgbClr val="2B5681"/>
                </a:solidFill>
                <a:latin typeface="楷体_GB2312" pitchFamily="49" charset="-122"/>
                <a:ea typeface="楷体_GB2312" pitchFamily="49" charset="-122"/>
                <a:cs typeface="+mn-cs"/>
              </a:rPr>
              <a:t>当一个用户程序在操作系统之上运行时，它成为操作系统中的一个进程。</a:t>
            </a:r>
          </a:p>
          <a:p>
            <a:pPr lvl="1" eaLnBrk="1" hangingPunct="1">
              <a:defRPr/>
            </a:pPr>
            <a:r>
              <a:rPr lang="zh-CN" altLang="en-US" sz="2800" dirty="0">
                <a:solidFill>
                  <a:srgbClr val="FB1705"/>
                </a:solidFill>
                <a:latin typeface="楷体_GB2312" pitchFamily="49" charset="-122"/>
                <a:ea typeface="楷体_GB2312" pitchFamily="49" charset="-122"/>
              </a:rPr>
              <a:t>系统调用接口</a:t>
            </a:r>
            <a:r>
              <a:rPr lang="en-US" altLang="zh-CN" sz="2800" dirty="0">
                <a:solidFill>
                  <a:srgbClr val="FB1705"/>
                </a:solidFill>
                <a:latin typeface="楷体_GB2312" pitchFamily="49" charset="-122"/>
                <a:ea typeface="楷体_GB2312" pitchFamily="49" charset="-122"/>
              </a:rPr>
              <a:t>(OS</a:t>
            </a:r>
            <a:r>
              <a:rPr lang="zh-CN" altLang="en-US" sz="2800" dirty="0">
                <a:solidFill>
                  <a:srgbClr val="FB1705"/>
                </a:solidFill>
                <a:latin typeface="楷体_GB2312" pitchFamily="49" charset="-122"/>
                <a:ea typeface="楷体_GB2312" pitchFamily="49" charset="-122"/>
              </a:rPr>
              <a:t>服务层</a:t>
            </a:r>
            <a:r>
              <a:rPr lang="en-US" altLang="zh-CN" sz="2800" dirty="0">
                <a:solidFill>
                  <a:srgbClr val="FB1705"/>
                </a:solidFill>
                <a:latin typeface="楷体_GB2312" pitchFamily="49" charset="-122"/>
                <a:ea typeface="楷体_GB2312" pitchFamily="49" charset="-122"/>
              </a:rPr>
              <a:t>)</a:t>
            </a:r>
            <a:r>
              <a:rPr lang="zh-CN" altLang="en-US" sz="2800" dirty="0">
                <a:solidFill>
                  <a:srgbClr val="FB1705"/>
                </a:solidFill>
                <a:latin typeface="楷体_GB2312" pitchFamily="49" charset="-122"/>
                <a:ea typeface="楷体_GB2312" pitchFamily="49" charset="-122"/>
              </a:rPr>
              <a:t>：</a:t>
            </a:r>
            <a:r>
              <a:rPr lang="zh-CN" altLang="en-US" sz="2800" dirty="0">
                <a:solidFill>
                  <a:srgbClr val="2B5681"/>
                </a:solidFill>
                <a:latin typeface="楷体_GB2312" pitchFamily="49" charset="-122"/>
                <a:ea typeface="楷体_GB2312" pitchFamily="49" charset="-122"/>
                <a:cs typeface="+mn-cs"/>
              </a:rPr>
              <a:t>在应用程序中，可通过系统调用来调用操作系统内核中特定的过程，以实现特定的服务。</a:t>
            </a:r>
          </a:p>
          <a:p>
            <a:pPr lvl="1" eaLnBrk="1" hangingPunct="1">
              <a:defRPr/>
            </a:pPr>
            <a:r>
              <a:rPr lang="en-US" altLang="zh-CN" sz="2800" dirty="0">
                <a:solidFill>
                  <a:srgbClr val="FB1705"/>
                </a:solidFill>
                <a:latin typeface="楷体_GB2312" pitchFamily="49" charset="-122"/>
                <a:ea typeface="楷体_GB2312" pitchFamily="49" charset="-122"/>
              </a:rPr>
              <a:t>Linux</a:t>
            </a:r>
            <a:r>
              <a:rPr lang="zh-CN" altLang="en-US" sz="2800" dirty="0">
                <a:solidFill>
                  <a:srgbClr val="FB1705"/>
                </a:solidFill>
                <a:latin typeface="楷体_GB2312" pitchFamily="49" charset="-122"/>
                <a:ea typeface="楷体_GB2312" pitchFamily="49" charset="-122"/>
              </a:rPr>
              <a:t>内核：</a:t>
            </a:r>
            <a:r>
              <a:rPr lang="zh-CN" altLang="en-US" sz="2800" dirty="0">
                <a:solidFill>
                  <a:srgbClr val="2B5681"/>
                </a:solidFill>
                <a:latin typeface="楷体_GB2312" pitchFamily="49" charset="-122"/>
                <a:ea typeface="楷体_GB2312" pitchFamily="49" charset="-122"/>
                <a:cs typeface="+mn-cs"/>
              </a:rPr>
              <a:t>内核是操作系统的灵魂，它负责   管理磁盘上的文件、内存，负责启动并运行程序，负责从网络上接收和发送数据包等等。 </a:t>
            </a:r>
          </a:p>
          <a:p>
            <a:pPr lvl="1" eaLnBrk="1" hangingPunct="1">
              <a:defRPr/>
            </a:pPr>
            <a:r>
              <a:rPr lang="zh-CN" altLang="en-US" sz="2800" dirty="0">
                <a:solidFill>
                  <a:srgbClr val="FF0000"/>
                </a:solidFill>
                <a:latin typeface="楷体_GB2312" pitchFamily="49" charset="-122"/>
                <a:ea typeface="楷体_GB2312" pitchFamily="49" charset="-122"/>
                <a:cs typeface="+mn-cs"/>
              </a:rPr>
              <a:t>硬件</a:t>
            </a:r>
            <a:r>
              <a:rPr lang="en-US" altLang="zh-CN" sz="2800" dirty="0">
                <a:solidFill>
                  <a:srgbClr val="FF0000"/>
                </a:solidFill>
                <a:latin typeface="楷体_GB2312" pitchFamily="49" charset="-122"/>
                <a:ea typeface="楷体_GB2312" pitchFamily="49" charset="-122"/>
                <a:cs typeface="+mn-cs"/>
              </a:rPr>
              <a:t>:…</a:t>
            </a:r>
            <a:endParaRPr lang="zh-CN" altLang="en-US" sz="2800" dirty="0">
              <a:solidFill>
                <a:srgbClr val="FF0000"/>
              </a:solidFill>
              <a:latin typeface="楷体_GB2312" pitchFamily="49" charset="-122"/>
              <a:ea typeface="楷体_GB2312" pitchFamily="49" charset="-122"/>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1373188"/>
            <a:ext cx="5729287" cy="419417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8915" name="Rectangle 3"/>
          <p:cNvSpPr>
            <a:spLocks noChangeArrowheads="1"/>
          </p:cNvSpPr>
          <p:nvPr/>
        </p:nvSpPr>
        <p:spPr bwMode="auto">
          <a:xfrm>
            <a:off x="539750" y="5589588"/>
            <a:ext cx="822960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eaLnBrk="1" hangingPunct="1">
              <a:spcBef>
                <a:spcPct val="0"/>
              </a:spcBef>
              <a:buClrTx/>
              <a:buFontTx/>
              <a:buNone/>
            </a:pPr>
            <a:r>
              <a:rPr lang="en-US" altLang="zh-CN" sz="2000">
                <a:solidFill>
                  <a:srgbClr val="03061F"/>
                </a:solidFill>
                <a:latin typeface="楷体_GB2312" pitchFamily="49" charset="-122"/>
                <a:ea typeface="楷体_GB2312" pitchFamily="49" charset="-122"/>
              </a:rPr>
              <a:t>Linux </a:t>
            </a:r>
            <a:r>
              <a:rPr lang="zh-CN" altLang="en-US" sz="2000">
                <a:solidFill>
                  <a:srgbClr val="03061F"/>
                </a:solidFill>
                <a:latin typeface="楷体_GB2312" pitchFamily="49" charset="-122"/>
                <a:ea typeface="楷体_GB2312" pitchFamily="49" charset="-122"/>
              </a:rPr>
              <a:t>内核的组成</a:t>
            </a:r>
          </a:p>
        </p:txBody>
      </p:sp>
      <p:sp>
        <p:nvSpPr>
          <p:cNvPr id="4" name="Rectangle 2"/>
          <p:cNvSpPr txBox="1">
            <a:spLocks noChangeArrowheads="1"/>
          </p:cNvSpPr>
          <p:nvPr/>
        </p:nvSpPr>
        <p:spPr bwMode="black">
          <a:xfrm>
            <a:off x="539750" y="188913"/>
            <a:ext cx="822960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defRPr/>
            </a:pPr>
            <a:r>
              <a:rPr lang="en-US" altLang="zh-CN" kern="0" dirty="0">
                <a:latin typeface="楷体_GB2312" pitchFamily="49" charset="-122"/>
                <a:ea typeface="楷体_GB2312" pitchFamily="49" charset="-122"/>
              </a:rPr>
              <a:t>4.</a:t>
            </a:r>
            <a:r>
              <a:rPr lang="zh-CN" altLang="en-US" kern="0" dirty="0">
                <a:latin typeface="楷体_GB2312" pitchFamily="49" charset="-122"/>
                <a:ea typeface="楷体_GB2312" pitchFamily="49" charset="-122"/>
              </a:rPr>
              <a:t> </a:t>
            </a:r>
            <a:r>
              <a:rPr lang="en-US" altLang="zh-CN" kern="0" dirty="0">
                <a:latin typeface="楷体_GB2312" pitchFamily="49" charset="-122"/>
                <a:ea typeface="楷体_GB2312" pitchFamily="49" charset="-122"/>
              </a:rPr>
              <a:t>Linux </a:t>
            </a:r>
            <a:r>
              <a:rPr lang="zh-CN" altLang="en-US" kern="0" dirty="0">
                <a:latin typeface="楷体_GB2312" pitchFamily="49" charset="-122"/>
                <a:ea typeface="楷体_GB2312" pitchFamily="49" charset="-122"/>
              </a:rPr>
              <a:t>系统及内核的组成</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ChangeArrowheads="1"/>
          </p:cNvSpPr>
          <p:nvPr/>
        </p:nvSpPr>
        <p:spPr bwMode="auto">
          <a:xfrm>
            <a:off x="314325" y="1196975"/>
            <a:ext cx="4329113"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en-US" altLang="zh-CN">
                <a:latin typeface="楷体_GB2312" pitchFamily="49" charset="-122"/>
                <a:ea typeface="楷体_GB2312" pitchFamily="49" charset="-122"/>
              </a:rPr>
              <a:t>Linux </a:t>
            </a:r>
            <a:r>
              <a:rPr lang="zh-CN" altLang="en-US">
                <a:latin typeface="楷体_GB2312" pitchFamily="49" charset="-122"/>
                <a:ea typeface="楷体_GB2312" pitchFamily="49" charset="-122"/>
              </a:rPr>
              <a:t>内核由</a:t>
            </a:r>
            <a:r>
              <a:rPr lang="en-US" altLang="zh-CN">
                <a:latin typeface="楷体_GB2312" pitchFamily="49" charset="-122"/>
                <a:ea typeface="楷体_GB2312" pitchFamily="49" charset="-122"/>
              </a:rPr>
              <a:t>4</a:t>
            </a:r>
            <a:r>
              <a:rPr lang="zh-CN" altLang="en-US">
                <a:latin typeface="楷体_GB2312" pitchFamily="49" charset="-122"/>
                <a:ea typeface="楷体_GB2312" pitchFamily="49" charset="-122"/>
              </a:rPr>
              <a:t>部分组成：</a:t>
            </a:r>
          </a:p>
        </p:txBody>
      </p:sp>
      <p:sp>
        <p:nvSpPr>
          <p:cNvPr id="306180" name="Text Box 4"/>
          <p:cNvSpPr txBox="1">
            <a:spLocks noChangeArrowheads="1"/>
          </p:cNvSpPr>
          <p:nvPr/>
        </p:nvSpPr>
        <p:spPr bwMode="auto">
          <a:xfrm>
            <a:off x="323850" y="1878013"/>
            <a:ext cx="8640763" cy="393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1">
            <a:spAutoFit/>
          </a:bodyPr>
          <a:lstStyle>
            <a:lvl1pPr marL="342900" indent="-342900">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Char char="•"/>
            </a:pPr>
            <a:r>
              <a:rPr lang="zh-CN" altLang="en-US" dirty="0">
                <a:solidFill>
                  <a:srgbClr val="FB1705"/>
                </a:solidFill>
                <a:latin typeface="楷体_GB2312" pitchFamily="49" charset="-122"/>
                <a:ea typeface="楷体_GB2312" pitchFamily="49" charset="-122"/>
              </a:rPr>
              <a:t>进程调度程序：</a:t>
            </a:r>
            <a:r>
              <a:rPr lang="zh-CN" altLang="en-US" dirty="0">
                <a:latin typeface="楷体_GB2312" pitchFamily="49" charset="-122"/>
                <a:ea typeface="楷体_GB2312" pitchFamily="49" charset="-122"/>
              </a:rPr>
              <a:t>负责控制进程访问</a:t>
            </a:r>
            <a:r>
              <a:rPr lang="en-US" altLang="zh-CN" dirty="0">
                <a:latin typeface="楷体_GB2312" pitchFamily="49" charset="-122"/>
                <a:ea typeface="楷体_GB2312" pitchFamily="49" charset="-122"/>
              </a:rPr>
              <a:t>CPU</a:t>
            </a:r>
            <a:r>
              <a:rPr lang="zh-CN" altLang="en-US" dirty="0">
                <a:latin typeface="楷体_GB2312" pitchFamily="49" charset="-122"/>
                <a:ea typeface="楷体_GB2312" pitchFamily="49" charset="-122"/>
              </a:rPr>
              <a:t>。确保所有的进程都能公平访问</a:t>
            </a:r>
            <a:r>
              <a:rPr lang="en-US" altLang="zh-CN" dirty="0">
                <a:latin typeface="楷体_GB2312" pitchFamily="49" charset="-122"/>
                <a:ea typeface="楷体_GB2312" pitchFamily="49" charset="-122"/>
              </a:rPr>
              <a:t>CPU</a:t>
            </a:r>
            <a:r>
              <a:rPr lang="zh-CN" altLang="en-US" dirty="0">
                <a:latin typeface="楷体_GB2312" pitchFamily="49" charset="-122"/>
                <a:ea typeface="楷体_GB2312" pitchFamily="49" charset="-122"/>
              </a:rPr>
              <a:t>。</a:t>
            </a:r>
          </a:p>
          <a:p>
            <a:pPr eaLnBrk="1" hangingPunct="1">
              <a:spcBef>
                <a:spcPct val="0"/>
              </a:spcBef>
              <a:buClrTx/>
              <a:buFontTx/>
              <a:buChar char="•"/>
            </a:pPr>
            <a:r>
              <a:rPr lang="zh-CN" altLang="en-US" dirty="0">
                <a:solidFill>
                  <a:srgbClr val="FB1705"/>
                </a:solidFill>
                <a:latin typeface="楷体_GB2312" pitchFamily="49" charset="-122"/>
                <a:ea typeface="楷体_GB2312" pitchFamily="49" charset="-122"/>
              </a:rPr>
              <a:t>内存管理程序：</a:t>
            </a:r>
            <a:r>
              <a:rPr lang="zh-CN" altLang="en-US" dirty="0">
                <a:latin typeface="楷体_GB2312" pitchFamily="49" charset="-122"/>
                <a:ea typeface="楷体_GB2312" pitchFamily="49" charset="-122"/>
              </a:rPr>
              <a:t>使多个进程可以安全地共享机器的主存系统，并支持虚拟内存</a:t>
            </a:r>
            <a:r>
              <a:rPr lang="zh-CN" altLang="en-US" dirty="0">
                <a:solidFill>
                  <a:schemeClr val="tx1"/>
                </a:solidFill>
                <a:latin typeface="楷体_GB2312" pitchFamily="49" charset="-122"/>
                <a:ea typeface="楷体_GB2312" pitchFamily="49" charset="-122"/>
              </a:rPr>
              <a:t>。</a:t>
            </a:r>
          </a:p>
          <a:p>
            <a:pPr eaLnBrk="1" hangingPunct="1">
              <a:spcBef>
                <a:spcPct val="0"/>
              </a:spcBef>
              <a:buClrTx/>
              <a:buFontTx/>
              <a:buChar char="•"/>
            </a:pPr>
            <a:r>
              <a:rPr lang="zh-CN" altLang="en-US" dirty="0">
                <a:solidFill>
                  <a:srgbClr val="FB1705"/>
                </a:solidFill>
                <a:latin typeface="楷体_GB2312" pitchFamily="49" charset="-122"/>
                <a:ea typeface="楷体_GB2312" pitchFamily="49" charset="-122"/>
              </a:rPr>
              <a:t>虚拟文件系统：</a:t>
            </a:r>
            <a:r>
              <a:rPr lang="zh-CN" altLang="en-US" dirty="0">
                <a:latin typeface="楷体_GB2312" pitchFamily="49" charset="-122"/>
                <a:ea typeface="楷体_GB2312" pitchFamily="49" charset="-122"/>
              </a:rPr>
              <a:t>提供一个所有设备的公共文件接口， 抽象了不同硬件设备的细节</a:t>
            </a:r>
          </a:p>
          <a:p>
            <a:pPr eaLnBrk="1" hangingPunct="1">
              <a:spcBef>
                <a:spcPct val="0"/>
              </a:spcBef>
              <a:buClrTx/>
              <a:buFontTx/>
              <a:buChar char="•"/>
            </a:pPr>
            <a:r>
              <a:rPr lang="zh-CN" altLang="en-US" dirty="0">
                <a:solidFill>
                  <a:srgbClr val="FB1705"/>
                </a:solidFill>
                <a:latin typeface="楷体_GB2312" pitchFamily="49" charset="-122"/>
                <a:ea typeface="楷体_GB2312" pitchFamily="49" charset="-122"/>
              </a:rPr>
              <a:t>网络接口：</a:t>
            </a:r>
            <a:r>
              <a:rPr lang="zh-CN" altLang="en-US" dirty="0">
                <a:latin typeface="楷体_GB2312" pitchFamily="49" charset="-122"/>
                <a:ea typeface="楷体_GB2312" pitchFamily="49" charset="-122"/>
              </a:rPr>
              <a:t>提供对多种网络协议标准和网络设备的访问。</a:t>
            </a:r>
          </a:p>
          <a:p>
            <a:pPr eaLnBrk="1" hangingPunct="1">
              <a:spcBef>
                <a:spcPct val="0"/>
              </a:spcBef>
              <a:buClrTx/>
              <a:buFontTx/>
              <a:buChar char="•"/>
            </a:pPr>
            <a:r>
              <a:rPr lang="zh-CN" altLang="en-US" dirty="0">
                <a:solidFill>
                  <a:srgbClr val="FB1705"/>
                </a:solidFill>
                <a:latin typeface="楷体_GB2312" pitchFamily="49" charset="-122"/>
                <a:ea typeface="楷体_GB2312" pitchFamily="49" charset="-122"/>
              </a:rPr>
              <a:t>进程间通信：</a:t>
            </a:r>
            <a:r>
              <a:rPr lang="en-US" altLang="zh-CN" dirty="0">
                <a:solidFill>
                  <a:srgbClr val="FB1705"/>
                </a:solidFill>
                <a:latin typeface="楷体_GB2312" pitchFamily="49" charset="-122"/>
                <a:ea typeface="楷体_GB2312" pitchFamily="49" charset="-122"/>
              </a:rPr>
              <a:t>……</a:t>
            </a:r>
            <a:endParaRPr lang="zh-CN" altLang="en-US" dirty="0">
              <a:solidFill>
                <a:schemeClr val="tx1"/>
              </a:solidFill>
              <a:latin typeface="楷体_GB2312" pitchFamily="49" charset="-122"/>
              <a:ea typeface="楷体_GB2312" pitchFamily="49" charset="-122"/>
            </a:endParaRPr>
          </a:p>
        </p:txBody>
      </p:sp>
      <p:sp>
        <p:nvSpPr>
          <p:cNvPr id="4" name="Rectangle 2"/>
          <p:cNvSpPr txBox="1">
            <a:spLocks noChangeArrowheads="1"/>
          </p:cNvSpPr>
          <p:nvPr/>
        </p:nvSpPr>
        <p:spPr bwMode="black">
          <a:xfrm>
            <a:off x="539750" y="188913"/>
            <a:ext cx="822960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defRPr/>
            </a:pPr>
            <a:r>
              <a:rPr lang="en-US" altLang="zh-CN" kern="0" dirty="0">
                <a:latin typeface="楷体_GB2312" pitchFamily="49" charset="-122"/>
                <a:ea typeface="楷体_GB2312" pitchFamily="49" charset="-122"/>
              </a:rPr>
              <a:t>4.</a:t>
            </a:r>
            <a:r>
              <a:rPr lang="zh-CN" altLang="en-US" kern="0" dirty="0">
                <a:latin typeface="楷体_GB2312" pitchFamily="49" charset="-122"/>
                <a:ea typeface="楷体_GB2312" pitchFamily="49" charset="-122"/>
              </a:rPr>
              <a:t> </a:t>
            </a:r>
            <a:r>
              <a:rPr lang="en-US" altLang="zh-CN" kern="0" dirty="0">
                <a:latin typeface="楷体_GB2312" pitchFamily="49" charset="-122"/>
                <a:ea typeface="楷体_GB2312" pitchFamily="49" charset="-122"/>
              </a:rPr>
              <a:t>Linux </a:t>
            </a:r>
            <a:r>
              <a:rPr lang="zh-CN" altLang="en-US" kern="0" dirty="0">
                <a:latin typeface="楷体_GB2312" pitchFamily="49" charset="-122"/>
                <a:ea typeface="楷体_GB2312" pitchFamily="49" charset="-122"/>
              </a:rPr>
              <a:t>系统及内核的组成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61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80"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755650" y="6092825"/>
            <a:ext cx="6002338" cy="609600"/>
          </a:xfrm>
        </p:spPr>
        <p:txBody>
          <a:bodyPr/>
          <a:lstStyle/>
          <a:p>
            <a:pPr eaLnBrk="1" hangingPunct="1">
              <a:defRPr/>
            </a:pPr>
            <a:r>
              <a:rPr lang="en-US" altLang="zh-CN" sz="1800" dirty="0">
                <a:solidFill>
                  <a:srgbClr val="2B5681"/>
                </a:solidFill>
                <a:latin typeface="楷体_GB2312" pitchFamily="49" charset="-122"/>
                <a:ea typeface="楷体_GB2312" pitchFamily="49" charset="-122"/>
                <a:cs typeface="+mn-cs"/>
              </a:rPr>
              <a:t>Linux</a:t>
            </a:r>
            <a:r>
              <a:rPr lang="zh-CN" altLang="en-US" sz="1800" dirty="0">
                <a:solidFill>
                  <a:srgbClr val="2B5681"/>
                </a:solidFill>
                <a:latin typeface="楷体_GB2312" pitchFamily="49" charset="-122"/>
                <a:ea typeface="楷体_GB2312" pitchFamily="49" charset="-122"/>
                <a:cs typeface="+mn-cs"/>
              </a:rPr>
              <a:t>内核各个子系统之间的依赖关系</a:t>
            </a:r>
          </a:p>
        </p:txBody>
      </p:sp>
      <p:sp>
        <p:nvSpPr>
          <p:cNvPr id="28675" name="Rectangle 3"/>
          <p:cNvSpPr>
            <a:spLocks noGrp="1" noChangeArrowheads="1"/>
          </p:cNvSpPr>
          <p:nvPr>
            <p:ph type="body" idx="1"/>
          </p:nvPr>
        </p:nvSpPr>
        <p:spPr>
          <a:xfrm>
            <a:off x="282575" y="908050"/>
            <a:ext cx="7759700" cy="3097213"/>
          </a:xfrm>
        </p:spPr>
        <p:txBody>
          <a:bodyPr/>
          <a:lstStyle/>
          <a:p>
            <a:pPr eaLnBrk="1" hangingPunct="1">
              <a:defRPr/>
            </a:pPr>
            <a:r>
              <a:rPr lang="zh-CN" altLang="en-US" sz="2400" dirty="0">
                <a:latin typeface="楷体_GB2312" pitchFamily="49" charset="-122"/>
                <a:ea typeface="楷体_GB2312" pitchFamily="49" charset="-122"/>
              </a:rPr>
              <a:t>分析：</a:t>
            </a:r>
          </a:p>
          <a:p>
            <a:pPr marL="742950" lvl="2" indent="-342900" eaLnBrk="1" hangingPunct="1">
              <a:buClr>
                <a:schemeClr val="accent2"/>
              </a:buClr>
              <a:buFont typeface="Wingdings" panose="05000000000000000000" pitchFamily="2" charset="2"/>
              <a:buChar char="u"/>
              <a:defRPr/>
            </a:pPr>
            <a:r>
              <a:rPr lang="zh-CN" altLang="en-US" b="1" dirty="0">
                <a:solidFill>
                  <a:srgbClr val="2B5681"/>
                </a:solidFill>
                <a:latin typeface="楷体_GB2312" pitchFamily="49" charset="-122"/>
                <a:ea typeface="楷体_GB2312" pitchFamily="49" charset="-122"/>
                <a:cs typeface="+mn-cs"/>
              </a:rPr>
              <a:t>进程调度与内存管理之间的关系</a:t>
            </a:r>
          </a:p>
          <a:p>
            <a:pPr marL="742950" lvl="2" indent="-342900" eaLnBrk="1" hangingPunct="1">
              <a:buClr>
                <a:schemeClr val="accent2"/>
              </a:buClr>
              <a:buFont typeface="Wingdings" panose="05000000000000000000" pitchFamily="2" charset="2"/>
              <a:buChar char="u"/>
              <a:defRPr/>
            </a:pPr>
            <a:r>
              <a:rPr lang="zh-CN" altLang="en-US" b="1" dirty="0">
                <a:solidFill>
                  <a:srgbClr val="2B5681"/>
                </a:solidFill>
                <a:latin typeface="楷体_GB2312" pitchFamily="49" charset="-122"/>
                <a:ea typeface="楷体_GB2312" pitchFamily="49" charset="-122"/>
                <a:cs typeface="+mn-cs"/>
              </a:rPr>
              <a:t>进程间通信与内存管理的关系</a:t>
            </a:r>
          </a:p>
          <a:p>
            <a:pPr marL="742950" lvl="2" indent="-342900" eaLnBrk="1" hangingPunct="1">
              <a:buClr>
                <a:schemeClr val="accent2"/>
              </a:buClr>
              <a:buFont typeface="Wingdings" panose="05000000000000000000" pitchFamily="2" charset="2"/>
              <a:buChar char="u"/>
              <a:defRPr/>
            </a:pPr>
            <a:r>
              <a:rPr lang="zh-CN" altLang="en-US" b="1" dirty="0">
                <a:solidFill>
                  <a:srgbClr val="2B5681"/>
                </a:solidFill>
                <a:latin typeface="楷体_GB2312" pitchFamily="49" charset="-122"/>
                <a:ea typeface="楷体_GB2312" pitchFamily="49" charset="-122"/>
                <a:cs typeface="+mn-cs"/>
              </a:rPr>
              <a:t>虚拟文件系统与网络接口之间的关系</a:t>
            </a:r>
          </a:p>
          <a:p>
            <a:pPr marL="742950" lvl="2" indent="-342900" eaLnBrk="1" hangingPunct="1">
              <a:buClr>
                <a:schemeClr val="accent2"/>
              </a:buClr>
              <a:buFont typeface="Wingdings" panose="05000000000000000000" pitchFamily="2" charset="2"/>
              <a:buChar char="u"/>
              <a:defRPr/>
            </a:pPr>
            <a:r>
              <a:rPr lang="zh-CN" altLang="en-US" b="1" dirty="0">
                <a:solidFill>
                  <a:srgbClr val="2B5681"/>
                </a:solidFill>
                <a:latin typeface="楷体_GB2312" pitchFamily="49" charset="-122"/>
                <a:ea typeface="楷体_GB2312" pitchFamily="49" charset="-122"/>
                <a:cs typeface="+mn-cs"/>
              </a:rPr>
              <a:t>内存管理与虚拟文件系统之间的关系</a:t>
            </a:r>
          </a:p>
        </p:txBody>
      </p:sp>
      <p:pic>
        <p:nvPicPr>
          <p:cNvPr id="430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3124200"/>
            <a:ext cx="4351337" cy="3186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5" name="Rectangle 2"/>
          <p:cNvSpPr txBox="1">
            <a:spLocks noChangeArrowheads="1"/>
          </p:cNvSpPr>
          <p:nvPr/>
        </p:nvSpPr>
        <p:spPr bwMode="black">
          <a:xfrm>
            <a:off x="539750" y="188913"/>
            <a:ext cx="822960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defRPr/>
            </a:pPr>
            <a:r>
              <a:rPr lang="en-US" altLang="zh-CN" kern="0" dirty="0">
                <a:latin typeface="楷体_GB2312" pitchFamily="49" charset="-122"/>
                <a:ea typeface="楷体_GB2312" pitchFamily="49" charset="-122"/>
              </a:rPr>
              <a:t>4.</a:t>
            </a:r>
            <a:r>
              <a:rPr lang="zh-CN" altLang="en-US" kern="0" dirty="0">
                <a:latin typeface="楷体_GB2312" pitchFamily="49" charset="-122"/>
                <a:ea typeface="楷体_GB2312" pitchFamily="49" charset="-122"/>
              </a:rPr>
              <a:t> </a:t>
            </a:r>
            <a:r>
              <a:rPr lang="en-US" altLang="zh-CN" kern="0" dirty="0">
                <a:latin typeface="楷体_GB2312" pitchFamily="49" charset="-122"/>
                <a:ea typeface="楷体_GB2312" pitchFamily="49" charset="-122"/>
              </a:rPr>
              <a:t>Linux </a:t>
            </a:r>
            <a:r>
              <a:rPr lang="zh-CN" altLang="en-US" kern="0" dirty="0">
                <a:latin typeface="楷体_GB2312" pitchFamily="49" charset="-122"/>
                <a:ea typeface="楷体_GB2312" pitchFamily="49" charset="-122"/>
              </a:rPr>
              <a:t>系统及内核的组成</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
          <p:cNvSpPr>
            <a:spLocks noGrp="1" noChangeArrowheads="1"/>
          </p:cNvSpPr>
          <p:nvPr>
            <p:ph type="body" idx="4294967295"/>
          </p:nvPr>
        </p:nvSpPr>
        <p:spPr>
          <a:xfrm>
            <a:off x="250825" y="1538288"/>
            <a:ext cx="8291513" cy="4589462"/>
          </a:xfrm>
        </p:spPr>
        <p:txBody>
          <a:bodyPr/>
          <a:lstStyle/>
          <a:p>
            <a:pPr marL="0" indent="0">
              <a:buNone/>
            </a:pPr>
            <a:r>
              <a:rPr lang="en-US" altLang="zh-CN" dirty="0">
                <a:solidFill>
                  <a:srgbClr val="FF0000"/>
                </a:solidFill>
                <a:latin typeface="楷体_GB2312" pitchFamily="49" charset="-122"/>
                <a:ea typeface="楷体_GB2312" pitchFamily="49" charset="-122"/>
              </a:rPr>
              <a:t>(1)</a:t>
            </a:r>
            <a:r>
              <a:rPr lang="zh-CN" altLang="en-US" dirty="0">
                <a:solidFill>
                  <a:srgbClr val="FF0000"/>
                </a:solidFill>
                <a:latin typeface="楷体_GB2312" pitchFamily="49" charset="-122"/>
                <a:ea typeface="楷体_GB2312" pitchFamily="49" charset="-122"/>
              </a:rPr>
              <a:t>使用单一内核结构</a:t>
            </a:r>
            <a:r>
              <a:rPr lang="zh-CN" altLang="en-US" dirty="0">
                <a:latin typeface="楷体_GB2312" pitchFamily="49" charset="-122"/>
                <a:ea typeface="楷体_GB2312" pitchFamily="49" charset="-122"/>
              </a:rPr>
              <a:t>。但是</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与传统的</a:t>
            </a:r>
            <a:r>
              <a:rPr lang="en-US" altLang="zh-CN" dirty="0">
                <a:latin typeface="楷体_GB2312" pitchFamily="49" charset="-122"/>
                <a:ea typeface="楷体_GB2312" pitchFamily="49" charset="-122"/>
              </a:rPr>
              <a:t>UNIX</a:t>
            </a:r>
            <a:r>
              <a:rPr lang="zh-CN" altLang="en-US" dirty="0">
                <a:latin typeface="楷体_GB2312" pitchFamily="49" charset="-122"/>
                <a:ea typeface="楷体_GB2312" pitchFamily="49" charset="-122"/>
              </a:rPr>
              <a:t>的单一内核结构不同的是，</a:t>
            </a:r>
            <a:r>
              <a:rPr lang="en-US" altLang="zh-CN" dirty="0">
                <a:latin typeface="楷体_GB2312" pitchFamily="49" charset="-122"/>
                <a:ea typeface="楷体_GB2312" pitchFamily="49" charset="-122"/>
              </a:rPr>
              <a:t>Linux</a:t>
            </a:r>
            <a:r>
              <a:rPr lang="zh-CN" altLang="en-US" dirty="0">
                <a:latin typeface="楷体_GB2312" pitchFamily="49" charset="-122"/>
                <a:ea typeface="楷体_GB2312" pitchFamily="49" charset="-122"/>
              </a:rPr>
              <a:t>可以动态装入和卸载内核中的部分代码。 </a:t>
            </a:r>
            <a:r>
              <a:rPr lang="en-US" altLang="zh-CN" dirty="0">
                <a:latin typeface="楷体_GB2312" pitchFamily="49" charset="-122"/>
                <a:ea typeface="楷体_GB2312" pitchFamily="49" charset="-122"/>
              </a:rPr>
              <a:t>Linux</a:t>
            </a:r>
            <a:r>
              <a:rPr lang="zh-CN" altLang="en-US" dirty="0">
                <a:latin typeface="楷体_GB2312" pitchFamily="49" charset="-122"/>
                <a:ea typeface="楷体_GB2312" pitchFamily="49" charset="-122"/>
              </a:rPr>
              <a:t>将这些代码段称为模块</a:t>
            </a:r>
            <a:r>
              <a:rPr lang="en-US" altLang="zh-CN" dirty="0">
                <a:latin typeface="楷体_GB2312" pitchFamily="49" charset="-122"/>
                <a:ea typeface="楷体_GB2312" pitchFamily="49" charset="-122"/>
              </a:rPr>
              <a:t>(module)</a:t>
            </a:r>
            <a:r>
              <a:rPr lang="zh-CN" altLang="en-US" dirty="0">
                <a:latin typeface="楷体_GB2312" pitchFamily="49" charset="-122"/>
                <a:ea typeface="楷体_GB2312" pitchFamily="49" charset="-122"/>
              </a:rPr>
              <a:t>，并给予强有力的支持，可根据需要自动装入和卸载。</a:t>
            </a:r>
            <a:endParaRPr lang="en-US" altLang="zh-CN" dirty="0">
              <a:latin typeface="楷体_GB2312" pitchFamily="49" charset="-122"/>
              <a:ea typeface="楷体_GB2312" pitchFamily="49" charset="-122"/>
            </a:endParaRPr>
          </a:p>
          <a:p>
            <a:pPr marL="0" indent="0">
              <a:buNone/>
            </a:pPr>
            <a:r>
              <a:rPr lang="zh-CN" altLang="en-US" dirty="0">
                <a:latin typeface="楷体_GB2312" pitchFamily="49" charset="-122"/>
                <a:ea typeface="楷体_GB2312" pitchFamily="49" charset="-122"/>
              </a:rPr>
              <a:t>也就是说，</a:t>
            </a:r>
            <a:r>
              <a:rPr lang="en-US" altLang="zh-CN" dirty="0">
                <a:latin typeface="楷体_GB2312" pitchFamily="49" charset="-122"/>
                <a:ea typeface="楷体_GB2312" pitchFamily="49" charset="-122"/>
              </a:rPr>
              <a:t>Linux</a:t>
            </a:r>
            <a:r>
              <a:rPr lang="zh-CN" altLang="en-US" dirty="0">
                <a:latin typeface="楷体_GB2312" pitchFamily="49" charset="-122"/>
                <a:ea typeface="楷体_GB2312" pitchFamily="49" charset="-122"/>
              </a:rPr>
              <a:t>内核运行在单独的内核地址空间。</a:t>
            </a:r>
            <a:r>
              <a:rPr lang="en-US" altLang="zh-CN" dirty="0">
                <a:latin typeface="楷体_GB2312" pitchFamily="49" charset="-122"/>
                <a:ea typeface="楷体_GB2312" pitchFamily="49" charset="-122"/>
              </a:rPr>
              <a:t>Linux</a:t>
            </a:r>
            <a:r>
              <a:rPr lang="zh-CN" altLang="en-US" dirty="0">
                <a:latin typeface="楷体_GB2312" pitchFamily="49" charset="-122"/>
                <a:ea typeface="楷体_GB2312" pitchFamily="49" charset="-122"/>
              </a:rPr>
              <a:t>汲取了微内核的精华：模块化设计、抢占式内核、支持内核线程以及动态装载内核模块的能力。</a:t>
            </a:r>
            <a:r>
              <a:rPr lang="en-US" altLang="zh-CN" dirty="0">
                <a:latin typeface="楷体_GB2312" pitchFamily="49" charset="-122"/>
                <a:ea typeface="楷体_GB2312" pitchFamily="49" charset="-122"/>
              </a:rPr>
              <a:t>Linux</a:t>
            </a:r>
            <a:r>
              <a:rPr lang="zh-CN" altLang="en-US" dirty="0">
                <a:latin typeface="楷体_GB2312" pitchFamily="49" charset="-122"/>
                <a:ea typeface="楷体_GB2312" pitchFamily="49" charset="-122"/>
              </a:rPr>
              <a:t>还避其微内核设计上性能损失的缺陷，让所有事情都运行在内核态，直接调用函数，无需消息传递。</a:t>
            </a:r>
            <a:endParaRPr lang="en-US" altLang="zh-CN" dirty="0">
              <a:latin typeface="楷体_GB2312" pitchFamily="49" charset="-122"/>
              <a:ea typeface="楷体_GB2312" pitchFamily="49" charset="-122"/>
            </a:endParaRPr>
          </a:p>
        </p:txBody>
      </p:sp>
      <p:sp>
        <p:nvSpPr>
          <p:cNvPr id="30723" name="Rectangle 5"/>
          <p:cNvSpPr>
            <a:spLocks noGrp="1" noChangeArrowheads="1"/>
          </p:cNvSpPr>
          <p:nvPr>
            <p:ph type="title" idx="4294967295"/>
          </p:nvPr>
        </p:nvSpPr>
        <p:spPr>
          <a:xfrm>
            <a:off x="0" y="977900"/>
            <a:ext cx="4859338" cy="560388"/>
          </a:xfrm>
        </p:spPr>
        <p:txBody>
          <a:bodyPr anchorCtr="1"/>
          <a:lstStyle/>
          <a:p>
            <a:pPr eaLnBrk="1" hangingPunct="1">
              <a:defRPr/>
            </a:pPr>
            <a:r>
              <a:rPr lang="en-US" altLang="zh-CN" sz="2800" dirty="0">
                <a:solidFill>
                  <a:srgbClr val="2B5681"/>
                </a:solidFill>
                <a:latin typeface="楷体_GB2312" pitchFamily="49" charset="-122"/>
                <a:ea typeface="楷体_GB2312" pitchFamily="49" charset="-122"/>
                <a:cs typeface="+mn-cs"/>
              </a:rPr>
              <a:t>Linux</a:t>
            </a:r>
            <a:r>
              <a:rPr lang="zh-CN" altLang="en-US" sz="2800" dirty="0">
                <a:solidFill>
                  <a:srgbClr val="2B5681"/>
                </a:solidFill>
                <a:latin typeface="楷体_GB2312" pitchFamily="49" charset="-122"/>
                <a:ea typeface="楷体_GB2312" pitchFamily="49" charset="-122"/>
                <a:cs typeface="+mn-cs"/>
              </a:rPr>
              <a:t>内核的特征如下：</a:t>
            </a:r>
          </a:p>
        </p:txBody>
      </p:sp>
      <p:sp>
        <p:nvSpPr>
          <p:cNvPr id="4" name="Rectangle 2"/>
          <p:cNvSpPr txBox="1">
            <a:spLocks noChangeArrowheads="1"/>
          </p:cNvSpPr>
          <p:nvPr/>
        </p:nvSpPr>
        <p:spPr bwMode="black">
          <a:xfrm>
            <a:off x="539750" y="188913"/>
            <a:ext cx="822960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defRPr/>
            </a:pPr>
            <a:r>
              <a:rPr lang="en-US" altLang="zh-CN" kern="0" dirty="0">
                <a:latin typeface="楷体_GB2312" pitchFamily="49" charset="-122"/>
                <a:ea typeface="楷体_GB2312" pitchFamily="49" charset="-122"/>
              </a:rPr>
              <a:t>4.</a:t>
            </a:r>
            <a:r>
              <a:rPr lang="zh-CN" altLang="en-US" kern="0" dirty="0">
                <a:latin typeface="楷体_GB2312" pitchFamily="49" charset="-122"/>
                <a:ea typeface="楷体_GB2312" pitchFamily="49" charset="-122"/>
              </a:rPr>
              <a:t> </a:t>
            </a:r>
            <a:r>
              <a:rPr lang="en-US" altLang="zh-CN" kern="0" dirty="0">
                <a:latin typeface="楷体_GB2312" pitchFamily="49" charset="-122"/>
                <a:ea typeface="楷体_GB2312" pitchFamily="49" charset="-122"/>
              </a:rPr>
              <a:t>Linux </a:t>
            </a:r>
            <a:r>
              <a:rPr lang="zh-CN" altLang="en-US" kern="0" dirty="0">
                <a:latin typeface="楷体_GB2312" pitchFamily="49" charset="-122"/>
                <a:ea typeface="楷体_GB2312" pitchFamily="49" charset="-122"/>
              </a:rPr>
              <a:t>系统及内核的组成</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type="body" idx="1"/>
          </p:nvPr>
        </p:nvSpPr>
        <p:spPr>
          <a:xfrm>
            <a:off x="395288" y="908050"/>
            <a:ext cx="7993062" cy="5272088"/>
          </a:xfrm>
        </p:spPr>
        <p:txBody>
          <a:bodyPr/>
          <a:lstStyle/>
          <a:p>
            <a:pPr>
              <a:buFont typeface="Arial" panose="020B0604020202020204" pitchFamily="34" charset="0"/>
              <a:buChar char="•"/>
            </a:pPr>
            <a:r>
              <a:rPr lang="en-US" altLang="zh-CN" sz="2400" dirty="0">
                <a:solidFill>
                  <a:srgbClr val="FF0000"/>
                </a:solidFill>
                <a:latin typeface="楷体_GB2312" pitchFamily="49" charset="-122"/>
                <a:ea typeface="楷体_GB2312" pitchFamily="49" charset="-122"/>
              </a:rPr>
              <a:t>(2)</a:t>
            </a:r>
            <a:r>
              <a:rPr lang="zh-CN" altLang="en-US" sz="2400" dirty="0">
                <a:solidFill>
                  <a:srgbClr val="FF0000"/>
                </a:solidFill>
                <a:latin typeface="楷体_GB2312" pitchFamily="49" charset="-122"/>
                <a:ea typeface="楷体_GB2312" pitchFamily="49" charset="-122"/>
              </a:rPr>
              <a:t>进程调度方式简单而有效</a:t>
            </a:r>
            <a:r>
              <a:rPr lang="zh-CN" altLang="en-US" sz="2400" dirty="0">
                <a:latin typeface="楷体_GB2312" pitchFamily="49" charset="-122"/>
                <a:ea typeface="楷体_GB2312" pitchFamily="49" charset="-122"/>
              </a:rPr>
              <a:t>。对于用户进程，</a:t>
            </a:r>
            <a:r>
              <a:rPr lang="en-US" altLang="zh-CN" sz="2400" dirty="0">
                <a:latin typeface="楷体_GB2312" pitchFamily="49" charset="-122"/>
                <a:ea typeface="楷体_GB2312" pitchFamily="49" charset="-122"/>
              </a:rPr>
              <a:t>Linux</a:t>
            </a:r>
            <a:r>
              <a:rPr lang="zh-CN" altLang="en-US" sz="2400" dirty="0">
                <a:latin typeface="楷体_GB2312" pitchFamily="49" charset="-122"/>
                <a:ea typeface="楷体_GB2312" pitchFamily="49" charset="-122"/>
              </a:rPr>
              <a:t>采用简单的动态优先级调度方式；对于内核中的例程</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如设备驱动程序、中断服务程序等</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采用软中断机制，保证了内核例程的高效运行。 </a:t>
            </a:r>
          </a:p>
          <a:p>
            <a:pPr>
              <a:buFont typeface="Arial" panose="020B0604020202020204" pitchFamily="34" charset="0"/>
              <a:buChar char="•"/>
            </a:pPr>
            <a:r>
              <a:rPr lang="en-US" altLang="zh-CN" sz="2400" dirty="0">
                <a:solidFill>
                  <a:srgbClr val="FF0000"/>
                </a:solidFill>
                <a:latin typeface="楷体_GB2312" pitchFamily="49" charset="-122"/>
                <a:ea typeface="楷体_GB2312" pitchFamily="49" charset="-122"/>
              </a:rPr>
              <a:t>(3)</a:t>
            </a:r>
            <a:r>
              <a:rPr lang="zh-CN" altLang="en-US" sz="2400" dirty="0">
                <a:solidFill>
                  <a:srgbClr val="FF0000"/>
                </a:solidFill>
                <a:latin typeface="楷体_GB2312" pitchFamily="49" charset="-122"/>
                <a:ea typeface="楷体_GB2312" pitchFamily="49" charset="-122"/>
              </a:rPr>
              <a:t>动态加载内核模块</a:t>
            </a:r>
            <a:r>
              <a:rPr lang="zh-CN" altLang="en-US" sz="2400" dirty="0">
                <a:latin typeface="楷体_GB2312" pitchFamily="49" charset="-122"/>
                <a:ea typeface="楷体_GB2312" pitchFamily="49" charset="-122"/>
              </a:rPr>
              <a:t>。尽管</a:t>
            </a:r>
            <a:r>
              <a:rPr lang="en-US" altLang="zh-CN" sz="2400" dirty="0">
                <a:latin typeface="楷体_GB2312" pitchFamily="49" charset="-122"/>
                <a:ea typeface="楷体_GB2312" pitchFamily="49" charset="-122"/>
              </a:rPr>
              <a:t>Linux</a:t>
            </a:r>
            <a:r>
              <a:rPr lang="zh-CN" altLang="en-US" sz="2400" dirty="0">
                <a:latin typeface="楷体_GB2312" pitchFamily="49" charset="-122"/>
                <a:ea typeface="楷体_GB2312" pitchFamily="49" charset="-122"/>
              </a:rPr>
              <a:t>内核也是单内核，可是允许在需要的时候动态地卸除和加载部分内核代码。模块机制使内核保持独立而又易于扩充，如可以裁减得非常小适合于嵌入式系统。</a:t>
            </a:r>
          </a:p>
          <a:p>
            <a:pPr>
              <a:buFont typeface="Arial" panose="020B0604020202020204" pitchFamily="34" charset="0"/>
              <a:buChar char="•"/>
            </a:pPr>
            <a:r>
              <a:rPr lang="en-US" altLang="zh-CN" sz="2400" dirty="0">
                <a:solidFill>
                  <a:srgbClr val="FF0000"/>
                </a:solidFill>
                <a:latin typeface="楷体_GB2312" pitchFamily="49" charset="-122"/>
                <a:ea typeface="楷体_GB2312" pitchFamily="49" charset="-122"/>
              </a:rPr>
              <a:t>(4)</a:t>
            </a:r>
            <a:r>
              <a:rPr lang="zh-CN" altLang="en-US" sz="2400" dirty="0">
                <a:solidFill>
                  <a:srgbClr val="FF0000"/>
                </a:solidFill>
                <a:latin typeface="楷体_GB2312" pitchFamily="49" charset="-122"/>
                <a:ea typeface="楷体_GB2312" pitchFamily="49" charset="-122"/>
              </a:rPr>
              <a:t>支持对称多处理机制</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尽管许多</a:t>
            </a:r>
            <a:r>
              <a:rPr lang="en-US" altLang="zh-CN" sz="2400" dirty="0">
                <a:latin typeface="楷体_GB2312" pitchFamily="49" charset="-122"/>
                <a:ea typeface="楷体_GB2312" pitchFamily="49" charset="-122"/>
              </a:rPr>
              <a:t>Unix</a:t>
            </a:r>
            <a:r>
              <a:rPr lang="zh-CN" altLang="en-US" sz="2400" dirty="0">
                <a:latin typeface="楷体_GB2312" pitchFamily="49" charset="-122"/>
                <a:ea typeface="楷体_GB2312" pitchFamily="49" charset="-122"/>
              </a:rPr>
              <a:t>的变体也支持</a:t>
            </a:r>
            <a:r>
              <a:rPr lang="en-US" altLang="zh-CN" sz="2400" dirty="0">
                <a:latin typeface="楷体_GB2312" pitchFamily="49" charset="-122"/>
                <a:ea typeface="楷体_GB2312" pitchFamily="49" charset="-122"/>
              </a:rPr>
              <a:t>SMP</a:t>
            </a:r>
            <a:r>
              <a:rPr lang="zh-CN" altLang="en-US" sz="2400" dirty="0">
                <a:latin typeface="楷体_GB2312" pitchFamily="49" charset="-122"/>
                <a:ea typeface="楷体_GB2312" pitchFamily="49" charset="-122"/>
              </a:rPr>
              <a:t>，但传统的</a:t>
            </a:r>
            <a:r>
              <a:rPr lang="en-US" altLang="zh-CN" sz="2400" dirty="0">
                <a:latin typeface="楷体_GB2312" pitchFamily="49" charset="-122"/>
                <a:ea typeface="楷体_GB2312" pitchFamily="49" charset="-122"/>
              </a:rPr>
              <a:t>Unix</a:t>
            </a:r>
            <a:r>
              <a:rPr lang="zh-CN" altLang="en-US" sz="2400" dirty="0">
                <a:latin typeface="楷体_GB2312" pitchFamily="49" charset="-122"/>
                <a:ea typeface="楷体_GB2312" pitchFamily="49" charset="-122"/>
              </a:rPr>
              <a:t>并不支持这种机制。</a:t>
            </a:r>
          </a:p>
          <a:p>
            <a:pPr>
              <a:buFont typeface="Arial" panose="020B0604020202020204" pitchFamily="34" charset="0"/>
              <a:buChar char="•"/>
            </a:pPr>
            <a:r>
              <a:rPr lang="en-US" altLang="zh-CN" sz="2400" dirty="0">
                <a:solidFill>
                  <a:srgbClr val="FF0000"/>
                </a:solidFill>
                <a:latin typeface="楷体_GB2312" pitchFamily="49" charset="-122"/>
                <a:ea typeface="楷体_GB2312" pitchFamily="49" charset="-122"/>
              </a:rPr>
              <a:t>(5)Linux</a:t>
            </a:r>
            <a:r>
              <a:rPr lang="zh-CN" altLang="en-US" sz="2400" dirty="0">
                <a:solidFill>
                  <a:srgbClr val="FF0000"/>
                </a:solidFill>
                <a:latin typeface="楷体_GB2312" pitchFamily="49" charset="-122"/>
                <a:ea typeface="楷体_GB2312" pitchFamily="49" charset="-122"/>
              </a:rPr>
              <a:t>内核可以抢占</a:t>
            </a:r>
            <a:r>
              <a:rPr lang="zh-CN" altLang="en-US" sz="2400" dirty="0">
                <a:latin typeface="楷体_GB2312" pitchFamily="49" charset="-122"/>
                <a:ea typeface="楷体_GB2312" pitchFamily="49" charset="-122"/>
              </a:rPr>
              <a:t>。与传统的</a:t>
            </a:r>
            <a:r>
              <a:rPr lang="en-US" altLang="zh-CN" sz="2400" dirty="0">
                <a:latin typeface="楷体_GB2312" pitchFamily="49" charset="-122"/>
                <a:ea typeface="楷体_GB2312" pitchFamily="49" charset="-122"/>
              </a:rPr>
              <a:t>Unix</a:t>
            </a:r>
            <a:r>
              <a:rPr lang="zh-CN" altLang="en-US" sz="2400" dirty="0">
                <a:latin typeface="楷体_GB2312" pitchFamily="49" charset="-122"/>
                <a:ea typeface="楷体_GB2312" pitchFamily="49" charset="-122"/>
              </a:rPr>
              <a:t>不同，</a:t>
            </a:r>
            <a:r>
              <a:rPr lang="en-US" altLang="zh-CN" sz="2400" dirty="0">
                <a:latin typeface="楷体_GB2312" pitchFamily="49" charset="-122"/>
                <a:ea typeface="楷体_GB2312" pitchFamily="49" charset="-122"/>
              </a:rPr>
              <a:t>Linux</a:t>
            </a:r>
            <a:r>
              <a:rPr lang="zh-CN" altLang="en-US" sz="2400" dirty="0">
                <a:latin typeface="楷体_GB2312" pitchFamily="49" charset="-122"/>
                <a:ea typeface="楷体_GB2312" pitchFamily="49" charset="-122"/>
              </a:rPr>
              <a:t>内核具有允许在内核运行的任务优先执行的能力。在其他各种</a:t>
            </a:r>
            <a:r>
              <a:rPr lang="en-US" altLang="zh-CN" sz="2400" dirty="0">
                <a:latin typeface="楷体_GB2312" pitchFamily="49" charset="-122"/>
                <a:ea typeface="楷体_GB2312" pitchFamily="49" charset="-122"/>
              </a:rPr>
              <a:t>Unix</a:t>
            </a:r>
            <a:r>
              <a:rPr lang="zh-CN" altLang="en-US" sz="2400" dirty="0">
                <a:latin typeface="楷体_GB2312" pitchFamily="49" charset="-122"/>
                <a:ea typeface="楷体_GB2312" pitchFamily="49" charset="-122"/>
              </a:rPr>
              <a:t>产品中，只有</a:t>
            </a:r>
            <a:r>
              <a:rPr lang="en-US" altLang="zh-CN" sz="2400" dirty="0">
                <a:latin typeface="楷体_GB2312" pitchFamily="49" charset="-122"/>
                <a:ea typeface="楷体_GB2312" pitchFamily="49" charset="-122"/>
              </a:rPr>
              <a:t>Solaris</a:t>
            </a:r>
            <a:r>
              <a:rPr lang="zh-CN" altLang="en-US" sz="2400" dirty="0">
                <a:latin typeface="楷体_GB2312" pitchFamily="49" charset="-122"/>
                <a:ea typeface="楷体_GB2312" pitchFamily="49" charset="-122"/>
              </a:rPr>
              <a:t>和</a:t>
            </a:r>
            <a:r>
              <a:rPr lang="en-US" altLang="zh-CN" sz="2400" dirty="0">
                <a:latin typeface="楷体_GB2312" pitchFamily="49" charset="-122"/>
                <a:ea typeface="楷体_GB2312" pitchFamily="49" charset="-122"/>
              </a:rPr>
              <a:t>IRIX</a:t>
            </a:r>
            <a:r>
              <a:rPr lang="zh-CN" altLang="en-US" sz="2400" dirty="0">
                <a:latin typeface="楷体_GB2312" pitchFamily="49" charset="-122"/>
                <a:ea typeface="楷体_GB2312" pitchFamily="49" charset="-122"/>
              </a:rPr>
              <a:t>支持抢占，但是大多数传统的</a:t>
            </a:r>
            <a:r>
              <a:rPr lang="en-US" altLang="zh-CN" sz="2400" dirty="0">
                <a:latin typeface="楷体_GB2312" pitchFamily="49" charset="-122"/>
                <a:ea typeface="楷体_GB2312" pitchFamily="49" charset="-122"/>
              </a:rPr>
              <a:t>Unix</a:t>
            </a:r>
            <a:r>
              <a:rPr lang="zh-CN" altLang="en-US" sz="2400" dirty="0">
                <a:latin typeface="楷体_GB2312" pitchFamily="49" charset="-122"/>
                <a:ea typeface="楷体_GB2312" pitchFamily="49" charset="-122"/>
              </a:rPr>
              <a:t>内核不支持抢占。</a:t>
            </a:r>
          </a:p>
        </p:txBody>
      </p:sp>
      <p:sp>
        <p:nvSpPr>
          <p:cNvPr id="5" name="Rectangle 2"/>
          <p:cNvSpPr txBox="1">
            <a:spLocks noChangeArrowheads="1"/>
          </p:cNvSpPr>
          <p:nvPr/>
        </p:nvSpPr>
        <p:spPr bwMode="black">
          <a:xfrm>
            <a:off x="539750" y="188913"/>
            <a:ext cx="822960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defRPr/>
            </a:pPr>
            <a:r>
              <a:rPr lang="en-US" altLang="zh-CN" kern="0" dirty="0">
                <a:latin typeface="楷体_GB2312" pitchFamily="49" charset="-122"/>
                <a:ea typeface="楷体_GB2312" pitchFamily="49" charset="-122"/>
              </a:rPr>
              <a:t>4.</a:t>
            </a:r>
            <a:r>
              <a:rPr lang="zh-CN" altLang="en-US" kern="0" dirty="0">
                <a:latin typeface="楷体_GB2312" pitchFamily="49" charset="-122"/>
                <a:ea typeface="楷体_GB2312" pitchFamily="49" charset="-122"/>
              </a:rPr>
              <a:t> </a:t>
            </a:r>
            <a:r>
              <a:rPr lang="en-US" altLang="zh-CN" kern="0" dirty="0">
                <a:latin typeface="楷体_GB2312" pitchFamily="49" charset="-122"/>
                <a:ea typeface="楷体_GB2312" pitchFamily="49" charset="-122"/>
              </a:rPr>
              <a:t>Linux </a:t>
            </a:r>
            <a:r>
              <a:rPr lang="zh-CN" altLang="en-US" kern="0" dirty="0">
                <a:latin typeface="楷体_GB2312" pitchFamily="49" charset="-122"/>
                <a:ea typeface="楷体_GB2312" pitchFamily="49" charset="-122"/>
              </a:rPr>
              <a:t>系统及内核的组成</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内容占位符 2"/>
          <p:cNvSpPr>
            <a:spLocks noGrp="1"/>
          </p:cNvSpPr>
          <p:nvPr>
            <p:ph idx="1"/>
          </p:nvPr>
        </p:nvSpPr>
        <p:spPr/>
        <p:txBody>
          <a:bodyPr/>
          <a:lstStyle/>
          <a:p>
            <a:pPr marL="0" indent="0">
              <a:lnSpc>
                <a:spcPct val="125000"/>
              </a:lnSpc>
              <a:buNone/>
            </a:pPr>
            <a:r>
              <a:rPr lang="en-US" altLang="zh-CN" sz="2400" dirty="0">
                <a:solidFill>
                  <a:srgbClr val="FF0000"/>
                </a:solidFill>
                <a:latin typeface="楷体_GB2312" pitchFamily="49" charset="-122"/>
                <a:ea typeface="楷体_GB2312" pitchFamily="49" charset="-122"/>
              </a:rPr>
              <a:t>(6)Linux</a:t>
            </a:r>
            <a:r>
              <a:rPr lang="zh-CN" altLang="en-US" sz="2400" dirty="0">
                <a:solidFill>
                  <a:srgbClr val="FF0000"/>
                </a:solidFill>
                <a:latin typeface="楷体_GB2312" pitchFamily="49" charset="-122"/>
                <a:ea typeface="楷体_GB2312" pitchFamily="49" charset="-122"/>
              </a:rPr>
              <a:t>对线程的支持</a:t>
            </a:r>
            <a:r>
              <a:rPr lang="zh-CN" altLang="en-US" sz="2400" dirty="0">
                <a:latin typeface="楷体_GB2312" pitchFamily="49" charset="-122"/>
                <a:ea typeface="楷体_GB2312" pitchFamily="49" charset="-122"/>
              </a:rPr>
              <a:t>：内核并不区分线程和其他的一般进程。对于内核来说，所有的进程都一样</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只不过其中的一些共享资源而已。</a:t>
            </a:r>
          </a:p>
          <a:p>
            <a:pPr marL="0" indent="0">
              <a:lnSpc>
                <a:spcPct val="125000"/>
              </a:lnSpc>
              <a:buNone/>
            </a:pPr>
            <a:r>
              <a:rPr lang="en-US" altLang="zh-CN" sz="2400" dirty="0">
                <a:latin typeface="楷体_GB2312" pitchFamily="49" charset="-122"/>
                <a:ea typeface="楷体_GB2312" pitchFamily="49" charset="-122"/>
              </a:rPr>
              <a:t>Linux</a:t>
            </a:r>
            <a:r>
              <a:rPr lang="zh-CN" altLang="en-US" sz="2400" dirty="0">
                <a:latin typeface="楷体_GB2312" pitchFamily="49" charset="-122"/>
                <a:ea typeface="楷体_GB2312" pitchFamily="49" charset="-122"/>
              </a:rPr>
              <a:t>提供具有设备类的面向对象的设备模型、热插拔事件，以及用户空间的设备文件系统。</a:t>
            </a:r>
          </a:p>
          <a:p>
            <a:pPr marL="457200" lvl="1" indent="0">
              <a:lnSpc>
                <a:spcPct val="125000"/>
              </a:lnSpc>
              <a:buNone/>
            </a:pPr>
            <a:endParaRPr lang="zh-CN" altLang="en-US" sz="2400" dirty="0"/>
          </a:p>
          <a:p>
            <a:pPr>
              <a:lnSpc>
                <a:spcPct val="125000"/>
              </a:lnSpc>
            </a:pPr>
            <a:endParaRPr lang="zh-CN" altLang="en-US" dirty="0"/>
          </a:p>
        </p:txBody>
      </p:sp>
      <p:sp>
        <p:nvSpPr>
          <p:cNvPr id="5" name="Rectangle 2"/>
          <p:cNvSpPr txBox="1">
            <a:spLocks noChangeArrowheads="1"/>
          </p:cNvSpPr>
          <p:nvPr/>
        </p:nvSpPr>
        <p:spPr bwMode="black">
          <a:xfrm>
            <a:off x="539750" y="188913"/>
            <a:ext cx="822960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defRPr/>
            </a:pPr>
            <a:r>
              <a:rPr lang="en-US" altLang="zh-CN" kern="0" dirty="0">
                <a:latin typeface="楷体_GB2312" pitchFamily="49" charset="-122"/>
                <a:ea typeface="楷体_GB2312" pitchFamily="49" charset="-122"/>
              </a:rPr>
              <a:t>4.</a:t>
            </a:r>
            <a:r>
              <a:rPr lang="zh-CN" altLang="en-US" kern="0" dirty="0">
                <a:latin typeface="楷体_GB2312" pitchFamily="49" charset="-122"/>
                <a:ea typeface="楷体_GB2312" pitchFamily="49" charset="-122"/>
              </a:rPr>
              <a:t> </a:t>
            </a:r>
            <a:r>
              <a:rPr lang="en-US" altLang="zh-CN" kern="0" dirty="0">
                <a:latin typeface="楷体_GB2312" pitchFamily="49" charset="-122"/>
                <a:ea typeface="楷体_GB2312" pitchFamily="49" charset="-122"/>
              </a:rPr>
              <a:t>Linux </a:t>
            </a:r>
            <a:r>
              <a:rPr lang="zh-CN" altLang="en-US" kern="0" dirty="0">
                <a:latin typeface="楷体_GB2312" pitchFamily="49" charset="-122"/>
                <a:ea typeface="楷体_GB2312" pitchFamily="49" charset="-122"/>
              </a:rPr>
              <a:t>系统及内核的组成</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US" altLang="zh-CN">
                <a:latin typeface="楷体_GB2312" pitchFamily="49" charset="-122"/>
                <a:ea typeface="楷体_GB2312" pitchFamily="49" charset="-122"/>
              </a:rPr>
              <a:t>5</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Linux</a:t>
            </a:r>
            <a:r>
              <a:rPr lang="zh-CN" altLang="en-GB">
                <a:latin typeface="楷体_GB2312" pitchFamily="49" charset="-122"/>
                <a:ea typeface="楷体_GB2312" pitchFamily="49" charset="-122"/>
              </a:rPr>
              <a:t>版本认识</a:t>
            </a:r>
            <a:endParaRPr lang="zh-CN" altLang="en-US">
              <a:latin typeface="楷体_GB2312" pitchFamily="49" charset="-122"/>
              <a:ea typeface="楷体_GB2312" pitchFamily="49" charset="-122"/>
            </a:endParaRPr>
          </a:p>
        </p:txBody>
      </p:sp>
      <p:sp>
        <p:nvSpPr>
          <p:cNvPr id="49155"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dirty="0">
                <a:solidFill>
                  <a:srgbClr val="FF0000"/>
                </a:solidFill>
                <a:latin typeface="楷体_GB2312" pitchFamily="49" charset="-122"/>
                <a:ea typeface="楷体_GB2312"/>
              </a:rPr>
              <a:t>版本：分为内核版、发行版</a:t>
            </a:r>
          </a:p>
          <a:p>
            <a:pPr lvl="1" eaLnBrk="1" hangingPunct="1">
              <a:buFont typeface="Arial" panose="020B0604020202020204" pitchFamily="34" charset="0"/>
              <a:buChar char="•"/>
            </a:pPr>
            <a:r>
              <a:rPr lang="zh-CN" altLang="en-US" sz="2800" dirty="0">
                <a:solidFill>
                  <a:srgbClr val="FF0000"/>
                </a:solidFill>
                <a:latin typeface="楷体_GB2312" pitchFamily="49" charset="-122"/>
                <a:ea typeface="楷体_GB2312"/>
              </a:rPr>
              <a:t>内核版：</a:t>
            </a:r>
            <a:r>
              <a:rPr lang="zh-CN" altLang="en-US" sz="2800" dirty="0">
                <a:solidFill>
                  <a:srgbClr val="004182"/>
                </a:solidFill>
                <a:latin typeface="楷体_GB2312" pitchFamily="49" charset="-122"/>
                <a:ea typeface="楷体_GB2312"/>
              </a:rPr>
              <a:t>分为稳定版、测试版</a:t>
            </a:r>
            <a:endParaRPr lang="en-US" altLang="zh-CN" sz="2800" dirty="0">
              <a:solidFill>
                <a:srgbClr val="004182"/>
              </a:solidFill>
              <a:latin typeface="楷体_GB2312" pitchFamily="49" charset="-122"/>
              <a:ea typeface="楷体_GB2312"/>
            </a:endParaRPr>
          </a:p>
          <a:p>
            <a:pPr lvl="1" eaLnBrk="1" hangingPunct="1">
              <a:buFont typeface="Arial" panose="020B0604020202020204" pitchFamily="34" charset="0"/>
              <a:buChar char="•"/>
            </a:pPr>
            <a:r>
              <a:rPr lang="zh-CN" altLang="en-US" sz="2800" dirty="0">
                <a:solidFill>
                  <a:srgbClr val="FF0000"/>
                </a:solidFill>
                <a:latin typeface="楷体_GB2312" pitchFamily="49" charset="-122"/>
                <a:ea typeface="楷体_GB2312"/>
              </a:rPr>
              <a:t>发行版：</a:t>
            </a:r>
            <a:r>
              <a:rPr lang="zh-CN" altLang="en-US" sz="2800" dirty="0">
                <a:solidFill>
                  <a:srgbClr val="004182"/>
                </a:solidFill>
                <a:latin typeface="楷体_GB2312" pitchFamily="49" charset="-122"/>
                <a:ea typeface="楷体_GB2312"/>
              </a:rPr>
              <a:t>与基本组成与安装、配置、技术支持、第三方应用有关</a:t>
            </a:r>
          </a:p>
          <a:p>
            <a:pPr lvl="1" eaLnBrk="1" hangingPunct="1">
              <a:buFont typeface="Arial" panose="020B0604020202020204" pitchFamily="34" charset="0"/>
              <a:buChar char="•"/>
            </a:pPr>
            <a:r>
              <a:rPr lang="zh-CN" altLang="en-US" sz="2800" dirty="0">
                <a:solidFill>
                  <a:srgbClr val="004182"/>
                </a:solidFill>
                <a:latin typeface="楷体_GB2312" pitchFamily="49" charset="-122"/>
                <a:ea typeface="楷体_GB2312"/>
              </a:rPr>
              <a:t>发行版＝内核＋</a:t>
            </a:r>
            <a:r>
              <a:rPr lang="en-US" altLang="zh-CN" sz="2800" dirty="0">
                <a:solidFill>
                  <a:srgbClr val="004182"/>
                </a:solidFill>
                <a:latin typeface="楷体_GB2312" pitchFamily="49" charset="-122"/>
                <a:ea typeface="楷体_GB2312"/>
              </a:rPr>
              <a:t>tools</a:t>
            </a:r>
            <a:endParaRPr lang="en-US" altLang="zh-CN" dirty="0">
              <a:solidFill>
                <a:srgbClr val="004182"/>
              </a:solidFill>
              <a:latin typeface="楷体_GB2312" pitchFamily="49" charset="-122"/>
              <a:ea typeface="楷体_GB2312"/>
            </a:endParaRPr>
          </a:p>
          <a:p>
            <a:pPr eaLnBrk="1" hangingPunct="1">
              <a:buFont typeface="Arial" panose="020B0604020202020204" pitchFamily="34" charset="0"/>
              <a:buChar char="•"/>
            </a:pPr>
            <a:r>
              <a:rPr lang="en-US" altLang="zh-CN" dirty="0">
                <a:solidFill>
                  <a:srgbClr val="FF0000"/>
                </a:solidFill>
                <a:latin typeface="楷体_GB2312" pitchFamily="49" charset="-122"/>
                <a:ea typeface="楷体_GB2312"/>
              </a:rPr>
              <a:t>Linux</a:t>
            </a:r>
            <a:r>
              <a:rPr lang="zh-CN" altLang="en-US" dirty="0">
                <a:solidFill>
                  <a:srgbClr val="FF0000"/>
                </a:solidFill>
                <a:latin typeface="楷体_GB2312" pitchFamily="49" charset="-122"/>
                <a:ea typeface="楷体_GB2312"/>
              </a:rPr>
              <a:t>内核采用的是双树系统</a:t>
            </a:r>
          </a:p>
          <a:p>
            <a:pPr lvl="1" eaLnBrk="1" hangingPunct="1">
              <a:buFont typeface="Arial" panose="020B0604020202020204" pitchFamily="34" charset="0"/>
              <a:buChar char="•"/>
            </a:pPr>
            <a:r>
              <a:rPr lang="zh-CN" altLang="en-US" sz="2800" dirty="0">
                <a:solidFill>
                  <a:srgbClr val="2B5681"/>
                </a:solidFill>
                <a:latin typeface="楷体_GB2312" pitchFamily="49" charset="-122"/>
                <a:ea typeface="楷体_GB2312"/>
              </a:rPr>
              <a:t>一棵是</a:t>
            </a:r>
            <a:r>
              <a:rPr lang="zh-CN" altLang="en-US" sz="2800" dirty="0">
                <a:solidFill>
                  <a:srgbClr val="FF0000"/>
                </a:solidFill>
                <a:latin typeface="楷体_GB2312" pitchFamily="49" charset="-122"/>
                <a:ea typeface="楷体_GB2312"/>
              </a:rPr>
              <a:t>稳定树</a:t>
            </a:r>
            <a:r>
              <a:rPr lang="zh-CN" altLang="en-US" sz="2800" dirty="0">
                <a:solidFill>
                  <a:srgbClr val="2B5681"/>
                </a:solidFill>
                <a:latin typeface="楷体_GB2312" pitchFamily="49" charset="-122"/>
                <a:ea typeface="楷体_GB2312"/>
              </a:rPr>
              <a:t>，主要用于发行，新推出的稳定内核大部分都只是修正了一些</a:t>
            </a:r>
            <a:r>
              <a:rPr lang="en-US" altLang="zh-CN" sz="2800" dirty="0">
                <a:solidFill>
                  <a:srgbClr val="2B5681"/>
                </a:solidFill>
                <a:latin typeface="楷体_GB2312" pitchFamily="49" charset="-122"/>
                <a:ea typeface="楷体_GB2312"/>
              </a:rPr>
              <a:t>Bug</a:t>
            </a:r>
            <a:r>
              <a:rPr lang="zh-CN" altLang="en-US" sz="2800" dirty="0">
                <a:solidFill>
                  <a:srgbClr val="2B5681"/>
                </a:solidFill>
                <a:latin typeface="楷体_GB2312" pitchFamily="49" charset="-122"/>
                <a:ea typeface="楷体_GB2312"/>
              </a:rPr>
              <a:t>或是加入了一些新的设备驱动程序。</a:t>
            </a:r>
          </a:p>
          <a:p>
            <a:pPr lvl="1" eaLnBrk="1" hangingPunct="1">
              <a:buFont typeface="Arial" panose="020B0604020202020204" pitchFamily="34" charset="0"/>
              <a:buChar char="•"/>
            </a:pPr>
            <a:r>
              <a:rPr lang="zh-CN" altLang="en-US" sz="2800" dirty="0">
                <a:solidFill>
                  <a:srgbClr val="2B5681"/>
                </a:solidFill>
                <a:latin typeface="楷体_GB2312" pitchFamily="49" charset="-122"/>
                <a:ea typeface="楷体_GB2312"/>
              </a:rPr>
              <a:t>另一棵是非稳定树或称为</a:t>
            </a:r>
            <a:r>
              <a:rPr lang="zh-CN" altLang="en-US" sz="2800" dirty="0">
                <a:solidFill>
                  <a:srgbClr val="FF0000"/>
                </a:solidFill>
                <a:latin typeface="楷体_GB2312" pitchFamily="49" charset="-122"/>
                <a:ea typeface="楷体_GB2312"/>
              </a:rPr>
              <a:t>开发树</a:t>
            </a:r>
            <a:r>
              <a:rPr lang="zh-CN" altLang="en-US" sz="2800" dirty="0">
                <a:solidFill>
                  <a:srgbClr val="2B5681"/>
                </a:solidFill>
                <a:latin typeface="楷体_GB2312" pitchFamily="49" charset="-122"/>
                <a:ea typeface="楷体_GB2312"/>
              </a:rPr>
              <a:t>，用于产品开发和改进，变化很快。</a:t>
            </a:r>
          </a:p>
          <a:p>
            <a:pPr lvl="1" eaLnBrk="1" hangingPunct="1">
              <a:buFont typeface="Wingdings" panose="05000000000000000000" pitchFamily="2" charset="2"/>
              <a:buNone/>
            </a:pPr>
            <a:endParaRPr lang="zh-CN" altLang="en-US" dirty="0">
              <a:latin typeface="楷体_GB2312" pitchFamily="49" charset="-122"/>
              <a:ea typeface="楷体_GB2312" pitchFamily="49" charset="-122"/>
            </a:endParaRPr>
          </a:p>
          <a:p>
            <a:pPr eaLnBrk="1" hangingPunct="1"/>
            <a:endParaRPr lang="zh-CN" altLang="en-US" sz="2600" dirty="0">
              <a:solidFill>
                <a:srgbClr val="008080"/>
              </a:solidFill>
              <a:latin typeface="楷体_GB2312" pitchFamily="49" charset="-122"/>
              <a:ea typeface="楷体_GB2312" pitchFamily="49"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ChangeArrowheads="1"/>
          </p:cNvSpPr>
          <p:nvPr/>
        </p:nvSpPr>
        <p:spPr bwMode="auto">
          <a:xfrm>
            <a:off x="714375" y="857250"/>
            <a:ext cx="7889875" cy="554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buNone/>
            </a:pPr>
            <a:r>
              <a:rPr lang="en-US" altLang="zh-CN" dirty="0">
                <a:solidFill>
                  <a:srgbClr val="FF0000"/>
                </a:solidFill>
                <a:latin typeface="楷体_GB2312" pitchFamily="49" charset="-122"/>
                <a:ea typeface="楷体_GB2312" pitchFamily="49" charset="-122"/>
              </a:rPr>
              <a:t>Linux</a:t>
            </a:r>
            <a:r>
              <a:rPr lang="zh-CN" altLang="en-US" dirty="0">
                <a:solidFill>
                  <a:srgbClr val="FF0000"/>
                </a:solidFill>
                <a:latin typeface="楷体_GB2312" pitchFamily="49" charset="-122"/>
                <a:ea typeface="楷体_GB2312" pitchFamily="49" charset="-122"/>
              </a:rPr>
              <a:t>内核版本号由</a:t>
            </a:r>
            <a:r>
              <a:rPr lang="en-US" altLang="zh-CN" dirty="0">
                <a:solidFill>
                  <a:srgbClr val="FF0000"/>
                </a:solidFill>
                <a:latin typeface="楷体_GB2312" pitchFamily="49" charset="-122"/>
                <a:ea typeface="楷体_GB2312" pitchFamily="49" charset="-122"/>
              </a:rPr>
              <a:t>3</a:t>
            </a:r>
            <a:r>
              <a:rPr lang="zh-CN" altLang="en-US" dirty="0">
                <a:solidFill>
                  <a:srgbClr val="FF0000"/>
                </a:solidFill>
                <a:latin typeface="楷体_GB2312" pitchFamily="49" charset="-122"/>
                <a:ea typeface="楷体_GB2312" pitchFamily="49" charset="-122"/>
              </a:rPr>
              <a:t>位数字组成</a:t>
            </a:r>
            <a:r>
              <a:rPr lang="en-GB" altLang="zh-CN" dirty="0" err="1">
                <a:solidFill>
                  <a:srgbClr val="FF0000"/>
                </a:solidFill>
                <a:latin typeface="宋体" panose="02010600030101010101" pitchFamily="2" charset="-122"/>
                <a:ea typeface="宋体" panose="02010600030101010101" pitchFamily="2" charset="-122"/>
              </a:rPr>
              <a:t>r.x.y</a:t>
            </a:r>
            <a:endParaRPr lang="en-GB" altLang="zh-CN" dirty="0">
              <a:solidFill>
                <a:srgbClr val="FF0000"/>
              </a:solidFill>
              <a:latin typeface="宋体" panose="02010600030101010101" pitchFamily="2" charset="-122"/>
              <a:ea typeface="宋体" panose="02010600030101010101" pitchFamily="2" charset="-122"/>
            </a:endParaRPr>
          </a:p>
          <a:p>
            <a:pPr lvl="1" eaLnBrk="1" hangingPunct="1"/>
            <a:r>
              <a:rPr lang="zh-CN" altLang="en-US" sz="2400" dirty="0">
                <a:solidFill>
                  <a:srgbClr val="004182"/>
                </a:solidFill>
                <a:latin typeface="楷体_GB2312" pitchFamily="49" charset="-122"/>
                <a:ea typeface="楷体_GB2312" pitchFamily="49" charset="-122"/>
              </a:rPr>
              <a:t>使用三个或者四个用“</a:t>
            </a:r>
            <a:r>
              <a:rPr lang="en-US" altLang="zh-CN" sz="2400" dirty="0">
                <a:solidFill>
                  <a:srgbClr val="004182"/>
                </a:solidFill>
                <a:latin typeface="楷体_GB2312" pitchFamily="49" charset="-122"/>
                <a:ea typeface="楷体_GB2312" pitchFamily="49" charset="-122"/>
              </a:rPr>
              <a:t>.”</a:t>
            </a:r>
            <a:r>
              <a:rPr lang="zh-CN" altLang="en-US" sz="2400" dirty="0">
                <a:solidFill>
                  <a:srgbClr val="004182"/>
                </a:solidFill>
                <a:latin typeface="楷体_GB2312" pitchFamily="49" charset="-122"/>
                <a:ea typeface="楷体_GB2312" pitchFamily="49" charset="-122"/>
              </a:rPr>
              <a:t>分隔的数字来代表不同内核版本。</a:t>
            </a:r>
            <a:endParaRPr lang="en-US" altLang="zh-CN" sz="2400" dirty="0">
              <a:solidFill>
                <a:srgbClr val="004182"/>
              </a:solidFill>
              <a:latin typeface="楷体_GB2312" pitchFamily="49" charset="-122"/>
              <a:ea typeface="楷体_GB2312" pitchFamily="49" charset="-122"/>
            </a:endParaRPr>
          </a:p>
          <a:p>
            <a:pPr lvl="1" eaLnBrk="1" hangingPunct="1"/>
            <a:r>
              <a:rPr lang="zh-CN" altLang="en-US" sz="2400" dirty="0">
                <a:solidFill>
                  <a:srgbClr val="004182"/>
                </a:solidFill>
                <a:latin typeface="楷体_GB2312" pitchFamily="49" charset="-122"/>
                <a:ea typeface="楷体_GB2312" pitchFamily="49" charset="-122"/>
              </a:rPr>
              <a:t>第一个数字是主版本号，第二个数字是从版本号，第三个数字是修订版本号，第四个可选的数字为稳定版本号（</a:t>
            </a:r>
            <a:r>
              <a:rPr lang="en-US" altLang="zh-CN" sz="2400" dirty="0">
                <a:solidFill>
                  <a:srgbClr val="004182"/>
                </a:solidFill>
                <a:latin typeface="楷体_GB2312" pitchFamily="49" charset="-122"/>
                <a:ea typeface="楷体_GB2312" pitchFamily="49" charset="-122"/>
              </a:rPr>
              <a:t>stable version</a:t>
            </a:r>
            <a:r>
              <a:rPr lang="zh-CN" altLang="en-US" sz="2400" dirty="0">
                <a:solidFill>
                  <a:srgbClr val="004182"/>
                </a:solidFill>
                <a:latin typeface="楷体_GB2312" pitchFamily="49" charset="-122"/>
                <a:ea typeface="楷体_GB2312" pitchFamily="49" charset="-122"/>
              </a:rPr>
              <a:t>）。</a:t>
            </a:r>
            <a:endParaRPr lang="en-US" altLang="zh-CN" sz="2400" dirty="0">
              <a:solidFill>
                <a:srgbClr val="004182"/>
              </a:solidFill>
              <a:latin typeface="楷体_GB2312" pitchFamily="49" charset="-122"/>
              <a:ea typeface="楷体_GB2312" pitchFamily="49" charset="-122"/>
            </a:endParaRPr>
          </a:p>
          <a:p>
            <a:pPr lvl="1" eaLnBrk="1" hangingPunct="1"/>
            <a:r>
              <a:rPr lang="zh-CN" altLang="en-US" sz="2400" dirty="0">
                <a:solidFill>
                  <a:srgbClr val="004182"/>
                </a:solidFill>
                <a:latin typeface="楷体_GB2312" pitchFamily="49" charset="-122"/>
                <a:ea typeface="楷体_GB2312" pitchFamily="49" charset="-122"/>
              </a:rPr>
              <a:t>从版本号可以反映出该内核是一个稳定版本还是一个处于开发中的版本：该数字如果是偶数，那么此内核就是稳定版；如果是奇数，那么它就是开发版。</a:t>
            </a:r>
            <a:endParaRPr lang="en-US" altLang="zh-CN" sz="2400" dirty="0">
              <a:solidFill>
                <a:srgbClr val="004182"/>
              </a:solidFill>
              <a:latin typeface="楷体_GB2312" pitchFamily="49" charset="-122"/>
              <a:ea typeface="楷体_GB2312" pitchFamily="49" charset="-122"/>
            </a:endParaRPr>
          </a:p>
          <a:p>
            <a:pPr lvl="1" eaLnBrk="1" hangingPunct="1"/>
            <a:r>
              <a:rPr lang="zh-CN" altLang="en-US" sz="2400" dirty="0">
                <a:solidFill>
                  <a:srgbClr val="004182"/>
                </a:solidFill>
                <a:latin typeface="楷体_GB2312" pitchFamily="49" charset="-122"/>
                <a:ea typeface="楷体_GB2312" pitchFamily="49" charset="-122"/>
              </a:rPr>
              <a:t>例如：版本号为</a:t>
            </a:r>
            <a:r>
              <a:rPr lang="en-US" altLang="zh-CN" sz="2400" dirty="0">
                <a:solidFill>
                  <a:srgbClr val="004182"/>
                </a:solidFill>
                <a:latin typeface="楷体_GB2312" pitchFamily="49" charset="-122"/>
                <a:ea typeface="楷体_GB2312" pitchFamily="49" charset="-122"/>
              </a:rPr>
              <a:t>2.6.30.1</a:t>
            </a:r>
            <a:r>
              <a:rPr lang="zh-CN" altLang="en-US" sz="2400" dirty="0">
                <a:solidFill>
                  <a:srgbClr val="004182"/>
                </a:solidFill>
                <a:latin typeface="楷体_GB2312" pitchFamily="49" charset="-122"/>
                <a:ea typeface="楷体_GB2312" pitchFamily="49" charset="-122"/>
              </a:rPr>
              <a:t>的内核</a:t>
            </a:r>
            <a:r>
              <a:rPr lang="en-US" altLang="zh-CN" sz="2400" dirty="0">
                <a:solidFill>
                  <a:srgbClr val="004182"/>
                </a:solidFill>
                <a:latin typeface="楷体_GB2312" pitchFamily="49" charset="-122"/>
                <a:ea typeface="楷体_GB2312" pitchFamily="49" charset="-122"/>
              </a:rPr>
              <a:t>---</a:t>
            </a:r>
            <a:r>
              <a:rPr lang="zh-CN" altLang="en-US" sz="2400" dirty="0">
                <a:solidFill>
                  <a:srgbClr val="004182"/>
                </a:solidFill>
                <a:latin typeface="楷体_GB2312" pitchFamily="49" charset="-122"/>
                <a:ea typeface="楷体_GB2312" pitchFamily="49" charset="-122"/>
              </a:rPr>
              <a:t>稳定版。内核的主版本号是</a:t>
            </a:r>
            <a:r>
              <a:rPr lang="en-US" altLang="zh-CN" sz="2400" dirty="0">
                <a:solidFill>
                  <a:srgbClr val="004182"/>
                </a:solidFill>
                <a:latin typeface="楷体_GB2312" pitchFamily="49" charset="-122"/>
                <a:ea typeface="楷体_GB2312" pitchFamily="49" charset="-122"/>
              </a:rPr>
              <a:t>2</a:t>
            </a:r>
            <a:r>
              <a:rPr lang="zh-CN" altLang="en-US" sz="2400" dirty="0">
                <a:solidFill>
                  <a:srgbClr val="004182"/>
                </a:solidFill>
                <a:latin typeface="楷体_GB2312" pitchFamily="49" charset="-122"/>
                <a:ea typeface="楷体_GB2312" pitchFamily="49" charset="-122"/>
              </a:rPr>
              <a:t>，从版本号是</a:t>
            </a:r>
            <a:r>
              <a:rPr lang="en-US" altLang="zh-CN" sz="2400" dirty="0">
                <a:solidFill>
                  <a:srgbClr val="004182"/>
                </a:solidFill>
                <a:latin typeface="楷体_GB2312" pitchFamily="49" charset="-122"/>
                <a:ea typeface="楷体_GB2312" pitchFamily="49" charset="-122"/>
              </a:rPr>
              <a:t>6</a:t>
            </a:r>
            <a:r>
              <a:rPr lang="zh-CN" altLang="en-US" sz="2400" dirty="0">
                <a:solidFill>
                  <a:srgbClr val="004182"/>
                </a:solidFill>
                <a:latin typeface="楷体_GB2312" pitchFamily="49" charset="-122"/>
                <a:ea typeface="楷体_GB2312" pitchFamily="49" charset="-122"/>
              </a:rPr>
              <a:t>，修订版本号是</a:t>
            </a:r>
            <a:r>
              <a:rPr lang="en-US" altLang="zh-CN" sz="2400" dirty="0">
                <a:solidFill>
                  <a:srgbClr val="004182"/>
                </a:solidFill>
                <a:latin typeface="楷体_GB2312" pitchFamily="49" charset="-122"/>
                <a:ea typeface="楷体_GB2312" pitchFamily="49" charset="-122"/>
              </a:rPr>
              <a:t>30</a:t>
            </a:r>
            <a:r>
              <a:rPr lang="zh-CN" altLang="en-US" sz="2400" dirty="0">
                <a:solidFill>
                  <a:srgbClr val="004182"/>
                </a:solidFill>
                <a:latin typeface="楷体_GB2312" pitchFamily="49" charset="-122"/>
                <a:ea typeface="楷体_GB2312" pitchFamily="49" charset="-122"/>
              </a:rPr>
              <a:t>，稳定版本号是</a:t>
            </a:r>
            <a:r>
              <a:rPr lang="en-US" altLang="zh-CN" sz="2400" dirty="0">
                <a:solidFill>
                  <a:srgbClr val="004182"/>
                </a:solidFill>
                <a:latin typeface="楷体_GB2312" pitchFamily="49" charset="-122"/>
                <a:ea typeface="楷体_GB2312" pitchFamily="49" charset="-122"/>
              </a:rPr>
              <a:t>1</a:t>
            </a:r>
            <a:r>
              <a:rPr lang="zh-CN" altLang="en-US" sz="2400" dirty="0">
                <a:solidFill>
                  <a:srgbClr val="004182"/>
                </a:solidFill>
                <a:latin typeface="楷体_GB2312" pitchFamily="49" charset="-122"/>
                <a:ea typeface="楷体_GB2312" pitchFamily="49" charset="-122"/>
              </a:rPr>
              <a:t>。</a:t>
            </a:r>
            <a:endParaRPr lang="en-US" altLang="zh-CN" sz="2400" dirty="0">
              <a:solidFill>
                <a:srgbClr val="004182"/>
              </a:solidFill>
              <a:latin typeface="楷体_GB2312" pitchFamily="49" charset="-122"/>
              <a:ea typeface="楷体_GB2312" pitchFamily="49" charset="-122"/>
            </a:endParaRPr>
          </a:p>
          <a:p>
            <a:pPr lvl="1" eaLnBrk="1" hangingPunct="1"/>
            <a:r>
              <a:rPr lang="zh-CN" altLang="en-US" sz="2400" dirty="0">
                <a:solidFill>
                  <a:srgbClr val="004182"/>
                </a:solidFill>
                <a:latin typeface="楷体_GB2312" pitchFamily="49" charset="-122"/>
                <a:ea typeface="楷体_GB2312" pitchFamily="49" charset="-122"/>
              </a:rPr>
              <a:t>头两个数字在一起描述了“内核系列”</a:t>
            </a:r>
            <a:r>
              <a:rPr lang="en-US" altLang="zh-CN" sz="2400" dirty="0">
                <a:solidFill>
                  <a:srgbClr val="004182"/>
                </a:solidFill>
                <a:latin typeface="楷体_GB2312" pitchFamily="49" charset="-122"/>
                <a:ea typeface="楷体_GB2312" pitchFamily="49" charset="-122"/>
              </a:rPr>
              <a:t>—</a:t>
            </a:r>
            <a:r>
              <a:rPr lang="zh-CN" altLang="en-US" sz="2400" dirty="0">
                <a:solidFill>
                  <a:srgbClr val="004182"/>
                </a:solidFill>
                <a:latin typeface="楷体_GB2312" pitchFamily="49" charset="-122"/>
                <a:ea typeface="楷体_GB2312" pitchFamily="49" charset="-122"/>
              </a:rPr>
              <a:t>在这个例子中，就是</a:t>
            </a:r>
            <a:r>
              <a:rPr lang="en-US" altLang="zh-CN" sz="2400" dirty="0">
                <a:solidFill>
                  <a:srgbClr val="004182"/>
                </a:solidFill>
                <a:latin typeface="楷体_GB2312" pitchFamily="49" charset="-122"/>
                <a:ea typeface="楷体_GB2312" pitchFamily="49" charset="-122"/>
              </a:rPr>
              <a:t>2.6</a:t>
            </a:r>
            <a:r>
              <a:rPr lang="zh-CN" altLang="en-US" sz="2400" dirty="0">
                <a:solidFill>
                  <a:srgbClr val="004182"/>
                </a:solidFill>
                <a:latin typeface="楷体_GB2312" pitchFamily="49" charset="-122"/>
                <a:ea typeface="楷体_GB2312" pitchFamily="49" charset="-122"/>
              </a:rPr>
              <a:t>版内核系列</a:t>
            </a:r>
            <a:r>
              <a:rPr lang="zh-CN" altLang="en-US" sz="2800" dirty="0">
                <a:solidFill>
                  <a:srgbClr val="004182"/>
                </a:solidFill>
                <a:latin typeface="楷体_GB2312" pitchFamily="49" charset="-122"/>
                <a:ea typeface="楷体_GB2312" pitchFamily="49" charset="-122"/>
              </a:rPr>
              <a:t>。</a:t>
            </a:r>
          </a:p>
        </p:txBody>
      </p:sp>
      <p:sp>
        <p:nvSpPr>
          <p:cNvPr id="34819" name="Text Box 38"/>
          <p:cNvSpPr txBox="1">
            <a:spLocks noChangeArrowheads="1"/>
          </p:cNvSpPr>
          <p:nvPr/>
        </p:nvSpPr>
        <p:spPr bwMode="auto">
          <a:xfrm>
            <a:off x="1547813" y="260350"/>
            <a:ext cx="6337300" cy="579438"/>
          </a:xfrm>
          <a:prstGeom prst="rect">
            <a:avLst/>
          </a:prstGeom>
          <a:noFill/>
          <a:ln w="9525">
            <a:noFill/>
            <a:miter lim="800000"/>
            <a:headEnd/>
            <a:tailEnd/>
          </a:ln>
        </p:spPr>
        <p:txBody>
          <a:bodyPr anchorCtr="1">
            <a:spAutoFit/>
          </a:bodyPr>
          <a:lstStyle/>
          <a:p>
            <a:pPr algn="ctr" eaLnBrk="1" hangingPunct="1">
              <a:spcBef>
                <a:spcPct val="50000"/>
              </a:spcBef>
              <a:defRPr/>
            </a:pPr>
            <a:r>
              <a:rPr lang="en-US" altLang="zh-CN" sz="3200" b="1" dirty="0">
                <a:latin typeface="楷体_GB2312" pitchFamily="49" charset="-122"/>
                <a:cs typeface="+mj-cs"/>
              </a:rPr>
              <a:t>5</a:t>
            </a:r>
            <a:r>
              <a:rPr lang="zh-CN" altLang="en-US" sz="3200" b="1" dirty="0">
                <a:latin typeface="楷体_GB2312" pitchFamily="49" charset="-122"/>
                <a:cs typeface="+mj-cs"/>
              </a:rPr>
              <a:t>、</a:t>
            </a:r>
            <a:r>
              <a:rPr lang="en-US" altLang="zh-CN" sz="3200" b="1" dirty="0">
                <a:latin typeface="楷体_GB2312" pitchFamily="49" charset="-122"/>
                <a:cs typeface="+mj-cs"/>
              </a:rPr>
              <a:t>Linux</a:t>
            </a:r>
            <a:r>
              <a:rPr lang="zh-CN" altLang="en-GB" sz="3200" b="1" dirty="0">
                <a:latin typeface="楷体_GB2312" pitchFamily="49" charset="-122"/>
                <a:cs typeface="+mj-cs"/>
              </a:rPr>
              <a:t>版本认识</a:t>
            </a:r>
            <a:endParaRPr lang="zh-CN" altLang="en-US" sz="3200" b="1" dirty="0">
              <a:latin typeface="楷体_GB2312" pitchFamily="49" charset="-122"/>
              <a:cs typeface="+mj-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矩形 1"/>
          <p:cNvSpPr>
            <a:spLocks noChangeArrowheads="1"/>
          </p:cNvSpPr>
          <p:nvPr/>
        </p:nvSpPr>
        <p:spPr bwMode="auto">
          <a:xfrm>
            <a:off x="530225" y="1052513"/>
            <a:ext cx="7500938"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r>
              <a:rPr lang="zh-CN" altLang="en-US">
                <a:latin typeface="楷体_GB2312" pitchFamily="49" charset="-122"/>
                <a:ea typeface="楷体_GB2312" pitchFamily="49" charset="-122"/>
              </a:rPr>
              <a:t> 例：</a:t>
            </a:r>
            <a:endParaRPr lang="en-US" altLang="zh-CN">
              <a:latin typeface="楷体_GB2312" pitchFamily="49" charset="-122"/>
              <a:ea typeface="楷体_GB2312" pitchFamily="49" charset="-122"/>
            </a:endParaRPr>
          </a:p>
          <a:p>
            <a:pPr eaLnBrk="1" hangingPunct="1"/>
            <a:endParaRPr lang="en-US" altLang="zh-CN">
              <a:latin typeface="楷体_GB2312" pitchFamily="49" charset="-122"/>
              <a:ea typeface="楷体_GB2312" pitchFamily="49" charset="-122"/>
            </a:endParaRPr>
          </a:p>
          <a:p>
            <a:pPr eaLnBrk="1" hangingPunct="1"/>
            <a:endParaRPr lang="en-US" altLang="zh-CN">
              <a:latin typeface="楷体_GB2312" pitchFamily="49" charset="-122"/>
              <a:ea typeface="楷体_GB2312" pitchFamily="49" charset="-122"/>
            </a:endParaRPr>
          </a:p>
          <a:p>
            <a:pPr eaLnBrk="1" hangingPunct="1"/>
            <a:endParaRPr lang="en-US" altLang="zh-CN">
              <a:latin typeface="楷体_GB2312" pitchFamily="49" charset="-122"/>
              <a:ea typeface="楷体_GB2312" pitchFamily="49" charset="-122"/>
            </a:endParaRPr>
          </a:p>
          <a:p>
            <a:pPr eaLnBrk="1" hangingPunct="1"/>
            <a:endParaRPr lang="en-US" altLang="zh-CN">
              <a:latin typeface="楷体_GB2312" pitchFamily="49" charset="-122"/>
              <a:ea typeface="楷体_GB2312" pitchFamily="49" charset="-122"/>
            </a:endParaRPr>
          </a:p>
          <a:p>
            <a:pPr eaLnBrk="1" hangingPunct="1"/>
            <a:r>
              <a:rPr lang="zh-CN" altLang="en-US">
                <a:latin typeface="楷体_GB2312" pitchFamily="49" charset="-122"/>
                <a:ea typeface="楷体_GB2312" pitchFamily="49" charset="-122"/>
              </a:rPr>
              <a:t>显示内核信息</a:t>
            </a:r>
            <a:endParaRPr lang="en-US" altLang="zh-CN">
              <a:latin typeface="楷体_GB2312" pitchFamily="49" charset="-122"/>
              <a:ea typeface="楷体_GB2312" pitchFamily="49" charset="-122"/>
            </a:endParaRPr>
          </a:p>
          <a:p>
            <a:pPr lvl="1">
              <a:spcBef>
                <a:spcPct val="0"/>
              </a:spcBef>
              <a:buClrTx/>
              <a:buSzTx/>
              <a:buFontTx/>
              <a:buNone/>
            </a:pPr>
            <a:r>
              <a:rPr lang="en-US" altLang="zh-CN" sz="2800">
                <a:solidFill>
                  <a:srgbClr val="2B5681"/>
                </a:solidFill>
                <a:latin typeface="楷体_GB2312" pitchFamily="49" charset="-122"/>
                <a:ea typeface="楷体_GB2312" pitchFamily="49" charset="-122"/>
              </a:rPr>
              <a:t>#uname –r </a:t>
            </a:r>
            <a:r>
              <a:rPr lang="zh-CN" altLang="en-US" sz="2800">
                <a:solidFill>
                  <a:srgbClr val="2B5681"/>
                </a:solidFill>
                <a:latin typeface="楷体_GB2312" pitchFamily="49" charset="-122"/>
                <a:ea typeface="楷体_GB2312" pitchFamily="49" charset="-122"/>
              </a:rPr>
              <a:t>内核版本号</a:t>
            </a:r>
          </a:p>
          <a:p>
            <a:pPr lvl="1">
              <a:spcBef>
                <a:spcPct val="0"/>
              </a:spcBef>
              <a:buClrTx/>
              <a:buSzTx/>
              <a:buFontTx/>
              <a:buNone/>
            </a:pPr>
            <a:r>
              <a:rPr lang="en-US" altLang="zh-CN" sz="2800">
                <a:solidFill>
                  <a:srgbClr val="2B5681"/>
                </a:solidFill>
                <a:latin typeface="楷体_GB2312" pitchFamily="49" charset="-122"/>
                <a:ea typeface="楷体_GB2312" pitchFamily="49" charset="-122"/>
              </a:rPr>
              <a:t>#uname –s </a:t>
            </a:r>
            <a:r>
              <a:rPr lang="zh-CN" altLang="en-US" sz="2800">
                <a:solidFill>
                  <a:srgbClr val="2B5681"/>
                </a:solidFill>
                <a:latin typeface="楷体_GB2312" pitchFamily="49" charset="-122"/>
                <a:ea typeface="楷体_GB2312" pitchFamily="49" charset="-122"/>
              </a:rPr>
              <a:t>内核名称</a:t>
            </a:r>
          </a:p>
          <a:p>
            <a:pPr lvl="1">
              <a:spcBef>
                <a:spcPct val="0"/>
              </a:spcBef>
              <a:buClrTx/>
              <a:buSzTx/>
              <a:buFontTx/>
              <a:buNone/>
            </a:pPr>
            <a:r>
              <a:rPr lang="en-US" altLang="zh-CN" sz="2800">
                <a:solidFill>
                  <a:srgbClr val="2B5681"/>
                </a:solidFill>
                <a:latin typeface="楷体_GB2312" pitchFamily="49" charset="-122"/>
                <a:ea typeface="楷体_GB2312" pitchFamily="49" charset="-122"/>
              </a:rPr>
              <a:t>#uname –v </a:t>
            </a:r>
            <a:r>
              <a:rPr lang="zh-CN" altLang="en-US" sz="2800">
                <a:solidFill>
                  <a:srgbClr val="2B5681"/>
                </a:solidFill>
                <a:latin typeface="楷体_GB2312" pitchFamily="49" charset="-122"/>
                <a:ea typeface="楷体_GB2312" pitchFamily="49" charset="-122"/>
              </a:rPr>
              <a:t>内核版本发布时间</a:t>
            </a:r>
          </a:p>
          <a:p>
            <a:pPr lvl="1">
              <a:spcBef>
                <a:spcPct val="0"/>
              </a:spcBef>
              <a:buClrTx/>
              <a:buSzTx/>
              <a:buFontTx/>
              <a:buNone/>
            </a:pPr>
            <a:r>
              <a:rPr lang="en-US" altLang="zh-CN" sz="2800">
                <a:solidFill>
                  <a:srgbClr val="2B5681"/>
                </a:solidFill>
                <a:latin typeface="楷体_GB2312" pitchFamily="49" charset="-122"/>
                <a:ea typeface="楷体_GB2312" pitchFamily="49" charset="-122"/>
              </a:rPr>
              <a:t>#uname –a </a:t>
            </a:r>
            <a:r>
              <a:rPr lang="zh-CN" altLang="en-US" sz="2800">
                <a:solidFill>
                  <a:srgbClr val="2B5681"/>
                </a:solidFill>
                <a:latin typeface="楷体_GB2312" pitchFamily="49" charset="-122"/>
                <a:ea typeface="楷体_GB2312" pitchFamily="49" charset="-122"/>
              </a:rPr>
              <a:t>所有信息</a:t>
            </a:r>
          </a:p>
        </p:txBody>
      </p:sp>
      <p:sp>
        <p:nvSpPr>
          <p:cNvPr id="52227" name="Text Box 38"/>
          <p:cNvSpPr txBox="1">
            <a:spLocks noChangeArrowheads="1"/>
          </p:cNvSpPr>
          <p:nvPr/>
        </p:nvSpPr>
        <p:spPr bwMode="auto">
          <a:xfrm>
            <a:off x="1547813" y="260350"/>
            <a:ext cx="63373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1">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eaLnBrk="1" hangingPunct="1">
              <a:spcBef>
                <a:spcPct val="50000"/>
              </a:spcBef>
              <a:buClrTx/>
              <a:buFontTx/>
              <a:buNone/>
            </a:pPr>
            <a:r>
              <a:rPr lang="en-US" altLang="zh-CN" sz="3200">
                <a:solidFill>
                  <a:schemeClr val="tx1"/>
                </a:solidFill>
                <a:latin typeface="楷体_GB2312" pitchFamily="49" charset="-122"/>
                <a:ea typeface="楷体_GB2312" pitchFamily="49" charset="-122"/>
              </a:rPr>
              <a:t>5</a:t>
            </a:r>
            <a:r>
              <a:rPr lang="zh-CN" altLang="en-US" sz="3200">
                <a:solidFill>
                  <a:schemeClr val="tx1"/>
                </a:solidFill>
                <a:latin typeface="楷体_GB2312" pitchFamily="49" charset="-122"/>
                <a:ea typeface="楷体_GB2312" pitchFamily="49" charset="-122"/>
              </a:rPr>
              <a:t>、</a:t>
            </a:r>
            <a:r>
              <a:rPr lang="en-US" altLang="zh-CN" sz="3200">
                <a:solidFill>
                  <a:schemeClr val="tx1"/>
                </a:solidFill>
                <a:latin typeface="楷体_GB2312" pitchFamily="49" charset="-122"/>
                <a:ea typeface="楷体_GB2312" pitchFamily="49" charset="-122"/>
              </a:rPr>
              <a:t>Linux</a:t>
            </a:r>
            <a:r>
              <a:rPr lang="zh-CN" altLang="en-GB" sz="3200">
                <a:solidFill>
                  <a:schemeClr val="tx1"/>
                </a:solidFill>
                <a:latin typeface="楷体_GB2312" pitchFamily="49" charset="-122"/>
                <a:ea typeface="楷体_GB2312" pitchFamily="49" charset="-122"/>
              </a:rPr>
              <a:t>版本认识</a:t>
            </a:r>
            <a:endParaRPr lang="zh-CN" altLang="en-US" sz="3200">
              <a:solidFill>
                <a:schemeClr val="tx1"/>
              </a:solidFill>
              <a:latin typeface="楷体_GB2312" pitchFamily="49" charset="-122"/>
              <a:ea typeface="楷体_GB2312" pitchFamily="49" charset="-122"/>
            </a:endParaRPr>
          </a:p>
        </p:txBody>
      </p:sp>
      <p:sp>
        <p:nvSpPr>
          <p:cNvPr id="52228" name="内容占位符 2"/>
          <p:cNvSpPr txBox="1">
            <a:spLocks/>
          </p:cNvSpPr>
          <p:nvPr/>
        </p:nvSpPr>
        <p:spPr bwMode="auto">
          <a:xfrm>
            <a:off x="2312988" y="1533525"/>
            <a:ext cx="3097212"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4000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endParaRPr lang="en-US" altLang="zh-CN"/>
          </a:p>
          <a:p>
            <a:pPr lvl="1">
              <a:buFont typeface="Wingdings" panose="05000000000000000000" pitchFamily="2" charset="2"/>
              <a:buNone/>
            </a:pPr>
            <a:r>
              <a:rPr lang="en-US" altLang="zh-CN" sz="2800">
                <a:solidFill>
                  <a:srgbClr val="FF0000"/>
                </a:solidFill>
              </a:rPr>
              <a:t>2 . 6 . 26 . 1</a:t>
            </a:r>
            <a:endParaRPr lang="zh-CN" altLang="en-US" sz="2800">
              <a:solidFill>
                <a:srgbClr val="FF0000"/>
              </a:solidFill>
            </a:endParaRPr>
          </a:p>
        </p:txBody>
      </p:sp>
      <p:cxnSp>
        <p:nvCxnSpPr>
          <p:cNvPr id="52229" name="直接连接符 4"/>
          <p:cNvCxnSpPr>
            <a:cxnSpLocks noChangeShapeType="1"/>
          </p:cNvCxnSpPr>
          <p:nvPr/>
        </p:nvCxnSpPr>
        <p:spPr bwMode="auto">
          <a:xfrm>
            <a:off x="2889250" y="1751013"/>
            <a:ext cx="0" cy="3587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52230" name="TextBox 5"/>
          <p:cNvSpPr txBox="1">
            <a:spLocks noChangeArrowheads="1"/>
          </p:cNvSpPr>
          <p:nvPr/>
        </p:nvSpPr>
        <p:spPr bwMode="auto">
          <a:xfrm>
            <a:off x="2386013" y="1439863"/>
            <a:ext cx="1270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r>
              <a:rPr lang="zh-CN" altLang="en-US" sz="1800">
                <a:solidFill>
                  <a:schemeClr val="tx1"/>
                </a:solidFill>
                <a:latin typeface="Times New Roman" panose="02020603050405020304" pitchFamily="18" charset="0"/>
                <a:ea typeface="楷体_GB2312" pitchFamily="49" charset="-122"/>
              </a:rPr>
              <a:t>主版本号</a:t>
            </a:r>
          </a:p>
        </p:txBody>
      </p:sp>
      <p:sp>
        <p:nvSpPr>
          <p:cNvPr id="52231" name="TextBox 6"/>
          <p:cNvSpPr txBox="1">
            <a:spLocks noChangeArrowheads="1"/>
          </p:cNvSpPr>
          <p:nvPr/>
        </p:nvSpPr>
        <p:spPr bwMode="auto">
          <a:xfrm>
            <a:off x="4186238" y="1422400"/>
            <a:ext cx="14398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r>
              <a:rPr lang="zh-CN" altLang="en-US" sz="1800">
                <a:solidFill>
                  <a:schemeClr val="tx1"/>
                </a:solidFill>
                <a:latin typeface="Times New Roman" panose="02020603050405020304" pitchFamily="18" charset="0"/>
                <a:ea typeface="楷体_GB2312" pitchFamily="49" charset="-122"/>
              </a:rPr>
              <a:t>修订版本号</a:t>
            </a:r>
          </a:p>
        </p:txBody>
      </p:sp>
      <p:sp>
        <p:nvSpPr>
          <p:cNvPr id="52232" name="TextBox 7"/>
          <p:cNvSpPr txBox="1">
            <a:spLocks noChangeArrowheads="1"/>
          </p:cNvSpPr>
          <p:nvPr/>
        </p:nvSpPr>
        <p:spPr bwMode="auto">
          <a:xfrm>
            <a:off x="4978400" y="2970213"/>
            <a:ext cx="14779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r>
              <a:rPr lang="zh-CN" altLang="en-US" sz="1800">
                <a:solidFill>
                  <a:schemeClr val="tx1"/>
                </a:solidFill>
                <a:latin typeface="Times New Roman" panose="02020603050405020304" pitchFamily="18" charset="0"/>
                <a:ea typeface="楷体_GB2312" pitchFamily="49" charset="-122"/>
              </a:rPr>
              <a:t>稳定版本号</a:t>
            </a:r>
          </a:p>
        </p:txBody>
      </p:sp>
      <p:sp>
        <p:nvSpPr>
          <p:cNvPr id="52233" name="TextBox 8"/>
          <p:cNvSpPr txBox="1">
            <a:spLocks noChangeArrowheads="1"/>
          </p:cNvSpPr>
          <p:nvPr/>
        </p:nvSpPr>
        <p:spPr bwMode="auto">
          <a:xfrm>
            <a:off x="3178175" y="2974975"/>
            <a:ext cx="11858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r>
              <a:rPr lang="zh-CN" altLang="en-US" sz="1800">
                <a:solidFill>
                  <a:schemeClr val="tx1"/>
                </a:solidFill>
                <a:latin typeface="Times New Roman" panose="02020603050405020304" pitchFamily="18" charset="0"/>
                <a:ea typeface="楷体_GB2312" pitchFamily="49" charset="-122"/>
              </a:rPr>
              <a:t>从版本号</a:t>
            </a:r>
          </a:p>
        </p:txBody>
      </p:sp>
      <p:cxnSp>
        <p:nvCxnSpPr>
          <p:cNvPr id="52234" name="直接连接符 9"/>
          <p:cNvCxnSpPr>
            <a:cxnSpLocks noChangeShapeType="1"/>
          </p:cNvCxnSpPr>
          <p:nvPr/>
        </p:nvCxnSpPr>
        <p:spPr bwMode="auto">
          <a:xfrm>
            <a:off x="3609975" y="2543175"/>
            <a:ext cx="0" cy="3587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2235" name="直接连接符 10"/>
          <p:cNvCxnSpPr>
            <a:cxnSpLocks noChangeShapeType="1"/>
          </p:cNvCxnSpPr>
          <p:nvPr/>
        </p:nvCxnSpPr>
        <p:spPr bwMode="auto">
          <a:xfrm>
            <a:off x="4402138" y="1749425"/>
            <a:ext cx="0" cy="3603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2236" name="直接连接符 11"/>
          <p:cNvCxnSpPr>
            <a:cxnSpLocks noChangeShapeType="1"/>
          </p:cNvCxnSpPr>
          <p:nvPr/>
        </p:nvCxnSpPr>
        <p:spPr bwMode="auto">
          <a:xfrm>
            <a:off x="5226050" y="2532063"/>
            <a:ext cx="0" cy="3603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内容占位符 2"/>
          <p:cNvSpPr>
            <a:spLocks noGrp="1"/>
          </p:cNvSpPr>
          <p:nvPr>
            <p:ph idx="1"/>
          </p:nvPr>
        </p:nvSpPr>
        <p:spPr/>
        <p:txBody>
          <a:bodyPr/>
          <a:lstStyle/>
          <a:p>
            <a:pPr>
              <a:lnSpc>
                <a:spcPct val="125000"/>
              </a:lnSpc>
              <a:buFont typeface="Arial" panose="020B0604020202020204" pitchFamily="34" charset="0"/>
              <a:buChar char="•"/>
              <a:defRPr/>
            </a:pPr>
            <a:r>
              <a:rPr lang="zh-CN" altLang="en-US" sz="2400" kern="1200" dirty="0">
                <a:solidFill>
                  <a:srgbClr val="004182"/>
                </a:solidFill>
                <a:latin typeface="楷体_GB2312" pitchFamily="49" charset="-122"/>
                <a:ea typeface="楷体_GB2312" pitchFamily="49" charset="-122"/>
              </a:rPr>
              <a:t>最近几年，每一个</a:t>
            </a:r>
            <a:r>
              <a:rPr lang="en-US" altLang="zh-CN" sz="2400" kern="1200" dirty="0">
                <a:solidFill>
                  <a:srgbClr val="004182"/>
                </a:solidFill>
                <a:latin typeface="楷体_GB2312" pitchFamily="49" charset="-122"/>
                <a:ea typeface="楷体_GB2312" pitchFamily="49" charset="-122"/>
              </a:rPr>
              <a:t>2.6</a:t>
            </a:r>
            <a:r>
              <a:rPr lang="zh-CN" altLang="en-US" sz="2400" kern="1200" dirty="0">
                <a:solidFill>
                  <a:srgbClr val="004182"/>
                </a:solidFill>
                <a:latin typeface="楷体_GB2312" pitchFamily="49" charset="-122"/>
                <a:ea typeface="楷体_GB2312" pitchFamily="49" charset="-122"/>
              </a:rPr>
              <a:t>系列的修订版本（比如</a:t>
            </a:r>
            <a:r>
              <a:rPr lang="en-US" altLang="zh-CN" sz="2400" kern="1200" dirty="0">
                <a:solidFill>
                  <a:srgbClr val="004182"/>
                </a:solidFill>
                <a:latin typeface="楷体_GB2312" pitchFamily="49" charset="-122"/>
                <a:ea typeface="楷体_GB2312" pitchFamily="49" charset="-122"/>
              </a:rPr>
              <a:t>2.6.29</a:t>
            </a:r>
            <a:r>
              <a:rPr lang="zh-CN" altLang="en-US" sz="2400" kern="1200" dirty="0">
                <a:solidFill>
                  <a:srgbClr val="004182"/>
                </a:solidFill>
                <a:latin typeface="楷体_GB2312" pitchFamily="49" charset="-122"/>
                <a:ea typeface="楷体_GB2312" pitchFamily="49" charset="-122"/>
              </a:rPr>
              <a:t>）都会较其前身有深刻的变化，也都会经历数月才面世。它更有利于在引入新特性的同时，维持系统的稳定性。</a:t>
            </a:r>
            <a:endParaRPr lang="en-US" altLang="zh-CN" sz="2400" kern="1200" dirty="0">
              <a:solidFill>
                <a:srgbClr val="004182"/>
              </a:solidFill>
              <a:latin typeface="楷体_GB2312" pitchFamily="49" charset="-122"/>
              <a:ea typeface="楷体_GB2312" pitchFamily="49" charset="-122"/>
            </a:endParaRPr>
          </a:p>
          <a:p>
            <a:pPr>
              <a:lnSpc>
                <a:spcPct val="125000"/>
              </a:lnSpc>
              <a:buFont typeface="Arial" panose="020B0604020202020204" pitchFamily="34" charset="0"/>
              <a:buChar char="•"/>
              <a:defRPr/>
            </a:pPr>
            <a:r>
              <a:rPr lang="zh-CN" altLang="en-US" sz="2400" kern="1200" dirty="0">
                <a:solidFill>
                  <a:srgbClr val="004182"/>
                </a:solidFill>
                <a:latin typeface="楷体_GB2312" pitchFamily="49" charset="-122"/>
                <a:ea typeface="楷体_GB2312" pitchFamily="49" charset="-122"/>
              </a:rPr>
              <a:t>为了解决版本发布周期变长的副作用，内核开发者们引入了</a:t>
            </a:r>
            <a:r>
              <a:rPr lang="zh-CN" altLang="en-US" sz="2400" kern="1200" dirty="0">
                <a:solidFill>
                  <a:srgbClr val="FF0000"/>
                </a:solidFill>
                <a:latin typeface="楷体_GB2312" pitchFamily="49" charset="-122"/>
                <a:ea typeface="楷体_GB2312" pitchFamily="49" charset="-122"/>
              </a:rPr>
              <a:t>稳定版本号</a:t>
            </a:r>
            <a:r>
              <a:rPr lang="zh-CN" altLang="en-US" sz="2400" kern="1200" dirty="0">
                <a:solidFill>
                  <a:srgbClr val="004182"/>
                </a:solidFill>
                <a:latin typeface="楷体_GB2312" pitchFamily="49" charset="-122"/>
                <a:ea typeface="楷体_GB2312" pitchFamily="49" charset="-122"/>
              </a:rPr>
              <a:t>。</a:t>
            </a:r>
            <a:endParaRPr lang="en-US" altLang="zh-CN" sz="2400" kern="1200" dirty="0">
              <a:solidFill>
                <a:srgbClr val="004182"/>
              </a:solidFill>
              <a:latin typeface="楷体_GB2312" pitchFamily="49" charset="-122"/>
              <a:ea typeface="楷体_GB2312" pitchFamily="49" charset="-122"/>
            </a:endParaRPr>
          </a:p>
          <a:p>
            <a:pPr>
              <a:lnSpc>
                <a:spcPct val="125000"/>
              </a:lnSpc>
              <a:buFont typeface="Arial" panose="020B0604020202020204" pitchFamily="34" charset="0"/>
              <a:buChar char="•"/>
              <a:defRPr/>
            </a:pPr>
            <a:r>
              <a:rPr lang="zh-CN" altLang="en-US" sz="2400" kern="1200" dirty="0">
                <a:solidFill>
                  <a:srgbClr val="004182"/>
                </a:solidFill>
                <a:latin typeface="楷体_GB2312" pitchFamily="49" charset="-122"/>
                <a:ea typeface="楷体_GB2312" pitchFamily="49" charset="-122"/>
              </a:rPr>
              <a:t>稳定版本号（如</a:t>
            </a:r>
            <a:r>
              <a:rPr lang="en-US" altLang="zh-CN" sz="2400" kern="1200" dirty="0">
                <a:solidFill>
                  <a:srgbClr val="004182"/>
                </a:solidFill>
                <a:latin typeface="楷体_GB2312" pitchFamily="49" charset="-122"/>
                <a:ea typeface="楷体_GB2312" pitchFamily="49" charset="-122"/>
              </a:rPr>
              <a:t>2.6.32.8</a:t>
            </a:r>
            <a:r>
              <a:rPr lang="zh-CN" altLang="en-US" sz="2400" kern="1200" dirty="0">
                <a:solidFill>
                  <a:srgbClr val="004182"/>
                </a:solidFill>
                <a:latin typeface="楷体_GB2312" pitchFamily="49" charset="-122"/>
                <a:ea typeface="楷体_GB2312" pitchFamily="49" charset="-122"/>
              </a:rPr>
              <a:t>中的</a:t>
            </a:r>
            <a:r>
              <a:rPr lang="en-US" altLang="zh-CN" sz="2400" kern="1200" dirty="0">
                <a:solidFill>
                  <a:srgbClr val="004182"/>
                </a:solidFill>
                <a:latin typeface="楷体_GB2312" pitchFamily="49" charset="-122"/>
                <a:ea typeface="楷体_GB2312" pitchFamily="49" charset="-122"/>
              </a:rPr>
              <a:t>8</a:t>
            </a:r>
            <a:r>
              <a:rPr lang="zh-CN" altLang="en-US" sz="2400" kern="1200" dirty="0">
                <a:solidFill>
                  <a:srgbClr val="004182"/>
                </a:solidFill>
                <a:latin typeface="楷体_GB2312" pitchFamily="49" charset="-122"/>
                <a:ea typeface="楷体_GB2312" pitchFamily="49" charset="-122"/>
              </a:rPr>
              <a:t>）包含了关键性</a:t>
            </a:r>
            <a:r>
              <a:rPr lang="en-US" altLang="zh-CN" sz="2400" kern="1200" dirty="0">
                <a:solidFill>
                  <a:srgbClr val="004182"/>
                </a:solidFill>
                <a:latin typeface="楷体_GB2312" pitchFamily="49" charset="-122"/>
                <a:ea typeface="楷体_GB2312" pitchFamily="49" charset="-122"/>
              </a:rPr>
              <a:t>bug</a:t>
            </a:r>
            <a:r>
              <a:rPr lang="zh-CN" altLang="en-US" sz="2400" kern="1200" dirty="0">
                <a:solidFill>
                  <a:srgbClr val="004182"/>
                </a:solidFill>
                <a:latin typeface="楷体_GB2312" pitchFamily="49" charset="-122"/>
                <a:ea typeface="楷体_GB2312" pitchFamily="49" charset="-122"/>
              </a:rPr>
              <a:t>的修改，并且常会向前移植处于开发版内核（如</a:t>
            </a:r>
            <a:r>
              <a:rPr lang="en-US" altLang="zh-CN" sz="2400" kern="1200" dirty="0">
                <a:solidFill>
                  <a:srgbClr val="004182"/>
                </a:solidFill>
                <a:latin typeface="楷体_GB2312" pitchFamily="49" charset="-122"/>
                <a:ea typeface="楷体_GB2312" pitchFamily="49" charset="-122"/>
              </a:rPr>
              <a:t>2.6.33</a:t>
            </a:r>
            <a:r>
              <a:rPr lang="zh-CN" altLang="en-US" sz="2400" kern="1200" dirty="0">
                <a:solidFill>
                  <a:srgbClr val="004182"/>
                </a:solidFill>
                <a:latin typeface="楷体_GB2312" pitchFamily="49" charset="-122"/>
                <a:ea typeface="楷体_GB2312" pitchFamily="49" charset="-122"/>
              </a:rPr>
              <a:t>）的重要修改。依靠这种方式，以前版本保证了仍然能将重点放在稳定性上。</a:t>
            </a:r>
          </a:p>
          <a:p>
            <a:pPr>
              <a:lnSpc>
                <a:spcPct val="125000"/>
              </a:lnSpc>
              <a:defRPr/>
            </a:pPr>
            <a:endParaRPr lang="zh-CN" altLang="en-US" sz="2400" kern="1200" dirty="0">
              <a:solidFill>
                <a:srgbClr val="004182"/>
              </a:solidFill>
              <a:latin typeface="楷体_GB2312" pitchFamily="49" charset="-122"/>
              <a:ea typeface="楷体_GB2312" pitchFamily="49" charset="-122"/>
            </a:endParaRPr>
          </a:p>
        </p:txBody>
      </p:sp>
      <p:sp>
        <p:nvSpPr>
          <p:cNvPr id="54275" name="Text Box 38"/>
          <p:cNvSpPr txBox="1">
            <a:spLocks noChangeArrowheads="1"/>
          </p:cNvSpPr>
          <p:nvPr/>
        </p:nvSpPr>
        <p:spPr bwMode="auto">
          <a:xfrm>
            <a:off x="1547813" y="260350"/>
            <a:ext cx="63373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1">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eaLnBrk="1" hangingPunct="1">
              <a:spcBef>
                <a:spcPct val="50000"/>
              </a:spcBef>
              <a:buClrTx/>
              <a:buFontTx/>
              <a:buNone/>
            </a:pPr>
            <a:r>
              <a:rPr lang="en-US" altLang="zh-CN" sz="3200">
                <a:solidFill>
                  <a:schemeClr val="tx1"/>
                </a:solidFill>
                <a:latin typeface="楷体_GB2312" pitchFamily="49" charset="-122"/>
                <a:ea typeface="楷体_GB2312" pitchFamily="49" charset="-122"/>
              </a:rPr>
              <a:t>5</a:t>
            </a:r>
            <a:r>
              <a:rPr lang="zh-CN" altLang="en-US" sz="3200">
                <a:solidFill>
                  <a:schemeClr val="tx1"/>
                </a:solidFill>
                <a:latin typeface="楷体_GB2312" pitchFamily="49" charset="-122"/>
                <a:ea typeface="楷体_GB2312" pitchFamily="49" charset="-122"/>
              </a:rPr>
              <a:t>、</a:t>
            </a:r>
            <a:r>
              <a:rPr lang="en-US" altLang="zh-CN" sz="3200">
                <a:solidFill>
                  <a:schemeClr val="tx1"/>
                </a:solidFill>
                <a:latin typeface="楷体_GB2312" pitchFamily="49" charset="-122"/>
                <a:ea typeface="楷体_GB2312" pitchFamily="49" charset="-122"/>
              </a:rPr>
              <a:t>Linux</a:t>
            </a:r>
            <a:r>
              <a:rPr lang="zh-CN" altLang="en-GB" sz="3200">
                <a:solidFill>
                  <a:schemeClr val="tx1"/>
                </a:solidFill>
                <a:latin typeface="楷体_GB2312" pitchFamily="49" charset="-122"/>
                <a:ea typeface="楷体_GB2312" pitchFamily="49" charset="-122"/>
              </a:rPr>
              <a:t>版本认识</a:t>
            </a:r>
            <a:endParaRPr lang="zh-CN" altLang="en-US" sz="3200">
              <a:solidFill>
                <a:schemeClr val="tx1"/>
              </a:solidFill>
              <a:latin typeface="楷体_GB2312" pitchFamily="49" charset="-122"/>
              <a:ea typeface="楷体_GB2312" pitchFamily="49"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p:txBody>
          <a:bodyPr anchorCtr="1"/>
          <a:lstStyle/>
          <a:p>
            <a:pPr eaLnBrk="1" hangingPunct="1">
              <a:spcBef>
                <a:spcPct val="50000"/>
              </a:spcBef>
              <a:defRPr/>
            </a:pPr>
            <a:r>
              <a:rPr lang="en-US" altLang="zh-CN" kern="1200" dirty="0">
                <a:latin typeface="楷体_GB2312" pitchFamily="49" charset="-122"/>
                <a:ea typeface="楷体_GB2312" pitchFamily="49" charset="-122"/>
                <a:cs typeface="+mn-cs"/>
              </a:rPr>
              <a:t>5</a:t>
            </a:r>
            <a:r>
              <a:rPr lang="zh-CN" altLang="en-US" kern="1200" dirty="0">
                <a:latin typeface="楷体_GB2312" pitchFamily="49" charset="-122"/>
                <a:ea typeface="楷体_GB2312" pitchFamily="49" charset="-122"/>
                <a:cs typeface="+mn-cs"/>
              </a:rPr>
              <a:t>、</a:t>
            </a:r>
            <a:r>
              <a:rPr lang="en-US" altLang="zh-CN" kern="1200" dirty="0">
                <a:latin typeface="楷体_GB2312" pitchFamily="49" charset="-122"/>
                <a:ea typeface="楷体_GB2312" pitchFamily="49" charset="-122"/>
                <a:cs typeface="+mn-cs"/>
              </a:rPr>
              <a:t>Linux</a:t>
            </a:r>
            <a:r>
              <a:rPr lang="zh-CN" altLang="en-GB" kern="1200" dirty="0">
                <a:latin typeface="楷体_GB2312" pitchFamily="49" charset="-122"/>
                <a:ea typeface="楷体_GB2312" pitchFamily="49" charset="-122"/>
                <a:cs typeface="+mn-cs"/>
              </a:rPr>
              <a:t>版本认识</a:t>
            </a:r>
            <a:endParaRPr lang="zh-CN" altLang="en-US" kern="1200" dirty="0">
              <a:latin typeface="楷体_GB2312" pitchFamily="49" charset="-122"/>
              <a:ea typeface="楷体_GB2312" pitchFamily="49" charset="-122"/>
              <a:cs typeface="+mn-cs"/>
            </a:endParaRPr>
          </a:p>
        </p:txBody>
      </p:sp>
      <p:sp>
        <p:nvSpPr>
          <p:cNvPr id="55299" name="Rectangle 3"/>
          <p:cNvSpPr>
            <a:spLocks noGrp="1" noChangeArrowheads="1"/>
          </p:cNvSpPr>
          <p:nvPr>
            <p:ph type="body" idx="4294967295"/>
          </p:nvPr>
        </p:nvSpPr>
        <p:spPr/>
        <p:txBody>
          <a:bodyPr/>
          <a:lstStyle/>
          <a:p>
            <a:pPr eaLnBrk="1" hangingPunct="1">
              <a:buFont typeface="Arial" panose="020B0604020202020204" pitchFamily="34" charset="0"/>
              <a:buChar char="•"/>
            </a:pPr>
            <a:r>
              <a:rPr lang="zh-CN" altLang="en-US" dirty="0">
                <a:solidFill>
                  <a:srgbClr val="C00000"/>
                </a:solidFill>
                <a:latin typeface="楷体_GB2312" pitchFamily="49" charset="-122"/>
                <a:ea typeface="楷体_GB2312" pitchFamily="49" charset="-122"/>
              </a:rPr>
              <a:t>发行版本（</a:t>
            </a:r>
            <a:r>
              <a:rPr lang="en-US" altLang="zh-CN" dirty="0">
                <a:solidFill>
                  <a:srgbClr val="C00000"/>
                </a:solidFill>
                <a:latin typeface="楷体_GB2312" pitchFamily="49" charset="-122"/>
                <a:ea typeface="楷体_GB2312" pitchFamily="49" charset="-122"/>
              </a:rPr>
              <a:t>Distribution</a:t>
            </a:r>
            <a:r>
              <a:rPr lang="zh-CN" altLang="en-US" dirty="0">
                <a:solidFill>
                  <a:srgbClr val="C00000"/>
                </a:solidFill>
                <a:latin typeface="楷体_GB2312" pitchFamily="49" charset="-122"/>
                <a:ea typeface="楷体_GB2312" pitchFamily="49" charset="-122"/>
              </a:rPr>
              <a:t>）</a:t>
            </a:r>
            <a:endParaRPr lang="en-US" altLang="zh-CN" dirty="0">
              <a:solidFill>
                <a:srgbClr val="C00000"/>
              </a:solidFill>
              <a:latin typeface="楷体_GB2312" pitchFamily="49" charset="-122"/>
              <a:ea typeface="楷体_GB2312" pitchFamily="49" charset="-122"/>
            </a:endParaRPr>
          </a:p>
          <a:p>
            <a:pPr eaLnBrk="1" hangingPunct="1">
              <a:buFont typeface="Wingdings" panose="05000000000000000000" pitchFamily="2" charset="2"/>
              <a:buNone/>
            </a:pPr>
            <a:r>
              <a:rPr lang="zh-CN" altLang="en-US" dirty="0">
                <a:latin typeface="楷体_GB2312" pitchFamily="49" charset="-122"/>
              </a:rPr>
              <a:t>  几种流行的</a:t>
            </a:r>
            <a:r>
              <a:rPr lang="en-US" altLang="zh-CN" dirty="0">
                <a:latin typeface="楷体_GB2312" pitchFamily="49" charset="-122"/>
              </a:rPr>
              <a:t>Linux</a:t>
            </a:r>
            <a:r>
              <a:rPr lang="zh-CN" altLang="en-US" dirty="0">
                <a:latin typeface="楷体_GB2312" pitchFamily="49" charset="-122"/>
              </a:rPr>
              <a:t>发行版本</a:t>
            </a:r>
          </a:p>
          <a:p>
            <a:pPr eaLnBrk="1" hangingPunct="1">
              <a:buFont typeface="Wingdings" panose="05000000000000000000" pitchFamily="2" charset="2"/>
              <a:buNone/>
            </a:pPr>
            <a:endParaRPr lang="zh-CN" altLang="en-US" dirty="0">
              <a:latin typeface="楷体_GB2312" pitchFamily="49" charset="-122"/>
              <a:ea typeface="楷体_GB2312" pitchFamily="49" charset="-122"/>
            </a:endParaRPr>
          </a:p>
        </p:txBody>
      </p:sp>
      <p:pic>
        <p:nvPicPr>
          <p:cNvPr id="55300" name="内容占位符 3" descr="16010808298121.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9332" y="2520950"/>
            <a:ext cx="6856412" cy="328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trips dir="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p:txBody>
          <a:bodyPr anchorCtr="1"/>
          <a:lstStyle/>
          <a:p>
            <a:pPr eaLnBrk="1" hangingPunct="1">
              <a:spcBef>
                <a:spcPct val="50000"/>
              </a:spcBef>
              <a:defRPr/>
            </a:pPr>
            <a:r>
              <a:rPr lang="en-US" altLang="zh-CN" kern="1200" dirty="0">
                <a:latin typeface="楷体_GB2312" pitchFamily="49" charset="-122"/>
                <a:ea typeface="楷体_GB2312" pitchFamily="49" charset="-122"/>
                <a:cs typeface="+mn-cs"/>
              </a:rPr>
              <a:t>5</a:t>
            </a:r>
            <a:r>
              <a:rPr lang="zh-CN" altLang="en-US" kern="1200" dirty="0">
                <a:latin typeface="楷体_GB2312" pitchFamily="49" charset="-122"/>
                <a:ea typeface="楷体_GB2312" pitchFamily="49" charset="-122"/>
                <a:cs typeface="+mn-cs"/>
              </a:rPr>
              <a:t>、</a:t>
            </a:r>
            <a:r>
              <a:rPr lang="en-US" altLang="zh-CN" kern="1200" dirty="0">
                <a:latin typeface="楷体_GB2312" pitchFamily="49" charset="-122"/>
                <a:ea typeface="楷体_GB2312" pitchFamily="49" charset="-122"/>
                <a:cs typeface="+mn-cs"/>
              </a:rPr>
              <a:t>Linux</a:t>
            </a:r>
            <a:r>
              <a:rPr lang="zh-CN" altLang="en-GB" kern="1200" dirty="0">
                <a:latin typeface="楷体_GB2312" pitchFamily="49" charset="-122"/>
                <a:ea typeface="楷体_GB2312" pitchFamily="49" charset="-122"/>
                <a:cs typeface="+mn-cs"/>
              </a:rPr>
              <a:t>版本认识</a:t>
            </a:r>
            <a:endParaRPr lang="zh-CN" altLang="en-US" kern="1200" dirty="0">
              <a:latin typeface="楷体_GB2312" pitchFamily="49" charset="-122"/>
              <a:ea typeface="楷体_GB2312" pitchFamily="49" charset="-122"/>
              <a:cs typeface="+mn-cs"/>
            </a:endParaRPr>
          </a:p>
        </p:txBody>
      </p:sp>
      <p:sp>
        <p:nvSpPr>
          <p:cNvPr id="55299" name="Rectangle 3"/>
          <p:cNvSpPr>
            <a:spLocks noGrp="1" noChangeArrowheads="1"/>
          </p:cNvSpPr>
          <p:nvPr>
            <p:ph type="body" idx="4294967295"/>
          </p:nvPr>
        </p:nvSpPr>
        <p:spPr/>
        <p:txBody>
          <a:bodyPr/>
          <a:lstStyle/>
          <a:p>
            <a:pPr eaLnBrk="1" hangingPunct="1"/>
            <a:r>
              <a:rPr lang="zh-CN" altLang="en-US">
                <a:latin typeface="楷体_GB2312" pitchFamily="49" charset="-122"/>
                <a:ea typeface="楷体_GB2312" pitchFamily="49" charset="-122"/>
              </a:rPr>
              <a:t>发行版本（</a:t>
            </a:r>
            <a:r>
              <a:rPr lang="en-US" altLang="zh-CN">
                <a:latin typeface="楷体_GB2312" pitchFamily="49" charset="-122"/>
                <a:ea typeface="楷体_GB2312" pitchFamily="49" charset="-122"/>
              </a:rPr>
              <a:t>Distribution</a:t>
            </a:r>
            <a:r>
              <a:rPr lang="zh-CN" altLang="en-US">
                <a:latin typeface="楷体_GB2312" pitchFamily="49" charset="-122"/>
                <a:ea typeface="楷体_GB2312" pitchFamily="49" charset="-122"/>
              </a:rPr>
              <a:t>）</a:t>
            </a:r>
            <a:endParaRPr lang="en-US" altLang="zh-CN">
              <a:latin typeface="楷体_GB2312" pitchFamily="49" charset="-122"/>
              <a:ea typeface="楷体_GB2312" pitchFamily="49" charset="-122"/>
            </a:endParaRPr>
          </a:p>
          <a:p>
            <a:pPr eaLnBrk="1" hangingPunct="1">
              <a:buFont typeface="Wingdings" panose="05000000000000000000" pitchFamily="2" charset="2"/>
              <a:buNone/>
            </a:pPr>
            <a:r>
              <a:rPr lang="zh-CN" altLang="en-US">
                <a:latin typeface="楷体_GB2312" pitchFamily="49" charset="-122"/>
              </a:rPr>
              <a:t>  几种流行的</a:t>
            </a:r>
            <a:r>
              <a:rPr lang="en-US" altLang="zh-CN">
                <a:latin typeface="楷体_GB2312" pitchFamily="49" charset="-122"/>
              </a:rPr>
              <a:t>Linux</a:t>
            </a:r>
            <a:r>
              <a:rPr lang="zh-CN" altLang="en-US">
                <a:latin typeface="楷体_GB2312" pitchFamily="49" charset="-122"/>
              </a:rPr>
              <a:t>发行版本</a:t>
            </a:r>
          </a:p>
          <a:p>
            <a:pPr eaLnBrk="1" hangingPunct="1">
              <a:buFont typeface="Wingdings" panose="05000000000000000000" pitchFamily="2" charset="2"/>
              <a:buNone/>
            </a:pPr>
            <a:endParaRPr lang="zh-CN" altLang="en-US">
              <a:latin typeface="楷体_GB2312" pitchFamily="49" charset="-122"/>
              <a:ea typeface="楷体_GB2312" pitchFamily="49" charset="-122"/>
            </a:endParaRPr>
          </a:p>
        </p:txBody>
      </p:sp>
      <p:pic>
        <p:nvPicPr>
          <p:cNvPr id="35843" name="Picture 3" descr="https://pics6.baidu.com/feed/810a19d8bc3eb1356669bb0a5af38cdbff1f44ce.jpeg?token=2ea6bbb9a5dbe92bbf25c722ddfc34e1&amp;s=35BD513211317DA54607E9EB0300F02A">
            <a:extLst>
              <a:ext uri="{FF2B5EF4-FFF2-40B4-BE49-F238E27FC236}">
                <a16:creationId xmlns:a16="http://schemas.microsoft.com/office/drawing/2014/main" id="{4D673954-7822-47A7-A1E2-22A6C7944B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5709" y="2962274"/>
            <a:ext cx="4286250" cy="3895726"/>
          </a:xfrm>
          <a:prstGeom prst="rect">
            <a:avLst/>
          </a:prstGeom>
          <a:noFill/>
          <a:extLst>
            <a:ext uri="{909E8E84-426E-40DD-AFC4-6F175D3DCCD1}">
              <a14:hiddenFill xmlns:a14="http://schemas.microsoft.com/office/drawing/2010/main">
                <a:solidFill>
                  <a:srgbClr val="FFFFFF"/>
                </a:solidFill>
              </a14:hiddenFill>
            </a:ext>
          </a:extLst>
        </p:spPr>
      </p:pic>
      <p:pic>
        <p:nvPicPr>
          <p:cNvPr id="35846" name="Picture 6" descr="https://pics1.baidu.com/feed/500fd9f9d72a605952686cfed5d91093013bbad4.jpeg?token=834e5b90758e984b870090fdc1b19cb5&amp;s=E5B2E67AC2505FCECA984E53030010F7">
            <a:extLst>
              <a:ext uri="{FF2B5EF4-FFF2-40B4-BE49-F238E27FC236}">
                <a16:creationId xmlns:a16="http://schemas.microsoft.com/office/drawing/2014/main" id="{57390B67-97F1-49F9-B45F-E12870CF1E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9064" y="1377087"/>
            <a:ext cx="4779480" cy="3584611"/>
          </a:xfrm>
          <a:prstGeom prst="rect">
            <a:avLst/>
          </a:prstGeom>
          <a:noFill/>
          <a:extLst>
            <a:ext uri="{909E8E84-426E-40DD-AFC4-6F175D3DCCD1}">
              <a14:hiddenFill xmlns:a14="http://schemas.microsoft.com/office/drawing/2010/main">
                <a:solidFill>
                  <a:srgbClr val="FFFFFF"/>
                </a:solidFill>
              </a14:hiddenFill>
            </a:ext>
          </a:extLst>
        </p:spPr>
      </p:pic>
      <p:pic>
        <p:nvPicPr>
          <p:cNvPr id="35847" name="Picture 7" descr="https://pics4.baidu.com/feed/64380cd7912397dd4964cf96a46f96bfd1a2877d.jpeg?token=85bb75fb93c17094e4f239a9a555b38a&amp;s=8712A46414512C6D1CBED1830300C099">
            <a:extLst>
              <a:ext uri="{FF2B5EF4-FFF2-40B4-BE49-F238E27FC236}">
                <a16:creationId xmlns:a16="http://schemas.microsoft.com/office/drawing/2014/main" id="{A8CA478B-2869-4D49-882D-9BE7EA0666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81618" y="2570969"/>
            <a:ext cx="3961181" cy="2226184"/>
          </a:xfrm>
          <a:prstGeom prst="rect">
            <a:avLst/>
          </a:prstGeom>
          <a:noFill/>
          <a:extLst>
            <a:ext uri="{909E8E84-426E-40DD-AFC4-6F175D3DCCD1}">
              <a14:hiddenFill xmlns:a14="http://schemas.microsoft.com/office/drawing/2010/main">
                <a:solidFill>
                  <a:srgbClr val="FFFFFF"/>
                </a:solidFill>
              </a14:hiddenFill>
            </a:ext>
          </a:extLst>
        </p:spPr>
      </p:pic>
      <p:pic>
        <p:nvPicPr>
          <p:cNvPr id="35848" name="Picture 8" descr="https://pics0.baidu.com/feed/0df3d7ca7bcb0a462917f9cb968ed22c6a60af05.jpeg?token=3ada597dce56d7ad2f5b99a65c3b1b59&amp;s=C4B5477E0810ACD64CF3F6B80300B01F">
            <a:extLst>
              <a:ext uri="{FF2B5EF4-FFF2-40B4-BE49-F238E27FC236}">
                <a16:creationId xmlns:a16="http://schemas.microsoft.com/office/drawing/2014/main" id="{A5DB8B33-D5CC-4627-BC20-0DFB4C822EB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8167" y="2364581"/>
            <a:ext cx="4762500" cy="2943225"/>
          </a:xfrm>
          <a:prstGeom prst="rect">
            <a:avLst/>
          </a:prstGeom>
          <a:noFill/>
          <a:extLst>
            <a:ext uri="{909E8E84-426E-40DD-AFC4-6F175D3DCCD1}">
              <a14:hiddenFill xmlns:a14="http://schemas.microsoft.com/office/drawing/2010/main">
                <a:solidFill>
                  <a:srgbClr val="FFFFFF"/>
                </a:solidFill>
              </a14:hiddenFill>
            </a:ext>
          </a:extLst>
        </p:spPr>
      </p:pic>
      <p:pic>
        <p:nvPicPr>
          <p:cNvPr id="35849" name="Picture 9" descr="https://pics5.baidu.com/feed/86d6277f9e2f0708f76d087217c99c91a801f24a.jpeg?token=0a874316150339dc72fb6d4612e0efb6&amp;s=CD21747C00B08D660EBE83830200E09B">
            <a:extLst>
              <a:ext uri="{FF2B5EF4-FFF2-40B4-BE49-F238E27FC236}">
                <a16:creationId xmlns:a16="http://schemas.microsoft.com/office/drawing/2014/main" id="{71702B24-CB27-488B-A143-923801AF49D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96208" y="1266357"/>
            <a:ext cx="5438775" cy="2857500"/>
          </a:xfrm>
          <a:prstGeom prst="rect">
            <a:avLst/>
          </a:prstGeom>
          <a:noFill/>
          <a:extLst>
            <a:ext uri="{909E8E84-426E-40DD-AFC4-6F175D3DCCD1}">
              <a14:hiddenFill xmlns:a14="http://schemas.microsoft.com/office/drawing/2010/main">
                <a:solidFill>
                  <a:srgbClr val="FFFFFF"/>
                </a:solidFill>
              </a14:hiddenFill>
            </a:ext>
          </a:extLst>
        </p:spPr>
      </p:pic>
      <p:pic>
        <p:nvPicPr>
          <p:cNvPr id="35851" name="Picture 11" descr="https://pics4.baidu.com/feed/5fdf8db1cb134954a1e50abaaba3b650d3094a6f.jpeg?token=626103ecb39f77d352d8e32d3269b83e&amp;s=9013A1749B9729F52DF28B890200A09F">
            <a:extLst>
              <a:ext uri="{FF2B5EF4-FFF2-40B4-BE49-F238E27FC236}">
                <a16:creationId xmlns:a16="http://schemas.microsoft.com/office/drawing/2014/main" id="{D1182810-1487-480A-98F7-F92AD764F08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8681" y="3225504"/>
            <a:ext cx="3124503" cy="3124503"/>
          </a:xfrm>
          <a:prstGeom prst="rect">
            <a:avLst/>
          </a:prstGeom>
          <a:noFill/>
          <a:extLst>
            <a:ext uri="{909E8E84-426E-40DD-AFC4-6F175D3DCCD1}">
              <a14:hiddenFill xmlns:a14="http://schemas.microsoft.com/office/drawing/2010/main">
                <a:solidFill>
                  <a:srgbClr val="FFFFFF"/>
                </a:solidFill>
              </a14:hiddenFill>
            </a:ext>
          </a:extLst>
        </p:spPr>
      </p:pic>
      <p:pic>
        <p:nvPicPr>
          <p:cNvPr id="35844" name="Picture 4" descr="https://pics4.baidu.com/feed/f9198618367adab41ab6b33e763997148601e45b.jpeg?token=ad30c9bf20b45c6a2a4d16727c427969&amp;s=88011F70CA9148CA5D4465CF0200E0A2">
            <a:extLst>
              <a:ext uri="{FF2B5EF4-FFF2-40B4-BE49-F238E27FC236}">
                <a16:creationId xmlns:a16="http://schemas.microsoft.com/office/drawing/2014/main" id="{1036BF1F-0073-4933-ADB0-B9059009A2D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8949" y="1068354"/>
            <a:ext cx="6096000" cy="3295651"/>
          </a:xfrm>
          <a:prstGeom prst="rect">
            <a:avLst/>
          </a:prstGeom>
          <a:noFill/>
          <a:extLst>
            <a:ext uri="{909E8E84-426E-40DD-AFC4-6F175D3DCCD1}">
              <a14:hiddenFill xmlns:a14="http://schemas.microsoft.com/office/drawing/2010/main">
                <a:solidFill>
                  <a:srgbClr val="FFFFFF"/>
                </a:solidFill>
              </a14:hiddenFill>
            </a:ext>
          </a:extLst>
        </p:spPr>
      </p:pic>
      <p:pic>
        <p:nvPicPr>
          <p:cNvPr id="35845" name="Picture 5" descr="https://pics5.baidu.com/feed/3bf33a87e950352a2c3a4342adaedffab3118b13.jpeg?token=724062e62edd1861c5a8a301613ef952&amp;s=90047C32CCA47A924F79DCC600005035">
            <a:extLst>
              <a:ext uri="{FF2B5EF4-FFF2-40B4-BE49-F238E27FC236}">
                <a16:creationId xmlns:a16="http://schemas.microsoft.com/office/drawing/2014/main" id="{68B7888D-D591-4370-AC6A-87EF4EAE983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6439" y="4097654"/>
            <a:ext cx="5238750" cy="2752726"/>
          </a:xfrm>
          <a:prstGeom prst="rect">
            <a:avLst/>
          </a:prstGeom>
          <a:noFill/>
          <a:extLst>
            <a:ext uri="{909E8E84-426E-40DD-AFC4-6F175D3DCCD1}">
              <a14:hiddenFill xmlns:a14="http://schemas.microsoft.com/office/drawing/2010/main">
                <a:solidFill>
                  <a:srgbClr val="FFFFFF"/>
                </a:solidFill>
              </a14:hiddenFill>
            </a:ext>
          </a:extLst>
        </p:spPr>
      </p:pic>
      <p:pic>
        <p:nvPicPr>
          <p:cNvPr id="35850" name="Picture 10" descr="https://pics3.baidu.com/feed/a9d3fd1f4134970a71aa71816927f5c0a5865dbc.jpeg?token=cd9243ff86e918fc4480b94003d6bd6c&amp;s=9B33E44EAE40545D41069200030030DA">
            <a:extLst>
              <a:ext uri="{FF2B5EF4-FFF2-40B4-BE49-F238E27FC236}">
                <a16:creationId xmlns:a16="http://schemas.microsoft.com/office/drawing/2014/main" id="{86605DB3-FFA4-4B74-B8F0-0E8AC07653E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26706" y="1346126"/>
            <a:ext cx="609600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35841" name="Picture 1" descr="https://pics5.baidu.com/feed/6c224f4a20a4462370d031c965cf56060df3d77d.jpeg?token=c255daa0dd8aa62ebe5b05532304ddeb&amp;s=9041B14E6802BCCE126A819B0300009B">
            <a:extLst>
              <a:ext uri="{FF2B5EF4-FFF2-40B4-BE49-F238E27FC236}">
                <a16:creationId xmlns:a16="http://schemas.microsoft.com/office/drawing/2014/main" id="{B5888613-A82F-493A-88A6-8F907FF34DC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19800" y="3439625"/>
            <a:ext cx="4762500" cy="3171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0107681"/>
      </p:ext>
    </p:extLst>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8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8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8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584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585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584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584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58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11188" y="962025"/>
            <a:ext cx="5113337" cy="609600"/>
          </a:xfrm>
        </p:spPr>
        <p:txBody>
          <a:bodyPr/>
          <a:lstStyle/>
          <a:p>
            <a:pPr algn="l" eaLnBrk="1" hangingPunct="1">
              <a:spcBef>
                <a:spcPct val="20000"/>
              </a:spcBef>
              <a:buClr>
                <a:schemeClr val="accent2"/>
              </a:buClr>
              <a:defRPr/>
            </a:pPr>
            <a:r>
              <a:rPr lang="zh-CN" altLang="en-US" sz="2500" dirty="0">
                <a:solidFill>
                  <a:srgbClr val="2B5681"/>
                </a:solidFill>
                <a:latin typeface="楷体_GB2312" pitchFamily="49" charset="-122"/>
                <a:ea typeface="楷体_GB2312" pitchFamily="49" charset="-122"/>
                <a:cs typeface="+mn-cs"/>
              </a:rPr>
              <a:t>发行版基本组成</a:t>
            </a:r>
          </a:p>
        </p:txBody>
      </p:sp>
      <p:sp>
        <p:nvSpPr>
          <p:cNvPr id="58371" name="Rectangle 3"/>
          <p:cNvSpPr>
            <a:spLocks noGrp="1" noChangeArrowheads="1"/>
          </p:cNvSpPr>
          <p:nvPr>
            <p:ph type="body" idx="1"/>
          </p:nvPr>
        </p:nvSpPr>
        <p:spPr>
          <a:xfrm>
            <a:off x="323528" y="1477836"/>
            <a:ext cx="8748712" cy="5272087"/>
          </a:xfrm>
        </p:spPr>
        <p:txBody>
          <a:bodyPr/>
          <a:lstStyle/>
          <a:p>
            <a:pPr eaLnBrk="1" hangingPunct="1">
              <a:buFont typeface="Arial" panose="020B0604020202020204" pitchFamily="34" charset="0"/>
              <a:buChar char="•"/>
            </a:pPr>
            <a:r>
              <a:rPr lang="zh-CN" altLang="en-US" sz="2500" dirty="0">
                <a:solidFill>
                  <a:srgbClr val="D71B07"/>
                </a:solidFill>
                <a:latin typeface="楷体_GB2312" pitchFamily="49" charset="-122"/>
                <a:ea typeface="楷体_GB2312" pitchFamily="49" charset="-122"/>
              </a:rPr>
              <a:t>内核：</a:t>
            </a:r>
            <a:r>
              <a:rPr lang="zh-CN" altLang="en-US" sz="2500" dirty="0">
                <a:latin typeface="楷体_GB2312" pitchFamily="49" charset="-122"/>
                <a:ea typeface="楷体_GB2312" pitchFamily="49" charset="-122"/>
              </a:rPr>
              <a:t>系统核心、网络堆栈</a:t>
            </a:r>
          </a:p>
          <a:p>
            <a:pPr eaLnBrk="1" hangingPunct="1">
              <a:buFont typeface="Arial" panose="020B0604020202020204" pitchFamily="34" charset="0"/>
              <a:buChar char="•"/>
            </a:pPr>
            <a:r>
              <a:rPr lang="zh-CN" altLang="en-US" sz="2500" dirty="0">
                <a:solidFill>
                  <a:srgbClr val="D71B07"/>
                </a:solidFill>
                <a:latin typeface="楷体_GB2312" pitchFamily="49" charset="-122"/>
                <a:ea typeface="楷体_GB2312" pitchFamily="49" charset="-122"/>
              </a:rPr>
              <a:t>引导管理器：</a:t>
            </a:r>
            <a:r>
              <a:rPr lang="en-US" altLang="zh-CN" sz="2500" dirty="0">
                <a:latin typeface="楷体_GB2312" pitchFamily="49" charset="-122"/>
                <a:ea typeface="楷体_GB2312" pitchFamily="49" charset="-122"/>
              </a:rPr>
              <a:t>MBR、LILO</a:t>
            </a:r>
          </a:p>
          <a:p>
            <a:pPr eaLnBrk="1" hangingPunct="1">
              <a:buFont typeface="Arial" panose="020B0604020202020204" pitchFamily="34" charset="0"/>
              <a:buChar char="•"/>
            </a:pPr>
            <a:r>
              <a:rPr lang="zh-CN" altLang="en-US" sz="2500" dirty="0">
                <a:solidFill>
                  <a:srgbClr val="D71B07"/>
                </a:solidFill>
                <a:latin typeface="楷体_GB2312" pitchFamily="49" charset="-122"/>
                <a:ea typeface="楷体_GB2312" pitchFamily="49" charset="-122"/>
              </a:rPr>
              <a:t>用户界面：</a:t>
            </a:r>
            <a:r>
              <a:rPr lang="zh-CN" altLang="en-US" sz="2500" dirty="0">
                <a:latin typeface="楷体_GB2312" pitchFamily="49" charset="-122"/>
                <a:ea typeface="楷体_GB2312" pitchFamily="49" charset="-122"/>
              </a:rPr>
              <a:t>命令行、图形（</a:t>
            </a:r>
            <a:r>
              <a:rPr lang="en-US" altLang="zh-CN" sz="2500" dirty="0">
                <a:latin typeface="楷体_GB2312" pitchFamily="49" charset="-122"/>
                <a:ea typeface="楷体_GB2312" pitchFamily="49" charset="-122"/>
              </a:rPr>
              <a:t>CDE/KDE/GNOME）</a:t>
            </a:r>
          </a:p>
          <a:p>
            <a:pPr eaLnBrk="1" hangingPunct="1">
              <a:buFont typeface="Arial" panose="020B0604020202020204" pitchFamily="34" charset="0"/>
              <a:buChar char="•"/>
            </a:pPr>
            <a:r>
              <a:rPr lang="en-US" altLang="zh-CN" sz="2500" dirty="0">
                <a:solidFill>
                  <a:srgbClr val="D71B07"/>
                </a:solidFill>
                <a:latin typeface="楷体_GB2312" pitchFamily="49" charset="-122"/>
                <a:ea typeface="楷体_GB2312" pitchFamily="49" charset="-122"/>
              </a:rPr>
              <a:t>X Window：</a:t>
            </a:r>
            <a:r>
              <a:rPr lang="zh-CN" altLang="en-US" sz="2500" dirty="0">
                <a:latin typeface="楷体_GB2312" pitchFamily="49" charset="-122"/>
                <a:ea typeface="楷体_GB2312" pitchFamily="49" charset="-122"/>
              </a:rPr>
              <a:t>图形子系统，</a:t>
            </a:r>
            <a:r>
              <a:rPr lang="en-US" altLang="zh-CN" sz="2500" dirty="0">
                <a:latin typeface="楷体_GB2312" pitchFamily="49" charset="-122"/>
                <a:ea typeface="楷体_GB2312" pitchFamily="49" charset="-122"/>
              </a:rPr>
              <a:t>Xfree86</a:t>
            </a:r>
          </a:p>
          <a:p>
            <a:pPr eaLnBrk="1" hangingPunct="1">
              <a:buFont typeface="Arial" panose="020B0604020202020204" pitchFamily="34" charset="0"/>
              <a:buChar char="•"/>
            </a:pPr>
            <a:r>
              <a:rPr lang="zh-CN" altLang="en-US" sz="2500" dirty="0">
                <a:solidFill>
                  <a:srgbClr val="D71B07"/>
                </a:solidFill>
                <a:latin typeface="楷体_GB2312" pitchFamily="49" charset="-122"/>
                <a:ea typeface="楷体_GB2312" pitchFamily="49" charset="-122"/>
              </a:rPr>
              <a:t>网络：</a:t>
            </a:r>
            <a:r>
              <a:rPr lang="en-US" altLang="zh-CN" sz="2500" dirty="0">
                <a:latin typeface="楷体_GB2312" pitchFamily="49" charset="-122"/>
                <a:ea typeface="楷体_GB2312" pitchFamily="49" charset="-122"/>
              </a:rPr>
              <a:t>DNS/HTTP/SMTP/FTP/NNTP/PPP</a:t>
            </a:r>
          </a:p>
          <a:p>
            <a:pPr eaLnBrk="1" hangingPunct="1">
              <a:buFont typeface="Arial" panose="020B0604020202020204" pitchFamily="34" charset="0"/>
              <a:buChar char="•"/>
            </a:pPr>
            <a:r>
              <a:rPr lang="zh-CN" altLang="en-US" sz="2500" dirty="0">
                <a:solidFill>
                  <a:srgbClr val="D71B07"/>
                </a:solidFill>
                <a:latin typeface="楷体_GB2312" pitchFamily="49" charset="-122"/>
                <a:ea typeface="楷体_GB2312" pitchFamily="49" charset="-122"/>
              </a:rPr>
              <a:t>文件及打印服务</a:t>
            </a:r>
            <a:r>
              <a:rPr lang="zh-CN" altLang="en-US" sz="2500" dirty="0">
                <a:latin typeface="楷体_GB2312" pitchFamily="49" charset="-122"/>
                <a:ea typeface="楷体_GB2312" pitchFamily="49" charset="-122"/>
              </a:rPr>
              <a:t>：</a:t>
            </a:r>
            <a:r>
              <a:rPr lang="en-US" altLang="zh-CN" sz="2500" dirty="0" err="1">
                <a:latin typeface="楷体_GB2312" pitchFamily="49" charset="-122"/>
                <a:ea typeface="楷体_GB2312" pitchFamily="49" charset="-122"/>
              </a:rPr>
              <a:t>NFS、Samba</a:t>
            </a:r>
            <a:endParaRPr lang="en-US" altLang="zh-CN" sz="2500" dirty="0">
              <a:latin typeface="楷体_GB2312" pitchFamily="49" charset="-122"/>
              <a:ea typeface="楷体_GB2312" pitchFamily="49" charset="-122"/>
            </a:endParaRPr>
          </a:p>
          <a:p>
            <a:pPr eaLnBrk="1" hangingPunct="1">
              <a:buFont typeface="Arial" panose="020B0604020202020204" pitchFamily="34" charset="0"/>
              <a:buChar char="•"/>
            </a:pPr>
            <a:r>
              <a:rPr lang="zh-CN" altLang="en-US" sz="2500" dirty="0">
                <a:solidFill>
                  <a:srgbClr val="D71B07"/>
                </a:solidFill>
                <a:latin typeface="楷体_GB2312" pitchFamily="49" charset="-122"/>
                <a:ea typeface="楷体_GB2312" pitchFamily="49" charset="-122"/>
              </a:rPr>
              <a:t>数据库：</a:t>
            </a:r>
            <a:r>
              <a:rPr lang="en-US" altLang="zh-CN" sz="2500" dirty="0">
                <a:latin typeface="楷体_GB2312" pitchFamily="49" charset="-122"/>
                <a:ea typeface="楷体_GB2312" pitchFamily="49" charset="-122"/>
              </a:rPr>
              <a:t>mysql、PostgreSQL、DB2、Oracle 8、Sybase</a:t>
            </a:r>
          </a:p>
          <a:p>
            <a:pPr eaLnBrk="1" hangingPunct="1">
              <a:buFont typeface="Arial" panose="020B0604020202020204" pitchFamily="34" charset="0"/>
              <a:buChar char="•"/>
            </a:pPr>
            <a:r>
              <a:rPr lang="zh-CN" altLang="en-US" sz="2500" dirty="0">
                <a:solidFill>
                  <a:srgbClr val="D71B07"/>
                </a:solidFill>
                <a:latin typeface="楷体_GB2312" pitchFamily="49" charset="-122"/>
                <a:ea typeface="楷体_GB2312" pitchFamily="49" charset="-122"/>
              </a:rPr>
              <a:t>应用程序：</a:t>
            </a:r>
            <a:r>
              <a:rPr lang="en-US" altLang="zh-CN" sz="2500" dirty="0">
                <a:latin typeface="楷体_GB2312" pitchFamily="49" charset="-122"/>
                <a:ea typeface="楷体_GB2312" pitchFamily="49" charset="-122"/>
              </a:rPr>
              <a:t>Netscape/</a:t>
            </a:r>
            <a:r>
              <a:rPr lang="en-US" altLang="zh-CN" sz="2500" dirty="0" err="1">
                <a:latin typeface="楷体_GB2312" pitchFamily="49" charset="-122"/>
                <a:ea typeface="楷体_GB2312" pitchFamily="49" charset="-122"/>
              </a:rPr>
              <a:t>StarOffice</a:t>
            </a:r>
            <a:r>
              <a:rPr lang="en-US" altLang="zh-CN" sz="2500" dirty="0">
                <a:latin typeface="楷体_GB2312" pitchFamily="49" charset="-122"/>
                <a:ea typeface="楷体_GB2312" pitchFamily="49" charset="-122"/>
              </a:rPr>
              <a:t>/</a:t>
            </a:r>
            <a:r>
              <a:rPr lang="en-US" altLang="zh-CN" sz="2500" dirty="0" err="1">
                <a:latin typeface="楷体_GB2312" pitchFamily="49" charset="-122"/>
                <a:ea typeface="楷体_GB2312" pitchFamily="49" charset="-122"/>
              </a:rPr>
              <a:t>xIRC</a:t>
            </a:r>
            <a:r>
              <a:rPr lang="en-US" altLang="zh-CN" sz="2500" dirty="0">
                <a:latin typeface="楷体_GB2312" pitchFamily="49" charset="-122"/>
                <a:ea typeface="楷体_GB2312" pitchFamily="49" charset="-122"/>
              </a:rPr>
              <a:t>/LICQ/Gimp</a:t>
            </a:r>
          </a:p>
          <a:p>
            <a:pPr eaLnBrk="1" hangingPunct="1">
              <a:buFont typeface="Arial" panose="020B0604020202020204" pitchFamily="34" charset="0"/>
              <a:buChar char="•"/>
            </a:pPr>
            <a:r>
              <a:rPr lang="zh-CN" altLang="en-US" sz="2500" dirty="0">
                <a:solidFill>
                  <a:srgbClr val="D71B07"/>
                </a:solidFill>
                <a:latin typeface="楷体_GB2312" pitchFamily="49" charset="-122"/>
                <a:ea typeface="楷体_GB2312" pitchFamily="49" charset="-122"/>
              </a:rPr>
              <a:t>包管理器：</a:t>
            </a:r>
            <a:r>
              <a:rPr lang="zh-CN" altLang="en-US" sz="2500" dirty="0">
                <a:latin typeface="楷体_GB2312" pitchFamily="49" charset="-122"/>
                <a:ea typeface="楷体_GB2312" pitchFamily="49" charset="-122"/>
              </a:rPr>
              <a:t>安装/反安装/升级应用程序、</a:t>
            </a:r>
            <a:r>
              <a:rPr lang="en-US" altLang="zh-CN" sz="2500" dirty="0">
                <a:latin typeface="楷体_GB2312" pitchFamily="49" charset="-122"/>
                <a:ea typeface="楷体_GB2312" pitchFamily="49" charset="-122"/>
              </a:rPr>
              <a:t>DPM / RPM</a:t>
            </a:r>
          </a:p>
          <a:p>
            <a:pPr eaLnBrk="1" hangingPunct="1">
              <a:buFont typeface="Arial" panose="020B0604020202020204" pitchFamily="34" charset="0"/>
              <a:buChar char="•"/>
            </a:pPr>
            <a:r>
              <a:rPr lang="zh-CN" altLang="en-US" sz="2500" dirty="0">
                <a:solidFill>
                  <a:srgbClr val="D71B07"/>
                </a:solidFill>
                <a:latin typeface="楷体_GB2312" pitchFamily="49" charset="-122"/>
                <a:ea typeface="楷体_GB2312" pitchFamily="49" charset="-122"/>
              </a:rPr>
              <a:t>开发工具与库：</a:t>
            </a:r>
            <a:r>
              <a:rPr lang="en-US" altLang="zh-CN" sz="2500" dirty="0" err="1">
                <a:latin typeface="楷体_GB2312" pitchFamily="49" charset="-122"/>
                <a:ea typeface="楷体_GB2312" pitchFamily="49" charset="-122"/>
              </a:rPr>
              <a:t>gcc、gdb、glibc、libc</a:t>
            </a:r>
            <a:endParaRPr lang="en-US" altLang="zh-CN" sz="2500" dirty="0">
              <a:latin typeface="楷体_GB2312" pitchFamily="49" charset="-122"/>
              <a:ea typeface="楷体_GB2312" pitchFamily="49" charset="-122"/>
            </a:endParaRPr>
          </a:p>
          <a:p>
            <a:pPr eaLnBrk="1" hangingPunct="1"/>
            <a:endParaRPr lang="zh-CN" altLang="en-US" sz="2500" dirty="0">
              <a:latin typeface="楷体_GB2312" pitchFamily="49" charset="-122"/>
              <a:ea typeface="楷体_GB2312" pitchFamily="49" charset="-122"/>
            </a:endParaRPr>
          </a:p>
        </p:txBody>
      </p:sp>
      <p:sp>
        <p:nvSpPr>
          <p:cNvPr id="4" name="Rectangle 2"/>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spcBef>
                <a:spcPct val="50000"/>
              </a:spcBef>
              <a:defRPr/>
            </a:pPr>
            <a:r>
              <a:rPr lang="en-US" altLang="zh-CN" dirty="0">
                <a:latin typeface="楷体_GB2312" pitchFamily="49" charset="-122"/>
                <a:ea typeface="楷体_GB2312" pitchFamily="49" charset="-122"/>
                <a:cs typeface="+mn-cs"/>
              </a:rPr>
              <a:t>5</a:t>
            </a:r>
            <a:r>
              <a:rPr lang="zh-CN" altLang="en-US" dirty="0">
                <a:latin typeface="楷体_GB2312" pitchFamily="49" charset="-122"/>
                <a:ea typeface="楷体_GB2312" pitchFamily="49" charset="-122"/>
                <a:cs typeface="+mn-cs"/>
              </a:rPr>
              <a:t>、</a:t>
            </a:r>
            <a:r>
              <a:rPr lang="en-US" altLang="zh-CN" dirty="0">
                <a:latin typeface="楷体_GB2312" pitchFamily="49" charset="-122"/>
                <a:ea typeface="楷体_GB2312" pitchFamily="49" charset="-122"/>
                <a:cs typeface="+mn-cs"/>
              </a:rPr>
              <a:t>Linux</a:t>
            </a:r>
            <a:r>
              <a:rPr lang="zh-CN" altLang="en-GB" dirty="0">
                <a:latin typeface="楷体_GB2312" pitchFamily="49" charset="-122"/>
                <a:ea typeface="楷体_GB2312" pitchFamily="49" charset="-122"/>
                <a:cs typeface="+mn-cs"/>
              </a:rPr>
              <a:t>版本认识</a:t>
            </a:r>
            <a:endParaRPr lang="zh-CN" altLang="en-US" dirty="0">
              <a:latin typeface="楷体_GB2312" pitchFamily="49" charset="-122"/>
              <a:ea typeface="楷体_GB2312" pitchFamily="49" charset="-122"/>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title" idx="4294967295"/>
          </p:nvPr>
        </p:nvSpPr>
        <p:spPr>
          <a:xfrm>
            <a:off x="539750" y="260350"/>
            <a:ext cx="8229600" cy="560388"/>
          </a:xfrm>
        </p:spPr>
        <p:txBody>
          <a:bodyPr anchorCtr="1"/>
          <a:lstStyle/>
          <a:p>
            <a:pPr eaLnBrk="1" hangingPunct="1"/>
            <a:r>
              <a:rPr lang="en-US" altLang="zh-CN">
                <a:latin typeface="楷体_GB2312" pitchFamily="49" charset="-122"/>
                <a:ea typeface="楷体_GB2312" pitchFamily="49" charset="-122"/>
              </a:rPr>
              <a:t>  6</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Linux</a:t>
            </a:r>
            <a:r>
              <a:rPr lang="zh-CN" altLang="en-US">
                <a:latin typeface="楷体_GB2312" pitchFamily="49" charset="-122"/>
                <a:ea typeface="楷体_GB2312" pitchFamily="49" charset="-122"/>
              </a:rPr>
              <a:t>内核源代码的组织</a:t>
            </a:r>
          </a:p>
        </p:txBody>
      </p:sp>
      <p:sp>
        <p:nvSpPr>
          <p:cNvPr id="5123" name="Rectangle 5"/>
          <p:cNvSpPr>
            <a:spLocks noGrp="1" noChangeArrowheads="1"/>
          </p:cNvSpPr>
          <p:nvPr>
            <p:ph type="body" idx="4294967295"/>
          </p:nvPr>
        </p:nvSpPr>
        <p:spPr/>
        <p:txBody>
          <a:bodyPr/>
          <a:lstStyle/>
          <a:p>
            <a:pPr eaLnBrk="1" hangingPunct="1">
              <a:buFont typeface="Arial" panose="020B0604020202020204" pitchFamily="34" charset="0"/>
              <a:buChar char="•"/>
            </a:pPr>
            <a:r>
              <a:rPr lang="zh-CN" altLang="en-US" dirty="0">
                <a:solidFill>
                  <a:srgbClr val="D71B07"/>
                </a:solidFill>
                <a:latin typeface="楷体_GB2312" pitchFamily="49" charset="-122"/>
                <a:ea typeface="楷体_GB2312" pitchFamily="49" charset="-122"/>
              </a:rPr>
              <a:t>理解</a:t>
            </a:r>
            <a:r>
              <a:rPr lang="en-US" altLang="zh-CN" dirty="0">
                <a:solidFill>
                  <a:srgbClr val="D71B07"/>
                </a:solidFill>
                <a:latin typeface="楷体_GB2312" pitchFamily="49" charset="-122"/>
                <a:ea typeface="楷体_GB2312" pitchFamily="49" charset="-122"/>
              </a:rPr>
              <a:t>Linux</a:t>
            </a:r>
            <a:r>
              <a:rPr lang="zh-CN" altLang="en-US" dirty="0">
                <a:solidFill>
                  <a:srgbClr val="D71B07"/>
                </a:solidFill>
                <a:latin typeface="楷体_GB2312" pitchFamily="49" charset="-122"/>
                <a:ea typeface="楷体_GB2312" pitchFamily="49" charset="-122"/>
              </a:rPr>
              <a:t>源码的布局规则</a:t>
            </a:r>
          </a:p>
          <a:p>
            <a:pPr lvl="1" eaLnBrk="1" hangingPunct="1">
              <a:buFont typeface="Arial" panose="020B0604020202020204" pitchFamily="34" charset="0"/>
              <a:buChar char="•"/>
            </a:pPr>
            <a:r>
              <a:rPr lang="zh-CN" altLang="en-US" sz="2800" dirty="0">
                <a:solidFill>
                  <a:srgbClr val="2B5681"/>
                </a:solidFill>
                <a:latin typeface="楷体_GB2312" pitchFamily="49" charset="-122"/>
                <a:ea typeface="楷体_GB2312" pitchFamily="49" charset="-122"/>
              </a:rPr>
              <a:t>指导</a:t>
            </a:r>
            <a:r>
              <a:rPr lang="en-US" altLang="zh-CN" sz="2800" dirty="0">
                <a:solidFill>
                  <a:srgbClr val="2B5681"/>
                </a:solidFill>
                <a:latin typeface="楷体_GB2312" pitchFamily="49" charset="-122"/>
                <a:ea typeface="楷体_GB2312" pitchFamily="49" charset="-122"/>
              </a:rPr>
              <a:t>Linux</a:t>
            </a:r>
            <a:r>
              <a:rPr lang="zh-CN" altLang="en-US" sz="2800" dirty="0">
                <a:solidFill>
                  <a:srgbClr val="2B5681"/>
                </a:solidFill>
                <a:latin typeface="楷体_GB2312" pitchFamily="49" charset="-122"/>
                <a:ea typeface="楷体_GB2312" pitchFamily="49" charset="-122"/>
              </a:rPr>
              <a:t>移植</a:t>
            </a:r>
            <a:r>
              <a:rPr lang="en-US" altLang="zh-CN" sz="2800" dirty="0">
                <a:solidFill>
                  <a:srgbClr val="2B5681"/>
                </a:solidFill>
                <a:latin typeface="楷体_GB2312" pitchFamily="49" charset="-122"/>
                <a:ea typeface="楷体_GB2312" pitchFamily="49" charset="-122"/>
              </a:rPr>
              <a:t>,</a:t>
            </a:r>
            <a:r>
              <a:rPr lang="zh-CN" altLang="en-US" sz="2800" dirty="0">
                <a:solidFill>
                  <a:srgbClr val="2B5681"/>
                </a:solidFill>
                <a:latin typeface="楷体_GB2312" pitchFamily="49" charset="-122"/>
                <a:ea typeface="楷体_GB2312" pitchFamily="49" charset="-122"/>
              </a:rPr>
              <a:t>添加驱动程序时需要修改哪些目录或者文件</a:t>
            </a:r>
          </a:p>
          <a:p>
            <a:pPr eaLnBrk="1" hangingPunct="1">
              <a:buFont typeface="Arial" panose="020B0604020202020204" pitchFamily="34" charset="0"/>
              <a:buChar char="•"/>
            </a:pPr>
            <a:r>
              <a:rPr lang="zh-CN" altLang="en-US" dirty="0">
                <a:solidFill>
                  <a:srgbClr val="D71B07"/>
                </a:solidFill>
                <a:latin typeface="楷体_GB2312" pitchFamily="49" charset="-122"/>
                <a:ea typeface="楷体_GB2312" pitchFamily="49" charset="-122"/>
              </a:rPr>
              <a:t>如何得到源代码？</a:t>
            </a:r>
          </a:p>
          <a:p>
            <a:pPr eaLnBrk="1" hangingPunct="1">
              <a:buFont typeface="Arial" panose="020B0604020202020204" pitchFamily="34" charset="0"/>
              <a:buChar char="•"/>
            </a:pPr>
            <a:r>
              <a:rPr lang="zh-CN" altLang="en-US" dirty="0">
                <a:solidFill>
                  <a:schemeClr val="folHlink"/>
                </a:solidFill>
                <a:latin typeface="楷体_GB2312" pitchFamily="49" charset="-122"/>
                <a:ea typeface="楷体_GB2312" pitchFamily="49" charset="-122"/>
              </a:rPr>
              <a:t>      </a:t>
            </a:r>
            <a:r>
              <a:rPr lang="zh-CN" altLang="en-US" dirty="0">
                <a:latin typeface="楷体_GB2312" pitchFamily="49" charset="-122"/>
                <a:ea typeface="楷体_GB2312" pitchFamily="49" charset="-122"/>
              </a:rPr>
              <a:t>在</a:t>
            </a:r>
            <a:r>
              <a:rPr lang="en-US" altLang="zh-CN" dirty="0">
                <a:latin typeface="楷体_GB2312" pitchFamily="49" charset="-122"/>
                <a:ea typeface="楷体_GB2312" pitchFamily="49" charset="-122"/>
              </a:rPr>
              <a:t>Linux</a:t>
            </a:r>
            <a:r>
              <a:rPr lang="zh-CN" altLang="en-US" dirty="0">
                <a:latin typeface="楷体_GB2312" pitchFamily="49" charset="-122"/>
                <a:ea typeface="楷体_GB2312" pitchFamily="49" charset="-122"/>
              </a:rPr>
              <a:t>系统根目录下，</a:t>
            </a:r>
            <a:r>
              <a:rPr lang="en-US" altLang="zh-CN" dirty="0" err="1">
                <a:latin typeface="楷体_GB2312" pitchFamily="49" charset="-122"/>
                <a:ea typeface="楷体_GB2312" pitchFamily="49" charset="-122"/>
              </a:rPr>
              <a:t>usr</a:t>
            </a:r>
            <a:r>
              <a:rPr lang="en-US" altLang="zh-CN" dirty="0">
                <a:latin typeface="楷体_GB2312" pitchFamily="49" charset="-122"/>
                <a:ea typeface="楷体_GB2312" pitchFamily="49" charset="-122"/>
              </a:rPr>
              <a:t>/</a:t>
            </a:r>
            <a:r>
              <a:rPr lang="en-US" altLang="zh-CN" dirty="0" err="1">
                <a:latin typeface="楷体_GB2312" pitchFamily="49" charset="-122"/>
                <a:ea typeface="楷体_GB2312" pitchFamily="49" charset="-122"/>
              </a:rPr>
              <a:t>src</a:t>
            </a:r>
            <a:r>
              <a:rPr lang="en-US" altLang="zh-CN" dirty="0">
                <a:latin typeface="楷体_GB2312" pitchFamily="49" charset="-122"/>
                <a:ea typeface="楷体_GB2312" pitchFamily="49" charset="-122"/>
              </a:rPr>
              <a:t>/</a:t>
            </a:r>
            <a:r>
              <a:rPr lang="en-US" altLang="zh-CN" dirty="0" err="1">
                <a:latin typeface="楷体_GB2312" pitchFamily="49" charset="-122"/>
                <a:ea typeface="楷体_GB2312" pitchFamily="49" charset="-122"/>
              </a:rPr>
              <a:t>linux</a:t>
            </a:r>
            <a:r>
              <a:rPr lang="zh-CN" altLang="en-US" dirty="0">
                <a:latin typeface="楷体_GB2312" pitchFamily="49" charset="-122"/>
                <a:ea typeface="楷体_GB2312" pitchFamily="49" charset="-122"/>
              </a:rPr>
              <a:t>目录下就是内核源代码。可以看到大量子目录。按树形结构组织。</a:t>
            </a:r>
          </a:p>
          <a:p>
            <a:pPr eaLnBrk="1" hangingPunct="1">
              <a:buFont typeface="Arial" panose="020B0604020202020204" pitchFamily="34" charset="0"/>
              <a:buChar char="•"/>
            </a:pPr>
            <a:r>
              <a:rPr lang="zh-CN" altLang="en-US" dirty="0">
                <a:latin typeface="楷体_GB2312" pitchFamily="49" charset="-122"/>
                <a:ea typeface="楷体_GB2312" pitchFamily="49" charset="-122"/>
              </a:rPr>
              <a:t>      </a:t>
            </a:r>
            <a:endParaRPr lang="zh-CN" altLang="en-US" sz="2400" dirty="0">
              <a:latin typeface="楷体_GB2312" pitchFamily="49" charset="-122"/>
              <a:ea typeface="楷体_GB2312" pitchFamily="49" charset="-122"/>
            </a:endParaRPr>
          </a:p>
        </p:txBody>
      </p:sp>
    </p:spTree>
    <p:extLst>
      <p:ext uri="{BB962C8B-B14F-4D97-AF65-F5344CB8AC3E}">
        <p14:creationId xmlns:p14="http://schemas.microsoft.com/office/powerpoint/2010/main" val="25047551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p:txBody>
          <a:bodyPr anchorCtr="1"/>
          <a:lstStyle/>
          <a:p>
            <a:pPr eaLnBrk="1" hangingPunct="1"/>
            <a:r>
              <a:rPr lang="en-US" altLang="zh-CN">
                <a:latin typeface="楷体_GB2312" pitchFamily="49" charset="-122"/>
                <a:ea typeface="楷体_GB2312" pitchFamily="49" charset="-122"/>
              </a:rPr>
              <a:t>  6</a:t>
            </a:r>
            <a:r>
              <a:rPr lang="zh-CN" altLang="en-US">
                <a:latin typeface="楷体_GB2312" pitchFamily="49" charset="-122"/>
                <a:ea typeface="楷体_GB2312" pitchFamily="49" charset="-122"/>
              </a:rPr>
              <a:t>、 </a:t>
            </a:r>
            <a:r>
              <a:rPr lang="en-US" altLang="zh-CN">
                <a:latin typeface="楷体_GB2312" pitchFamily="49" charset="-122"/>
                <a:ea typeface="楷体_GB2312" pitchFamily="49" charset="-122"/>
              </a:rPr>
              <a:t>Linux</a:t>
            </a:r>
            <a:r>
              <a:rPr lang="zh-CN" altLang="en-US">
                <a:latin typeface="楷体_GB2312" pitchFamily="49" charset="-122"/>
                <a:ea typeface="楷体_GB2312" pitchFamily="49" charset="-122"/>
              </a:rPr>
              <a:t>内核源代码的组织</a:t>
            </a:r>
          </a:p>
        </p:txBody>
      </p:sp>
      <p:sp>
        <p:nvSpPr>
          <p:cNvPr id="39939" name="Rectangle 3"/>
          <p:cNvSpPr>
            <a:spLocks noGrp="1" noChangeArrowheads="1"/>
          </p:cNvSpPr>
          <p:nvPr>
            <p:ph type="body" idx="4294967295"/>
          </p:nvPr>
        </p:nvSpPr>
        <p:spPr>
          <a:xfrm>
            <a:off x="395288" y="1052513"/>
            <a:ext cx="8064500" cy="5272087"/>
          </a:xfrm>
        </p:spPr>
        <p:txBody>
          <a:bodyPr/>
          <a:lstStyle/>
          <a:p>
            <a:pPr marL="533400" indent="-533400" eaLnBrk="1" hangingPunct="1">
              <a:buFont typeface="Wingdings" panose="05000000000000000000" pitchFamily="2" charset="2"/>
              <a:buNone/>
              <a:defRPr/>
            </a:pPr>
            <a:endParaRPr lang="en-US" altLang="zh-CN" sz="2000" dirty="0">
              <a:latin typeface="楷体_GB2312" pitchFamily="49" charset="-122"/>
              <a:ea typeface="楷体_GB2312" pitchFamily="49" charset="-122"/>
            </a:endParaRPr>
          </a:p>
          <a:p>
            <a:pPr marL="533400" indent="-533400" eaLnBrk="1" hangingPunct="1">
              <a:buFont typeface="Wingdings" panose="05000000000000000000" pitchFamily="2" charset="2"/>
              <a:buChar char="n"/>
              <a:defRPr/>
            </a:pPr>
            <a:r>
              <a:rPr lang="en-US" altLang="zh-CN" sz="2400" dirty="0">
                <a:solidFill>
                  <a:srgbClr val="FB1705"/>
                </a:solidFill>
                <a:latin typeface="楷体_GB2312" pitchFamily="49" charset="-122"/>
                <a:ea typeface="楷体_GB2312" pitchFamily="49" charset="-122"/>
              </a:rPr>
              <a:t>arch</a:t>
            </a:r>
            <a:r>
              <a:rPr lang="zh-CN" altLang="en-US" sz="2400" dirty="0">
                <a:solidFill>
                  <a:srgbClr val="FB1705"/>
                </a:solidFill>
                <a:latin typeface="楷体_GB2312" pitchFamily="49" charset="-122"/>
                <a:ea typeface="楷体_GB2312" pitchFamily="49" charset="-122"/>
              </a:rPr>
              <a:t>：</a:t>
            </a:r>
            <a:r>
              <a:rPr lang="zh-CN" altLang="en-US" sz="2400" dirty="0">
                <a:latin typeface="楷体_GB2312" pitchFamily="49" charset="-122"/>
                <a:ea typeface="楷体_GB2312" pitchFamily="49" charset="-122"/>
              </a:rPr>
              <a:t> 包含了所有体系结构相关的核心代码。它还包含每种支持的体系结构的子目录，如</a:t>
            </a:r>
            <a:r>
              <a:rPr lang="en-US" altLang="zh-CN" sz="2400" dirty="0">
                <a:latin typeface="楷体_GB2312" pitchFamily="49" charset="-122"/>
                <a:ea typeface="楷体_GB2312" pitchFamily="49" charset="-122"/>
              </a:rPr>
              <a:t>i386</a:t>
            </a:r>
            <a:r>
              <a:rPr lang="zh-CN" altLang="en-US" sz="2400" dirty="0">
                <a:latin typeface="楷体_GB2312" pitchFamily="49" charset="-122"/>
                <a:ea typeface="楷体_GB2312" pitchFamily="49" charset="-122"/>
              </a:rPr>
              <a:t>。每个体系结构子目录下包含几个主要的子目录：</a:t>
            </a:r>
          </a:p>
          <a:p>
            <a:pPr lvl="1" eaLnBrk="1" hangingPunct="1">
              <a:defRPr/>
            </a:pPr>
            <a:r>
              <a:rPr lang="en-US" altLang="zh-CN" sz="2400" dirty="0">
                <a:solidFill>
                  <a:srgbClr val="004182"/>
                </a:solidFill>
                <a:latin typeface="楷体_GB2312" pitchFamily="49" charset="-122"/>
                <a:ea typeface="楷体_GB2312" pitchFamily="49" charset="-122"/>
              </a:rPr>
              <a:t>kernel	</a:t>
            </a:r>
            <a:r>
              <a:rPr lang="zh-CN" altLang="en-US" sz="2400" dirty="0">
                <a:solidFill>
                  <a:srgbClr val="004182"/>
                </a:solidFill>
                <a:latin typeface="楷体_GB2312" pitchFamily="49" charset="-122"/>
                <a:ea typeface="楷体_GB2312" pitchFamily="49" charset="-122"/>
              </a:rPr>
              <a:t>与体系结构相关的</a:t>
            </a:r>
            <a:r>
              <a:rPr lang="zh-CN" altLang="en-US" sz="2400" dirty="0">
                <a:solidFill>
                  <a:srgbClr val="FF0000"/>
                </a:solidFill>
                <a:latin typeface="楷体_GB2312" pitchFamily="49" charset="-122"/>
                <a:ea typeface="楷体_GB2312" pitchFamily="49" charset="-122"/>
              </a:rPr>
              <a:t>核心</a:t>
            </a:r>
            <a:r>
              <a:rPr lang="zh-CN" altLang="en-US" sz="2400" dirty="0">
                <a:solidFill>
                  <a:srgbClr val="004182"/>
                </a:solidFill>
                <a:latin typeface="楷体_GB2312" pitchFamily="49" charset="-122"/>
                <a:ea typeface="楷体_GB2312" pitchFamily="49" charset="-122"/>
              </a:rPr>
              <a:t>代码</a:t>
            </a:r>
          </a:p>
          <a:p>
            <a:pPr lvl="1" eaLnBrk="1" hangingPunct="1">
              <a:defRPr/>
            </a:pPr>
            <a:r>
              <a:rPr lang="en-US" altLang="zh-CN" sz="2400" dirty="0">
                <a:solidFill>
                  <a:srgbClr val="2B5681"/>
                </a:solidFill>
                <a:latin typeface="楷体_GB2312" pitchFamily="49" charset="-122"/>
                <a:ea typeface="楷体_GB2312" pitchFamily="49" charset="-122"/>
                <a:cs typeface="+mn-cs"/>
              </a:rPr>
              <a:t>mm	</a:t>
            </a:r>
            <a:r>
              <a:rPr lang="zh-CN" altLang="en-US" sz="2400" dirty="0">
                <a:solidFill>
                  <a:srgbClr val="2B5681"/>
                </a:solidFill>
                <a:latin typeface="楷体_GB2312" pitchFamily="49" charset="-122"/>
                <a:ea typeface="楷体_GB2312" pitchFamily="49" charset="-122"/>
                <a:cs typeface="+mn-cs"/>
              </a:rPr>
              <a:t>与体系结构相关的</a:t>
            </a:r>
            <a:r>
              <a:rPr lang="zh-CN" altLang="en-US" sz="2400" dirty="0">
                <a:solidFill>
                  <a:srgbClr val="FF0000"/>
                </a:solidFill>
                <a:latin typeface="楷体_GB2312" pitchFamily="49" charset="-122"/>
                <a:ea typeface="楷体_GB2312" pitchFamily="49" charset="-122"/>
              </a:rPr>
              <a:t>内存管理</a:t>
            </a:r>
            <a:r>
              <a:rPr lang="zh-CN" altLang="en-US" sz="2400" dirty="0">
                <a:solidFill>
                  <a:srgbClr val="2B5681"/>
                </a:solidFill>
                <a:latin typeface="楷体_GB2312" pitchFamily="49" charset="-122"/>
                <a:ea typeface="楷体_GB2312" pitchFamily="49" charset="-122"/>
                <a:cs typeface="+mn-cs"/>
              </a:rPr>
              <a:t>代码</a:t>
            </a:r>
          </a:p>
          <a:p>
            <a:pPr lvl="1" eaLnBrk="1" hangingPunct="1">
              <a:defRPr/>
            </a:pPr>
            <a:r>
              <a:rPr lang="en-US" altLang="zh-CN" sz="2400" dirty="0">
                <a:solidFill>
                  <a:srgbClr val="2B5681"/>
                </a:solidFill>
                <a:latin typeface="楷体_GB2312" pitchFamily="49" charset="-122"/>
                <a:ea typeface="楷体_GB2312" pitchFamily="49" charset="-122"/>
                <a:cs typeface="+mn-cs"/>
              </a:rPr>
              <a:t>lib	</a:t>
            </a:r>
            <a:r>
              <a:rPr lang="zh-CN" altLang="en-US" sz="2400" dirty="0">
                <a:solidFill>
                  <a:srgbClr val="2B5681"/>
                </a:solidFill>
                <a:latin typeface="楷体_GB2312" pitchFamily="49" charset="-122"/>
                <a:ea typeface="楷体_GB2312" pitchFamily="49" charset="-122"/>
                <a:cs typeface="+mn-cs"/>
              </a:rPr>
              <a:t>与体系结构相关的</a:t>
            </a:r>
            <a:r>
              <a:rPr lang="zh-CN" altLang="en-US" sz="2400" dirty="0">
                <a:solidFill>
                  <a:srgbClr val="FF0000"/>
                </a:solidFill>
                <a:latin typeface="楷体_GB2312" pitchFamily="49" charset="-122"/>
                <a:ea typeface="楷体_GB2312" pitchFamily="49" charset="-122"/>
              </a:rPr>
              <a:t>库</a:t>
            </a:r>
            <a:r>
              <a:rPr lang="zh-CN" altLang="en-US" sz="2400" dirty="0">
                <a:solidFill>
                  <a:srgbClr val="2B5681"/>
                </a:solidFill>
                <a:latin typeface="楷体_GB2312" pitchFamily="49" charset="-122"/>
                <a:ea typeface="楷体_GB2312" pitchFamily="49" charset="-122"/>
                <a:cs typeface="+mn-cs"/>
              </a:rPr>
              <a:t>代码</a:t>
            </a:r>
          </a:p>
          <a:p>
            <a:pPr marL="533400" indent="-533400" eaLnBrk="1" hangingPunct="1">
              <a:buFont typeface="Wingdings" panose="05000000000000000000" pitchFamily="2" charset="2"/>
              <a:buChar char="n"/>
              <a:defRPr/>
            </a:pPr>
            <a:r>
              <a:rPr lang="en-US" altLang="zh-CN" sz="2400" dirty="0">
                <a:solidFill>
                  <a:srgbClr val="FB1705"/>
                </a:solidFill>
                <a:latin typeface="楷体_GB2312" pitchFamily="49" charset="-122"/>
                <a:ea typeface="楷体_GB2312" pitchFamily="49" charset="-122"/>
              </a:rPr>
              <a:t>include</a:t>
            </a:r>
            <a:r>
              <a:rPr lang="zh-CN" altLang="en-US" sz="2400" dirty="0">
                <a:solidFill>
                  <a:srgbClr val="FB1705"/>
                </a:solidFill>
                <a:latin typeface="楷体_GB2312" pitchFamily="49" charset="-122"/>
                <a:ea typeface="楷体_GB2312" pitchFamily="49" charset="-122"/>
              </a:rPr>
              <a:t>：</a:t>
            </a:r>
            <a:r>
              <a:rPr lang="zh-CN" altLang="en-US" sz="2400" dirty="0">
                <a:latin typeface="楷体_GB2312" pitchFamily="49" charset="-122"/>
                <a:ea typeface="楷体_GB2312" pitchFamily="49" charset="-122"/>
              </a:rPr>
              <a:t>包括了用来编译内核的大多数头文件。对于每种支持的体系结构分别有一个子目录。</a:t>
            </a:r>
          </a:p>
          <a:p>
            <a:pPr marL="533400" indent="-533400" eaLnBrk="1" hangingPunct="1">
              <a:buFont typeface="Wingdings" panose="05000000000000000000" pitchFamily="2" charset="2"/>
              <a:buChar char="n"/>
              <a:defRPr/>
            </a:pPr>
            <a:r>
              <a:rPr lang="en-US" altLang="zh-CN" sz="2400" dirty="0">
                <a:solidFill>
                  <a:srgbClr val="FB1705"/>
                </a:solidFill>
                <a:latin typeface="楷体_GB2312" pitchFamily="49" charset="-122"/>
                <a:ea typeface="楷体_GB2312" pitchFamily="49" charset="-122"/>
              </a:rPr>
              <a:t>init</a:t>
            </a:r>
            <a:r>
              <a:rPr lang="zh-CN" altLang="en-US" sz="2400" dirty="0">
                <a:solidFill>
                  <a:srgbClr val="FB1705"/>
                </a:solidFill>
                <a:latin typeface="楷体_GB2312" pitchFamily="49" charset="-122"/>
                <a:ea typeface="楷体_GB2312" pitchFamily="49" charset="-122"/>
              </a:rPr>
              <a:t>：</a:t>
            </a:r>
            <a:r>
              <a:rPr lang="zh-CN" altLang="en-US" sz="2400" dirty="0">
                <a:latin typeface="楷体_GB2312" pitchFamily="49" charset="-122"/>
                <a:ea typeface="楷体_GB2312" pitchFamily="49" charset="-122"/>
              </a:rPr>
              <a:t>包含内核的初始化代码，内核开始工作的起点。 </a:t>
            </a:r>
          </a:p>
          <a:p>
            <a:pPr marL="533400" indent="-533400" eaLnBrk="1" hangingPunct="1">
              <a:buFont typeface="Wingdings" panose="05000000000000000000" pitchFamily="2" charset="2"/>
              <a:buChar char="n"/>
              <a:defRPr/>
            </a:pPr>
            <a:r>
              <a:rPr lang="en-US" altLang="zh-CN" sz="2400" dirty="0">
                <a:solidFill>
                  <a:srgbClr val="FB1705"/>
                </a:solidFill>
                <a:latin typeface="楷体_GB2312" pitchFamily="49" charset="-122"/>
                <a:ea typeface="楷体_GB2312" pitchFamily="49" charset="-122"/>
              </a:rPr>
              <a:t>mm</a:t>
            </a:r>
            <a:r>
              <a:rPr lang="zh-CN" altLang="en-US" sz="2400" dirty="0">
                <a:solidFill>
                  <a:srgbClr val="FB1705"/>
                </a:solidFill>
                <a:latin typeface="楷体_GB2312" pitchFamily="49" charset="-122"/>
                <a:ea typeface="楷体_GB2312" pitchFamily="49" charset="-122"/>
              </a:rPr>
              <a:t>：</a:t>
            </a:r>
            <a:r>
              <a:rPr lang="zh-CN" altLang="en-US" sz="2400" dirty="0">
                <a:latin typeface="楷体_GB2312" pitchFamily="49" charset="-122"/>
                <a:ea typeface="楷体_GB2312" pitchFamily="49" charset="-122"/>
              </a:rPr>
              <a:t>包含独立于</a:t>
            </a:r>
            <a:r>
              <a:rPr lang="en-US" altLang="zh-CN" sz="2400" dirty="0">
                <a:latin typeface="楷体_GB2312" pitchFamily="49" charset="-122"/>
                <a:ea typeface="楷体_GB2312" pitchFamily="49" charset="-122"/>
              </a:rPr>
              <a:t>CPU</a:t>
            </a:r>
            <a:r>
              <a:rPr lang="zh-CN" altLang="en-US" sz="2400" dirty="0">
                <a:latin typeface="楷体_GB2312" pitchFamily="49" charset="-122"/>
                <a:ea typeface="楷体_GB2312" pitchFamily="49" charset="-122"/>
              </a:rPr>
              <a:t>体系结构的所有的内存管理代码。</a:t>
            </a:r>
          </a:p>
        </p:txBody>
      </p:sp>
    </p:spTree>
    <p:extLst>
      <p:ext uri="{BB962C8B-B14F-4D97-AF65-F5344CB8AC3E}">
        <p14:creationId xmlns:p14="http://schemas.microsoft.com/office/powerpoint/2010/main" val="13645556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a:spLocks noGrp="1" noChangeArrowheads="1"/>
          </p:cNvSpPr>
          <p:nvPr>
            <p:ph type="title" idx="4294967295"/>
          </p:nvPr>
        </p:nvSpPr>
        <p:spPr/>
        <p:txBody>
          <a:bodyPr anchorCtr="1"/>
          <a:lstStyle/>
          <a:p>
            <a:pPr eaLnBrk="1" hangingPunct="1"/>
            <a:r>
              <a:rPr lang="en-US" altLang="zh-CN">
                <a:latin typeface="楷体_GB2312" pitchFamily="49" charset="-122"/>
                <a:ea typeface="楷体_GB2312" pitchFamily="49" charset="-122"/>
              </a:rPr>
              <a:t>6</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Linux</a:t>
            </a:r>
            <a:r>
              <a:rPr lang="zh-CN" altLang="en-US">
                <a:latin typeface="楷体_GB2312" pitchFamily="49" charset="-122"/>
                <a:ea typeface="楷体_GB2312" pitchFamily="49" charset="-122"/>
              </a:rPr>
              <a:t>内核源代码的组织</a:t>
            </a:r>
          </a:p>
        </p:txBody>
      </p:sp>
      <p:sp>
        <p:nvSpPr>
          <p:cNvPr id="8195" name="Rectangle 5"/>
          <p:cNvSpPr>
            <a:spLocks noGrp="1" noChangeArrowheads="1"/>
          </p:cNvSpPr>
          <p:nvPr>
            <p:ph type="body" idx="4294967295"/>
          </p:nvPr>
        </p:nvSpPr>
        <p:spPr>
          <a:xfrm>
            <a:off x="457200" y="872579"/>
            <a:ext cx="8229600" cy="5292725"/>
          </a:xfrm>
        </p:spPr>
        <p:txBody>
          <a:bodyPr/>
          <a:lstStyle/>
          <a:p>
            <a:pPr eaLnBrk="1" hangingPunct="1">
              <a:buFont typeface="Arial" panose="020B0604020202020204" pitchFamily="34" charset="0"/>
              <a:buChar char="•"/>
            </a:pPr>
            <a:r>
              <a:rPr lang="en-US" altLang="zh-CN" sz="2200" dirty="0">
                <a:solidFill>
                  <a:srgbClr val="FB1705"/>
                </a:solidFill>
                <a:latin typeface="楷体_GB2312" pitchFamily="49" charset="-122"/>
                <a:ea typeface="楷体_GB2312" pitchFamily="49" charset="-122"/>
              </a:rPr>
              <a:t>modules</a:t>
            </a:r>
            <a:r>
              <a:rPr lang="zh-CN" altLang="en-US" sz="2200" dirty="0">
                <a:solidFill>
                  <a:srgbClr val="FB1705"/>
                </a:solidFill>
                <a:latin typeface="楷体_GB2312" pitchFamily="49" charset="-122"/>
                <a:ea typeface="楷体_GB2312" pitchFamily="49" charset="-122"/>
              </a:rPr>
              <a:t>：</a:t>
            </a:r>
            <a:r>
              <a:rPr lang="zh-CN" altLang="en-US" sz="2200" dirty="0">
                <a:latin typeface="楷体_GB2312" pitchFamily="49" charset="-122"/>
                <a:ea typeface="楷体_GB2312" pitchFamily="49" charset="-122"/>
              </a:rPr>
              <a:t> 仅仅包含已建好的模块。 </a:t>
            </a:r>
          </a:p>
          <a:p>
            <a:pPr eaLnBrk="1" hangingPunct="1">
              <a:buFont typeface="Arial" panose="020B0604020202020204" pitchFamily="34" charset="0"/>
              <a:buChar char="•"/>
            </a:pPr>
            <a:r>
              <a:rPr lang="en-US" altLang="zh-CN" sz="2200" dirty="0">
                <a:solidFill>
                  <a:srgbClr val="FB1705"/>
                </a:solidFill>
                <a:latin typeface="楷体_GB2312" pitchFamily="49" charset="-122"/>
                <a:ea typeface="楷体_GB2312" pitchFamily="49" charset="-122"/>
              </a:rPr>
              <a:t>fs</a:t>
            </a:r>
            <a:r>
              <a:rPr lang="zh-CN" altLang="en-US" sz="2200" dirty="0">
                <a:solidFill>
                  <a:srgbClr val="FB1705"/>
                </a:solidFill>
                <a:latin typeface="楷体_GB2312" pitchFamily="49" charset="-122"/>
                <a:ea typeface="楷体_GB2312" pitchFamily="49" charset="-122"/>
              </a:rPr>
              <a:t>： </a:t>
            </a:r>
            <a:r>
              <a:rPr lang="zh-CN" altLang="en-US" sz="2200" dirty="0">
                <a:latin typeface="楷体_GB2312" pitchFamily="49" charset="-122"/>
                <a:ea typeface="楷体_GB2312" pitchFamily="49" charset="-122"/>
              </a:rPr>
              <a:t>所有的文件系统代码。它被划分成对应不同文件系统的子目 录，如</a:t>
            </a:r>
            <a:r>
              <a:rPr lang="en-US" altLang="zh-CN" sz="2200" dirty="0" err="1">
                <a:latin typeface="楷体_GB2312" pitchFamily="49" charset="-122"/>
                <a:ea typeface="楷体_GB2312" pitchFamily="49" charset="-122"/>
              </a:rPr>
              <a:t>vfat</a:t>
            </a:r>
            <a:r>
              <a:rPr lang="zh-CN" altLang="en-US" sz="2200" dirty="0">
                <a:latin typeface="楷体_GB2312" pitchFamily="49" charset="-122"/>
                <a:ea typeface="楷体_GB2312" pitchFamily="49" charset="-122"/>
              </a:rPr>
              <a:t>和</a:t>
            </a:r>
            <a:r>
              <a:rPr lang="en-US" altLang="zh-CN" sz="2200" dirty="0">
                <a:latin typeface="楷体_GB2312" pitchFamily="49" charset="-122"/>
                <a:ea typeface="楷体_GB2312" pitchFamily="49" charset="-122"/>
              </a:rPr>
              <a:t>ext2</a:t>
            </a:r>
            <a:r>
              <a:rPr lang="zh-CN" altLang="en-US" sz="2200" dirty="0">
                <a:latin typeface="楷体_GB2312" pitchFamily="49" charset="-122"/>
                <a:ea typeface="楷体_GB2312" pitchFamily="49" charset="-122"/>
              </a:rPr>
              <a:t>。 </a:t>
            </a:r>
          </a:p>
          <a:p>
            <a:pPr eaLnBrk="1" hangingPunct="1">
              <a:buFont typeface="Arial" panose="020B0604020202020204" pitchFamily="34" charset="0"/>
              <a:buChar char="•"/>
            </a:pPr>
            <a:r>
              <a:rPr lang="en-US" altLang="zh-CN" sz="2200" dirty="0">
                <a:solidFill>
                  <a:srgbClr val="FB1705"/>
                </a:solidFill>
                <a:latin typeface="楷体_GB2312" pitchFamily="49" charset="-122"/>
                <a:ea typeface="楷体_GB2312" pitchFamily="49" charset="-122"/>
              </a:rPr>
              <a:t>kernel</a:t>
            </a:r>
            <a:r>
              <a:rPr lang="zh-CN" altLang="en-US" sz="2200" dirty="0">
                <a:solidFill>
                  <a:srgbClr val="FB1705"/>
                </a:solidFill>
                <a:latin typeface="楷体_GB2312" pitchFamily="49" charset="-122"/>
                <a:ea typeface="楷体_GB2312" pitchFamily="49" charset="-122"/>
              </a:rPr>
              <a:t>：</a:t>
            </a:r>
            <a:r>
              <a:rPr lang="zh-CN" altLang="en-US" sz="2200" dirty="0">
                <a:solidFill>
                  <a:srgbClr val="2E5C8A"/>
                </a:solidFill>
                <a:latin typeface="楷体_GB2312" pitchFamily="49" charset="-122"/>
                <a:ea typeface="楷体_GB2312" pitchFamily="49" charset="-122"/>
              </a:rPr>
              <a:t>存放进程管理和调度等的主要核心代码，用于实现系统的核心模块</a:t>
            </a:r>
            <a:r>
              <a:rPr lang="zh-CN" altLang="en-US" sz="2200" dirty="0">
                <a:latin typeface="楷体_GB2312" pitchFamily="49" charset="-122"/>
                <a:ea typeface="楷体_GB2312" pitchFamily="49" charset="-122"/>
              </a:rPr>
              <a:t>。如：进程管理、进程调度、中断处理、时钟管理、同步机制等。如</a:t>
            </a:r>
            <a:r>
              <a:rPr lang="en-US" altLang="zh-CN" sz="2200" dirty="0" err="1">
                <a:latin typeface="楷体_GB2312" pitchFamily="49" charset="-122"/>
                <a:ea typeface="楷体_GB2312" pitchFamily="49" charset="-122"/>
              </a:rPr>
              <a:t>fork.c,sched.c,time.c</a:t>
            </a:r>
            <a:r>
              <a:rPr lang="en-US" altLang="zh-CN" sz="2200" dirty="0">
                <a:latin typeface="楷体_GB2312" pitchFamily="49" charset="-122"/>
                <a:ea typeface="楷体_GB2312" pitchFamily="49" charset="-122"/>
              </a:rPr>
              <a:t> </a:t>
            </a:r>
          </a:p>
          <a:p>
            <a:pPr eaLnBrk="1" hangingPunct="1">
              <a:buFont typeface="Arial" panose="020B0604020202020204" pitchFamily="34" charset="0"/>
              <a:buChar char="•"/>
            </a:pPr>
            <a:r>
              <a:rPr lang="en-US" altLang="zh-CN" sz="2200" dirty="0">
                <a:solidFill>
                  <a:srgbClr val="FB1705"/>
                </a:solidFill>
                <a:latin typeface="楷体_GB2312" pitchFamily="49" charset="-122"/>
                <a:ea typeface="楷体_GB2312" pitchFamily="49" charset="-122"/>
              </a:rPr>
              <a:t>net</a:t>
            </a:r>
            <a:r>
              <a:rPr lang="zh-CN" altLang="en-US" sz="2200" dirty="0">
                <a:solidFill>
                  <a:srgbClr val="FB1705"/>
                </a:solidFill>
                <a:latin typeface="楷体_GB2312" pitchFamily="49" charset="-122"/>
                <a:ea typeface="楷体_GB2312" pitchFamily="49" charset="-122"/>
              </a:rPr>
              <a:t>： </a:t>
            </a:r>
            <a:r>
              <a:rPr lang="zh-CN" altLang="en-US" sz="2200" dirty="0">
                <a:latin typeface="楷体_GB2312" pitchFamily="49" charset="-122"/>
                <a:ea typeface="楷体_GB2312" pitchFamily="49" charset="-122"/>
              </a:rPr>
              <a:t>核心的网络部分代码。如各种网络协议，以及网卡驱动程序</a:t>
            </a:r>
            <a:endParaRPr lang="en-US" altLang="zh-CN" sz="2200" dirty="0">
              <a:latin typeface="楷体_GB2312" pitchFamily="49" charset="-122"/>
              <a:ea typeface="楷体_GB2312" pitchFamily="49" charset="-122"/>
            </a:endParaRPr>
          </a:p>
          <a:p>
            <a:pPr eaLnBrk="1" hangingPunct="1">
              <a:buFont typeface="Arial" panose="020B0604020202020204" pitchFamily="34" charset="0"/>
              <a:buChar char="•"/>
            </a:pPr>
            <a:r>
              <a:rPr lang="en-US" altLang="zh-CN" sz="2200" dirty="0">
                <a:solidFill>
                  <a:srgbClr val="FB1705"/>
                </a:solidFill>
                <a:latin typeface="楷体_GB2312" pitchFamily="49" charset="-122"/>
                <a:ea typeface="楷体_GB2312" pitchFamily="49" charset="-122"/>
              </a:rPr>
              <a:t>lib</a:t>
            </a:r>
            <a:r>
              <a:rPr lang="zh-CN" altLang="en-US" sz="2200" dirty="0">
                <a:solidFill>
                  <a:srgbClr val="FB1705"/>
                </a:solidFill>
                <a:latin typeface="楷体_GB2312" pitchFamily="49" charset="-122"/>
                <a:ea typeface="楷体_GB2312" pitchFamily="49" charset="-122"/>
              </a:rPr>
              <a:t>：</a:t>
            </a:r>
            <a:r>
              <a:rPr lang="zh-CN" altLang="en-US" sz="2200" dirty="0">
                <a:latin typeface="楷体_GB2312" pitchFamily="49" charset="-122"/>
                <a:ea typeface="楷体_GB2312" pitchFamily="49" charset="-122"/>
              </a:rPr>
              <a:t> 此目录包含了核心的库代码。与处理器结构相关库代码被放在</a:t>
            </a:r>
            <a:r>
              <a:rPr lang="en-US" altLang="zh-CN" sz="2200" dirty="0">
                <a:latin typeface="楷体_GB2312" pitchFamily="49" charset="-122"/>
                <a:ea typeface="楷体_GB2312" pitchFamily="49" charset="-122"/>
              </a:rPr>
              <a:t>arch/lib/</a:t>
            </a:r>
            <a:r>
              <a:rPr lang="zh-CN" altLang="en-US" sz="2200" dirty="0">
                <a:latin typeface="楷体_GB2312" pitchFamily="49" charset="-122"/>
                <a:ea typeface="楷体_GB2312" pitchFamily="49" charset="-122"/>
              </a:rPr>
              <a:t>目录下。</a:t>
            </a:r>
          </a:p>
          <a:p>
            <a:pPr eaLnBrk="1" hangingPunct="1">
              <a:buFont typeface="Arial" panose="020B0604020202020204" pitchFamily="34" charset="0"/>
              <a:buChar char="•"/>
            </a:pPr>
            <a:r>
              <a:rPr lang="en-US" altLang="zh-CN" sz="2200" dirty="0">
                <a:solidFill>
                  <a:srgbClr val="FB1705"/>
                </a:solidFill>
                <a:latin typeface="楷体_GB2312" pitchFamily="49" charset="-122"/>
                <a:ea typeface="楷体_GB2312" pitchFamily="49" charset="-122"/>
              </a:rPr>
              <a:t>scripts</a:t>
            </a:r>
            <a:r>
              <a:rPr lang="zh-CN" altLang="en-US" sz="2200" dirty="0">
                <a:solidFill>
                  <a:srgbClr val="FB1705"/>
                </a:solidFill>
                <a:latin typeface="楷体_GB2312" pitchFamily="49" charset="-122"/>
                <a:ea typeface="楷体_GB2312" pitchFamily="49" charset="-122"/>
              </a:rPr>
              <a:t>：</a:t>
            </a:r>
            <a:r>
              <a:rPr lang="zh-CN" altLang="en-US" sz="2200" dirty="0">
                <a:latin typeface="楷体_GB2312" pitchFamily="49" charset="-122"/>
                <a:ea typeface="楷体_GB2312" pitchFamily="49" charset="-122"/>
              </a:rPr>
              <a:t> 此目录包含用于编译内核时用的脚本文件（如</a:t>
            </a:r>
            <a:r>
              <a:rPr lang="en-US" altLang="zh-CN" sz="2200" dirty="0" err="1">
                <a:latin typeface="楷体_GB2312" pitchFamily="49" charset="-122"/>
                <a:ea typeface="楷体_GB2312" pitchFamily="49" charset="-122"/>
              </a:rPr>
              <a:t>awk</a:t>
            </a:r>
            <a:r>
              <a:rPr lang="zh-CN" altLang="en-US" sz="2200" dirty="0">
                <a:latin typeface="楷体_GB2312" pitchFamily="49" charset="-122"/>
                <a:ea typeface="楷体_GB2312" pitchFamily="49" charset="-122"/>
              </a:rPr>
              <a:t>和</a:t>
            </a:r>
            <a:r>
              <a:rPr lang="en-US" altLang="zh-CN" sz="2200" dirty="0" err="1">
                <a:latin typeface="楷体_GB2312" pitchFamily="49" charset="-122"/>
                <a:ea typeface="楷体_GB2312" pitchFamily="49" charset="-122"/>
              </a:rPr>
              <a:t>tk</a:t>
            </a:r>
            <a:r>
              <a:rPr lang="zh-CN" altLang="en-US" sz="2200" dirty="0">
                <a:latin typeface="楷体_GB2312" pitchFamily="49" charset="-122"/>
                <a:ea typeface="楷体_GB2312" pitchFamily="49" charset="-122"/>
              </a:rPr>
              <a:t>脚本）</a:t>
            </a:r>
          </a:p>
          <a:p>
            <a:pPr eaLnBrk="1" hangingPunct="1">
              <a:buFont typeface="Arial" panose="020B0604020202020204" pitchFamily="34" charset="0"/>
              <a:buChar char="•"/>
            </a:pPr>
            <a:r>
              <a:rPr lang="en-US" altLang="zh-CN" sz="2200" dirty="0">
                <a:solidFill>
                  <a:srgbClr val="FB1705"/>
                </a:solidFill>
                <a:latin typeface="楷体_GB2312" pitchFamily="49" charset="-122"/>
                <a:ea typeface="楷体_GB2312" pitchFamily="49" charset="-122"/>
              </a:rPr>
              <a:t>drivers :</a:t>
            </a:r>
            <a:r>
              <a:rPr lang="zh-CN" altLang="en-US" sz="2200" dirty="0">
                <a:latin typeface="楷体_GB2312" pitchFamily="49" charset="-122"/>
                <a:ea typeface="楷体_GB2312" pitchFamily="49" charset="-122"/>
              </a:rPr>
              <a:t>系统中所有的设备驱动都位于该目录中。它又进一步划分成几类设备驱动，如</a:t>
            </a:r>
            <a:r>
              <a:rPr lang="en-US" altLang="zh-CN" sz="2200" dirty="0">
                <a:latin typeface="楷体_GB2312" pitchFamily="49" charset="-122"/>
                <a:ea typeface="楷体_GB2312" pitchFamily="49" charset="-122"/>
              </a:rPr>
              <a:t>block</a:t>
            </a:r>
            <a:r>
              <a:rPr lang="zh-CN" altLang="en-US" sz="2200" dirty="0">
                <a:latin typeface="楷体_GB2312" pitchFamily="49" charset="-122"/>
                <a:ea typeface="楷体_GB2312" pitchFamily="49" charset="-122"/>
              </a:rPr>
              <a:t>。</a:t>
            </a:r>
          </a:p>
          <a:p>
            <a:pPr eaLnBrk="1" hangingPunct="1">
              <a:buFont typeface="Arial" panose="020B0604020202020204" pitchFamily="34" charset="0"/>
              <a:buChar char="•"/>
            </a:pPr>
            <a:r>
              <a:rPr lang="en-US" altLang="zh-CN" sz="2200" dirty="0" err="1">
                <a:solidFill>
                  <a:srgbClr val="FB1705"/>
                </a:solidFill>
                <a:latin typeface="楷体_GB2312" pitchFamily="49" charset="-122"/>
                <a:ea typeface="楷体_GB2312" pitchFamily="49" charset="-122"/>
              </a:rPr>
              <a:t>ipc</a:t>
            </a:r>
            <a:r>
              <a:rPr lang="en-US" altLang="zh-CN" sz="2200" dirty="0">
                <a:solidFill>
                  <a:srgbClr val="FB1705"/>
                </a:solidFill>
                <a:latin typeface="楷体_GB2312" pitchFamily="49" charset="-122"/>
                <a:ea typeface="楷体_GB2312" pitchFamily="49" charset="-122"/>
              </a:rPr>
              <a:t>:</a:t>
            </a:r>
            <a:r>
              <a:rPr lang="en-US" altLang="zh-CN" sz="2200" dirty="0">
                <a:latin typeface="楷体_GB2312" pitchFamily="49" charset="-122"/>
                <a:ea typeface="楷体_GB2312" pitchFamily="49" charset="-122"/>
              </a:rPr>
              <a:t> </a:t>
            </a:r>
            <a:r>
              <a:rPr lang="zh-CN" altLang="en-US" sz="2200" dirty="0">
                <a:latin typeface="楷体_GB2312" pitchFamily="49" charset="-122"/>
                <a:ea typeface="楷体_GB2312" pitchFamily="49" charset="-122"/>
              </a:rPr>
              <a:t>包含了内核的进程间通讯代码。 </a:t>
            </a:r>
          </a:p>
        </p:txBody>
      </p:sp>
    </p:spTree>
    <p:extLst>
      <p:ext uri="{BB962C8B-B14F-4D97-AF65-F5344CB8AC3E}">
        <p14:creationId xmlns:p14="http://schemas.microsoft.com/office/powerpoint/2010/main" val="2189156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en-US" altLang="zh-CN">
                <a:latin typeface="楷体_GB2312" pitchFamily="49" charset="-122"/>
                <a:ea typeface="楷体_GB2312" pitchFamily="49" charset="-122"/>
              </a:rPr>
              <a:t>6</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Linux</a:t>
            </a:r>
            <a:r>
              <a:rPr lang="zh-CN" altLang="en-US">
                <a:latin typeface="楷体_GB2312" pitchFamily="49" charset="-122"/>
                <a:ea typeface="楷体_GB2312" pitchFamily="49" charset="-122"/>
              </a:rPr>
              <a:t>内核源代码的组织</a:t>
            </a:r>
            <a:endParaRPr lang="zh-CN" altLang="en-US"/>
          </a:p>
        </p:txBody>
      </p:sp>
      <p:sp>
        <p:nvSpPr>
          <p:cNvPr id="41987" name="内容占位符 2"/>
          <p:cNvSpPr>
            <a:spLocks noGrp="1"/>
          </p:cNvSpPr>
          <p:nvPr>
            <p:ph idx="1"/>
          </p:nvPr>
        </p:nvSpPr>
        <p:spPr>
          <a:xfrm>
            <a:off x="426244" y="908720"/>
            <a:ext cx="8291512" cy="5272087"/>
          </a:xfrm>
        </p:spPr>
        <p:txBody>
          <a:bodyPr/>
          <a:lstStyle/>
          <a:p>
            <a:pPr>
              <a:defRPr/>
            </a:pPr>
            <a:r>
              <a:rPr lang="zh-CN" altLang="en-US" sz="2400" dirty="0">
                <a:latin typeface="楷体_GB2312" pitchFamily="49" charset="-122"/>
                <a:ea typeface="楷体_GB2312" pitchFamily="49" charset="-122"/>
              </a:rPr>
              <a:t>每个目录下都有一个</a:t>
            </a:r>
            <a:r>
              <a:rPr lang="en-US" altLang="zh-CN" sz="2400" dirty="0">
                <a:latin typeface="楷体_GB2312" pitchFamily="49" charset="-122"/>
                <a:ea typeface="楷体_GB2312" pitchFamily="49" charset="-122"/>
              </a:rPr>
              <a:t>.depend</a:t>
            </a:r>
            <a:r>
              <a:rPr lang="zh-CN" altLang="en-US" sz="2400" dirty="0">
                <a:latin typeface="楷体_GB2312" pitchFamily="49" charset="-122"/>
                <a:ea typeface="楷体_GB2312" pitchFamily="49" charset="-122"/>
              </a:rPr>
              <a:t>文件和</a:t>
            </a:r>
            <a:r>
              <a:rPr lang="en-US" altLang="zh-CN" sz="2400" dirty="0" err="1">
                <a:latin typeface="楷体_GB2312" pitchFamily="49" charset="-122"/>
                <a:ea typeface="楷体_GB2312" pitchFamily="49" charset="-122"/>
              </a:rPr>
              <a:t>makefile</a:t>
            </a:r>
            <a:r>
              <a:rPr lang="zh-CN" altLang="en-US" sz="2400" dirty="0">
                <a:latin typeface="楷体_GB2312" pitchFamily="49" charset="-122"/>
                <a:ea typeface="楷体_GB2312" pitchFamily="49" charset="-122"/>
              </a:rPr>
              <a:t>文件，是编译时使用的辅助文件。</a:t>
            </a:r>
          </a:p>
          <a:p>
            <a:pPr lvl="2">
              <a:defRPr/>
            </a:pPr>
            <a:r>
              <a:rPr lang="zh-CN" altLang="en-US" b="1" dirty="0">
                <a:solidFill>
                  <a:srgbClr val="2B5681"/>
                </a:solidFill>
                <a:latin typeface="楷体_GB2312" pitchFamily="49" charset="-122"/>
                <a:ea typeface="楷体_GB2312" pitchFamily="49" charset="-122"/>
                <a:cs typeface="+mn-cs"/>
              </a:rPr>
              <a:t>仔细阅读这两个文件，对搞清楚各个文件之间的联系和依托关系很有帮助。</a:t>
            </a:r>
          </a:p>
          <a:p>
            <a:pPr>
              <a:defRPr/>
            </a:pPr>
            <a:r>
              <a:rPr lang="en-US" altLang="zh-CN" sz="2400" dirty="0">
                <a:latin typeface="楷体_GB2312" pitchFamily="49" charset="-122"/>
                <a:ea typeface="楷体_GB2312" pitchFamily="49" charset="-122"/>
              </a:rPr>
              <a:t>Linux</a:t>
            </a:r>
            <a:r>
              <a:rPr lang="zh-CN" altLang="en-US" sz="2400" dirty="0">
                <a:latin typeface="楷体_GB2312" pitchFamily="49" charset="-122"/>
                <a:ea typeface="楷体_GB2312" pitchFamily="49" charset="-122"/>
              </a:rPr>
              <a:t>内核源代码</a:t>
            </a:r>
          </a:p>
          <a:p>
            <a:pPr lvl="1">
              <a:defRPr/>
            </a:pPr>
            <a:r>
              <a:rPr lang="zh-CN" altLang="en-US" sz="2400" dirty="0">
                <a:solidFill>
                  <a:srgbClr val="2B5681"/>
                </a:solidFill>
                <a:latin typeface="楷体_GB2312" pitchFamily="49" charset="-122"/>
                <a:ea typeface="楷体_GB2312" pitchFamily="49" charset="-122"/>
                <a:cs typeface="+mn-cs"/>
              </a:rPr>
              <a:t>放置在</a:t>
            </a:r>
            <a:r>
              <a:rPr lang="en-US" altLang="zh-CN" sz="2400" dirty="0">
                <a:solidFill>
                  <a:srgbClr val="2B5681"/>
                </a:solidFill>
                <a:latin typeface="楷体_GB2312" pitchFamily="49" charset="-122"/>
                <a:ea typeface="楷体_GB2312" pitchFamily="49" charset="-122"/>
                <a:cs typeface="+mn-cs"/>
              </a:rPr>
              <a:t>/</a:t>
            </a:r>
            <a:r>
              <a:rPr lang="en-US" altLang="zh-CN" sz="2400" dirty="0" err="1">
                <a:solidFill>
                  <a:srgbClr val="2B5681"/>
                </a:solidFill>
                <a:latin typeface="楷体_GB2312" pitchFamily="49" charset="-122"/>
                <a:ea typeface="楷体_GB2312" pitchFamily="49" charset="-122"/>
                <a:cs typeface="+mn-cs"/>
              </a:rPr>
              <a:t>usr</a:t>
            </a:r>
            <a:r>
              <a:rPr lang="en-US" altLang="zh-CN" sz="2400" dirty="0">
                <a:solidFill>
                  <a:srgbClr val="2B5681"/>
                </a:solidFill>
                <a:latin typeface="楷体_GB2312" pitchFamily="49" charset="-122"/>
                <a:ea typeface="楷体_GB2312" pitchFamily="49" charset="-122"/>
                <a:cs typeface="+mn-cs"/>
              </a:rPr>
              <a:t>/</a:t>
            </a:r>
            <a:r>
              <a:rPr lang="en-US" altLang="zh-CN" sz="2400" dirty="0" err="1">
                <a:solidFill>
                  <a:srgbClr val="2B5681"/>
                </a:solidFill>
                <a:latin typeface="楷体_GB2312" pitchFamily="49" charset="-122"/>
                <a:ea typeface="楷体_GB2312" pitchFamily="49" charset="-122"/>
                <a:cs typeface="+mn-cs"/>
              </a:rPr>
              <a:t>src</a:t>
            </a:r>
            <a:r>
              <a:rPr lang="en-US" altLang="zh-CN" sz="2400" dirty="0">
                <a:solidFill>
                  <a:srgbClr val="2B5681"/>
                </a:solidFill>
                <a:latin typeface="楷体_GB2312" pitchFamily="49" charset="-122"/>
                <a:ea typeface="楷体_GB2312" pitchFamily="49" charset="-122"/>
                <a:cs typeface="+mn-cs"/>
              </a:rPr>
              <a:t>/</a:t>
            </a:r>
            <a:r>
              <a:rPr lang="en-US" altLang="zh-CN" sz="2400" dirty="0" err="1">
                <a:solidFill>
                  <a:srgbClr val="2B5681"/>
                </a:solidFill>
                <a:latin typeface="楷体_GB2312" pitchFamily="49" charset="-122"/>
                <a:ea typeface="楷体_GB2312" pitchFamily="49" charset="-122"/>
                <a:cs typeface="+mn-cs"/>
              </a:rPr>
              <a:t>linux</a:t>
            </a:r>
            <a:r>
              <a:rPr lang="zh-CN" altLang="en-US" sz="2400" dirty="0">
                <a:solidFill>
                  <a:srgbClr val="2B5681"/>
                </a:solidFill>
                <a:latin typeface="楷体_GB2312" pitchFamily="49" charset="-122"/>
                <a:ea typeface="楷体_GB2312" pitchFamily="49" charset="-122"/>
                <a:cs typeface="+mn-cs"/>
              </a:rPr>
              <a:t>目录下</a:t>
            </a:r>
          </a:p>
          <a:p>
            <a:pPr lvl="1">
              <a:defRPr/>
            </a:pPr>
            <a:r>
              <a:rPr lang="zh-CN" altLang="en-US" sz="2400" dirty="0">
                <a:solidFill>
                  <a:srgbClr val="2B5681"/>
                </a:solidFill>
                <a:latin typeface="楷体_GB2312" pitchFamily="49" charset="-122"/>
                <a:ea typeface="楷体_GB2312" pitchFamily="49" charset="-122"/>
                <a:cs typeface="+mn-cs"/>
              </a:rPr>
              <a:t>对内核的修改是用补丁文件的方式发布的，</a:t>
            </a:r>
            <a:r>
              <a:rPr lang="en-US" altLang="zh-CN" sz="2400" dirty="0">
                <a:solidFill>
                  <a:srgbClr val="2B5681"/>
                </a:solidFill>
                <a:latin typeface="楷体_GB2312" pitchFamily="49" charset="-122"/>
                <a:ea typeface="楷体_GB2312" pitchFamily="49" charset="-122"/>
                <a:cs typeface="+mn-cs"/>
              </a:rPr>
              <a:t>patch</a:t>
            </a:r>
            <a:r>
              <a:rPr lang="zh-CN" altLang="en-US" sz="2400" dirty="0">
                <a:solidFill>
                  <a:srgbClr val="2B5681"/>
                </a:solidFill>
                <a:latin typeface="楷体_GB2312" pitchFamily="49" charset="-122"/>
                <a:ea typeface="楷体_GB2312" pitchFamily="49" charset="-122"/>
                <a:cs typeface="+mn-cs"/>
              </a:rPr>
              <a:t>实用程序用来对内核源文件进行一系列修改。</a:t>
            </a:r>
          </a:p>
          <a:p>
            <a:pPr lvl="2">
              <a:defRPr/>
            </a:pPr>
            <a:r>
              <a:rPr lang="zh-CN" altLang="en-US" b="1" dirty="0">
                <a:solidFill>
                  <a:srgbClr val="2B5681"/>
                </a:solidFill>
                <a:latin typeface="楷体_GB2312" pitchFamily="49" charset="-122"/>
                <a:ea typeface="楷体_GB2312" pitchFamily="49" charset="-122"/>
                <a:cs typeface="+mn-cs"/>
              </a:rPr>
              <a:t>例：现有内核 </a:t>
            </a:r>
            <a:r>
              <a:rPr lang="en-US" altLang="zh-CN" b="1" dirty="0">
                <a:solidFill>
                  <a:srgbClr val="2B5681"/>
                </a:solidFill>
                <a:latin typeface="楷体_GB2312" pitchFamily="49" charset="-122"/>
                <a:ea typeface="楷体_GB2312" pitchFamily="49" charset="-122"/>
                <a:cs typeface="+mn-cs"/>
              </a:rPr>
              <a:t>2.2.xx</a:t>
            </a:r>
            <a:r>
              <a:rPr lang="zh-CN" altLang="en-US" b="1" dirty="0">
                <a:solidFill>
                  <a:srgbClr val="2B5681"/>
                </a:solidFill>
                <a:latin typeface="楷体_GB2312" pitchFamily="49" charset="-122"/>
                <a:ea typeface="楷体_GB2312" pitchFamily="49" charset="-122"/>
                <a:cs typeface="+mn-cs"/>
              </a:rPr>
              <a:t>，想升级到</a:t>
            </a:r>
            <a:r>
              <a:rPr lang="en-US" altLang="zh-CN" b="1" dirty="0">
                <a:solidFill>
                  <a:srgbClr val="2B5681"/>
                </a:solidFill>
                <a:latin typeface="楷体_GB2312" pitchFamily="49" charset="-122"/>
                <a:ea typeface="楷体_GB2312" pitchFamily="49" charset="-122"/>
                <a:cs typeface="+mn-cs"/>
              </a:rPr>
              <a:t>2.4.18</a:t>
            </a:r>
            <a:r>
              <a:rPr lang="zh-CN" altLang="en-US" b="1" dirty="0">
                <a:solidFill>
                  <a:srgbClr val="2B5681"/>
                </a:solidFill>
                <a:latin typeface="楷体_GB2312" pitchFamily="49" charset="-122"/>
                <a:ea typeface="楷体_GB2312" pitchFamily="49" charset="-122"/>
                <a:cs typeface="+mn-cs"/>
              </a:rPr>
              <a:t>。则需要先获得</a:t>
            </a:r>
            <a:r>
              <a:rPr lang="en-US" altLang="zh-CN" b="1" dirty="0">
                <a:solidFill>
                  <a:srgbClr val="2B5681"/>
                </a:solidFill>
                <a:latin typeface="楷体_GB2312" pitchFamily="49" charset="-122"/>
                <a:ea typeface="楷体_GB2312" pitchFamily="49" charset="-122"/>
                <a:cs typeface="+mn-cs"/>
              </a:rPr>
              <a:t>2.4.18</a:t>
            </a:r>
            <a:r>
              <a:rPr lang="zh-CN" altLang="en-US" b="1" dirty="0">
                <a:solidFill>
                  <a:srgbClr val="2B5681"/>
                </a:solidFill>
                <a:latin typeface="楷体_GB2312" pitchFamily="49" charset="-122"/>
                <a:ea typeface="楷体_GB2312" pitchFamily="49" charset="-122"/>
                <a:cs typeface="+mn-cs"/>
              </a:rPr>
              <a:t>的补丁文件，应用</a:t>
            </a:r>
            <a:r>
              <a:rPr lang="en-US" altLang="zh-CN" b="1" dirty="0">
                <a:solidFill>
                  <a:srgbClr val="2B5681"/>
                </a:solidFill>
                <a:latin typeface="楷体_GB2312" pitchFamily="49" charset="-122"/>
                <a:ea typeface="楷体_GB2312" pitchFamily="49" charset="-122"/>
                <a:cs typeface="+mn-cs"/>
              </a:rPr>
              <a:t>patch</a:t>
            </a:r>
            <a:r>
              <a:rPr lang="zh-CN" altLang="en-US" b="1" dirty="0">
                <a:solidFill>
                  <a:srgbClr val="2B5681"/>
                </a:solidFill>
                <a:latin typeface="楷体_GB2312" pitchFamily="49" charset="-122"/>
                <a:ea typeface="楷体_GB2312" pitchFamily="49" charset="-122"/>
                <a:cs typeface="+mn-cs"/>
              </a:rPr>
              <a:t>来修改</a:t>
            </a:r>
            <a:r>
              <a:rPr lang="en-US" altLang="zh-CN" b="1" dirty="0">
                <a:solidFill>
                  <a:srgbClr val="2B5681"/>
                </a:solidFill>
                <a:latin typeface="楷体_GB2312" pitchFamily="49" charset="-122"/>
                <a:ea typeface="楷体_GB2312" pitchFamily="49" charset="-122"/>
                <a:cs typeface="+mn-cs"/>
              </a:rPr>
              <a:t>2.2.xx</a:t>
            </a:r>
            <a:r>
              <a:rPr lang="zh-CN" altLang="en-US" b="1" dirty="0">
                <a:solidFill>
                  <a:srgbClr val="2B5681"/>
                </a:solidFill>
                <a:latin typeface="楷体_GB2312" pitchFamily="49" charset="-122"/>
                <a:ea typeface="楷体_GB2312" pitchFamily="49" charset="-122"/>
                <a:cs typeface="+mn-cs"/>
              </a:rPr>
              <a:t>文件。</a:t>
            </a:r>
          </a:p>
          <a:p>
            <a:pPr lvl="2">
              <a:defRPr/>
            </a:pPr>
            <a:r>
              <a:rPr lang="en-US" altLang="zh-CN" b="1" dirty="0">
                <a:solidFill>
                  <a:srgbClr val="2B5681"/>
                </a:solidFill>
                <a:latin typeface="楷体_GB2312" pitchFamily="49" charset="-122"/>
                <a:ea typeface="楷体_GB2312" pitchFamily="49" charset="-122"/>
                <a:cs typeface="+mn-cs"/>
              </a:rPr>
              <a:t># </a:t>
            </a:r>
            <a:r>
              <a:rPr lang="en-US" altLang="zh-CN" b="1" dirty="0" err="1">
                <a:solidFill>
                  <a:srgbClr val="2B5681"/>
                </a:solidFill>
                <a:latin typeface="楷体_GB2312" pitchFamily="49" charset="-122"/>
                <a:ea typeface="楷体_GB2312" pitchFamily="49" charset="-122"/>
                <a:cs typeface="+mn-cs"/>
              </a:rPr>
              <a:t>cd</a:t>
            </a:r>
            <a:r>
              <a:rPr lang="en-US" altLang="zh-CN" b="1" dirty="0">
                <a:solidFill>
                  <a:srgbClr val="2B5681"/>
                </a:solidFill>
                <a:latin typeface="楷体_GB2312" pitchFamily="49" charset="-122"/>
                <a:ea typeface="楷体_GB2312" pitchFamily="49" charset="-122"/>
                <a:cs typeface="+mn-cs"/>
              </a:rPr>
              <a:t> /</a:t>
            </a:r>
            <a:r>
              <a:rPr lang="en-US" altLang="zh-CN" b="1" dirty="0" err="1">
                <a:solidFill>
                  <a:srgbClr val="2B5681"/>
                </a:solidFill>
                <a:latin typeface="楷体_GB2312" pitchFamily="49" charset="-122"/>
                <a:ea typeface="楷体_GB2312" pitchFamily="49" charset="-122"/>
                <a:cs typeface="+mn-cs"/>
              </a:rPr>
              <a:t>usr</a:t>
            </a:r>
            <a:r>
              <a:rPr lang="en-US" altLang="zh-CN" b="1" dirty="0">
                <a:solidFill>
                  <a:srgbClr val="2B5681"/>
                </a:solidFill>
                <a:latin typeface="楷体_GB2312" pitchFamily="49" charset="-122"/>
                <a:ea typeface="楷体_GB2312" pitchFamily="49" charset="-122"/>
                <a:cs typeface="+mn-cs"/>
              </a:rPr>
              <a:t>/</a:t>
            </a:r>
            <a:r>
              <a:rPr lang="en-US" altLang="zh-CN" b="1" dirty="0" err="1">
                <a:solidFill>
                  <a:srgbClr val="2B5681"/>
                </a:solidFill>
                <a:latin typeface="楷体_GB2312" pitchFamily="49" charset="-122"/>
                <a:ea typeface="楷体_GB2312" pitchFamily="49" charset="-122"/>
                <a:cs typeface="+mn-cs"/>
              </a:rPr>
              <a:t>src</a:t>
            </a:r>
            <a:r>
              <a:rPr lang="en-US" altLang="zh-CN" b="1" dirty="0">
                <a:solidFill>
                  <a:srgbClr val="2B5681"/>
                </a:solidFill>
                <a:latin typeface="楷体_GB2312" pitchFamily="49" charset="-122"/>
                <a:ea typeface="楷体_GB2312" pitchFamily="49" charset="-122"/>
                <a:cs typeface="+mn-cs"/>
              </a:rPr>
              <a:t>/</a:t>
            </a:r>
            <a:r>
              <a:rPr lang="en-US" altLang="zh-CN" b="1" dirty="0" err="1">
                <a:solidFill>
                  <a:srgbClr val="2B5681"/>
                </a:solidFill>
                <a:latin typeface="楷体_GB2312" pitchFamily="49" charset="-122"/>
                <a:ea typeface="楷体_GB2312" pitchFamily="49" charset="-122"/>
                <a:cs typeface="+mn-cs"/>
              </a:rPr>
              <a:t>linux</a:t>
            </a:r>
            <a:endParaRPr lang="en-US" altLang="zh-CN" b="1" dirty="0">
              <a:solidFill>
                <a:srgbClr val="2B5681"/>
              </a:solidFill>
              <a:latin typeface="楷体_GB2312" pitchFamily="49" charset="-122"/>
              <a:ea typeface="楷体_GB2312" pitchFamily="49" charset="-122"/>
              <a:cs typeface="+mn-cs"/>
            </a:endParaRPr>
          </a:p>
          <a:p>
            <a:pPr lvl="2">
              <a:defRPr/>
            </a:pPr>
            <a:r>
              <a:rPr lang="en-US" altLang="zh-CN" b="1" dirty="0">
                <a:solidFill>
                  <a:srgbClr val="2B5681"/>
                </a:solidFill>
                <a:latin typeface="楷体_GB2312" pitchFamily="49" charset="-122"/>
                <a:ea typeface="楷体_GB2312" pitchFamily="49" charset="-122"/>
                <a:cs typeface="+mn-cs"/>
              </a:rPr>
              <a:t># patch –pl &lt; patch-2.4.18</a:t>
            </a:r>
            <a:endParaRPr lang="zh-CN" altLang="en-US" b="1" dirty="0">
              <a:solidFill>
                <a:srgbClr val="2B5681"/>
              </a:solidFill>
              <a:latin typeface="楷体_GB2312" pitchFamily="49" charset="-122"/>
              <a:ea typeface="楷体_GB2312" pitchFamily="49" charset="-122"/>
              <a:cs typeface="+mn-cs"/>
            </a:endParaRPr>
          </a:p>
          <a:p>
            <a:pPr>
              <a:defRPr/>
            </a:pPr>
            <a:endParaRPr lang="zh-CN" altLang="en-US" dirty="0">
              <a:latin typeface="Times New Roman" pitchFamily="18" charset="0"/>
              <a:cs typeface="Times New Roman" pitchFamily="18" charset="0"/>
            </a:endParaRPr>
          </a:p>
        </p:txBody>
      </p:sp>
    </p:spTree>
    <p:extLst>
      <p:ext uri="{BB962C8B-B14F-4D97-AF65-F5344CB8AC3E}">
        <p14:creationId xmlns:p14="http://schemas.microsoft.com/office/powerpoint/2010/main" val="1578369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331913" y="981075"/>
            <a:ext cx="7632701" cy="609600"/>
          </a:xfrm>
        </p:spPr>
        <p:txBody>
          <a:bodyPr/>
          <a:lstStyle/>
          <a:p>
            <a:r>
              <a:rPr lang="en-US" altLang="zh-CN" sz="2800">
                <a:latin typeface="楷体_GB2312" pitchFamily="49" charset="-122"/>
                <a:ea typeface="楷体_GB2312" pitchFamily="49" charset="-122"/>
              </a:rPr>
              <a:t>Linux</a:t>
            </a:r>
            <a:r>
              <a:rPr lang="zh-CN" altLang="en-US" sz="2800">
                <a:latin typeface="楷体_GB2312" pitchFamily="49" charset="-122"/>
                <a:ea typeface="楷体_GB2312" pitchFamily="49" charset="-122"/>
              </a:rPr>
              <a:t>内核对</a:t>
            </a:r>
            <a:r>
              <a:rPr lang="en-US" altLang="zh-CN" sz="2800">
                <a:latin typeface="楷体_GB2312" pitchFamily="49" charset="-122"/>
                <a:ea typeface="楷体_GB2312" pitchFamily="49" charset="-122"/>
              </a:rPr>
              <a:t>SMP</a:t>
            </a:r>
            <a:r>
              <a:rPr lang="zh-CN" altLang="en-US" sz="2800">
                <a:latin typeface="楷体_GB2312" pitchFamily="49" charset="-122"/>
                <a:ea typeface="楷体_GB2312" pitchFamily="49" charset="-122"/>
              </a:rPr>
              <a:t>的支持</a:t>
            </a:r>
          </a:p>
        </p:txBody>
      </p:sp>
      <p:sp>
        <p:nvSpPr>
          <p:cNvPr id="43011" name="Rectangle 3"/>
          <p:cNvSpPr>
            <a:spLocks noGrp="1" noChangeArrowheads="1"/>
          </p:cNvSpPr>
          <p:nvPr>
            <p:ph type="body" idx="1"/>
          </p:nvPr>
        </p:nvSpPr>
        <p:spPr>
          <a:xfrm>
            <a:off x="252413" y="1773238"/>
            <a:ext cx="8351837" cy="5661025"/>
          </a:xfrm>
        </p:spPr>
        <p:txBody>
          <a:bodyPr/>
          <a:lstStyle/>
          <a:p>
            <a:pPr>
              <a:defRPr/>
            </a:pPr>
            <a:r>
              <a:rPr lang="zh-CN" altLang="en-US" sz="2400" dirty="0">
                <a:latin typeface="楷体_GB2312" pitchFamily="49" charset="-122"/>
                <a:ea typeface="楷体_GB2312" pitchFamily="49" charset="-122"/>
              </a:rPr>
              <a:t>每个处理器都在运行着进程，当运行在某个处理器上的进程耗尽其时间片或该进程处于等待状态时，该处理器将单独运行调度程序来选择新的进程。</a:t>
            </a:r>
          </a:p>
          <a:p>
            <a:pPr>
              <a:defRPr/>
            </a:pPr>
            <a:r>
              <a:rPr lang="zh-CN" altLang="en-US" sz="2400" dirty="0">
                <a:latin typeface="楷体_GB2312" pitchFamily="49" charset="-122"/>
                <a:ea typeface="楷体_GB2312" pitchFamily="49" charset="-122"/>
              </a:rPr>
              <a:t>每个处理器有个自己的空闲进程，都有自己的当前进程。</a:t>
            </a:r>
          </a:p>
          <a:p>
            <a:pPr lvl="1">
              <a:defRPr/>
            </a:pPr>
            <a:r>
              <a:rPr lang="en-US" altLang="zh-CN" sz="2400" dirty="0" err="1">
                <a:solidFill>
                  <a:srgbClr val="2B5681"/>
                </a:solidFill>
                <a:latin typeface="楷体_GB2312" pitchFamily="49" charset="-122"/>
                <a:ea typeface="楷体_GB2312" pitchFamily="49" charset="-122"/>
                <a:cs typeface="+mn-cs"/>
              </a:rPr>
              <a:t>Task_struct</a:t>
            </a:r>
            <a:r>
              <a:rPr lang="zh-CN" altLang="en-US" sz="2400" dirty="0">
                <a:solidFill>
                  <a:srgbClr val="2B5681"/>
                </a:solidFill>
                <a:latin typeface="楷体_GB2312" pitchFamily="49" charset="-122"/>
                <a:ea typeface="楷体_GB2312" pitchFamily="49" charset="-122"/>
                <a:cs typeface="+mn-cs"/>
              </a:rPr>
              <a:t>结构中包含：</a:t>
            </a:r>
          </a:p>
          <a:p>
            <a:pPr lvl="2">
              <a:defRPr/>
            </a:pPr>
            <a:r>
              <a:rPr lang="en-US" altLang="zh-CN" b="1" dirty="0">
                <a:solidFill>
                  <a:srgbClr val="2B5681"/>
                </a:solidFill>
                <a:latin typeface="楷体_GB2312" pitchFamily="49" charset="-122"/>
                <a:ea typeface="楷体_GB2312" pitchFamily="49" charset="-122"/>
                <a:cs typeface="+mn-cs"/>
              </a:rPr>
              <a:t>Processor</a:t>
            </a:r>
            <a:r>
              <a:rPr lang="zh-CN" altLang="en-US" b="1" dirty="0">
                <a:solidFill>
                  <a:srgbClr val="2B5681"/>
                </a:solidFill>
                <a:latin typeface="楷体_GB2312" pitchFamily="49" charset="-122"/>
                <a:ea typeface="楷体_GB2312" pitchFamily="49" charset="-122"/>
                <a:cs typeface="+mn-cs"/>
              </a:rPr>
              <a:t>字段，当前运行该进程的处理器编号</a:t>
            </a:r>
          </a:p>
          <a:p>
            <a:pPr lvl="2">
              <a:defRPr/>
            </a:pPr>
            <a:r>
              <a:rPr lang="en-US" altLang="zh-CN" b="1" dirty="0">
                <a:solidFill>
                  <a:srgbClr val="2B5681"/>
                </a:solidFill>
                <a:latin typeface="楷体_GB2312" pitchFamily="49" charset="-122"/>
                <a:ea typeface="楷体_GB2312" pitchFamily="49" charset="-122"/>
                <a:cs typeface="+mn-cs"/>
              </a:rPr>
              <a:t>Last_ processor</a:t>
            </a:r>
            <a:r>
              <a:rPr lang="zh-CN" altLang="en-US" b="1" dirty="0">
                <a:solidFill>
                  <a:srgbClr val="2B5681"/>
                </a:solidFill>
                <a:latin typeface="楷体_GB2312" pitchFamily="49" charset="-122"/>
                <a:ea typeface="楷体_GB2312" pitchFamily="49" charset="-122"/>
                <a:cs typeface="+mn-cs"/>
              </a:rPr>
              <a:t>字段，上次运行该进程的处理器编号</a:t>
            </a:r>
          </a:p>
          <a:p>
            <a:pPr lvl="2">
              <a:defRPr/>
            </a:pPr>
            <a:r>
              <a:rPr lang="en-US" altLang="zh-CN" b="1" dirty="0" err="1">
                <a:solidFill>
                  <a:srgbClr val="2B5681"/>
                </a:solidFill>
                <a:latin typeface="楷体_GB2312" pitchFamily="49" charset="-122"/>
                <a:ea typeface="楷体_GB2312" pitchFamily="49" charset="-122"/>
                <a:cs typeface="+mn-cs"/>
              </a:rPr>
              <a:t>Processor_musk</a:t>
            </a:r>
            <a:r>
              <a:rPr lang="zh-CN" altLang="en-US" b="1" dirty="0">
                <a:solidFill>
                  <a:srgbClr val="2B5681"/>
                </a:solidFill>
                <a:latin typeface="楷体_GB2312" pitchFamily="49" charset="-122"/>
                <a:ea typeface="楷体_GB2312" pitchFamily="49" charset="-122"/>
                <a:cs typeface="+mn-cs"/>
              </a:rPr>
              <a:t>字段，该字段第</a:t>
            </a:r>
            <a:r>
              <a:rPr lang="en-US" altLang="zh-CN" b="1" dirty="0">
                <a:solidFill>
                  <a:srgbClr val="2B5681"/>
                </a:solidFill>
                <a:latin typeface="楷体_GB2312" pitchFamily="49" charset="-122"/>
                <a:ea typeface="楷体_GB2312" pitchFamily="49" charset="-122"/>
                <a:cs typeface="+mn-cs"/>
              </a:rPr>
              <a:t>N</a:t>
            </a:r>
            <a:r>
              <a:rPr lang="zh-CN" altLang="en-US" b="1" dirty="0">
                <a:solidFill>
                  <a:srgbClr val="2B5681"/>
                </a:solidFill>
                <a:latin typeface="楷体_GB2312" pitchFamily="49" charset="-122"/>
                <a:ea typeface="楷体_GB2312" pitchFamily="49" charset="-122"/>
                <a:cs typeface="+mn-cs"/>
              </a:rPr>
              <a:t>位为</a:t>
            </a:r>
            <a:r>
              <a:rPr lang="en-US" altLang="zh-CN" b="1" dirty="0">
                <a:solidFill>
                  <a:srgbClr val="2B5681"/>
                </a:solidFill>
                <a:latin typeface="楷体_GB2312" pitchFamily="49" charset="-122"/>
                <a:ea typeface="楷体_GB2312" pitchFamily="49" charset="-122"/>
                <a:cs typeface="+mn-cs"/>
              </a:rPr>
              <a:t>1</a:t>
            </a:r>
            <a:r>
              <a:rPr lang="zh-CN" altLang="en-US" b="1" dirty="0">
                <a:solidFill>
                  <a:srgbClr val="2B5681"/>
                </a:solidFill>
                <a:latin typeface="楷体_GB2312" pitchFamily="49" charset="-122"/>
                <a:ea typeface="楷体_GB2312" pitchFamily="49" charset="-122"/>
                <a:cs typeface="+mn-cs"/>
              </a:rPr>
              <a:t>，表示该进程可以运行在第几个处理器上。利用该字段可以将某个进程限制在单个处理器上运行。</a:t>
            </a:r>
          </a:p>
        </p:txBody>
      </p:sp>
      <p:sp>
        <p:nvSpPr>
          <p:cNvPr id="4" name="标题 1"/>
          <p:cNvSpPr txBox="1">
            <a:spLocks/>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a:defRPr/>
            </a:pPr>
            <a:r>
              <a:rPr lang="en-US" altLang="zh-CN" kern="0">
                <a:latin typeface="楷体_GB2312" pitchFamily="49" charset="-122"/>
                <a:ea typeface="楷体_GB2312" pitchFamily="49" charset="-122"/>
              </a:rPr>
              <a:t>6</a:t>
            </a:r>
            <a:r>
              <a:rPr lang="zh-CN" altLang="en-US" kern="0">
                <a:latin typeface="楷体_GB2312" pitchFamily="49" charset="-122"/>
                <a:ea typeface="楷体_GB2312" pitchFamily="49" charset="-122"/>
              </a:rPr>
              <a:t>、</a:t>
            </a:r>
            <a:r>
              <a:rPr lang="en-US" altLang="zh-CN" kern="0">
                <a:latin typeface="楷体_GB2312" pitchFamily="49" charset="-122"/>
                <a:ea typeface="楷体_GB2312" pitchFamily="49" charset="-122"/>
              </a:rPr>
              <a:t>Linux</a:t>
            </a:r>
            <a:r>
              <a:rPr lang="zh-CN" altLang="en-US" kern="0">
                <a:latin typeface="楷体_GB2312" pitchFamily="49" charset="-122"/>
                <a:ea typeface="楷体_GB2312" pitchFamily="49" charset="-122"/>
              </a:rPr>
              <a:t>内核源代码的组织</a:t>
            </a:r>
            <a:endParaRPr lang="zh-CN" altLang="en-US" kern="0" dirty="0"/>
          </a:p>
        </p:txBody>
      </p:sp>
    </p:spTree>
    <p:extLst>
      <p:ext uri="{BB962C8B-B14F-4D97-AF65-F5344CB8AC3E}">
        <p14:creationId xmlns:p14="http://schemas.microsoft.com/office/powerpoint/2010/main" val="17839422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725488" y="5788025"/>
            <a:ext cx="7632700" cy="609600"/>
          </a:xfrm>
        </p:spPr>
        <p:txBody>
          <a:bodyPr/>
          <a:lstStyle/>
          <a:p>
            <a:pPr eaLnBrk="1" hangingPunct="1"/>
            <a:r>
              <a:rPr lang="zh-CN" altLang="en-US">
                <a:latin typeface="楷体_GB2312" pitchFamily="49" charset="-122"/>
                <a:ea typeface="楷体_GB2312" pitchFamily="49" charset="-122"/>
              </a:rPr>
              <a:t>考虑</a:t>
            </a:r>
            <a:r>
              <a:rPr lang="en-US" altLang="zh-CN">
                <a:latin typeface="楷体_GB2312" pitchFamily="49" charset="-122"/>
                <a:ea typeface="楷体_GB2312" pitchFamily="49" charset="-122"/>
              </a:rPr>
              <a:t>arch</a:t>
            </a:r>
            <a:r>
              <a:rPr lang="zh-CN" altLang="en-US">
                <a:latin typeface="楷体_GB2312" pitchFamily="49" charset="-122"/>
                <a:ea typeface="楷体_GB2312" pitchFamily="49" charset="-122"/>
              </a:rPr>
              <a:t>为</a:t>
            </a:r>
            <a:r>
              <a:rPr lang="en-US" altLang="zh-CN">
                <a:latin typeface="楷体_GB2312" pitchFamily="49" charset="-122"/>
                <a:ea typeface="楷体_GB2312" pitchFamily="49" charset="-122"/>
              </a:rPr>
              <a:t>i386</a:t>
            </a:r>
          </a:p>
        </p:txBody>
      </p:sp>
      <p:sp>
        <p:nvSpPr>
          <p:cNvPr id="12291" name="Rectangle 3"/>
          <p:cNvSpPr>
            <a:spLocks noGrp="1" noChangeArrowheads="1"/>
          </p:cNvSpPr>
          <p:nvPr>
            <p:ph type="body" idx="1"/>
          </p:nvPr>
        </p:nvSpPr>
        <p:spPr/>
        <p:txBody>
          <a:bodyPr/>
          <a:lstStyle/>
          <a:p>
            <a:pPr eaLnBrk="1" hangingPunct="1"/>
            <a:r>
              <a:rPr lang="zh-CN" altLang="en-US">
                <a:latin typeface="楷体_GB2312" pitchFamily="49" charset="-122"/>
                <a:ea typeface="楷体_GB2312" pitchFamily="49" charset="-122"/>
              </a:rPr>
              <a:t>在</a:t>
            </a:r>
            <a:r>
              <a:rPr lang="en-US" altLang="zh-CN">
                <a:latin typeface="楷体_GB2312" pitchFamily="49" charset="-122"/>
                <a:ea typeface="楷体_GB2312" pitchFamily="49" charset="-122"/>
              </a:rPr>
              <a:t>arch/i386</a:t>
            </a:r>
            <a:r>
              <a:rPr lang="zh-CN" altLang="en-US">
                <a:latin typeface="楷体_GB2312" pitchFamily="49" charset="-122"/>
                <a:ea typeface="楷体_GB2312" pitchFamily="49" charset="-122"/>
              </a:rPr>
              <a:t>下存在如下目录</a:t>
            </a:r>
          </a:p>
        </p:txBody>
      </p:sp>
      <p:pic>
        <p:nvPicPr>
          <p:cNvPr id="122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2060575"/>
            <a:ext cx="687705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2453" name="Text Box 5"/>
          <p:cNvSpPr txBox="1">
            <a:spLocks noChangeArrowheads="1"/>
          </p:cNvSpPr>
          <p:nvPr/>
        </p:nvSpPr>
        <p:spPr bwMode="auto">
          <a:xfrm>
            <a:off x="971550" y="2420938"/>
            <a:ext cx="2914650" cy="366712"/>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en-US" altLang="zh-CN" sz="1800" b="0">
                <a:solidFill>
                  <a:srgbClr val="FF0000"/>
                </a:solidFill>
                <a:latin typeface="Arial" panose="020B0604020202020204" pitchFamily="34" charset="0"/>
                <a:ea typeface="宋体" panose="02010600030101010101" pitchFamily="2" charset="-122"/>
              </a:rPr>
              <a:t>I386</a:t>
            </a:r>
            <a:r>
              <a:rPr lang="zh-CN" altLang="en-US" sz="1800" b="0">
                <a:solidFill>
                  <a:srgbClr val="FF0000"/>
                </a:solidFill>
                <a:latin typeface="Arial" panose="020B0604020202020204" pitchFamily="34" charset="0"/>
                <a:ea typeface="宋体" panose="02010600030101010101" pitchFamily="2" charset="-122"/>
              </a:rPr>
              <a:t>的启动源代码文件目录</a:t>
            </a:r>
          </a:p>
        </p:txBody>
      </p:sp>
      <p:sp>
        <p:nvSpPr>
          <p:cNvPr id="232454" name="Text Box 6"/>
          <p:cNvSpPr txBox="1">
            <a:spLocks noChangeArrowheads="1"/>
          </p:cNvSpPr>
          <p:nvPr/>
        </p:nvSpPr>
        <p:spPr bwMode="auto">
          <a:xfrm>
            <a:off x="971550" y="2773363"/>
            <a:ext cx="2914650" cy="366712"/>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en-US" altLang="zh-CN" sz="1800" b="0">
                <a:solidFill>
                  <a:srgbClr val="FF0000"/>
                </a:solidFill>
                <a:latin typeface="Arial" panose="020B0604020202020204" pitchFamily="34" charset="0"/>
                <a:ea typeface="宋体" panose="02010600030101010101" pitchFamily="2" charset="-122"/>
              </a:rPr>
              <a:t>I386</a:t>
            </a:r>
            <a:r>
              <a:rPr lang="zh-CN" altLang="en-US" sz="1800" b="0">
                <a:solidFill>
                  <a:srgbClr val="FF0000"/>
                </a:solidFill>
                <a:latin typeface="Arial" panose="020B0604020202020204" pitchFamily="34" charset="0"/>
                <a:ea typeface="宋体" panose="02010600030101010101" pitchFamily="2" charset="-122"/>
              </a:rPr>
              <a:t>的核心源代码文件目录</a:t>
            </a:r>
          </a:p>
        </p:txBody>
      </p:sp>
      <p:sp>
        <p:nvSpPr>
          <p:cNvPr id="232455" name="Text Box 7"/>
          <p:cNvSpPr txBox="1">
            <a:spLocks noChangeArrowheads="1"/>
          </p:cNvSpPr>
          <p:nvPr/>
        </p:nvSpPr>
        <p:spPr bwMode="auto">
          <a:xfrm>
            <a:off x="971550" y="3068638"/>
            <a:ext cx="2686050" cy="366712"/>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en-US" altLang="zh-CN" sz="1800" b="0">
                <a:solidFill>
                  <a:srgbClr val="FF0000"/>
                </a:solidFill>
                <a:latin typeface="Arial" panose="020B0604020202020204" pitchFamily="34" charset="0"/>
                <a:ea typeface="宋体" panose="02010600030101010101" pitchFamily="2" charset="-122"/>
              </a:rPr>
              <a:t>I386</a:t>
            </a:r>
            <a:r>
              <a:rPr lang="zh-CN" altLang="en-US" sz="1800" b="0">
                <a:solidFill>
                  <a:srgbClr val="FF0000"/>
                </a:solidFill>
                <a:latin typeface="Arial" panose="020B0604020202020204" pitchFamily="34" charset="0"/>
                <a:ea typeface="宋体" panose="02010600030101010101" pitchFamily="2" charset="-122"/>
              </a:rPr>
              <a:t>的库源代码文件目录</a:t>
            </a:r>
          </a:p>
        </p:txBody>
      </p:sp>
      <p:sp>
        <p:nvSpPr>
          <p:cNvPr id="232456" name="Text Box 8"/>
          <p:cNvSpPr txBox="1">
            <a:spLocks noChangeArrowheads="1"/>
          </p:cNvSpPr>
          <p:nvPr/>
        </p:nvSpPr>
        <p:spPr bwMode="auto">
          <a:xfrm>
            <a:off x="971550" y="3429000"/>
            <a:ext cx="3371850" cy="366713"/>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en-US" altLang="zh-CN" sz="1800" b="0">
                <a:solidFill>
                  <a:srgbClr val="FF0000"/>
                </a:solidFill>
                <a:latin typeface="Arial" panose="020B0604020202020204" pitchFamily="34" charset="0"/>
                <a:ea typeface="宋体" panose="02010600030101010101" pitchFamily="2" charset="-122"/>
              </a:rPr>
              <a:t>I386</a:t>
            </a:r>
            <a:r>
              <a:rPr lang="zh-CN" altLang="en-US" sz="1800" b="0">
                <a:solidFill>
                  <a:srgbClr val="FF0000"/>
                </a:solidFill>
                <a:latin typeface="Arial" panose="020B0604020202020204" pitchFamily="34" charset="0"/>
                <a:ea typeface="宋体" panose="02010600030101010101" pitchFamily="2" charset="-122"/>
              </a:rPr>
              <a:t>的数学仿真源代码文件目录</a:t>
            </a:r>
          </a:p>
        </p:txBody>
      </p:sp>
      <p:sp>
        <p:nvSpPr>
          <p:cNvPr id="232457" name="Text Box 9"/>
          <p:cNvSpPr txBox="1">
            <a:spLocks noChangeArrowheads="1"/>
          </p:cNvSpPr>
          <p:nvPr/>
        </p:nvSpPr>
        <p:spPr bwMode="auto">
          <a:xfrm>
            <a:off x="971550" y="3716338"/>
            <a:ext cx="3371850" cy="366712"/>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en-US" altLang="zh-CN" sz="1800" b="0">
                <a:solidFill>
                  <a:srgbClr val="FF0000"/>
                </a:solidFill>
                <a:latin typeface="Arial" panose="020B0604020202020204" pitchFamily="34" charset="0"/>
                <a:ea typeface="宋体" panose="02010600030101010101" pitchFamily="2" charset="-122"/>
              </a:rPr>
              <a:t>I386</a:t>
            </a:r>
            <a:r>
              <a:rPr lang="zh-CN" altLang="en-US" sz="1800" b="0">
                <a:solidFill>
                  <a:srgbClr val="FF0000"/>
                </a:solidFill>
                <a:latin typeface="Arial" panose="020B0604020202020204" pitchFamily="34" charset="0"/>
                <a:ea typeface="宋体" panose="02010600030101010101" pitchFamily="2" charset="-122"/>
              </a:rPr>
              <a:t>的内存管理源代码文件目录</a:t>
            </a:r>
          </a:p>
        </p:txBody>
      </p:sp>
      <p:sp>
        <p:nvSpPr>
          <p:cNvPr id="232458" name="Text Box 10"/>
          <p:cNvSpPr txBox="1">
            <a:spLocks noChangeArrowheads="1"/>
          </p:cNvSpPr>
          <p:nvPr/>
        </p:nvSpPr>
        <p:spPr bwMode="auto">
          <a:xfrm>
            <a:off x="1258888" y="4364038"/>
            <a:ext cx="1771650" cy="366712"/>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en-US" altLang="zh-CN" sz="1800" b="0">
                <a:solidFill>
                  <a:srgbClr val="FF0000"/>
                </a:solidFill>
                <a:latin typeface="Arial" panose="020B0604020202020204" pitchFamily="34" charset="0"/>
                <a:ea typeface="宋体" panose="02010600030101010101" pitchFamily="2" charset="-122"/>
              </a:rPr>
              <a:t>I386</a:t>
            </a:r>
            <a:r>
              <a:rPr lang="zh-CN" altLang="en-US" sz="1800" b="0">
                <a:solidFill>
                  <a:srgbClr val="FF0000"/>
                </a:solidFill>
                <a:latin typeface="Arial" panose="020B0604020202020204" pitchFamily="34" charset="0"/>
                <a:ea typeface="宋体" panose="02010600030101010101" pitchFamily="2" charset="-122"/>
              </a:rPr>
              <a:t>的配置文件</a:t>
            </a:r>
          </a:p>
        </p:txBody>
      </p:sp>
      <p:sp>
        <p:nvSpPr>
          <p:cNvPr id="232459" name="Text Box 11"/>
          <p:cNvSpPr txBox="1">
            <a:spLocks noChangeArrowheads="1"/>
          </p:cNvSpPr>
          <p:nvPr/>
        </p:nvSpPr>
        <p:spPr bwMode="auto">
          <a:xfrm>
            <a:off x="1331913" y="4652963"/>
            <a:ext cx="3308350" cy="366712"/>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en-US" altLang="zh-CN" sz="1800" b="0">
                <a:solidFill>
                  <a:srgbClr val="FF0000"/>
                </a:solidFill>
                <a:latin typeface="Arial" panose="020B0604020202020204" pitchFamily="34" charset="0"/>
                <a:ea typeface="宋体" panose="02010600030101010101" pitchFamily="2" charset="-122"/>
              </a:rPr>
              <a:t>I386</a:t>
            </a:r>
            <a:r>
              <a:rPr lang="zh-CN" altLang="en-US" sz="1800" b="0">
                <a:solidFill>
                  <a:srgbClr val="FF0000"/>
                </a:solidFill>
                <a:latin typeface="Arial" panose="020B0604020202020204" pitchFamily="34" charset="0"/>
                <a:ea typeface="宋体" panose="02010600030101010101" pitchFamily="2" charset="-122"/>
              </a:rPr>
              <a:t>的体系相关部分的</a:t>
            </a:r>
            <a:r>
              <a:rPr lang="en-US" altLang="zh-CN" sz="1800" b="0">
                <a:solidFill>
                  <a:srgbClr val="FF0000"/>
                </a:solidFill>
                <a:latin typeface="Arial" panose="020B0604020202020204" pitchFamily="34" charset="0"/>
                <a:ea typeface="宋体" panose="02010600030101010101" pitchFamily="2" charset="-122"/>
              </a:rPr>
              <a:t>Makefile</a:t>
            </a:r>
          </a:p>
        </p:txBody>
      </p:sp>
      <p:sp>
        <p:nvSpPr>
          <p:cNvPr id="232460" name="Text Box 12"/>
          <p:cNvSpPr txBox="1">
            <a:spLocks noChangeArrowheads="1"/>
          </p:cNvSpPr>
          <p:nvPr/>
        </p:nvSpPr>
        <p:spPr bwMode="auto">
          <a:xfrm>
            <a:off x="1258888" y="5013325"/>
            <a:ext cx="3460750" cy="366713"/>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en-US" altLang="zh-CN" sz="1800" b="0">
                <a:solidFill>
                  <a:srgbClr val="FF0000"/>
                </a:solidFill>
                <a:latin typeface="Arial" panose="020B0604020202020204" pitchFamily="34" charset="0"/>
                <a:ea typeface="宋体" panose="02010600030101010101" pitchFamily="2" charset="-122"/>
              </a:rPr>
              <a:t>I386</a:t>
            </a:r>
            <a:r>
              <a:rPr lang="zh-CN" altLang="en-US" sz="1800" b="0">
                <a:solidFill>
                  <a:srgbClr val="FF0000"/>
                </a:solidFill>
                <a:latin typeface="Arial" panose="020B0604020202020204" pitchFamily="34" charset="0"/>
                <a:ea typeface="宋体" panose="02010600030101010101" pitchFamily="2" charset="-122"/>
              </a:rPr>
              <a:t>的</a:t>
            </a:r>
            <a:r>
              <a:rPr lang="en-US" altLang="zh-CN" sz="1800" b="0">
                <a:solidFill>
                  <a:srgbClr val="FF0000"/>
                </a:solidFill>
                <a:latin typeface="Arial" panose="020B0604020202020204" pitchFamily="34" charset="0"/>
                <a:ea typeface="宋体" panose="02010600030101010101" pitchFamily="2" charset="-122"/>
              </a:rPr>
              <a:t>Linux</a:t>
            </a:r>
            <a:r>
              <a:rPr lang="zh-CN" altLang="en-US" sz="1800" b="0">
                <a:solidFill>
                  <a:srgbClr val="FF0000"/>
                </a:solidFill>
                <a:latin typeface="Arial" panose="020B0604020202020204" pitchFamily="34" charset="0"/>
                <a:ea typeface="宋体" panose="02010600030101010101" pitchFamily="2" charset="-122"/>
              </a:rPr>
              <a:t>内核的链接描述文件</a:t>
            </a:r>
          </a:p>
        </p:txBody>
      </p:sp>
      <p:sp>
        <p:nvSpPr>
          <p:cNvPr id="13" name="标题 1"/>
          <p:cNvSpPr txBox="1">
            <a:spLocks/>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a:defRPr/>
            </a:pPr>
            <a:r>
              <a:rPr lang="en-US" altLang="zh-CN" kern="0" dirty="0">
                <a:latin typeface="楷体_GB2312" pitchFamily="49" charset="-122"/>
                <a:ea typeface="楷体_GB2312" pitchFamily="49" charset="-122"/>
              </a:rPr>
              <a:t>6</a:t>
            </a:r>
            <a:r>
              <a:rPr lang="zh-CN" altLang="en-US" kern="0" dirty="0">
                <a:latin typeface="楷体_GB2312" pitchFamily="49" charset="-122"/>
                <a:ea typeface="楷体_GB2312" pitchFamily="49" charset="-122"/>
              </a:rPr>
              <a:t>、</a:t>
            </a:r>
            <a:r>
              <a:rPr lang="en-US" altLang="zh-CN" kern="0" dirty="0">
                <a:latin typeface="楷体_GB2312" pitchFamily="49" charset="-122"/>
                <a:ea typeface="楷体_GB2312" pitchFamily="49" charset="-122"/>
              </a:rPr>
              <a:t>Linux</a:t>
            </a:r>
            <a:r>
              <a:rPr lang="zh-CN" altLang="en-US" kern="0" dirty="0">
                <a:latin typeface="楷体_GB2312" pitchFamily="49" charset="-122"/>
                <a:ea typeface="楷体_GB2312" pitchFamily="49" charset="-122"/>
              </a:rPr>
              <a:t>内核源代码的组织</a:t>
            </a:r>
            <a:endParaRPr lang="zh-CN" altLang="en-US" kern="0" dirty="0"/>
          </a:p>
        </p:txBody>
      </p:sp>
    </p:spTree>
    <p:extLst>
      <p:ext uri="{BB962C8B-B14F-4D97-AF65-F5344CB8AC3E}">
        <p14:creationId xmlns:p14="http://schemas.microsoft.com/office/powerpoint/2010/main" val="32911503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245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32453"/>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23245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232454"/>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23245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232455"/>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232456"/>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232456"/>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2457"/>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232457"/>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232458"/>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232458"/>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232459"/>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232459"/>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2324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3" grpId="0" animBg="1"/>
      <p:bldP spid="232453" grpId="1" animBg="1"/>
      <p:bldP spid="232454" grpId="0" animBg="1"/>
      <p:bldP spid="232454" grpId="1" animBg="1"/>
      <p:bldP spid="232455" grpId="0" animBg="1"/>
      <p:bldP spid="232455" grpId="1" animBg="1"/>
      <p:bldP spid="232456" grpId="0" animBg="1"/>
      <p:bldP spid="232456" grpId="1" animBg="1"/>
      <p:bldP spid="232457" grpId="0" animBg="1"/>
      <p:bldP spid="232457" grpId="1" animBg="1"/>
      <p:bldP spid="232458" grpId="0" animBg="1"/>
      <p:bldP spid="232458" grpId="1" animBg="1"/>
      <p:bldP spid="232459" grpId="0" animBg="1"/>
      <p:bldP spid="232459" grpId="1" animBg="1"/>
      <p:bldP spid="23246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11163" y="6121400"/>
            <a:ext cx="7632700" cy="609600"/>
          </a:xfrm>
        </p:spPr>
        <p:txBody>
          <a:bodyPr/>
          <a:lstStyle/>
          <a:p>
            <a:pPr eaLnBrk="1" hangingPunct="1"/>
            <a:r>
              <a:rPr lang="en-US" altLang="zh-CN" sz="2400">
                <a:latin typeface="楷体_GB2312" pitchFamily="49" charset="-122"/>
                <a:ea typeface="楷体_GB2312" pitchFamily="49" charset="-122"/>
              </a:rPr>
              <a:t>i386</a:t>
            </a:r>
            <a:r>
              <a:rPr lang="zh-CN" altLang="en-US" sz="2400">
                <a:latin typeface="楷体_GB2312" pitchFamily="49" charset="-122"/>
                <a:ea typeface="楷体_GB2312" pitchFamily="49" charset="-122"/>
              </a:rPr>
              <a:t>的启动代码文件</a:t>
            </a:r>
          </a:p>
        </p:txBody>
      </p:sp>
      <p:sp>
        <p:nvSpPr>
          <p:cNvPr id="13315" name="Rectangle 3"/>
          <p:cNvSpPr>
            <a:spLocks noGrp="1" noChangeArrowheads="1"/>
          </p:cNvSpPr>
          <p:nvPr>
            <p:ph type="body" idx="1"/>
          </p:nvPr>
        </p:nvSpPr>
        <p:spPr/>
        <p:txBody>
          <a:bodyPr/>
          <a:lstStyle/>
          <a:p>
            <a:pPr eaLnBrk="1" hangingPunct="1"/>
            <a:r>
              <a:rPr lang="zh-CN" altLang="en-US"/>
              <a:t>在</a:t>
            </a:r>
            <a:r>
              <a:rPr lang="en-US" altLang="zh-CN"/>
              <a:t>arch/i386/boot</a:t>
            </a:r>
            <a:r>
              <a:rPr lang="zh-CN" altLang="en-US"/>
              <a:t>目录下</a:t>
            </a:r>
          </a:p>
          <a:p>
            <a:pPr eaLnBrk="1" hangingPunct="1"/>
            <a:endParaRPr lang="zh-CN" altLang="en-US"/>
          </a:p>
          <a:p>
            <a:pPr eaLnBrk="1" hangingPunct="1"/>
            <a:endParaRPr lang="zh-CN" altLang="en-US"/>
          </a:p>
          <a:p>
            <a:pPr eaLnBrk="1" hangingPunct="1"/>
            <a:endParaRPr lang="zh-CN" altLang="en-US"/>
          </a:p>
          <a:p>
            <a:pPr eaLnBrk="1" hangingPunct="1"/>
            <a:endParaRPr lang="zh-CN" altLang="en-US"/>
          </a:p>
          <a:p>
            <a:pPr eaLnBrk="1" hangingPunct="1"/>
            <a:endParaRPr lang="zh-CN" altLang="en-US"/>
          </a:p>
          <a:p>
            <a:pPr eaLnBrk="1" hangingPunct="1"/>
            <a:r>
              <a:rPr lang="zh-CN" altLang="en-US"/>
              <a:t>在</a:t>
            </a:r>
            <a:r>
              <a:rPr lang="en-US" altLang="zh-CN"/>
              <a:t>arch/i386/boot/compressed</a:t>
            </a:r>
            <a:r>
              <a:rPr lang="zh-CN" altLang="en-US"/>
              <a:t>目录下</a:t>
            </a:r>
          </a:p>
          <a:p>
            <a:pPr eaLnBrk="1" hangingPunct="1"/>
            <a:endParaRPr lang="zh-CN" altLang="en-US"/>
          </a:p>
        </p:txBody>
      </p:sp>
      <p:pic>
        <p:nvPicPr>
          <p:cNvPr id="1331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960563"/>
            <a:ext cx="6532562" cy="24765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331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4868863"/>
            <a:ext cx="6488113" cy="12017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3318" name="Line 6"/>
          <p:cNvSpPr>
            <a:spLocks noChangeShapeType="1"/>
          </p:cNvSpPr>
          <p:nvPr/>
        </p:nvSpPr>
        <p:spPr bwMode="auto">
          <a:xfrm>
            <a:off x="1547813" y="2924175"/>
            <a:ext cx="1152525"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9" name="Line 7"/>
          <p:cNvSpPr>
            <a:spLocks noChangeShapeType="1"/>
          </p:cNvSpPr>
          <p:nvPr/>
        </p:nvSpPr>
        <p:spPr bwMode="auto">
          <a:xfrm>
            <a:off x="1476375" y="3932238"/>
            <a:ext cx="8636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0" name="Line 8"/>
          <p:cNvSpPr>
            <a:spLocks noChangeShapeType="1"/>
          </p:cNvSpPr>
          <p:nvPr/>
        </p:nvSpPr>
        <p:spPr bwMode="auto">
          <a:xfrm>
            <a:off x="1331913" y="5205413"/>
            <a:ext cx="8636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3481" name="Text Box 9"/>
          <p:cNvSpPr txBox="1">
            <a:spLocks noChangeArrowheads="1"/>
          </p:cNvSpPr>
          <p:nvPr/>
        </p:nvSpPr>
        <p:spPr bwMode="auto">
          <a:xfrm>
            <a:off x="3132138" y="1773238"/>
            <a:ext cx="3829050" cy="641350"/>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en-US" altLang="zh-CN" sz="1800" b="0">
                <a:solidFill>
                  <a:srgbClr val="FF0000"/>
                </a:solidFill>
                <a:latin typeface="Arial" panose="020B0604020202020204" pitchFamily="34" charset="0"/>
                <a:ea typeface="宋体" panose="02010600030101010101" pitchFamily="2" charset="-122"/>
              </a:rPr>
              <a:t>I386</a:t>
            </a:r>
            <a:r>
              <a:rPr lang="zh-CN" altLang="en-US" sz="1800" b="0">
                <a:solidFill>
                  <a:srgbClr val="FF0000"/>
                </a:solidFill>
                <a:latin typeface="Arial" panose="020B0604020202020204" pitchFamily="34" charset="0"/>
                <a:ea typeface="宋体" panose="02010600030101010101" pitchFamily="2" charset="-122"/>
              </a:rPr>
              <a:t>的体系结构相关部分的启动代码</a:t>
            </a:r>
          </a:p>
          <a:p>
            <a:pPr eaLnBrk="1" hangingPunct="1">
              <a:spcBef>
                <a:spcPct val="0"/>
              </a:spcBef>
              <a:buClrTx/>
              <a:buFontTx/>
              <a:buNone/>
            </a:pPr>
            <a:r>
              <a:rPr lang="zh-CN" altLang="en-US" sz="1800" b="0">
                <a:solidFill>
                  <a:srgbClr val="FF0000"/>
                </a:solidFill>
                <a:latin typeface="Arial" panose="020B0604020202020204" pitchFamily="34" charset="0"/>
                <a:ea typeface="宋体" panose="02010600030101010101" pitchFamily="2" charset="-122"/>
              </a:rPr>
              <a:t>都采用汇编码写的</a:t>
            </a:r>
          </a:p>
        </p:txBody>
      </p:sp>
      <p:sp>
        <p:nvSpPr>
          <p:cNvPr id="233482" name="Text Box 10"/>
          <p:cNvSpPr txBox="1">
            <a:spLocks noChangeArrowheads="1"/>
          </p:cNvSpPr>
          <p:nvPr/>
        </p:nvSpPr>
        <p:spPr bwMode="auto">
          <a:xfrm>
            <a:off x="1763713" y="2982913"/>
            <a:ext cx="2698750" cy="641350"/>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800" b="0">
                <a:solidFill>
                  <a:srgbClr val="FF0000"/>
                </a:solidFill>
                <a:latin typeface="Arial" panose="020B0604020202020204" pitchFamily="34" charset="0"/>
                <a:ea typeface="宋体" panose="02010600030101010101" pitchFamily="2" charset="-122"/>
              </a:rPr>
              <a:t>启动扇区中的启动代码，</a:t>
            </a:r>
          </a:p>
          <a:p>
            <a:pPr eaLnBrk="1" hangingPunct="1">
              <a:spcBef>
                <a:spcPct val="0"/>
              </a:spcBef>
              <a:buClrTx/>
              <a:buFontTx/>
              <a:buNone/>
            </a:pPr>
            <a:r>
              <a:rPr lang="zh-CN" altLang="en-US" sz="1800" b="0">
                <a:solidFill>
                  <a:srgbClr val="FF0000"/>
                </a:solidFill>
                <a:latin typeface="Arial" panose="020B0604020202020204" pitchFamily="34" charset="0"/>
                <a:ea typeface="宋体" panose="02010600030101010101" pitchFamily="2" charset="-122"/>
              </a:rPr>
              <a:t>其目标码必然是</a:t>
            </a:r>
            <a:r>
              <a:rPr lang="en-US" altLang="zh-CN" sz="1800" b="0">
                <a:solidFill>
                  <a:srgbClr val="FF0000"/>
                </a:solidFill>
                <a:latin typeface="Arial" panose="020B0604020202020204" pitchFamily="34" charset="0"/>
                <a:ea typeface="宋体" panose="02010600030101010101" pitchFamily="2" charset="-122"/>
              </a:rPr>
              <a:t>512</a:t>
            </a:r>
            <a:r>
              <a:rPr lang="zh-CN" altLang="en-US" sz="1800" b="0">
                <a:solidFill>
                  <a:srgbClr val="FF0000"/>
                </a:solidFill>
                <a:latin typeface="Arial" panose="020B0604020202020204" pitchFamily="34" charset="0"/>
                <a:ea typeface="宋体" panose="02010600030101010101" pitchFamily="2" charset="-122"/>
              </a:rPr>
              <a:t>字节</a:t>
            </a:r>
          </a:p>
        </p:txBody>
      </p:sp>
      <p:sp>
        <p:nvSpPr>
          <p:cNvPr id="233483" name="Text Box 11"/>
          <p:cNvSpPr txBox="1">
            <a:spLocks noChangeArrowheads="1"/>
          </p:cNvSpPr>
          <p:nvPr/>
        </p:nvSpPr>
        <p:spPr bwMode="auto">
          <a:xfrm>
            <a:off x="1763713" y="3946525"/>
            <a:ext cx="1314450" cy="366713"/>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en-US" altLang="zh-CN" sz="1800" b="0">
                <a:solidFill>
                  <a:srgbClr val="FF0000"/>
                </a:solidFill>
                <a:latin typeface="Arial" panose="020B0604020202020204" pitchFamily="34" charset="0"/>
                <a:ea typeface="宋体" panose="02010600030101010101" pitchFamily="2" charset="-122"/>
              </a:rPr>
              <a:t>i386</a:t>
            </a:r>
            <a:r>
              <a:rPr lang="zh-CN" altLang="en-US" sz="1800" b="0">
                <a:solidFill>
                  <a:srgbClr val="FF0000"/>
                </a:solidFill>
                <a:latin typeface="Arial" panose="020B0604020202020204" pitchFamily="34" charset="0"/>
                <a:ea typeface="宋体" panose="02010600030101010101" pitchFamily="2" charset="-122"/>
              </a:rPr>
              <a:t>初始化</a:t>
            </a:r>
          </a:p>
        </p:txBody>
      </p:sp>
      <p:sp>
        <p:nvSpPr>
          <p:cNvPr id="233484" name="Text Box 12"/>
          <p:cNvSpPr txBox="1">
            <a:spLocks noChangeArrowheads="1"/>
          </p:cNvSpPr>
          <p:nvPr/>
        </p:nvSpPr>
        <p:spPr bwMode="auto">
          <a:xfrm>
            <a:off x="1619250" y="5264150"/>
            <a:ext cx="1327150" cy="366713"/>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800" b="0">
                <a:solidFill>
                  <a:srgbClr val="FF0000"/>
                </a:solidFill>
                <a:latin typeface="Arial" panose="020B0604020202020204" pitchFamily="34" charset="0"/>
                <a:ea typeface="宋体" panose="02010600030101010101" pitchFamily="2" charset="-122"/>
              </a:rPr>
              <a:t>内核解压缩</a:t>
            </a:r>
          </a:p>
        </p:txBody>
      </p:sp>
      <p:sp>
        <p:nvSpPr>
          <p:cNvPr id="13" name="标题 1"/>
          <p:cNvSpPr txBox="1">
            <a:spLocks/>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a:defRPr/>
            </a:pPr>
            <a:r>
              <a:rPr lang="en-US" altLang="zh-CN" kern="0" dirty="0">
                <a:latin typeface="楷体_GB2312" pitchFamily="49" charset="-122"/>
                <a:ea typeface="楷体_GB2312" pitchFamily="49" charset="-122"/>
              </a:rPr>
              <a:t>6</a:t>
            </a:r>
            <a:r>
              <a:rPr lang="zh-CN" altLang="en-US" kern="0" dirty="0">
                <a:latin typeface="楷体_GB2312" pitchFamily="49" charset="-122"/>
                <a:ea typeface="楷体_GB2312" pitchFamily="49" charset="-122"/>
              </a:rPr>
              <a:t>、</a:t>
            </a:r>
            <a:r>
              <a:rPr lang="en-US" altLang="zh-CN" kern="0" dirty="0">
                <a:latin typeface="楷体_GB2312" pitchFamily="49" charset="-122"/>
                <a:ea typeface="楷体_GB2312" pitchFamily="49" charset="-122"/>
              </a:rPr>
              <a:t>Linux</a:t>
            </a:r>
            <a:r>
              <a:rPr lang="zh-CN" altLang="en-US" kern="0" dirty="0">
                <a:latin typeface="楷体_GB2312" pitchFamily="49" charset="-122"/>
                <a:ea typeface="楷体_GB2312" pitchFamily="49" charset="-122"/>
              </a:rPr>
              <a:t>内核源代码的组织</a:t>
            </a:r>
            <a:endParaRPr lang="zh-CN" altLang="en-US" kern="0" dirty="0"/>
          </a:p>
        </p:txBody>
      </p:sp>
    </p:spTree>
    <p:extLst>
      <p:ext uri="{BB962C8B-B14F-4D97-AF65-F5344CB8AC3E}">
        <p14:creationId xmlns:p14="http://schemas.microsoft.com/office/powerpoint/2010/main" val="40232302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348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33481"/>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348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233482"/>
                                        </p:tgtEl>
                                        <p:attrNameLst>
                                          <p:attrName>style.visibility</p:attrName>
                                        </p:attrNameLst>
                                      </p:cBhvr>
                                      <p:to>
                                        <p:strVal val="hidden"/>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348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233483"/>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348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23348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81" grpId="0" animBg="1"/>
      <p:bldP spid="233481" grpId="1" animBg="1"/>
      <p:bldP spid="233482" grpId="0" animBg="1"/>
      <p:bldP spid="233482" grpId="1" animBg="1"/>
      <p:bldP spid="233483" grpId="0" animBg="1"/>
      <p:bldP spid="233483" grpId="1" animBg="1"/>
      <p:bldP spid="233484" grpId="0" animBg="1"/>
      <p:bldP spid="233484"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11188" y="5338763"/>
            <a:ext cx="7632700" cy="609600"/>
          </a:xfrm>
        </p:spPr>
        <p:txBody>
          <a:bodyPr/>
          <a:lstStyle/>
          <a:p>
            <a:pPr eaLnBrk="1" hangingPunct="1"/>
            <a:r>
              <a:rPr lang="en-US" altLang="zh-CN" sz="2400">
                <a:latin typeface="楷体_GB2312" pitchFamily="49" charset="-122"/>
                <a:ea typeface="楷体_GB2312" pitchFamily="49" charset="-122"/>
              </a:rPr>
              <a:t>i386</a:t>
            </a:r>
            <a:r>
              <a:rPr lang="zh-CN" altLang="en-US" sz="2400">
                <a:latin typeface="楷体_GB2312" pitchFamily="49" charset="-122"/>
                <a:ea typeface="楷体_GB2312" pitchFamily="49" charset="-122"/>
              </a:rPr>
              <a:t>的启动代码文件</a:t>
            </a:r>
          </a:p>
        </p:txBody>
      </p:sp>
      <p:sp>
        <p:nvSpPr>
          <p:cNvPr id="14339" name="Rectangle 3"/>
          <p:cNvSpPr>
            <a:spLocks noGrp="1" noChangeArrowheads="1"/>
          </p:cNvSpPr>
          <p:nvPr>
            <p:ph type="body" idx="1"/>
          </p:nvPr>
        </p:nvSpPr>
        <p:spPr/>
        <p:txBody>
          <a:bodyPr/>
          <a:lstStyle/>
          <a:p>
            <a:pPr eaLnBrk="1" hangingPunct="1"/>
            <a:r>
              <a:rPr lang="zh-CN" altLang="en-US"/>
              <a:t>在</a:t>
            </a:r>
            <a:r>
              <a:rPr lang="en-US" altLang="zh-CN"/>
              <a:t>arch/i386/kernel</a:t>
            </a:r>
            <a:r>
              <a:rPr lang="zh-CN" altLang="en-US"/>
              <a:t>目录下的</a:t>
            </a:r>
            <a:r>
              <a:rPr lang="en-US" altLang="zh-CN"/>
              <a:t>.S</a:t>
            </a:r>
            <a:r>
              <a:rPr lang="zh-CN" altLang="en-US"/>
              <a:t>文件</a:t>
            </a:r>
          </a:p>
          <a:p>
            <a:pPr eaLnBrk="1" hangingPunct="1"/>
            <a:endParaRPr lang="zh-CN" altLang="en-US"/>
          </a:p>
          <a:p>
            <a:pPr eaLnBrk="1" hangingPunct="1"/>
            <a:endParaRPr lang="zh-CN" altLang="en-US"/>
          </a:p>
          <a:p>
            <a:pPr eaLnBrk="1" hangingPunct="1"/>
            <a:r>
              <a:rPr lang="zh-CN" altLang="en-US"/>
              <a:t>在</a:t>
            </a:r>
            <a:r>
              <a:rPr lang="en-US" altLang="zh-CN"/>
              <a:t>init</a:t>
            </a:r>
            <a:r>
              <a:rPr lang="zh-CN" altLang="en-US"/>
              <a:t>目录下</a:t>
            </a:r>
          </a:p>
        </p:txBody>
      </p:sp>
      <p:pic>
        <p:nvPicPr>
          <p:cNvPr id="1434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2349500"/>
            <a:ext cx="6211888" cy="9715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4341" name="Line 5"/>
          <p:cNvSpPr>
            <a:spLocks noChangeShapeType="1"/>
          </p:cNvSpPr>
          <p:nvPr/>
        </p:nvSpPr>
        <p:spPr bwMode="auto">
          <a:xfrm>
            <a:off x="1331913" y="2997200"/>
            <a:ext cx="720725"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434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4149725"/>
            <a:ext cx="6027737" cy="101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3" name="Line 7"/>
          <p:cNvSpPr>
            <a:spLocks noChangeShapeType="1"/>
          </p:cNvSpPr>
          <p:nvPr/>
        </p:nvSpPr>
        <p:spPr bwMode="auto">
          <a:xfrm>
            <a:off x="1476375" y="4508500"/>
            <a:ext cx="792163"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504" name="Text Box 8"/>
          <p:cNvSpPr txBox="1">
            <a:spLocks noChangeArrowheads="1"/>
          </p:cNvSpPr>
          <p:nvPr/>
        </p:nvSpPr>
        <p:spPr bwMode="auto">
          <a:xfrm>
            <a:off x="2195513" y="2708275"/>
            <a:ext cx="1581150" cy="366713"/>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en-US" altLang="zh-CN" sz="1800" b="0">
                <a:solidFill>
                  <a:srgbClr val="FF0000"/>
                </a:solidFill>
                <a:latin typeface="Arial" panose="020B0604020202020204" pitchFamily="34" charset="0"/>
                <a:ea typeface="宋体" panose="02010600030101010101" pitchFamily="2" charset="-122"/>
              </a:rPr>
              <a:t>32</a:t>
            </a:r>
            <a:r>
              <a:rPr lang="zh-CN" altLang="en-US" sz="1800" b="0">
                <a:solidFill>
                  <a:srgbClr val="FF0000"/>
                </a:solidFill>
                <a:latin typeface="Arial" panose="020B0604020202020204" pitchFamily="34" charset="0"/>
                <a:ea typeface="宋体" panose="02010600030101010101" pitchFamily="2" charset="-122"/>
              </a:rPr>
              <a:t>位启动代码</a:t>
            </a:r>
          </a:p>
        </p:txBody>
      </p:sp>
      <p:sp>
        <p:nvSpPr>
          <p:cNvPr id="234505" name="Text Box 9"/>
          <p:cNvSpPr txBox="1">
            <a:spLocks noChangeArrowheads="1"/>
          </p:cNvSpPr>
          <p:nvPr/>
        </p:nvSpPr>
        <p:spPr bwMode="auto">
          <a:xfrm>
            <a:off x="2268538" y="4292600"/>
            <a:ext cx="5873750" cy="641350"/>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800" b="0">
                <a:solidFill>
                  <a:srgbClr val="FF0000"/>
                </a:solidFill>
                <a:latin typeface="Arial" panose="020B0604020202020204" pitchFamily="34" charset="0"/>
                <a:ea typeface="宋体" panose="02010600030101010101" pitchFamily="2" charset="-122"/>
              </a:rPr>
              <a:t>这是体系结构无关部分，</a:t>
            </a:r>
            <a:r>
              <a:rPr lang="en-US" altLang="zh-CN" sz="1800" b="0">
                <a:solidFill>
                  <a:srgbClr val="FF0000"/>
                </a:solidFill>
                <a:latin typeface="Arial" panose="020B0604020202020204" pitchFamily="34" charset="0"/>
                <a:ea typeface="宋体" panose="02010600030101010101" pitchFamily="2" charset="-122"/>
              </a:rPr>
              <a:t>i386</a:t>
            </a:r>
            <a:r>
              <a:rPr lang="zh-CN" altLang="en-US" sz="1800" b="0">
                <a:solidFill>
                  <a:srgbClr val="FF0000"/>
                </a:solidFill>
                <a:latin typeface="Arial" panose="020B0604020202020204" pitchFamily="34" charset="0"/>
                <a:ea typeface="宋体" panose="02010600030101010101" pitchFamily="2" charset="-122"/>
              </a:rPr>
              <a:t>体系结构相关部分的启动，</a:t>
            </a:r>
          </a:p>
          <a:p>
            <a:pPr eaLnBrk="1" hangingPunct="1">
              <a:spcBef>
                <a:spcPct val="0"/>
              </a:spcBef>
              <a:buClrTx/>
              <a:buFontTx/>
              <a:buNone/>
            </a:pPr>
            <a:r>
              <a:rPr lang="zh-CN" altLang="en-US" sz="1800" b="0">
                <a:solidFill>
                  <a:srgbClr val="FF0000"/>
                </a:solidFill>
                <a:latin typeface="Arial" panose="020B0604020202020204" pitchFamily="34" charset="0"/>
                <a:ea typeface="宋体" panose="02010600030101010101" pitchFamily="2" charset="-122"/>
              </a:rPr>
              <a:t>其目的就是进入</a:t>
            </a:r>
            <a:r>
              <a:rPr lang="en-US" altLang="zh-CN" sz="1800" b="0">
                <a:solidFill>
                  <a:srgbClr val="FF0000"/>
                </a:solidFill>
                <a:latin typeface="Arial" panose="020B0604020202020204" pitchFamily="34" charset="0"/>
                <a:ea typeface="宋体" panose="02010600030101010101" pitchFamily="2" charset="-122"/>
              </a:rPr>
              <a:t>main.c</a:t>
            </a:r>
            <a:r>
              <a:rPr lang="zh-CN" altLang="en-US" sz="1800" b="0">
                <a:solidFill>
                  <a:srgbClr val="FF0000"/>
                </a:solidFill>
                <a:latin typeface="Arial" panose="020B0604020202020204" pitchFamily="34" charset="0"/>
                <a:ea typeface="宋体" panose="02010600030101010101" pitchFamily="2" charset="-122"/>
              </a:rPr>
              <a:t>中的</a:t>
            </a:r>
            <a:r>
              <a:rPr lang="en-US" altLang="zh-CN" sz="1800" b="0">
                <a:solidFill>
                  <a:srgbClr val="FF0000"/>
                </a:solidFill>
                <a:latin typeface="Arial" panose="020B0604020202020204" pitchFamily="34" charset="0"/>
                <a:ea typeface="宋体" panose="02010600030101010101" pitchFamily="2" charset="-122"/>
              </a:rPr>
              <a:t>start_kernel</a:t>
            </a:r>
            <a:r>
              <a:rPr lang="zh-CN" altLang="en-US" sz="1800" b="0">
                <a:solidFill>
                  <a:srgbClr val="FF0000"/>
                </a:solidFill>
                <a:latin typeface="Arial" panose="020B0604020202020204" pitchFamily="34" charset="0"/>
                <a:ea typeface="宋体" panose="02010600030101010101" pitchFamily="2" charset="-122"/>
              </a:rPr>
              <a:t>处执行</a:t>
            </a:r>
          </a:p>
        </p:txBody>
      </p:sp>
      <p:sp>
        <p:nvSpPr>
          <p:cNvPr id="10" name="标题 1"/>
          <p:cNvSpPr txBox="1">
            <a:spLocks/>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a:defRPr/>
            </a:pPr>
            <a:r>
              <a:rPr lang="en-US" altLang="zh-CN" kern="0" dirty="0">
                <a:latin typeface="楷体_GB2312" pitchFamily="49" charset="-122"/>
                <a:ea typeface="楷体_GB2312" pitchFamily="49" charset="-122"/>
              </a:rPr>
              <a:t>6</a:t>
            </a:r>
            <a:r>
              <a:rPr lang="zh-CN" altLang="en-US" kern="0" dirty="0">
                <a:latin typeface="楷体_GB2312" pitchFamily="49" charset="-122"/>
                <a:ea typeface="楷体_GB2312" pitchFamily="49" charset="-122"/>
              </a:rPr>
              <a:t>、</a:t>
            </a:r>
            <a:r>
              <a:rPr lang="en-US" altLang="zh-CN" kern="0" dirty="0">
                <a:latin typeface="楷体_GB2312" pitchFamily="49" charset="-122"/>
                <a:ea typeface="楷体_GB2312" pitchFamily="49" charset="-122"/>
              </a:rPr>
              <a:t>Linux</a:t>
            </a:r>
            <a:r>
              <a:rPr lang="zh-CN" altLang="en-US" kern="0" dirty="0">
                <a:latin typeface="楷体_GB2312" pitchFamily="49" charset="-122"/>
                <a:ea typeface="楷体_GB2312" pitchFamily="49" charset="-122"/>
              </a:rPr>
              <a:t>内核源代码的组织</a:t>
            </a:r>
            <a:endParaRPr lang="zh-CN" altLang="en-US" kern="0" dirty="0"/>
          </a:p>
        </p:txBody>
      </p:sp>
    </p:spTree>
    <p:extLst>
      <p:ext uri="{BB962C8B-B14F-4D97-AF65-F5344CB8AC3E}">
        <p14:creationId xmlns:p14="http://schemas.microsoft.com/office/powerpoint/2010/main" val="24274255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450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34504"/>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45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504" grpId="0" animBg="1"/>
      <p:bldP spid="234504" grpId="1" animBg="1"/>
      <p:bldP spid="23450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title" idx="4294967295"/>
          </p:nvPr>
        </p:nvSpPr>
        <p:spPr>
          <a:xfrm>
            <a:off x="250825" y="993775"/>
            <a:ext cx="5113338" cy="560388"/>
          </a:xfrm>
        </p:spPr>
        <p:txBody>
          <a:bodyPr anchorCtr="1"/>
          <a:lstStyle/>
          <a:p>
            <a:pPr algn="l" eaLnBrk="1" hangingPunct="1"/>
            <a:r>
              <a:rPr lang="en-US" altLang="zh-CN" sz="2400">
                <a:latin typeface="楷体_GB2312" pitchFamily="49" charset="-122"/>
                <a:ea typeface="楷体_GB2312" pitchFamily="49" charset="-122"/>
              </a:rPr>
              <a:t>Linux</a:t>
            </a:r>
            <a:r>
              <a:rPr lang="zh-CN" altLang="en-US" sz="2400">
                <a:latin typeface="楷体_GB2312" pitchFamily="49" charset="-122"/>
                <a:ea typeface="楷体_GB2312" pitchFamily="49" charset="-122"/>
              </a:rPr>
              <a:t>内核源代码的几大组成部分</a:t>
            </a:r>
          </a:p>
        </p:txBody>
      </p:sp>
      <p:sp>
        <p:nvSpPr>
          <p:cNvPr id="15363" name="Rectangle 5"/>
          <p:cNvSpPr>
            <a:spLocks noGrp="1" noChangeArrowheads="1"/>
          </p:cNvSpPr>
          <p:nvPr>
            <p:ph type="body" idx="4294967295"/>
          </p:nvPr>
        </p:nvSpPr>
        <p:spPr>
          <a:xfrm>
            <a:off x="2160588" y="1584325"/>
            <a:ext cx="5757862" cy="4587875"/>
          </a:xfrm>
        </p:spPr>
        <p:txBody>
          <a:bodyPr/>
          <a:lstStyle/>
          <a:p>
            <a:pPr eaLnBrk="1" hangingPunct="1">
              <a:buFont typeface="Wingdings" panose="05000000000000000000" pitchFamily="2" charset="2"/>
              <a:buNone/>
            </a:pPr>
            <a:r>
              <a:rPr lang="en-US" altLang="zh-CN">
                <a:latin typeface="楷体_GB2312" pitchFamily="49" charset="-122"/>
                <a:ea typeface="楷体_GB2312" pitchFamily="49" charset="-122"/>
              </a:rPr>
              <a:t>1</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 </a:t>
            </a:r>
            <a:r>
              <a:rPr lang="zh-CN" altLang="en-US">
                <a:latin typeface="楷体_GB2312" pitchFamily="49" charset="-122"/>
                <a:ea typeface="楷体_GB2312" pitchFamily="49" charset="-122"/>
              </a:rPr>
              <a:t>系统启动与初始化</a:t>
            </a:r>
          </a:p>
          <a:p>
            <a:pPr eaLnBrk="1" hangingPunct="1">
              <a:buFont typeface="Wingdings" panose="05000000000000000000" pitchFamily="2" charset="2"/>
              <a:buNone/>
            </a:pPr>
            <a:r>
              <a:rPr lang="en-US" altLang="zh-CN">
                <a:latin typeface="楷体_GB2312" pitchFamily="49" charset="-122"/>
                <a:ea typeface="楷体_GB2312" pitchFamily="49" charset="-122"/>
              </a:rPr>
              <a:t>2</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 </a:t>
            </a:r>
            <a:r>
              <a:rPr lang="zh-CN" altLang="en-US">
                <a:latin typeface="楷体_GB2312" pitchFamily="49" charset="-122"/>
                <a:ea typeface="楷体_GB2312" pitchFamily="49" charset="-122"/>
              </a:rPr>
              <a:t>内存管理</a:t>
            </a:r>
          </a:p>
          <a:p>
            <a:pPr eaLnBrk="1" hangingPunct="1">
              <a:buFont typeface="Wingdings" panose="05000000000000000000" pitchFamily="2" charset="2"/>
              <a:buNone/>
            </a:pPr>
            <a:r>
              <a:rPr lang="en-US" altLang="zh-CN">
                <a:latin typeface="楷体_GB2312" pitchFamily="49" charset="-122"/>
                <a:ea typeface="楷体_GB2312" pitchFamily="49" charset="-122"/>
              </a:rPr>
              <a:t>3</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 </a:t>
            </a:r>
            <a:r>
              <a:rPr lang="zh-CN" altLang="en-US">
                <a:latin typeface="楷体_GB2312" pitchFamily="49" charset="-122"/>
                <a:ea typeface="楷体_GB2312" pitchFamily="49" charset="-122"/>
              </a:rPr>
              <a:t>内核</a:t>
            </a:r>
          </a:p>
          <a:p>
            <a:pPr eaLnBrk="1" hangingPunct="1">
              <a:buFont typeface="Wingdings" panose="05000000000000000000" pitchFamily="2" charset="2"/>
              <a:buNone/>
            </a:pPr>
            <a:r>
              <a:rPr lang="en-US" altLang="zh-CN">
                <a:latin typeface="楷体_GB2312" pitchFamily="49" charset="-122"/>
                <a:ea typeface="楷体_GB2312" pitchFamily="49" charset="-122"/>
              </a:rPr>
              <a:t>4</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 </a:t>
            </a:r>
            <a:r>
              <a:rPr lang="zh-CN" altLang="en-US">
                <a:latin typeface="楷体_GB2312" pitchFamily="49" charset="-122"/>
                <a:ea typeface="楷体_GB2312" pitchFamily="49" charset="-122"/>
              </a:rPr>
              <a:t>进程间通信</a:t>
            </a:r>
          </a:p>
          <a:p>
            <a:pPr eaLnBrk="1" hangingPunct="1">
              <a:buFont typeface="Wingdings" panose="05000000000000000000" pitchFamily="2" charset="2"/>
              <a:buNone/>
            </a:pPr>
            <a:r>
              <a:rPr lang="en-US" altLang="zh-CN">
                <a:latin typeface="楷体_GB2312" pitchFamily="49" charset="-122"/>
                <a:ea typeface="楷体_GB2312" pitchFamily="49" charset="-122"/>
              </a:rPr>
              <a:t>5</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 </a:t>
            </a:r>
            <a:r>
              <a:rPr lang="zh-CN" altLang="en-US">
                <a:latin typeface="楷体_GB2312" pitchFamily="49" charset="-122"/>
                <a:ea typeface="楷体_GB2312" pitchFamily="49" charset="-122"/>
              </a:rPr>
              <a:t>中断处理</a:t>
            </a:r>
          </a:p>
          <a:p>
            <a:pPr eaLnBrk="1" hangingPunct="1">
              <a:buFont typeface="Wingdings" panose="05000000000000000000" pitchFamily="2" charset="2"/>
              <a:buNone/>
            </a:pPr>
            <a:r>
              <a:rPr lang="en-US" altLang="zh-CN">
                <a:latin typeface="楷体_GB2312" pitchFamily="49" charset="-122"/>
                <a:ea typeface="楷体_GB2312" pitchFamily="49" charset="-122"/>
              </a:rPr>
              <a:t>6</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 </a:t>
            </a:r>
            <a:r>
              <a:rPr lang="zh-CN" altLang="en-US">
                <a:latin typeface="楷体_GB2312" pitchFamily="49" charset="-122"/>
                <a:ea typeface="楷体_GB2312" pitchFamily="49" charset="-122"/>
              </a:rPr>
              <a:t>设备驱动程序</a:t>
            </a:r>
          </a:p>
          <a:p>
            <a:pPr eaLnBrk="1" hangingPunct="1">
              <a:buFont typeface="Wingdings" panose="05000000000000000000" pitchFamily="2" charset="2"/>
              <a:buNone/>
            </a:pPr>
            <a:r>
              <a:rPr lang="en-US" altLang="zh-CN">
                <a:latin typeface="楷体_GB2312" pitchFamily="49" charset="-122"/>
                <a:ea typeface="楷体_GB2312" pitchFamily="49" charset="-122"/>
              </a:rPr>
              <a:t>7</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 </a:t>
            </a:r>
            <a:r>
              <a:rPr lang="zh-CN" altLang="en-US">
                <a:latin typeface="楷体_GB2312" pitchFamily="49" charset="-122"/>
                <a:ea typeface="楷体_GB2312" pitchFamily="49" charset="-122"/>
              </a:rPr>
              <a:t>文件系统</a:t>
            </a:r>
          </a:p>
          <a:p>
            <a:pPr eaLnBrk="1" hangingPunct="1">
              <a:buFont typeface="Wingdings" panose="05000000000000000000" pitchFamily="2" charset="2"/>
              <a:buNone/>
            </a:pPr>
            <a:r>
              <a:rPr lang="en-US" altLang="zh-CN">
                <a:latin typeface="楷体_GB2312" pitchFamily="49" charset="-122"/>
                <a:ea typeface="楷体_GB2312" pitchFamily="49" charset="-122"/>
              </a:rPr>
              <a:t>8</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 </a:t>
            </a:r>
            <a:r>
              <a:rPr lang="zh-CN" altLang="en-US">
                <a:latin typeface="楷体_GB2312" pitchFamily="49" charset="-122"/>
                <a:ea typeface="楷体_GB2312" pitchFamily="49" charset="-122"/>
              </a:rPr>
              <a:t>网络</a:t>
            </a:r>
          </a:p>
          <a:p>
            <a:pPr eaLnBrk="1" hangingPunct="1">
              <a:buFont typeface="Wingdings" panose="05000000000000000000" pitchFamily="2" charset="2"/>
              <a:buNone/>
            </a:pPr>
            <a:r>
              <a:rPr lang="en-US" altLang="zh-CN">
                <a:latin typeface="楷体_GB2312" pitchFamily="49" charset="-122"/>
                <a:ea typeface="楷体_GB2312" pitchFamily="49" charset="-122"/>
              </a:rPr>
              <a:t>9</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 </a:t>
            </a:r>
            <a:r>
              <a:rPr lang="zh-CN" altLang="en-US">
                <a:latin typeface="楷体_GB2312" pitchFamily="49" charset="-122"/>
                <a:ea typeface="楷体_GB2312" pitchFamily="49" charset="-122"/>
              </a:rPr>
              <a:t>模块</a:t>
            </a:r>
          </a:p>
        </p:txBody>
      </p:sp>
      <p:sp>
        <p:nvSpPr>
          <p:cNvPr id="4" name="标题 1"/>
          <p:cNvSpPr txBox="1">
            <a:spLocks/>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a:defRPr/>
            </a:pPr>
            <a:r>
              <a:rPr lang="en-US" altLang="zh-CN" kern="0" dirty="0">
                <a:latin typeface="楷体_GB2312" pitchFamily="49" charset="-122"/>
                <a:ea typeface="楷体_GB2312" pitchFamily="49" charset="-122"/>
              </a:rPr>
              <a:t>6</a:t>
            </a:r>
            <a:r>
              <a:rPr lang="zh-CN" altLang="en-US" kern="0" dirty="0">
                <a:latin typeface="楷体_GB2312" pitchFamily="49" charset="-122"/>
                <a:ea typeface="楷体_GB2312" pitchFamily="49" charset="-122"/>
              </a:rPr>
              <a:t>、</a:t>
            </a:r>
            <a:r>
              <a:rPr lang="en-US" altLang="zh-CN" kern="0" dirty="0">
                <a:latin typeface="楷体_GB2312" pitchFamily="49" charset="-122"/>
                <a:ea typeface="楷体_GB2312" pitchFamily="49" charset="-122"/>
              </a:rPr>
              <a:t>Linux</a:t>
            </a:r>
            <a:r>
              <a:rPr lang="zh-CN" altLang="en-US" kern="0" dirty="0">
                <a:latin typeface="楷体_GB2312" pitchFamily="49" charset="-122"/>
                <a:ea typeface="楷体_GB2312" pitchFamily="49" charset="-122"/>
              </a:rPr>
              <a:t>内核源代码的组织</a:t>
            </a:r>
            <a:endParaRPr lang="zh-CN" altLang="en-US" kern="0" dirty="0"/>
          </a:p>
        </p:txBody>
      </p:sp>
    </p:spTree>
    <p:extLst>
      <p:ext uri="{BB962C8B-B14F-4D97-AF65-F5344CB8AC3E}">
        <p14:creationId xmlns:p14="http://schemas.microsoft.com/office/powerpoint/2010/main" val="21684783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395288" y="260350"/>
            <a:ext cx="8229600" cy="560388"/>
          </a:xfrm>
        </p:spPr>
        <p:txBody>
          <a:bodyPr anchorCtr="1"/>
          <a:lstStyle/>
          <a:p>
            <a:pPr eaLnBrk="1" hangingPunct="1"/>
            <a:r>
              <a:rPr lang="en-US" altLang="zh-CN">
                <a:latin typeface="楷体_GB2312" pitchFamily="49" charset="-122"/>
                <a:ea typeface="楷体_GB2312" pitchFamily="49" charset="-122"/>
              </a:rPr>
              <a:t>7</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Linux</a:t>
            </a:r>
            <a:r>
              <a:rPr lang="zh-CN" altLang="en-US">
                <a:latin typeface="楷体_GB2312" pitchFamily="49" charset="-122"/>
                <a:ea typeface="楷体_GB2312" pitchFamily="49" charset="-122"/>
              </a:rPr>
              <a:t>内核分析方法</a:t>
            </a:r>
          </a:p>
        </p:txBody>
      </p:sp>
      <p:sp>
        <p:nvSpPr>
          <p:cNvPr id="48131" name="Rectangle 3"/>
          <p:cNvSpPr>
            <a:spLocks noGrp="1" noChangeArrowheads="1"/>
          </p:cNvSpPr>
          <p:nvPr>
            <p:ph type="body" idx="4294967295"/>
          </p:nvPr>
        </p:nvSpPr>
        <p:spPr>
          <a:xfrm>
            <a:off x="539750" y="1052513"/>
            <a:ext cx="8229600" cy="3463925"/>
          </a:xfrm>
        </p:spPr>
        <p:txBody>
          <a:bodyPr/>
          <a:lstStyle/>
          <a:p>
            <a:pPr eaLnBrk="1" hangingPunct="1">
              <a:lnSpc>
                <a:spcPct val="90000"/>
              </a:lnSpc>
              <a:defRPr/>
            </a:pPr>
            <a:r>
              <a:rPr lang="zh-CN" altLang="en-US" dirty="0">
                <a:solidFill>
                  <a:srgbClr val="FF0000"/>
                </a:solidFill>
                <a:latin typeface="楷体_GB2312" pitchFamily="49" charset="-122"/>
                <a:ea typeface="楷体_GB2312" pitchFamily="49" charset="-122"/>
              </a:rPr>
              <a:t>如何分析内核源代码</a:t>
            </a:r>
            <a:endParaRPr lang="en-US" altLang="zh-CN" dirty="0">
              <a:solidFill>
                <a:srgbClr val="FF0000"/>
              </a:solidFill>
              <a:latin typeface="楷体_GB2312" pitchFamily="49" charset="-122"/>
              <a:ea typeface="楷体_GB2312" pitchFamily="49" charset="-122"/>
            </a:endParaRPr>
          </a:p>
          <a:p>
            <a:pPr lvl="1" eaLnBrk="1" hangingPunct="1">
              <a:lnSpc>
                <a:spcPct val="90000"/>
              </a:lnSpc>
              <a:defRPr/>
            </a:pPr>
            <a:r>
              <a:rPr lang="zh-CN" altLang="en-US" sz="2800" dirty="0">
                <a:solidFill>
                  <a:srgbClr val="2B5681"/>
                </a:solidFill>
                <a:latin typeface="楷体_GB2312" pitchFamily="49" charset="-122"/>
                <a:ea typeface="楷体_GB2312" pitchFamily="49" charset="-122"/>
                <a:cs typeface="+mn-cs"/>
              </a:rPr>
              <a:t>由于内核代码冗长、内核体系结构的庞杂，所以分析内核也是一个很艰难、很需要毅力的事</a:t>
            </a:r>
          </a:p>
          <a:p>
            <a:pPr lvl="2" eaLnBrk="1" hangingPunct="1">
              <a:lnSpc>
                <a:spcPct val="90000"/>
              </a:lnSpc>
              <a:defRPr/>
            </a:pPr>
            <a:r>
              <a:rPr lang="zh-CN" altLang="en-US" dirty="0">
                <a:latin typeface="楷体_GB2312" pitchFamily="49" charset="-122"/>
                <a:ea typeface="楷体_GB2312" pitchFamily="49" charset="-122"/>
              </a:rPr>
              <a:t> </a:t>
            </a:r>
            <a:r>
              <a:rPr lang="zh-CN" altLang="en-US" b="1" dirty="0">
                <a:solidFill>
                  <a:srgbClr val="004182"/>
                </a:solidFill>
                <a:latin typeface="楷体_GB2312" pitchFamily="49" charset="-122"/>
                <a:ea typeface="楷体_GB2312" pitchFamily="49" charset="-122"/>
              </a:rPr>
              <a:t>弄懂源码的文件组织形式</a:t>
            </a:r>
          </a:p>
          <a:p>
            <a:pPr lvl="2" eaLnBrk="1" hangingPunct="1">
              <a:lnSpc>
                <a:spcPct val="90000"/>
              </a:lnSpc>
              <a:defRPr/>
            </a:pPr>
            <a:r>
              <a:rPr lang="zh-CN" altLang="en-US" b="1" dirty="0">
                <a:solidFill>
                  <a:srgbClr val="004182"/>
                </a:solidFill>
                <a:latin typeface="楷体_GB2312" pitchFamily="49" charset="-122"/>
                <a:ea typeface="楷体_GB2312" pitchFamily="49" charset="-122"/>
              </a:rPr>
              <a:t> 以程序流程为线索，一线串珠</a:t>
            </a:r>
          </a:p>
          <a:p>
            <a:pPr lvl="2" eaLnBrk="1" hangingPunct="1">
              <a:lnSpc>
                <a:spcPct val="90000"/>
              </a:lnSpc>
              <a:defRPr/>
            </a:pPr>
            <a:r>
              <a:rPr lang="zh-CN" altLang="en-US" b="1" dirty="0">
                <a:solidFill>
                  <a:srgbClr val="004182"/>
                </a:solidFill>
                <a:latin typeface="楷体_GB2312" pitchFamily="49" charset="-122"/>
                <a:ea typeface="楷体_GB2312" pitchFamily="49" charset="-122"/>
              </a:rPr>
              <a:t> 以数据结构为基点，触类旁通</a:t>
            </a:r>
          </a:p>
          <a:p>
            <a:pPr lvl="2" eaLnBrk="1" hangingPunct="1">
              <a:lnSpc>
                <a:spcPct val="90000"/>
              </a:lnSpc>
              <a:defRPr/>
            </a:pPr>
            <a:r>
              <a:rPr lang="zh-CN" altLang="en-US" b="1" dirty="0">
                <a:solidFill>
                  <a:srgbClr val="004182"/>
                </a:solidFill>
                <a:latin typeface="楷体_GB2312" pitchFamily="49" charset="-122"/>
                <a:ea typeface="楷体_GB2312" pitchFamily="49" charset="-122"/>
              </a:rPr>
              <a:t> 以功能为中心，各个击破</a:t>
            </a:r>
          </a:p>
          <a:p>
            <a:pPr eaLnBrk="1" hangingPunct="1">
              <a:lnSpc>
                <a:spcPct val="90000"/>
              </a:lnSpc>
              <a:defRPr/>
            </a:pPr>
            <a:r>
              <a:rPr lang="zh-CN" altLang="en-US" dirty="0">
                <a:solidFill>
                  <a:srgbClr val="FF0000"/>
                </a:solidFill>
                <a:latin typeface="楷体_GB2312" pitchFamily="49" charset="-122"/>
                <a:ea typeface="楷体_GB2312" pitchFamily="49" charset="-122"/>
              </a:rPr>
              <a:t>分析思路</a:t>
            </a:r>
          </a:p>
          <a:p>
            <a:pPr lvl="1" eaLnBrk="1" hangingPunct="1">
              <a:lnSpc>
                <a:spcPct val="90000"/>
              </a:lnSpc>
              <a:defRPr/>
            </a:pPr>
            <a:r>
              <a:rPr lang="zh-CN" altLang="en-US" dirty="0">
                <a:solidFill>
                  <a:srgbClr val="004182"/>
                </a:solidFill>
                <a:latin typeface="楷体_GB2312" pitchFamily="49" charset="-122"/>
                <a:ea typeface="楷体_GB2312" pitchFamily="49" charset="-122"/>
              </a:rPr>
              <a:t>概念和数据结构</a:t>
            </a:r>
          </a:p>
          <a:p>
            <a:pPr lvl="1" eaLnBrk="1" hangingPunct="1">
              <a:lnSpc>
                <a:spcPct val="90000"/>
              </a:lnSpc>
              <a:defRPr/>
            </a:pPr>
            <a:r>
              <a:rPr lang="zh-CN" altLang="en-US" dirty="0">
                <a:solidFill>
                  <a:srgbClr val="004182"/>
                </a:solidFill>
                <a:latin typeface="楷体_GB2312" pitchFamily="49" charset="-122"/>
                <a:ea typeface="楷体_GB2312" pitchFamily="49" charset="-122"/>
              </a:rPr>
              <a:t>对外接口</a:t>
            </a:r>
          </a:p>
          <a:p>
            <a:pPr lvl="1" eaLnBrk="1" hangingPunct="1">
              <a:lnSpc>
                <a:spcPct val="90000"/>
              </a:lnSpc>
              <a:defRPr/>
            </a:pPr>
            <a:r>
              <a:rPr lang="zh-CN" altLang="en-US" dirty="0">
                <a:solidFill>
                  <a:srgbClr val="004182"/>
                </a:solidFill>
                <a:latin typeface="楷体_GB2312" pitchFamily="49" charset="-122"/>
                <a:ea typeface="楷体_GB2312" pitchFamily="49" charset="-122"/>
              </a:rPr>
              <a:t>模块内部处理过程：算法</a:t>
            </a:r>
            <a:endParaRPr lang="en-US" altLang="zh-CN" dirty="0">
              <a:solidFill>
                <a:srgbClr val="004182"/>
              </a:solidFill>
              <a:latin typeface="楷体_GB2312" pitchFamily="49" charset="-122"/>
              <a:ea typeface="楷体_GB2312" pitchFamily="49" charset="-122"/>
            </a:endParaRPr>
          </a:p>
          <a:p>
            <a:pPr eaLnBrk="1" hangingPunct="1">
              <a:lnSpc>
                <a:spcPct val="90000"/>
              </a:lnSpc>
              <a:defRPr/>
            </a:pPr>
            <a:r>
              <a:rPr lang="zh-CN" altLang="en-US" dirty="0">
                <a:solidFill>
                  <a:srgbClr val="FF0000"/>
                </a:solidFill>
                <a:latin typeface="楷体_GB2312" pitchFamily="49" charset="-122"/>
                <a:ea typeface="楷体_GB2312" pitchFamily="49" charset="-122"/>
              </a:rPr>
              <a:t>本课程以什么样的版本进行研究？</a:t>
            </a:r>
          </a:p>
          <a:p>
            <a:pPr lvl="1" eaLnBrk="1" hangingPunct="1">
              <a:lnSpc>
                <a:spcPct val="90000"/>
              </a:lnSpc>
              <a:defRPr/>
            </a:pPr>
            <a:r>
              <a:rPr lang="en-US" altLang="zh-CN" dirty="0">
                <a:solidFill>
                  <a:srgbClr val="004182"/>
                </a:solidFill>
                <a:latin typeface="楷体_GB2312" pitchFamily="49" charset="-122"/>
                <a:ea typeface="楷体_GB2312" pitchFamily="49" charset="-122"/>
              </a:rPr>
              <a:t>Linux2.4.18+Linux 2.6</a:t>
            </a:r>
            <a:r>
              <a:rPr lang="zh-CN" altLang="en-US" dirty="0">
                <a:solidFill>
                  <a:srgbClr val="004182"/>
                </a:solidFill>
                <a:latin typeface="楷体_GB2312" pitchFamily="49" charset="-122"/>
                <a:ea typeface="楷体_GB2312" pitchFamily="49" charset="-122"/>
              </a:rPr>
              <a:t>的新增功能</a:t>
            </a:r>
          </a:p>
        </p:txBody>
      </p:sp>
    </p:spTree>
    <p:extLst>
      <p:ext uri="{BB962C8B-B14F-4D97-AF65-F5344CB8AC3E}">
        <p14:creationId xmlns:p14="http://schemas.microsoft.com/office/powerpoint/2010/main" val="40805763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4" name="Group 7"/>
          <p:cNvGrpSpPr>
            <a:grpSpLocks/>
          </p:cNvGrpSpPr>
          <p:nvPr/>
        </p:nvGrpSpPr>
        <p:grpSpPr bwMode="auto">
          <a:xfrm>
            <a:off x="1143000" y="1055688"/>
            <a:ext cx="7086600" cy="5181600"/>
            <a:chOff x="-3" y="419"/>
            <a:chExt cx="2978" cy="5070"/>
          </a:xfrm>
        </p:grpSpPr>
        <p:grpSp>
          <p:nvGrpSpPr>
            <p:cNvPr id="18438" name="Group 8"/>
            <p:cNvGrpSpPr>
              <a:grpSpLocks/>
            </p:cNvGrpSpPr>
            <p:nvPr/>
          </p:nvGrpSpPr>
          <p:grpSpPr bwMode="auto">
            <a:xfrm>
              <a:off x="0" y="422"/>
              <a:ext cx="2972" cy="5064"/>
              <a:chOff x="0" y="422"/>
              <a:chExt cx="2972" cy="5064"/>
            </a:xfrm>
          </p:grpSpPr>
          <p:grpSp>
            <p:nvGrpSpPr>
              <p:cNvPr id="18440" name="Group 9"/>
              <p:cNvGrpSpPr>
                <a:grpSpLocks/>
              </p:cNvGrpSpPr>
              <p:nvPr/>
            </p:nvGrpSpPr>
            <p:grpSpPr bwMode="auto">
              <a:xfrm>
                <a:off x="0" y="422"/>
                <a:ext cx="1006" cy="422"/>
                <a:chOff x="0" y="422"/>
                <a:chExt cx="1006" cy="422"/>
              </a:xfrm>
            </p:grpSpPr>
            <p:sp>
              <p:nvSpPr>
                <p:cNvPr id="18510" name="Rectangle 10"/>
                <p:cNvSpPr>
                  <a:spLocks noChangeArrowheads="1"/>
                </p:cNvSpPr>
                <p:nvPr/>
              </p:nvSpPr>
              <p:spPr bwMode="auto">
                <a:xfrm>
                  <a:off x="43" y="422"/>
                  <a:ext cx="92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2400" b="0">
                      <a:solidFill>
                        <a:srgbClr val="002060"/>
                      </a:solidFill>
                      <a:latin typeface="Times New Roman" panose="02020603050405020304" pitchFamily="18" charset="0"/>
                      <a:ea typeface="楷体_GB2312" pitchFamily="49" charset="-122"/>
                    </a:rPr>
                    <a:t>后缀名</a:t>
                  </a:r>
                  <a:endParaRPr kumimoji="1" lang="zh-CN" altLang="en-US"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835" name="Rectangle 11"/>
                <p:cNvSpPr>
                  <a:spLocks noChangeArrowheads="1"/>
                </p:cNvSpPr>
                <p:nvPr/>
              </p:nvSpPr>
              <p:spPr bwMode="auto">
                <a:xfrm>
                  <a:off x="0" y="422"/>
                  <a:ext cx="1006" cy="422"/>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41" name="Group 12"/>
              <p:cNvGrpSpPr>
                <a:grpSpLocks/>
              </p:cNvGrpSpPr>
              <p:nvPr/>
            </p:nvGrpSpPr>
            <p:grpSpPr bwMode="auto">
              <a:xfrm>
                <a:off x="1006" y="422"/>
                <a:ext cx="1966" cy="422"/>
                <a:chOff x="1006" y="422"/>
                <a:chExt cx="1966" cy="422"/>
              </a:xfrm>
            </p:grpSpPr>
            <p:sp>
              <p:nvSpPr>
                <p:cNvPr id="18508" name="Rectangle 13"/>
                <p:cNvSpPr>
                  <a:spLocks noChangeArrowheads="1"/>
                </p:cNvSpPr>
                <p:nvPr/>
              </p:nvSpPr>
              <p:spPr bwMode="auto">
                <a:xfrm>
                  <a:off x="1049" y="422"/>
                  <a:ext cx="18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2400" b="0">
                      <a:solidFill>
                        <a:srgbClr val="002060"/>
                      </a:solidFill>
                      <a:latin typeface="Times New Roman" panose="02020603050405020304" pitchFamily="18" charset="0"/>
                      <a:ea typeface="楷体_GB2312" pitchFamily="49" charset="-122"/>
                    </a:rPr>
                    <a:t>文件类型</a:t>
                  </a:r>
                  <a:endParaRPr kumimoji="1" lang="zh-CN" altLang="en-US"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838" name="Rectangle 14"/>
                <p:cNvSpPr>
                  <a:spLocks noChangeArrowheads="1"/>
                </p:cNvSpPr>
                <p:nvPr/>
              </p:nvSpPr>
              <p:spPr bwMode="auto">
                <a:xfrm>
                  <a:off x="1006" y="422"/>
                  <a:ext cx="1967" cy="422"/>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42" name="Group 15"/>
              <p:cNvGrpSpPr>
                <a:grpSpLocks/>
              </p:cNvGrpSpPr>
              <p:nvPr/>
            </p:nvGrpSpPr>
            <p:grpSpPr bwMode="auto">
              <a:xfrm>
                <a:off x="0" y="844"/>
                <a:ext cx="1006" cy="422"/>
                <a:chOff x="0" y="844"/>
                <a:chExt cx="1006" cy="422"/>
              </a:xfrm>
            </p:grpSpPr>
            <p:sp>
              <p:nvSpPr>
                <p:cNvPr id="18506" name="Rectangle 16"/>
                <p:cNvSpPr>
                  <a:spLocks noChangeArrowheads="1"/>
                </p:cNvSpPr>
                <p:nvPr/>
              </p:nvSpPr>
              <p:spPr bwMode="auto">
                <a:xfrm>
                  <a:off x="43" y="844"/>
                  <a:ext cx="92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en-US" altLang="zh-CN" sz="2400" b="0">
                      <a:solidFill>
                        <a:srgbClr val="002060"/>
                      </a:solidFill>
                      <a:latin typeface="Times New Roman" panose="02020603050405020304" pitchFamily="18" charset="0"/>
                      <a:ea typeface="楷体_GB2312" pitchFamily="49" charset="-122"/>
                    </a:rPr>
                    <a:t>.c</a:t>
                  </a:r>
                  <a:endParaRPr kumimoji="1" lang="en-US" altLang="zh-CN"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841" name="Rectangle 17"/>
                <p:cNvSpPr>
                  <a:spLocks noChangeArrowheads="1"/>
                </p:cNvSpPr>
                <p:nvPr/>
              </p:nvSpPr>
              <p:spPr bwMode="auto">
                <a:xfrm>
                  <a:off x="0" y="846"/>
                  <a:ext cx="1006" cy="418"/>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43" name="Group 18"/>
              <p:cNvGrpSpPr>
                <a:grpSpLocks/>
              </p:cNvGrpSpPr>
              <p:nvPr/>
            </p:nvGrpSpPr>
            <p:grpSpPr bwMode="auto">
              <a:xfrm>
                <a:off x="1006" y="844"/>
                <a:ext cx="1966" cy="422"/>
                <a:chOff x="1006" y="844"/>
                <a:chExt cx="1966" cy="422"/>
              </a:xfrm>
            </p:grpSpPr>
            <p:sp>
              <p:nvSpPr>
                <p:cNvPr id="18504" name="Rectangle 19"/>
                <p:cNvSpPr>
                  <a:spLocks noChangeArrowheads="1"/>
                </p:cNvSpPr>
                <p:nvPr/>
              </p:nvSpPr>
              <p:spPr bwMode="auto">
                <a:xfrm>
                  <a:off x="1049" y="844"/>
                  <a:ext cx="18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en-US" altLang="zh-CN" sz="2400" b="0">
                      <a:solidFill>
                        <a:srgbClr val="002060"/>
                      </a:solidFill>
                      <a:latin typeface="Times New Roman" panose="02020603050405020304" pitchFamily="18" charset="0"/>
                      <a:ea typeface="楷体_GB2312" pitchFamily="49" charset="-122"/>
                    </a:rPr>
                    <a:t>C</a:t>
                  </a:r>
                  <a:r>
                    <a:rPr kumimoji="1" lang="zh-CN" altLang="en-US" sz="2400" b="0">
                      <a:solidFill>
                        <a:srgbClr val="002060"/>
                      </a:solidFill>
                      <a:latin typeface="Times New Roman" panose="02020603050405020304" pitchFamily="18" charset="0"/>
                      <a:ea typeface="楷体_GB2312" pitchFamily="49" charset="-122"/>
                    </a:rPr>
                    <a:t>语言源代码文件</a:t>
                  </a:r>
                  <a:endParaRPr kumimoji="1" lang="zh-CN" altLang="en-US"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844" name="Rectangle 20"/>
                <p:cNvSpPr>
                  <a:spLocks noChangeArrowheads="1"/>
                </p:cNvSpPr>
                <p:nvPr/>
              </p:nvSpPr>
              <p:spPr bwMode="auto">
                <a:xfrm>
                  <a:off x="1006" y="846"/>
                  <a:ext cx="1967" cy="418"/>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44" name="Group 21"/>
              <p:cNvGrpSpPr>
                <a:grpSpLocks/>
              </p:cNvGrpSpPr>
              <p:nvPr/>
            </p:nvGrpSpPr>
            <p:grpSpPr bwMode="auto">
              <a:xfrm>
                <a:off x="0" y="1266"/>
                <a:ext cx="1006" cy="422"/>
                <a:chOff x="0" y="1266"/>
                <a:chExt cx="1006" cy="422"/>
              </a:xfrm>
            </p:grpSpPr>
            <p:sp>
              <p:nvSpPr>
                <p:cNvPr id="18502" name="Rectangle 22"/>
                <p:cNvSpPr>
                  <a:spLocks noChangeArrowheads="1"/>
                </p:cNvSpPr>
                <p:nvPr/>
              </p:nvSpPr>
              <p:spPr bwMode="auto">
                <a:xfrm>
                  <a:off x="43" y="1266"/>
                  <a:ext cx="92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en-US" altLang="zh-CN" sz="2400" b="0">
                      <a:solidFill>
                        <a:srgbClr val="002060"/>
                      </a:solidFill>
                      <a:latin typeface="Times New Roman" panose="02020603050405020304" pitchFamily="18" charset="0"/>
                      <a:ea typeface="楷体_GB2312" pitchFamily="49" charset="-122"/>
                    </a:rPr>
                    <a:t>.c.</a:t>
                  </a:r>
                  <a:r>
                    <a:rPr kumimoji="1" lang="zh-CN" altLang="en-US" sz="2400" b="0">
                      <a:solidFill>
                        <a:srgbClr val="002060"/>
                      </a:solidFill>
                      <a:latin typeface="Times New Roman" panose="02020603050405020304" pitchFamily="18" charset="0"/>
                      <a:ea typeface="楷体_GB2312" pitchFamily="49" charset="-122"/>
                    </a:rPr>
                    <a:t>或</a:t>
                  </a:r>
                  <a:r>
                    <a:rPr kumimoji="1" lang="en-US" altLang="zh-CN" sz="2400" b="0">
                      <a:solidFill>
                        <a:srgbClr val="002060"/>
                      </a:solidFill>
                      <a:latin typeface="Times New Roman" panose="02020603050405020304" pitchFamily="18" charset="0"/>
                      <a:ea typeface="楷体_GB2312" pitchFamily="49" charset="-122"/>
                    </a:rPr>
                    <a:t>cc.</a:t>
                  </a:r>
                  <a:r>
                    <a:rPr kumimoji="1" lang="zh-CN" altLang="en-US" sz="2400" b="0">
                      <a:solidFill>
                        <a:srgbClr val="002060"/>
                      </a:solidFill>
                      <a:latin typeface="Times New Roman" panose="02020603050405020304" pitchFamily="18" charset="0"/>
                      <a:ea typeface="楷体_GB2312" pitchFamily="49" charset="-122"/>
                    </a:rPr>
                    <a:t>或</a:t>
                  </a:r>
                  <a:r>
                    <a:rPr kumimoji="1" lang="en-US" altLang="zh-CN" sz="2400" b="0">
                      <a:solidFill>
                        <a:srgbClr val="002060"/>
                      </a:solidFill>
                      <a:latin typeface="Times New Roman" panose="02020603050405020304" pitchFamily="18" charset="0"/>
                      <a:ea typeface="楷体_GB2312" pitchFamily="49" charset="-122"/>
                    </a:rPr>
                    <a:t>cxx</a:t>
                  </a:r>
                  <a:endParaRPr kumimoji="1" lang="en-US" altLang="zh-CN"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847" name="Rectangle 23"/>
                <p:cNvSpPr>
                  <a:spLocks noChangeArrowheads="1"/>
                </p:cNvSpPr>
                <p:nvPr/>
              </p:nvSpPr>
              <p:spPr bwMode="auto">
                <a:xfrm>
                  <a:off x="0" y="1266"/>
                  <a:ext cx="1006" cy="422"/>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45" name="Group 24"/>
              <p:cNvGrpSpPr>
                <a:grpSpLocks/>
              </p:cNvGrpSpPr>
              <p:nvPr/>
            </p:nvGrpSpPr>
            <p:grpSpPr bwMode="auto">
              <a:xfrm>
                <a:off x="1006" y="1266"/>
                <a:ext cx="1966" cy="422"/>
                <a:chOff x="1006" y="1266"/>
                <a:chExt cx="1966" cy="422"/>
              </a:xfrm>
            </p:grpSpPr>
            <p:sp>
              <p:nvSpPr>
                <p:cNvPr id="18500" name="Rectangle 25"/>
                <p:cNvSpPr>
                  <a:spLocks noChangeArrowheads="1"/>
                </p:cNvSpPr>
                <p:nvPr/>
              </p:nvSpPr>
              <p:spPr bwMode="auto">
                <a:xfrm>
                  <a:off x="1049" y="1266"/>
                  <a:ext cx="18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en-US" altLang="zh-CN" sz="2400" b="0">
                      <a:solidFill>
                        <a:srgbClr val="002060"/>
                      </a:solidFill>
                      <a:latin typeface="Times New Roman" panose="02020603050405020304" pitchFamily="18" charset="0"/>
                      <a:ea typeface="楷体_GB2312" pitchFamily="49" charset="-122"/>
                    </a:rPr>
                    <a:t>C++</a:t>
                  </a:r>
                  <a:r>
                    <a:rPr kumimoji="1" lang="zh-CN" altLang="en-US" sz="2400" b="0">
                      <a:solidFill>
                        <a:srgbClr val="002060"/>
                      </a:solidFill>
                      <a:latin typeface="Times New Roman" panose="02020603050405020304" pitchFamily="18" charset="0"/>
                      <a:ea typeface="楷体_GB2312" pitchFamily="49" charset="-122"/>
                    </a:rPr>
                    <a:t>源代码文件</a:t>
                  </a:r>
                  <a:endParaRPr kumimoji="1" lang="zh-CN" altLang="en-US"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850" name="Rectangle 26"/>
                <p:cNvSpPr>
                  <a:spLocks noChangeArrowheads="1"/>
                </p:cNvSpPr>
                <p:nvPr/>
              </p:nvSpPr>
              <p:spPr bwMode="auto">
                <a:xfrm>
                  <a:off x="1006" y="1266"/>
                  <a:ext cx="1967" cy="422"/>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46" name="Group 27"/>
              <p:cNvGrpSpPr>
                <a:grpSpLocks/>
              </p:cNvGrpSpPr>
              <p:nvPr/>
            </p:nvGrpSpPr>
            <p:grpSpPr bwMode="auto">
              <a:xfrm>
                <a:off x="0" y="1688"/>
                <a:ext cx="1006" cy="422"/>
                <a:chOff x="0" y="1688"/>
                <a:chExt cx="1006" cy="422"/>
              </a:xfrm>
            </p:grpSpPr>
            <p:sp>
              <p:nvSpPr>
                <p:cNvPr id="18498" name="Rectangle 28"/>
                <p:cNvSpPr>
                  <a:spLocks noChangeArrowheads="1"/>
                </p:cNvSpPr>
                <p:nvPr/>
              </p:nvSpPr>
              <p:spPr bwMode="auto">
                <a:xfrm>
                  <a:off x="43" y="1688"/>
                  <a:ext cx="92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en-US" altLang="zh-CN" sz="2400" b="0">
                      <a:solidFill>
                        <a:srgbClr val="002060"/>
                      </a:solidFill>
                      <a:latin typeface="Times New Roman" panose="02020603050405020304" pitchFamily="18" charset="0"/>
                      <a:ea typeface="楷体_GB2312" pitchFamily="49" charset="-122"/>
                    </a:rPr>
                    <a:t>.m</a:t>
                  </a:r>
                  <a:endParaRPr kumimoji="1" lang="en-US" altLang="zh-CN"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853" name="Rectangle 29"/>
                <p:cNvSpPr>
                  <a:spLocks noChangeArrowheads="1"/>
                </p:cNvSpPr>
                <p:nvPr/>
              </p:nvSpPr>
              <p:spPr bwMode="auto">
                <a:xfrm>
                  <a:off x="0" y="1688"/>
                  <a:ext cx="1006" cy="422"/>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47" name="Group 30"/>
              <p:cNvGrpSpPr>
                <a:grpSpLocks/>
              </p:cNvGrpSpPr>
              <p:nvPr/>
            </p:nvGrpSpPr>
            <p:grpSpPr bwMode="auto">
              <a:xfrm>
                <a:off x="1006" y="1688"/>
                <a:ext cx="1966" cy="422"/>
                <a:chOff x="1006" y="1688"/>
                <a:chExt cx="1966" cy="422"/>
              </a:xfrm>
            </p:grpSpPr>
            <p:sp>
              <p:nvSpPr>
                <p:cNvPr id="18496" name="Rectangle 31"/>
                <p:cNvSpPr>
                  <a:spLocks noChangeArrowheads="1"/>
                </p:cNvSpPr>
                <p:nvPr/>
              </p:nvSpPr>
              <p:spPr bwMode="auto">
                <a:xfrm>
                  <a:off x="1049" y="1688"/>
                  <a:ext cx="18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en-US" altLang="zh-CN" sz="2400" b="0">
                      <a:solidFill>
                        <a:srgbClr val="002060"/>
                      </a:solidFill>
                      <a:latin typeface="Times New Roman" panose="02020603050405020304" pitchFamily="18" charset="0"/>
                      <a:ea typeface="楷体_GB2312" pitchFamily="49" charset="-122"/>
                    </a:rPr>
                    <a:t>Objective_C</a:t>
                  </a:r>
                  <a:r>
                    <a:rPr kumimoji="1" lang="zh-CN" altLang="en-US" sz="2400" b="0">
                      <a:solidFill>
                        <a:srgbClr val="002060"/>
                      </a:solidFill>
                      <a:latin typeface="Times New Roman" panose="02020603050405020304" pitchFamily="18" charset="0"/>
                      <a:ea typeface="楷体_GB2312" pitchFamily="49" charset="-122"/>
                    </a:rPr>
                    <a:t>源代码文件</a:t>
                  </a:r>
                  <a:endParaRPr kumimoji="1" lang="zh-CN" altLang="en-US"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856" name="Rectangle 32"/>
                <p:cNvSpPr>
                  <a:spLocks noChangeArrowheads="1"/>
                </p:cNvSpPr>
                <p:nvPr/>
              </p:nvSpPr>
              <p:spPr bwMode="auto">
                <a:xfrm>
                  <a:off x="1006" y="1688"/>
                  <a:ext cx="1967" cy="422"/>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48" name="Group 33"/>
              <p:cNvGrpSpPr>
                <a:grpSpLocks/>
              </p:cNvGrpSpPr>
              <p:nvPr/>
            </p:nvGrpSpPr>
            <p:grpSpPr bwMode="auto">
              <a:xfrm>
                <a:off x="0" y="2110"/>
                <a:ext cx="1006" cy="422"/>
                <a:chOff x="0" y="2110"/>
                <a:chExt cx="1006" cy="422"/>
              </a:xfrm>
            </p:grpSpPr>
            <p:sp>
              <p:nvSpPr>
                <p:cNvPr id="18494" name="Rectangle 34"/>
                <p:cNvSpPr>
                  <a:spLocks noChangeArrowheads="1"/>
                </p:cNvSpPr>
                <p:nvPr/>
              </p:nvSpPr>
              <p:spPr bwMode="auto">
                <a:xfrm>
                  <a:off x="43" y="2110"/>
                  <a:ext cx="92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en-US" altLang="zh-CN" sz="2400" b="0">
                      <a:solidFill>
                        <a:srgbClr val="002060"/>
                      </a:solidFill>
                      <a:latin typeface="Times New Roman" panose="02020603050405020304" pitchFamily="18" charset="0"/>
                      <a:ea typeface="楷体_GB2312" pitchFamily="49" charset="-122"/>
                    </a:rPr>
                    <a:t>.s</a:t>
                  </a:r>
                  <a:endParaRPr kumimoji="1" lang="en-US" altLang="zh-CN"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859" name="Rectangle 35"/>
                <p:cNvSpPr>
                  <a:spLocks noChangeArrowheads="1"/>
                </p:cNvSpPr>
                <p:nvPr/>
              </p:nvSpPr>
              <p:spPr bwMode="auto">
                <a:xfrm>
                  <a:off x="0" y="2112"/>
                  <a:ext cx="1006" cy="418"/>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49" name="Group 36"/>
              <p:cNvGrpSpPr>
                <a:grpSpLocks/>
              </p:cNvGrpSpPr>
              <p:nvPr/>
            </p:nvGrpSpPr>
            <p:grpSpPr bwMode="auto">
              <a:xfrm>
                <a:off x="1006" y="2110"/>
                <a:ext cx="1966" cy="422"/>
                <a:chOff x="1006" y="2110"/>
                <a:chExt cx="1966" cy="422"/>
              </a:xfrm>
            </p:grpSpPr>
            <p:sp>
              <p:nvSpPr>
                <p:cNvPr id="18492" name="Rectangle 37"/>
                <p:cNvSpPr>
                  <a:spLocks noChangeArrowheads="1"/>
                </p:cNvSpPr>
                <p:nvPr/>
              </p:nvSpPr>
              <p:spPr bwMode="auto">
                <a:xfrm>
                  <a:off x="1049" y="2110"/>
                  <a:ext cx="18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2400" b="0">
                      <a:solidFill>
                        <a:srgbClr val="002060"/>
                      </a:solidFill>
                      <a:latin typeface="Times New Roman" panose="02020603050405020304" pitchFamily="18" charset="0"/>
                      <a:ea typeface="楷体_GB2312" pitchFamily="49" charset="-122"/>
                    </a:rPr>
                    <a:t>汇编语言源代码文件</a:t>
                  </a:r>
                  <a:endParaRPr kumimoji="1" lang="zh-CN" altLang="en-US"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862" name="Rectangle 38"/>
                <p:cNvSpPr>
                  <a:spLocks noChangeArrowheads="1"/>
                </p:cNvSpPr>
                <p:nvPr/>
              </p:nvSpPr>
              <p:spPr bwMode="auto">
                <a:xfrm>
                  <a:off x="1006" y="2112"/>
                  <a:ext cx="1967" cy="418"/>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50" name="Group 39"/>
              <p:cNvGrpSpPr>
                <a:grpSpLocks/>
              </p:cNvGrpSpPr>
              <p:nvPr/>
            </p:nvGrpSpPr>
            <p:grpSpPr bwMode="auto">
              <a:xfrm>
                <a:off x="0" y="2532"/>
                <a:ext cx="1006" cy="422"/>
                <a:chOff x="0" y="2532"/>
                <a:chExt cx="1006" cy="422"/>
              </a:xfrm>
            </p:grpSpPr>
            <p:sp>
              <p:nvSpPr>
                <p:cNvPr id="18490" name="Rectangle 40"/>
                <p:cNvSpPr>
                  <a:spLocks noChangeArrowheads="1"/>
                </p:cNvSpPr>
                <p:nvPr/>
              </p:nvSpPr>
              <p:spPr bwMode="auto">
                <a:xfrm>
                  <a:off x="43" y="2532"/>
                  <a:ext cx="92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en-US" altLang="zh-CN" sz="2400" b="0">
                      <a:solidFill>
                        <a:srgbClr val="002060"/>
                      </a:solidFill>
                      <a:latin typeface="Times New Roman" panose="02020603050405020304" pitchFamily="18" charset="0"/>
                      <a:ea typeface="楷体_GB2312" pitchFamily="49" charset="-122"/>
                    </a:rPr>
                    <a:t>.h</a:t>
                  </a:r>
                  <a:endParaRPr kumimoji="1" lang="en-US" altLang="zh-CN"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865" name="Rectangle 41"/>
                <p:cNvSpPr>
                  <a:spLocks noChangeArrowheads="1"/>
                </p:cNvSpPr>
                <p:nvPr/>
              </p:nvSpPr>
              <p:spPr bwMode="auto">
                <a:xfrm>
                  <a:off x="0" y="2532"/>
                  <a:ext cx="1006" cy="422"/>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51" name="Group 42"/>
              <p:cNvGrpSpPr>
                <a:grpSpLocks/>
              </p:cNvGrpSpPr>
              <p:nvPr/>
            </p:nvGrpSpPr>
            <p:grpSpPr bwMode="auto">
              <a:xfrm>
                <a:off x="1006" y="2532"/>
                <a:ext cx="1966" cy="422"/>
                <a:chOff x="1006" y="2532"/>
                <a:chExt cx="1966" cy="422"/>
              </a:xfrm>
            </p:grpSpPr>
            <p:sp>
              <p:nvSpPr>
                <p:cNvPr id="18488" name="Rectangle 43"/>
                <p:cNvSpPr>
                  <a:spLocks noChangeArrowheads="1"/>
                </p:cNvSpPr>
                <p:nvPr/>
              </p:nvSpPr>
              <p:spPr bwMode="auto">
                <a:xfrm>
                  <a:off x="1049" y="2532"/>
                  <a:ext cx="18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2400" b="0">
                      <a:solidFill>
                        <a:srgbClr val="002060"/>
                      </a:solidFill>
                      <a:latin typeface="Times New Roman" panose="02020603050405020304" pitchFamily="18" charset="0"/>
                      <a:ea typeface="楷体_GB2312" pitchFamily="49" charset="-122"/>
                    </a:rPr>
                    <a:t>程序所包含的头文件</a:t>
                  </a:r>
                  <a:endParaRPr kumimoji="1" lang="zh-CN" altLang="en-US"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868" name="Rectangle 44"/>
                <p:cNvSpPr>
                  <a:spLocks noChangeArrowheads="1"/>
                </p:cNvSpPr>
                <p:nvPr/>
              </p:nvSpPr>
              <p:spPr bwMode="auto">
                <a:xfrm>
                  <a:off x="1006" y="2532"/>
                  <a:ext cx="1967" cy="422"/>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52" name="Group 45"/>
              <p:cNvGrpSpPr>
                <a:grpSpLocks/>
              </p:cNvGrpSpPr>
              <p:nvPr/>
            </p:nvGrpSpPr>
            <p:grpSpPr bwMode="auto">
              <a:xfrm>
                <a:off x="0" y="2954"/>
                <a:ext cx="1006" cy="422"/>
                <a:chOff x="0" y="2954"/>
                <a:chExt cx="1006" cy="422"/>
              </a:xfrm>
            </p:grpSpPr>
            <p:sp>
              <p:nvSpPr>
                <p:cNvPr id="18486" name="Rectangle 46"/>
                <p:cNvSpPr>
                  <a:spLocks noChangeArrowheads="1"/>
                </p:cNvSpPr>
                <p:nvPr/>
              </p:nvSpPr>
              <p:spPr bwMode="auto">
                <a:xfrm>
                  <a:off x="43" y="2954"/>
                  <a:ext cx="92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en-US" altLang="zh-CN" sz="2400" b="0">
                      <a:solidFill>
                        <a:srgbClr val="002060"/>
                      </a:solidFill>
                      <a:latin typeface="Times New Roman" panose="02020603050405020304" pitchFamily="18" charset="0"/>
                      <a:ea typeface="楷体_GB2312" pitchFamily="49" charset="-122"/>
                    </a:rPr>
                    <a:t>.i</a:t>
                  </a:r>
                  <a:endParaRPr kumimoji="1" lang="en-US" altLang="zh-CN"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871" name="Rectangle 47"/>
                <p:cNvSpPr>
                  <a:spLocks noChangeArrowheads="1"/>
                </p:cNvSpPr>
                <p:nvPr/>
              </p:nvSpPr>
              <p:spPr bwMode="auto">
                <a:xfrm>
                  <a:off x="0" y="2954"/>
                  <a:ext cx="1006" cy="422"/>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53" name="Group 48"/>
              <p:cNvGrpSpPr>
                <a:grpSpLocks/>
              </p:cNvGrpSpPr>
              <p:nvPr/>
            </p:nvGrpSpPr>
            <p:grpSpPr bwMode="auto">
              <a:xfrm>
                <a:off x="1006" y="2954"/>
                <a:ext cx="1966" cy="422"/>
                <a:chOff x="1006" y="2954"/>
                <a:chExt cx="1966" cy="422"/>
              </a:xfrm>
            </p:grpSpPr>
            <p:sp>
              <p:nvSpPr>
                <p:cNvPr id="18484" name="Rectangle 49"/>
                <p:cNvSpPr>
                  <a:spLocks noChangeArrowheads="1"/>
                </p:cNvSpPr>
                <p:nvPr/>
              </p:nvSpPr>
              <p:spPr bwMode="auto">
                <a:xfrm>
                  <a:off x="1049" y="2954"/>
                  <a:ext cx="18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2400" b="0">
                      <a:solidFill>
                        <a:srgbClr val="002060"/>
                      </a:solidFill>
                      <a:latin typeface="Times New Roman" panose="02020603050405020304" pitchFamily="18" charset="0"/>
                      <a:ea typeface="楷体_GB2312" pitchFamily="49" charset="-122"/>
                    </a:rPr>
                    <a:t>已预处理过的</a:t>
                  </a:r>
                  <a:r>
                    <a:rPr kumimoji="1" lang="en-US" altLang="zh-CN" sz="2400" b="0">
                      <a:solidFill>
                        <a:srgbClr val="002060"/>
                      </a:solidFill>
                      <a:latin typeface="Times New Roman" panose="02020603050405020304" pitchFamily="18" charset="0"/>
                      <a:ea typeface="楷体_GB2312" pitchFamily="49" charset="-122"/>
                    </a:rPr>
                    <a:t>C</a:t>
                  </a:r>
                  <a:r>
                    <a:rPr kumimoji="1" lang="zh-CN" altLang="en-US" sz="2400" b="0">
                      <a:solidFill>
                        <a:srgbClr val="002060"/>
                      </a:solidFill>
                      <a:latin typeface="Times New Roman" panose="02020603050405020304" pitchFamily="18" charset="0"/>
                      <a:ea typeface="楷体_GB2312" pitchFamily="49" charset="-122"/>
                    </a:rPr>
                    <a:t>源代码文件</a:t>
                  </a:r>
                  <a:endParaRPr kumimoji="1" lang="zh-CN" altLang="en-US"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874" name="Rectangle 50"/>
                <p:cNvSpPr>
                  <a:spLocks noChangeArrowheads="1"/>
                </p:cNvSpPr>
                <p:nvPr/>
              </p:nvSpPr>
              <p:spPr bwMode="auto">
                <a:xfrm>
                  <a:off x="1006" y="2954"/>
                  <a:ext cx="1967" cy="422"/>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54" name="Group 51"/>
              <p:cNvGrpSpPr>
                <a:grpSpLocks/>
              </p:cNvGrpSpPr>
              <p:nvPr/>
            </p:nvGrpSpPr>
            <p:grpSpPr bwMode="auto">
              <a:xfrm>
                <a:off x="0" y="3376"/>
                <a:ext cx="1006" cy="422"/>
                <a:chOff x="0" y="3376"/>
                <a:chExt cx="1006" cy="422"/>
              </a:xfrm>
            </p:grpSpPr>
            <p:sp>
              <p:nvSpPr>
                <p:cNvPr id="18482" name="Rectangle 52"/>
                <p:cNvSpPr>
                  <a:spLocks noChangeArrowheads="1"/>
                </p:cNvSpPr>
                <p:nvPr/>
              </p:nvSpPr>
              <p:spPr bwMode="auto">
                <a:xfrm>
                  <a:off x="43" y="3376"/>
                  <a:ext cx="92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en-US" altLang="zh-CN" sz="2400" b="0">
                      <a:solidFill>
                        <a:srgbClr val="002060"/>
                      </a:solidFill>
                      <a:latin typeface="Times New Roman" panose="02020603050405020304" pitchFamily="18" charset="0"/>
                      <a:ea typeface="楷体_GB2312" pitchFamily="49" charset="-122"/>
                    </a:rPr>
                    <a:t>.ii</a:t>
                  </a:r>
                  <a:endParaRPr kumimoji="1" lang="en-US" altLang="zh-CN"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877" name="Rectangle 53"/>
                <p:cNvSpPr>
                  <a:spLocks noChangeArrowheads="1"/>
                </p:cNvSpPr>
                <p:nvPr/>
              </p:nvSpPr>
              <p:spPr bwMode="auto">
                <a:xfrm>
                  <a:off x="0" y="3376"/>
                  <a:ext cx="1006" cy="415"/>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55" name="Group 54"/>
              <p:cNvGrpSpPr>
                <a:grpSpLocks/>
              </p:cNvGrpSpPr>
              <p:nvPr/>
            </p:nvGrpSpPr>
            <p:grpSpPr bwMode="auto">
              <a:xfrm>
                <a:off x="1006" y="3376"/>
                <a:ext cx="1966" cy="422"/>
                <a:chOff x="1006" y="3376"/>
                <a:chExt cx="1966" cy="422"/>
              </a:xfrm>
            </p:grpSpPr>
            <p:sp>
              <p:nvSpPr>
                <p:cNvPr id="18480" name="Rectangle 55"/>
                <p:cNvSpPr>
                  <a:spLocks noChangeArrowheads="1"/>
                </p:cNvSpPr>
                <p:nvPr/>
              </p:nvSpPr>
              <p:spPr bwMode="auto">
                <a:xfrm>
                  <a:off x="1049" y="3376"/>
                  <a:ext cx="18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2400" b="0">
                      <a:solidFill>
                        <a:srgbClr val="002060"/>
                      </a:solidFill>
                      <a:latin typeface="Times New Roman" panose="02020603050405020304" pitchFamily="18" charset="0"/>
                      <a:ea typeface="楷体_GB2312" pitchFamily="49" charset="-122"/>
                    </a:rPr>
                    <a:t>已预处理过的</a:t>
                  </a:r>
                  <a:r>
                    <a:rPr kumimoji="1" lang="en-US" altLang="zh-CN" sz="2400" b="0">
                      <a:solidFill>
                        <a:srgbClr val="002060"/>
                      </a:solidFill>
                      <a:latin typeface="Times New Roman" panose="02020603050405020304" pitchFamily="18" charset="0"/>
                      <a:ea typeface="楷体_GB2312" pitchFamily="49" charset="-122"/>
                    </a:rPr>
                    <a:t>C++</a:t>
                  </a:r>
                  <a:r>
                    <a:rPr kumimoji="1" lang="zh-CN" altLang="en-US" sz="2400" b="0">
                      <a:solidFill>
                        <a:srgbClr val="002060"/>
                      </a:solidFill>
                      <a:latin typeface="Times New Roman" panose="02020603050405020304" pitchFamily="18" charset="0"/>
                      <a:ea typeface="楷体_GB2312" pitchFamily="49" charset="-122"/>
                    </a:rPr>
                    <a:t>源代码文件</a:t>
                  </a:r>
                  <a:endParaRPr kumimoji="1" lang="zh-CN" altLang="en-US"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880" name="Rectangle 56"/>
                <p:cNvSpPr>
                  <a:spLocks noChangeArrowheads="1"/>
                </p:cNvSpPr>
                <p:nvPr/>
              </p:nvSpPr>
              <p:spPr bwMode="auto">
                <a:xfrm>
                  <a:off x="1006" y="3376"/>
                  <a:ext cx="1967" cy="415"/>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56" name="Group 57"/>
              <p:cNvGrpSpPr>
                <a:grpSpLocks/>
              </p:cNvGrpSpPr>
              <p:nvPr/>
            </p:nvGrpSpPr>
            <p:grpSpPr bwMode="auto">
              <a:xfrm>
                <a:off x="0" y="3798"/>
                <a:ext cx="1006" cy="422"/>
                <a:chOff x="0" y="3798"/>
                <a:chExt cx="1006" cy="422"/>
              </a:xfrm>
            </p:grpSpPr>
            <p:sp>
              <p:nvSpPr>
                <p:cNvPr id="18478" name="Rectangle 58"/>
                <p:cNvSpPr>
                  <a:spLocks noChangeArrowheads="1"/>
                </p:cNvSpPr>
                <p:nvPr/>
              </p:nvSpPr>
              <p:spPr bwMode="auto">
                <a:xfrm>
                  <a:off x="43" y="3798"/>
                  <a:ext cx="92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en-US" altLang="zh-CN" sz="2400" b="0">
                      <a:solidFill>
                        <a:srgbClr val="002060"/>
                      </a:solidFill>
                      <a:latin typeface="Times New Roman" panose="02020603050405020304" pitchFamily="18" charset="0"/>
                      <a:ea typeface="楷体_GB2312" pitchFamily="49" charset="-122"/>
                    </a:rPr>
                    <a:t>.S</a:t>
                  </a:r>
                  <a:endParaRPr kumimoji="1" lang="en-US" altLang="zh-CN"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883" name="Rectangle 59"/>
                <p:cNvSpPr>
                  <a:spLocks noChangeArrowheads="1"/>
                </p:cNvSpPr>
                <p:nvPr/>
              </p:nvSpPr>
              <p:spPr bwMode="auto">
                <a:xfrm>
                  <a:off x="0" y="3796"/>
                  <a:ext cx="1006" cy="422"/>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57" name="Group 60"/>
              <p:cNvGrpSpPr>
                <a:grpSpLocks/>
              </p:cNvGrpSpPr>
              <p:nvPr/>
            </p:nvGrpSpPr>
            <p:grpSpPr bwMode="auto">
              <a:xfrm>
                <a:off x="1006" y="3798"/>
                <a:ext cx="1966" cy="422"/>
                <a:chOff x="1006" y="3798"/>
                <a:chExt cx="1966" cy="422"/>
              </a:xfrm>
            </p:grpSpPr>
            <p:sp>
              <p:nvSpPr>
                <p:cNvPr id="18476" name="Rectangle 61"/>
                <p:cNvSpPr>
                  <a:spLocks noChangeArrowheads="1"/>
                </p:cNvSpPr>
                <p:nvPr/>
              </p:nvSpPr>
              <p:spPr bwMode="auto">
                <a:xfrm>
                  <a:off x="1049" y="3798"/>
                  <a:ext cx="18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2400" b="0">
                      <a:solidFill>
                        <a:srgbClr val="002060"/>
                      </a:solidFill>
                      <a:latin typeface="Times New Roman" panose="02020603050405020304" pitchFamily="18" charset="0"/>
                      <a:ea typeface="楷体_GB2312" pitchFamily="49" charset="-122"/>
                    </a:rPr>
                    <a:t>已预编译的汇编语言源代码文件</a:t>
                  </a:r>
                  <a:endParaRPr kumimoji="1" lang="zh-CN" altLang="en-US"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886" name="Rectangle 62"/>
                <p:cNvSpPr>
                  <a:spLocks noChangeArrowheads="1"/>
                </p:cNvSpPr>
                <p:nvPr/>
              </p:nvSpPr>
              <p:spPr bwMode="auto">
                <a:xfrm>
                  <a:off x="1006" y="3796"/>
                  <a:ext cx="1967" cy="422"/>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58" name="Group 63"/>
              <p:cNvGrpSpPr>
                <a:grpSpLocks/>
              </p:cNvGrpSpPr>
              <p:nvPr/>
            </p:nvGrpSpPr>
            <p:grpSpPr bwMode="auto">
              <a:xfrm>
                <a:off x="0" y="4220"/>
                <a:ext cx="1006" cy="422"/>
                <a:chOff x="0" y="4220"/>
                <a:chExt cx="1006" cy="422"/>
              </a:xfrm>
            </p:grpSpPr>
            <p:sp>
              <p:nvSpPr>
                <p:cNvPr id="18474" name="Rectangle 64"/>
                <p:cNvSpPr>
                  <a:spLocks noChangeArrowheads="1"/>
                </p:cNvSpPr>
                <p:nvPr/>
              </p:nvSpPr>
              <p:spPr bwMode="auto">
                <a:xfrm>
                  <a:off x="43" y="4220"/>
                  <a:ext cx="92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en-US" altLang="zh-CN" sz="2400" b="0">
                      <a:solidFill>
                        <a:srgbClr val="002060"/>
                      </a:solidFill>
                      <a:latin typeface="Times New Roman" panose="02020603050405020304" pitchFamily="18" charset="0"/>
                      <a:ea typeface="楷体_GB2312" pitchFamily="49" charset="-122"/>
                    </a:rPr>
                    <a:t>.o</a:t>
                  </a:r>
                  <a:endParaRPr kumimoji="1" lang="en-US" altLang="zh-CN"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889" name="Rectangle 65"/>
                <p:cNvSpPr>
                  <a:spLocks noChangeArrowheads="1"/>
                </p:cNvSpPr>
                <p:nvPr/>
              </p:nvSpPr>
              <p:spPr bwMode="auto">
                <a:xfrm>
                  <a:off x="0" y="4220"/>
                  <a:ext cx="1006" cy="422"/>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59" name="Group 66"/>
              <p:cNvGrpSpPr>
                <a:grpSpLocks/>
              </p:cNvGrpSpPr>
              <p:nvPr/>
            </p:nvGrpSpPr>
            <p:grpSpPr bwMode="auto">
              <a:xfrm>
                <a:off x="1006" y="4220"/>
                <a:ext cx="1966" cy="422"/>
                <a:chOff x="1006" y="4220"/>
                <a:chExt cx="1966" cy="422"/>
              </a:xfrm>
            </p:grpSpPr>
            <p:sp>
              <p:nvSpPr>
                <p:cNvPr id="18472" name="Rectangle 67"/>
                <p:cNvSpPr>
                  <a:spLocks noChangeArrowheads="1"/>
                </p:cNvSpPr>
                <p:nvPr/>
              </p:nvSpPr>
              <p:spPr bwMode="auto">
                <a:xfrm>
                  <a:off x="1049" y="4220"/>
                  <a:ext cx="18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2400" b="0">
                      <a:solidFill>
                        <a:srgbClr val="002060"/>
                      </a:solidFill>
                      <a:latin typeface="Times New Roman" panose="02020603050405020304" pitchFamily="18" charset="0"/>
                      <a:ea typeface="楷体_GB2312" pitchFamily="49" charset="-122"/>
                    </a:rPr>
                    <a:t>编译后的目标文件</a:t>
                  </a:r>
                  <a:endParaRPr kumimoji="1" lang="zh-CN" altLang="en-US"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892" name="Rectangle 68"/>
                <p:cNvSpPr>
                  <a:spLocks noChangeArrowheads="1"/>
                </p:cNvSpPr>
                <p:nvPr/>
              </p:nvSpPr>
              <p:spPr bwMode="auto">
                <a:xfrm>
                  <a:off x="1006" y="4220"/>
                  <a:ext cx="1967" cy="422"/>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60" name="Group 69"/>
              <p:cNvGrpSpPr>
                <a:grpSpLocks/>
              </p:cNvGrpSpPr>
              <p:nvPr/>
            </p:nvGrpSpPr>
            <p:grpSpPr bwMode="auto">
              <a:xfrm>
                <a:off x="0" y="4642"/>
                <a:ext cx="1006" cy="422"/>
                <a:chOff x="0" y="4642"/>
                <a:chExt cx="1006" cy="422"/>
              </a:xfrm>
            </p:grpSpPr>
            <p:sp>
              <p:nvSpPr>
                <p:cNvPr id="18470" name="Rectangle 70"/>
                <p:cNvSpPr>
                  <a:spLocks noChangeArrowheads="1"/>
                </p:cNvSpPr>
                <p:nvPr/>
              </p:nvSpPr>
              <p:spPr bwMode="auto">
                <a:xfrm>
                  <a:off x="43" y="4642"/>
                  <a:ext cx="92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en-US" altLang="zh-CN" sz="2400" b="0">
                      <a:solidFill>
                        <a:srgbClr val="002060"/>
                      </a:solidFill>
                      <a:latin typeface="Times New Roman" panose="02020603050405020304" pitchFamily="18" charset="0"/>
                      <a:ea typeface="楷体_GB2312" pitchFamily="49" charset="-122"/>
                    </a:rPr>
                    <a:t>.so</a:t>
                  </a:r>
                  <a:endParaRPr kumimoji="1" lang="en-US" altLang="zh-CN"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895" name="Rectangle 71"/>
                <p:cNvSpPr>
                  <a:spLocks noChangeArrowheads="1"/>
                </p:cNvSpPr>
                <p:nvPr/>
              </p:nvSpPr>
              <p:spPr bwMode="auto">
                <a:xfrm>
                  <a:off x="0" y="4642"/>
                  <a:ext cx="1006" cy="415"/>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61" name="Group 72"/>
              <p:cNvGrpSpPr>
                <a:grpSpLocks/>
              </p:cNvGrpSpPr>
              <p:nvPr/>
            </p:nvGrpSpPr>
            <p:grpSpPr bwMode="auto">
              <a:xfrm>
                <a:off x="1006" y="4642"/>
                <a:ext cx="1966" cy="422"/>
                <a:chOff x="1006" y="4642"/>
                <a:chExt cx="1966" cy="422"/>
              </a:xfrm>
            </p:grpSpPr>
            <p:sp>
              <p:nvSpPr>
                <p:cNvPr id="18468" name="Rectangle 73"/>
                <p:cNvSpPr>
                  <a:spLocks noChangeArrowheads="1"/>
                </p:cNvSpPr>
                <p:nvPr/>
              </p:nvSpPr>
              <p:spPr bwMode="auto">
                <a:xfrm>
                  <a:off x="1049" y="4642"/>
                  <a:ext cx="18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2400" b="0">
                      <a:solidFill>
                        <a:srgbClr val="002060"/>
                      </a:solidFill>
                      <a:latin typeface="Times New Roman" panose="02020603050405020304" pitchFamily="18" charset="0"/>
                      <a:ea typeface="楷体_GB2312" pitchFamily="49" charset="-122"/>
                    </a:rPr>
                    <a:t>目标文件构成的动态库文件</a:t>
                  </a:r>
                  <a:endParaRPr kumimoji="1" lang="zh-CN" altLang="en-US"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898" name="Rectangle 74"/>
                <p:cNvSpPr>
                  <a:spLocks noChangeArrowheads="1"/>
                </p:cNvSpPr>
                <p:nvPr/>
              </p:nvSpPr>
              <p:spPr bwMode="auto">
                <a:xfrm>
                  <a:off x="1006" y="4642"/>
                  <a:ext cx="1967" cy="415"/>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62" name="Group 75"/>
              <p:cNvGrpSpPr>
                <a:grpSpLocks/>
              </p:cNvGrpSpPr>
              <p:nvPr/>
            </p:nvGrpSpPr>
            <p:grpSpPr bwMode="auto">
              <a:xfrm>
                <a:off x="0" y="5064"/>
                <a:ext cx="1006" cy="422"/>
                <a:chOff x="0" y="5064"/>
                <a:chExt cx="1006" cy="422"/>
              </a:xfrm>
            </p:grpSpPr>
            <p:sp>
              <p:nvSpPr>
                <p:cNvPr id="18466" name="Rectangle 76"/>
                <p:cNvSpPr>
                  <a:spLocks noChangeArrowheads="1"/>
                </p:cNvSpPr>
                <p:nvPr/>
              </p:nvSpPr>
              <p:spPr bwMode="auto">
                <a:xfrm>
                  <a:off x="43" y="5064"/>
                  <a:ext cx="92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en-US" altLang="zh-CN" sz="2400" b="0">
                      <a:solidFill>
                        <a:srgbClr val="002060"/>
                      </a:solidFill>
                      <a:latin typeface="Times New Roman" panose="02020603050405020304" pitchFamily="18" charset="0"/>
                      <a:ea typeface="楷体_GB2312" pitchFamily="49" charset="-122"/>
                    </a:rPr>
                    <a:t>.a</a:t>
                  </a:r>
                  <a:endParaRPr kumimoji="1" lang="en-US" altLang="zh-CN"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901" name="Rectangle 77"/>
                <p:cNvSpPr>
                  <a:spLocks noChangeArrowheads="1"/>
                </p:cNvSpPr>
                <p:nvPr/>
              </p:nvSpPr>
              <p:spPr bwMode="auto">
                <a:xfrm>
                  <a:off x="0" y="5062"/>
                  <a:ext cx="1006" cy="422"/>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nvGrpSpPr>
              <p:cNvPr id="18463" name="Group 78"/>
              <p:cNvGrpSpPr>
                <a:grpSpLocks/>
              </p:cNvGrpSpPr>
              <p:nvPr/>
            </p:nvGrpSpPr>
            <p:grpSpPr bwMode="auto">
              <a:xfrm>
                <a:off x="1006" y="5064"/>
                <a:ext cx="1966" cy="422"/>
                <a:chOff x="1006" y="5064"/>
                <a:chExt cx="1966" cy="422"/>
              </a:xfrm>
            </p:grpSpPr>
            <p:sp>
              <p:nvSpPr>
                <p:cNvPr id="18464" name="Rectangle 79"/>
                <p:cNvSpPr>
                  <a:spLocks noChangeArrowheads="1"/>
                </p:cNvSpPr>
                <p:nvPr/>
              </p:nvSpPr>
              <p:spPr bwMode="auto">
                <a:xfrm>
                  <a:off x="1049" y="5064"/>
                  <a:ext cx="18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2400" b="0">
                      <a:solidFill>
                        <a:srgbClr val="002060"/>
                      </a:solidFill>
                      <a:latin typeface="Times New Roman" panose="02020603050405020304" pitchFamily="18" charset="0"/>
                      <a:ea typeface="楷体_GB2312" pitchFamily="49" charset="-122"/>
                    </a:rPr>
                    <a:t>目标文件构成的静态库文件</a:t>
                  </a:r>
                  <a:endParaRPr kumimoji="1" lang="zh-CN" altLang="en-US" sz="1800" b="0">
                    <a:solidFill>
                      <a:srgbClr val="002060"/>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4000" b="0">
                    <a:solidFill>
                      <a:srgbClr val="002060"/>
                    </a:solidFill>
                    <a:latin typeface="Times New Roman" panose="02020603050405020304" pitchFamily="18" charset="0"/>
                    <a:ea typeface="宋体" panose="02010600030101010101" pitchFamily="2" charset="-122"/>
                  </a:endParaRPr>
                </a:p>
              </p:txBody>
            </p:sp>
            <p:sp>
              <p:nvSpPr>
                <p:cNvPr id="333904" name="Rectangle 80"/>
                <p:cNvSpPr>
                  <a:spLocks noChangeArrowheads="1"/>
                </p:cNvSpPr>
                <p:nvPr/>
              </p:nvSpPr>
              <p:spPr bwMode="auto">
                <a:xfrm>
                  <a:off x="1006" y="5062"/>
                  <a:ext cx="1967" cy="422"/>
                </a:xfrm>
                <a:prstGeom prst="rect">
                  <a:avLst/>
                </a:prstGeom>
                <a:noFill/>
                <a:ln w="7">
                  <a:solidFill>
                    <a:srgbClr val="A0A0A0"/>
                  </a:solidFill>
                  <a:miter lim="800000"/>
                  <a:headEnd/>
                  <a:tailEnd/>
                </a:ln>
                <a:effectLst/>
              </p:spPr>
              <p:txBody>
                <a:bodyPr/>
                <a:lstStyle/>
                <a:p>
                  <a:pPr algn="ctr" eaLnBrk="1" hangingPunct="1">
                    <a:defRPr/>
                  </a:pPr>
                  <a:endParaRPr lang="zh-CN" altLang="en-US" sz="1800">
                    <a:solidFill>
                      <a:srgbClr val="002060"/>
                    </a:solidFill>
                    <a:effectLst>
                      <a:outerShdw blurRad="38100" dist="38100" dir="2700000" algn="tl">
                        <a:srgbClr val="000000">
                          <a:alpha val="43137"/>
                        </a:srgbClr>
                      </a:outerShdw>
                    </a:effectLst>
                    <a:latin typeface="Verdana" pitchFamily="34" charset="0"/>
                    <a:ea typeface="宋体" pitchFamily="2" charset="-122"/>
                  </a:endParaRPr>
                </a:p>
              </p:txBody>
            </p:sp>
          </p:grpSp>
        </p:grpSp>
        <p:sp>
          <p:nvSpPr>
            <p:cNvPr id="333905" name="Rectangle 81"/>
            <p:cNvSpPr>
              <a:spLocks noChangeArrowheads="1"/>
            </p:cNvSpPr>
            <p:nvPr/>
          </p:nvSpPr>
          <p:spPr bwMode="auto">
            <a:xfrm>
              <a:off x="-3" y="419"/>
              <a:ext cx="2978" cy="5070"/>
            </a:xfrm>
            <a:prstGeom prst="rect">
              <a:avLst/>
            </a:prstGeom>
            <a:noFill/>
            <a:ln w="9525">
              <a:solidFill>
                <a:srgbClr val="A0A0A0"/>
              </a:solidFill>
              <a:miter lim="800000"/>
              <a:headEnd/>
              <a:tailEnd/>
            </a:ln>
            <a:effectLst/>
          </p:spPr>
          <p:txBody>
            <a:bodyPr/>
            <a:lstStyle/>
            <a:p>
              <a:pPr algn="ctr" eaLnBrk="1" hangingPunct="1">
                <a:defRPr/>
              </a:pPr>
              <a:endParaRPr lang="zh-CN" altLang="en-US" sz="1800" dirty="0">
                <a:solidFill>
                  <a:srgbClr val="002060"/>
                </a:solidFill>
                <a:effectLst>
                  <a:outerShdw blurRad="38100" dist="38100" dir="2700000" algn="tl">
                    <a:srgbClr val="C0C0C0"/>
                  </a:outerShdw>
                </a:effectLst>
                <a:latin typeface="Verdana" pitchFamily="34" charset="0"/>
              </a:endParaRPr>
            </a:p>
          </p:txBody>
        </p:sp>
      </p:grpSp>
      <p:sp>
        <p:nvSpPr>
          <p:cNvPr id="18435" name="Rectangle 82"/>
          <p:cNvSpPr>
            <a:spLocks noChangeArrowheads="1"/>
          </p:cNvSpPr>
          <p:nvPr/>
        </p:nvSpPr>
        <p:spPr bwMode="auto">
          <a:xfrm>
            <a:off x="0" y="8713788"/>
            <a:ext cx="91440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en-US" altLang="zh-CN" sz="1400" b="0">
                <a:solidFill>
                  <a:schemeClr val="tx1"/>
                </a:solidFill>
                <a:latin typeface="Times New Roman" panose="02020603050405020304" pitchFamily="18" charset="0"/>
                <a:ea typeface="楷体_GB2312" pitchFamily="49" charset="-122"/>
              </a:rPr>
              <a:t> </a:t>
            </a:r>
            <a:endParaRPr kumimoji="1" lang="en-US" altLang="zh-CN" sz="1000" b="0">
              <a:solidFill>
                <a:schemeClr val="tx1"/>
              </a:solidFill>
              <a:latin typeface="Times New Roman" panose="02020603050405020304" pitchFamily="18" charset="0"/>
              <a:ea typeface="宋体" panose="02010600030101010101" pitchFamily="2" charset="-122"/>
            </a:endParaRPr>
          </a:p>
          <a:p>
            <a:pPr>
              <a:spcBef>
                <a:spcPct val="0"/>
              </a:spcBef>
              <a:buClrTx/>
              <a:buFontTx/>
              <a:buNone/>
            </a:pPr>
            <a:endParaRPr kumimoji="1" lang="en-US" altLang="zh-CN" sz="2400" b="0">
              <a:solidFill>
                <a:schemeClr val="tx1"/>
              </a:solidFill>
              <a:latin typeface="Times New Roman" panose="02020603050405020304" pitchFamily="18" charset="0"/>
              <a:ea typeface="宋体" panose="02010600030101010101" pitchFamily="2" charset="-122"/>
            </a:endParaRPr>
          </a:p>
        </p:txBody>
      </p:sp>
      <p:sp>
        <p:nvSpPr>
          <p:cNvPr id="18436" name="Text Box 83"/>
          <p:cNvSpPr txBox="1">
            <a:spLocks noChangeArrowheads="1"/>
          </p:cNvSpPr>
          <p:nvPr/>
        </p:nvSpPr>
        <p:spPr bwMode="auto">
          <a:xfrm>
            <a:off x="2362200" y="6264275"/>
            <a:ext cx="4648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50000"/>
              </a:spcBef>
              <a:buClrTx/>
              <a:buFontTx/>
              <a:buNone/>
            </a:pPr>
            <a:r>
              <a:rPr kumimoji="1" lang="en-US" altLang="zh-CN" sz="2400">
                <a:solidFill>
                  <a:schemeClr val="tx1"/>
                </a:solidFill>
                <a:latin typeface="Times New Roman" panose="02020603050405020304" pitchFamily="18" charset="0"/>
                <a:ea typeface="楷体_GB2312" pitchFamily="49" charset="-122"/>
              </a:rPr>
              <a:t>Linux</a:t>
            </a:r>
            <a:r>
              <a:rPr kumimoji="1" lang="zh-CN" altLang="en-US" sz="2400">
                <a:solidFill>
                  <a:schemeClr val="tx1"/>
                </a:solidFill>
                <a:latin typeface="Times New Roman" panose="02020603050405020304" pitchFamily="18" charset="0"/>
                <a:ea typeface="楷体_GB2312" pitchFamily="49" charset="-122"/>
              </a:rPr>
              <a:t>程序文件的后缀名</a:t>
            </a:r>
            <a:r>
              <a:rPr kumimoji="1" lang="zh-CN" altLang="en-US" sz="2400" b="0">
                <a:solidFill>
                  <a:srgbClr val="FF6600"/>
                </a:solidFill>
                <a:latin typeface="Times New Roman" panose="02020603050405020304" pitchFamily="18" charset="0"/>
                <a:ea typeface="宋体" panose="02010600030101010101" pitchFamily="2" charset="-122"/>
              </a:rPr>
              <a:t> </a:t>
            </a:r>
          </a:p>
        </p:txBody>
      </p:sp>
      <p:sp>
        <p:nvSpPr>
          <p:cNvPr id="79" name="Rectangle 2"/>
          <p:cNvSpPr txBox="1">
            <a:spLocks noChangeArrowheads="1"/>
          </p:cNvSpPr>
          <p:nvPr/>
        </p:nvSpPr>
        <p:spPr bwMode="black">
          <a:xfrm>
            <a:off x="395288" y="260350"/>
            <a:ext cx="82296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defRPr/>
            </a:pPr>
            <a:r>
              <a:rPr lang="en-US" altLang="zh-CN" kern="0">
                <a:latin typeface="楷体_GB2312" pitchFamily="49" charset="-122"/>
                <a:ea typeface="楷体_GB2312" pitchFamily="49" charset="-122"/>
              </a:rPr>
              <a:t>7</a:t>
            </a:r>
            <a:r>
              <a:rPr lang="zh-CN" altLang="en-US" kern="0">
                <a:latin typeface="楷体_GB2312" pitchFamily="49" charset="-122"/>
                <a:ea typeface="楷体_GB2312" pitchFamily="49" charset="-122"/>
              </a:rPr>
              <a:t>、</a:t>
            </a:r>
            <a:r>
              <a:rPr lang="en-US" altLang="zh-CN" kern="0">
                <a:latin typeface="楷体_GB2312" pitchFamily="49" charset="-122"/>
                <a:ea typeface="楷体_GB2312" pitchFamily="49" charset="-122"/>
              </a:rPr>
              <a:t>Linux</a:t>
            </a:r>
            <a:r>
              <a:rPr lang="zh-CN" altLang="en-US" kern="0">
                <a:latin typeface="楷体_GB2312" pitchFamily="49" charset="-122"/>
                <a:ea typeface="楷体_GB2312" pitchFamily="49" charset="-122"/>
              </a:rPr>
              <a:t>内核分析方法</a:t>
            </a:r>
            <a:endParaRPr lang="zh-CN" altLang="en-US" kern="0" dirty="0">
              <a:latin typeface="楷体_GB2312" pitchFamily="49" charset="-122"/>
              <a:ea typeface="楷体_GB2312" pitchFamily="49" charset="-122"/>
            </a:endParaRPr>
          </a:p>
        </p:txBody>
      </p:sp>
    </p:spTree>
    <p:extLst>
      <p:ext uri="{BB962C8B-B14F-4D97-AF65-F5344CB8AC3E}">
        <p14:creationId xmlns:p14="http://schemas.microsoft.com/office/powerpoint/2010/main" val="1379979950"/>
      </p:ext>
    </p:extLst>
  </p:cSld>
  <p:clrMapOvr>
    <a:masterClrMapping/>
  </p:clrMapOvr>
  <p:transition>
    <p:strips dir="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84213" y="908050"/>
            <a:ext cx="6985001" cy="609600"/>
          </a:xfrm>
        </p:spPr>
        <p:txBody>
          <a:bodyPr/>
          <a:lstStyle/>
          <a:p>
            <a:pPr eaLnBrk="1" hangingPunct="1"/>
            <a:r>
              <a:rPr lang="zh-CN" altLang="en-US" sz="2800">
                <a:solidFill>
                  <a:srgbClr val="FF0000"/>
                </a:solidFill>
                <a:latin typeface="楷体_GB2312" pitchFamily="49" charset="-122"/>
                <a:ea typeface="楷体_GB2312" pitchFamily="49" charset="-122"/>
              </a:rPr>
              <a:t>分析和实验验证环境</a:t>
            </a:r>
            <a:r>
              <a:rPr lang="en-US" altLang="zh-CN" sz="2800">
                <a:solidFill>
                  <a:srgbClr val="FF0000"/>
                </a:solidFill>
                <a:latin typeface="楷体_GB2312" pitchFamily="49" charset="-122"/>
                <a:ea typeface="楷体_GB2312" pitchFamily="49" charset="-122"/>
              </a:rPr>
              <a:t>-VMvare</a:t>
            </a:r>
          </a:p>
        </p:txBody>
      </p:sp>
      <p:sp>
        <p:nvSpPr>
          <p:cNvPr id="50179" name="Rectangle 3"/>
          <p:cNvSpPr>
            <a:spLocks noGrp="1" noChangeArrowheads="1"/>
          </p:cNvSpPr>
          <p:nvPr>
            <p:ph type="body" idx="1"/>
          </p:nvPr>
        </p:nvSpPr>
        <p:spPr>
          <a:xfrm>
            <a:off x="382588" y="1652588"/>
            <a:ext cx="8291512" cy="5272087"/>
          </a:xfrm>
        </p:spPr>
        <p:txBody>
          <a:bodyPr/>
          <a:lstStyle/>
          <a:p>
            <a:pPr eaLnBrk="1" hangingPunct="1">
              <a:defRPr/>
            </a:pPr>
            <a:r>
              <a:rPr lang="zh-CN" altLang="en-US" dirty="0">
                <a:latin typeface="楷体_GB2312" pitchFamily="49" charset="-122"/>
                <a:ea typeface="楷体_GB2312" pitchFamily="49" charset="-122"/>
              </a:rPr>
              <a:t>模拟</a:t>
            </a:r>
            <a:r>
              <a:rPr lang="en-US" altLang="zh-CN" dirty="0">
                <a:latin typeface="楷体_GB2312" pitchFamily="49" charset="-122"/>
                <a:ea typeface="楷体_GB2312" pitchFamily="49" charset="-122"/>
              </a:rPr>
              <a:t>x86</a:t>
            </a:r>
            <a:r>
              <a:rPr lang="zh-CN" altLang="en-US" dirty="0">
                <a:latin typeface="楷体_GB2312" pitchFamily="49" charset="-122"/>
                <a:ea typeface="楷体_GB2312" pitchFamily="49" charset="-122"/>
              </a:rPr>
              <a:t>硬件平台</a:t>
            </a:r>
          </a:p>
          <a:p>
            <a:pPr eaLnBrk="1" hangingPunct="1">
              <a:defRPr/>
            </a:pPr>
            <a:r>
              <a:rPr lang="zh-CN" altLang="en-US" dirty="0">
                <a:latin typeface="楷体_GB2312" pitchFamily="49" charset="-122"/>
                <a:ea typeface="楷体_GB2312" pitchFamily="49" charset="-122"/>
              </a:rPr>
              <a:t>可以在</a:t>
            </a:r>
            <a:r>
              <a:rPr lang="en-US" altLang="zh-CN" dirty="0">
                <a:latin typeface="楷体_GB2312" pitchFamily="49" charset="-122"/>
                <a:ea typeface="楷体_GB2312" pitchFamily="49" charset="-122"/>
              </a:rPr>
              <a:t>Windows</a:t>
            </a:r>
            <a:r>
              <a:rPr lang="zh-CN" altLang="en-US" dirty="0">
                <a:latin typeface="楷体_GB2312" pitchFamily="49" charset="-122"/>
                <a:ea typeface="楷体_GB2312" pitchFamily="49" charset="-122"/>
              </a:rPr>
              <a:t>、</a:t>
            </a:r>
            <a:r>
              <a:rPr lang="en-US" altLang="zh-CN" dirty="0">
                <a:latin typeface="楷体_GB2312" pitchFamily="49" charset="-122"/>
                <a:ea typeface="楷体_GB2312" pitchFamily="49" charset="-122"/>
              </a:rPr>
              <a:t>Linux</a:t>
            </a:r>
            <a:r>
              <a:rPr lang="zh-CN" altLang="en-US" dirty="0">
                <a:latin typeface="楷体_GB2312" pitchFamily="49" charset="-122"/>
                <a:ea typeface="楷体_GB2312" pitchFamily="49" charset="-122"/>
              </a:rPr>
              <a:t>等平台上运行</a:t>
            </a:r>
          </a:p>
          <a:p>
            <a:pPr eaLnBrk="1" hangingPunct="1">
              <a:defRPr/>
            </a:pPr>
            <a:endParaRPr lang="zh-CN" altLang="en-US" dirty="0">
              <a:latin typeface="楷体_GB2312" pitchFamily="49" charset="-122"/>
              <a:ea typeface="楷体_GB2312" pitchFamily="49" charset="-122"/>
            </a:endParaRPr>
          </a:p>
          <a:p>
            <a:pPr eaLnBrk="1" hangingPunct="1">
              <a:defRPr/>
            </a:pPr>
            <a:r>
              <a:rPr lang="en-US" altLang="zh-CN" dirty="0" err="1">
                <a:latin typeface="楷体_GB2312" pitchFamily="49" charset="-122"/>
                <a:ea typeface="楷体_GB2312" pitchFamily="49" charset="-122"/>
              </a:rPr>
              <a:t>VMWare</a:t>
            </a:r>
            <a:r>
              <a:rPr lang="zh-CN" altLang="en-US" dirty="0">
                <a:latin typeface="楷体_GB2312" pitchFamily="49" charset="-122"/>
                <a:ea typeface="楷体_GB2312" pitchFamily="49" charset="-122"/>
              </a:rPr>
              <a:t>模拟出来的硬件包括：</a:t>
            </a:r>
          </a:p>
          <a:p>
            <a:pPr lvl="1" eaLnBrk="1" hangingPunct="1">
              <a:defRPr/>
            </a:pPr>
            <a:r>
              <a:rPr lang="zh-CN" altLang="en-US" dirty="0">
                <a:solidFill>
                  <a:srgbClr val="2B5681"/>
                </a:solidFill>
                <a:latin typeface="楷体_GB2312" pitchFamily="49" charset="-122"/>
                <a:ea typeface="楷体_GB2312" pitchFamily="49" charset="-122"/>
                <a:cs typeface="+mn-cs"/>
              </a:rPr>
              <a:t>主板、内存、硬盘</a:t>
            </a:r>
            <a:r>
              <a:rPr lang="en-US" altLang="zh-CN" dirty="0">
                <a:solidFill>
                  <a:srgbClr val="2B5681"/>
                </a:solidFill>
                <a:latin typeface="楷体_GB2312" pitchFamily="49" charset="-122"/>
                <a:ea typeface="楷体_GB2312" pitchFamily="49" charset="-122"/>
                <a:cs typeface="+mn-cs"/>
              </a:rPr>
              <a:t>(IDE</a:t>
            </a:r>
            <a:r>
              <a:rPr lang="zh-CN" altLang="en-US" dirty="0">
                <a:solidFill>
                  <a:srgbClr val="2B5681"/>
                </a:solidFill>
                <a:latin typeface="楷体_GB2312" pitchFamily="49" charset="-122"/>
                <a:ea typeface="楷体_GB2312" pitchFamily="49" charset="-122"/>
                <a:cs typeface="+mn-cs"/>
              </a:rPr>
              <a:t>和</a:t>
            </a:r>
            <a:r>
              <a:rPr lang="en-US" altLang="zh-CN" dirty="0">
                <a:solidFill>
                  <a:srgbClr val="2B5681"/>
                </a:solidFill>
                <a:latin typeface="楷体_GB2312" pitchFamily="49" charset="-122"/>
                <a:ea typeface="楷体_GB2312" pitchFamily="49" charset="-122"/>
                <a:cs typeface="+mn-cs"/>
              </a:rPr>
              <a:t>SCSI)</a:t>
            </a:r>
            <a:r>
              <a:rPr lang="zh-CN" altLang="en-US" dirty="0">
                <a:solidFill>
                  <a:srgbClr val="2B5681"/>
                </a:solidFill>
                <a:latin typeface="楷体_GB2312" pitchFamily="49" charset="-122"/>
                <a:ea typeface="楷体_GB2312" pitchFamily="49" charset="-122"/>
                <a:cs typeface="+mn-cs"/>
              </a:rPr>
              <a:t>、</a:t>
            </a:r>
            <a:r>
              <a:rPr lang="en-US" altLang="zh-CN" dirty="0">
                <a:solidFill>
                  <a:srgbClr val="2B5681"/>
                </a:solidFill>
                <a:latin typeface="楷体_GB2312" pitchFamily="49" charset="-122"/>
                <a:ea typeface="楷体_GB2312" pitchFamily="49" charset="-122"/>
                <a:cs typeface="+mn-cs"/>
              </a:rPr>
              <a:t>DVD/CD-ROM</a:t>
            </a:r>
            <a:r>
              <a:rPr lang="zh-CN" altLang="en-US" dirty="0">
                <a:solidFill>
                  <a:srgbClr val="2B5681"/>
                </a:solidFill>
                <a:latin typeface="楷体_GB2312" pitchFamily="49" charset="-122"/>
                <a:ea typeface="楷体_GB2312" pitchFamily="49" charset="-122"/>
                <a:cs typeface="+mn-cs"/>
              </a:rPr>
              <a:t>、软驱、网卡、声卡、串口、并口和</a:t>
            </a:r>
            <a:r>
              <a:rPr lang="en-US" altLang="zh-CN" dirty="0">
                <a:solidFill>
                  <a:srgbClr val="2B5681"/>
                </a:solidFill>
                <a:latin typeface="楷体_GB2312" pitchFamily="49" charset="-122"/>
                <a:ea typeface="楷体_GB2312" pitchFamily="49" charset="-122"/>
                <a:cs typeface="+mn-cs"/>
              </a:rPr>
              <a:t>USB</a:t>
            </a:r>
            <a:r>
              <a:rPr lang="zh-CN" altLang="en-US" dirty="0">
                <a:solidFill>
                  <a:srgbClr val="2B5681"/>
                </a:solidFill>
                <a:latin typeface="楷体_GB2312" pitchFamily="49" charset="-122"/>
                <a:ea typeface="楷体_GB2312" pitchFamily="49" charset="-122"/>
                <a:cs typeface="+mn-cs"/>
              </a:rPr>
              <a:t>口。</a:t>
            </a:r>
          </a:p>
          <a:p>
            <a:pPr eaLnBrk="1" hangingPunct="1">
              <a:defRPr/>
            </a:pPr>
            <a:endParaRPr lang="zh-CN" altLang="en-US" dirty="0">
              <a:latin typeface="楷体_GB2312" pitchFamily="49" charset="-122"/>
              <a:ea typeface="楷体_GB2312" pitchFamily="49" charset="-122"/>
            </a:endParaRPr>
          </a:p>
          <a:p>
            <a:pPr eaLnBrk="1" hangingPunct="1">
              <a:defRPr/>
            </a:pPr>
            <a:r>
              <a:rPr lang="zh-CN" altLang="en-US" dirty="0">
                <a:latin typeface="楷体_GB2312" pitchFamily="49" charset="-122"/>
                <a:ea typeface="楷体_GB2312" pitchFamily="49" charset="-122"/>
              </a:rPr>
              <a:t>可以直接从</a:t>
            </a:r>
            <a:r>
              <a:rPr lang="en-US" altLang="zh-CN" dirty="0">
                <a:latin typeface="楷体_GB2312" pitchFamily="49" charset="-122"/>
                <a:ea typeface="楷体_GB2312" pitchFamily="49" charset="-122"/>
              </a:rPr>
              <a:t>ISO</a:t>
            </a:r>
            <a:r>
              <a:rPr lang="zh-CN" altLang="en-US" dirty="0">
                <a:latin typeface="楷体_GB2312" pitchFamily="49" charset="-122"/>
                <a:ea typeface="楷体_GB2312" pitchFamily="49" charset="-122"/>
              </a:rPr>
              <a:t>文件上安装</a:t>
            </a:r>
          </a:p>
          <a:p>
            <a:pPr eaLnBrk="1" hangingPunct="1">
              <a:defRPr/>
            </a:pPr>
            <a:r>
              <a:rPr lang="zh-CN" altLang="en-US" dirty="0">
                <a:latin typeface="楷体_GB2312" pitchFamily="49" charset="-122"/>
                <a:ea typeface="楷体_GB2312" pitchFamily="49" charset="-122"/>
              </a:rPr>
              <a:t>在一个</a:t>
            </a:r>
            <a:r>
              <a:rPr lang="en-US" altLang="zh-CN" dirty="0">
                <a:latin typeface="楷体_GB2312" pitchFamily="49" charset="-122"/>
                <a:ea typeface="楷体_GB2312" pitchFamily="49" charset="-122"/>
              </a:rPr>
              <a:t>VMware</a:t>
            </a:r>
            <a:r>
              <a:rPr lang="zh-CN" altLang="en-US" dirty="0">
                <a:latin typeface="楷体_GB2312" pitchFamily="49" charset="-122"/>
                <a:ea typeface="楷体_GB2312" pitchFamily="49" charset="-122"/>
              </a:rPr>
              <a:t>上安装的的操作系统形成的虚拟机，可以拷贝到其他装有</a:t>
            </a:r>
            <a:r>
              <a:rPr lang="en-US" altLang="zh-CN" dirty="0">
                <a:latin typeface="楷体_GB2312" pitchFamily="49" charset="-122"/>
                <a:ea typeface="楷体_GB2312" pitchFamily="49" charset="-122"/>
              </a:rPr>
              <a:t>VMware</a:t>
            </a:r>
            <a:r>
              <a:rPr lang="zh-CN" altLang="en-US" dirty="0">
                <a:latin typeface="楷体_GB2312" pitchFamily="49" charset="-122"/>
                <a:ea typeface="楷体_GB2312" pitchFamily="49" charset="-122"/>
              </a:rPr>
              <a:t>的机器上  </a:t>
            </a:r>
          </a:p>
          <a:p>
            <a:pPr eaLnBrk="1" hangingPunct="1">
              <a:defRPr/>
            </a:pPr>
            <a:endParaRPr lang="en-US" altLang="zh-CN" dirty="0">
              <a:latin typeface="楷体_GB2312" pitchFamily="49" charset="-122"/>
              <a:ea typeface="楷体_GB2312" pitchFamily="49" charset="-122"/>
            </a:endParaRPr>
          </a:p>
        </p:txBody>
      </p:sp>
      <p:sp>
        <p:nvSpPr>
          <p:cNvPr id="4" name="Rectangle 2"/>
          <p:cNvSpPr txBox="1">
            <a:spLocks noChangeArrowheads="1"/>
          </p:cNvSpPr>
          <p:nvPr/>
        </p:nvSpPr>
        <p:spPr bwMode="black">
          <a:xfrm>
            <a:off x="395288" y="260350"/>
            <a:ext cx="82296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defRPr/>
            </a:pPr>
            <a:r>
              <a:rPr lang="en-US" altLang="zh-CN" kern="0">
                <a:latin typeface="楷体_GB2312" pitchFamily="49" charset="-122"/>
                <a:ea typeface="楷体_GB2312" pitchFamily="49" charset="-122"/>
              </a:rPr>
              <a:t>7</a:t>
            </a:r>
            <a:r>
              <a:rPr lang="zh-CN" altLang="en-US" kern="0">
                <a:latin typeface="楷体_GB2312" pitchFamily="49" charset="-122"/>
                <a:ea typeface="楷体_GB2312" pitchFamily="49" charset="-122"/>
              </a:rPr>
              <a:t>、</a:t>
            </a:r>
            <a:r>
              <a:rPr lang="en-US" altLang="zh-CN" kern="0">
                <a:latin typeface="楷体_GB2312" pitchFamily="49" charset="-122"/>
                <a:ea typeface="楷体_GB2312" pitchFamily="49" charset="-122"/>
              </a:rPr>
              <a:t>Linux</a:t>
            </a:r>
            <a:r>
              <a:rPr lang="zh-CN" altLang="en-US" kern="0">
                <a:latin typeface="楷体_GB2312" pitchFamily="49" charset="-122"/>
                <a:ea typeface="楷体_GB2312" pitchFamily="49" charset="-122"/>
              </a:rPr>
              <a:t>内核分析方法</a:t>
            </a:r>
            <a:endParaRPr lang="zh-CN" altLang="en-US" kern="0" dirty="0">
              <a:latin typeface="楷体_GB2312" pitchFamily="49" charset="-122"/>
              <a:ea typeface="楷体_GB2312" pitchFamily="49" charset="-122"/>
            </a:endParaRPr>
          </a:p>
        </p:txBody>
      </p:sp>
    </p:spTree>
    <p:extLst>
      <p:ext uri="{BB962C8B-B14F-4D97-AF65-F5344CB8AC3E}">
        <p14:creationId xmlns:p14="http://schemas.microsoft.com/office/powerpoint/2010/main" val="26075303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2052638" y="839788"/>
            <a:ext cx="7632701" cy="609600"/>
          </a:xfrm>
        </p:spPr>
        <p:txBody>
          <a:bodyPr/>
          <a:lstStyle/>
          <a:p>
            <a:pPr eaLnBrk="1" hangingPunct="1"/>
            <a:r>
              <a:rPr lang="zh-CN" altLang="en-US">
                <a:solidFill>
                  <a:srgbClr val="0C1464"/>
                </a:solidFill>
                <a:latin typeface="楷体_GB2312" pitchFamily="49" charset="-122"/>
                <a:ea typeface="楷体_GB2312" pitchFamily="49" charset="-122"/>
              </a:rPr>
              <a:t>内核分析工具</a:t>
            </a:r>
          </a:p>
        </p:txBody>
      </p:sp>
      <p:sp>
        <p:nvSpPr>
          <p:cNvPr id="20483" name="Rectangle 3"/>
          <p:cNvSpPr>
            <a:spLocks noGrp="1" noChangeArrowheads="1"/>
          </p:cNvSpPr>
          <p:nvPr>
            <p:ph type="body" idx="1"/>
          </p:nvPr>
        </p:nvSpPr>
        <p:spPr>
          <a:xfrm>
            <a:off x="333375" y="1585913"/>
            <a:ext cx="8291513" cy="5272087"/>
          </a:xfrm>
        </p:spPr>
        <p:txBody>
          <a:bodyPr/>
          <a:lstStyle/>
          <a:p>
            <a:pPr eaLnBrk="1" hangingPunct="1"/>
            <a:r>
              <a:rPr lang="en-US" altLang="zh-CN">
                <a:solidFill>
                  <a:srgbClr val="D71B07"/>
                </a:solidFill>
                <a:latin typeface="楷体_GB2312" pitchFamily="49" charset="-122"/>
                <a:ea typeface="楷体_GB2312" pitchFamily="49" charset="-122"/>
              </a:rPr>
              <a:t>Source Insight</a:t>
            </a:r>
            <a:r>
              <a:rPr lang="zh-CN" altLang="en-US">
                <a:solidFill>
                  <a:srgbClr val="D71B07"/>
                </a:solidFill>
                <a:latin typeface="楷体_GB2312" pitchFamily="49" charset="-122"/>
                <a:ea typeface="楷体_GB2312" pitchFamily="49" charset="-122"/>
              </a:rPr>
              <a:t>：</a:t>
            </a:r>
            <a:r>
              <a:rPr lang="en-US" altLang="zh-CN">
                <a:latin typeface="楷体_GB2312" pitchFamily="49" charset="-122"/>
                <a:ea typeface="楷体_GB2312" pitchFamily="49" charset="-122"/>
              </a:rPr>
              <a:t>Windows</a:t>
            </a:r>
            <a:r>
              <a:rPr lang="zh-CN" altLang="en-US">
                <a:latin typeface="楷体_GB2312" pitchFamily="49" charset="-122"/>
                <a:ea typeface="楷体_GB2312" pitchFamily="49" charset="-122"/>
              </a:rPr>
              <a:t>平台上的</a:t>
            </a:r>
            <a:endParaRPr lang="en-US" altLang="zh-CN">
              <a:latin typeface="楷体_GB2312" pitchFamily="49" charset="-122"/>
              <a:ea typeface="楷体_GB2312" pitchFamily="49" charset="-122"/>
            </a:endParaRPr>
          </a:p>
          <a:p>
            <a:pPr eaLnBrk="1" hangingPunct="1"/>
            <a:r>
              <a:rPr lang="en-US" altLang="zh-CN">
                <a:solidFill>
                  <a:srgbClr val="D71B07"/>
                </a:solidFill>
                <a:latin typeface="楷体_GB2312" pitchFamily="49" charset="-122"/>
                <a:ea typeface="楷体_GB2312" pitchFamily="49" charset="-122"/>
              </a:rPr>
              <a:t>LXR</a:t>
            </a:r>
            <a:r>
              <a:rPr lang="zh-CN" altLang="en-US">
                <a:solidFill>
                  <a:srgbClr val="D71B07"/>
                </a:solidFill>
                <a:latin typeface="楷体_GB2312" pitchFamily="49" charset="-122"/>
                <a:ea typeface="楷体_GB2312" pitchFamily="49" charset="-122"/>
              </a:rPr>
              <a:t>（</a:t>
            </a:r>
            <a:r>
              <a:rPr lang="en-US" altLang="zh-CN">
                <a:solidFill>
                  <a:srgbClr val="D71B07"/>
                </a:solidFill>
                <a:latin typeface="楷体_GB2312" pitchFamily="49" charset="-122"/>
                <a:ea typeface="楷体_GB2312" pitchFamily="49" charset="-122"/>
              </a:rPr>
              <a:t>Linux Cross Reference)</a:t>
            </a:r>
            <a:r>
              <a:rPr lang="zh-CN" altLang="en-US">
                <a:solidFill>
                  <a:srgbClr val="D71B07"/>
                </a:solidFill>
                <a:latin typeface="楷体_GB2312" pitchFamily="49" charset="-122"/>
                <a:ea typeface="楷体_GB2312" pitchFamily="49" charset="-122"/>
              </a:rPr>
              <a:t>：</a:t>
            </a:r>
            <a:r>
              <a:rPr lang="en-US" altLang="zh-CN">
                <a:latin typeface="楷体_GB2312" pitchFamily="49" charset="-122"/>
                <a:ea typeface="楷体_GB2312" pitchFamily="49" charset="-122"/>
              </a:rPr>
              <a:t>Linux</a:t>
            </a:r>
            <a:r>
              <a:rPr lang="zh-CN" altLang="en-US">
                <a:latin typeface="楷体_GB2312" pitchFamily="49" charset="-122"/>
                <a:ea typeface="楷体_GB2312" pitchFamily="49" charset="-122"/>
              </a:rPr>
              <a:t>代码交叉检索工具，</a:t>
            </a:r>
            <a:r>
              <a:rPr lang="en-US" altLang="zh-CN">
                <a:latin typeface="楷体_GB2312" pitchFamily="49" charset="-122"/>
                <a:ea typeface="楷体_GB2312" pitchFamily="49" charset="-122"/>
              </a:rPr>
              <a:t>Linux</a:t>
            </a:r>
            <a:r>
              <a:rPr lang="zh-CN" altLang="en-US">
                <a:latin typeface="楷体_GB2312" pitchFamily="49" charset="-122"/>
                <a:ea typeface="楷体_GB2312" pitchFamily="49" charset="-122"/>
              </a:rPr>
              <a:t>平台上的，通过对符号建立索引，用户界面是浏览器</a:t>
            </a:r>
            <a:r>
              <a:rPr lang="en-US" altLang="zh-CN">
                <a:latin typeface="楷体_GB2312" pitchFamily="49" charset="-122"/>
                <a:ea typeface="楷体_GB2312" pitchFamily="49" charset="-122"/>
              </a:rPr>
              <a:t>http://lxr.Linux.org</a:t>
            </a:r>
          </a:p>
          <a:p>
            <a:pPr eaLnBrk="1" hangingPunct="1"/>
            <a:r>
              <a:rPr lang="en-US" altLang="zh-CN">
                <a:solidFill>
                  <a:srgbClr val="D71B07"/>
                </a:solidFill>
                <a:latin typeface="楷体_GB2312" pitchFamily="49" charset="-122"/>
                <a:ea typeface="楷体_GB2312" pitchFamily="49" charset="-122"/>
              </a:rPr>
              <a:t>Kscope</a:t>
            </a:r>
            <a:r>
              <a:rPr lang="zh-CN" altLang="en-US">
                <a:solidFill>
                  <a:srgbClr val="D71B07"/>
                </a:solidFill>
                <a:latin typeface="楷体_GB2312" pitchFamily="49" charset="-122"/>
                <a:ea typeface="楷体_GB2312" pitchFamily="49" charset="-122"/>
              </a:rPr>
              <a:t>：</a:t>
            </a:r>
            <a:r>
              <a:rPr lang="en-US" altLang="zh-CN">
                <a:latin typeface="楷体_GB2312" pitchFamily="49" charset="-122"/>
                <a:ea typeface="楷体_GB2312" pitchFamily="49" charset="-122"/>
                <a:hlinkClick r:id="rId2"/>
              </a:rPr>
              <a:t>http://kscope.sourceforge.net</a:t>
            </a:r>
            <a:endParaRPr lang="en-US" altLang="zh-CN">
              <a:latin typeface="楷体_GB2312" pitchFamily="49" charset="-122"/>
              <a:ea typeface="楷体_GB2312" pitchFamily="49" charset="-122"/>
            </a:endParaRPr>
          </a:p>
          <a:p>
            <a:pPr eaLnBrk="1" hangingPunct="1"/>
            <a:r>
              <a:rPr lang="en-US" altLang="zh-CN">
                <a:solidFill>
                  <a:srgbClr val="D71B07"/>
                </a:solidFill>
                <a:latin typeface="楷体_GB2312" pitchFamily="49" charset="-122"/>
                <a:ea typeface="楷体_GB2312" pitchFamily="49" charset="-122"/>
              </a:rPr>
              <a:t>QEMU:</a:t>
            </a:r>
            <a:r>
              <a:rPr lang="zh-CN" altLang="en-US">
                <a:latin typeface="楷体_GB2312" pitchFamily="49" charset="-122"/>
                <a:ea typeface="楷体_GB2312" pitchFamily="49" charset="-122"/>
              </a:rPr>
              <a:t>模拟仿真工具，对内核代码进行调试、跟踪等</a:t>
            </a:r>
            <a:endParaRPr lang="en-US" altLang="zh-CN">
              <a:latin typeface="楷体_GB2312" pitchFamily="49" charset="-122"/>
              <a:ea typeface="楷体_GB2312" pitchFamily="49" charset="-122"/>
            </a:endParaRPr>
          </a:p>
        </p:txBody>
      </p:sp>
      <p:sp>
        <p:nvSpPr>
          <p:cNvPr id="4" name="Rectangle 2"/>
          <p:cNvSpPr txBox="1">
            <a:spLocks noChangeArrowheads="1"/>
          </p:cNvSpPr>
          <p:nvPr/>
        </p:nvSpPr>
        <p:spPr bwMode="black">
          <a:xfrm>
            <a:off x="395288" y="260350"/>
            <a:ext cx="82296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defRPr/>
            </a:pPr>
            <a:r>
              <a:rPr lang="en-US" altLang="zh-CN" kern="0" dirty="0">
                <a:latin typeface="楷体_GB2312" pitchFamily="49" charset="-122"/>
                <a:ea typeface="楷体_GB2312" pitchFamily="49" charset="-122"/>
              </a:rPr>
              <a:t>7</a:t>
            </a:r>
            <a:r>
              <a:rPr lang="zh-CN" altLang="en-US" kern="0" dirty="0">
                <a:latin typeface="楷体_GB2312" pitchFamily="49" charset="-122"/>
                <a:ea typeface="楷体_GB2312" pitchFamily="49" charset="-122"/>
              </a:rPr>
              <a:t>、</a:t>
            </a:r>
            <a:r>
              <a:rPr lang="en-US" altLang="zh-CN" kern="0" dirty="0">
                <a:latin typeface="楷体_GB2312" pitchFamily="49" charset="-122"/>
                <a:ea typeface="楷体_GB2312" pitchFamily="49" charset="-122"/>
              </a:rPr>
              <a:t>Linux</a:t>
            </a:r>
            <a:r>
              <a:rPr lang="zh-CN" altLang="en-US" kern="0" dirty="0">
                <a:latin typeface="楷体_GB2312" pitchFamily="49" charset="-122"/>
                <a:ea typeface="楷体_GB2312" pitchFamily="49" charset="-122"/>
              </a:rPr>
              <a:t>内核分析方法</a:t>
            </a:r>
          </a:p>
        </p:txBody>
      </p:sp>
    </p:spTree>
    <p:extLst>
      <p:ext uri="{BB962C8B-B14F-4D97-AF65-F5344CB8AC3E}">
        <p14:creationId xmlns:p14="http://schemas.microsoft.com/office/powerpoint/2010/main" val="28084801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692275" y="893763"/>
            <a:ext cx="7632700" cy="609600"/>
          </a:xfrm>
        </p:spPr>
        <p:txBody>
          <a:bodyPr/>
          <a:lstStyle/>
          <a:p>
            <a:pPr eaLnBrk="1" hangingPunct="1"/>
            <a:r>
              <a:rPr lang="en-US" altLang="zh-CN">
                <a:solidFill>
                  <a:srgbClr val="FF0000"/>
                </a:solidFill>
                <a:latin typeface="楷体_GB2312" pitchFamily="49" charset="-122"/>
                <a:ea typeface="楷体_GB2312" pitchFamily="49" charset="-122"/>
              </a:rPr>
              <a:t>SourceInsight</a:t>
            </a:r>
          </a:p>
        </p:txBody>
      </p:sp>
      <p:sp>
        <p:nvSpPr>
          <p:cNvPr id="21507" name="Rectangle 3"/>
          <p:cNvSpPr>
            <a:spLocks noGrp="1" noChangeArrowheads="1"/>
          </p:cNvSpPr>
          <p:nvPr>
            <p:ph type="body" idx="1"/>
          </p:nvPr>
        </p:nvSpPr>
        <p:spPr>
          <a:xfrm>
            <a:off x="365125" y="1589088"/>
            <a:ext cx="8291513" cy="5272087"/>
          </a:xfrm>
        </p:spPr>
        <p:txBody>
          <a:bodyPr/>
          <a:lstStyle/>
          <a:p>
            <a:pPr eaLnBrk="1" hangingPunct="1"/>
            <a:r>
              <a:rPr lang="zh-CN" altLang="en-US">
                <a:latin typeface="楷体_GB2312" pitchFamily="49" charset="-122"/>
                <a:ea typeface="楷体_GB2312" pitchFamily="49" charset="-122"/>
              </a:rPr>
              <a:t>源代码阅读和编辑工具</a:t>
            </a:r>
          </a:p>
          <a:p>
            <a:pPr eaLnBrk="1" hangingPunct="1"/>
            <a:r>
              <a:rPr lang="zh-CN" altLang="en-US">
                <a:latin typeface="楷体_GB2312" pitchFamily="49" charset="-122"/>
                <a:ea typeface="楷体_GB2312" pitchFamily="49" charset="-122"/>
              </a:rPr>
              <a:t>拥有内置的对</a:t>
            </a:r>
            <a:r>
              <a:rPr lang="en-US" altLang="zh-CN">
                <a:latin typeface="楷体_GB2312" pitchFamily="49" charset="-122"/>
                <a:ea typeface="楷体_GB2312" pitchFamily="49" charset="-122"/>
              </a:rPr>
              <a:t>C/C++,</a:t>
            </a:r>
            <a:r>
              <a:rPr lang="en-US" altLang="zh-CN">
                <a:ea typeface="楷体_GB2312" pitchFamily="49" charset="-122"/>
              </a:rPr>
              <a:t> </a:t>
            </a:r>
            <a:r>
              <a:rPr lang="en-US" altLang="zh-CN">
                <a:latin typeface="楷体_GB2312" pitchFamily="49" charset="-122"/>
                <a:ea typeface="楷体_GB2312" pitchFamily="49" charset="-122"/>
              </a:rPr>
              <a:t>C#</a:t>
            </a:r>
            <a:r>
              <a:rPr lang="zh-CN" altLang="en-US">
                <a:latin typeface="楷体_GB2312" pitchFamily="49" charset="-122"/>
                <a:ea typeface="楷体_GB2312" pitchFamily="49" charset="-122"/>
              </a:rPr>
              <a:t>和</a:t>
            </a:r>
            <a:r>
              <a:rPr lang="en-US" altLang="zh-CN">
                <a:latin typeface="楷体_GB2312" pitchFamily="49" charset="-122"/>
                <a:ea typeface="楷体_GB2312" pitchFamily="49" charset="-122"/>
              </a:rPr>
              <a:t>Java</a:t>
            </a:r>
            <a:r>
              <a:rPr lang="zh-CN" altLang="en-US">
                <a:latin typeface="楷体_GB2312" pitchFamily="49" charset="-122"/>
                <a:ea typeface="楷体_GB2312" pitchFamily="49" charset="-122"/>
              </a:rPr>
              <a:t>等程序的分析。</a:t>
            </a:r>
          </a:p>
          <a:p>
            <a:pPr eaLnBrk="1" hangingPunct="1"/>
            <a:r>
              <a:rPr lang="zh-CN" altLang="en-US">
                <a:latin typeface="楷体_GB2312" pitchFamily="49" charset="-122"/>
                <a:ea typeface="楷体_GB2312" pitchFamily="49" charset="-122"/>
              </a:rPr>
              <a:t>能分析源代码并动态维护符号数据库，能自动显示有用的上下文信息。</a:t>
            </a:r>
          </a:p>
          <a:p>
            <a:pPr eaLnBrk="1" hangingPunct="1"/>
            <a:endParaRPr lang="zh-CN" altLang="en-US">
              <a:latin typeface="楷体_GB2312" pitchFamily="49" charset="-122"/>
              <a:ea typeface="楷体_GB2312" pitchFamily="49" charset="-122"/>
            </a:endParaRPr>
          </a:p>
          <a:p>
            <a:pPr eaLnBrk="1" hangingPunct="1"/>
            <a:r>
              <a:rPr lang="zh-CN" altLang="en-US">
                <a:latin typeface="楷体_GB2312" pitchFamily="49" charset="-122"/>
                <a:ea typeface="楷体_GB2312" pitchFamily="49" charset="-122"/>
              </a:rPr>
              <a:t>到</a:t>
            </a:r>
            <a:r>
              <a:rPr lang="en-US" altLang="zh-CN">
                <a:latin typeface="楷体_GB2312" pitchFamily="49" charset="-122"/>
                <a:ea typeface="楷体_GB2312" pitchFamily="49" charset="-122"/>
              </a:rPr>
              <a:t>http://www.sourceInsight.com/</a:t>
            </a:r>
            <a:r>
              <a:rPr lang="zh-CN" altLang="en-US">
                <a:latin typeface="楷体_GB2312" pitchFamily="49" charset="-122"/>
                <a:ea typeface="楷体_GB2312" pitchFamily="49" charset="-122"/>
              </a:rPr>
              <a:t>上可以下载到它的试用版，试用期估计在</a:t>
            </a:r>
            <a:r>
              <a:rPr lang="en-US" altLang="zh-CN">
                <a:latin typeface="楷体_GB2312" pitchFamily="49" charset="-122"/>
                <a:ea typeface="楷体_GB2312" pitchFamily="49" charset="-122"/>
              </a:rPr>
              <a:t>30</a:t>
            </a:r>
            <a:r>
              <a:rPr lang="zh-CN" altLang="en-US">
                <a:latin typeface="楷体_GB2312" pitchFamily="49" charset="-122"/>
                <a:ea typeface="楷体_GB2312" pitchFamily="49" charset="-122"/>
              </a:rPr>
              <a:t>天左右</a:t>
            </a:r>
          </a:p>
        </p:txBody>
      </p:sp>
      <p:sp>
        <p:nvSpPr>
          <p:cNvPr id="4" name="Rectangle 2"/>
          <p:cNvSpPr txBox="1">
            <a:spLocks noChangeArrowheads="1"/>
          </p:cNvSpPr>
          <p:nvPr/>
        </p:nvSpPr>
        <p:spPr bwMode="black">
          <a:xfrm>
            <a:off x="395288" y="260350"/>
            <a:ext cx="82296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defRPr/>
            </a:pPr>
            <a:r>
              <a:rPr lang="en-US" altLang="zh-CN" kern="0" dirty="0">
                <a:latin typeface="楷体_GB2312" pitchFamily="49" charset="-122"/>
                <a:ea typeface="楷体_GB2312" pitchFamily="49" charset="-122"/>
              </a:rPr>
              <a:t>7</a:t>
            </a:r>
            <a:r>
              <a:rPr lang="zh-CN" altLang="en-US" kern="0" dirty="0">
                <a:latin typeface="楷体_GB2312" pitchFamily="49" charset="-122"/>
                <a:ea typeface="楷体_GB2312" pitchFamily="49" charset="-122"/>
              </a:rPr>
              <a:t>、</a:t>
            </a:r>
            <a:r>
              <a:rPr lang="en-US" altLang="zh-CN" kern="0" dirty="0">
                <a:latin typeface="楷体_GB2312" pitchFamily="49" charset="-122"/>
                <a:ea typeface="楷体_GB2312" pitchFamily="49" charset="-122"/>
              </a:rPr>
              <a:t>Linux</a:t>
            </a:r>
            <a:r>
              <a:rPr lang="zh-CN" altLang="en-US" kern="0" dirty="0">
                <a:latin typeface="楷体_GB2312" pitchFamily="49" charset="-122"/>
                <a:ea typeface="楷体_GB2312" pitchFamily="49" charset="-122"/>
              </a:rPr>
              <a:t>内核分析方法</a:t>
            </a:r>
          </a:p>
        </p:txBody>
      </p:sp>
    </p:spTree>
    <p:extLst>
      <p:ext uri="{BB962C8B-B14F-4D97-AF65-F5344CB8AC3E}">
        <p14:creationId xmlns:p14="http://schemas.microsoft.com/office/powerpoint/2010/main" val="3855567753"/>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endParaRPr lang="zh-CN" altLang="en-US">
              <a:latin typeface="楷体_GB2312" pitchFamily="49" charset="-122"/>
              <a:ea typeface="楷体_GB2312" pitchFamily="49" charset="-122"/>
            </a:endParaRPr>
          </a:p>
        </p:txBody>
      </p:sp>
      <p:sp>
        <p:nvSpPr>
          <p:cNvPr id="22531" name="Rectangle 3"/>
          <p:cNvSpPr>
            <a:spLocks noGrp="1" noChangeArrowheads="1"/>
          </p:cNvSpPr>
          <p:nvPr>
            <p:ph type="body" idx="1"/>
          </p:nvPr>
        </p:nvSpPr>
        <p:spPr/>
        <p:txBody>
          <a:bodyPr/>
          <a:lstStyle/>
          <a:p>
            <a:pPr eaLnBrk="1" hangingPunct="1"/>
            <a:endParaRPr lang="zh-CN" altLang="en-US"/>
          </a:p>
        </p:txBody>
      </p:sp>
      <p:pic>
        <p:nvPicPr>
          <p:cNvPr id="2253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63513"/>
            <a:ext cx="8820150" cy="669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33" name="Text Box 5"/>
          <p:cNvSpPr txBox="1">
            <a:spLocks noChangeArrowheads="1"/>
          </p:cNvSpPr>
          <p:nvPr/>
        </p:nvSpPr>
        <p:spPr bwMode="auto">
          <a:xfrm>
            <a:off x="4211638" y="2565400"/>
            <a:ext cx="1655762" cy="346075"/>
          </a:xfrm>
          <a:prstGeom prst="rect">
            <a:avLst/>
          </a:prstGeom>
          <a:solidFill>
            <a:srgbClr val="D8D8EC"/>
          </a:solidFill>
          <a:ln w="9525">
            <a:solidFill>
              <a:schemeClr val="tx1"/>
            </a:solidFill>
            <a:miter lim="800000"/>
            <a:headEnd/>
            <a:tailEnd/>
          </a:ln>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600">
                <a:solidFill>
                  <a:schemeClr val="tx1"/>
                </a:solidFill>
                <a:latin typeface="Arial" panose="020B0604020202020204" pitchFamily="34" charset="0"/>
                <a:ea typeface="宋体" panose="02010600030101010101" pitchFamily="2" charset="-122"/>
              </a:rPr>
              <a:t>当前源码文件</a:t>
            </a:r>
          </a:p>
        </p:txBody>
      </p:sp>
      <p:sp>
        <p:nvSpPr>
          <p:cNvPr id="227334" name="Text Box 6"/>
          <p:cNvSpPr txBox="1">
            <a:spLocks noChangeArrowheads="1"/>
          </p:cNvSpPr>
          <p:nvPr/>
        </p:nvSpPr>
        <p:spPr bwMode="auto">
          <a:xfrm>
            <a:off x="395288" y="3573463"/>
            <a:ext cx="1209675" cy="590550"/>
          </a:xfrm>
          <a:prstGeom prst="rect">
            <a:avLst/>
          </a:prstGeom>
          <a:solidFill>
            <a:srgbClr val="D8D8EC"/>
          </a:solidFill>
          <a:ln w="9525">
            <a:solidFill>
              <a:schemeClr val="tx1"/>
            </a:solidFill>
            <a:miter lim="800000"/>
            <a:headEnd/>
            <a:tailEnd/>
          </a:ln>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600">
                <a:solidFill>
                  <a:schemeClr val="tx1"/>
                </a:solidFill>
                <a:latin typeface="Arial" panose="020B0604020202020204" pitchFamily="34" charset="0"/>
                <a:ea typeface="宋体" panose="02010600030101010101" pitchFamily="2" charset="-122"/>
              </a:rPr>
              <a:t>当前文件的</a:t>
            </a:r>
          </a:p>
          <a:p>
            <a:pPr eaLnBrk="1" hangingPunct="1">
              <a:spcBef>
                <a:spcPct val="0"/>
              </a:spcBef>
              <a:buClrTx/>
              <a:buFontTx/>
              <a:buNone/>
            </a:pPr>
            <a:r>
              <a:rPr lang="zh-CN" altLang="en-US" sz="1600">
                <a:solidFill>
                  <a:schemeClr val="tx1"/>
                </a:solidFill>
                <a:latin typeface="Arial" panose="020B0604020202020204" pitchFamily="34" charset="0"/>
                <a:ea typeface="宋体" panose="02010600030101010101" pitchFamily="2" charset="-122"/>
              </a:rPr>
              <a:t>符号表</a:t>
            </a:r>
          </a:p>
        </p:txBody>
      </p:sp>
      <p:sp>
        <p:nvSpPr>
          <p:cNvPr id="227335" name="Text Box 7"/>
          <p:cNvSpPr txBox="1">
            <a:spLocks noChangeArrowheads="1"/>
          </p:cNvSpPr>
          <p:nvPr/>
        </p:nvSpPr>
        <p:spPr bwMode="auto">
          <a:xfrm>
            <a:off x="2051050" y="5229225"/>
            <a:ext cx="2592388" cy="346075"/>
          </a:xfrm>
          <a:prstGeom prst="rect">
            <a:avLst/>
          </a:prstGeom>
          <a:solidFill>
            <a:srgbClr val="D8D8EC"/>
          </a:solidFill>
          <a:ln w="9525">
            <a:solidFill>
              <a:schemeClr val="tx1"/>
            </a:solidFill>
            <a:miter lim="800000"/>
            <a:headEnd/>
            <a:tailEnd/>
          </a:ln>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600">
                <a:solidFill>
                  <a:schemeClr val="tx1"/>
                </a:solidFill>
                <a:latin typeface="Arial" panose="020B0604020202020204" pitchFamily="34" charset="0"/>
                <a:ea typeface="宋体" panose="02010600030101010101" pitchFamily="2" charset="-122"/>
              </a:rPr>
              <a:t>当前所看的符号上下文</a:t>
            </a:r>
          </a:p>
        </p:txBody>
      </p:sp>
      <p:sp>
        <p:nvSpPr>
          <p:cNvPr id="227336" name="Text Box 8"/>
          <p:cNvSpPr txBox="1">
            <a:spLocks noChangeArrowheads="1"/>
          </p:cNvSpPr>
          <p:nvPr/>
        </p:nvSpPr>
        <p:spPr bwMode="auto">
          <a:xfrm>
            <a:off x="4716463" y="5229225"/>
            <a:ext cx="2592387" cy="346075"/>
          </a:xfrm>
          <a:prstGeom prst="rect">
            <a:avLst/>
          </a:prstGeom>
          <a:solidFill>
            <a:srgbClr val="D8D8EC"/>
          </a:solidFill>
          <a:ln w="9525">
            <a:solidFill>
              <a:schemeClr val="tx1"/>
            </a:solidFill>
            <a:miter lim="800000"/>
            <a:headEnd/>
            <a:tailEnd/>
          </a:ln>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600">
                <a:solidFill>
                  <a:schemeClr val="tx1"/>
                </a:solidFill>
                <a:latin typeface="Arial" panose="020B0604020202020204" pitchFamily="34" charset="0"/>
                <a:ea typeface="宋体" panose="02010600030101010101" pitchFamily="2" charset="-122"/>
              </a:rPr>
              <a:t>当前所看符号的调用关系</a:t>
            </a:r>
          </a:p>
        </p:txBody>
      </p:sp>
      <p:sp>
        <p:nvSpPr>
          <p:cNvPr id="227337" name="Text Box 9"/>
          <p:cNvSpPr txBox="1">
            <a:spLocks noChangeArrowheads="1"/>
          </p:cNvSpPr>
          <p:nvPr/>
        </p:nvSpPr>
        <p:spPr bwMode="auto">
          <a:xfrm>
            <a:off x="7380288" y="4930775"/>
            <a:ext cx="1412875" cy="346075"/>
          </a:xfrm>
          <a:prstGeom prst="rect">
            <a:avLst/>
          </a:prstGeom>
          <a:solidFill>
            <a:srgbClr val="D8D8EC"/>
          </a:solidFill>
          <a:ln w="9525">
            <a:solidFill>
              <a:schemeClr val="tx1"/>
            </a:solidFill>
            <a:miter lim="800000"/>
            <a:headEnd/>
            <a:tailEnd/>
          </a:ln>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600">
                <a:solidFill>
                  <a:schemeClr val="tx1"/>
                </a:solidFill>
                <a:latin typeface="Arial" panose="020B0604020202020204" pitchFamily="34" charset="0"/>
                <a:ea typeface="宋体" panose="02010600030101010101" pitchFamily="2" charset="-122"/>
              </a:rPr>
              <a:t>所有文件列表</a:t>
            </a:r>
          </a:p>
        </p:txBody>
      </p:sp>
      <p:sp>
        <p:nvSpPr>
          <p:cNvPr id="227338" name="Line 10"/>
          <p:cNvSpPr>
            <a:spLocks noChangeShapeType="1"/>
          </p:cNvSpPr>
          <p:nvPr/>
        </p:nvSpPr>
        <p:spPr bwMode="auto">
          <a:xfrm flipH="1" flipV="1">
            <a:off x="6516688" y="4508500"/>
            <a:ext cx="935037" cy="504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7339" name="Line 11"/>
          <p:cNvSpPr>
            <a:spLocks noChangeShapeType="1"/>
          </p:cNvSpPr>
          <p:nvPr/>
        </p:nvSpPr>
        <p:spPr bwMode="auto">
          <a:xfrm flipH="1" flipV="1">
            <a:off x="6732588" y="4508500"/>
            <a:ext cx="719137" cy="504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7340" name="Line 12"/>
          <p:cNvSpPr>
            <a:spLocks noChangeShapeType="1"/>
          </p:cNvSpPr>
          <p:nvPr/>
        </p:nvSpPr>
        <p:spPr bwMode="auto">
          <a:xfrm flipH="1" flipV="1">
            <a:off x="6948488" y="4508500"/>
            <a:ext cx="503237" cy="504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7341" name="Line 13"/>
          <p:cNvSpPr>
            <a:spLocks noChangeShapeType="1"/>
          </p:cNvSpPr>
          <p:nvPr/>
        </p:nvSpPr>
        <p:spPr bwMode="auto">
          <a:xfrm flipH="1" flipV="1">
            <a:off x="7235825" y="4508500"/>
            <a:ext cx="215900" cy="504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7342" name="Line 14"/>
          <p:cNvSpPr>
            <a:spLocks noChangeShapeType="1"/>
          </p:cNvSpPr>
          <p:nvPr/>
        </p:nvSpPr>
        <p:spPr bwMode="auto">
          <a:xfrm flipV="1">
            <a:off x="7451725" y="4508500"/>
            <a:ext cx="73025" cy="504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7343" name="Text Box 15"/>
          <p:cNvSpPr txBox="1">
            <a:spLocks noChangeArrowheads="1"/>
          </p:cNvSpPr>
          <p:nvPr/>
        </p:nvSpPr>
        <p:spPr bwMode="auto">
          <a:xfrm>
            <a:off x="7308850" y="3860800"/>
            <a:ext cx="1835150" cy="346075"/>
          </a:xfrm>
          <a:prstGeom prst="rect">
            <a:avLst/>
          </a:prstGeom>
          <a:solidFill>
            <a:srgbClr val="D8D8EC"/>
          </a:solidFill>
          <a:ln w="9525">
            <a:solidFill>
              <a:schemeClr val="tx1"/>
            </a:solidFill>
            <a:miter lim="800000"/>
            <a:headEnd/>
            <a:tailEnd/>
          </a:ln>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en-US" altLang="zh-CN" sz="1600">
                <a:solidFill>
                  <a:schemeClr val="tx1"/>
                </a:solidFill>
                <a:latin typeface="Arial" panose="020B0604020202020204" pitchFamily="34" charset="0"/>
                <a:ea typeface="宋体" panose="02010600030101010101" pitchFamily="2" charset="-122"/>
              </a:rPr>
              <a:t>Project</a:t>
            </a:r>
            <a:r>
              <a:rPr lang="zh-CN" altLang="en-US" sz="1600">
                <a:solidFill>
                  <a:schemeClr val="tx1"/>
                </a:solidFill>
                <a:latin typeface="Arial" panose="020B0604020202020204" pitchFamily="34" charset="0"/>
                <a:ea typeface="宋体" panose="02010600030101010101" pitchFamily="2" charset="-122"/>
              </a:rPr>
              <a:t>相关信息</a:t>
            </a:r>
          </a:p>
        </p:txBody>
      </p:sp>
      <p:sp>
        <p:nvSpPr>
          <p:cNvPr id="227344" name="Text Box 16"/>
          <p:cNvSpPr txBox="1">
            <a:spLocks noChangeArrowheads="1"/>
          </p:cNvSpPr>
          <p:nvPr/>
        </p:nvSpPr>
        <p:spPr bwMode="auto">
          <a:xfrm>
            <a:off x="7324725" y="4941888"/>
            <a:ext cx="1819275" cy="346075"/>
          </a:xfrm>
          <a:prstGeom prst="rect">
            <a:avLst/>
          </a:prstGeom>
          <a:solidFill>
            <a:srgbClr val="D8D8EC"/>
          </a:solidFill>
          <a:ln w="9525">
            <a:solidFill>
              <a:schemeClr val="tx1"/>
            </a:solidFill>
            <a:miter lim="800000"/>
            <a:headEnd/>
            <a:tailEnd/>
          </a:ln>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600">
                <a:solidFill>
                  <a:schemeClr val="tx1"/>
                </a:solidFill>
                <a:latin typeface="Arial" panose="020B0604020202020204" pitchFamily="34" charset="0"/>
                <a:ea typeface="宋体" panose="02010600030101010101" pitchFamily="2" charset="-122"/>
              </a:rPr>
              <a:t>按目录，文件列表</a:t>
            </a:r>
          </a:p>
        </p:txBody>
      </p:sp>
      <p:sp>
        <p:nvSpPr>
          <p:cNvPr id="227345" name="Text Box 17"/>
          <p:cNvSpPr txBox="1">
            <a:spLocks noChangeArrowheads="1"/>
          </p:cNvSpPr>
          <p:nvPr/>
        </p:nvSpPr>
        <p:spPr bwMode="auto">
          <a:xfrm>
            <a:off x="7324725" y="4941888"/>
            <a:ext cx="1819275" cy="346075"/>
          </a:xfrm>
          <a:prstGeom prst="rect">
            <a:avLst/>
          </a:prstGeom>
          <a:solidFill>
            <a:srgbClr val="D8D8EC"/>
          </a:solidFill>
          <a:ln w="9525">
            <a:solidFill>
              <a:schemeClr val="tx1"/>
            </a:solidFill>
            <a:miter lim="800000"/>
            <a:headEnd/>
            <a:tailEnd/>
          </a:ln>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600">
                <a:solidFill>
                  <a:schemeClr val="tx1"/>
                </a:solidFill>
                <a:latin typeface="Arial" panose="020B0604020202020204" pitchFamily="34" charset="0"/>
                <a:ea typeface="宋体" panose="02010600030101010101" pitchFamily="2" charset="-122"/>
              </a:rPr>
              <a:t>文件类型配置信息</a:t>
            </a:r>
          </a:p>
        </p:txBody>
      </p:sp>
      <p:sp>
        <p:nvSpPr>
          <p:cNvPr id="227346" name="Text Box 18"/>
          <p:cNvSpPr txBox="1">
            <a:spLocks noChangeArrowheads="1"/>
          </p:cNvSpPr>
          <p:nvPr/>
        </p:nvSpPr>
        <p:spPr bwMode="auto">
          <a:xfrm>
            <a:off x="7380288" y="4941888"/>
            <a:ext cx="803275" cy="346075"/>
          </a:xfrm>
          <a:prstGeom prst="rect">
            <a:avLst/>
          </a:prstGeom>
          <a:solidFill>
            <a:srgbClr val="D8D8EC"/>
          </a:solidFill>
          <a:ln w="9525">
            <a:solidFill>
              <a:schemeClr val="tx1"/>
            </a:solidFill>
            <a:miter lim="800000"/>
            <a:headEnd/>
            <a:tailEnd/>
          </a:ln>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600">
                <a:solidFill>
                  <a:schemeClr val="tx1"/>
                </a:solidFill>
                <a:latin typeface="Arial" panose="020B0604020202020204" pitchFamily="34" charset="0"/>
                <a:ea typeface="宋体" panose="02010600030101010101" pitchFamily="2" charset="-122"/>
              </a:rPr>
              <a:t>符号表</a:t>
            </a:r>
          </a:p>
        </p:txBody>
      </p:sp>
      <p:sp>
        <p:nvSpPr>
          <p:cNvPr id="227347" name="Text Box 19"/>
          <p:cNvSpPr txBox="1">
            <a:spLocks noChangeArrowheads="1"/>
          </p:cNvSpPr>
          <p:nvPr/>
        </p:nvSpPr>
        <p:spPr bwMode="auto">
          <a:xfrm>
            <a:off x="7308850" y="4941888"/>
            <a:ext cx="1584325" cy="346075"/>
          </a:xfrm>
          <a:prstGeom prst="rect">
            <a:avLst/>
          </a:prstGeom>
          <a:solidFill>
            <a:srgbClr val="D8D8EC"/>
          </a:solidFill>
          <a:ln w="9525">
            <a:solidFill>
              <a:schemeClr val="tx1"/>
            </a:solidFill>
            <a:miter lim="800000"/>
            <a:headEnd/>
            <a:tailEnd/>
          </a:ln>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600">
                <a:solidFill>
                  <a:schemeClr val="tx1"/>
                </a:solidFill>
                <a:latin typeface="Arial" panose="020B0604020202020204" pitchFamily="34" charset="0"/>
                <a:ea typeface="宋体" panose="02010600030101010101" pitchFamily="2" charset="-122"/>
              </a:rPr>
              <a:t>符号类型分类</a:t>
            </a:r>
          </a:p>
        </p:txBody>
      </p:sp>
    </p:spTree>
    <p:extLst>
      <p:ext uri="{BB962C8B-B14F-4D97-AF65-F5344CB8AC3E}">
        <p14:creationId xmlns:p14="http://schemas.microsoft.com/office/powerpoint/2010/main" val="345813207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733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27333"/>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22733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227334"/>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22733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227335"/>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227336"/>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227336"/>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2734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227343"/>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22733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7338"/>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227339"/>
                                        </p:tgtEl>
                                        <p:attrNameLst>
                                          <p:attrName>style.visibility</p:attrName>
                                        </p:attrNameLst>
                                      </p:cBhvr>
                                      <p:to>
                                        <p:strVal val="visible"/>
                                      </p:to>
                                    </p:set>
                                  </p:childTnLst>
                                </p:cTn>
                              </p:par>
                              <p:par>
                                <p:cTn id="43" presetID="1" presetClass="exit" presetSubtype="0" fill="hold" nodeType="withEffect">
                                  <p:stCondLst>
                                    <p:cond delay="0"/>
                                  </p:stCondLst>
                                  <p:childTnLst>
                                    <p:set>
                                      <p:cBhvr>
                                        <p:cTn id="44" dur="1" fill="hold">
                                          <p:stCondLst>
                                            <p:cond delay="0"/>
                                          </p:stCondLst>
                                        </p:cTn>
                                        <p:tgtEl>
                                          <p:spTgt spid="227338"/>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227337"/>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227344"/>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0"/>
                                          </p:stCondLst>
                                        </p:cTn>
                                        <p:tgtEl>
                                          <p:spTgt spid="227340"/>
                                        </p:tgtEl>
                                        <p:attrNameLst>
                                          <p:attrName>style.visibility</p:attrName>
                                        </p:attrNameLst>
                                      </p:cBhvr>
                                      <p:to>
                                        <p:strVal val="visible"/>
                                      </p:to>
                                    </p:set>
                                  </p:childTnLst>
                                </p:cTn>
                              </p:par>
                              <p:par>
                                <p:cTn id="53" presetID="1" presetClass="exit" presetSubtype="0" fill="hold" grpId="1" nodeType="withEffect">
                                  <p:stCondLst>
                                    <p:cond delay="0"/>
                                  </p:stCondLst>
                                  <p:childTnLst>
                                    <p:set>
                                      <p:cBhvr>
                                        <p:cTn id="54" dur="1" fill="hold">
                                          <p:stCondLst>
                                            <p:cond delay="0"/>
                                          </p:stCondLst>
                                        </p:cTn>
                                        <p:tgtEl>
                                          <p:spTgt spid="227344"/>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227339"/>
                                        </p:tgtEl>
                                        <p:attrNameLst>
                                          <p:attrName>style.visibility</p:attrName>
                                        </p:attrNameLst>
                                      </p:cBhvr>
                                      <p:to>
                                        <p:strVal val="hidden"/>
                                      </p:to>
                                    </p:set>
                                  </p:childTnLst>
                                </p:cTn>
                              </p:par>
                              <p:par>
                                <p:cTn id="57" presetID="1" presetClass="entr" presetSubtype="0" fill="hold" grpId="0" nodeType="withEffect">
                                  <p:stCondLst>
                                    <p:cond delay="0"/>
                                  </p:stCondLst>
                                  <p:childTnLst>
                                    <p:set>
                                      <p:cBhvr>
                                        <p:cTn id="58" dur="1" fill="hold">
                                          <p:stCondLst>
                                            <p:cond delay="0"/>
                                          </p:stCondLst>
                                        </p:cTn>
                                        <p:tgtEl>
                                          <p:spTgt spid="227345"/>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227341"/>
                                        </p:tgtEl>
                                        <p:attrNameLst>
                                          <p:attrName>style.visibility</p:attrName>
                                        </p:attrNameLst>
                                      </p:cBhvr>
                                      <p:to>
                                        <p:strVal val="visible"/>
                                      </p:to>
                                    </p:set>
                                  </p:childTnLst>
                                </p:cTn>
                              </p:par>
                              <p:par>
                                <p:cTn id="63" presetID="1" presetClass="exit" presetSubtype="0" fill="hold" nodeType="withEffect">
                                  <p:stCondLst>
                                    <p:cond delay="0"/>
                                  </p:stCondLst>
                                  <p:childTnLst>
                                    <p:set>
                                      <p:cBhvr>
                                        <p:cTn id="64" dur="1" fill="hold">
                                          <p:stCondLst>
                                            <p:cond delay="0"/>
                                          </p:stCondLst>
                                        </p:cTn>
                                        <p:tgtEl>
                                          <p:spTgt spid="227340"/>
                                        </p:tgtEl>
                                        <p:attrNameLst>
                                          <p:attrName>style.visibility</p:attrName>
                                        </p:attrNameLst>
                                      </p:cBhvr>
                                      <p:to>
                                        <p:strVal val="hidden"/>
                                      </p:to>
                                    </p:set>
                                  </p:childTnLst>
                                </p:cTn>
                              </p:par>
                              <p:par>
                                <p:cTn id="65" presetID="1" presetClass="exit" presetSubtype="0" fill="hold" grpId="1" nodeType="withEffect">
                                  <p:stCondLst>
                                    <p:cond delay="0"/>
                                  </p:stCondLst>
                                  <p:childTnLst>
                                    <p:set>
                                      <p:cBhvr>
                                        <p:cTn id="66" dur="1" fill="hold">
                                          <p:stCondLst>
                                            <p:cond delay="0"/>
                                          </p:stCondLst>
                                        </p:cTn>
                                        <p:tgtEl>
                                          <p:spTgt spid="227345"/>
                                        </p:tgtEl>
                                        <p:attrNameLst>
                                          <p:attrName>style.visibility</p:attrName>
                                        </p:attrNameLst>
                                      </p:cBhvr>
                                      <p:to>
                                        <p:strVal val="hidden"/>
                                      </p:to>
                                    </p:set>
                                  </p:childTnLst>
                                </p:cTn>
                              </p:par>
                              <p:par>
                                <p:cTn id="67" presetID="1" presetClass="entr" presetSubtype="0" fill="hold" grpId="0" nodeType="withEffect">
                                  <p:stCondLst>
                                    <p:cond delay="0"/>
                                  </p:stCondLst>
                                  <p:childTnLst>
                                    <p:set>
                                      <p:cBhvr>
                                        <p:cTn id="68" dur="1" fill="hold">
                                          <p:stCondLst>
                                            <p:cond delay="0"/>
                                          </p:stCondLst>
                                        </p:cTn>
                                        <p:tgtEl>
                                          <p:spTgt spid="227346"/>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xit" presetSubtype="0" fill="hold" grpId="1" nodeType="clickEffect">
                                  <p:stCondLst>
                                    <p:cond delay="0"/>
                                  </p:stCondLst>
                                  <p:childTnLst>
                                    <p:set>
                                      <p:cBhvr>
                                        <p:cTn id="72" dur="1" fill="hold">
                                          <p:stCondLst>
                                            <p:cond delay="0"/>
                                          </p:stCondLst>
                                        </p:cTn>
                                        <p:tgtEl>
                                          <p:spTgt spid="227346"/>
                                        </p:tgtEl>
                                        <p:attrNameLst>
                                          <p:attrName>style.visibility</p:attrName>
                                        </p:attrNameLst>
                                      </p:cBhvr>
                                      <p:to>
                                        <p:strVal val="hidden"/>
                                      </p:to>
                                    </p:set>
                                  </p:childTnLst>
                                </p:cTn>
                              </p:par>
                              <p:par>
                                <p:cTn id="73" presetID="1" presetClass="entr" presetSubtype="0" fill="hold" nodeType="withEffect">
                                  <p:stCondLst>
                                    <p:cond delay="0"/>
                                  </p:stCondLst>
                                  <p:childTnLst>
                                    <p:set>
                                      <p:cBhvr>
                                        <p:cTn id="74" dur="1" fill="hold">
                                          <p:stCondLst>
                                            <p:cond delay="0"/>
                                          </p:stCondLst>
                                        </p:cTn>
                                        <p:tgtEl>
                                          <p:spTgt spid="227342"/>
                                        </p:tgtEl>
                                        <p:attrNameLst>
                                          <p:attrName>style.visibility</p:attrName>
                                        </p:attrNameLst>
                                      </p:cBhvr>
                                      <p:to>
                                        <p:strVal val="visible"/>
                                      </p:to>
                                    </p:set>
                                  </p:childTnLst>
                                </p:cTn>
                              </p:par>
                              <p:par>
                                <p:cTn id="75" presetID="1" presetClass="exit" presetSubtype="0" fill="hold" nodeType="withEffect">
                                  <p:stCondLst>
                                    <p:cond delay="0"/>
                                  </p:stCondLst>
                                  <p:childTnLst>
                                    <p:set>
                                      <p:cBhvr>
                                        <p:cTn id="76" dur="1" fill="hold">
                                          <p:stCondLst>
                                            <p:cond delay="0"/>
                                          </p:stCondLst>
                                        </p:cTn>
                                        <p:tgtEl>
                                          <p:spTgt spid="227341"/>
                                        </p:tgtEl>
                                        <p:attrNameLst>
                                          <p:attrName>style.visibility</p:attrName>
                                        </p:attrNameLst>
                                      </p:cBhvr>
                                      <p:to>
                                        <p:strVal val="hidden"/>
                                      </p:to>
                                    </p:set>
                                  </p:childTnLst>
                                </p:cTn>
                              </p:par>
                              <p:par>
                                <p:cTn id="77" presetID="1" presetClass="entr" presetSubtype="0" fill="hold" grpId="0" nodeType="withEffect">
                                  <p:stCondLst>
                                    <p:cond delay="0"/>
                                  </p:stCondLst>
                                  <p:childTnLst>
                                    <p:set>
                                      <p:cBhvr>
                                        <p:cTn id="78" dur="1" fill="hold">
                                          <p:stCondLst>
                                            <p:cond delay="0"/>
                                          </p:stCondLst>
                                        </p:cTn>
                                        <p:tgtEl>
                                          <p:spTgt spid="2273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3" grpId="0" animBg="1"/>
      <p:bldP spid="227333" grpId="1" animBg="1"/>
      <p:bldP spid="227334" grpId="0" animBg="1"/>
      <p:bldP spid="227334" grpId="1" animBg="1"/>
      <p:bldP spid="227335" grpId="0" animBg="1"/>
      <p:bldP spid="227335" grpId="1" animBg="1"/>
      <p:bldP spid="227336" grpId="0" animBg="1"/>
      <p:bldP spid="227336" grpId="1" animBg="1"/>
      <p:bldP spid="227337" grpId="0" animBg="1"/>
      <p:bldP spid="227337" grpId="1" animBg="1"/>
      <p:bldP spid="227343" grpId="0" animBg="1"/>
      <p:bldP spid="227343" grpId="1" animBg="1"/>
      <p:bldP spid="227344" grpId="0" animBg="1"/>
      <p:bldP spid="227344" grpId="1" animBg="1"/>
      <p:bldP spid="227345" grpId="0" animBg="1"/>
      <p:bldP spid="227345" grpId="1" animBg="1"/>
      <p:bldP spid="227346" grpId="0" animBg="1"/>
      <p:bldP spid="227346" grpId="1" animBg="1"/>
      <p:bldP spid="227347"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idx="4294967295"/>
          </p:nvPr>
        </p:nvSpPr>
        <p:spPr>
          <a:xfrm>
            <a:off x="468313" y="115888"/>
            <a:ext cx="8229600" cy="560387"/>
          </a:xfrm>
        </p:spPr>
        <p:txBody>
          <a:bodyPr anchorCtr="1"/>
          <a:lstStyle/>
          <a:p>
            <a:pPr eaLnBrk="1" hangingPunct="1"/>
            <a:r>
              <a:rPr lang="en-US" altLang="zh-CN">
                <a:latin typeface="楷体_GB2312" pitchFamily="49" charset="-122"/>
                <a:ea typeface="楷体_GB2312" pitchFamily="49" charset="-122"/>
              </a:rPr>
              <a:t> 8</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Linux</a:t>
            </a:r>
            <a:r>
              <a:rPr lang="zh-CN" altLang="en-US">
                <a:latin typeface="楷体_GB2312" pitchFamily="49" charset="-122"/>
                <a:ea typeface="楷体_GB2312" pitchFamily="49" charset="-122"/>
              </a:rPr>
              <a:t>与其他系统的区别</a:t>
            </a:r>
            <a:r>
              <a:rPr lang="zh-CN" altLang="en-US">
                <a:solidFill>
                  <a:schemeClr val="folHlink"/>
                </a:solidFill>
                <a:latin typeface="楷体_GB2312" pitchFamily="49" charset="-122"/>
                <a:ea typeface="楷体_GB2312" pitchFamily="49" charset="-122"/>
              </a:rPr>
              <a:t> </a:t>
            </a:r>
          </a:p>
        </p:txBody>
      </p:sp>
      <p:sp>
        <p:nvSpPr>
          <p:cNvPr id="334851" name="Rectangle 3"/>
          <p:cNvSpPr>
            <a:spLocks noGrp="1" noChangeArrowheads="1"/>
          </p:cNvSpPr>
          <p:nvPr>
            <p:ph type="body" idx="4294967295"/>
          </p:nvPr>
        </p:nvSpPr>
        <p:spPr>
          <a:xfrm>
            <a:off x="527050" y="1371600"/>
            <a:ext cx="8388350" cy="5029200"/>
          </a:xfrm>
        </p:spPr>
        <p:txBody>
          <a:bodyPr/>
          <a:lstStyle/>
          <a:p>
            <a:pPr eaLnBrk="1" hangingPunct="1">
              <a:defRPr/>
            </a:pPr>
            <a:r>
              <a:rPr lang="en-US" altLang="zh-CN" dirty="0">
                <a:solidFill>
                  <a:srgbClr val="D71B07"/>
                </a:solidFill>
                <a:latin typeface="楷体_GB2312" pitchFamily="49" charset="-122"/>
                <a:ea typeface="楷体_GB2312" pitchFamily="49" charset="-122"/>
              </a:rPr>
              <a:t>Linux</a:t>
            </a:r>
            <a:r>
              <a:rPr lang="zh-CN" altLang="en-US" dirty="0">
                <a:solidFill>
                  <a:srgbClr val="D71B07"/>
                </a:solidFill>
                <a:latin typeface="楷体_GB2312" pitchFamily="49" charset="-122"/>
                <a:ea typeface="楷体_GB2312" pitchFamily="49" charset="-122"/>
              </a:rPr>
              <a:t>与</a:t>
            </a:r>
            <a:r>
              <a:rPr lang="en-US" altLang="zh-CN" dirty="0">
                <a:solidFill>
                  <a:srgbClr val="D71B07"/>
                </a:solidFill>
                <a:latin typeface="楷体_GB2312" pitchFamily="49" charset="-122"/>
                <a:ea typeface="楷体_GB2312" pitchFamily="49" charset="-122"/>
              </a:rPr>
              <a:t>MS-DOS</a:t>
            </a:r>
            <a:endParaRPr lang="zh-CN" altLang="en-US" dirty="0">
              <a:solidFill>
                <a:srgbClr val="D71B07"/>
              </a:solidFill>
              <a:latin typeface="楷体_GB2312" pitchFamily="49" charset="-122"/>
              <a:ea typeface="楷体_GB2312" pitchFamily="49" charset="-122"/>
            </a:endParaRPr>
          </a:p>
          <a:p>
            <a:pPr lvl="1" eaLnBrk="1" hangingPunct="1">
              <a:defRPr/>
            </a:pPr>
            <a:r>
              <a:rPr lang="zh-CN" altLang="en-US" sz="2800" dirty="0">
                <a:solidFill>
                  <a:srgbClr val="2B5681"/>
                </a:solidFill>
                <a:latin typeface="楷体_GB2312" pitchFamily="49" charset="-122"/>
                <a:ea typeface="楷体_GB2312" pitchFamily="49" charset="-122"/>
                <a:cs typeface="+mn-cs"/>
              </a:rPr>
              <a:t>任务调度：</a:t>
            </a:r>
            <a:r>
              <a:rPr lang="en-US" altLang="zh-CN" sz="2800" dirty="0">
                <a:solidFill>
                  <a:srgbClr val="2B5681"/>
                </a:solidFill>
                <a:latin typeface="楷体_GB2312" pitchFamily="49" charset="-122"/>
                <a:ea typeface="楷体_GB2312" pitchFamily="49" charset="-122"/>
                <a:cs typeface="+mn-cs"/>
              </a:rPr>
              <a:t>MS-DOS</a:t>
            </a:r>
            <a:r>
              <a:rPr lang="zh-CN" altLang="en-US" sz="2800" dirty="0">
                <a:solidFill>
                  <a:srgbClr val="2B5681"/>
                </a:solidFill>
                <a:latin typeface="楷体_GB2312" pitchFamily="49" charset="-122"/>
                <a:ea typeface="楷体_GB2312" pitchFamily="49" charset="-122"/>
                <a:cs typeface="+mn-cs"/>
              </a:rPr>
              <a:t>是单任务的操作系统，而</a:t>
            </a:r>
            <a:r>
              <a:rPr lang="en-US" altLang="zh-CN" sz="2800" dirty="0">
                <a:solidFill>
                  <a:srgbClr val="2B5681"/>
                </a:solidFill>
                <a:latin typeface="楷体_GB2312" pitchFamily="49" charset="-122"/>
                <a:ea typeface="楷体_GB2312" pitchFamily="49" charset="-122"/>
                <a:cs typeface="+mn-cs"/>
              </a:rPr>
              <a:t>Linux</a:t>
            </a:r>
            <a:r>
              <a:rPr lang="zh-CN" altLang="en-US" sz="2800" dirty="0">
                <a:solidFill>
                  <a:srgbClr val="2B5681"/>
                </a:solidFill>
                <a:latin typeface="楷体_GB2312" pitchFamily="49" charset="-122"/>
                <a:ea typeface="楷体_GB2312" pitchFamily="49" charset="-122"/>
                <a:cs typeface="+mn-cs"/>
              </a:rPr>
              <a:t>是多任务的操作系统，用户可以同时运行多个应用程序。</a:t>
            </a:r>
          </a:p>
          <a:p>
            <a:pPr eaLnBrk="1" hangingPunct="1">
              <a:defRPr/>
            </a:pPr>
            <a:r>
              <a:rPr lang="en-US" altLang="zh-CN" dirty="0">
                <a:solidFill>
                  <a:srgbClr val="D71B07"/>
                </a:solidFill>
                <a:latin typeface="楷体_GB2312" pitchFamily="49" charset="-122"/>
                <a:ea typeface="楷体_GB2312" pitchFamily="49" charset="-122"/>
              </a:rPr>
              <a:t>Linux</a:t>
            </a:r>
            <a:r>
              <a:rPr lang="zh-CN" altLang="en-US" dirty="0">
                <a:solidFill>
                  <a:srgbClr val="D71B07"/>
                </a:solidFill>
                <a:latin typeface="楷体_GB2312" pitchFamily="49" charset="-122"/>
                <a:ea typeface="楷体_GB2312" pitchFamily="49" charset="-122"/>
              </a:rPr>
              <a:t>与</a:t>
            </a:r>
            <a:r>
              <a:rPr lang="en-US" altLang="zh-CN" dirty="0">
                <a:solidFill>
                  <a:srgbClr val="D71B07"/>
                </a:solidFill>
                <a:latin typeface="楷体_GB2312" pitchFamily="49" charset="-122"/>
                <a:ea typeface="楷体_GB2312" pitchFamily="49" charset="-122"/>
              </a:rPr>
              <a:t>Windows</a:t>
            </a:r>
            <a:endParaRPr lang="zh-CN" altLang="en-US" dirty="0">
              <a:solidFill>
                <a:srgbClr val="D71B07"/>
              </a:solidFill>
              <a:latin typeface="楷体_GB2312" pitchFamily="49" charset="-122"/>
              <a:ea typeface="楷体_GB2312" pitchFamily="49" charset="-122"/>
            </a:endParaRPr>
          </a:p>
          <a:p>
            <a:pPr marL="800100" lvl="3" indent="-342900" eaLnBrk="1" hangingPunct="1">
              <a:buClr>
                <a:schemeClr val="accent2"/>
              </a:buClr>
              <a:buFont typeface="Wingdings" panose="05000000000000000000" pitchFamily="2" charset="2"/>
              <a:buChar char="u"/>
              <a:defRPr/>
            </a:pPr>
            <a:r>
              <a:rPr lang="en-US" altLang="zh-CN" sz="2800" b="1" dirty="0">
                <a:solidFill>
                  <a:srgbClr val="2B5681"/>
                </a:solidFill>
                <a:latin typeface="楷体_GB2312" pitchFamily="49" charset="-122"/>
                <a:ea typeface="楷体_GB2312" pitchFamily="49" charset="-122"/>
                <a:cs typeface="+mn-cs"/>
              </a:rPr>
              <a:t>Linux</a:t>
            </a:r>
            <a:r>
              <a:rPr lang="zh-CN" altLang="en-US" sz="2800" b="1" dirty="0">
                <a:solidFill>
                  <a:srgbClr val="2B5681"/>
                </a:solidFill>
                <a:latin typeface="楷体_GB2312" pitchFamily="49" charset="-122"/>
                <a:ea typeface="楷体_GB2312" pitchFamily="49" charset="-122"/>
                <a:cs typeface="+mn-cs"/>
              </a:rPr>
              <a:t>是从一个比较成熟的操作系统</a:t>
            </a:r>
            <a:r>
              <a:rPr lang="en-US" altLang="zh-CN" sz="2800" b="1" dirty="0">
                <a:solidFill>
                  <a:srgbClr val="2B5681"/>
                </a:solidFill>
                <a:latin typeface="楷体_GB2312" pitchFamily="49" charset="-122"/>
                <a:ea typeface="楷体_GB2312" pitchFamily="49" charset="-122"/>
                <a:cs typeface="+mn-cs"/>
              </a:rPr>
              <a:t>UNIX</a:t>
            </a:r>
            <a:r>
              <a:rPr lang="zh-CN" altLang="en-US" sz="2800" b="1" dirty="0">
                <a:solidFill>
                  <a:srgbClr val="2B5681"/>
                </a:solidFill>
                <a:latin typeface="楷体_GB2312" pitchFamily="49" charset="-122"/>
                <a:ea typeface="楷体_GB2312" pitchFamily="49" charset="-122"/>
                <a:cs typeface="+mn-cs"/>
              </a:rPr>
              <a:t>发展而来的，是一种开放、免费的操作系统，</a:t>
            </a:r>
            <a:r>
              <a:rPr lang="en-US" altLang="zh-CN" sz="2800" b="1" dirty="0">
                <a:solidFill>
                  <a:srgbClr val="2B5681"/>
                </a:solidFill>
                <a:latin typeface="楷体_GB2312" pitchFamily="49" charset="-122"/>
                <a:ea typeface="楷体_GB2312" pitchFamily="49" charset="-122"/>
                <a:cs typeface="+mn-cs"/>
              </a:rPr>
              <a:t>Windows</a:t>
            </a:r>
            <a:r>
              <a:rPr lang="zh-CN" altLang="en-US" sz="2800" b="1" dirty="0">
                <a:solidFill>
                  <a:srgbClr val="2B5681"/>
                </a:solidFill>
                <a:latin typeface="楷体_GB2312" pitchFamily="49" charset="-122"/>
                <a:ea typeface="楷体_GB2312" pitchFamily="49" charset="-122"/>
                <a:cs typeface="+mn-cs"/>
              </a:rPr>
              <a:t>是封闭的系统，有偿使用；</a:t>
            </a:r>
          </a:p>
          <a:p>
            <a:pPr marL="800100" lvl="3" indent="-342900" eaLnBrk="1" hangingPunct="1">
              <a:buClr>
                <a:schemeClr val="accent2"/>
              </a:buClr>
              <a:buFont typeface="Wingdings" panose="05000000000000000000" pitchFamily="2" charset="2"/>
              <a:buChar char="u"/>
              <a:defRPr/>
            </a:pPr>
            <a:r>
              <a:rPr lang="en-US" altLang="zh-CN" sz="2800" b="1" dirty="0">
                <a:solidFill>
                  <a:srgbClr val="2B5681"/>
                </a:solidFill>
                <a:latin typeface="楷体_GB2312" pitchFamily="49" charset="-122"/>
                <a:ea typeface="楷体_GB2312" pitchFamily="49" charset="-122"/>
                <a:cs typeface="+mn-cs"/>
              </a:rPr>
              <a:t>Linux</a:t>
            </a:r>
            <a:r>
              <a:rPr lang="zh-CN" altLang="en-US" sz="2800" b="1" dirty="0">
                <a:solidFill>
                  <a:srgbClr val="2B5681"/>
                </a:solidFill>
                <a:latin typeface="楷体_GB2312" pitchFamily="49" charset="-122"/>
                <a:ea typeface="楷体_GB2312" pitchFamily="49" charset="-122"/>
                <a:cs typeface="+mn-cs"/>
              </a:rPr>
              <a:t>软件丰富，功能完备的</a:t>
            </a:r>
            <a:r>
              <a:rPr lang="en-US" altLang="zh-CN" sz="2800" b="1" dirty="0">
                <a:solidFill>
                  <a:srgbClr val="2B5681"/>
                </a:solidFill>
                <a:latin typeface="楷体_GB2312" pitchFamily="49" charset="-122"/>
                <a:ea typeface="楷体_GB2312" pitchFamily="49" charset="-122"/>
                <a:cs typeface="+mn-cs"/>
              </a:rPr>
              <a:t>GUI</a:t>
            </a:r>
            <a:endParaRPr lang="zh-CN" altLang="en-US" sz="2800" b="1" dirty="0">
              <a:solidFill>
                <a:srgbClr val="2B5681"/>
              </a:solidFill>
              <a:latin typeface="楷体_GB2312" pitchFamily="49" charset="-122"/>
              <a:ea typeface="楷体_GB2312" pitchFamily="49" charset="-122"/>
              <a:cs typeface="+mn-cs"/>
            </a:endParaRPr>
          </a:p>
          <a:p>
            <a:pPr marL="800100" lvl="3" indent="-342900" eaLnBrk="1" hangingPunct="1">
              <a:buClr>
                <a:schemeClr val="accent2"/>
              </a:buClr>
              <a:buFont typeface="Wingdings" panose="05000000000000000000" pitchFamily="2" charset="2"/>
              <a:buChar char="u"/>
              <a:defRPr/>
            </a:pPr>
            <a:r>
              <a:rPr lang="zh-CN" altLang="en-US" sz="2800" b="1" dirty="0">
                <a:solidFill>
                  <a:srgbClr val="2B5681"/>
                </a:solidFill>
                <a:latin typeface="楷体_GB2312" pitchFamily="49" charset="-122"/>
                <a:ea typeface="楷体_GB2312" pitchFamily="49" charset="-122"/>
                <a:cs typeface="+mn-cs"/>
              </a:rPr>
              <a:t>稳定性好，硬件适应性强</a:t>
            </a:r>
          </a:p>
          <a:p>
            <a:pPr marL="800100" lvl="3" indent="-342900" eaLnBrk="1" hangingPunct="1">
              <a:buClr>
                <a:schemeClr val="accent2"/>
              </a:buClr>
              <a:buFont typeface="Wingdings" panose="05000000000000000000" pitchFamily="2" charset="2"/>
              <a:buChar char="u"/>
              <a:defRPr/>
            </a:pPr>
            <a:r>
              <a:rPr lang="zh-CN" altLang="en-US" sz="2800" b="1" dirty="0">
                <a:solidFill>
                  <a:srgbClr val="2B5681"/>
                </a:solidFill>
                <a:latin typeface="楷体_GB2312" pitchFamily="49" charset="-122"/>
                <a:ea typeface="楷体_GB2312" pitchFamily="49" charset="-122"/>
                <a:cs typeface="+mn-cs"/>
              </a:rPr>
              <a:t>网络功能丰富</a:t>
            </a:r>
          </a:p>
          <a:p>
            <a:pPr marL="742950" lvl="2" indent="-342900" eaLnBrk="1" hangingPunct="1">
              <a:buClr>
                <a:schemeClr val="accent2"/>
              </a:buClr>
              <a:buFont typeface="Wingdings" panose="05000000000000000000" pitchFamily="2" charset="2"/>
              <a:buChar char="u"/>
              <a:defRPr/>
            </a:pPr>
            <a:endParaRPr lang="zh-CN" altLang="en-US" dirty="0">
              <a:solidFill>
                <a:srgbClr val="2B5681"/>
              </a:solidFill>
              <a:latin typeface="楷体_GB2312" pitchFamily="49" charset="-122"/>
              <a:ea typeface="楷体_GB2312" pitchFamily="49" charset="-122"/>
              <a:cs typeface="+mn-cs"/>
            </a:endParaRPr>
          </a:p>
        </p:txBody>
      </p:sp>
    </p:spTree>
    <p:extLst>
      <p:ext uri="{BB962C8B-B14F-4D97-AF65-F5344CB8AC3E}">
        <p14:creationId xmlns:p14="http://schemas.microsoft.com/office/powerpoint/2010/main" val="1355613008"/>
      </p:ext>
    </p:extLst>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3485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3485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34851">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334851">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334851">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334851">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3348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51" grpId="0" build="p" bldLvl="2"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6899" name="Rectangle 3"/>
          <p:cNvSpPr>
            <a:spLocks noGrp="1" noChangeArrowheads="1"/>
          </p:cNvSpPr>
          <p:nvPr>
            <p:ph type="body" idx="4294967295"/>
          </p:nvPr>
        </p:nvSpPr>
        <p:spPr>
          <a:xfrm>
            <a:off x="395288" y="981075"/>
            <a:ext cx="8424862" cy="5688013"/>
          </a:xfrm>
        </p:spPr>
        <p:txBody>
          <a:bodyPr/>
          <a:lstStyle/>
          <a:p>
            <a:pPr eaLnBrk="1" hangingPunct="1">
              <a:defRPr/>
            </a:pPr>
            <a:r>
              <a:rPr lang="en-US" altLang="zh-CN" dirty="0">
                <a:solidFill>
                  <a:srgbClr val="D71B07"/>
                </a:solidFill>
                <a:latin typeface="楷体_GB2312" pitchFamily="49" charset="-122"/>
                <a:ea typeface="楷体_GB2312" pitchFamily="49" charset="-122"/>
              </a:rPr>
              <a:t>Linux</a:t>
            </a:r>
            <a:r>
              <a:rPr lang="zh-CN" altLang="en-US" dirty="0">
                <a:solidFill>
                  <a:srgbClr val="D71B07"/>
                </a:solidFill>
                <a:latin typeface="楷体_GB2312" pitchFamily="49" charset="-122"/>
                <a:ea typeface="楷体_GB2312" pitchFamily="49" charset="-122"/>
              </a:rPr>
              <a:t>与商用</a:t>
            </a:r>
            <a:r>
              <a:rPr lang="en-US" altLang="zh-CN" dirty="0">
                <a:solidFill>
                  <a:srgbClr val="D71B07"/>
                </a:solidFill>
                <a:latin typeface="楷体_GB2312" pitchFamily="49" charset="-122"/>
                <a:ea typeface="楷体_GB2312" pitchFamily="49" charset="-122"/>
              </a:rPr>
              <a:t>UNIX</a:t>
            </a:r>
          </a:p>
          <a:p>
            <a:pPr lvl="1" eaLnBrk="1" hangingPunct="1">
              <a:lnSpc>
                <a:spcPct val="110000"/>
              </a:lnSpc>
              <a:defRPr/>
            </a:pPr>
            <a:r>
              <a:rPr lang="en-US" altLang="zh-CN" sz="2400" dirty="0">
                <a:solidFill>
                  <a:srgbClr val="2B5681"/>
                </a:solidFill>
                <a:latin typeface="楷体_GB2312" pitchFamily="49" charset="-122"/>
                <a:ea typeface="楷体_GB2312" pitchFamily="49" charset="-122"/>
                <a:cs typeface="+mn-cs"/>
              </a:rPr>
              <a:t>Linux</a:t>
            </a:r>
            <a:r>
              <a:rPr lang="zh-CN" altLang="en-US" sz="2400" dirty="0">
                <a:solidFill>
                  <a:srgbClr val="2B5681"/>
                </a:solidFill>
                <a:latin typeface="楷体_GB2312" pitchFamily="49" charset="-122"/>
                <a:ea typeface="楷体_GB2312" pitchFamily="49" charset="-122"/>
                <a:cs typeface="+mn-cs"/>
              </a:rPr>
              <a:t>和商用</a:t>
            </a:r>
            <a:r>
              <a:rPr lang="en-US" altLang="zh-CN" sz="2400" dirty="0">
                <a:solidFill>
                  <a:srgbClr val="2B5681"/>
                </a:solidFill>
                <a:latin typeface="楷体_GB2312" pitchFamily="49" charset="-122"/>
                <a:ea typeface="楷体_GB2312" pitchFamily="49" charset="-122"/>
                <a:cs typeface="+mn-cs"/>
              </a:rPr>
              <a:t>UNIX</a:t>
            </a:r>
            <a:r>
              <a:rPr lang="zh-CN" altLang="en-US" sz="2400" dirty="0">
                <a:solidFill>
                  <a:srgbClr val="2B5681"/>
                </a:solidFill>
                <a:latin typeface="楷体_GB2312" pitchFamily="49" charset="-122"/>
                <a:ea typeface="楷体_GB2312" pitchFamily="49" charset="-122"/>
                <a:cs typeface="+mn-cs"/>
              </a:rPr>
              <a:t>都基本支持同样的软件、程序设计环境和网络特性，可以说</a:t>
            </a:r>
            <a:r>
              <a:rPr lang="en-US" altLang="zh-CN" sz="2400" dirty="0">
                <a:solidFill>
                  <a:srgbClr val="2B5681"/>
                </a:solidFill>
                <a:latin typeface="楷体_GB2312" pitchFamily="49" charset="-122"/>
                <a:ea typeface="楷体_GB2312" pitchFamily="49" charset="-122"/>
                <a:cs typeface="+mn-cs"/>
              </a:rPr>
              <a:t>Linux</a:t>
            </a:r>
            <a:r>
              <a:rPr lang="zh-CN" altLang="en-US" sz="2400" dirty="0">
                <a:solidFill>
                  <a:srgbClr val="2B5681"/>
                </a:solidFill>
                <a:latin typeface="楷体_GB2312" pitchFamily="49" charset="-122"/>
                <a:ea typeface="楷体_GB2312" pitchFamily="49" charset="-122"/>
                <a:cs typeface="+mn-cs"/>
              </a:rPr>
              <a:t>是</a:t>
            </a:r>
            <a:r>
              <a:rPr lang="en-US" altLang="zh-CN" sz="2400" dirty="0">
                <a:solidFill>
                  <a:srgbClr val="2B5681"/>
                </a:solidFill>
                <a:latin typeface="楷体_GB2312" pitchFamily="49" charset="-122"/>
                <a:ea typeface="楷体_GB2312" pitchFamily="49" charset="-122"/>
                <a:cs typeface="+mn-cs"/>
              </a:rPr>
              <a:t>UNIX</a:t>
            </a:r>
            <a:r>
              <a:rPr lang="zh-CN" altLang="en-US" sz="2400" dirty="0">
                <a:solidFill>
                  <a:srgbClr val="2B5681"/>
                </a:solidFill>
                <a:latin typeface="楷体_GB2312" pitchFamily="49" charset="-122"/>
                <a:ea typeface="楷体_GB2312" pitchFamily="49" charset="-122"/>
                <a:cs typeface="+mn-cs"/>
              </a:rPr>
              <a:t>的</a:t>
            </a:r>
            <a:r>
              <a:rPr lang="en-US" altLang="zh-CN" sz="2400" dirty="0">
                <a:solidFill>
                  <a:srgbClr val="2B5681"/>
                </a:solidFill>
                <a:latin typeface="楷体_GB2312" pitchFamily="49" charset="-122"/>
                <a:ea typeface="楷体_GB2312" pitchFamily="49" charset="-122"/>
                <a:cs typeface="+mn-cs"/>
              </a:rPr>
              <a:t>PC</a:t>
            </a:r>
            <a:r>
              <a:rPr lang="zh-CN" altLang="en-US" sz="2400" dirty="0">
                <a:solidFill>
                  <a:srgbClr val="2B5681"/>
                </a:solidFill>
                <a:latin typeface="楷体_GB2312" pitchFamily="49" charset="-122"/>
                <a:ea typeface="楷体_GB2312" pitchFamily="49" charset="-122"/>
                <a:cs typeface="+mn-cs"/>
              </a:rPr>
              <a:t>版本，</a:t>
            </a:r>
            <a:r>
              <a:rPr lang="en-US" altLang="zh-CN" sz="2400" dirty="0">
                <a:solidFill>
                  <a:srgbClr val="2B5681"/>
                </a:solidFill>
                <a:latin typeface="楷体_GB2312" pitchFamily="49" charset="-122"/>
                <a:ea typeface="楷体_GB2312" pitchFamily="49" charset="-122"/>
                <a:cs typeface="+mn-cs"/>
              </a:rPr>
              <a:t>Linux</a:t>
            </a:r>
            <a:r>
              <a:rPr lang="zh-CN" altLang="en-US" sz="2400" dirty="0">
                <a:solidFill>
                  <a:srgbClr val="2B5681"/>
                </a:solidFill>
                <a:latin typeface="楷体_GB2312" pitchFamily="49" charset="-122"/>
                <a:ea typeface="楷体_GB2312" pitchFamily="49" charset="-122"/>
                <a:cs typeface="+mn-cs"/>
              </a:rPr>
              <a:t>在</a:t>
            </a:r>
            <a:r>
              <a:rPr lang="en-US" altLang="zh-CN" sz="2400" dirty="0">
                <a:solidFill>
                  <a:srgbClr val="2B5681"/>
                </a:solidFill>
                <a:latin typeface="楷体_GB2312" pitchFamily="49" charset="-122"/>
                <a:ea typeface="楷体_GB2312" pitchFamily="49" charset="-122"/>
                <a:cs typeface="+mn-cs"/>
              </a:rPr>
              <a:t>PC</a:t>
            </a:r>
            <a:r>
              <a:rPr lang="zh-CN" altLang="en-US" sz="2400" dirty="0">
                <a:solidFill>
                  <a:srgbClr val="2B5681"/>
                </a:solidFill>
                <a:latin typeface="楷体_GB2312" pitchFamily="49" charset="-122"/>
                <a:ea typeface="楷体_GB2312" pitchFamily="49" charset="-122"/>
                <a:cs typeface="+mn-cs"/>
              </a:rPr>
              <a:t>机上提供了相当于</a:t>
            </a:r>
            <a:r>
              <a:rPr lang="en-US" altLang="zh-CN" sz="2400" dirty="0">
                <a:solidFill>
                  <a:srgbClr val="2B5681"/>
                </a:solidFill>
                <a:latin typeface="楷体_GB2312" pitchFamily="49" charset="-122"/>
                <a:ea typeface="楷体_GB2312" pitchFamily="49" charset="-122"/>
                <a:cs typeface="+mn-cs"/>
              </a:rPr>
              <a:t>UNIX</a:t>
            </a:r>
            <a:r>
              <a:rPr lang="zh-CN" altLang="en-US" sz="2400" dirty="0">
                <a:solidFill>
                  <a:srgbClr val="2B5681"/>
                </a:solidFill>
                <a:latin typeface="楷体_GB2312" pitchFamily="49" charset="-122"/>
                <a:ea typeface="楷体_GB2312" pitchFamily="49" charset="-122"/>
                <a:cs typeface="+mn-cs"/>
              </a:rPr>
              <a:t>工作站的性能。</a:t>
            </a:r>
          </a:p>
          <a:p>
            <a:pPr lvl="1" eaLnBrk="1" hangingPunct="1">
              <a:lnSpc>
                <a:spcPct val="110000"/>
              </a:lnSpc>
              <a:defRPr/>
            </a:pPr>
            <a:r>
              <a:rPr lang="en-US" altLang="zh-CN" sz="2400" dirty="0">
                <a:solidFill>
                  <a:srgbClr val="2B5681"/>
                </a:solidFill>
                <a:latin typeface="楷体_GB2312" pitchFamily="49" charset="-122"/>
                <a:ea typeface="楷体_GB2312" pitchFamily="49" charset="-122"/>
                <a:cs typeface="+mn-cs"/>
              </a:rPr>
              <a:t>Linux</a:t>
            </a:r>
            <a:r>
              <a:rPr lang="zh-CN" altLang="en-US" sz="2400" dirty="0">
                <a:solidFill>
                  <a:srgbClr val="2B5681"/>
                </a:solidFill>
                <a:latin typeface="楷体_GB2312" pitchFamily="49" charset="-122"/>
                <a:ea typeface="楷体_GB2312" pitchFamily="49" charset="-122"/>
                <a:cs typeface="+mn-cs"/>
              </a:rPr>
              <a:t>是免费软件，用户可以从网上下载，而商用的</a:t>
            </a:r>
            <a:r>
              <a:rPr lang="en-US" altLang="zh-CN" sz="2400" dirty="0">
                <a:solidFill>
                  <a:srgbClr val="2B5681"/>
                </a:solidFill>
                <a:latin typeface="楷体_GB2312" pitchFamily="49" charset="-122"/>
                <a:ea typeface="楷体_GB2312" pitchFamily="49" charset="-122"/>
                <a:cs typeface="+mn-cs"/>
              </a:rPr>
              <a:t>UNIX</a:t>
            </a:r>
            <a:r>
              <a:rPr lang="zh-CN" altLang="en-US" sz="2400" dirty="0">
                <a:solidFill>
                  <a:srgbClr val="2B5681"/>
                </a:solidFill>
                <a:latin typeface="楷体_GB2312" pitchFamily="49" charset="-122"/>
                <a:ea typeface="楷体_GB2312" pitchFamily="49" charset="-122"/>
                <a:cs typeface="+mn-cs"/>
              </a:rPr>
              <a:t>除了软件本身的价格外，用户还需支付文档、售后服务费用</a:t>
            </a:r>
          </a:p>
          <a:p>
            <a:pPr lvl="1" eaLnBrk="1" hangingPunct="1">
              <a:lnSpc>
                <a:spcPct val="110000"/>
              </a:lnSpc>
              <a:defRPr/>
            </a:pPr>
            <a:r>
              <a:rPr lang="en-US" altLang="zh-CN" sz="2400" dirty="0">
                <a:solidFill>
                  <a:srgbClr val="2B5681"/>
                </a:solidFill>
                <a:latin typeface="楷体_GB2312" pitchFamily="49" charset="-122"/>
                <a:ea typeface="楷体_GB2312" pitchFamily="49" charset="-122"/>
                <a:cs typeface="+mn-cs"/>
              </a:rPr>
              <a:t>Linux</a:t>
            </a:r>
            <a:r>
              <a:rPr lang="zh-CN" altLang="en-US" sz="2400" dirty="0">
                <a:solidFill>
                  <a:srgbClr val="2B5681"/>
                </a:solidFill>
                <a:latin typeface="楷体_GB2312" pitchFamily="49" charset="-122"/>
                <a:ea typeface="楷体_GB2312" pitchFamily="49" charset="-122"/>
                <a:cs typeface="+mn-cs"/>
              </a:rPr>
              <a:t>拥有</a:t>
            </a:r>
            <a:r>
              <a:rPr lang="en-US" altLang="zh-CN" sz="2400" dirty="0">
                <a:solidFill>
                  <a:srgbClr val="2B5681"/>
                </a:solidFill>
                <a:latin typeface="楷体_GB2312" pitchFamily="49" charset="-122"/>
                <a:ea typeface="楷体_GB2312" pitchFamily="49" charset="-122"/>
                <a:cs typeface="+mn-cs"/>
              </a:rPr>
              <a:t>GNU</a:t>
            </a:r>
            <a:r>
              <a:rPr lang="zh-CN" altLang="en-US" sz="2400" dirty="0">
                <a:solidFill>
                  <a:srgbClr val="2B5681"/>
                </a:solidFill>
                <a:latin typeface="楷体_GB2312" pitchFamily="49" charset="-122"/>
                <a:ea typeface="楷体_GB2312" pitchFamily="49" charset="-122"/>
                <a:cs typeface="+mn-cs"/>
              </a:rPr>
              <a:t>软件支持，</a:t>
            </a:r>
            <a:r>
              <a:rPr lang="en-US" altLang="zh-CN" sz="2400" dirty="0">
                <a:solidFill>
                  <a:srgbClr val="2B5681"/>
                </a:solidFill>
                <a:latin typeface="楷体_GB2312" pitchFamily="49" charset="-122"/>
                <a:ea typeface="楷体_GB2312" pitchFamily="49" charset="-122"/>
                <a:cs typeface="+mn-cs"/>
              </a:rPr>
              <a:t>Linux</a:t>
            </a:r>
            <a:r>
              <a:rPr lang="zh-CN" altLang="en-US" sz="2400" dirty="0">
                <a:solidFill>
                  <a:srgbClr val="2B5681"/>
                </a:solidFill>
                <a:latin typeface="楷体_GB2312" pitchFamily="49" charset="-122"/>
                <a:ea typeface="楷体_GB2312" pitchFamily="49" charset="-122"/>
                <a:cs typeface="+mn-cs"/>
              </a:rPr>
              <a:t>能够运行</a:t>
            </a:r>
            <a:r>
              <a:rPr lang="en-US" altLang="zh-CN" sz="2400" dirty="0">
                <a:solidFill>
                  <a:srgbClr val="2B5681"/>
                </a:solidFill>
                <a:latin typeface="楷体_GB2312" pitchFamily="49" charset="-122"/>
                <a:ea typeface="楷体_GB2312" pitchFamily="49" charset="-122"/>
                <a:cs typeface="+mn-cs"/>
              </a:rPr>
              <a:t>GNU</a:t>
            </a:r>
            <a:r>
              <a:rPr lang="zh-CN" altLang="en-US" sz="2400" dirty="0">
                <a:solidFill>
                  <a:srgbClr val="2B5681"/>
                </a:solidFill>
                <a:latin typeface="楷体_GB2312" pitchFamily="49" charset="-122"/>
                <a:ea typeface="楷体_GB2312" pitchFamily="49" charset="-122"/>
                <a:cs typeface="+mn-cs"/>
              </a:rPr>
              <a:t>计划的大量免费软件，这些软件包括应用程序开发、文字处理、游戏等方面的内容</a:t>
            </a:r>
          </a:p>
          <a:p>
            <a:pPr lvl="1" eaLnBrk="1" hangingPunct="1">
              <a:lnSpc>
                <a:spcPct val="110000"/>
              </a:lnSpc>
              <a:defRPr/>
            </a:pPr>
            <a:r>
              <a:rPr lang="en-US" altLang="zh-CN" sz="2400" dirty="0">
                <a:solidFill>
                  <a:srgbClr val="2B5681"/>
                </a:solidFill>
                <a:latin typeface="楷体_GB2312" pitchFamily="49" charset="-122"/>
                <a:ea typeface="楷体_GB2312" pitchFamily="49" charset="-122"/>
                <a:cs typeface="+mn-cs"/>
              </a:rPr>
              <a:t>Linux</a:t>
            </a:r>
            <a:r>
              <a:rPr lang="zh-CN" altLang="en-US" sz="2400" dirty="0">
                <a:solidFill>
                  <a:srgbClr val="2B5681"/>
                </a:solidFill>
                <a:latin typeface="楷体_GB2312" pitchFamily="49" charset="-122"/>
                <a:ea typeface="楷体_GB2312" pitchFamily="49" charset="-122"/>
                <a:cs typeface="+mn-cs"/>
              </a:rPr>
              <a:t>的开发是开放的，任何志愿者都可对开发过程做贡献；而商用</a:t>
            </a:r>
            <a:r>
              <a:rPr lang="en-US" altLang="zh-CN" sz="2400" dirty="0">
                <a:solidFill>
                  <a:srgbClr val="2B5681"/>
                </a:solidFill>
                <a:latin typeface="楷体_GB2312" pitchFamily="49" charset="-122"/>
                <a:ea typeface="楷体_GB2312" pitchFamily="49" charset="-122"/>
                <a:cs typeface="+mn-cs"/>
              </a:rPr>
              <a:t>UNIX</a:t>
            </a:r>
            <a:r>
              <a:rPr lang="zh-CN" altLang="en-US" sz="2400" dirty="0">
                <a:solidFill>
                  <a:srgbClr val="2B5681"/>
                </a:solidFill>
                <a:latin typeface="楷体_GB2312" pitchFamily="49" charset="-122"/>
                <a:ea typeface="楷体_GB2312" pitchFamily="49" charset="-122"/>
                <a:cs typeface="+mn-cs"/>
              </a:rPr>
              <a:t>则是由专门的软件公司进行开发的</a:t>
            </a:r>
            <a:r>
              <a:rPr lang="en-US" altLang="zh-CN" sz="2400" dirty="0">
                <a:solidFill>
                  <a:srgbClr val="2B5681"/>
                </a:solidFill>
                <a:latin typeface="楷体_GB2312" pitchFamily="49" charset="-122"/>
                <a:ea typeface="楷体_GB2312" pitchFamily="49" charset="-122"/>
                <a:cs typeface="+mn-cs"/>
              </a:rPr>
              <a:t>.</a:t>
            </a:r>
            <a:endParaRPr lang="zh-CN" altLang="en-US" sz="2400" dirty="0">
              <a:solidFill>
                <a:srgbClr val="2B5681"/>
              </a:solidFill>
              <a:latin typeface="楷体_GB2312" pitchFamily="49" charset="-122"/>
              <a:ea typeface="楷体_GB2312" pitchFamily="49" charset="-122"/>
              <a:cs typeface="+mn-cs"/>
            </a:endParaRPr>
          </a:p>
        </p:txBody>
      </p:sp>
      <p:sp>
        <p:nvSpPr>
          <p:cNvPr id="4" name="Rectangle 2"/>
          <p:cNvSpPr txBox="1">
            <a:spLocks noChangeArrowheads="1"/>
          </p:cNvSpPr>
          <p:nvPr/>
        </p:nvSpPr>
        <p:spPr bwMode="black">
          <a:xfrm>
            <a:off x="468313" y="115888"/>
            <a:ext cx="822960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defRPr/>
            </a:pPr>
            <a:r>
              <a:rPr lang="en-US" altLang="zh-CN" kern="0">
                <a:latin typeface="楷体_GB2312" pitchFamily="49" charset="-122"/>
                <a:ea typeface="楷体_GB2312" pitchFamily="49" charset="-122"/>
              </a:rPr>
              <a:t> 8</a:t>
            </a:r>
            <a:r>
              <a:rPr lang="zh-CN" altLang="en-US" kern="0">
                <a:latin typeface="楷体_GB2312" pitchFamily="49" charset="-122"/>
                <a:ea typeface="楷体_GB2312" pitchFamily="49" charset="-122"/>
              </a:rPr>
              <a:t>、</a:t>
            </a:r>
            <a:r>
              <a:rPr lang="en-US" altLang="zh-CN" kern="0">
                <a:latin typeface="楷体_GB2312" pitchFamily="49" charset="-122"/>
                <a:ea typeface="楷体_GB2312" pitchFamily="49" charset="-122"/>
              </a:rPr>
              <a:t>Linux</a:t>
            </a:r>
            <a:r>
              <a:rPr lang="zh-CN" altLang="en-US" kern="0">
                <a:latin typeface="楷体_GB2312" pitchFamily="49" charset="-122"/>
                <a:ea typeface="楷体_GB2312" pitchFamily="49" charset="-122"/>
              </a:rPr>
              <a:t>与其他系统的区别</a:t>
            </a:r>
            <a:r>
              <a:rPr lang="zh-CN" altLang="en-US" kern="0">
                <a:solidFill>
                  <a:schemeClr val="folHlink"/>
                </a:solidFill>
                <a:latin typeface="楷体_GB2312" pitchFamily="49" charset="-122"/>
                <a:ea typeface="楷体_GB2312" pitchFamily="49" charset="-122"/>
              </a:rPr>
              <a:t> </a:t>
            </a:r>
            <a:endParaRPr lang="zh-CN" altLang="en-US" kern="0" dirty="0">
              <a:solidFill>
                <a:schemeClr val="folHlink"/>
              </a:solidFill>
              <a:latin typeface="楷体_GB2312" pitchFamily="49" charset="-122"/>
              <a:ea typeface="楷体_GB2312" pitchFamily="49" charset="-122"/>
            </a:endParaRPr>
          </a:p>
        </p:txBody>
      </p:sp>
    </p:spTree>
    <p:extLst>
      <p:ext uri="{BB962C8B-B14F-4D97-AF65-F5344CB8AC3E}">
        <p14:creationId xmlns:p14="http://schemas.microsoft.com/office/powerpoint/2010/main" val="1640251311"/>
      </p:ext>
    </p:extLst>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368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3689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3689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3689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368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899" grpId="0" build="p" bldLvl="2"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23" name="Rectangle 3"/>
          <p:cNvSpPr>
            <a:spLocks noGrp="1" noChangeArrowheads="1"/>
          </p:cNvSpPr>
          <p:nvPr>
            <p:ph type="body" idx="4294967295"/>
          </p:nvPr>
        </p:nvSpPr>
        <p:spPr/>
        <p:txBody>
          <a:bodyPr/>
          <a:lstStyle/>
          <a:p>
            <a:pPr eaLnBrk="1" hangingPunct="1">
              <a:defRPr/>
            </a:pPr>
            <a:r>
              <a:rPr lang="en-US" altLang="zh-CN" sz="2400" dirty="0">
                <a:solidFill>
                  <a:srgbClr val="D71B07"/>
                </a:solidFill>
                <a:latin typeface="楷体_GB2312" pitchFamily="49" charset="-122"/>
                <a:ea typeface="楷体_GB2312" pitchFamily="49" charset="-122"/>
              </a:rPr>
              <a:t>Linux</a:t>
            </a:r>
            <a:r>
              <a:rPr lang="zh-CN" altLang="en-US" sz="2400" dirty="0">
                <a:solidFill>
                  <a:srgbClr val="D71B07"/>
                </a:solidFill>
                <a:latin typeface="楷体_GB2312" pitchFamily="49" charset="-122"/>
                <a:ea typeface="楷体_GB2312" pitchFamily="49" charset="-122"/>
              </a:rPr>
              <a:t>与自由的</a:t>
            </a:r>
            <a:r>
              <a:rPr lang="en-US" altLang="zh-CN" sz="2400" dirty="0">
                <a:solidFill>
                  <a:srgbClr val="D71B07"/>
                </a:solidFill>
                <a:latin typeface="楷体_GB2312" pitchFamily="49" charset="-122"/>
                <a:ea typeface="楷体_GB2312" pitchFamily="49" charset="-122"/>
              </a:rPr>
              <a:t>UNIX</a:t>
            </a:r>
            <a:endParaRPr lang="zh-CN" altLang="en-US" sz="2400" dirty="0">
              <a:solidFill>
                <a:srgbClr val="D71B07"/>
              </a:solidFill>
              <a:latin typeface="楷体_GB2312" pitchFamily="49" charset="-122"/>
              <a:ea typeface="楷体_GB2312" pitchFamily="49" charset="-122"/>
            </a:endParaRPr>
          </a:p>
          <a:p>
            <a:pPr lvl="1" eaLnBrk="1" hangingPunct="1">
              <a:defRPr/>
            </a:pPr>
            <a:r>
              <a:rPr lang="zh-CN" altLang="en-US" sz="2400" dirty="0">
                <a:solidFill>
                  <a:srgbClr val="2B5681"/>
                </a:solidFill>
                <a:latin typeface="楷体_GB2312" pitchFamily="49" charset="-122"/>
                <a:ea typeface="楷体_GB2312" pitchFamily="49" charset="-122"/>
                <a:cs typeface="+mn-cs"/>
              </a:rPr>
              <a:t>组织方式：</a:t>
            </a:r>
            <a:r>
              <a:rPr lang="en-US" altLang="zh-CN" sz="2400" dirty="0">
                <a:solidFill>
                  <a:srgbClr val="2B5681"/>
                </a:solidFill>
                <a:latin typeface="楷体_GB2312" pitchFamily="49" charset="-122"/>
                <a:ea typeface="楷体_GB2312" pitchFamily="49" charset="-122"/>
                <a:cs typeface="+mn-cs"/>
              </a:rPr>
              <a:t>FreeBSD</a:t>
            </a:r>
            <a:r>
              <a:rPr lang="zh-CN" altLang="en-US" sz="2400" dirty="0">
                <a:solidFill>
                  <a:srgbClr val="2B5681"/>
                </a:solidFill>
                <a:latin typeface="楷体_GB2312" pitchFamily="49" charset="-122"/>
                <a:ea typeface="楷体_GB2312" pitchFamily="49" charset="-122"/>
                <a:cs typeface="+mn-cs"/>
              </a:rPr>
              <a:t>由它的核心团队领导，他们负责原始程序的开发与维护。</a:t>
            </a:r>
            <a:r>
              <a:rPr lang="en-US" altLang="zh-CN" sz="2400" dirty="0">
                <a:solidFill>
                  <a:srgbClr val="2B5681"/>
                </a:solidFill>
                <a:latin typeface="楷体_GB2312" pitchFamily="49" charset="-122"/>
                <a:ea typeface="楷体_GB2312" pitchFamily="49" charset="-122"/>
                <a:cs typeface="+mn-cs"/>
              </a:rPr>
              <a:t>Linux</a:t>
            </a:r>
            <a:r>
              <a:rPr lang="zh-CN" altLang="en-US" sz="2400" dirty="0">
                <a:solidFill>
                  <a:srgbClr val="2B5681"/>
                </a:solidFill>
                <a:latin typeface="楷体_GB2312" pitchFamily="49" charset="-122"/>
                <a:ea typeface="楷体_GB2312" pitchFamily="49" charset="-122"/>
                <a:cs typeface="+mn-cs"/>
              </a:rPr>
              <a:t>没有核心团队，来自世界各地的爱好者都可以发布自己的补丁 。</a:t>
            </a:r>
          </a:p>
          <a:p>
            <a:pPr lvl="1" eaLnBrk="1" hangingPunct="1">
              <a:defRPr/>
            </a:pPr>
            <a:r>
              <a:rPr lang="zh-CN" altLang="en-US" sz="2400" dirty="0">
                <a:solidFill>
                  <a:srgbClr val="2B5681"/>
                </a:solidFill>
                <a:latin typeface="楷体_GB2312" pitchFamily="49" charset="-122"/>
                <a:ea typeface="楷体_GB2312" pitchFamily="49" charset="-122"/>
                <a:cs typeface="+mn-cs"/>
              </a:rPr>
              <a:t>发展方向：由于人力有限，</a:t>
            </a:r>
            <a:r>
              <a:rPr lang="en-US" altLang="zh-CN" sz="2400" dirty="0">
                <a:solidFill>
                  <a:srgbClr val="2B5681"/>
                </a:solidFill>
                <a:latin typeface="楷体_GB2312" pitchFamily="49" charset="-122"/>
                <a:ea typeface="楷体_GB2312" pitchFamily="49" charset="-122"/>
                <a:cs typeface="+mn-cs"/>
              </a:rPr>
              <a:t>FreeBSD</a:t>
            </a:r>
            <a:r>
              <a:rPr lang="zh-CN" altLang="en-US" sz="2400" dirty="0">
                <a:solidFill>
                  <a:srgbClr val="2B5681"/>
                </a:solidFill>
                <a:latin typeface="楷体_GB2312" pitchFamily="49" charset="-122"/>
                <a:ea typeface="楷体_GB2312" pitchFamily="49" charset="-122"/>
                <a:cs typeface="+mn-cs"/>
              </a:rPr>
              <a:t>的核心团队将主要精力投入在</a:t>
            </a:r>
            <a:r>
              <a:rPr lang="en-US" altLang="zh-CN" sz="2400" dirty="0">
                <a:solidFill>
                  <a:srgbClr val="2B5681"/>
                </a:solidFill>
                <a:latin typeface="楷体_GB2312" pitchFamily="49" charset="-122"/>
                <a:ea typeface="楷体_GB2312" pitchFamily="49" charset="-122"/>
                <a:cs typeface="+mn-cs"/>
              </a:rPr>
              <a:t>UNIX</a:t>
            </a:r>
            <a:r>
              <a:rPr lang="zh-CN" altLang="en-US" sz="2400" dirty="0">
                <a:solidFill>
                  <a:srgbClr val="2B5681"/>
                </a:solidFill>
                <a:latin typeface="楷体_GB2312" pitchFamily="49" charset="-122"/>
                <a:ea typeface="楷体_GB2312" pitchFamily="49" charset="-122"/>
                <a:cs typeface="+mn-cs"/>
              </a:rPr>
              <a:t>自身的风格和特点上，不像</a:t>
            </a:r>
            <a:r>
              <a:rPr lang="en-US" altLang="zh-CN" sz="2400" dirty="0">
                <a:solidFill>
                  <a:srgbClr val="2B5681"/>
                </a:solidFill>
                <a:latin typeface="楷体_GB2312" pitchFamily="49" charset="-122"/>
                <a:ea typeface="楷体_GB2312" pitchFamily="49" charset="-122"/>
                <a:cs typeface="+mn-cs"/>
              </a:rPr>
              <a:t>Linux</a:t>
            </a:r>
            <a:r>
              <a:rPr lang="zh-CN" altLang="en-US" sz="2400" dirty="0">
                <a:solidFill>
                  <a:srgbClr val="2B5681"/>
                </a:solidFill>
                <a:latin typeface="楷体_GB2312" pitchFamily="49" charset="-122"/>
                <a:ea typeface="楷体_GB2312" pitchFamily="49" charset="-122"/>
                <a:cs typeface="+mn-cs"/>
              </a:rPr>
              <a:t>那样对相关硬件支持多，因而在易用上稍微逊色一些。</a:t>
            </a:r>
          </a:p>
          <a:p>
            <a:pPr lvl="1" eaLnBrk="1" hangingPunct="1">
              <a:defRPr/>
            </a:pPr>
            <a:r>
              <a:rPr lang="zh-CN" altLang="en-US" sz="2400" dirty="0">
                <a:solidFill>
                  <a:srgbClr val="2B5681"/>
                </a:solidFill>
                <a:latin typeface="楷体_GB2312" pitchFamily="49" charset="-122"/>
                <a:ea typeface="楷体_GB2312" pitchFamily="49" charset="-122"/>
                <a:cs typeface="+mn-cs"/>
              </a:rPr>
              <a:t>系统核心功能：二者区别不大，但由于</a:t>
            </a:r>
            <a:r>
              <a:rPr lang="en-US" altLang="zh-CN" sz="2400" dirty="0">
                <a:solidFill>
                  <a:srgbClr val="2B5681"/>
                </a:solidFill>
                <a:latin typeface="楷体_GB2312" pitchFamily="49" charset="-122"/>
                <a:ea typeface="楷体_GB2312" pitchFamily="49" charset="-122"/>
                <a:cs typeface="+mn-cs"/>
              </a:rPr>
              <a:t>Linux</a:t>
            </a:r>
            <a:r>
              <a:rPr lang="zh-CN" altLang="en-US" sz="2400" dirty="0">
                <a:solidFill>
                  <a:srgbClr val="2B5681"/>
                </a:solidFill>
                <a:latin typeface="楷体_GB2312" pitchFamily="49" charset="-122"/>
                <a:ea typeface="楷体_GB2312" pitchFamily="49" charset="-122"/>
                <a:cs typeface="+mn-cs"/>
              </a:rPr>
              <a:t>庞大的开发队伍，在</a:t>
            </a:r>
            <a:r>
              <a:rPr lang="en-US" altLang="zh-CN" sz="2400" dirty="0">
                <a:solidFill>
                  <a:srgbClr val="2B5681"/>
                </a:solidFill>
                <a:latin typeface="楷体_GB2312" pitchFamily="49" charset="-122"/>
                <a:ea typeface="楷体_GB2312" pitchFamily="49" charset="-122"/>
                <a:cs typeface="+mn-cs"/>
              </a:rPr>
              <a:t>Linux</a:t>
            </a:r>
            <a:r>
              <a:rPr lang="zh-CN" altLang="en-US" sz="2400" dirty="0">
                <a:solidFill>
                  <a:srgbClr val="2B5681"/>
                </a:solidFill>
                <a:latin typeface="楷体_GB2312" pitchFamily="49" charset="-122"/>
                <a:ea typeface="楷体_GB2312" pitchFamily="49" charset="-122"/>
                <a:cs typeface="+mn-cs"/>
              </a:rPr>
              <a:t>系统上可找到任何需要的功能，许多商用软件才具有的功能在</a:t>
            </a:r>
            <a:r>
              <a:rPr lang="en-US" altLang="zh-CN" sz="2400" dirty="0">
                <a:solidFill>
                  <a:srgbClr val="2B5681"/>
                </a:solidFill>
                <a:latin typeface="楷体_GB2312" pitchFamily="49" charset="-122"/>
                <a:ea typeface="楷体_GB2312" pitchFamily="49" charset="-122"/>
                <a:cs typeface="+mn-cs"/>
              </a:rPr>
              <a:t>Linux</a:t>
            </a:r>
            <a:r>
              <a:rPr lang="zh-CN" altLang="en-US" sz="2400" dirty="0">
                <a:solidFill>
                  <a:srgbClr val="2B5681"/>
                </a:solidFill>
                <a:latin typeface="楷体_GB2312" pitchFamily="49" charset="-122"/>
                <a:ea typeface="楷体_GB2312" pitchFamily="49" charset="-122"/>
                <a:cs typeface="+mn-cs"/>
              </a:rPr>
              <a:t>上很快就会出现。 </a:t>
            </a:r>
          </a:p>
          <a:p>
            <a:pPr lvl="1" eaLnBrk="1" hangingPunct="1">
              <a:defRPr/>
            </a:pPr>
            <a:r>
              <a:rPr lang="zh-CN" altLang="en-US" sz="2400" dirty="0">
                <a:solidFill>
                  <a:srgbClr val="2B5681"/>
                </a:solidFill>
                <a:latin typeface="楷体_GB2312" pitchFamily="49" charset="-122"/>
                <a:ea typeface="楷体_GB2312" pitchFamily="49" charset="-122"/>
                <a:cs typeface="+mn-cs"/>
              </a:rPr>
              <a:t>性能：据专家分析，</a:t>
            </a:r>
            <a:r>
              <a:rPr lang="en-US" altLang="zh-CN" sz="2400" dirty="0">
                <a:solidFill>
                  <a:srgbClr val="2B5681"/>
                </a:solidFill>
                <a:latin typeface="楷体_GB2312" pitchFamily="49" charset="-122"/>
                <a:ea typeface="楷体_GB2312" pitchFamily="49" charset="-122"/>
                <a:cs typeface="+mn-cs"/>
              </a:rPr>
              <a:t>FreeBSD</a:t>
            </a:r>
            <a:r>
              <a:rPr lang="zh-CN" altLang="en-US" sz="2400" dirty="0">
                <a:solidFill>
                  <a:srgbClr val="2B5681"/>
                </a:solidFill>
                <a:latin typeface="楷体_GB2312" pitchFamily="49" charset="-122"/>
                <a:ea typeface="楷体_GB2312" pitchFamily="49" charset="-122"/>
                <a:cs typeface="+mn-cs"/>
              </a:rPr>
              <a:t>在网络性能、软件移植性和系统规范化上略胜一畴，而在硬件支持、磁盘</a:t>
            </a:r>
            <a:r>
              <a:rPr lang="en-US" altLang="zh-CN" sz="2400" dirty="0">
                <a:solidFill>
                  <a:srgbClr val="2B5681"/>
                </a:solidFill>
                <a:latin typeface="楷体_GB2312" pitchFamily="49" charset="-122"/>
                <a:ea typeface="楷体_GB2312" pitchFamily="49" charset="-122"/>
                <a:cs typeface="+mn-cs"/>
              </a:rPr>
              <a:t>IO</a:t>
            </a:r>
            <a:r>
              <a:rPr lang="zh-CN" altLang="en-US" sz="2400" dirty="0">
                <a:solidFill>
                  <a:srgbClr val="2B5681"/>
                </a:solidFill>
                <a:latin typeface="楷体_GB2312" pitchFamily="49" charset="-122"/>
                <a:ea typeface="楷体_GB2312" pitchFamily="49" charset="-122"/>
                <a:cs typeface="+mn-cs"/>
              </a:rPr>
              <a:t>操作等方面</a:t>
            </a:r>
            <a:r>
              <a:rPr lang="en-US" altLang="zh-CN" sz="2400" dirty="0">
                <a:solidFill>
                  <a:srgbClr val="2B5681"/>
                </a:solidFill>
                <a:latin typeface="楷体_GB2312" pitchFamily="49" charset="-122"/>
                <a:ea typeface="楷体_GB2312" pitchFamily="49" charset="-122"/>
                <a:cs typeface="+mn-cs"/>
              </a:rPr>
              <a:t>Linux</a:t>
            </a:r>
            <a:r>
              <a:rPr lang="zh-CN" altLang="en-US" sz="2400" dirty="0">
                <a:solidFill>
                  <a:srgbClr val="2B5681"/>
                </a:solidFill>
                <a:latin typeface="楷体_GB2312" pitchFamily="49" charset="-122"/>
                <a:ea typeface="楷体_GB2312" pitchFamily="49" charset="-122"/>
                <a:cs typeface="+mn-cs"/>
              </a:rPr>
              <a:t>略强一些 。</a:t>
            </a:r>
          </a:p>
        </p:txBody>
      </p:sp>
      <p:sp>
        <p:nvSpPr>
          <p:cNvPr id="4" name="Rectangle 2"/>
          <p:cNvSpPr txBox="1">
            <a:spLocks noChangeArrowheads="1"/>
          </p:cNvSpPr>
          <p:nvPr/>
        </p:nvSpPr>
        <p:spPr bwMode="black">
          <a:xfrm>
            <a:off x="468313" y="115888"/>
            <a:ext cx="822960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defRPr/>
            </a:pPr>
            <a:r>
              <a:rPr lang="en-US" altLang="zh-CN" kern="0">
                <a:latin typeface="楷体_GB2312" pitchFamily="49" charset="-122"/>
                <a:ea typeface="楷体_GB2312" pitchFamily="49" charset="-122"/>
              </a:rPr>
              <a:t> 8</a:t>
            </a:r>
            <a:r>
              <a:rPr lang="zh-CN" altLang="en-US" kern="0">
                <a:latin typeface="楷体_GB2312" pitchFamily="49" charset="-122"/>
                <a:ea typeface="楷体_GB2312" pitchFamily="49" charset="-122"/>
              </a:rPr>
              <a:t>、</a:t>
            </a:r>
            <a:r>
              <a:rPr lang="en-US" altLang="zh-CN" kern="0">
                <a:latin typeface="楷体_GB2312" pitchFamily="49" charset="-122"/>
                <a:ea typeface="楷体_GB2312" pitchFamily="49" charset="-122"/>
              </a:rPr>
              <a:t>Linux</a:t>
            </a:r>
            <a:r>
              <a:rPr lang="zh-CN" altLang="en-US" kern="0">
                <a:latin typeface="楷体_GB2312" pitchFamily="49" charset="-122"/>
                <a:ea typeface="楷体_GB2312" pitchFamily="49" charset="-122"/>
              </a:rPr>
              <a:t>与其他系统的区别</a:t>
            </a:r>
            <a:r>
              <a:rPr lang="zh-CN" altLang="en-US" kern="0">
                <a:solidFill>
                  <a:schemeClr val="folHlink"/>
                </a:solidFill>
                <a:latin typeface="楷体_GB2312" pitchFamily="49" charset="-122"/>
                <a:ea typeface="楷体_GB2312" pitchFamily="49" charset="-122"/>
              </a:rPr>
              <a:t> </a:t>
            </a:r>
            <a:endParaRPr lang="zh-CN" altLang="en-US" kern="0" dirty="0">
              <a:solidFill>
                <a:schemeClr val="folHlink"/>
              </a:solidFill>
              <a:latin typeface="楷体_GB2312" pitchFamily="49" charset="-122"/>
              <a:ea typeface="楷体_GB2312" pitchFamily="49" charset="-122"/>
            </a:endParaRPr>
          </a:p>
        </p:txBody>
      </p:sp>
    </p:spTree>
    <p:extLst>
      <p:ext uri="{BB962C8B-B14F-4D97-AF65-F5344CB8AC3E}">
        <p14:creationId xmlns:p14="http://schemas.microsoft.com/office/powerpoint/2010/main" val="4255385261"/>
      </p:ext>
    </p:extLst>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379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379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379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3792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379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23" grpId="0" build="p" bldLvl="2"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zh-CN">
                <a:latin typeface="楷体_GB2312" pitchFamily="49" charset="-122"/>
                <a:ea typeface="楷体_GB2312" pitchFamily="49" charset="-122"/>
              </a:rPr>
              <a:t>9.Linux</a:t>
            </a:r>
            <a:r>
              <a:rPr lang="zh-CN" altLang="en-US">
                <a:latin typeface="楷体_GB2312" pitchFamily="49" charset="-122"/>
                <a:ea typeface="楷体_GB2312" pitchFamily="49" charset="-122"/>
              </a:rPr>
              <a:t>中的</a:t>
            </a:r>
            <a:r>
              <a:rPr lang="en-US" altLang="zh-CN">
                <a:latin typeface="楷体_GB2312" pitchFamily="49" charset="-122"/>
                <a:ea typeface="楷体_GB2312" pitchFamily="49" charset="-122"/>
              </a:rPr>
              <a:t>C</a:t>
            </a:r>
            <a:r>
              <a:rPr lang="zh-CN" altLang="en-US">
                <a:latin typeface="楷体_GB2312" pitchFamily="49" charset="-122"/>
                <a:ea typeface="楷体_GB2312" pitchFamily="49" charset="-122"/>
              </a:rPr>
              <a:t>语言与汇编语言</a:t>
            </a:r>
          </a:p>
        </p:txBody>
      </p:sp>
      <p:sp>
        <p:nvSpPr>
          <p:cNvPr id="57347" name="Rectangle 3"/>
          <p:cNvSpPr>
            <a:spLocks noGrp="1" noChangeArrowheads="1"/>
          </p:cNvSpPr>
          <p:nvPr>
            <p:ph type="body" idx="1"/>
          </p:nvPr>
        </p:nvSpPr>
        <p:spPr/>
        <p:txBody>
          <a:bodyPr/>
          <a:lstStyle/>
          <a:p>
            <a:pPr eaLnBrk="1" hangingPunct="1">
              <a:defRPr/>
            </a:pPr>
            <a:r>
              <a:rPr lang="en-US" altLang="zh-CN" sz="2400" dirty="0">
                <a:solidFill>
                  <a:srgbClr val="FF0000"/>
                </a:solidFill>
                <a:latin typeface="楷体_GB2312" pitchFamily="49" charset="-122"/>
                <a:ea typeface="楷体_GB2312" pitchFamily="49" charset="-122"/>
              </a:rPr>
              <a:t>Linux</a:t>
            </a:r>
            <a:r>
              <a:rPr lang="zh-CN" altLang="en-US" sz="2400" dirty="0">
                <a:solidFill>
                  <a:srgbClr val="FF0000"/>
                </a:solidFill>
                <a:latin typeface="楷体_GB2312" pitchFamily="49" charset="-122"/>
                <a:ea typeface="楷体_GB2312" pitchFamily="49" charset="-122"/>
              </a:rPr>
              <a:t>源代码中的</a:t>
            </a:r>
            <a:r>
              <a:rPr lang="en-US" altLang="zh-CN" sz="2400" dirty="0">
                <a:solidFill>
                  <a:srgbClr val="FF0000"/>
                </a:solidFill>
                <a:latin typeface="楷体_GB2312" pitchFamily="49" charset="-122"/>
                <a:ea typeface="楷体_GB2312" pitchFamily="49" charset="-122"/>
              </a:rPr>
              <a:t>C</a:t>
            </a:r>
            <a:r>
              <a:rPr lang="zh-CN" altLang="en-US" sz="2400" dirty="0">
                <a:solidFill>
                  <a:srgbClr val="FF0000"/>
                </a:solidFill>
                <a:latin typeface="楷体_GB2312" pitchFamily="49" charset="-122"/>
                <a:ea typeface="楷体_GB2312" pitchFamily="49" charset="-122"/>
              </a:rPr>
              <a:t>语言代码</a:t>
            </a:r>
          </a:p>
          <a:p>
            <a:pPr lvl="1" eaLnBrk="1" hangingPunct="1">
              <a:defRPr/>
            </a:pPr>
            <a:r>
              <a:rPr lang="en-US" altLang="zh-CN" sz="2400" dirty="0">
                <a:solidFill>
                  <a:srgbClr val="2B5681"/>
                </a:solidFill>
                <a:latin typeface="楷体_GB2312" pitchFamily="49" charset="-122"/>
                <a:ea typeface="楷体_GB2312" pitchFamily="49" charset="-122"/>
                <a:cs typeface="+mn-cs"/>
              </a:rPr>
              <a:t>Linux</a:t>
            </a:r>
            <a:r>
              <a:rPr lang="zh-CN" altLang="en-US" sz="2400" dirty="0">
                <a:solidFill>
                  <a:srgbClr val="2B5681"/>
                </a:solidFill>
                <a:latin typeface="楷体_GB2312" pitchFamily="49" charset="-122"/>
                <a:ea typeface="楷体_GB2312" pitchFamily="49" charset="-122"/>
                <a:cs typeface="+mn-cs"/>
              </a:rPr>
              <a:t>主体是用</a:t>
            </a:r>
            <a:r>
              <a:rPr lang="en-US" altLang="zh-CN" sz="2400" dirty="0">
                <a:solidFill>
                  <a:srgbClr val="2B5681"/>
                </a:solidFill>
                <a:latin typeface="楷体_GB2312" pitchFamily="49" charset="-122"/>
                <a:ea typeface="楷体_GB2312" pitchFamily="49" charset="-122"/>
                <a:cs typeface="+mn-cs"/>
              </a:rPr>
              <a:t>GNU</a:t>
            </a:r>
            <a:r>
              <a:rPr lang="zh-CN" altLang="en-US" sz="2400" dirty="0">
                <a:solidFill>
                  <a:srgbClr val="2B5681"/>
                </a:solidFill>
                <a:latin typeface="楷体_GB2312" pitchFamily="49" charset="-122"/>
                <a:ea typeface="楷体_GB2312" pitchFamily="49" charset="-122"/>
                <a:cs typeface="+mn-cs"/>
              </a:rPr>
              <a:t>的</a:t>
            </a:r>
            <a:r>
              <a:rPr lang="en-US" altLang="zh-CN" sz="2400" dirty="0">
                <a:solidFill>
                  <a:srgbClr val="2B5681"/>
                </a:solidFill>
                <a:latin typeface="楷体_GB2312" pitchFamily="49" charset="-122"/>
                <a:ea typeface="楷体_GB2312" pitchFamily="49" charset="-122"/>
                <a:cs typeface="+mn-cs"/>
              </a:rPr>
              <a:t>C</a:t>
            </a:r>
            <a:r>
              <a:rPr lang="zh-CN" altLang="en-US" sz="2400" dirty="0">
                <a:solidFill>
                  <a:srgbClr val="2B5681"/>
                </a:solidFill>
                <a:latin typeface="楷体_GB2312" pitchFamily="49" charset="-122"/>
                <a:ea typeface="楷体_GB2312" pitchFamily="49" charset="-122"/>
                <a:cs typeface="+mn-cs"/>
              </a:rPr>
              <a:t>语言编写</a:t>
            </a:r>
          </a:p>
          <a:p>
            <a:pPr lvl="1" eaLnBrk="1" hangingPunct="1">
              <a:defRPr/>
            </a:pPr>
            <a:r>
              <a:rPr lang="zh-CN" altLang="en-US" sz="2400" dirty="0">
                <a:solidFill>
                  <a:srgbClr val="2B5681"/>
                </a:solidFill>
                <a:latin typeface="楷体_GB2312" pitchFamily="49" charset="-122"/>
                <a:ea typeface="楷体_GB2312" pitchFamily="49" charset="-122"/>
                <a:cs typeface="+mn-cs"/>
              </a:rPr>
              <a:t>从</a:t>
            </a:r>
            <a:r>
              <a:rPr lang="en-US" altLang="zh-CN" sz="2400" dirty="0">
                <a:solidFill>
                  <a:srgbClr val="2B5681"/>
                </a:solidFill>
                <a:latin typeface="楷体_GB2312" pitchFamily="49" charset="-122"/>
                <a:ea typeface="楷体_GB2312" pitchFamily="49" charset="-122"/>
                <a:cs typeface="+mn-cs"/>
              </a:rPr>
              <a:t>C++</a:t>
            </a:r>
            <a:r>
              <a:rPr lang="zh-CN" altLang="en-US" sz="2400" dirty="0">
                <a:solidFill>
                  <a:srgbClr val="2B5681"/>
                </a:solidFill>
                <a:latin typeface="楷体_GB2312" pitchFamily="49" charset="-122"/>
                <a:ea typeface="楷体_GB2312" pitchFamily="49" charset="-122"/>
                <a:cs typeface="+mn-cs"/>
              </a:rPr>
              <a:t>中吸收了“</a:t>
            </a:r>
            <a:r>
              <a:rPr lang="en-US" altLang="zh-CN" sz="2400" dirty="0">
                <a:solidFill>
                  <a:srgbClr val="2B5681"/>
                </a:solidFill>
                <a:latin typeface="楷体_GB2312" pitchFamily="49" charset="-122"/>
                <a:ea typeface="楷体_GB2312" pitchFamily="49" charset="-122"/>
                <a:cs typeface="+mn-cs"/>
              </a:rPr>
              <a:t>inline”</a:t>
            </a:r>
            <a:r>
              <a:rPr lang="zh-CN" altLang="en-US" sz="2400" dirty="0">
                <a:solidFill>
                  <a:srgbClr val="2B5681"/>
                </a:solidFill>
                <a:latin typeface="楷体_GB2312" pitchFamily="49" charset="-122"/>
                <a:ea typeface="楷体_GB2312" pitchFamily="49" charset="-122"/>
                <a:cs typeface="+mn-cs"/>
              </a:rPr>
              <a:t>和“</a:t>
            </a:r>
            <a:r>
              <a:rPr lang="en-US" altLang="zh-CN" sz="2400" dirty="0">
                <a:solidFill>
                  <a:srgbClr val="2B5681"/>
                </a:solidFill>
                <a:latin typeface="楷体_GB2312" pitchFamily="49" charset="-122"/>
                <a:ea typeface="楷体_GB2312" pitchFamily="49" charset="-122"/>
                <a:cs typeface="+mn-cs"/>
              </a:rPr>
              <a:t>const”</a:t>
            </a:r>
          </a:p>
          <a:p>
            <a:pPr lvl="1" eaLnBrk="1" hangingPunct="1">
              <a:defRPr/>
            </a:pPr>
            <a:r>
              <a:rPr lang="zh-CN" altLang="en-US" sz="2400" dirty="0">
                <a:solidFill>
                  <a:srgbClr val="2B5681"/>
                </a:solidFill>
                <a:latin typeface="楷体_GB2312" pitchFamily="49" charset="-122"/>
                <a:ea typeface="楷体_GB2312" pitchFamily="49" charset="-122"/>
                <a:cs typeface="+mn-cs"/>
              </a:rPr>
              <a:t>支持“属性描述符”（</a:t>
            </a:r>
            <a:r>
              <a:rPr lang="en-US" altLang="zh-CN" sz="2400" dirty="0">
                <a:solidFill>
                  <a:srgbClr val="2B5681"/>
                </a:solidFill>
                <a:latin typeface="楷体_GB2312" pitchFamily="49" charset="-122"/>
                <a:ea typeface="楷体_GB2312" pitchFamily="49" charset="-122"/>
                <a:cs typeface="+mn-cs"/>
              </a:rPr>
              <a:t>attribute</a:t>
            </a:r>
            <a:r>
              <a:rPr lang="zh-CN" altLang="en-US" sz="2400" dirty="0">
                <a:solidFill>
                  <a:srgbClr val="2B5681"/>
                </a:solidFill>
                <a:latin typeface="楷体_GB2312" pitchFamily="49" charset="-122"/>
                <a:ea typeface="楷体_GB2312" pitchFamily="49" charset="-122"/>
                <a:cs typeface="+mn-cs"/>
              </a:rPr>
              <a:t>）</a:t>
            </a:r>
          </a:p>
          <a:p>
            <a:pPr lvl="1" eaLnBrk="1" hangingPunct="1">
              <a:defRPr/>
            </a:pPr>
            <a:r>
              <a:rPr lang="zh-CN" altLang="en-US" sz="2400" dirty="0">
                <a:solidFill>
                  <a:srgbClr val="2B5681"/>
                </a:solidFill>
                <a:latin typeface="楷体_GB2312" pitchFamily="49" charset="-122"/>
                <a:ea typeface="楷体_GB2312" pitchFamily="49" charset="-122"/>
                <a:cs typeface="+mn-cs"/>
              </a:rPr>
              <a:t>增加了新的基本数据类型“</a:t>
            </a:r>
            <a:r>
              <a:rPr lang="en-US" altLang="zh-CN" sz="2400" dirty="0">
                <a:solidFill>
                  <a:srgbClr val="2B5681"/>
                </a:solidFill>
                <a:latin typeface="楷体_GB2312" pitchFamily="49" charset="-122"/>
                <a:ea typeface="楷体_GB2312" pitchFamily="49" charset="-122"/>
                <a:cs typeface="+mn-cs"/>
              </a:rPr>
              <a:t>long </a:t>
            </a:r>
            <a:r>
              <a:rPr lang="en-US" altLang="zh-CN" sz="2400" dirty="0" err="1">
                <a:solidFill>
                  <a:srgbClr val="2B5681"/>
                </a:solidFill>
                <a:latin typeface="楷体_GB2312" pitchFamily="49" charset="-122"/>
                <a:ea typeface="楷体_GB2312" pitchFamily="49" charset="-122"/>
                <a:cs typeface="+mn-cs"/>
              </a:rPr>
              <a:t>long</a:t>
            </a:r>
            <a:r>
              <a:rPr lang="en-US" altLang="zh-CN" sz="2400" dirty="0">
                <a:solidFill>
                  <a:srgbClr val="2B5681"/>
                </a:solidFill>
                <a:latin typeface="楷体_GB2312" pitchFamily="49" charset="-122"/>
                <a:ea typeface="楷体_GB2312" pitchFamily="49" charset="-122"/>
                <a:cs typeface="+mn-cs"/>
              </a:rPr>
              <a:t> </a:t>
            </a:r>
            <a:r>
              <a:rPr lang="en-US" altLang="zh-CN" sz="2400" dirty="0" err="1">
                <a:solidFill>
                  <a:srgbClr val="2B5681"/>
                </a:solidFill>
                <a:latin typeface="楷体_GB2312" pitchFamily="49" charset="-122"/>
                <a:ea typeface="楷体_GB2312" pitchFamily="49" charset="-122"/>
                <a:cs typeface="+mn-cs"/>
              </a:rPr>
              <a:t>int</a:t>
            </a:r>
            <a:r>
              <a:rPr lang="en-US" altLang="zh-CN" sz="2400" dirty="0">
                <a:solidFill>
                  <a:srgbClr val="2B5681"/>
                </a:solidFill>
                <a:latin typeface="楷体_GB2312" pitchFamily="49" charset="-122"/>
                <a:ea typeface="楷体_GB2312" pitchFamily="49" charset="-122"/>
                <a:cs typeface="+mn-cs"/>
              </a:rPr>
              <a:t>”</a:t>
            </a:r>
            <a:r>
              <a:rPr lang="zh-CN" altLang="en-US" sz="2400" dirty="0">
                <a:solidFill>
                  <a:srgbClr val="2B5681"/>
                </a:solidFill>
                <a:latin typeface="楷体_GB2312" pitchFamily="49" charset="-122"/>
                <a:ea typeface="楷体_GB2312" pitchFamily="49" charset="-122"/>
                <a:cs typeface="+mn-cs"/>
              </a:rPr>
              <a:t>用于支持</a:t>
            </a:r>
            <a:r>
              <a:rPr lang="en-US" altLang="zh-CN" sz="2400" dirty="0">
                <a:solidFill>
                  <a:srgbClr val="2B5681"/>
                </a:solidFill>
                <a:latin typeface="楷体_GB2312" pitchFamily="49" charset="-122"/>
                <a:ea typeface="楷体_GB2312" pitchFamily="49" charset="-122"/>
                <a:cs typeface="+mn-cs"/>
              </a:rPr>
              <a:t>64</a:t>
            </a:r>
            <a:r>
              <a:rPr lang="zh-CN" altLang="en-US" sz="2400" dirty="0">
                <a:solidFill>
                  <a:srgbClr val="2B5681"/>
                </a:solidFill>
                <a:latin typeface="楷体_GB2312" pitchFamily="49" charset="-122"/>
                <a:ea typeface="楷体_GB2312" pitchFamily="49" charset="-122"/>
                <a:cs typeface="+mn-cs"/>
              </a:rPr>
              <a:t>位</a:t>
            </a:r>
            <a:r>
              <a:rPr lang="en-US" altLang="zh-CN" sz="2400" dirty="0">
                <a:solidFill>
                  <a:srgbClr val="2B5681"/>
                </a:solidFill>
                <a:latin typeface="楷体_GB2312" pitchFamily="49" charset="-122"/>
                <a:ea typeface="楷体_GB2312" pitchFamily="49" charset="-122"/>
                <a:cs typeface="+mn-cs"/>
              </a:rPr>
              <a:t>CPU</a:t>
            </a:r>
          </a:p>
          <a:p>
            <a:pPr eaLnBrk="1" hangingPunct="1">
              <a:defRPr/>
            </a:pPr>
            <a:r>
              <a:rPr lang="en-US" altLang="zh-CN" sz="2400" dirty="0">
                <a:solidFill>
                  <a:srgbClr val="FF0000"/>
                </a:solidFill>
                <a:latin typeface="楷体_GB2312" pitchFamily="49" charset="-122"/>
                <a:ea typeface="楷体_GB2312" pitchFamily="49" charset="-122"/>
              </a:rPr>
              <a:t>Linux</a:t>
            </a:r>
            <a:r>
              <a:rPr lang="zh-CN" altLang="en-US" sz="2400" dirty="0">
                <a:solidFill>
                  <a:srgbClr val="FF0000"/>
                </a:solidFill>
                <a:latin typeface="楷体_GB2312" pitchFamily="49" charset="-122"/>
                <a:ea typeface="楷体_GB2312" pitchFamily="49" charset="-122"/>
              </a:rPr>
              <a:t>源代码中的汇编语言代码：两种</a:t>
            </a:r>
          </a:p>
          <a:p>
            <a:pPr lvl="2" eaLnBrk="1" hangingPunct="1">
              <a:defRPr/>
            </a:pPr>
            <a:r>
              <a:rPr lang="zh-CN" altLang="en-US" b="1" dirty="0">
                <a:solidFill>
                  <a:srgbClr val="2B5681"/>
                </a:solidFill>
                <a:latin typeface="楷体_GB2312" pitchFamily="49" charset="-122"/>
                <a:ea typeface="楷体_GB2312" pitchFamily="49" charset="-122"/>
                <a:cs typeface="+mn-cs"/>
              </a:rPr>
              <a:t>完全的汇编代码，以</a:t>
            </a:r>
            <a:r>
              <a:rPr lang="en-US" altLang="zh-CN" b="1" dirty="0">
                <a:solidFill>
                  <a:srgbClr val="2B5681"/>
                </a:solidFill>
                <a:latin typeface="楷体_GB2312" pitchFamily="49" charset="-122"/>
                <a:ea typeface="楷体_GB2312" pitchFamily="49" charset="-122"/>
                <a:cs typeface="+mn-cs"/>
              </a:rPr>
              <a:t>.s</a:t>
            </a:r>
            <a:r>
              <a:rPr lang="zh-CN" altLang="en-US" b="1" dirty="0">
                <a:solidFill>
                  <a:srgbClr val="2B5681"/>
                </a:solidFill>
                <a:latin typeface="楷体_GB2312" pitchFamily="49" charset="-122"/>
                <a:ea typeface="楷体_GB2312" pitchFamily="49" charset="-122"/>
                <a:cs typeface="+mn-cs"/>
              </a:rPr>
              <a:t>作为文件名后缀</a:t>
            </a:r>
            <a:r>
              <a:rPr lang="en-US" altLang="zh-CN" b="1" dirty="0">
                <a:solidFill>
                  <a:srgbClr val="2B5681"/>
                </a:solidFill>
                <a:latin typeface="楷体_GB2312" pitchFamily="49" charset="-122"/>
                <a:ea typeface="楷体_GB2312" pitchFamily="49" charset="-122"/>
                <a:cs typeface="+mn-cs"/>
              </a:rPr>
              <a:t>(</a:t>
            </a:r>
            <a:r>
              <a:rPr lang="zh-CN" altLang="en-US" b="1" dirty="0">
                <a:solidFill>
                  <a:srgbClr val="2B5681"/>
                </a:solidFill>
                <a:latin typeface="楷体_GB2312" pitchFamily="49" charset="-122"/>
                <a:ea typeface="楷体_GB2312" pitchFamily="49" charset="-122"/>
                <a:cs typeface="+mn-cs"/>
              </a:rPr>
              <a:t>可以单独用</a:t>
            </a:r>
            <a:r>
              <a:rPr lang="en-US" altLang="zh-CN" b="1" dirty="0" err="1">
                <a:solidFill>
                  <a:srgbClr val="2B5681"/>
                </a:solidFill>
                <a:latin typeface="楷体_GB2312" pitchFamily="49" charset="-122"/>
                <a:ea typeface="楷体_GB2312" pitchFamily="49" charset="-122"/>
                <a:cs typeface="+mn-cs"/>
              </a:rPr>
              <a:t>gcc</a:t>
            </a:r>
            <a:r>
              <a:rPr lang="zh-CN" altLang="en-US" b="1" dirty="0">
                <a:solidFill>
                  <a:srgbClr val="2B5681"/>
                </a:solidFill>
                <a:latin typeface="楷体_GB2312" pitchFamily="49" charset="-122"/>
                <a:ea typeface="楷体_GB2312" pitchFamily="49" charset="-122"/>
                <a:cs typeface="+mn-cs"/>
              </a:rPr>
              <a:t>汇编成目标代码）</a:t>
            </a:r>
          </a:p>
          <a:p>
            <a:pPr lvl="2" eaLnBrk="1" hangingPunct="1">
              <a:defRPr/>
            </a:pPr>
            <a:r>
              <a:rPr lang="zh-CN" altLang="en-US" b="1" dirty="0">
                <a:solidFill>
                  <a:srgbClr val="2B5681"/>
                </a:solidFill>
                <a:latin typeface="楷体_GB2312" pitchFamily="49" charset="-122"/>
                <a:ea typeface="楷体_GB2312" pitchFamily="49" charset="-122"/>
                <a:cs typeface="+mn-cs"/>
              </a:rPr>
              <a:t>嵌入在</a:t>
            </a:r>
            <a:r>
              <a:rPr lang="en-US" altLang="zh-CN" b="1" dirty="0">
                <a:solidFill>
                  <a:srgbClr val="2B5681"/>
                </a:solidFill>
                <a:latin typeface="楷体_GB2312" pitchFamily="49" charset="-122"/>
                <a:ea typeface="楷体_GB2312" pitchFamily="49" charset="-122"/>
                <a:cs typeface="+mn-cs"/>
              </a:rPr>
              <a:t>c</a:t>
            </a:r>
            <a:r>
              <a:rPr lang="zh-CN" altLang="en-US" b="1" dirty="0">
                <a:solidFill>
                  <a:srgbClr val="2B5681"/>
                </a:solidFill>
                <a:latin typeface="楷体_GB2312" pitchFamily="49" charset="-122"/>
                <a:ea typeface="楷体_GB2312" pitchFamily="49" charset="-122"/>
                <a:cs typeface="+mn-cs"/>
              </a:rPr>
              <a:t>程序中的汇编</a:t>
            </a:r>
            <a:r>
              <a:rPr lang="zh-CN" altLang="en-US" sz="2600" b="1" dirty="0">
                <a:solidFill>
                  <a:srgbClr val="004182"/>
                </a:solidFill>
                <a:latin typeface="楷体_GB2312" pitchFamily="49" charset="-122"/>
                <a:ea typeface="楷体_GB2312" pitchFamily="49" charset="-122"/>
              </a:rPr>
              <a:t>代码</a:t>
            </a:r>
          </a:p>
        </p:txBody>
      </p:sp>
    </p:spTree>
    <p:extLst>
      <p:ext uri="{BB962C8B-B14F-4D97-AF65-F5344CB8AC3E}">
        <p14:creationId xmlns:p14="http://schemas.microsoft.com/office/powerpoint/2010/main" val="10010596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type="body" idx="1"/>
          </p:nvPr>
        </p:nvSpPr>
        <p:spPr/>
        <p:txBody>
          <a:bodyPr/>
          <a:lstStyle/>
          <a:p>
            <a:pPr eaLnBrk="1" hangingPunct="1"/>
            <a:r>
              <a:rPr lang="zh-CN" altLang="en-US"/>
              <a:t> </a:t>
            </a:r>
            <a:r>
              <a:rPr lang="zh-CN" altLang="en-US">
                <a:latin typeface="楷体_GB2312" pitchFamily="49" charset="-122"/>
                <a:ea typeface="楷体_GB2312" pitchFamily="49" charset="-122"/>
              </a:rPr>
              <a:t>在</a:t>
            </a:r>
            <a:r>
              <a:rPr lang="en-US" altLang="zh-CN">
                <a:latin typeface="楷体_GB2312" pitchFamily="49" charset="-122"/>
                <a:ea typeface="楷体_GB2312" pitchFamily="49" charset="-122"/>
              </a:rPr>
              <a:t>Linux</a:t>
            </a:r>
            <a:r>
              <a:rPr lang="zh-CN" altLang="en-US">
                <a:latin typeface="楷体_GB2312" pitchFamily="49" charset="-122"/>
                <a:ea typeface="楷体_GB2312" pitchFamily="49" charset="-122"/>
              </a:rPr>
              <a:t>内核中使用的</a:t>
            </a:r>
            <a:r>
              <a:rPr lang="en-US" altLang="zh-CN">
                <a:latin typeface="楷体_GB2312" pitchFamily="49" charset="-122"/>
                <a:ea typeface="楷体_GB2312" pitchFamily="49" charset="-122"/>
              </a:rPr>
              <a:t>C</a:t>
            </a:r>
            <a:r>
              <a:rPr lang="zh-CN" altLang="en-US">
                <a:latin typeface="楷体_GB2312" pitchFamily="49" charset="-122"/>
                <a:ea typeface="楷体_GB2312" pitchFamily="49" charset="-122"/>
              </a:rPr>
              <a:t>语言与通常的</a:t>
            </a:r>
            <a:r>
              <a:rPr lang="en-US" altLang="zh-CN">
                <a:latin typeface="楷体_GB2312" pitchFamily="49" charset="-122"/>
                <a:ea typeface="楷体_GB2312" pitchFamily="49" charset="-122"/>
              </a:rPr>
              <a:t>C</a:t>
            </a:r>
            <a:r>
              <a:rPr lang="zh-CN" altLang="en-US">
                <a:latin typeface="楷体_GB2312" pitchFamily="49" charset="-122"/>
                <a:ea typeface="楷体_GB2312" pitchFamily="49" charset="-122"/>
              </a:rPr>
              <a:t>语言有所不同，</a:t>
            </a:r>
            <a:r>
              <a:rPr lang="en-US" altLang="zh-CN">
                <a:latin typeface="楷体_GB2312" pitchFamily="49" charset="-122"/>
                <a:ea typeface="楷体_GB2312" pitchFamily="49" charset="-122"/>
              </a:rPr>
              <a:t>gcc</a:t>
            </a:r>
            <a:r>
              <a:rPr lang="zh-CN" altLang="en-US">
                <a:latin typeface="楷体_GB2312" pitchFamily="49" charset="-122"/>
                <a:ea typeface="楷体_GB2312" pitchFamily="49" charset="-122"/>
              </a:rPr>
              <a:t>编译器是一个</a:t>
            </a:r>
            <a:r>
              <a:rPr lang="en-US" altLang="zh-CN">
                <a:latin typeface="楷体_GB2312" pitchFamily="49" charset="-122"/>
                <a:ea typeface="楷体_GB2312" pitchFamily="49" charset="-122"/>
              </a:rPr>
              <a:t>c/c++</a:t>
            </a:r>
            <a:r>
              <a:rPr lang="zh-CN" altLang="en-US">
                <a:latin typeface="楷体_GB2312" pitchFamily="49" charset="-122"/>
                <a:ea typeface="楷体_GB2312" pitchFamily="49" charset="-122"/>
              </a:rPr>
              <a:t>编译器，所以在</a:t>
            </a:r>
            <a:r>
              <a:rPr lang="en-US" altLang="zh-CN">
                <a:latin typeface="楷体_GB2312" pitchFamily="49" charset="-122"/>
                <a:ea typeface="楷体_GB2312" pitchFamily="49" charset="-122"/>
              </a:rPr>
              <a:t>Linux</a:t>
            </a:r>
            <a:r>
              <a:rPr lang="zh-CN" altLang="en-US">
                <a:latin typeface="楷体_GB2312" pitchFamily="49" charset="-122"/>
                <a:ea typeface="楷体_GB2312" pitchFamily="49" charset="-122"/>
              </a:rPr>
              <a:t>设计中引入了很多</a:t>
            </a:r>
            <a:r>
              <a:rPr lang="en-US" altLang="zh-CN">
                <a:latin typeface="楷体_GB2312" pitchFamily="49" charset="-122"/>
                <a:ea typeface="楷体_GB2312" pitchFamily="49" charset="-122"/>
              </a:rPr>
              <a:t>C++</a:t>
            </a:r>
            <a:r>
              <a:rPr lang="zh-CN" altLang="en-US">
                <a:latin typeface="楷体_GB2312" pitchFamily="49" charset="-122"/>
                <a:ea typeface="楷体_GB2312" pitchFamily="49" charset="-122"/>
              </a:rPr>
              <a:t>技术。如：</a:t>
            </a:r>
          </a:p>
          <a:p>
            <a:pPr eaLnBrk="1" hangingPunct="1">
              <a:buFont typeface="Wingdings" panose="05000000000000000000" pitchFamily="2" charset="2"/>
              <a:buNone/>
            </a:pPr>
            <a:r>
              <a:rPr lang="en-US" altLang="zh-CN">
                <a:latin typeface="楷体_GB2312" pitchFamily="49" charset="-122"/>
                <a:ea typeface="楷体_GB2312" pitchFamily="49" charset="-122"/>
              </a:rPr>
              <a:t>  struct Student</a:t>
            </a:r>
          </a:p>
          <a:p>
            <a:pPr eaLnBrk="1" hangingPunct="1">
              <a:buFont typeface="Wingdings" panose="05000000000000000000" pitchFamily="2" charset="2"/>
              <a:buNone/>
            </a:pPr>
            <a:r>
              <a:rPr lang="en-US" altLang="zh-CN">
                <a:latin typeface="楷体_GB2312" pitchFamily="49" charset="-122"/>
                <a:ea typeface="楷体_GB2312" pitchFamily="49" charset="-122"/>
              </a:rPr>
              <a:t>  {</a:t>
            </a:r>
            <a:r>
              <a:rPr lang="en-US" altLang="zh-CN">
                <a:ea typeface="楷体_GB2312" pitchFamily="49" charset="-122"/>
              </a:rPr>
              <a:t>……</a:t>
            </a:r>
            <a:endParaRPr lang="en-US" altLang="zh-CN">
              <a:latin typeface="楷体_GB2312" pitchFamily="49" charset="-122"/>
              <a:ea typeface="楷体_GB2312" pitchFamily="49" charset="-122"/>
            </a:endParaRPr>
          </a:p>
          <a:p>
            <a:pPr eaLnBrk="1" hangingPunct="1">
              <a:buFont typeface="Wingdings" panose="05000000000000000000" pitchFamily="2" charset="2"/>
              <a:buNone/>
            </a:pPr>
            <a:r>
              <a:rPr lang="en-US" altLang="zh-CN">
                <a:latin typeface="楷体_GB2312" pitchFamily="49" charset="-122"/>
                <a:ea typeface="楷体_GB2312" pitchFamily="49" charset="-122"/>
              </a:rPr>
              <a:t>   }</a:t>
            </a:r>
          </a:p>
          <a:p>
            <a:pPr eaLnBrk="1" hangingPunct="1">
              <a:buFont typeface="Wingdings" panose="05000000000000000000" pitchFamily="2" charset="2"/>
              <a:buNone/>
            </a:pPr>
            <a:r>
              <a:rPr lang="zh-CN" altLang="en-US">
                <a:latin typeface="楷体_GB2312" pitchFamily="49" charset="-122"/>
                <a:ea typeface="楷体_GB2312" pitchFamily="49" charset="-122"/>
              </a:rPr>
              <a:t>引用时： </a:t>
            </a:r>
          </a:p>
          <a:p>
            <a:pPr eaLnBrk="1" hangingPunct="1">
              <a:buFont typeface="Wingdings" panose="05000000000000000000" pitchFamily="2" charset="2"/>
              <a:buNone/>
            </a:pPr>
            <a:r>
              <a:rPr lang="zh-CN" altLang="en-US">
                <a:latin typeface="楷体_GB2312" pitchFamily="49" charset="-122"/>
                <a:ea typeface="楷体_GB2312" pitchFamily="49" charset="-122"/>
              </a:rPr>
              <a:t> 普通</a:t>
            </a:r>
            <a:r>
              <a:rPr lang="en-US" altLang="zh-CN">
                <a:latin typeface="楷体_GB2312" pitchFamily="49" charset="-122"/>
                <a:ea typeface="楷体_GB2312" pitchFamily="49" charset="-122"/>
              </a:rPr>
              <a:t>C</a:t>
            </a:r>
            <a:r>
              <a:rPr lang="zh-CN" altLang="en-US">
                <a:latin typeface="楷体_GB2312" pitchFamily="49" charset="-122"/>
                <a:ea typeface="楷体_GB2312" pitchFamily="49" charset="-122"/>
              </a:rPr>
              <a:t>中</a:t>
            </a:r>
            <a:r>
              <a:rPr lang="en-US" altLang="zh-CN">
                <a:latin typeface="楷体_GB2312" pitchFamily="49" charset="-122"/>
                <a:ea typeface="楷体_GB2312" pitchFamily="49" charset="-122"/>
              </a:rPr>
              <a:t>:</a:t>
            </a:r>
          </a:p>
          <a:p>
            <a:pPr eaLnBrk="1" hangingPunct="1">
              <a:buFont typeface="Wingdings" panose="05000000000000000000" pitchFamily="2" charset="2"/>
              <a:buNone/>
            </a:pPr>
            <a:r>
              <a:rPr lang="en-US" altLang="zh-CN">
                <a:latin typeface="楷体_GB2312" pitchFamily="49" charset="-122"/>
                <a:ea typeface="楷体_GB2312" pitchFamily="49" charset="-122"/>
              </a:rPr>
              <a:t>    Student S;</a:t>
            </a:r>
          </a:p>
          <a:p>
            <a:pPr eaLnBrk="1" hangingPunct="1">
              <a:buFont typeface="Wingdings" panose="05000000000000000000" pitchFamily="2" charset="2"/>
              <a:buNone/>
            </a:pPr>
            <a:r>
              <a:rPr lang="en-US" altLang="zh-CN">
                <a:latin typeface="楷体_GB2312" pitchFamily="49" charset="-122"/>
                <a:ea typeface="楷体_GB2312" pitchFamily="49" charset="-122"/>
              </a:rPr>
              <a:t> gcc</a:t>
            </a:r>
            <a:r>
              <a:rPr lang="zh-CN" altLang="en-US">
                <a:latin typeface="楷体_GB2312" pitchFamily="49" charset="-122"/>
                <a:ea typeface="楷体_GB2312" pitchFamily="49" charset="-122"/>
              </a:rPr>
              <a:t>中的</a:t>
            </a:r>
            <a:r>
              <a:rPr lang="en-US" altLang="zh-CN">
                <a:latin typeface="楷体_GB2312" pitchFamily="49" charset="-122"/>
                <a:ea typeface="楷体_GB2312" pitchFamily="49" charset="-122"/>
              </a:rPr>
              <a:t>C:  Struct Student S;</a:t>
            </a:r>
          </a:p>
        </p:txBody>
      </p:sp>
      <p:sp>
        <p:nvSpPr>
          <p:cNvPr id="27651" name="Rectangle 2"/>
          <p:cNvSpPr>
            <a:spLocks noGrp="1" noChangeArrowheads="1"/>
          </p:cNvSpPr>
          <p:nvPr>
            <p:ph type="title"/>
          </p:nvPr>
        </p:nvSpPr>
        <p:spPr/>
        <p:txBody>
          <a:bodyPr/>
          <a:lstStyle/>
          <a:p>
            <a:pPr eaLnBrk="1" hangingPunct="1"/>
            <a:r>
              <a:rPr lang="en-US" altLang="zh-CN">
                <a:latin typeface="楷体_GB2312" pitchFamily="49" charset="-122"/>
                <a:ea typeface="楷体_GB2312" pitchFamily="49" charset="-122"/>
              </a:rPr>
              <a:t>9.Linux</a:t>
            </a:r>
            <a:r>
              <a:rPr lang="zh-CN" altLang="en-US">
                <a:latin typeface="楷体_GB2312" pitchFamily="49" charset="-122"/>
                <a:ea typeface="楷体_GB2312" pitchFamily="49" charset="-122"/>
              </a:rPr>
              <a:t>中的</a:t>
            </a:r>
            <a:r>
              <a:rPr lang="en-US" altLang="zh-CN">
                <a:latin typeface="楷体_GB2312" pitchFamily="49" charset="-122"/>
                <a:ea typeface="楷体_GB2312" pitchFamily="49" charset="-122"/>
              </a:rPr>
              <a:t>C</a:t>
            </a:r>
            <a:r>
              <a:rPr lang="zh-CN" altLang="en-US">
                <a:latin typeface="楷体_GB2312" pitchFamily="49" charset="-122"/>
                <a:ea typeface="楷体_GB2312" pitchFamily="49" charset="-122"/>
              </a:rPr>
              <a:t>语言与汇编语言</a:t>
            </a:r>
          </a:p>
        </p:txBody>
      </p:sp>
    </p:spTree>
    <p:extLst>
      <p:ext uri="{BB962C8B-B14F-4D97-AF65-F5344CB8AC3E}">
        <p14:creationId xmlns:p14="http://schemas.microsoft.com/office/powerpoint/2010/main" val="20862157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type="body" idx="1"/>
          </p:nvPr>
        </p:nvSpPr>
        <p:spPr>
          <a:xfrm>
            <a:off x="250825" y="1052513"/>
            <a:ext cx="8353425" cy="5272087"/>
          </a:xfrm>
        </p:spPr>
        <p:txBody>
          <a:bodyPr/>
          <a:lstStyle/>
          <a:p>
            <a:pPr eaLnBrk="1" hangingPunct="1">
              <a:lnSpc>
                <a:spcPct val="110000"/>
              </a:lnSpc>
              <a:defRPr/>
            </a:pPr>
            <a:r>
              <a:rPr lang="zh-CN" altLang="en-US" dirty="0">
                <a:latin typeface="楷体_GB2312" pitchFamily="49" charset="-122"/>
                <a:ea typeface="楷体_GB2312" pitchFamily="49" charset="-122"/>
              </a:rPr>
              <a:t>与一般的</a:t>
            </a:r>
            <a:r>
              <a:rPr lang="en-US" altLang="zh-CN" dirty="0">
                <a:latin typeface="楷体_GB2312" pitchFamily="49" charset="-122"/>
                <a:ea typeface="楷体_GB2312" pitchFamily="49" charset="-122"/>
              </a:rPr>
              <a:t>386</a:t>
            </a:r>
            <a:r>
              <a:rPr lang="zh-CN" altLang="en-US" dirty="0">
                <a:latin typeface="楷体_GB2312" pitchFamily="49" charset="-122"/>
                <a:ea typeface="楷体_GB2312" pitchFamily="49" charset="-122"/>
              </a:rPr>
              <a:t>汇编语言采用</a:t>
            </a:r>
            <a:r>
              <a:rPr lang="en-US" altLang="zh-CN" dirty="0" err="1">
                <a:latin typeface="楷体_GB2312" pitchFamily="49" charset="-122"/>
                <a:ea typeface="楷体_GB2312" pitchFamily="49" charset="-122"/>
              </a:rPr>
              <a:t>intel</a:t>
            </a:r>
            <a:r>
              <a:rPr lang="zh-CN" altLang="en-US" dirty="0">
                <a:latin typeface="楷体_GB2312" pitchFamily="49" charset="-122"/>
                <a:ea typeface="楷体_GB2312" pitchFamily="49" charset="-122"/>
              </a:rPr>
              <a:t>定义不同，它采用的是</a:t>
            </a:r>
            <a:r>
              <a:rPr lang="en-US" altLang="zh-CN" dirty="0">
                <a:latin typeface="楷体_GB2312" pitchFamily="49" charset="-122"/>
                <a:ea typeface="楷体_GB2312" pitchFamily="49" charset="-122"/>
              </a:rPr>
              <a:t>AT&amp;T</a:t>
            </a:r>
            <a:r>
              <a:rPr lang="zh-CN" altLang="en-US" dirty="0">
                <a:latin typeface="楷体_GB2312" pitchFamily="49" charset="-122"/>
                <a:ea typeface="楷体_GB2312" pitchFamily="49" charset="-122"/>
              </a:rPr>
              <a:t>定义的格式。主要差别如下：</a:t>
            </a:r>
          </a:p>
          <a:p>
            <a:pPr marL="800100" lvl="3" indent="-342900" eaLnBrk="1" hangingPunct="1">
              <a:lnSpc>
                <a:spcPct val="110000"/>
              </a:lnSpc>
              <a:buClr>
                <a:schemeClr val="accent2"/>
              </a:buClr>
              <a:buFont typeface="Wingdings" panose="05000000000000000000" pitchFamily="2" charset="2"/>
              <a:buChar char="u"/>
              <a:defRPr/>
            </a:pPr>
            <a:r>
              <a:rPr lang="en-US" altLang="zh-CN" sz="2400" b="1" dirty="0">
                <a:solidFill>
                  <a:srgbClr val="2B5681"/>
                </a:solidFill>
                <a:latin typeface="楷体_GB2312" pitchFamily="49" charset="-122"/>
                <a:ea typeface="楷体_GB2312" pitchFamily="49" charset="-122"/>
                <a:cs typeface="+mn-cs"/>
              </a:rPr>
              <a:t>Intel</a:t>
            </a:r>
            <a:r>
              <a:rPr lang="zh-CN" altLang="en-US" sz="2400" b="1" dirty="0">
                <a:solidFill>
                  <a:srgbClr val="2B5681"/>
                </a:solidFill>
                <a:latin typeface="楷体_GB2312" pitchFamily="49" charset="-122"/>
                <a:ea typeface="楷体_GB2312" pitchFamily="49" charset="-122"/>
                <a:cs typeface="+mn-cs"/>
              </a:rPr>
              <a:t>中多使用大写字母，而这里大多使用小写字母</a:t>
            </a:r>
          </a:p>
          <a:p>
            <a:pPr marL="800100" lvl="3" indent="-342900" eaLnBrk="1" hangingPunct="1">
              <a:lnSpc>
                <a:spcPct val="110000"/>
              </a:lnSpc>
              <a:buClr>
                <a:schemeClr val="accent2"/>
              </a:buClr>
              <a:buFont typeface="Wingdings" panose="05000000000000000000" pitchFamily="2" charset="2"/>
              <a:buChar char="u"/>
              <a:defRPr/>
            </a:pPr>
            <a:r>
              <a:rPr lang="zh-CN" altLang="en-US" sz="2400" b="1" dirty="0">
                <a:solidFill>
                  <a:srgbClr val="2B5681"/>
                </a:solidFill>
                <a:latin typeface="楷体_GB2312" pitchFamily="49" charset="-122"/>
                <a:ea typeface="楷体_GB2312" pitchFamily="49" charset="-122"/>
                <a:cs typeface="+mn-cs"/>
              </a:rPr>
              <a:t>寄存器名前面要加“</a:t>
            </a:r>
            <a:r>
              <a:rPr lang="en-US" altLang="zh-CN" sz="2400" b="1" dirty="0">
                <a:solidFill>
                  <a:srgbClr val="2B5681"/>
                </a:solidFill>
                <a:latin typeface="楷体_GB2312" pitchFamily="49" charset="-122"/>
                <a:ea typeface="楷体_GB2312" pitchFamily="49" charset="-122"/>
                <a:cs typeface="+mn-cs"/>
              </a:rPr>
              <a:t>%”</a:t>
            </a:r>
            <a:r>
              <a:rPr lang="zh-CN" altLang="en-US" sz="2400" b="1" dirty="0">
                <a:solidFill>
                  <a:srgbClr val="2B5681"/>
                </a:solidFill>
                <a:latin typeface="楷体_GB2312" pitchFamily="49" charset="-122"/>
                <a:ea typeface="楷体_GB2312" pitchFamily="49" charset="-122"/>
                <a:cs typeface="+mn-cs"/>
              </a:rPr>
              <a:t>作为前缀</a:t>
            </a:r>
          </a:p>
          <a:p>
            <a:pPr marL="800100" lvl="3" indent="-342900" eaLnBrk="1" hangingPunct="1">
              <a:lnSpc>
                <a:spcPct val="110000"/>
              </a:lnSpc>
              <a:buClr>
                <a:schemeClr val="accent2"/>
              </a:buClr>
              <a:buFont typeface="Wingdings" panose="05000000000000000000" pitchFamily="2" charset="2"/>
              <a:buChar char="u"/>
              <a:defRPr/>
            </a:pPr>
            <a:r>
              <a:rPr lang="zh-CN" altLang="en-US" sz="2400" b="1" dirty="0">
                <a:solidFill>
                  <a:srgbClr val="2B5681"/>
                </a:solidFill>
                <a:latin typeface="楷体_GB2312" pitchFamily="49" charset="-122"/>
                <a:ea typeface="楷体_GB2312" pitchFamily="49" charset="-122"/>
                <a:cs typeface="+mn-cs"/>
              </a:rPr>
              <a:t>指令的源操作数与目标操作数的顺序与</a:t>
            </a:r>
            <a:r>
              <a:rPr lang="en-US" altLang="zh-CN" sz="2400" b="1" dirty="0" err="1">
                <a:solidFill>
                  <a:srgbClr val="2B5681"/>
                </a:solidFill>
                <a:latin typeface="楷体_GB2312" pitchFamily="49" charset="-122"/>
                <a:ea typeface="楷体_GB2312" pitchFamily="49" charset="-122"/>
                <a:cs typeface="+mn-cs"/>
              </a:rPr>
              <a:t>intel</a:t>
            </a:r>
            <a:r>
              <a:rPr lang="zh-CN" altLang="en-US" sz="2400" b="1" dirty="0">
                <a:solidFill>
                  <a:srgbClr val="2B5681"/>
                </a:solidFill>
                <a:latin typeface="楷体_GB2312" pitchFamily="49" charset="-122"/>
                <a:ea typeface="楷体_GB2312" pitchFamily="49" charset="-122"/>
                <a:cs typeface="+mn-cs"/>
              </a:rPr>
              <a:t>的正好相反。</a:t>
            </a:r>
            <a:r>
              <a:rPr lang="en-US" altLang="zh-CN" sz="2400" b="1" dirty="0">
                <a:solidFill>
                  <a:srgbClr val="2B5681"/>
                </a:solidFill>
                <a:latin typeface="楷体_GB2312" pitchFamily="49" charset="-122"/>
                <a:ea typeface="楷体_GB2312" pitchFamily="49" charset="-122"/>
                <a:cs typeface="+mn-cs"/>
              </a:rPr>
              <a:t>AT&amp;T</a:t>
            </a:r>
            <a:r>
              <a:rPr lang="zh-CN" altLang="en-US" sz="2400" b="1" dirty="0">
                <a:solidFill>
                  <a:srgbClr val="2B5681"/>
                </a:solidFill>
                <a:latin typeface="楷体_GB2312" pitchFamily="49" charset="-122"/>
                <a:ea typeface="楷体_GB2312" pitchFamily="49" charset="-122"/>
                <a:cs typeface="+mn-cs"/>
              </a:rPr>
              <a:t>格式中，源在前，目标在后</a:t>
            </a:r>
          </a:p>
          <a:p>
            <a:pPr marL="800100" lvl="3" indent="-342900" eaLnBrk="1" hangingPunct="1">
              <a:lnSpc>
                <a:spcPct val="110000"/>
              </a:lnSpc>
              <a:buClr>
                <a:schemeClr val="accent2"/>
              </a:buClr>
              <a:buFont typeface="Wingdings" panose="05000000000000000000" pitchFamily="2" charset="2"/>
              <a:buChar char="u"/>
              <a:defRPr/>
            </a:pPr>
            <a:r>
              <a:rPr lang="zh-CN" altLang="en-US" sz="2400" b="1" dirty="0">
                <a:solidFill>
                  <a:srgbClr val="2B5681"/>
                </a:solidFill>
                <a:latin typeface="楷体_GB2312" pitchFamily="49" charset="-122"/>
                <a:ea typeface="楷体_GB2312" pitchFamily="49" charset="-122"/>
                <a:cs typeface="+mn-cs"/>
              </a:rPr>
              <a:t>访问内存的指令的操作数大小（即宽度）由操作码名称的最后一个字母决定，用作操作码后缀的字母有</a:t>
            </a:r>
            <a:r>
              <a:rPr lang="en-US" altLang="zh-CN" sz="2400" b="1" dirty="0">
                <a:solidFill>
                  <a:srgbClr val="2B5681"/>
                </a:solidFill>
                <a:latin typeface="楷体_GB2312" pitchFamily="49" charset="-122"/>
                <a:ea typeface="楷体_GB2312" pitchFamily="49" charset="-122"/>
                <a:cs typeface="+mn-cs"/>
              </a:rPr>
              <a:t>b</a:t>
            </a:r>
            <a:r>
              <a:rPr lang="zh-CN" altLang="en-US" sz="2400" b="1" dirty="0">
                <a:solidFill>
                  <a:srgbClr val="2B5681"/>
                </a:solidFill>
                <a:latin typeface="楷体_GB2312" pitchFamily="49" charset="-122"/>
                <a:ea typeface="楷体_GB2312" pitchFamily="49" charset="-122"/>
                <a:cs typeface="+mn-cs"/>
              </a:rPr>
              <a:t>（</a:t>
            </a:r>
            <a:r>
              <a:rPr lang="en-US" altLang="zh-CN" sz="2400" b="1" dirty="0">
                <a:solidFill>
                  <a:srgbClr val="2B5681"/>
                </a:solidFill>
                <a:latin typeface="楷体_GB2312" pitchFamily="49" charset="-122"/>
                <a:ea typeface="楷体_GB2312" pitchFamily="49" charset="-122"/>
                <a:cs typeface="+mn-cs"/>
              </a:rPr>
              <a:t>8</a:t>
            </a:r>
            <a:r>
              <a:rPr lang="zh-CN" altLang="en-US" sz="2400" b="1" dirty="0">
                <a:solidFill>
                  <a:srgbClr val="2B5681"/>
                </a:solidFill>
                <a:latin typeface="楷体_GB2312" pitchFamily="49" charset="-122"/>
                <a:ea typeface="楷体_GB2312" pitchFamily="49" charset="-122"/>
                <a:cs typeface="+mn-cs"/>
              </a:rPr>
              <a:t>位），</a:t>
            </a:r>
            <a:r>
              <a:rPr lang="en-US" altLang="zh-CN" sz="2400" b="1" dirty="0">
                <a:solidFill>
                  <a:srgbClr val="2B5681"/>
                </a:solidFill>
                <a:latin typeface="楷体_GB2312" pitchFamily="49" charset="-122"/>
                <a:ea typeface="楷体_GB2312" pitchFamily="49" charset="-122"/>
                <a:cs typeface="+mn-cs"/>
              </a:rPr>
              <a:t>w</a:t>
            </a:r>
            <a:r>
              <a:rPr lang="zh-CN" altLang="en-US" sz="2400" b="1" dirty="0">
                <a:solidFill>
                  <a:srgbClr val="2B5681"/>
                </a:solidFill>
                <a:latin typeface="楷体_GB2312" pitchFamily="49" charset="-122"/>
                <a:ea typeface="楷体_GB2312" pitchFamily="49" charset="-122"/>
                <a:cs typeface="+mn-cs"/>
              </a:rPr>
              <a:t>（</a:t>
            </a:r>
            <a:r>
              <a:rPr lang="en-US" altLang="zh-CN" sz="2400" b="1" dirty="0">
                <a:solidFill>
                  <a:srgbClr val="2B5681"/>
                </a:solidFill>
                <a:latin typeface="楷体_GB2312" pitchFamily="49" charset="-122"/>
                <a:ea typeface="楷体_GB2312" pitchFamily="49" charset="-122"/>
                <a:cs typeface="+mn-cs"/>
              </a:rPr>
              <a:t>16</a:t>
            </a:r>
            <a:r>
              <a:rPr lang="zh-CN" altLang="en-US" sz="2400" b="1" dirty="0">
                <a:solidFill>
                  <a:srgbClr val="2B5681"/>
                </a:solidFill>
                <a:latin typeface="楷体_GB2312" pitchFamily="49" charset="-122"/>
                <a:ea typeface="楷体_GB2312" pitchFamily="49" charset="-122"/>
                <a:cs typeface="+mn-cs"/>
              </a:rPr>
              <a:t>位），</a:t>
            </a:r>
            <a:r>
              <a:rPr lang="en-US" altLang="zh-CN" sz="2400" b="1" dirty="0">
                <a:solidFill>
                  <a:srgbClr val="2B5681"/>
                </a:solidFill>
                <a:latin typeface="楷体_GB2312" pitchFamily="49" charset="-122"/>
                <a:ea typeface="楷体_GB2312" pitchFamily="49" charset="-122"/>
                <a:cs typeface="+mn-cs"/>
              </a:rPr>
              <a:t>l</a:t>
            </a:r>
            <a:r>
              <a:rPr lang="zh-CN" altLang="en-US" sz="2400" b="1" dirty="0">
                <a:solidFill>
                  <a:srgbClr val="2B5681"/>
                </a:solidFill>
                <a:latin typeface="楷体_GB2312" pitchFamily="49" charset="-122"/>
                <a:ea typeface="楷体_GB2312" pitchFamily="49" charset="-122"/>
                <a:cs typeface="+mn-cs"/>
              </a:rPr>
              <a:t>（</a:t>
            </a:r>
            <a:r>
              <a:rPr lang="en-US" altLang="zh-CN" sz="2400" b="1" dirty="0">
                <a:solidFill>
                  <a:srgbClr val="2B5681"/>
                </a:solidFill>
                <a:latin typeface="楷体_GB2312" pitchFamily="49" charset="-122"/>
                <a:ea typeface="楷体_GB2312" pitchFamily="49" charset="-122"/>
                <a:cs typeface="+mn-cs"/>
              </a:rPr>
              <a:t>32</a:t>
            </a:r>
            <a:r>
              <a:rPr lang="zh-CN" altLang="en-US" sz="2400" b="1" dirty="0">
                <a:solidFill>
                  <a:srgbClr val="2B5681"/>
                </a:solidFill>
                <a:latin typeface="楷体_GB2312" pitchFamily="49" charset="-122"/>
                <a:ea typeface="楷体_GB2312" pitchFamily="49" charset="-122"/>
                <a:cs typeface="+mn-cs"/>
              </a:rPr>
              <a:t>位），</a:t>
            </a:r>
            <a:r>
              <a:rPr lang="en-US" altLang="zh-CN" sz="2400" b="1" dirty="0" err="1">
                <a:solidFill>
                  <a:srgbClr val="2B5681"/>
                </a:solidFill>
                <a:latin typeface="楷体_GB2312" pitchFamily="49" charset="-122"/>
                <a:ea typeface="楷体_GB2312" pitchFamily="49" charset="-122"/>
                <a:cs typeface="+mn-cs"/>
              </a:rPr>
              <a:t>e.g</a:t>
            </a:r>
            <a:r>
              <a:rPr lang="en-US" altLang="zh-CN" sz="2400" b="1" dirty="0">
                <a:solidFill>
                  <a:srgbClr val="2B5681"/>
                </a:solidFill>
                <a:latin typeface="楷体_GB2312" pitchFamily="49" charset="-122"/>
                <a:ea typeface="楷体_GB2312" pitchFamily="49" charset="-122"/>
                <a:cs typeface="+mn-cs"/>
              </a:rPr>
              <a:t> </a:t>
            </a:r>
            <a:r>
              <a:rPr lang="en-US" altLang="zh-CN" sz="2400" b="1" dirty="0" err="1">
                <a:solidFill>
                  <a:srgbClr val="2B5681"/>
                </a:solidFill>
                <a:latin typeface="楷体_GB2312" pitchFamily="49" charset="-122"/>
                <a:ea typeface="楷体_GB2312" pitchFamily="49" charset="-122"/>
                <a:cs typeface="+mn-cs"/>
              </a:rPr>
              <a:t>movb</a:t>
            </a:r>
            <a:endParaRPr lang="en-US" altLang="zh-CN" sz="2400" b="1" dirty="0">
              <a:solidFill>
                <a:srgbClr val="2B5681"/>
              </a:solidFill>
              <a:latin typeface="楷体_GB2312" pitchFamily="49" charset="-122"/>
              <a:ea typeface="楷体_GB2312" pitchFamily="49" charset="-122"/>
              <a:cs typeface="+mn-cs"/>
            </a:endParaRPr>
          </a:p>
          <a:p>
            <a:pPr marL="800100" lvl="3" indent="-342900" eaLnBrk="1" hangingPunct="1">
              <a:lnSpc>
                <a:spcPct val="110000"/>
              </a:lnSpc>
              <a:buClr>
                <a:schemeClr val="accent2"/>
              </a:buClr>
              <a:buFont typeface="Wingdings" panose="05000000000000000000" pitchFamily="2" charset="2"/>
              <a:buChar char="u"/>
              <a:defRPr/>
            </a:pPr>
            <a:r>
              <a:rPr lang="zh-CN" altLang="en-US" sz="2400" b="1" dirty="0">
                <a:solidFill>
                  <a:srgbClr val="2B5681"/>
                </a:solidFill>
                <a:latin typeface="楷体_GB2312" pitchFamily="49" charset="-122"/>
                <a:ea typeface="楷体_GB2312" pitchFamily="49" charset="-122"/>
                <a:cs typeface="+mn-cs"/>
              </a:rPr>
              <a:t>直接操作数要加“</a:t>
            </a:r>
            <a:r>
              <a:rPr lang="en-US" altLang="zh-CN" sz="2400" b="1" dirty="0">
                <a:solidFill>
                  <a:srgbClr val="2B5681"/>
                </a:solidFill>
                <a:latin typeface="楷体_GB2312" pitchFamily="49" charset="-122"/>
                <a:ea typeface="楷体_GB2312" pitchFamily="49" charset="-122"/>
                <a:cs typeface="+mn-cs"/>
              </a:rPr>
              <a:t>$”</a:t>
            </a:r>
            <a:r>
              <a:rPr lang="zh-CN" altLang="en-US" sz="2400" b="1" dirty="0">
                <a:solidFill>
                  <a:srgbClr val="2B5681"/>
                </a:solidFill>
                <a:latin typeface="楷体_GB2312" pitchFamily="49" charset="-122"/>
                <a:ea typeface="楷体_GB2312" pitchFamily="49" charset="-122"/>
                <a:cs typeface="+mn-cs"/>
              </a:rPr>
              <a:t>作为前缀，</a:t>
            </a:r>
            <a:r>
              <a:rPr lang="en-US" altLang="zh-CN" sz="2400" b="1" dirty="0" err="1">
                <a:solidFill>
                  <a:srgbClr val="2B5681"/>
                </a:solidFill>
                <a:latin typeface="楷体_GB2312" pitchFamily="49" charset="-122"/>
                <a:ea typeface="楷体_GB2312" pitchFamily="49" charset="-122"/>
                <a:cs typeface="+mn-cs"/>
              </a:rPr>
              <a:t>intel</a:t>
            </a:r>
            <a:r>
              <a:rPr lang="zh-CN" altLang="en-US" sz="2400" b="1" dirty="0">
                <a:solidFill>
                  <a:srgbClr val="2B5681"/>
                </a:solidFill>
                <a:latin typeface="楷体_GB2312" pitchFamily="49" charset="-122"/>
                <a:ea typeface="楷体_GB2312" pitchFamily="49" charset="-122"/>
                <a:cs typeface="+mn-cs"/>
              </a:rPr>
              <a:t>中不用</a:t>
            </a:r>
          </a:p>
          <a:p>
            <a:pPr lvl="2" eaLnBrk="1" hangingPunct="1">
              <a:lnSpc>
                <a:spcPct val="110000"/>
              </a:lnSpc>
              <a:defRPr/>
            </a:pPr>
            <a:endParaRPr lang="zh-CN" altLang="en-US" sz="2800" b="1" dirty="0">
              <a:latin typeface="楷体_GB2312" pitchFamily="49" charset="-122"/>
              <a:ea typeface="楷体_GB2312" pitchFamily="49" charset="-122"/>
            </a:endParaRPr>
          </a:p>
        </p:txBody>
      </p:sp>
      <p:sp>
        <p:nvSpPr>
          <p:cNvPr id="28675" name="Rectangle 2"/>
          <p:cNvSpPr>
            <a:spLocks noGrp="1" noChangeArrowheads="1"/>
          </p:cNvSpPr>
          <p:nvPr>
            <p:ph type="title"/>
          </p:nvPr>
        </p:nvSpPr>
        <p:spPr/>
        <p:txBody>
          <a:bodyPr/>
          <a:lstStyle/>
          <a:p>
            <a:pPr eaLnBrk="1" hangingPunct="1"/>
            <a:r>
              <a:rPr lang="en-US" altLang="zh-CN">
                <a:latin typeface="楷体_GB2312" pitchFamily="49" charset="-122"/>
                <a:ea typeface="楷体_GB2312" pitchFamily="49" charset="-122"/>
              </a:rPr>
              <a:t>9.Linux</a:t>
            </a:r>
            <a:r>
              <a:rPr lang="zh-CN" altLang="en-US">
                <a:latin typeface="楷体_GB2312" pitchFamily="49" charset="-122"/>
                <a:ea typeface="楷体_GB2312" pitchFamily="49" charset="-122"/>
              </a:rPr>
              <a:t>中的</a:t>
            </a:r>
            <a:r>
              <a:rPr lang="en-US" altLang="zh-CN">
                <a:latin typeface="楷体_GB2312" pitchFamily="49" charset="-122"/>
                <a:ea typeface="楷体_GB2312" pitchFamily="49" charset="-122"/>
              </a:rPr>
              <a:t>C</a:t>
            </a:r>
            <a:r>
              <a:rPr lang="zh-CN" altLang="en-US">
                <a:latin typeface="楷体_GB2312" pitchFamily="49" charset="-122"/>
                <a:ea typeface="楷体_GB2312" pitchFamily="49" charset="-122"/>
              </a:rPr>
              <a:t>语言与汇编语言</a:t>
            </a:r>
          </a:p>
        </p:txBody>
      </p:sp>
    </p:spTree>
    <p:extLst>
      <p:ext uri="{BB962C8B-B14F-4D97-AF65-F5344CB8AC3E}">
        <p14:creationId xmlns:p14="http://schemas.microsoft.com/office/powerpoint/2010/main" val="7346578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Group 2"/>
          <p:cNvGrpSpPr>
            <a:grpSpLocks/>
          </p:cNvGrpSpPr>
          <p:nvPr/>
        </p:nvGrpSpPr>
        <p:grpSpPr bwMode="auto">
          <a:xfrm>
            <a:off x="251618" y="1307232"/>
            <a:ext cx="8640763" cy="4941168"/>
            <a:chOff x="-3" y="-3"/>
            <a:chExt cx="4184" cy="4166"/>
          </a:xfrm>
        </p:grpSpPr>
        <p:grpSp>
          <p:nvGrpSpPr>
            <p:cNvPr id="29700" name="Group 3"/>
            <p:cNvGrpSpPr>
              <a:grpSpLocks/>
            </p:cNvGrpSpPr>
            <p:nvPr/>
          </p:nvGrpSpPr>
          <p:grpSpPr bwMode="auto">
            <a:xfrm>
              <a:off x="0" y="0"/>
              <a:ext cx="4178" cy="4160"/>
              <a:chOff x="0" y="0"/>
              <a:chExt cx="4178" cy="4160"/>
            </a:xfrm>
          </p:grpSpPr>
          <p:grpSp>
            <p:nvGrpSpPr>
              <p:cNvPr id="29702" name="Group 4"/>
              <p:cNvGrpSpPr>
                <a:grpSpLocks/>
              </p:cNvGrpSpPr>
              <p:nvPr/>
            </p:nvGrpSpPr>
            <p:grpSpPr bwMode="auto">
              <a:xfrm>
                <a:off x="0" y="0"/>
                <a:ext cx="1126" cy="422"/>
                <a:chOff x="0" y="0"/>
                <a:chExt cx="1126" cy="422"/>
              </a:xfrm>
            </p:grpSpPr>
            <p:sp>
              <p:nvSpPr>
                <p:cNvPr id="29761" name="Rectangle 5"/>
                <p:cNvSpPr>
                  <a:spLocks noChangeArrowheads="1"/>
                </p:cNvSpPr>
                <p:nvPr/>
              </p:nvSpPr>
              <p:spPr bwMode="auto">
                <a:xfrm>
                  <a:off x="43" y="0"/>
                  <a:ext cx="104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1600" dirty="0">
                      <a:solidFill>
                        <a:srgbClr val="004182"/>
                      </a:solidFill>
                      <a:latin typeface="Times New Roman" panose="02020603050405020304" pitchFamily="18" charset="0"/>
                      <a:ea typeface="楷体_GB2312" pitchFamily="49" charset="-122"/>
                    </a:rPr>
                    <a:t>区别项</a:t>
                  </a:r>
                  <a:endParaRPr kumimoji="1" lang="zh-CN" altLang="en-US" sz="1600" dirty="0">
                    <a:solidFill>
                      <a:srgbClr val="004182"/>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zh-CN" altLang="en-US" sz="1600" dirty="0">
                    <a:solidFill>
                      <a:srgbClr val="004182"/>
                    </a:solidFill>
                    <a:latin typeface="Times New Roman" panose="02020603050405020304" pitchFamily="18" charset="0"/>
                    <a:ea typeface="宋体" panose="02010600030101010101" pitchFamily="2" charset="-122"/>
                  </a:endParaRPr>
                </a:p>
              </p:txBody>
            </p:sp>
            <p:sp>
              <p:nvSpPr>
                <p:cNvPr id="29762" name="Rectangle 6"/>
                <p:cNvSpPr>
                  <a:spLocks noChangeArrowheads="1"/>
                </p:cNvSpPr>
                <p:nvPr/>
              </p:nvSpPr>
              <p:spPr bwMode="auto">
                <a:xfrm>
                  <a:off x="0" y="0"/>
                  <a:ext cx="1126" cy="42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1100" b="0">
                    <a:solidFill>
                      <a:srgbClr val="004182"/>
                    </a:solidFill>
                    <a:latin typeface="Times New Roman" panose="02020603050405020304" pitchFamily="18" charset="0"/>
                    <a:ea typeface="楷体_GB2312" pitchFamily="49" charset="-122"/>
                  </a:endParaRPr>
                </a:p>
              </p:txBody>
            </p:sp>
          </p:grpSp>
          <p:grpSp>
            <p:nvGrpSpPr>
              <p:cNvPr id="29703" name="Group 7"/>
              <p:cNvGrpSpPr>
                <a:grpSpLocks/>
              </p:cNvGrpSpPr>
              <p:nvPr/>
            </p:nvGrpSpPr>
            <p:grpSpPr bwMode="auto">
              <a:xfrm>
                <a:off x="1126" y="0"/>
                <a:ext cx="1606" cy="422"/>
                <a:chOff x="1126" y="0"/>
                <a:chExt cx="1606" cy="422"/>
              </a:xfrm>
            </p:grpSpPr>
            <p:sp>
              <p:nvSpPr>
                <p:cNvPr id="29759" name="Rectangle 8"/>
                <p:cNvSpPr>
                  <a:spLocks noChangeArrowheads="1"/>
                </p:cNvSpPr>
                <p:nvPr/>
              </p:nvSpPr>
              <p:spPr bwMode="auto">
                <a:xfrm>
                  <a:off x="1169" y="0"/>
                  <a:ext cx="152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en-US" altLang="zh-CN" sz="1600">
                      <a:solidFill>
                        <a:srgbClr val="004182"/>
                      </a:solidFill>
                      <a:latin typeface="Times New Roman" panose="02020603050405020304" pitchFamily="18" charset="0"/>
                      <a:ea typeface="楷体_GB2312" pitchFamily="49" charset="-122"/>
                    </a:rPr>
                    <a:t>AT&amp;T</a:t>
                  </a:r>
                  <a:r>
                    <a:rPr kumimoji="1" lang="zh-CN" altLang="en-US" sz="1600">
                      <a:solidFill>
                        <a:srgbClr val="004182"/>
                      </a:solidFill>
                      <a:latin typeface="Times New Roman" panose="02020603050405020304" pitchFamily="18" charset="0"/>
                      <a:ea typeface="楷体_GB2312" pitchFamily="49" charset="-122"/>
                    </a:rPr>
                    <a:t>格式</a:t>
                  </a:r>
                  <a:endParaRPr kumimoji="1" lang="zh-CN" altLang="en-US" sz="1600">
                    <a:solidFill>
                      <a:srgbClr val="004182"/>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zh-CN" altLang="en-US" sz="1600">
                    <a:solidFill>
                      <a:srgbClr val="004182"/>
                    </a:solidFill>
                    <a:latin typeface="Times New Roman" panose="02020603050405020304" pitchFamily="18" charset="0"/>
                    <a:ea typeface="宋体" panose="02010600030101010101" pitchFamily="2" charset="-122"/>
                  </a:endParaRPr>
                </a:p>
              </p:txBody>
            </p:sp>
            <p:sp>
              <p:nvSpPr>
                <p:cNvPr id="29760" name="Rectangle 9"/>
                <p:cNvSpPr>
                  <a:spLocks noChangeArrowheads="1"/>
                </p:cNvSpPr>
                <p:nvPr/>
              </p:nvSpPr>
              <p:spPr bwMode="auto">
                <a:xfrm>
                  <a:off x="1126" y="0"/>
                  <a:ext cx="1606" cy="42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1100" b="0">
                    <a:solidFill>
                      <a:srgbClr val="004182"/>
                    </a:solidFill>
                    <a:latin typeface="Times New Roman" panose="02020603050405020304" pitchFamily="18" charset="0"/>
                    <a:ea typeface="楷体_GB2312" pitchFamily="49" charset="-122"/>
                  </a:endParaRPr>
                </a:p>
              </p:txBody>
            </p:sp>
          </p:grpSp>
          <p:grpSp>
            <p:nvGrpSpPr>
              <p:cNvPr id="29704" name="Group 10"/>
              <p:cNvGrpSpPr>
                <a:grpSpLocks/>
              </p:cNvGrpSpPr>
              <p:nvPr/>
            </p:nvGrpSpPr>
            <p:grpSpPr bwMode="auto">
              <a:xfrm>
                <a:off x="2732" y="0"/>
                <a:ext cx="1446" cy="422"/>
                <a:chOff x="2732" y="0"/>
                <a:chExt cx="1446" cy="422"/>
              </a:xfrm>
            </p:grpSpPr>
            <p:sp>
              <p:nvSpPr>
                <p:cNvPr id="29757" name="Rectangle 11"/>
                <p:cNvSpPr>
                  <a:spLocks noChangeArrowheads="1"/>
                </p:cNvSpPr>
                <p:nvPr/>
              </p:nvSpPr>
              <p:spPr bwMode="auto">
                <a:xfrm>
                  <a:off x="2775" y="0"/>
                  <a:ext cx="136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en-US" altLang="zh-CN" sz="1600">
                      <a:solidFill>
                        <a:srgbClr val="004182"/>
                      </a:solidFill>
                      <a:latin typeface="Times New Roman" panose="02020603050405020304" pitchFamily="18" charset="0"/>
                      <a:ea typeface="楷体_GB2312" pitchFamily="49" charset="-122"/>
                    </a:rPr>
                    <a:t>Intel</a:t>
                  </a:r>
                  <a:r>
                    <a:rPr kumimoji="1" lang="zh-CN" altLang="en-US" sz="1600">
                      <a:solidFill>
                        <a:srgbClr val="004182"/>
                      </a:solidFill>
                      <a:latin typeface="Times New Roman" panose="02020603050405020304" pitchFamily="18" charset="0"/>
                      <a:ea typeface="楷体_GB2312" pitchFamily="49" charset="-122"/>
                    </a:rPr>
                    <a:t>格式</a:t>
                  </a:r>
                  <a:endParaRPr kumimoji="1" lang="zh-CN" altLang="en-US" sz="1600">
                    <a:solidFill>
                      <a:srgbClr val="004182"/>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zh-CN" altLang="en-US" sz="1600">
                    <a:solidFill>
                      <a:srgbClr val="004182"/>
                    </a:solidFill>
                    <a:latin typeface="Times New Roman" panose="02020603050405020304" pitchFamily="18" charset="0"/>
                    <a:ea typeface="宋体" panose="02010600030101010101" pitchFamily="2" charset="-122"/>
                  </a:endParaRPr>
                </a:p>
              </p:txBody>
            </p:sp>
            <p:sp>
              <p:nvSpPr>
                <p:cNvPr id="29758" name="Rectangle 12"/>
                <p:cNvSpPr>
                  <a:spLocks noChangeArrowheads="1"/>
                </p:cNvSpPr>
                <p:nvPr/>
              </p:nvSpPr>
              <p:spPr bwMode="auto">
                <a:xfrm>
                  <a:off x="2732" y="0"/>
                  <a:ext cx="1446" cy="42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1100" b="0">
                    <a:solidFill>
                      <a:srgbClr val="004182"/>
                    </a:solidFill>
                    <a:latin typeface="Times New Roman" panose="02020603050405020304" pitchFamily="18" charset="0"/>
                    <a:ea typeface="楷体_GB2312" pitchFamily="49" charset="-122"/>
                  </a:endParaRPr>
                </a:p>
              </p:txBody>
            </p:sp>
          </p:grpSp>
          <p:grpSp>
            <p:nvGrpSpPr>
              <p:cNvPr id="29705" name="Group 13"/>
              <p:cNvGrpSpPr>
                <a:grpSpLocks/>
              </p:cNvGrpSpPr>
              <p:nvPr/>
            </p:nvGrpSpPr>
            <p:grpSpPr bwMode="auto">
              <a:xfrm>
                <a:off x="0" y="422"/>
                <a:ext cx="1126" cy="556"/>
                <a:chOff x="0" y="422"/>
                <a:chExt cx="1126" cy="556"/>
              </a:xfrm>
            </p:grpSpPr>
            <p:sp>
              <p:nvSpPr>
                <p:cNvPr id="29755" name="Rectangle 14"/>
                <p:cNvSpPr>
                  <a:spLocks noChangeArrowheads="1"/>
                </p:cNvSpPr>
                <p:nvPr/>
              </p:nvSpPr>
              <p:spPr bwMode="auto">
                <a:xfrm>
                  <a:off x="43" y="422"/>
                  <a:ext cx="791"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1600" dirty="0">
                      <a:solidFill>
                        <a:srgbClr val="004182"/>
                      </a:solidFill>
                      <a:latin typeface="Times New Roman" panose="02020603050405020304" pitchFamily="18" charset="0"/>
                      <a:ea typeface="楷体_GB2312" pitchFamily="49" charset="-122"/>
                    </a:rPr>
                    <a:t>指令大小写</a:t>
                  </a:r>
                  <a:endParaRPr kumimoji="1" lang="zh-CN" altLang="en-US" sz="1600" dirty="0">
                    <a:solidFill>
                      <a:srgbClr val="004182"/>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zh-CN" altLang="en-US" sz="1600" dirty="0">
                    <a:solidFill>
                      <a:srgbClr val="004182"/>
                    </a:solidFill>
                    <a:latin typeface="Times New Roman" panose="02020603050405020304" pitchFamily="18" charset="0"/>
                    <a:ea typeface="宋体" panose="02010600030101010101" pitchFamily="2" charset="-122"/>
                  </a:endParaRPr>
                </a:p>
              </p:txBody>
            </p:sp>
            <p:sp>
              <p:nvSpPr>
                <p:cNvPr id="29756" name="Rectangle 15"/>
                <p:cNvSpPr>
                  <a:spLocks noChangeArrowheads="1"/>
                </p:cNvSpPr>
                <p:nvPr/>
              </p:nvSpPr>
              <p:spPr bwMode="auto">
                <a:xfrm>
                  <a:off x="0" y="422"/>
                  <a:ext cx="1126" cy="55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1100" b="0">
                    <a:solidFill>
                      <a:srgbClr val="004182"/>
                    </a:solidFill>
                    <a:latin typeface="Times New Roman" panose="02020603050405020304" pitchFamily="18" charset="0"/>
                    <a:ea typeface="楷体_GB2312" pitchFamily="49" charset="-122"/>
                  </a:endParaRPr>
                </a:p>
              </p:txBody>
            </p:sp>
          </p:grpSp>
          <p:grpSp>
            <p:nvGrpSpPr>
              <p:cNvPr id="29706" name="Group 16"/>
              <p:cNvGrpSpPr>
                <a:grpSpLocks/>
              </p:cNvGrpSpPr>
              <p:nvPr/>
            </p:nvGrpSpPr>
            <p:grpSpPr bwMode="auto">
              <a:xfrm>
                <a:off x="1126" y="422"/>
                <a:ext cx="1606" cy="556"/>
                <a:chOff x="1126" y="422"/>
                <a:chExt cx="1606" cy="556"/>
              </a:xfrm>
            </p:grpSpPr>
            <p:sp>
              <p:nvSpPr>
                <p:cNvPr id="29753" name="Rectangle 17"/>
                <p:cNvSpPr>
                  <a:spLocks noChangeArrowheads="1"/>
                </p:cNvSpPr>
                <p:nvPr/>
              </p:nvSpPr>
              <p:spPr bwMode="auto">
                <a:xfrm>
                  <a:off x="1169" y="422"/>
                  <a:ext cx="1348"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1600">
                      <a:solidFill>
                        <a:srgbClr val="004182"/>
                      </a:solidFill>
                      <a:latin typeface="Times New Roman" panose="02020603050405020304" pitchFamily="18" charset="0"/>
                      <a:ea typeface="楷体_GB2312" pitchFamily="49" charset="-122"/>
                    </a:rPr>
                    <a:t>多用小写</a:t>
                  </a:r>
                  <a:r>
                    <a:rPr kumimoji="1" lang="en-US" altLang="zh-CN" sz="1600">
                      <a:solidFill>
                        <a:srgbClr val="004182"/>
                      </a:solidFill>
                      <a:latin typeface="Times New Roman" panose="02020603050405020304" pitchFamily="18" charset="0"/>
                      <a:ea typeface="楷体_GB2312" pitchFamily="49" charset="-122"/>
                    </a:rPr>
                    <a:t>,</a:t>
                  </a:r>
                  <a:r>
                    <a:rPr kumimoji="1" lang="zh-CN" altLang="en-US" sz="1600">
                      <a:solidFill>
                        <a:srgbClr val="004182"/>
                      </a:solidFill>
                      <a:latin typeface="Times New Roman" panose="02020603050405020304" pitchFamily="18" charset="0"/>
                      <a:ea typeface="楷体_GB2312" pitchFamily="49" charset="-122"/>
                    </a:rPr>
                    <a:t>如</a:t>
                  </a:r>
                  <a:r>
                    <a:rPr kumimoji="1" lang="en-US" altLang="zh-CN" sz="1600">
                      <a:solidFill>
                        <a:srgbClr val="004182"/>
                      </a:solidFill>
                      <a:latin typeface="Times New Roman" panose="02020603050405020304" pitchFamily="18" charset="0"/>
                      <a:ea typeface="楷体_GB2312" pitchFamily="49" charset="-122"/>
                    </a:rPr>
                    <a:t>:</a:t>
                  </a:r>
                </a:p>
                <a:p>
                  <a:pPr algn="just" eaLnBrk="1" hangingPunct="1">
                    <a:spcBef>
                      <a:spcPct val="0"/>
                    </a:spcBef>
                    <a:buClrTx/>
                    <a:buFontTx/>
                    <a:buNone/>
                  </a:pPr>
                  <a:r>
                    <a:rPr kumimoji="1" lang="en-US" altLang="zh-CN" sz="1600">
                      <a:solidFill>
                        <a:srgbClr val="004182"/>
                      </a:solidFill>
                      <a:latin typeface="Times New Roman" panose="02020603050405020304" pitchFamily="18" charset="0"/>
                      <a:ea typeface="楷体_GB2312" pitchFamily="49" charset="-122"/>
                    </a:rPr>
                    <a:t> movw %eax,%ebx</a:t>
                  </a:r>
                  <a:endParaRPr kumimoji="1" lang="en-US" altLang="zh-CN" sz="1600">
                    <a:solidFill>
                      <a:srgbClr val="004182"/>
                    </a:solidFill>
                    <a:latin typeface="Times New Roman" panose="02020603050405020304" pitchFamily="18" charset="0"/>
                    <a:ea typeface="宋体" panose="02010600030101010101" pitchFamily="2" charset="-122"/>
                  </a:endParaRPr>
                </a:p>
              </p:txBody>
            </p:sp>
            <p:sp>
              <p:nvSpPr>
                <p:cNvPr id="29754" name="Rectangle 18"/>
                <p:cNvSpPr>
                  <a:spLocks noChangeArrowheads="1"/>
                </p:cNvSpPr>
                <p:nvPr/>
              </p:nvSpPr>
              <p:spPr bwMode="auto">
                <a:xfrm>
                  <a:off x="1126" y="422"/>
                  <a:ext cx="1606" cy="55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1100" b="0">
                    <a:solidFill>
                      <a:srgbClr val="004182"/>
                    </a:solidFill>
                    <a:latin typeface="Times New Roman" panose="02020603050405020304" pitchFamily="18" charset="0"/>
                    <a:ea typeface="楷体_GB2312" pitchFamily="49" charset="-122"/>
                  </a:endParaRPr>
                </a:p>
              </p:txBody>
            </p:sp>
          </p:grpSp>
          <p:grpSp>
            <p:nvGrpSpPr>
              <p:cNvPr id="29707" name="Group 19"/>
              <p:cNvGrpSpPr>
                <a:grpSpLocks/>
              </p:cNvGrpSpPr>
              <p:nvPr/>
            </p:nvGrpSpPr>
            <p:grpSpPr bwMode="auto">
              <a:xfrm>
                <a:off x="2732" y="422"/>
                <a:ext cx="1446" cy="556"/>
                <a:chOff x="2732" y="422"/>
                <a:chExt cx="1446" cy="556"/>
              </a:xfrm>
            </p:grpSpPr>
            <p:sp>
              <p:nvSpPr>
                <p:cNvPr id="29751" name="Rectangle 20"/>
                <p:cNvSpPr>
                  <a:spLocks noChangeArrowheads="1"/>
                </p:cNvSpPr>
                <p:nvPr/>
              </p:nvSpPr>
              <p:spPr bwMode="auto">
                <a:xfrm>
                  <a:off x="2775" y="422"/>
                  <a:ext cx="136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1600">
                      <a:solidFill>
                        <a:srgbClr val="004182"/>
                      </a:solidFill>
                      <a:latin typeface="Times New Roman" panose="02020603050405020304" pitchFamily="18" charset="0"/>
                      <a:ea typeface="楷体_GB2312" pitchFamily="49" charset="-122"/>
                    </a:rPr>
                    <a:t>多用大写，如</a:t>
                  </a:r>
                  <a:r>
                    <a:rPr kumimoji="1" lang="en-US" altLang="zh-CN" sz="1600">
                      <a:solidFill>
                        <a:srgbClr val="004182"/>
                      </a:solidFill>
                      <a:latin typeface="Times New Roman" panose="02020603050405020304" pitchFamily="18" charset="0"/>
                      <a:ea typeface="楷体_GB2312" pitchFamily="49" charset="-122"/>
                    </a:rPr>
                    <a:t>PUSH AX</a:t>
                  </a:r>
                  <a:endParaRPr kumimoji="1" lang="en-US" altLang="zh-CN" sz="1600">
                    <a:solidFill>
                      <a:srgbClr val="004182"/>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1600">
                    <a:solidFill>
                      <a:srgbClr val="004182"/>
                    </a:solidFill>
                    <a:latin typeface="Times New Roman" panose="02020603050405020304" pitchFamily="18" charset="0"/>
                    <a:ea typeface="宋体" panose="02010600030101010101" pitchFamily="2" charset="-122"/>
                  </a:endParaRPr>
                </a:p>
              </p:txBody>
            </p:sp>
            <p:sp>
              <p:nvSpPr>
                <p:cNvPr id="29752" name="Rectangle 21"/>
                <p:cNvSpPr>
                  <a:spLocks noChangeArrowheads="1"/>
                </p:cNvSpPr>
                <p:nvPr/>
              </p:nvSpPr>
              <p:spPr bwMode="auto">
                <a:xfrm>
                  <a:off x="2732" y="422"/>
                  <a:ext cx="1446" cy="55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1100" b="0">
                    <a:solidFill>
                      <a:srgbClr val="004182"/>
                    </a:solidFill>
                    <a:latin typeface="Times New Roman" panose="02020603050405020304" pitchFamily="18" charset="0"/>
                    <a:ea typeface="楷体_GB2312" pitchFamily="49" charset="-122"/>
                  </a:endParaRPr>
                </a:p>
              </p:txBody>
            </p:sp>
          </p:grpSp>
          <p:grpSp>
            <p:nvGrpSpPr>
              <p:cNvPr id="29708" name="Group 22"/>
              <p:cNvGrpSpPr>
                <a:grpSpLocks/>
              </p:cNvGrpSpPr>
              <p:nvPr/>
            </p:nvGrpSpPr>
            <p:grpSpPr bwMode="auto">
              <a:xfrm>
                <a:off x="0" y="978"/>
                <a:ext cx="1126" cy="556"/>
                <a:chOff x="0" y="978"/>
                <a:chExt cx="1126" cy="556"/>
              </a:xfrm>
            </p:grpSpPr>
            <p:sp>
              <p:nvSpPr>
                <p:cNvPr id="29749" name="Rectangle 23"/>
                <p:cNvSpPr>
                  <a:spLocks noChangeArrowheads="1"/>
                </p:cNvSpPr>
                <p:nvPr/>
              </p:nvSpPr>
              <p:spPr bwMode="auto">
                <a:xfrm>
                  <a:off x="43" y="978"/>
                  <a:ext cx="791"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1600">
                      <a:solidFill>
                        <a:srgbClr val="004182"/>
                      </a:solidFill>
                      <a:latin typeface="Times New Roman" panose="02020603050405020304" pitchFamily="18" charset="0"/>
                      <a:ea typeface="楷体_GB2312" pitchFamily="49" charset="-122"/>
                    </a:rPr>
                    <a:t>寄存器名</a:t>
                  </a:r>
                  <a:endParaRPr kumimoji="1" lang="zh-CN" altLang="en-US" sz="1600">
                    <a:solidFill>
                      <a:srgbClr val="004182"/>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zh-CN" altLang="en-US" sz="1600">
                    <a:solidFill>
                      <a:srgbClr val="004182"/>
                    </a:solidFill>
                    <a:latin typeface="Times New Roman" panose="02020603050405020304" pitchFamily="18" charset="0"/>
                    <a:ea typeface="宋体" panose="02010600030101010101" pitchFamily="2" charset="-122"/>
                  </a:endParaRPr>
                </a:p>
              </p:txBody>
            </p:sp>
            <p:sp>
              <p:nvSpPr>
                <p:cNvPr id="29750" name="Rectangle 24"/>
                <p:cNvSpPr>
                  <a:spLocks noChangeArrowheads="1"/>
                </p:cNvSpPr>
                <p:nvPr/>
              </p:nvSpPr>
              <p:spPr bwMode="auto">
                <a:xfrm>
                  <a:off x="0" y="978"/>
                  <a:ext cx="1126" cy="55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1100" b="0">
                    <a:solidFill>
                      <a:srgbClr val="004182"/>
                    </a:solidFill>
                    <a:latin typeface="Times New Roman" panose="02020603050405020304" pitchFamily="18" charset="0"/>
                    <a:ea typeface="楷体_GB2312" pitchFamily="49" charset="-122"/>
                  </a:endParaRPr>
                </a:p>
              </p:txBody>
            </p:sp>
          </p:grpSp>
          <p:grpSp>
            <p:nvGrpSpPr>
              <p:cNvPr id="29709" name="Group 25"/>
              <p:cNvGrpSpPr>
                <a:grpSpLocks/>
              </p:cNvGrpSpPr>
              <p:nvPr/>
            </p:nvGrpSpPr>
            <p:grpSpPr bwMode="auto">
              <a:xfrm>
                <a:off x="1126" y="978"/>
                <a:ext cx="1606" cy="556"/>
                <a:chOff x="1126" y="978"/>
                <a:chExt cx="1606" cy="556"/>
              </a:xfrm>
            </p:grpSpPr>
            <p:sp>
              <p:nvSpPr>
                <p:cNvPr id="29747" name="Rectangle 26"/>
                <p:cNvSpPr>
                  <a:spLocks noChangeArrowheads="1"/>
                </p:cNvSpPr>
                <p:nvPr/>
              </p:nvSpPr>
              <p:spPr bwMode="auto">
                <a:xfrm>
                  <a:off x="1169" y="978"/>
                  <a:ext cx="152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1600">
                      <a:solidFill>
                        <a:srgbClr val="004182"/>
                      </a:solidFill>
                      <a:latin typeface="Times New Roman" panose="02020603050405020304" pitchFamily="18" charset="0"/>
                      <a:ea typeface="楷体_GB2312" pitchFamily="49" charset="-122"/>
                    </a:rPr>
                    <a:t>寄存器名前加%号,如</a:t>
                  </a:r>
                  <a:r>
                    <a:rPr kumimoji="1" lang="en-US" altLang="zh-CN" sz="1600">
                      <a:solidFill>
                        <a:srgbClr val="004182"/>
                      </a:solidFill>
                      <a:latin typeface="Times New Roman" panose="02020603050405020304" pitchFamily="18" charset="0"/>
                      <a:ea typeface="楷体_GB2312" pitchFamily="49" charset="-122"/>
                    </a:rPr>
                    <a:t>:</a:t>
                  </a:r>
                </a:p>
                <a:p>
                  <a:pPr algn="just" eaLnBrk="1" hangingPunct="1">
                    <a:spcBef>
                      <a:spcPct val="0"/>
                    </a:spcBef>
                    <a:buClrTx/>
                    <a:buFontTx/>
                    <a:buNone/>
                  </a:pPr>
                  <a:r>
                    <a:rPr kumimoji="1" lang="zh-CN" altLang="en-US" sz="1600">
                      <a:solidFill>
                        <a:srgbClr val="004182"/>
                      </a:solidFill>
                      <a:latin typeface="Times New Roman" panose="02020603050405020304" pitchFamily="18" charset="0"/>
                      <a:ea typeface="楷体_GB2312" pitchFamily="49" charset="-122"/>
                    </a:rPr>
                    <a:t>%</a:t>
                  </a:r>
                  <a:r>
                    <a:rPr kumimoji="1" lang="en-US" altLang="zh-CN" sz="1600">
                      <a:solidFill>
                        <a:srgbClr val="004182"/>
                      </a:solidFill>
                      <a:latin typeface="Times New Roman" panose="02020603050405020304" pitchFamily="18" charset="0"/>
                      <a:ea typeface="楷体_GB2312" pitchFamily="49" charset="-122"/>
                    </a:rPr>
                    <a:t>eax ,%edi</a:t>
                  </a:r>
                  <a:endParaRPr kumimoji="1" lang="en-US" altLang="zh-CN" sz="1600">
                    <a:solidFill>
                      <a:srgbClr val="004182"/>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1600">
                    <a:solidFill>
                      <a:srgbClr val="004182"/>
                    </a:solidFill>
                    <a:latin typeface="Times New Roman" panose="02020603050405020304" pitchFamily="18" charset="0"/>
                    <a:ea typeface="宋体" panose="02010600030101010101" pitchFamily="2" charset="-122"/>
                  </a:endParaRPr>
                </a:p>
              </p:txBody>
            </p:sp>
            <p:sp>
              <p:nvSpPr>
                <p:cNvPr id="29748" name="Rectangle 27"/>
                <p:cNvSpPr>
                  <a:spLocks noChangeArrowheads="1"/>
                </p:cNvSpPr>
                <p:nvPr/>
              </p:nvSpPr>
              <p:spPr bwMode="auto">
                <a:xfrm>
                  <a:off x="1126" y="978"/>
                  <a:ext cx="1606" cy="55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1100" b="0">
                    <a:solidFill>
                      <a:srgbClr val="004182"/>
                    </a:solidFill>
                    <a:latin typeface="Times New Roman" panose="02020603050405020304" pitchFamily="18" charset="0"/>
                    <a:ea typeface="楷体_GB2312" pitchFamily="49" charset="-122"/>
                  </a:endParaRPr>
                </a:p>
              </p:txBody>
            </p:sp>
          </p:grpSp>
          <p:grpSp>
            <p:nvGrpSpPr>
              <p:cNvPr id="29710" name="Group 28"/>
              <p:cNvGrpSpPr>
                <a:grpSpLocks/>
              </p:cNvGrpSpPr>
              <p:nvPr/>
            </p:nvGrpSpPr>
            <p:grpSpPr bwMode="auto">
              <a:xfrm>
                <a:off x="2732" y="978"/>
                <a:ext cx="1446" cy="556"/>
                <a:chOff x="2732" y="978"/>
                <a:chExt cx="1446" cy="556"/>
              </a:xfrm>
            </p:grpSpPr>
            <p:sp>
              <p:nvSpPr>
                <p:cNvPr id="29745" name="Rectangle 29"/>
                <p:cNvSpPr>
                  <a:spLocks noChangeArrowheads="1"/>
                </p:cNvSpPr>
                <p:nvPr/>
              </p:nvSpPr>
              <p:spPr bwMode="auto">
                <a:xfrm>
                  <a:off x="2775" y="978"/>
                  <a:ext cx="136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1600">
                      <a:solidFill>
                        <a:srgbClr val="004182"/>
                      </a:solidFill>
                      <a:latin typeface="Times New Roman" panose="02020603050405020304" pitchFamily="18" charset="0"/>
                      <a:ea typeface="楷体_GB2312" pitchFamily="49" charset="-122"/>
                    </a:rPr>
                    <a:t>寄存器名前不加任何符号，</a:t>
                  </a:r>
                  <a:r>
                    <a:rPr kumimoji="1" lang="en-US" altLang="zh-CN" sz="1600">
                      <a:solidFill>
                        <a:srgbClr val="004182"/>
                      </a:solidFill>
                      <a:latin typeface="Times New Roman" panose="02020603050405020304" pitchFamily="18" charset="0"/>
                      <a:ea typeface="楷体_GB2312" pitchFamily="49" charset="-122"/>
                    </a:rPr>
                    <a:t>EAX </a:t>
                  </a:r>
                  <a:r>
                    <a:rPr kumimoji="1" lang="zh-CN" altLang="en-US" sz="1600">
                      <a:solidFill>
                        <a:srgbClr val="004182"/>
                      </a:solidFill>
                      <a:latin typeface="Times New Roman" panose="02020603050405020304" pitchFamily="18" charset="0"/>
                      <a:ea typeface="楷体_GB2312" pitchFamily="49" charset="-122"/>
                    </a:rPr>
                    <a:t>，</a:t>
                  </a:r>
                  <a:r>
                    <a:rPr kumimoji="1" lang="en-US" altLang="zh-CN" sz="1600">
                      <a:solidFill>
                        <a:srgbClr val="004182"/>
                      </a:solidFill>
                      <a:latin typeface="Times New Roman" panose="02020603050405020304" pitchFamily="18" charset="0"/>
                      <a:ea typeface="楷体_GB2312" pitchFamily="49" charset="-122"/>
                    </a:rPr>
                    <a:t>EDI</a:t>
                  </a:r>
                  <a:endParaRPr kumimoji="1" lang="en-US" altLang="zh-CN" sz="1600">
                    <a:solidFill>
                      <a:srgbClr val="004182"/>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1600">
                    <a:solidFill>
                      <a:srgbClr val="004182"/>
                    </a:solidFill>
                    <a:latin typeface="Times New Roman" panose="02020603050405020304" pitchFamily="18" charset="0"/>
                    <a:ea typeface="宋体" panose="02010600030101010101" pitchFamily="2" charset="-122"/>
                  </a:endParaRPr>
                </a:p>
              </p:txBody>
            </p:sp>
            <p:sp>
              <p:nvSpPr>
                <p:cNvPr id="29746" name="Rectangle 30"/>
                <p:cNvSpPr>
                  <a:spLocks noChangeArrowheads="1"/>
                </p:cNvSpPr>
                <p:nvPr/>
              </p:nvSpPr>
              <p:spPr bwMode="auto">
                <a:xfrm>
                  <a:off x="2732" y="978"/>
                  <a:ext cx="1446" cy="55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1100" b="0">
                    <a:solidFill>
                      <a:srgbClr val="004182"/>
                    </a:solidFill>
                    <a:latin typeface="Times New Roman" panose="02020603050405020304" pitchFamily="18" charset="0"/>
                    <a:ea typeface="楷体_GB2312" pitchFamily="49" charset="-122"/>
                  </a:endParaRPr>
                </a:p>
              </p:txBody>
            </p:sp>
          </p:grpSp>
          <p:grpSp>
            <p:nvGrpSpPr>
              <p:cNvPr id="29711" name="Group 31"/>
              <p:cNvGrpSpPr>
                <a:grpSpLocks/>
              </p:cNvGrpSpPr>
              <p:nvPr/>
            </p:nvGrpSpPr>
            <p:grpSpPr bwMode="auto">
              <a:xfrm>
                <a:off x="0" y="1534"/>
                <a:ext cx="1126" cy="690"/>
                <a:chOff x="0" y="1534"/>
                <a:chExt cx="1126" cy="690"/>
              </a:xfrm>
            </p:grpSpPr>
            <p:sp>
              <p:nvSpPr>
                <p:cNvPr id="29743" name="Rectangle 32"/>
                <p:cNvSpPr>
                  <a:spLocks noChangeArrowheads="1"/>
                </p:cNvSpPr>
                <p:nvPr/>
              </p:nvSpPr>
              <p:spPr bwMode="auto">
                <a:xfrm>
                  <a:off x="43" y="1534"/>
                  <a:ext cx="791" cy="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1600">
                      <a:solidFill>
                        <a:srgbClr val="004182"/>
                      </a:solidFill>
                      <a:latin typeface="Times New Roman" panose="02020603050405020304" pitchFamily="18" charset="0"/>
                      <a:ea typeface="楷体_GB2312" pitchFamily="49" charset="-122"/>
                    </a:rPr>
                    <a:t>源/目的操作数顺序</a:t>
                  </a:r>
                  <a:endParaRPr kumimoji="1" lang="zh-CN" altLang="en-US" sz="1600">
                    <a:solidFill>
                      <a:srgbClr val="004182"/>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zh-CN" altLang="en-US" sz="1600">
                    <a:solidFill>
                      <a:srgbClr val="004182"/>
                    </a:solidFill>
                    <a:latin typeface="Times New Roman" panose="02020603050405020304" pitchFamily="18" charset="0"/>
                    <a:ea typeface="宋体" panose="02010600030101010101" pitchFamily="2" charset="-122"/>
                  </a:endParaRPr>
                </a:p>
              </p:txBody>
            </p:sp>
            <p:sp>
              <p:nvSpPr>
                <p:cNvPr id="29744" name="Rectangle 33"/>
                <p:cNvSpPr>
                  <a:spLocks noChangeArrowheads="1"/>
                </p:cNvSpPr>
                <p:nvPr/>
              </p:nvSpPr>
              <p:spPr bwMode="auto">
                <a:xfrm>
                  <a:off x="0" y="1534"/>
                  <a:ext cx="1126" cy="69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1100" b="0">
                    <a:solidFill>
                      <a:srgbClr val="004182"/>
                    </a:solidFill>
                    <a:latin typeface="Times New Roman" panose="02020603050405020304" pitchFamily="18" charset="0"/>
                    <a:ea typeface="楷体_GB2312" pitchFamily="49" charset="-122"/>
                  </a:endParaRPr>
                </a:p>
              </p:txBody>
            </p:sp>
          </p:grpSp>
          <p:grpSp>
            <p:nvGrpSpPr>
              <p:cNvPr id="29712" name="Group 34"/>
              <p:cNvGrpSpPr>
                <a:grpSpLocks/>
              </p:cNvGrpSpPr>
              <p:nvPr/>
            </p:nvGrpSpPr>
            <p:grpSpPr bwMode="auto">
              <a:xfrm>
                <a:off x="1126" y="1534"/>
                <a:ext cx="1606" cy="690"/>
                <a:chOff x="1126" y="1534"/>
                <a:chExt cx="1606" cy="690"/>
              </a:xfrm>
            </p:grpSpPr>
            <p:sp>
              <p:nvSpPr>
                <p:cNvPr id="29741" name="Rectangle 35"/>
                <p:cNvSpPr>
                  <a:spLocks noChangeArrowheads="1"/>
                </p:cNvSpPr>
                <p:nvPr/>
              </p:nvSpPr>
              <p:spPr bwMode="auto">
                <a:xfrm>
                  <a:off x="1169" y="1534"/>
                  <a:ext cx="1520" cy="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1600">
                      <a:solidFill>
                        <a:srgbClr val="004182"/>
                      </a:solidFill>
                      <a:latin typeface="Times New Roman" panose="02020603050405020304" pitchFamily="18" charset="0"/>
                      <a:ea typeface="楷体_GB2312" pitchFamily="49" charset="-122"/>
                    </a:rPr>
                    <a:t>操作指令  源数  目的数</a:t>
                  </a:r>
                  <a:endParaRPr kumimoji="1" lang="zh-CN" altLang="en-US" sz="1600">
                    <a:solidFill>
                      <a:srgbClr val="004182"/>
                    </a:solidFill>
                    <a:latin typeface="Times New Roman" panose="02020603050405020304" pitchFamily="18" charset="0"/>
                    <a:ea typeface="宋体" panose="02010600030101010101" pitchFamily="2" charset="-122"/>
                  </a:endParaRPr>
                </a:p>
                <a:p>
                  <a:pPr algn="just">
                    <a:spcBef>
                      <a:spcPct val="0"/>
                    </a:spcBef>
                    <a:buClrTx/>
                    <a:buFontTx/>
                    <a:buNone/>
                  </a:pPr>
                  <a:r>
                    <a:rPr kumimoji="1" lang="en-US" altLang="zh-CN" sz="1600">
                      <a:solidFill>
                        <a:srgbClr val="004182"/>
                      </a:solidFill>
                      <a:latin typeface="Times New Roman" panose="02020603050405020304" pitchFamily="18" charset="0"/>
                      <a:ea typeface="楷体_GB2312" pitchFamily="49" charset="-122"/>
                    </a:rPr>
                    <a:t>mov %eax,%ebx;eax→ebx</a:t>
                  </a:r>
                  <a:endParaRPr kumimoji="1" lang="en-US" altLang="zh-CN" sz="1600">
                    <a:solidFill>
                      <a:srgbClr val="004182"/>
                    </a:solidFill>
                    <a:latin typeface="Times New Roman" panose="02020603050405020304" pitchFamily="18" charset="0"/>
                    <a:ea typeface="宋体" panose="02010600030101010101" pitchFamily="2" charset="-122"/>
                  </a:endParaRPr>
                </a:p>
              </p:txBody>
            </p:sp>
            <p:sp>
              <p:nvSpPr>
                <p:cNvPr id="29742" name="Rectangle 36"/>
                <p:cNvSpPr>
                  <a:spLocks noChangeArrowheads="1"/>
                </p:cNvSpPr>
                <p:nvPr/>
              </p:nvSpPr>
              <p:spPr bwMode="auto">
                <a:xfrm>
                  <a:off x="1126" y="1534"/>
                  <a:ext cx="1606" cy="69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1100" b="0">
                    <a:solidFill>
                      <a:srgbClr val="004182"/>
                    </a:solidFill>
                    <a:latin typeface="Times New Roman" panose="02020603050405020304" pitchFamily="18" charset="0"/>
                    <a:ea typeface="楷体_GB2312" pitchFamily="49" charset="-122"/>
                  </a:endParaRPr>
                </a:p>
              </p:txBody>
            </p:sp>
          </p:grpSp>
          <p:grpSp>
            <p:nvGrpSpPr>
              <p:cNvPr id="29713" name="Group 37"/>
              <p:cNvGrpSpPr>
                <a:grpSpLocks/>
              </p:cNvGrpSpPr>
              <p:nvPr/>
            </p:nvGrpSpPr>
            <p:grpSpPr bwMode="auto">
              <a:xfrm>
                <a:off x="2732" y="1534"/>
                <a:ext cx="1446" cy="690"/>
                <a:chOff x="2732" y="1534"/>
                <a:chExt cx="1446" cy="690"/>
              </a:xfrm>
            </p:grpSpPr>
            <p:sp>
              <p:nvSpPr>
                <p:cNvPr id="29739" name="Rectangle 38"/>
                <p:cNvSpPr>
                  <a:spLocks noChangeArrowheads="1"/>
                </p:cNvSpPr>
                <p:nvPr/>
              </p:nvSpPr>
              <p:spPr bwMode="auto">
                <a:xfrm>
                  <a:off x="2775" y="1534"/>
                  <a:ext cx="1360" cy="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1600">
                      <a:solidFill>
                        <a:srgbClr val="004182"/>
                      </a:solidFill>
                      <a:latin typeface="Times New Roman" panose="02020603050405020304" pitchFamily="18" charset="0"/>
                      <a:ea typeface="楷体_GB2312" pitchFamily="49" charset="-122"/>
                    </a:rPr>
                    <a:t>操作指令 目的数  源数</a:t>
                  </a:r>
                  <a:endParaRPr kumimoji="1" lang="zh-CN" altLang="en-US" sz="1600">
                    <a:solidFill>
                      <a:srgbClr val="004182"/>
                    </a:solidFill>
                    <a:latin typeface="Times New Roman" panose="02020603050405020304" pitchFamily="18" charset="0"/>
                    <a:ea typeface="宋体" panose="02010600030101010101" pitchFamily="2" charset="-122"/>
                  </a:endParaRPr>
                </a:p>
                <a:p>
                  <a:pPr algn="just">
                    <a:spcBef>
                      <a:spcPct val="0"/>
                    </a:spcBef>
                    <a:buClrTx/>
                    <a:buFontTx/>
                    <a:buNone/>
                  </a:pPr>
                  <a:r>
                    <a:rPr kumimoji="1" lang="en-US" altLang="zh-CN" sz="1600">
                      <a:solidFill>
                        <a:srgbClr val="004182"/>
                      </a:solidFill>
                      <a:latin typeface="Times New Roman" panose="02020603050405020304" pitchFamily="18" charset="0"/>
                      <a:ea typeface="楷体_GB2312" pitchFamily="49" charset="-122"/>
                    </a:rPr>
                    <a:t>MOV EAX,EBX;EBX→EAX</a:t>
                  </a:r>
                  <a:endParaRPr kumimoji="1" lang="en-US" altLang="zh-CN" sz="1600">
                    <a:solidFill>
                      <a:srgbClr val="004182"/>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1600">
                    <a:solidFill>
                      <a:srgbClr val="004182"/>
                    </a:solidFill>
                    <a:latin typeface="Times New Roman" panose="02020603050405020304" pitchFamily="18" charset="0"/>
                    <a:ea typeface="宋体" panose="02010600030101010101" pitchFamily="2" charset="-122"/>
                  </a:endParaRPr>
                </a:p>
              </p:txBody>
            </p:sp>
            <p:sp>
              <p:nvSpPr>
                <p:cNvPr id="29740" name="Rectangle 39"/>
                <p:cNvSpPr>
                  <a:spLocks noChangeArrowheads="1"/>
                </p:cNvSpPr>
                <p:nvPr/>
              </p:nvSpPr>
              <p:spPr bwMode="auto">
                <a:xfrm>
                  <a:off x="2732" y="1534"/>
                  <a:ext cx="1446" cy="69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1100" b="0">
                    <a:solidFill>
                      <a:srgbClr val="004182"/>
                    </a:solidFill>
                    <a:latin typeface="Times New Roman" panose="02020603050405020304" pitchFamily="18" charset="0"/>
                    <a:ea typeface="楷体_GB2312" pitchFamily="49" charset="-122"/>
                  </a:endParaRPr>
                </a:p>
              </p:txBody>
            </p:sp>
          </p:grpSp>
          <p:grpSp>
            <p:nvGrpSpPr>
              <p:cNvPr id="29714" name="Group 40"/>
              <p:cNvGrpSpPr>
                <a:grpSpLocks/>
              </p:cNvGrpSpPr>
              <p:nvPr/>
            </p:nvGrpSpPr>
            <p:grpSpPr bwMode="auto">
              <a:xfrm>
                <a:off x="0" y="2224"/>
                <a:ext cx="1126" cy="824"/>
                <a:chOff x="0" y="2224"/>
                <a:chExt cx="1126" cy="824"/>
              </a:xfrm>
            </p:grpSpPr>
            <p:sp>
              <p:nvSpPr>
                <p:cNvPr id="29737" name="Rectangle 41"/>
                <p:cNvSpPr>
                  <a:spLocks noChangeArrowheads="1"/>
                </p:cNvSpPr>
                <p:nvPr/>
              </p:nvSpPr>
              <p:spPr bwMode="auto">
                <a:xfrm>
                  <a:off x="43" y="2224"/>
                  <a:ext cx="791" cy="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1600">
                      <a:solidFill>
                        <a:srgbClr val="004182"/>
                      </a:solidFill>
                      <a:latin typeface="Times New Roman" panose="02020603050405020304" pitchFamily="18" charset="0"/>
                      <a:ea typeface="楷体_GB2312" pitchFamily="49" charset="-122"/>
                    </a:rPr>
                    <a:t>操作数长度数位表示</a:t>
                  </a:r>
                  <a:endParaRPr kumimoji="1" lang="zh-CN" altLang="en-US" sz="1600">
                    <a:solidFill>
                      <a:srgbClr val="004182"/>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zh-CN" altLang="en-US" sz="1600">
                    <a:solidFill>
                      <a:srgbClr val="004182"/>
                    </a:solidFill>
                    <a:latin typeface="Times New Roman" panose="02020603050405020304" pitchFamily="18" charset="0"/>
                    <a:ea typeface="宋体" panose="02010600030101010101" pitchFamily="2" charset="-122"/>
                  </a:endParaRPr>
                </a:p>
              </p:txBody>
            </p:sp>
            <p:sp>
              <p:nvSpPr>
                <p:cNvPr id="29738" name="Rectangle 42"/>
                <p:cNvSpPr>
                  <a:spLocks noChangeArrowheads="1"/>
                </p:cNvSpPr>
                <p:nvPr/>
              </p:nvSpPr>
              <p:spPr bwMode="auto">
                <a:xfrm>
                  <a:off x="0" y="2224"/>
                  <a:ext cx="1126" cy="82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1100" b="0">
                    <a:solidFill>
                      <a:srgbClr val="004182"/>
                    </a:solidFill>
                    <a:latin typeface="Times New Roman" panose="02020603050405020304" pitchFamily="18" charset="0"/>
                    <a:ea typeface="楷体_GB2312" pitchFamily="49" charset="-122"/>
                  </a:endParaRPr>
                </a:p>
              </p:txBody>
            </p:sp>
          </p:grpSp>
          <p:grpSp>
            <p:nvGrpSpPr>
              <p:cNvPr id="29715" name="Group 43"/>
              <p:cNvGrpSpPr>
                <a:grpSpLocks/>
              </p:cNvGrpSpPr>
              <p:nvPr/>
            </p:nvGrpSpPr>
            <p:grpSpPr bwMode="auto">
              <a:xfrm>
                <a:off x="1126" y="2150"/>
                <a:ext cx="1606" cy="898"/>
                <a:chOff x="1126" y="2150"/>
                <a:chExt cx="1606" cy="898"/>
              </a:xfrm>
            </p:grpSpPr>
            <p:sp>
              <p:nvSpPr>
                <p:cNvPr id="29735" name="Rectangle 44"/>
                <p:cNvSpPr>
                  <a:spLocks noChangeArrowheads="1"/>
                </p:cNvSpPr>
                <p:nvPr/>
              </p:nvSpPr>
              <p:spPr bwMode="auto">
                <a:xfrm>
                  <a:off x="1169" y="2150"/>
                  <a:ext cx="1373" cy="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1600">
                      <a:solidFill>
                        <a:srgbClr val="004182"/>
                      </a:solidFill>
                      <a:latin typeface="Times New Roman" panose="02020603050405020304" pitchFamily="18" charset="0"/>
                      <a:ea typeface="楷体_GB2312" pitchFamily="49" charset="-122"/>
                    </a:rPr>
                    <a:t>操作码最后一字母表示长度位数，其中</a:t>
                  </a:r>
                  <a:r>
                    <a:rPr kumimoji="1" lang="en-US" altLang="zh-CN" sz="1600">
                      <a:solidFill>
                        <a:srgbClr val="004182"/>
                      </a:solidFill>
                      <a:latin typeface="Times New Roman" panose="02020603050405020304" pitchFamily="18" charset="0"/>
                      <a:ea typeface="楷体_GB2312" pitchFamily="49" charset="-122"/>
                    </a:rPr>
                    <a:t>b(16</a:t>
                  </a:r>
                  <a:r>
                    <a:rPr kumimoji="1" lang="zh-CN" altLang="en-US" sz="1600">
                      <a:solidFill>
                        <a:srgbClr val="004182"/>
                      </a:solidFill>
                      <a:latin typeface="Times New Roman" panose="02020603050405020304" pitchFamily="18" charset="0"/>
                      <a:ea typeface="楷体_GB2312" pitchFamily="49" charset="-122"/>
                    </a:rPr>
                    <a:t>位)，</a:t>
                  </a:r>
                  <a:r>
                    <a:rPr kumimoji="1" lang="en-US" altLang="zh-CN" sz="1600">
                      <a:solidFill>
                        <a:srgbClr val="004182"/>
                      </a:solidFill>
                      <a:latin typeface="Times New Roman" panose="02020603050405020304" pitchFamily="18" charset="0"/>
                      <a:ea typeface="楷体_GB2312" pitchFamily="49" charset="-122"/>
                    </a:rPr>
                    <a:t>w(32</a:t>
                  </a:r>
                  <a:r>
                    <a:rPr kumimoji="1" lang="zh-CN" altLang="en-US" sz="1600">
                      <a:solidFill>
                        <a:srgbClr val="004182"/>
                      </a:solidFill>
                      <a:latin typeface="Times New Roman" panose="02020603050405020304" pitchFamily="18" charset="0"/>
                      <a:ea typeface="楷体_GB2312" pitchFamily="49" charset="-122"/>
                    </a:rPr>
                    <a:t>位）,</a:t>
                  </a:r>
                  <a:r>
                    <a:rPr kumimoji="1" lang="en-US" altLang="zh-CN" sz="1600">
                      <a:solidFill>
                        <a:srgbClr val="004182"/>
                      </a:solidFill>
                      <a:latin typeface="Times New Roman" panose="02020603050405020304" pitchFamily="18" charset="0"/>
                      <a:ea typeface="楷体_GB2312" pitchFamily="49" charset="-122"/>
                    </a:rPr>
                    <a:t>l(64</a:t>
                  </a:r>
                  <a:r>
                    <a:rPr kumimoji="1" lang="zh-CN" altLang="en-US" sz="1600">
                      <a:solidFill>
                        <a:srgbClr val="004182"/>
                      </a:solidFill>
                      <a:latin typeface="Times New Roman" panose="02020603050405020304" pitchFamily="18" charset="0"/>
                      <a:ea typeface="楷体_GB2312" pitchFamily="49" charset="-122"/>
                    </a:rPr>
                    <a:t>位)</a:t>
                  </a:r>
                  <a:endParaRPr kumimoji="1" lang="zh-CN" altLang="en-US" sz="1600">
                    <a:solidFill>
                      <a:srgbClr val="004182"/>
                    </a:solidFill>
                    <a:latin typeface="Times New Roman" panose="02020603050405020304" pitchFamily="18" charset="0"/>
                    <a:ea typeface="宋体" panose="02010600030101010101" pitchFamily="2" charset="-122"/>
                  </a:endParaRPr>
                </a:p>
                <a:p>
                  <a:pPr algn="just">
                    <a:spcBef>
                      <a:spcPct val="0"/>
                    </a:spcBef>
                    <a:buClrTx/>
                    <a:buFontTx/>
                    <a:buNone/>
                  </a:pPr>
                  <a:r>
                    <a:rPr kumimoji="1" lang="en-US" altLang="zh-CN" sz="1600">
                      <a:solidFill>
                        <a:srgbClr val="004182"/>
                      </a:solidFill>
                      <a:latin typeface="Times New Roman" panose="02020603050405020304" pitchFamily="18" charset="0"/>
                      <a:ea typeface="楷体_GB2312" pitchFamily="49" charset="-122"/>
                    </a:rPr>
                    <a:t>movb FOO,%al</a:t>
                  </a:r>
                  <a:endParaRPr kumimoji="1" lang="en-US" altLang="zh-CN" sz="1600">
                    <a:solidFill>
                      <a:srgbClr val="004182"/>
                    </a:solidFill>
                    <a:latin typeface="Times New Roman" panose="02020603050405020304" pitchFamily="18" charset="0"/>
                    <a:ea typeface="宋体" panose="02010600030101010101" pitchFamily="2" charset="-122"/>
                  </a:endParaRPr>
                </a:p>
              </p:txBody>
            </p:sp>
            <p:sp>
              <p:nvSpPr>
                <p:cNvPr id="29736" name="Rectangle 45"/>
                <p:cNvSpPr>
                  <a:spLocks noChangeArrowheads="1"/>
                </p:cNvSpPr>
                <p:nvPr/>
              </p:nvSpPr>
              <p:spPr bwMode="auto">
                <a:xfrm>
                  <a:off x="1126" y="2224"/>
                  <a:ext cx="1606" cy="82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1100" b="0">
                    <a:solidFill>
                      <a:srgbClr val="004182"/>
                    </a:solidFill>
                    <a:latin typeface="Times New Roman" panose="02020603050405020304" pitchFamily="18" charset="0"/>
                    <a:ea typeface="楷体_GB2312" pitchFamily="49" charset="-122"/>
                  </a:endParaRPr>
                </a:p>
              </p:txBody>
            </p:sp>
          </p:grpSp>
          <p:grpSp>
            <p:nvGrpSpPr>
              <p:cNvPr id="29716" name="Group 46"/>
              <p:cNvGrpSpPr>
                <a:grpSpLocks/>
              </p:cNvGrpSpPr>
              <p:nvPr/>
            </p:nvGrpSpPr>
            <p:grpSpPr bwMode="auto">
              <a:xfrm>
                <a:off x="2732" y="2224"/>
                <a:ext cx="1446" cy="824"/>
                <a:chOff x="2732" y="2224"/>
                <a:chExt cx="1446" cy="824"/>
              </a:xfrm>
            </p:grpSpPr>
            <p:sp>
              <p:nvSpPr>
                <p:cNvPr id="29733" name="Rectangle 47"/>
                <p:cNvSpPr>
                  <a:spLocks noChangeArrowheads="1"/>
                </p:cNvSpPr>
                <p:nvPr/>
              </p:nvSpPr>
              <p:spPr bwMode="auto">
                <a:xfrm>
                  <a:off x="2786" y="2224"/>
                  <a:ext cx="1349" cy="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1200">
                      <a:solidFill>
                        <a:srgbClr val="004182"/>
                      </a:solidFill>
                      <a:latin typeface="Times New Roman" panose="02020603050405020304" pitchFamily="18" charset="0"/>
                      <a:ea typeface="楷体_GB2312" pitchFamily="49" charset="-122"/>
                    </a:rPr>
                    <a:t>操作数前加</a:t>
                  </a:r>
                  <a:r>
                    <a:rPr kumimoji="1" lang="en-US" altLang="zh-CN" sz="1200">
                      <a:solidFill>
                        <a:srgbClr val="004182"/>
                      </a:solidFill>
                      <a:latin typeface="Times New Roman" panose="02020603050405020304" pitchFamily="18" charset="0"/>
                      <a:ea typeface="楷体_GB2312" pitchFamily="49" charset="-122"/>
                    </a:rPr>
                    <a:t>BYTE PTR，WORD PTR，DWORD PTR</a:t>
                  </a:r>
                  <a:r>
                    <a:rPr kumimoji="1" lang="zh-CN" altLang="en-US" sz="1200">
                      <a:solidFill>
                        <a:srgbClr val="004182"/>
                      </a:solidFill>
                      <a:latin typeface="Times New Roman" panose="02020603050405020304" pitchFamily="18" charset="0"/>
                      <a:ea typeface="楷体_GB2312" pitchFamily="49" charset="-122"/>
                    </a:rPr>
                    <a:t>限定位数</a:t>
                  </a:r>
                  <a:endParaRPr kumimoji="1" lang="zh-CN" altLang="en-US" sz="1200">
                    <a:solidFill>
                      <a:srgbClr val="004182"/>
                    </a:solidFill>
                    <a:latin typeface="Times New Roman" panose="02020603050405020304" pitchFamily="18" charset="0"/>
                    <a:ea typeface="宋体" panose="02010600030101010101" pitchFamily="2" charset="-122"/>
                  </a:endParaRPr>
                </a:p>
                <a:p>
                  <a:pPr algn="just">
                    <a:spcBef>
                      <a:spcPct val="0"/>
                    </a:spcBef>
                    <a:buClrTx/>
                    <a:buFontTx/>
                    <a:buNone/>
                  </a:pPr>
                  <a:r>
                    <a:rPr kumimoji="1" lang="en-US" altLang="zh-CN" sz="1200">
                      <a:solidFill>
                        <a:srgbClr val="004182"/>
                      </a:solidFill>
                      <a:latin typeface="Times New Roman" panose="02020603050405020304" pitchFamily="18" charset="0"/>
                      <a:ea typeface="楷体_GB2312" pitchFamily="49" charset="-122"/>
                    </a:rPr>
                    <a:t>MOV AL,BYTE PTR FOO</a:t>
                  </a:r>
                  <a:endParaRPr kumimoji="1" lang="en-US" altLang="zh-CN" sz="1200">
                    <a:solidFill>
                      <a:srgbClr val="004182"/>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1600">
                    <a:solidFill>
                      <a:srgbClr val="004182"/>
                    </a:solidFill>
                    <a:latin typeface="Times New Roman" panose="02020603050405020304" pitchFamily="18" charset="0"/>
                    <a:ea typeface="宋体" panose="02010600030101010101" pitchFamily="2" charset="-122"/>
                  </a:endParaRPr>
                </a:p>
              </p:txBody>
            </p:sp>
            <p:sp>
              <p:nvSpPr>
                <p:cNvPr id="29734" name="Rectangle 48"/>
                <p:cNvSpPr>
                  <a:spLocks noChangeArrowheads="1"/>
                </p:cNvSpPr>
                <p:nvPr/>
              </p:nvSpPr>
              <p:spPr bwMode="auto">
                <a:xfrm>
                  <a:off x="2732" y="2224"/>
                  <a:ext cx="1446" cy="82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1100" b="0">
                    <a:solidFill>
                      <a:srgbClr val="004182"/>
                    </a:solidFill>
                    <a:latin typeface="Times New Roman" panose="02020603050405020304" pitchFamily="18" charset="0"/>
                    <a:ea typeface="楷体_GB2312" pitchFamily="49" charset="-122"/>
                  </a:endParaRPr>
                </a:p>
              </p:txBody>
            </p:sp>
          </p:grpSp>
          <p:sp>
            <p:nvSpPr>
              <p:cNvPr id="29717" name="Rectangle 50"/>
              <p:cNvSpPr>
                <a:spLocks noChangeArrowheads="1"/>
              </p:cNvSpPr>
              <p:nvPr/>
            </p:nvSpPr>
            <p:spPr bwMode="auto">
              <a:xfrm>
                <a:off x="43" y="3048"/>
                <a:ext cx="791"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1600">
                    <a:solidFill>
                      <a:srgbClr val="004182"/>
                    </a:solidFill>
                    <a:latin typeface="Times New Roman" panose="02020603050405020304" pitchFamily="18" charset="0"/>
                    <a:ea typeface="楷体_GB2312" pitchFamily="49" charset="-122"/>
                  </a:rPr>
                  <a:t>立即数表示</a:t>
                </a:r>
                <a:endParaRPr kumimoji="1" lang="zh-CN" altLang="en-US" sz="1600">
                  <a:solidFill>
                    <a:srgbClr val="004182"/>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zh-CN" altLang="en-US" sz="1600">
                  <a:solidFill>
                    <a:srgbClr val="004182"/>
                  </a:solidFill>
                  <a:latin typeface="Times New Roman" panose="02020603050405020304" pitchFamily="18" charset="0"/>
                  <a:ea typeface="宋体" panose="02010600030101010101" pitchFamily="2" charset="-122"/>
                </a:endParaRPr>
              </a:p>
            </p:txBody>
          </p:sp>
          <p:grpSp>
            <p:nvGrpSpPr>
              <p:cNvPr id="29718" name="Group 52"/>
              <p:cNvGrpSpPr>
                <a:grpSpLocks/>
              </p:cNvGrpSpPr>
              <p:nvPr/>
            </p:nvGrpSpPr>
            <p:grpSpPr bwMode="auto">
              <a:xfrm>
                <a:off x="1126" y="3048"/>
                <a:ext cx="1646" cy="556"/>
                <a:chOff x="1126" y="3048"/>
                <a:chExt cx="1646" cy="556"/>
              </a:xfrm>
            </p:grpSpPr>
            <p:sp>
              <p:nvSpPr>
                <p:cNvPr id="29731" name="Rectangle 53"/>
                <p:cNvSpPr>
                  <a:spLocks noChangeArrowheads="1"/>
                </p:cNvSpPr>
                <p:nvPr/>
              </p:nvSpPr>
              <p:spPr bwMode="auto">
                <a:xfrm>
                  <a:off x="1166" y="3085"/>
                  <a:ext cx="1606"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1600" dirty="0">
                      <a:solidFill>
                        <a:srgbClr val="004182"/>
                      </a:solidFill>
                      <a:latin typeface="Times New Roman" panose="02020603050405020304" pitchFamily="18" charset="0"/>
                      <a:ea typeface="楷体_GB2312" pitchFamily="49" charset="-122"/>
                    </a:rPr>
                    <a:t>立即数前加$号，如</a:t>
                  </a:r>
                  <a:r>
                    <a:rPr kumimoji="1" lang="en-US" altLang="zh-CN" sz="1600" dirty="0">
                      <a:solidFill>
                        <a:srgbClr val="004182"/>
                      </a:solidFill>
                      <a:latin typeface="Times New Roman" panose="02020603050405020304" pitchFamily="18" charset="0"/>
                      <a:ea typeface="楷体_GB2312" pitchFamily="49" charset="-122"/>
                    </a:rPr>
                    <a:t>:</a:t>
                  </a:r>
                </a:p>
                <a:p>
                  <a:pPr algn="just" eaLnBrk="1" hangingPunct="1">
                    <a:spcBef>
                      <a:spcPct val="0"/>
                    </a:spcBef>
                    <a:buClrTx/>
                    <a:buFontTx/>
                    <a:buNone/>
                  </a:pPr>
                  <a:r>
                    <a:rPr kumimoji="1" lang="en-US" altLang="zh-CN" sz="1600" dirty="0">
                      <a:solidFill>
                        <a:srgbClr val="004182"/>
                      </a:solidFill>
                      <a:latin typeface="Times New Roman" panose="02020603050405020304" pitchFamily="18" charset="0"/>
                      <a:ea typeface="楷体_GB2312" pitchFamily="49" charset="-122"/>
                    </a:rPr>
                    <a:t>push</a:t>
                  </a:r>
                  <a:r>
                    <a:rPr kumimoji="1" lang="zh-CN" altLang="en-US" sz="1600" dirty="0">
                      <a:solidFill>
                        <a:srgbClr val="004182"/>
                      </a:solidFill>
                      <a:latin typeface="Times New Roman" panose="02020603050405020304" pitchFamily="18" charset="0"/>
                      <a:ea typeface="楷体_GB2312" pitchFamily="49" charset="-122"/>
                    </a:rPr>
                    <a:t> </a:t>
                  </a:r>
                  <a:r>
                    <a:rPr kumimoji="1" lang="en-US" altLang="zh-CN" sz="1600" dirty="0">
                      <a:solidFill>
                        <a:srgbClr val="004182"/>
                      </a:solidFill>
                      <a:latin typeface="Times New Roman" panose="02020603050405020304" pitchFamily="18" charset="0"/>
                      <a:ea typeface="楷体_GB2312" pitchFamily="49" charset="-122"/>
                    </a:rPr>
                    <a:t> $2</a:t>
                  </a:r>
                  <a:endParaRPr kumimoji="1" lang="en-US" altLang="zh-CN" sz="1600" dirty="0">
                    <a:solidFill>
                      <a:srgbClr val="004182"/>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1600" dirty="0">
                    <a:solidFill>
                      <a:srgbClr val="004182"/>
                    </a:solidFill>
                    <a:latin typeface="Times New Roman" panose="02020603050405020304" pitchFamily="18" charset="0"/>
                    <a:ea typeface="宋体" panose="02010600030101010101" pitchFamily="2" charset="-122"/>
                  </a:endParaRPr>
                </a:p>
              </p:txBody>
            </p:sp>
            <p:sp>
              <p:nvSpPr>
                <p:cNvPr id="29732" name="Rectangle 54"/>
                <p:cNvSpPr>
                  <a:spLocks noChangeArrowheads="1"/>
                </p:cNvSpPr>
                <p:nvPr/>
              </p:nvSpPr>
              <p:spPr bwMode="auto">
                <a:xfrm>
                  <a:off x="1126" y="3048"/>
                  <a:ext cx="1381" cy="55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1100" b="0">
                    <a:solidFill>
                      <a:srgbClr val="004182"/>
                    </a:solidFill>
                    <a:latin typeface="Times New Roman" panose="02020603050405020304" pitchFamily="18" charset="0"/>
                    <a:ea typeface="楷体_GB2312" pitchFamily="49" charset="-122"/>
                  </a:endParaRPr>
                </a:p>
              </p:txBody>
            </p:sp>
          </p:grpSp>
          <p:grpSp>
            <p:nvGrpSpPr>
              <p:cNvPr id="29719" name="Group 55"/>
              <p:cNvGrpSpPr>
                <a:grpSpLocks/>
              </p:cNvGrpSpPr>
              <p:nvPr/>
            </p:nvGrpSpPr>
            <p:grpSpPr bwMode="auto">
              <a:xfrm>
                <a:off x="2732" y="3048"/>
                <a:ext cx="1446" cy="556"/>
                <a:chOff x="2732" y="3048"/>
                <a:chExt cx="1446" cy="556"/>
              </a:xfrm>
            </p:grpSpPr>
            <p:sp>
              <p:nvSpPr>
                <p:cNvPr id="29729" name="Rectangle 56"/>
                <p:cNvSpPr>
                  <a:spLocks noChangeArrowheads="1"/>
                </p:cNvSpPr>
                <p:nvPr/>
              </p:nvSpPr>
              <p:spPr bwMode="auto">
                <a:xfrm>
                  <a:off x="2775" y="3048"/>
                  <a:ext cx="136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1600" dirty="0">
                      <a:solidFill>
                        <a:srgbClr val="004182"/>
                      </a:solidFill>
                      <a:latin typeface="Times New Roman" panose="02020603050405020304" pitchFamily="18" charset="0"/>
                      <a:ea typeface="楷体_GB2312" pitchFamily="49" charset="-122"/>
                    </a:rPr>
                    <a:t>不加任何符号，如</a:t>
                  </a:r>
                  <a:r>
                    <a:rPr kumimoji="1" lang="en-US" altLang="zh-CN" sz="1600" dirty="0">
                      <a:solidFill>
                        <a:srgbClr val="004182"/>
                      </a:solidFill>
                      <a:latin typeface="Times New Roman" panose="02020603050405020304" pitchFamily="18" charset="0"/>
                      <a:ea typeface="楷体_GB2312" pitchFamily="49" charset="-122"/>
                    </a:rPr>
                    <a:t>PUSH  2</a:t>
                  </a:r>
                  <a:endParaRPr kumimoji="1" lang="en-US" altLang="zh-CN" sz="1600" dirty="0">
                    <a:solidFill>
                      <a:srgbClr val="004182"/>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1600" dirty="0">
                    <a:solidFill>
                      <a:srgbClr val="004182"/>
                    </a:solidFill>
                    <a:latin typeface="Times New Roman" panose="02020603050405020304" pitchFamily="18" charset="0"/>
                    <a:ea typeface="宋体" panose="02010600030101010101" pitchFamily="2" charset="-122"/>
                  </a:endParaRPr>
                </a:p>
              </p:txBody>
            </p:sp>
            <p:sp>
              <p:nvSpPr>
                <p:cNvPr id="29730" name="Rectangle 57"/>
                <p:cNvSpPr>
                  <a:spLocks noChangeArrowheads="1"/>
                </p:cNvSpPr>
                <p:nvPr/>
              </p:nvSpPr>
              <p:spPr bwMode="auto">
                <a:xfrm>
                  <a:off x="2732" y="3048"/>
                  <a:ext cx="1446" cy="55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1100" b="0">
                    <a:solidFill>
                      <a:srgbClr val="004182"/>
                    </a:solidFill>
                    <a:latin typeface="Times New Roman" panose="02020603050405020304" pitchFamily="18" charset="0"/>
                    <a:ea typeface="楷体_GB2312" pitchFamily="49" charset="-122"/>
                  </a:endParaRPr>
                </a:p>
              </p:txBody>
            </p:sp>
          </p:grpSp>
          <p:grpSp>
            <p:nvGrpSpPr>
              <p:cNvPr id="29720" name="Group 58"/>
              <p:cNvGrpSpPr>
                <a:grpSpLocks/>
              </p:cNvGrpSpPr>
              <p:nvPr/>
            </p:nvGrpSpPr>
            <p:grpSpPr bwMode="auto">
              <a:xfrm>
                <a:off x="0" y="3604"/>
                <a:ext cx="1126" cy="556"/>
                <a:chOff x="0" y="3604"/>
                <a:chExt cx="1126" cy="556"/>
              </a:xfrm>
            </p:grpSpPr>
            <p:sp>
              <p:nvSpPr>
                <p:cNvPr id="29727" name="Rectangle 59"/>
                <p:cNvSpPr>
                  <a:spLocks noChangeArrowheads="1"/>
                </p:cNvSpPr>
                <p:nvPr/>
              </p:nvSpPr>
              <p:spPr bwMode="auto">
                <a:xfrm>
                  <a:off x="43" y="3604"/>
                  <a:ext cx="791"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1600">
                      <a:solidFill>
                        <a:srgbClr val="004182"/>
                      </a:solidFill>
                      <a:latin typeface="Times New Roman" panose="02020603050405020304" pitchFamily="18" charset="0"/>
                      <a:ea typeface="楷体_GB2312" pitchFamily="49" charset="-122"/>
                    </a:rPr>
                    <a:t>远程转移/调用指令</a:t>
                  </a:r>
                  <a:endParaRPr kumimoji="1" lang="zh-CN" altLang="en-US" sz="1600">
                    <a:solidFill>
                      <a:srgbClr val="004182"/>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zh-CN" altLang="en-US" sz="1600">
                    <a:solidFill>
                      <a:srgbClr val="004182"/>
                    </a:solidFill>
                    <a:latin typeface="Times New Roman" panose="02020603050405020304" pitchFamily="18" charset="0"/>
                    <a:ea typeface="宋体" panose="02010600030101010101" pitchFamily="2" charset="-122"/>
                  </a:endParaRPr>
                </a:p>
              </p:txBody>
            </p:sp>
            <p:sp>
              <p:nvSpPr>
                <p:cNvPr id="29728" name="Rectangle 60"/>
                <p:cNvSpPr>
                  <a:spLocks noChangeArrowheads="1"/>
                </p:cNvSpPr>
                <p:nvPr/>
              </p:nvSpPr>
              <p:spPr bwMode="auto">
                <a:xfrm>
                  <a:off x="0" y="3604"/>
                  <a:ext cx="1126" cy="55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1100" b="0">
                    <a:solidFill>
                      <a:srgbClr val="004182"/>
                    </a:solidFill>
                    <a:latin typeface="Times New Roman" panose="02020603050405020304" pitchFamily="18" charset="0"/>
                    <a:ea typeface="楷体_GB2312" pitchFamily="49" charset="-122"/>
                  </a:endParaRPr>
                </a:p>
              </p:txBody>
            </p:sp>
          </p:grpSp>
          <p:grpSp>
            <p:nvGrpSpPr>
              <p:cNvPr id="29721" name="Group 61"/>
              <p:cNvGrpSpPr>
                <a:grpSpLocks/>
              </p:cNvGrpSpPr>
              <p:nvPr/>
            </p:nvGrpSpPr>
            <p:grpSpPr bwMode="auto">
              <a:xfrm>
                <a:off x="1126" y="3604"/>
                <a:ext cx="1606" cy="556"/>
                <a:chOff x="1126" y="3604"/>
                <a:chExt cx="1606" cy="556"/>
              </a:xfrm>
            </p:grpSpPr>
            <p:sp>
              <p:nvSpPr>
                <p:cNvPr id="29725" name="Rectangle 62"/>
                <p:cNvSpPr>
                  <a:spLocks noChangeArrowheads="1"/>
                </p:cNvSpPr>
                <p:nvPr/>
              </p:nvSpPr>
              <p:spPr bwMode="auto">
                <a:xfrm>
                  <a:off x="1169" y="3604"/>
                  <a:ext cx="152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1600">
                      <a:solidFill>
                        <a:srgbClr val="004182"/>
                      </a:solidFill>
                      <a:latin typeface="Times New Roman" panose="02020603050405020304" pitchFamily="18" charset="0"/>
                      <a:ea typeface="楷体_GB2312" pitchFamily="49" charset="-122"/>
                    </a:rPr>
                    <a:t>指令前加字符</a:t>
                  </a:r>
                  <a:r>
                    <a:rPr kumimoji="1" lang="en-US" altLang="zh-CN" sz="1600">
                      <a:solidFill>
                        <a:srgbClr val="004182"/>
                      </a:solidFill>
                      <a:latin typeface="Times New Roman" panose="02020603050405020304" pitchFamily="18" charset="0"/>
                      <a:ea typeface="楷体_GB2312" pitchFamily="49" charset="-122"/>
                    </a:rPr>
                    <a:t>l,</a:t>
                  </a:r>
                  <a:r>
                    <a:rPr kumimoji="1" lang="zh-CN" altLang="en-US" sz="1600">
                      <a:solidFill>
                        <a:srgbClr val="004182"/>
                      </a:solidFill>
                      <a:latin typeface="Times New Roman" panose="02020603050405020304" pitchFamily="18" charset="0"/>
                      <a:ea typeface="楷体_GB2312" pitchFamily="49" charset="-122"/>
                    </a:rPr>
                    <a:t>如</a:t>
                  </a:r>
                  <a:r>
                    <a:rPr kumimoji="1" lang="en-US" altLang="zh-CN" sz="1600">
                      <a:solidFill>
                        <a:srgbClr val="004182"/>
                      </a:solidFill>
                      <a:latin typeface="Times New Roman" panose="02020603050405020304" pitchFamily="18" charset="0"/>
                      <a:ea typeface="楷体_GB2312" pitchFamily="49" charset="-122"/>
                    </a:rPr>
                    <a:t>lcall,ljmp</a:t>
                  </a:r>
                  <a:endParaRPr kumimoji="1" lang="en-US" altLang="zh-CN" sz="1600">
                    <a:solidFill>
                      <a:srgbClr val="004182"/>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1600">
                    <a:solidFill>
                      <a:srgbClr val="004182"/>
                    </a:solidFill>
                    <a:latin typeface="Times New Roman" panose="02020603050405020304" pitchFamily="18" charset="0"/>
                    <a:ea typeface="宋体" panose="02010600030101010101" pitchFamily="2" charset="-122"/>
                  </a:endParaRPr>
                </a:p>
              </p:txBody>
            </p:sp>
            <p:sp>
              <p:nvSpPr>
                <p:cNvPr id="29726" name="Rectangle 63"/>
                <p:cNvSpPr>
                  <a:spLocks noChangeArrowheads="1"/>
                </p:cNvSpPr>
                <p:nvPr/>
              </p:nvSpPr>
              <p:spPr bwMode="auto">
                <a:xfrm>
                  <a:off x="1126" y="3604"/>
                  <a:ext cx="1606" cy="55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1100" b="0">
                    <a:solidFill>
                      <a:srgbClr val="004182"/>
                    </a:solidFill>
                    <a:latin typeface="Times New Roman" panose="02020603050405020304" pitchFamily="18" charset="0"/>
                    <a:ea typeface="楷体_GB2312" pitchFamily="49" charset="-122"/>
                  </a:endParaRPr>
                </a:p>
              </p:txBody>
            </p:sp>
          </p:grpSp>
          <p:grpSp>
            <p:nvGrpSpPr>
              <p:cNvPr id="29722" name="Group 64"/>
              <p:cNvGrpSpPr>
                <a:grpSpLocks/>
              </p:cNvGrpSpPr>
              <p:nvPr/>
            </p:nvGrpSpPr>
            <p:grpSpPr bwMode="auto">
              <a:xfrm>
                <a:off x="2732" y="3604"/>
                <a:ext cx="1446" cy="556"/>
                <a:chOff x="2732" y="3604"/>
                <a:chExt cx="1446" cy="556"/>
              </a:xfrm>
            </p:grpSpPr>
            <p:sp>
              <p:nvSpPr>
                <p:cNvPr id="29723" name="Rectangle 65"/>
                <p:cNvSpPr>
                  <a:spLocks noChangeArrowheads="1"/>
                </p:cNvSpPr>
                <p:nvPr/>
              </p:nvSpPr>
              <p:spPr bwMode="auto">
                <a:xfrm>
                  <a:off x="2775" y="3604"/>
                  <a:ext cx="136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eaLnBrk="1" hangingPunct="1">
                    <a:spcBef>
                      <a:spcPct val="0"/>
                    </a:spcBef>
                    <a:buClrTx/>
                    <a:buFontTx/>
                    <a:buNone/>
                  </a:pPr>
                  <a:r>
                    <a:rPr kumimoji="1" lang="zh-CN" altLang="en-US" sz="1600">
                      <a:solidFill>
                        <a:srgbClr val="004182"/>
                      </a:solidFill>
                      <a:latin typeface="Times New Roman" panose="02020603050405020304" pitchFamily="18" charset="0"/>
                      <a:ea typeface="楷体_GB2312" pitchFamily="49" charset="-122"/>
                    </a:rPr>
                    <a:t>指令后加</a:t>
                  </a:r>
                  <a:r>
                    <a:rPr kumimoji="1" lang="en-US" altLang="zh-CN" sz="1600">
                      <a:solidFill>
                        <a:srgbClr val="004182"/>
                      </a:solidFill>
                      <a:latin typeface="Times New Roman" panose="02020603050405020304" pitchFamily="18" charset="0"/>
                      <a:ea typeface="楷体_GB2312" pitchFamily="49" charset="-122"/>
                    </a:rPr>
                    <a:t>FAR </a:t>
                  </a:r>
                  <a:r>
                    <a:rPr kumimoji="1" lang="zh-CN" altLang="en-US" sz="1600">
                      <a:solidFill>
                        <a:srgbClr val="004182"/>
                      </a:solidFill>
                      <a:latin typeface="Times New Roman" panose="02020603050405020304" pitchFamily="18" charset="0"/>
                      <a:ea typeface="楷体_GB2312" pitchFamily="49" charset="-122"/>
                    </a:rPr>
                    <a:t>如</a:t>
                  </a:r>
                  <a:r>
                    <a:rPr kumimoji="1" lang="en-US" altLang="zh-CN" sz="1600">
                      <a:solidFill>
                        <a:srgbClr val="004182"/>
                      </a:solidFill>
                      <a:latin typeface="Times New Roman" panose="02020603050405020304" pitchFamily="18" charset="0"/>
                      <a:ea typeface="楷体_GB2312" pitchFamily="49" charset="-122"/>
                    </a:rPr>
                    <a:t>CALL FAR，JMP FAR</a:t>
                  </a:r>
                  <a:endParaRPr kumimoji="1" lang="en-US" altLang="zh-CN" sz="1600">
                    <a:solidFill>
                      <a:srgbClr val="004182"/>
                    </a:solidFill>
                    <a:latin typeface="Times New Roman" panose="02020603050405020304" pitchFamily="18" charset="0"/>
                    <a:ea typeface="宋体" panose="02010600030101010101" pitchFamily="2" charset="-122"/>
                  </a:endParaRPr>
                </a:p>
                <a:p>
                  <a:pPr algn="just">
                    <a:spcBef>
                      <a:spcPct val="0"/>
                    </a:spcBef>
                    <a:buClrTx/>
                    <a:buFontTx/>
                    <a:buNone/>
                  </a:pPr>
                  <a:endParaRPr kumimoji="1" lang="en-US" altLang="zh-CN" sz="1600">
                    <a:solidFill>
                      <a:srgbClr val="004182"/>
                    </a:solidFill>
                    <a:latin typeface="Times New Roman" panose="02020603050405020304" pitchFamily="18" charset="0"/>
                    <a:ea typeface="宋体" panose="02010600030101010101" pitchFamily="2" charset="-122"/>
                  </a:endParaRPr>
                </a:p>
              </p:txBody>
            </p:sp>
            <p:sp>
              <p:nvSpPr>
                <p:cNvPr id="29724" name="Rectangle 66"/>
                <p:cNvSpPr>
                  <a:spLocks noChangeArrowheads="1"/>
                </p:cNvSpPr>
                <p:nvPr/>
              </p:nvSpPr>
              <p:spPr bwMode="auto">
                <a:xfrm>
                  <a:off x="2732" y="3604"/>
                  <a:ext cx="1446" cy="55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1100" b="0">
                    <a:solidFill>
                      <a:srgbClr val="004182"/>
                    </a:solidFill>
                    <a:latin typeface="Times New Roman" panose="02020603050405020304" pitchFamily="18" charset="0"/>
                    <a:ea typeface="楷体_GB2312" pitchFamily="49" charset="-122"/>
                  </a:endParaRPr>
                </a:p>
              </p:txBody>
            </p:sp>
          </p:grpSp>
        </p:grpSp>
        <p:sp>
          <p:nvSpPr>
            <p:cNvPr id="29701" name="Rectangle 67"/>
            <p:cNvSpPr>
              <a:spLocks noChangeArrowheads="1"/>
            </p:cNvSpPr>
            <p:nvPr/>
          </p:nvSpPr>
          <p:spPr bwMode="auto">
            <a:xfrm>
              <a:off x="-3" y="-3"/>
              <a:ext cx="4184" cy="4166"/>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1100" b="0">
                <a:solidFill>
                  <a:srgbClr val="004182"/>
                </a:solidFill>
                <a:latin typeface="Times New Roman" panose="02020603050405020304" pitchFamily="18" charset="0"/>
                <a:ea typeface="楷体_GB2312" pitchFamily="49" charset="-122"/>
              </a:endParaRPr>
            </a:p>
          </p:txBody>
        </p:sp>
      </p:grpSp>
      <p:sp>
        <p:nvSpPr>
          <p:cNvPr id="29699" name="Rectangle 2"/>
          <p:cNvSpPr>
            <a:spLocks noGrp="1" noChangeArrowheads="1"/>
          </p:cNvSpPr>
          <p:nvPr>
            <p:ph type="title"/>
          </p:nvPr>
        </p:nvSpPr>
        <p:spPr/>
        <p:txBody>
          <a:bodyPr/>
          <a:lstStyle/>
          <a:p>
            <a:pPr eaLnBrk="1" hangingPunct="1"/>
            <a:r>
              <a:rPr lang="en-US" altLang="zh-CN">
                <a:latin typeface="楷体_GB2312" pitchFamily="49" charset="-122"/>
                <a:ea typeface="楷体_GB2312" pitchFamily="49" charset="-122"/>
              </a:rPr>
              <a:t>9.Linux</a:t>
            </a:r>
            <a:r>
              <a:rPr lang="zh-CN" altLang="en-US">
                <a:latin typeface="楷体_GB2312" pitchFamily="49" charset="-122"/>
                <a:ea typeface="楷体_GB2312" pitchFamily="49" charset="-122"/>
              </a:rPr>
              <a:t>中的</a:t>
            </a:r>
            <a:r>
              <a:rPr lang="en-US" altLang="zh-CN">
                <a:latin typeface="楷体_GB2312" pitchFamily="49" charset="-122"/>
                <a:ea typeface="楷体_GB2312" pitchFamily="49" charset="-122"/>
              </a:rPr>
              <a:t>C</a:t>
            </a:r>
            <a:r>
              <a:rPr lang="zh-CN" altLang="en-US">
                <a:latin typeface="楷体_GB2312" pitchFamily="49" charset="-122"/>
                <a:ea typeface="楷体_GB2312" pitchFamily="49" charset="-122"/>
              </a:rPr>
              <a:t>语言与汇编语言</a:t>
            </a:r>
          </a:p>
        </p:txBody>
      </p:sp>
    </p:spTree>
    <p:extLst>
      <p:ext uri="{BB962C8B-B14F-4D97-AF65-F5344CB8AC3E}">
        <p14:creationId xmlns:p14="http://schemas.microsoft.com/office/powerpoint/2010/main" val="12795335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Grp="1" noChangeArrowheads="1"/>
          </p:cNvSpPr>
          <p:nvPr>
            <p:ph type="body" idx="1"/>
          </p:nvPr>
        </p:nvSpPr>
        <p:spPr/>
        <p:txBody>
          <a:bodyPr/>
          <a:lstStyle/>
          <a:p>
            <a:pPr algn="just" eaLnBrk="1" hangingPunct="1"/>
            <a:r>
              <a:rPr lang="zh-CN" altLang="en-US" sz="2400">
                <a:solidFill>
                  <a:srgbClr val="FF0000"/>
                </a:solidFill>
                <a:latin typeface="楷体_GB2312" pitchFamily="49" charset="-122"/>
                <a:ea typeface="楷体_GB2312" pitchFamily="49" charset="-122"/>
              </a:rPr>
              <a:t>是一种嵌入在</a:t>
            </a:r>
            <a:r>
              <a:rPr lang="en-US" altLang="zh-CN" sz="2400">
                <a:solidFill>
                  <a:srgbClr val="FF0000"/>
                </a:solidFill>
                <a:latin typeface="楷体_GB2312" pitchFamily="49" charset="-122"/>
                <a:ea typeface="楷体_GB2312" pitchFamily="49" charset="-122"/>
              </a:rPr>
              <a:t>C</a:t>
            </a:r>
            <a:r>
              <a:rPr lang="zh-CN" altLang="en-US" sz="2400">
                <a:solidFill>
                  <a:srgbClr val="FF0000"/>
                </a:solidFill>
                <a:latin typeface="楷体_GB2312" pitchFamily="49" charset="-122"/>
                <a:ea typeface="楷体_GB2312" pitchFamily="49" charset="-122"/>
              </a:rPr>
              <a:t>程序中的汇编</a:t>
            </a:r>
            <a:endParaRPr lang="en-US" altLang="zh-CN" sz="2400">
              <a:solidFill>
                <a:srgbClr val="FF0000"/>
              </a:solidFill>
              <a:latin typeface="楷体_GB2312" pitchFamily="49" charset="-122"/>
              <a:ea typeface="楷体_GB2312" pitchFamily="49" charset="-122"/>
            </a:endParaRPr>
          </a:p>
          <a:p>
            <a:pPr algn="just" eaLnBrk="1" hangingPunct="1"/>
            <a:r>
              <a:rPr lang="en-US" altLang="zh-CN" sz="2400">
                <a:solidFill>
                  <a:srgbClr val="FF0000"/>
                </a:solidFill>
                <a:latin typeface="Times New Roman" panose="02020603050405020304" pitchFamily="18" charset="0"/>
                <a:ea typeface="楷体_GB2312" pitchFamily="49" charset="-122"/>
                <a:cs typeface="Times New Roman" panose="02020603050405020304" pitchFamily="18" charset="0"/>
              </a:rPr>
              <a:t>AT&amp;T</a:t>
            </a:r>
            <a:r>
              <a:rPr lang="zh-CN" altLang="en-US" sz="2400">
                <a:solidFill>
                  <a:srgbClr val="FF0000"/>
                </a:solidFill>
                <a:latin typeface="Times New Roman" panose="02020603050405020304" pitchFamily="18" charset="0"/>
                <a:ea typeface="楷体_GB2312" pitchFamily="49" charset="-122"/>
                <a:cs typeface="Times New Roman" panose="02020603050405020304" pitchFamily="18" charset="0"/>
              </a:rPr>
              <a:t>行内汇编：</a:t>
            </a:r>
            <a:r>
              <a:rPr lang="zh-CN" altLang="en-US" sz="2400">
                <a:latin typeface="Times New Roman" panose="02020603050405020304" pitchFamily="18" charset="0"/>
                <a:ea typeface="楷体_GB2312" pitchFamily="49" charset="-122"/>
                <a:cs typeface="Times New Roman" panose="02020603050405020304" pitchFamily="18" charset="0"/>
              </a:rPr>
              <a:t>在</a:t>
            </a:r>
            <a:r>
              <a:rPr lang="en-US" altLang="zh-CN" sz="2400">
                <a:latin typeface="Times New Roman" panose="02020603050405020304" pitchFamily="18" charset="0"/>
                <a:ea typeface="楷体_GB2312" pitchFamily="49" charset="-122"/>
                <a:cs typeface="Times New Roman" panose="02020603050405020304" pitchFamily="18" charset="0"/>
              </a:rPr>
              <a:t>C</a:t>
            </a:r>
            <a:r>
              <a:rPr lang="zh-CN" altLang="en-US" sz="2400">
                <a:latin typeface="Times New Roman" panose="02020603050405020304" pitchFamily="18" charset="0"/>
                <a:ea typeface="楷体_GB2312" pitchFamily="49" charset="-122"/>
                <a:cs typeface="Times New Roman" panose="02020603050405020304" pitchFamily="18" charset="0"/>
              </a:rPr>
              <a:t>代码中嵌入汇编代码。在</a:t>
            </a:r>
            <a:r>
              <a:rPr lang="en-US" altLang="zh-CN" sz="2400">
                <a:latin typeface="Times New Roman" panose="02020603050405020304" pitchFamily="18" charset="0"/>
                <a:ea typeface="楷体_GB2312" pitchFamily="49" charset="-122"/>
                <a:cs typeface="Times New Roman" panose="02020603050405020304" pitchFamily="18" charset="0"/>
              </a:rPr>
              <a:t>GCC</a:t>
            </a:r>
            <a:r>
              <a:rPr lang="zh-CN" altLang="en-US" sz="2400">
                <a:latin typeface="Times New Roman" panose="02020603050405020304" pitchFamily="18" charset="0"/>
                <a:ea typeface="楷体_GB2312" pitchFamily="49" charset="-122"/>
                <a:cs typeface="Times New Roman" panose="02020603050405020304" pitchFamily="18" charset="0"/>
              </a:rPr>
              <a:t>中提供</a:t>
            </a:r>
            <a:r>
              <a:rPr lang="en-US" altLang="zh-CN" sz="2400">
                <a:latin typeface="Times New Roman" panose="02020603050405020304" pitchFamily="18" charset="0"/>
                <a:ea typeface="楷体_GB2312" pitchFamily="49" charset="-122"/>
                <a:cs typeface="Times New Roman" panose="02020603050405020304" pitchFamily="18" charset="0"/>
              </a:rPr>
              <a:t>asm</a:t>
            </a:r>
            <a:r>
              <a:rPr lang="zh-CN" altLang="en-US" sz="2400">
                <a:latin typeface="Times New Roman" panose="02020603050405020304" pitchFamily="18" charset="0"/>
                <a:ea typeface="楷体_GB2312" pitchFamily="49" charset="-122"/>
                <a:cs typeface="Times New Roman" panose="02020603050405020304" pitchFamily="18" charset="0"/>
              </a:rPr>
              <a:t>或者_</a:t>
            </a:r>
            <a:r>
              <a:rPr lang="en-US" altLang="zh-CN" sz="2400">
                <a:latin typeface="Times New Roman" panose="02020603050405020304" pitchFamily="18" charset="0"/>
                <a:ea typeface="楷体_GB2312" pitchFamily="49" charset="-122"/>
                <a:cs typeface="Times New Roman" panose="02020603050405020304" pitchFamily="18" charset="0"/>
              </a:rPr>
              <a:t>asm_</a:t>
            </a:r>
            <a:r>
              <a:rPr lang="zh-CN" altLang="en-US" sz="2400">
                <a:latin typeface="Times New Roman" panose="02020603050405020304" pitchFamily="18" charset="0"/>
                <a:ea typeface="楷体_GB2312" pitchFamily="49" charset="-122"/>
                <a:cs typeface="Times New Roman" panose="02020603050405020304" pitchFamily="18" charset="0"/>
              </a:rPr>
              <a:t>两个关键字，这样使得</a:t>
            </a:r>
            <a:r>
              <a:rPr lang="en-US" altLang="zh-CN" sz="2400">
                <a:latin typeface="Times New Roman" panose="02020603050405020304" pitchFamily="18" charset="0"/>
                <a:ea typeface="楷体_GB2312" pitchFamily="49" charset="-122"/>
                <a:cs typeface="Times New Roman" panose="02020603050405020304" pitchFamily="18" charset="0"/>
              </a:rPr>
              <a:t>C</a:t>
            </a:r>
            <a:r>
              <a:rPr lang="zh-CN" altLang="en-US" sz="2400">
                <a:latin typeface="Times New Roman" panose="02020603050405020304" pitchFamily="18" charset="0"/>
                <a:ea typeface="楷体_GB2312" pitchFamily="49" charset="-122"/>
                <a:cs typeface="Times New Roman" panose="02020603050405020304" pitchFamily="18" charset="0"/>
              </a:rPr>
              <a:t>代码中嵌入汇编代码非常的简单、方便。</a:t>
            </a:r>
          </a:p>
          <a:p>
            <a:pPr algn="just" eaLnBrk="1" hangingPunct="1"/>
            <a:r>
              <a:rPr lang="en-US" altLang="zh-CN" sz="2400">
                <a:latin typeface="Times New Roman" panose="02020603050405020304" pitchFamily="18" charset="0"/>
                <a:ea typeface="楷体_GB2312" pitchFamily="49" charset="-122"/>
                <a:cs typeface="Times New Roman" panose="02020603050405020304" pitchFamily="18" charset="0"/>
              </a:rPr>
              <a:t>asm("statements");</a:t>
            </a:r>
          </a:p>
          <a:p>
            <a:pPr lvl="1" algn="just" eaLnBrk="1" hangingPunct="1"/>
            <a:r>
              <a:rPr lang="zh-CN" altLang="en-US" sz="2400">
                <a:solidFill>
                  <a:srgbClr val="2B5681"/>
                </a:solidFill>
                <a:latin typeface="Times New Roman" panose="02020603050405020304" pitchFamily="18" charset="0"/>
                <a:ea typeface="楷体_GB2312" pitchFamily="49" charset="-122"/>
                <a:cs typeface="Times New Roman" panose="02020603050405020304" pitchFamily="18" charset="0"/>
              </a:rPr>
              <a:t>例如：</a:t>
            </a:r>
            <a:r>
              <a:rPr lang="en-US" altLang="zh-CN" sz="2400">
                <a:solidFill>
                  <a:srgbClr val="2B5681"/>
                </a:solidFill>
                <a:latin typeface="Times New Roman" panose="02020603050405020304" pitchFamily="18" charset="0"/>
                <a:ea typeface="楷体_GB2312" pitchFamily="49" charset="-122"/>
                <a:cs typeface="Times New Roman" panose="02020603050405020304" pitchFamily="18" charset="0"/>
              </a:rPr>
              <a:t>asm("pushb %al");asm("popb %al");</a:t>
            </a:r>
          </a:p>
          <a:p>
            <a:pPr algn="just" eaLnBrk="1" hangingPunct="1"/>
            <a:r>
              <a:rPr lang="zh-CN" altLang="en-US" sz="2400">
                <a:latin typeface="Times New Roman" panose="02020603050405020304" pitchFamily="18" charset="0"/>
                <a:ea typeface="楷体_GB2312" pitchFamily="49" charset="-122"/>
                <a:cs typeface="Times New Roman" panose="02020603050405020304" pitchFamily="18" charset="0"/>
              </a:rPr>
              <a:t>多行汇编可以多个单行汇编，也可以用一个</a:t>
            </a:r>
            <a:r>
              <a:rPr lang="en-US" altLang="zh-CN" sz="2400">
                <a:latin typeface="Times New Roman" panose="02020603050405020304" pitchFamily="18" charset="0"/>
                <a:ea typeface="楷体_GB2312" pitchFamily="49" charset="-122"/>
                <a:cs typeface="Times New Roman" panose="02020603050405020304" pitchFamily="18" charset="0"/>
              </a:rPr>
              <a:t>asm</a:t>
            </a:r>
            <a:r>
              <a:rPr lang="zh-CN" altLang="en-US" sz="2400">
                <a:latin typeface="Times New Roman" panose="02020603050405020304" pitchFamily="18" charset="0"/>
                <a:ea typeface="楷体_GB2312" pitchFamily="49" charset="-122"/>
                <a:cs typeface="Times New Roman" panose="02020603050405020304" pitchFamily="18" charset="0"/>
              </a:rPr>
              <a:t>修饰符括起，中间插入格式分隔符号，\</a:t>
            </a:r>
            <a:r>
              <a:rPr lang="en-US" altLang="zh-CN" sz="2400">
                <a:latin typeface="Times New Roman" panose="02020603050405020304" pitchFamily="18" charset="0"/>
                <a:ea typeface="楷体_GB2312" pitchFamily="49" charset="-122"/>
                <a:cs typeface="Times New Roman" panose="02020603050405020304" pitchFamily="18" charset="0"/>
              </a:rPr>
              <a:t>n</a:t>
            </a:r>
            <a:r>
              <a:rPr lang="zh-CN" altLang="en-US" sz="2400">
                <a:latin typeface="Times New Roman" panose="02020603050405020304" pitchFamily="18" charset="0"/>
                <a:ea typeface="楷体_GB2312" pitchFamily="49" charset="-122"/>
                <a:cs typeface="Times New Roman" panose="02020603050405020304" pitchFamily="18" charset="0"/>
              </a:rPr>
              <a:t>表示回车，\</a:t>
            </a:r>
            <a:r>
              <a:rPr lang="en-US" altLang="zh-CN" sz="2400">
                <a:latin typeface="Times New Roman" panose="02020603050405020304" pitchFamily="18" charset="0"/>
                <a:ea typeface="楷体_GB2312" pitchFamily="49" charset="-122"/>
                <a:cs typeface="Times New Roman" panose="02020603050405020304" pitchFamily="18" charset="0"/>
              </a:rPr>
              <a:t>t</a:t>
            </a:r>
            <a:r>
              <a:rPr lang="zh-CN" altLang="en-US" sz="2400">
                <a:latin typeface="Times New Roman" panose="02020603050405020304" pitchFamily="18" charset="0"/>
                <a:ea typeface="楷体_GB2312" pitchFamily="49" charset="-122"/>
                <a:cs typeface="Times New Roman" panose="02020603050405020304" pitchFamily="18" charset="0"/>
              </a:rPr>
              <a:t>表示跳格，例如：</a:t>
            </a:r>
          </a:p>
          <a:p>
            <a:pPr lvl="2" algn="just" eaLnBrk="1" hangingPunct="1">
              <a:buFont typeface="Wingdings" panose="05000000000000000000" pitchFamily="2" charset="2"/>
              <a:buNone/>
            </a:pPr>
            <a:r>
              <a:rPr lang="en-US" altLang="zh-CN" sz="2000" b="1">
                <a:solidFill>
                  <a:srgbClr val="2B5681"/>
                </a:solidFill>
                <a:latin typeface="Times New Roman" panose="02020603050405020304" pitchFamily="18" charset="0"/>
                <a:ea typeface="楷体_GB2312" pitchFamily="49" charset="-122"/>
                <a:cs typeface="Times New Roman" panose="02020603050405020304" pitchFamily="18" charset="0"/>
              </a:rPr>
              <a:t>asm("pushl %eax\n\t "</a:t>
            </a:r>
          </a:p>
          <a:p>
            <a:pPr lvl="2" algn="just" eaLnBrk="1" hangingPunct="1">
              <a:buFont typeface="Wingdings" panose="05000000000000000000" pitchFamily="2" charset="2"/>
              <a:buNone/>
            </a:pPr>
            <a:r>
              <a:rPr lang="en-US" altLang="zh-CN" sz="2000" b="1">
                <a:solidFill>
                  <a:srgbClr val="2B5681"/>
                </a:solidFill>
                <a:latin typeface="Times New Roman" panose="02020603050405020304" pitchFamily="18" charset="0"/>
                <a:ea typeface="楷体_GB2312" pitchFamily="49" charset="-122"/>
                <a:cs typeface="Times New Roman" panose="02020603050405020304" pitchFamily="18" charset="0"/>
              </a:rPr>
              <a:t>    "movl $0,%eax\n\t"</a:t>
            </a:r>
          </a:p>
          <a:p>
            <a:pPr lvl="2" algn="just" eaLnBrk="1" hangingPunct="1">
              <a:buFont typeface="Wingdings" panose="05000000000000000000" pitchFamily="2" charset="2"/>
              <a:buNone/>
            </a:pPr>
            <a:r>
              <a:rPr lang="en-US" altLang="zh-CN" sz="2000" b="1">
                <a:solidFill>
                  <a:srgbClr val="2B5681"/>
                </a:solidFill>
                <a:latin typeface="Times New Roman" panose="02020603050405020304" pitchFamily="18" charset="0"/>
                <a:ea typeface="楷体_GB2312" pitchFamily="49" charset="-122"/>
                <a:cs typeface="Times New Roman" panose="02020603050405020304" pitchFamily="18" charset="0"/>
              </a:rPr>
              <a:t>    "popl %eax");</a:t>
            </a:r>
          </a:p>
          <a:p>
            <a:pPr lvl="1" algn="just" eaLnBrk="1" hangingPunct="1"/>
            <a:r>
              <a:rPr lang="zh-CN" altLang="en-US" sz="2400">
                <a:solidFill>
                  <a:srgbClr val="2B5681"/>
                </a:solidFill>
                <a:latin typeface="Times New Roman" panose="02020603050405020304" pitchFamily="18" charset="0"/>
                <a:ea typeface="楷体_GB2312" pitchFamily="49" charset="-122"/>
                <a:cs typeface="Times New Roman" panose="02020603050405020304" pitchFamily="18" charset="0"/>
              </a:rPr>
              <a:t>实际上</a:t>
            </a:r>
            <a:r>
              <a:rPr lang="en-US" altLang="zh-CN" sz="2400">
                <a:solidFill>
                  <a:srgbClr val="2B5681"/>
                </a:solidFill>
                <a:latin typeface="Times New Roman" panose="02020603050405020304" pitchFamily="18" charset="0"/>
                <a:ea typeface="楷体_GB2312" pitchFamily="49" charset="-122"/>
                <a:cs typeface="Times New Roman" panose="02020603050405020304" pitchFamily="18" charset="0"/>
              </a:rPr>
              <a:t>GCC</a:t>
            </a:r>
            <a:r>
              <a:rPr lang="zh-CN" altLang="en-US" sz="2400">
                <a:solidFill>
                  <a:srgbClr val="2B5681"/>
                </a:solidFill>
                <a:latin typeface="Times New Roman" panose="02020603050405020304" pitchFamily="18" charset="0"/>
                <a:ea typeface="楷体_GB2312" pitchFamily="49" charset="-122"/>
                <a:cs typeface="Times New Roman" panose="02020603050405020304" pitchFamily="18" charset="0"/>
              </a:rPr>
              <a:t>在处理汇编时，把</a:t>
            </a:r>
            <a:r>
              <a:rPr lang="en-US" altLang="zh-CN" sz="2400">
                <a:solidFill>
                  <a:srgbClr val="2B5681"/>
                </a:solidFill>
                <a:latin typeface="Times New Roman" panose="02020603050405020304" pitchFamily="18" charset="0"/>
                <a:ea typeface="楷体_GB2312" pitchFamily="49" charset="-122"/>
                <a:cs typeface="Times New Roman" panose="02020603050405020304" pitchFamily="18" charset="0"/>
              </a:rPr>
              <a:t>asm</a:t>
            </a:r>
            <a:r>
              <a:rPr lang="zh-CN" altLang="en-US" sz="2400">
                <a:solidFill>
                  <a:srgbClr val="2B5681"/>
                </a:solidFill>
                <a:latin typeface="Times New Roman" panose="02020603050405020304" pitchFamily="18" charset="0"/>
                <a:ea typeface="楷体_GB2312" pitchFamily="49" charset="-122"/>
                <a:cs typeface="Times New Roman" panose="02020603050405020304" pitchFamily="18" charset="0"/>
              </a:rPr>
              <a:t>括号内的内容按原样拷贝到汇编文件中，所以格式控制字符是必要的。</a:t>
            </a:r>
            <a:r>
              <a:rPr lang="zh-CN" altLang="en-US" sz="2200">
                <a:solidFill>
                  <a:srgbClr val="2B5681"/>
                </a:solidFill>
                <a:latin typeface="Times New Roman" panose="02020603050405020304" pitchFamily="18" charset="0"/>
                <a:ea typeface="楷体_GB2312" pitchFamily="49" charset="-122"/>
                <a:cs typeface="Times New Roman" panose="02020603050405020304" pitchFamily="18" charset="0"/>
              </a:rPr>
              <a:t> </a:t>
            </a:r>
            <a:endParaRPr lang="zh-CN" altLang="en-US" sz="2500">
              <a:solidFill>
                <a:srgbClr val="2B5681"/>
              </a:solidFill>
              <a:latin typeface="Times New Roman" panose="02020603050405020304" pitchFamily="18" charset="0"/>
              <a:ea typeface="楷体_GB2312" pitchFamily="49" charset="-122"/>
              <a:cs typeface="Times New Roman" panose="02020603050405020304" pitchFamily="18" charset="0"/>
            </a:endParaRPr>
          </a:p>
        </p:txBody>
      </p:sp>
      <p:sp>
        <p:nvSpPr>
          <p:cNvPr id="30723" name="Rectangle 2"/>
          <p:cNvSpPr>
            <a:spLocks noGrp="1" noChangeArrowheads="1"/>
          </p:cNvSpPr>
          <p:nvPr>
            <p:ph type="title"/>
          </p:nvPr>
        </p:nvSpPr>
        <p:spPr/>
        <p:txBody>
          <a:bodyPr/>
          <a:lstStyle/>
          <a:p>
            <a:pPr eaLnBrk="1" hangingPunct="1"/>
            <a:r>
              <a:rPr lang="en-US" altLang="zh-CN">
                <a:latin typeface="楷体_GB2312" pitchFamily="49" charset="-122"/>
                <a:ea typeface="楷体_GB2312" pitchFamily="49" charset="-122"/>
              </a:rPr>
              <a:t>9.Linux</a:t>
            </a:r>
            <a:r>
              <a:rPr lang="zh-CN" altLang="en-US">
                <a:latin typeface="楷体_GB2312" pitchFamily="49" charset="-122"/>
                <a:ea typeface="楷体_GB2312" pitchFamily="49" charset="-122"/>
              </a:rPr>
              <a:t>中的</a:t>
            </a:r>
            <a:r>
              <a:rPr lang="en-US" altLang="zh-CN">
                <a:latin typeface="楷体_GB2312" pitchFamily="49" charset="-122"/>
                <a:ea typeface="楷体_GB2312" pitchFamily="49" charset="-122"/>
              </a:rPr>
              <a:t>C</a:t>
            </a:r>
            <a:r>
              <a:rPr lang="zh-CN" altLang="en-US">
                <a:latin typeface="楷体_GB2312" pitchFamily="49" charset="-122"/>
                <a:ea typeface="楷体_GB2312" pitchFamily="49" charset="-122"/>
              </a:rPr>
              <a:t>语言与汇编语言</a:t>
            </a:r>
          </a:p>
        </p:txBody>
      </p:sp>
    </p:spTree>
    <p:extLst>
      <p:ext uri="{BB962C8B-B14F-4D97-AF65-F5344CB8AC3E}">
        <p14:creationId xmlns:p14="http://schemas.microsoft.com/office/powerpoint/2010/main" val="5701410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932363" y="6129338"/>
            <a:ext cx="5184775" cy="609600"/>
          </a:xfrm>
        </p:spPr>
        <p:txBody>
          <a:bodyPr/>
          <a:lstStyle/>
          <a:p>
            <a:pPr eaLnBrk="1" hangingPunct="1"/>
            <a:r>
              <a:rPr lang="en-US" altLang="zh-CN" sz="2400">
                <a:latin typeface="楷体_GB2312" pitchFamily="49" charset="-122"/>
                <a:ea typeface="楷体_GB2312" pitchFamily="49" charset="-122"/>
              </a:rPr>
              <a:t>AT&amp;T</a:t>
            </a:r>
            <a:r>
              <a:rPr lang="zh-CN" altLang="en-US" sz="2400">
                <a:latin typeface="楷体_GB2312" pitchFamily="49" charset="-122"/>
                <a:ea typeface="楷体_GB2312" pitchFamily="49" charset="-122"/>
              </a:rPr>
              <a:t>行内汇编</a:t>
            </a:r>
          </a:p>
        </p:txBody>
      </p:sp>
      <p:sp>
        <p:nvSpPr>
          <p:cNvPr id="31747" name="Rectangle 3"/>
          <p:cNvSpPr>
            <a:spLocks noGrp="1" noChangeArrowheads="1"/>
          </p:cNvSpPr>
          <p:nvPr>
            <p:ph type="body" idx="1"/>
          </p:nvPr>
        </p:nvSpPr>
        <p:spPr>
          <a:xfrm>
            <a:off x="357188" y="857250"/>
            <a:ext cx="8786812" cy="5272088"/>
          </a:xfrm>
        </p:spPr>
        <p:txBody>
          <a:bodyPr/>
          <a:lstStyle/>
          <a:p>
            <a:pPr algn="just" eaLnBrk="1" hangingPunct="1"/>
            <a:r>
              <a:rPr lang="zh-CN" altLang="en-US">
                <a:solidFill>
                  <a:srgbClr val="FF0000"/>
                </a:solidFill>
                <a:latin typeface="Times New Roman" panose="02020603050405020304" pitchFamily="18" charset="0"/>
                <a:ea typeface="楷体_GB2312" pitchFamily="49" charset="-122"/>
              </a:rPr>
              <a:t> </a:t>
            </a:r>
            <a:r>
              <a:rPr lang="zh-CN" altLang="en-US">
                <a:solidFill>
                  <a:srgbClr val="FF0000"/>
                </a:solidFill>
                <a:latin typeface="楷体_GB2312" pitchFamily="49" charset="-122"/>
                <a:ea typeface="楷体_GB2312" pitchFamily="49" charset="-122"/>
              </a:rPr>
              <a:t>扩展行内汇编：</a:t>
            </a:r>
            <a:r>
              <a:rPr lang="zh-CN" altLang="en-US">
                <a:latin typeface="楷体_GB2312" pitchFamily="49" charset="-122"/>
                <a:ea typeface="楷体_GB2312" pitchFamily="49" charset="-122"/>
              </a:rPr>
              <a:t>为解决代码中因使用寄存器可能出现的问题，引入了扩展行内汇编。它的基本格式是：</a:t>
            </a:r>
          </a:p>
          <a:p>
            <a:pPr lvl="1" algn="just" eaLnBrk="1" hangingPunct="1">
              <a:buFont typeface="Wingdings" panose="05000000000000000000" pitchFamily="2" charset="2"/>
              <a:buNone/>
            </a:pPr>
            <a:r>
              <a:rPr lang="en-US" altLang="zh-CN" sz="2800">
                <a:solidFill>
                  <a:srgbClr val="2B5681"/>
                </a:solidFill>
                <a:latin typeface="楷体_GB2312" pitchFamily="49" charset="-122"/>
                <a:ea typeface="楷体_GB2312" pitchFamily="49" charset="-122"/>
              </a:rPr>
              <a:t>asm("statements"</a:t>
            </a:r>
          </a:p>
          <a:p>
            <a:pPr lvl="1" algn="just" eaLnBrk="1" hangingPunct="1">
              <a:buFont typeface="Wingdings" panose="05000000000000000000" pitchFamily="2" charset="2"/>
              <a:buNone/>
            </a:pPr>
            <a:r>
              <a:rPr lang="en-US" altLang="zh-CN" sz="2800">
                <a:solidFill>
                  <a:srgbClr val="2B5681"/>
                </a:solidFill>
                <a:latin typeface="楷体_GB2312" pitchFamily="49" charset="-122"/>
                <a:ea typeface="楷体_GB2312" pitchFamily="49" charset="-122"/>
              </a:rPr>
              <a:t>:output_regs   //</a:t>
            </a:r>
            <a:r>
              <a:rPr lang="zh-CN" altLang="en-US" sz="2800">
                <a:solidFill>
                  <a:srgbClr val="2B5681"/>
                </a:solidFill>
                <a:latin typeface="楷体_GB2312" pitchFamily="49" charset="-122"/>
                <a:ea typeface="楷体_GB2312" pitchFamily="49" charset="-122"/>
              </a:rPr>
              <a:t>输出寄存器说明</a:t>
            </a:r>
            <a:endParaRPr lang="en-US" altLang="zh-CN" sz="2800">
              <a:solidFill>
                <a:srgbClr val="2B5681"/>
              </a:solidFill>
              <a:latin typeface="楷体_GB2312" pitchFamily="49" charset="-122"/>
              <a:ea typeface="楷体_GB2312" pitchFamily="49" charset="-122"/>
            </a:endParaRPr>
          </a:p>
          <a:p>
            <a:pPr lvl="1" algn="just" eaLnBrk="1" hangingPunct="1">
              <a:buFont typeface="Wingdings" panose="05000000000000000000" pitchFamily="2" charset="2"/>
              <a:buNone/>
            </a:pPr>
            <a:r>
              <a:rPr lang="en-US" altLang="zh-CN" sz="2800">
                <a:solidFill>
                  <a:srgbClr val="2B5681"/>
                </a:solidFill>
                <a:latin typeface="楷体_GB2312" pitchFamily="49" charset="-122"/>
                <a:ea typeface="楷体_GB2312" pitchFamily="49" charset="-122"/>
              </a:rPr>
              <a:t>:input_regs    //</a:t>
            </a:r>
            <a:r>
              <a:rPr lang="zh-CN" altLang="en-US" sz="2800">
                <a:solidFill>
                  <a:srgbClr val="2B5681"/>
                </a:solidFill>
                <a:latin typeface="楷体_GB2312" pitchFamily="49" charset="-122"/>
                <a:ea typeface="楷体_GB2312" pitchFamily="49" charset="-122"/>
              </a:rPr>
              <a:t>输入寄存器说明；</a:t>
            </a:r>
          </a:p>
          <a:p>
            <a:pPr lvl="1" algn="just" eaLnBrk="1" hangingPunct="1">
              <a:buFont typeface="Wingdings" panose="05000000000000000000" pitchFamily="2" charset="2"/>
              <a:buNone/>
            </a:pPr>
            <a:r>
              <a:rPr lang="en-US" altLang="zh-CN" sz="2800">
                <a:solidFill>
                  <a:srgbClr val="2B5681"/>
                </a:solidFill>
                <a:latin typeface="楷体_GB2312" pitchFamily="49" charset="-122"/>
                <a:ea typeface="楷体_GB2312" pitchFamily="49" charset="-122"/>
              </a:rPr>
              <a:t>:clobbered_regs  //</a:t>
            </a:r>
            <a:r>
              <a:rPr lang="zh-CN" altLang="en-US" sz="2800">
                <a:solidFill>
                  <a:srgbClr val="2B5681"/>
                </a:solidFill>
                <a:latin typeface="楷体_GB2312" pitchFamily="49" charset="-122"/>
                <a:ea typeface="楷体_GB2312" pitchFamily="49" charset="-122"/>
              </a:rPr>
              <a:t>被改变的寄存器。</a:t>
            </a:r>
          </a:p>
          <a:p>
            <a:pPr lvl="1" eaLnBrk="1" hangingPunct="1"/>
            <a:r>
              <a:rPr lang="zh-CN" altLang="en-US" sz="2900">
                <a:solidFill>
                  <a:srgbClr val="2B5681"/>
                </a:solidFill>
                <a:latin typeface="楷体_GB2312" pitchFamily="49" charset="-122"/>
                <a:ea typeface="楷体_GB2312" pitchFamily="49" charset="-122"/>
              </a:rPr>
              <a:t>输出和输入寄存器统一按顺序编号，起始是</a:t>
            </a:r>
            <a:r>
              <a:rPr lang="en-US" altLang="zh-CN" sz="2900">
                <a:solidFill>
                  <a:srgbClr val="2B5681"/>
                </a:solidFill>
                <a:latin typeface="楷体_GB2312" pitchFamily="49" charset="-122"/>
                <a:ea typeface="楷体_GB2312" pitchFamily="49" charset="-122"/>
              </a:rPr>
              <a:t>%0</a:t>
            </a:r>
          </a:p>
          <a:p>
            <a:pPr lvl="1" eaLnBrk="1" hangingPunct="1"/>
            <a:r>
              <a:rPr lang="zh-CN" altLang="en-US" sz="2900">
                <a:solidFill>
                  <a:srgbClr val="2B5681"/>
                </a:solidFill>
                <a:latin typeface="楷体_GB2312" pitchFamily="49" charset="-122"/>
                <a:ea typeface="楷体_GB2312" pitchFamily="49" charset="-122"/>
              </a:rPr>
              <a:t>操作数如何与</a:t>
            </a:r>
            <a:r>
              <a:rPr lang="en-US" altLang="zh-CN" sz="2900">
                <a:solidFill>
                  <a:srgbClr val="2B5681"/>
                </a:solidFill>
                <a:latin typeface="楷体_GB2312" pitchFamily="49" charset="-122"/>
                <a:ea typeface="楷体_GB2312" pitchFamily="49" charset="-122"/>
              </a:rPr>
              <a:t>C</a:t>
            </a:r>
            <a:r>
              <a:rPr lang="zh-CN" altLang="en-US" sz="2900">
                <a:solidFill>
                  <a:srgbClr val="2B5681"/>
                </a:solidFill>
                <a:latin typeface="楷体_GB2312" pitchFamily="49" charset="-122"/>
                <a:ea typeface="楷体_GB2312" pitchFamily="49" charset="-122"/>
              </a:rPr>
              <a:t>代码中的变量结合是个问题。程序员提供具体的指令</a:t>
            </a:r>
            <a:r>
              <a:rPr lang="en-US" altLang="zh-CN" sz="2900">
                <a:solidFill>
                  <a:srgbClr val="2B5681"/>
                </a:solidFill>
                <a:latin typeface="楷体_GB2312" pitchFamily="49" charset="-122"/>
                <a:ea typeface="楷体_GB2312" pitchFamily="49" charset="-122"/>
              </a:rPr>
              <a:t>,</a:t>
            </a:r>
            <a:r>
              <a:rPr lang="zh-CN" altLang="en-US" sz="2900">
                <a:solidFill>
                  <a:srgbClr val="2B5681"/>
                </a:solidFill>
                <a:latin typeface="楷体_GB2312" pitchFamily="49" charset="-122"/>
                <a:ea typeface="楷体_GB2312" pitchFamily="49" charset="-122"/>
              </a:rPr>
              <a:t>而对寄存器的使用只需给出约束条件</a:t>
            </a:r>
            <a:r>
              <a:rPr lang="en-US" altLang="zh-CN" sz="2900">
                <a:solidFill>
                  <a:srgbClr val="2B5681"/>
                </a:solidFill>
                <a:latin typeface="楷体_GB2312" pitchFamily="49" charset="-122"/>
                <a:ea typeface="楷体_GB2312" pitchFamily="49" charset="-122"/>
              </a:rPr>
              <a:t>,</a:t>
            </a:r>
            <a:r>
              <a:rPr lang="zh-CN" altLang="en-US" sz="2900">
                <a:solidFill>
                  <a:srgbClr val="2B5681"/>
                </a:solidFill>
                <a:latin typeface="楷体_GB2312" pitchFamily="49" charset="-122"/>
                <a:ea typeface="楷体_GB2312" pitchFamily="49" charset="-122"/>
              </a:rPr>
              <a:t>具体如何将寄存器与变量结合起来则完全由</a:t>
            </a:r>
            <a:r>
              <a:rPr lang="en-US" altLang="zh-CN" sz="2900">
                <a:solidFill>
                  <a:srgbClr val="2B5681"/>
                </a:solidFill>
                <a:latin typeface="楷体_GB2312" pitchFamily="49" charset="-122"/>
                <a:ea typeface="楷体_GB2312" pitchFamily="49" charset="-122"/>
              </a:rPr>
              <a:t>GCC</a:t>
            </a:r>
            <a:r>
              <a:rPr lang="zh-CN" altLang="en-US" sz="2900">
                <a:solidFill>
                  <a:srgbClr val="2B5681"/>
                </a:solidFill>
                <a:latin typeface="楷体_GB2312" pitchFamily="49" charset="-122"/>
                <a:ea typeface="楷体_GB2312" pitchFamily="49" charset="-122"/>
              </a:rPr>
              <a:t>等负责</a:t>
            </a:r>
            <a:r>
              <a:rPr lang="en-US" altLang="zh-CN" sz="2900">
                <a:solidFill>
                  <a:srgbClr val="2B5681"/>
                </a:solidFill>
                <a:latin typeface="楷体_GB2312" pitchFamily="49" charset="-122"/>
                <a:ea typeface="楷体_GB2312" pitchFamily="49" charset="-122"/>
              </a:rPr>
              <a:t>.</a:t>
            </a:r>
          </a:p>
          <a:p>
            <a:pPr lvl="1" algn="just" eaLnBrk="1" hangingPunct="1">
              <a:buFont typeface="Wingdings" panose="05000000000000000000" pitchFamily="2" charset="2"/>
              <a:buNone/>
            </a:pPr>
            <a:endParaRPr lang="zh-CN" altLang="en-US" sz="2900">
              <a:latin typeface="楷体_GB2312" pitchFamily="49" charset="-122"/>
              <a:ea typeface="楷体_GB2312" pitchFamily="49" charset="-122"/>
            </a:endParaRPr>
          </a:p>
        </p:txBody>
      </p:sp>
      <p:sp>
        <p:nvSpPr>
          <p:cNvPr id="248836" name="Text Box 4"/>
          <p:cNvSpPr txBox="1">
            <a:spLocks noChangeArrowheads="1"/>
          </p:cNvSpPr>
          <p:nvPr/>
        </p:nvSpPr>
        <p:spPr bwMode="auto">
          <a:xfrm>
            <a:off x="357188" y="6261100"/>
            <a:ext cx="6091237" cy="825500"/>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600" b="0">
                <a:solidFill>
                  <a:schemeClr val="tx1"/>
                </a:solidFill>
                <a:latin typeface="Arial" panose="020B0604020202020204" pitchFamily="34" charset="0"/>
                <a:ea typeface="宋体" panose="02010600030101010101" pitchFamily="2" charset="-122"/>
              </a:rPr>
              <a:t>关于嵌入式汇编，请参考</a:t>
            </a:r>
            <a:r>
              <a:rPr lang="en-US" altLang="zh-CN" sz="1600" b="0">
                <a:solidFill>
                  <a:schemeClr val="tx1"/>
                </a:solidFill>
                <a:latin typeface="Arial" panose="020B0604020202020204" pitchFamily="34" charset="0"/>
                <a:ea typeface="宋体" panose="02010600030101010101" pitchFamily="2" charset="-122"/>
                <a:hlinkClick r:id="rId2"/>
              </a:rPr>
              <a:t>http://gcc.gnu.org/onlinedocs/</a:t>
            </a:r>
            <a:r>
              <a:rPr lang="zh-CN" altLang="en-US" sz="1600" b="0">
                <a:solidFill>
                  <a:schemeClr val="tx1"/>
                </a:solidFill>
                <a:latin typeface="Arial" panose="020B0604020202020204" pitchFamily="34" charset="0"/>
                <a:ea typeface="宋体" panose="02010600030101010101" pitchFamily="2" charset="-122"/>
              </a:rPr>
              <a:t>上的文档：</a:t>
            </a:r>
          </a:p>
          <a:p>
            <a:pPr eaLnBrk="1" hangingPunct="1">
              <a:spcBef>
                <a:spcPct val="0"/>
              </a:spcBef>
              <a:buClrTx/>
              <a:buFontTx/>
              <a:buNone/>
            </a:pPr>
            <a:r>
              <a:rPr lang="en-US" altLang="zh-CN" sz="1600" b="0">
                <a:solidFill>
                  <a:schemeClr val="tx1"/>
                </a:solidFill>
                <a:latin typeface="Arial" panose="020B0604020202020204" pitchFamily="34" charset="0"/>
                <a:ea typeface="宋体" panose="02010600030101010101" pitchFamily="2" charset="-122"/>
              </a:rPr>
              <a:t>1</a:t>
            </a:r>
            <a:r>
              <a:rPr lang="zh-CN" altLang="en-US" sz="1600" b="0">
                <a:solidFill>
                  <a:schemeClr val="tx1"/>
                </a:solidFill>
                <a:latin typeface="Arial" panose="020B0604020202020204" pitchFamily="34" charset="0"/>
                <a:ea typeface="宋体" panose="02010600030101010101" pitchFamily="2" charset="-122"/>
              </a:rPr>
              <a:t>）在</a:t>
            </a:r>
            <a:r>
              <a:rPr lang="en-US" altLang="zh-CN" sz="1600" b="0">
                <a:solidFill>
                  <a:schemeClr val="tx1"/>
                </a:solidFill>
                <a:latin typeface="Arial" panose="020B0604020202020204" pitchFamily="34" charset="0"/>
                <a:ea typeface="宋体" panose="02010600030101010101" pitchFamily="2" charset="-122"/>
              </a:rPr>
              <a:t>GCC</a:t>
            </a:r>
            <a:r>
              <a:rPr lang="zh-CN" altLang="en-US" sz="1600" b="0">
                <a:solidFill>
                  <a:schemeClr val="tx1"/>
                </a:solidFill>
                <a:latin typeface="Arial" panose="020B0604020202020204" pitchFamily="34" charset="0"/>
                <a:ea typeface="宋体" panose="02010600030101010101" pitchFamily="2" charset="-122"/>
              </a:rPr>
              <a:t>的文档中有部分</a:t>
            </a:r>
          </a:p>
          <a:p>
            <a:pPr eaLnBrk="1" hangingPunct="1">
              <a:spcBef>
                <a:spcPct val="0"/>
              </a:spcBef>
              <a:buClrTx/>
              <a:buFontTx/>
              <a:buNone/>
            </a:pPr>
            <a:r>
              <a:rPr lang="en-US" altLang="zh-CN" sz="1600" b="0">
                <a:solidFill>
                  <a:schemeClr val="tx1"/>
                </a:solidFill>
                <a:latin typeface="Arial" panose="020B0604020202020204" pitchFamily="34" charset="0"/>
                <a:ea typeface="宋体" panose="02010600030101010101" pitchFamily="2" charset="-122"/>
              </a:rPr>
              <a:t>2</a:t>
            </a:r>
            <a:r>
              <a:rPr lang="zh-CN" altLang="en-US" sz="1600" b="0">
                <a:solidFill>
                  <a:schemeClr val="tx1"/>
                </a:solidFill>
                <a:latin typeface="Arial" panose="020B0604020202020204" pitchFamily="34" charset="0"/>
                <a:ea typeface="宋体" panose="02010600030101010101" pitchFamily="2" charset="-122"/>
              </a:rPr>
              <a:t>）在</a:t>
            </a:r>
            <a:r>
              <a:rPr lang="en-US" altLang="zh-CN" sz="1600" b="0">
                <a:solidFill>
                  <a:schemeClr val="tx1"/>
                </a:solidFill>
                <a:latin typeface="Arial" panose="020B0604020202020204" pitchFamily="34" charset="0"/>
                <a:ea typeface="宋体" panose="02010600030101010101" pitchFamily="2" charset="-122"/>
              </a:rPr>
              <a:t>GNAT</a:t>
            </a:r>
            <a:r>
              <a:rPr lang="zh-CN" altLang="en-US" sz="1600" b="0">
                <a:solidFill>
                  <a:schemeClr val="tx1"/>
                </a:solidFill>
                <a:latin typeface="Arial" panose="020B0604020202020204" pitchFamily="34" charset="0"/>
                <a:ea typeface="宋体" panose="02010600030101010101" pitchFamily="2" charset="-122"/>
              </a:rPr>
              <a:t>的文档中有说明</a:t>
            </a:r>
          </a:p>
        </p:txBody>
      </p:sp>
      <p:sp>
        <p:nvSpPr>
          <p:cNvPr id="5" name="Rectangle 2"/>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defRPr/>
            </a:pPr>
            <a:r>
              <a:rPr lang="en-US" altLang="zh-CN" kern="0" dirty="0">
                <a:latin typeface="楷体_GB2312" pitchFamily="49" charset="-122"/>
                <a:ea typeface="楷体_GB2312" pitchFamily="49" charset="-122"/>
              </a:rPr>
              <a:t>9.Linux</a:t>
            </a:r>
            <a:r>
              <a:rPr lang="zh-CN" altLang="en-US" kern="0" dirty="0">
                <a:latin typeface="楷体_GB2312" pitchFamily="49" charset="-122"/>
                <a:ea typeface="楷体_GB2312" pitchFamily="49" charset="-122"/>
              </a:rPr>
              <a:t>中的</a:t>
            </a:r>
            <a:r>
              <a:rPr lang="en-US" altLang="zh-CN" kern="0" dirty="0">
                <a:latin typeface="楷体_GB2312" pitchFamily="49" charset="-122"/>
                <a:ea typeface="楷体_GB2312" pitchFamily="49" charset="-122"/>
              </a:rPr>
              <a:t>C</a:t>
            </a:r>
            <a:r>
              <a:rPr lang="zh-CN" altLang="en-US" kern="0" dirty="0">
                <a:latin typeface="楷体_GB2312" pitchFamily="49" charset="-122"/>
                <a:ea typeface="楷体_GB2312" pitchFamily="49" charset="-122"/>
              </a:rPr>
              <a:t>语言与汇编语言</a:t>
            </a:r>
          </a:p>
        </p:txBody>
      </p:sp>
    </p:spTree>
    <p:extLst>
      <p:ext uri="{BB962C8B-B14F-4D97-AF65-F5344CB8AC3E}">
        <p14:creationId xmlns:p14="http://schemas.microsoft.com/office/powerpoint/2010/main" val="4409536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883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488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6" grpId="0" animBg="1"/>
      <p:bldP spid="248836" grpId="1"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内容占位符 2"/>
          <p:cNvSpPr>
            <a:spLocks noGrp="1"/>
          </p:cNvSpPr>
          <p:nvPr>
            <p:ph idx="1"/>
          </p:nvPr>
        </p:nvSpPr>
        <p:spPr>
          <a:xfrm>
            <a:off x="357188" y="1000125"/>
            <a:ext cx="8291512" cy="5272088"/>
          </a:xfrm>
        </p:spPr>
        <p:txBody>
          <a:bodyPr/>
          <a:lstStyle/>
          <a:p>
            <a:r>
              <a:rPr lang="en-US" altLang="zh-CN">
                <a:latin typeface="Times New Roman" panose="02020603050405020304" pitchFamily="18" charset="0"/>
                <a:ea typeface="楷体_GB2312" pitchFamily="49" charset="-122"/>
                <a:cs typeface="Times New Roman" panose="02020603050405020304" pitchFamily="18" charset="0"/>
              </a:rPr>
              <a:t>int a=10, b; </a:t>
            </a:r>
            <a:br>
              <a:rPr lang="en-US" altLang="zh-CN">
                <a:latin typeface="Times New Roman" panose="02020603050405020304" pitchFamily="18" charset="0"/>
                <a:ea typeface="楷体_GB2312" pitchFamily="49" charset="-122"/>
                <a:cs typeface="Times New Roman" panose="02020603050405020304" pitchFamily="18" charset="0"/>
              </a:rPr>
            </a:br>
            <a:r>
              <a:rPr lang="en-US" altLang="zh-CN">
                <a:solidFill>
                  <a:srgbClr val="FF0000"/>
                </a:solidFill>
                <a:latin typeface="Times New Roman" panose="02020603050405020304" pitchFamily="18" charset="0"/>
                <a:ea typeface="楷体_GB2312" pitchFamily="49" charset="-122"/>
                <a:cs typeface="Times New Roman" panose="02020603050405020304" pitchFamily="18" charset="0"/>
              </a:rPr>
              <a:t>asm </a:t>
            </a:r>
            <a:r>
              <a:rPr lang="en-US" altLang="zh-CN">
                <a:latin typeface="Times New Roman" panose="02020603050405020304" pitchFamily="18" charset="0"/>
                <a:ea typeface="楷体_GB2312" pitchFamily="49" charset="-122"/>
                <a:cs typeface="Times New Roman" panose="02020603050405020304" pitchFamily="18" charset="0"/>
              </a:rPr>
              <a:t>(</a:t>
            </a:r>
          </a:p>
          <a:p>
            <a:pPr>
              <a:buFont typeface="Wingdings" panose="05000000000000000000" pitchFamily="2" charset="2"/>
              <a:buNone/>
            </a:pPr>
            <a:r>
              <a:rPr lang="en-US" altLang="zh-CN">
                <a:latin typeface="Times New Roman" panose="02020603050405020304" pitchFamily="18" charset="0"/>
                <a:ea typeface="楷体_GB2312" pitchFamily="49" charset="-122"/>
                <a:cs typeface="Times New Roman" panose="02020603050405020304" pitchFamily="18" charset="0"/>
              </a:rPr>
              <a:t>  "movl %1, %%eax; </a:t>
            </a:r>
            <a:br>
              <a:rPr lang="en-US" altLang="zh-CN">
                <a:latin typeface="Times New Roman" panose="02020603050405020304" pitchFamily="18" charset="0"/>
                <a:ea typeface="楷体_GB2312" pitchFamily="49" charset="-122"/>
                <a:cs typeface="Times New Roman" panose="02020603050405020304" pitchFamily="18" charset="0"/>
              </a:rPr>
            </a:br>
            <a:r>
              <a:rPr lang="en-US" altLang="zh-CN">
                <a:latin typeface="Times New Roman" panose="02020603050405020304" pitchFamily="18" charset="0"/>
                <a:ea typeface="楷体_GB2312" pitchFamily="49" charset="-122"/>
                <a:cs typeface="Times New Roman" panose="02020603050405020304" pitchFamily="18" charset="0"/>
              </a:rPr>
              <a:t>movl %%eax, %0;" </a:t>
            </a:r>
            <a:br>
              <a:rPr lang="en-US" altLang="zh-CN">
                <a:latin typeface="Times New Roman" panose="02020603050405020304" pitchFamily="18" charset="0"/>
                <a:ea typeface="楷体_GB2312" pitchFamily="49" charset="-122"/>
                <a:cs typeface="Times New Roman" panose="02020603050405020304" pitchFamily="18" charset="0"/>
              </a:rPr>
            </a:br>
            <a:r>
              <a:rPr lang="en-US" altLang="zh-CN">
                <a:latin typeface="Times New Roman" panose="02020603050405020304" pitchFamily="18" charset="0"/>
                <a:ea typeface="楷体_GB2312" pitchFamily="49" charset="-122"/>
                <a:cs typeface="Times New Roman" panose="02020603050405020304" pitchFamily="18" charset="0"/>
              </a:rPr>
              <a:t>:"=r"(b) /* output */ </a:t>
            </a:r>
            <a:br>
              <a:rPr lang="en-US" altLang="zh-CN">
                <a:latin typeface="Times New Roman" panose="02020603050405020304" pitchFamily="18" charset="0"/>
                <a:ea typeface="楷体_GB2312" pitchFamily="49" charset="-122"/>
                <a:cs typeface="Times New Roman" panose="02020603050405020304" pitchFamily="18" charset="0"/>
              </a:rPr>
            </a:br>
            <a:r>
              <a:rPr lang="en-US" altLang="zh-CN">
                <a:latin typeface="Times New Roman" panose="02020603050405020304" pitchFamily="18" charset="0"/>
                <a:ea typeface="楷体_GB2312" pitchFamily="49" charset="-122"/>
                <a:cs typeface="Times New Roman" panose="02020603050405020304" pitchFamily="18" charset="0"/>
              </a:rPr>
              <a:t>:"r"(a) /* input */ </a:t>
            </a:r>
            <a:br>
              <a:rPr lang="en-US" altLang="zh-CN">
                <a:latin typeface="Times New Roman" panose="02020603050405020304" pitchFamily="18" charset="0"/>
                <a:ea typeface="楷体_GB2312" pitchFamily="49" charset="-122"/>
                <a:cs typeface="Times New Roman" panose="02020603050405020304" pitchFamily="18" charset="0"/>
              </a:rPr>
            </a:br>
            <a:r>
              <a:rPr lang="en-US" altLang="zh-CN">
                <a:latin typeface="Times New Roman" panose="02020603050405020304" pitchFamily="18" charset="0"/>
                <a:ea typeface="楷体_GB2312" pitchFamily="49" charset="-122"/>
                <a:cs typeface="Times New Roman" panose="02020603050405020304" pitchFamily="18" charset="0"/>
              </a:rPr>
              <a:t>:"%eax" /* clobbered register */ </a:t>
            </a:r>
            <a:br>
              <a:rPr lang="en-US" altLang="zh-CN">
                <a:latin typeface="Times New Roman" panose="02020603050405020304" pitchFamily="18" charset="0"/>
                <a:ea typeface="楷体_GB2312" pitchFamily="49" charset="-122"/>
                <a:cs typeface="Times New Roman" panose="02020603050405020304" pitchFamily="18" charset="0"/>
              </a:rPr>
            </a:br>
            <a:r>
              <a:rPr lang="en-US" altLang="zh-CN">
                <a:latin typeface="Times New Roman" panose="02020603050405020304" pitchFamily="18" charset="0"/>
                <a:ea typeface="楷体_GB2312" pitchFamily="49" charset="-122"/>
                <a:cs typeface="Times New Roman" panose="02020603050405020304" pitchFamily="18" charset="0"/>
              </a:rPr>
              <a:t>); </a:t>
            </a:r>
            <a:br>
              <a:rPr lang="en-US" altLang="zh-CN">
                <a:latin typeface="Times New Roman" panose="02020603050405020304" pitchFamily="18" charset="0"/>
                <a:ea typeface="楷体_GB2312" pitchFamily="49" charset="-122"/>
                <a:cs typeface="Times New Roman" panose="02020603050405020304" pitchFamily="18" charset="0"/>
              </a:rPr>
            </a:br>
            <a:br>
              <a:rPr lang="en-US" altLang="zh-CN">
                <a:ea typeface="楷体_GB2312" pitchFamily="49" charset="-122"/>
                <a:cs typeface="Times New Roman" panose="02020603050405020304" pitchFamily="18" charset="0"/>
              </a:rPr>
            </a:br>
            <a:br>
              <a:rPr lang="en-US" altLang="zh-CN">
                <a:ea typeface="楷体_GB2312" pitchFamily="49" charset="-122"/>
                <a:cs typeface="Times New Roman" panose="02020603050405020304" pitchFamily="18" charset="0"/>
              </a:rPr>
            </a:br>
            <a:endParaRPr lang="zh-CN" altLang="en-US">
              <a:ea typeface="楷体_GB2312" pitchFamily="49" charset="-122"/>
              <a:cs typeface="Times New Roman" panose="02020603050405020304" pitchFamily="18" charset="0"/>
            </a:endParaRPr>
          </a:p>
        </p:txBody>
      </p:sp>
      <p:sp>
        <p:nvSpPr>
          <p:cNvPr id="4" name="Rectangle 2"/>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defRPr/>
            </a:pPr>
            <a:r>
              <a:rPr lang="en-US" altLang="zh-CN" kern="0" dirty="0">
                <a:latin typeface="楷体_GB2312" pitchFamily="49" charset="-122"/>
                <a:ea typeface="楷体_GB2312" pitchFamily="49" charset="-122"/>
              </a:rPr>
              <a:t>9.Linux</a:t>
            </a:r>
            <a:r>
              <a:rPr lang="zh-CN" altLang="en-US" kern="0" dirty="0">
                <a:latin typeface="楷体_GB2312" pitchFamily="49" charset="-122"/>
                <a:ea typeface="楷体_GB2312" pitchFamily="49" charset="-122"/>
              </a:rPr>
              <a:t>中的</a:t>
            </a:r>
            <a:r>
              <a:rPr lang="en-US" altLang="zh-CN" kern="0" dirty="0">
                <a:latin typeface="楷体_GB2312" pitchFamily="49" charset="-122"/>
                <a:ea typeface="楷体_GB2312" pitchFamily="49" charset="-122"/>
              </a:rPr>
              <a:t>C</a:t>
            </a:r>
            <a:r>
              <a:rPr lang="zh-CN" altLang="en-US" kern="0" dirty="0">
                <a:latin typeface="楷体_GB2312" pitchFamily="49" charset="-122"/>
                <a:ea typeface="楷体_GB2312" pitchFamily="49" charset="-122"/>
              </a:rPr>
              <a:t>语言与汇编语言</a:t>
            </a:r>
          </a:p>
        </p:txBody>
      </p:sp>
    </p:spTree>
    <p:extLst>
      <p:ext uri="{BB962C8B-B14F-4D97-AF65-F5344CB8AC3E}">
        <p14:creationId xmlns:p14="http://schemas.microsoft.com/office/powerpoint/2010/main" val="12543376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内容占位符 2"/>
          <p:cNvSpPr>
            <a:spLocks noGrp="1"/>
          </p:cNvSpPr>
          <p:nvPr>
            <p:ph idx="1"/>
          </p:nvPr>
        </p:nvSpPr>
        <p:spPr/>
        <p:txBody>
          <a:bodyPr/>
          <a:lstStyle/>
          <a:p>
            <a:r>
              <a:rPr lang="zh-CN" altLang="en-US" sz="2400">
                <a:latin typeface="楷体_GB2312" pitchFamily="49" charset="-122"/>
                <a:ea typeface="楷体_GB2312" pitchFamily="49" charset="-122"/>
              </a:rPr>
              <a:t>上面代码所做的就是用汇编代码把</a:t>
            </a:r>
            <a:r>
              <a:rPr lang="en-US" altLang="zh-CN" sz="2400">
                <a:latin typeface="楷体_GB2312" pitchFamily="49" charset="-122"/>
                <a:ea typeface="楷体_GB2312" pitchFamily="49" charset="-122"/>
              </a:rPr>
              <a:t>a</a:t>
            </a:r>
            <a:r>
              <a:rPr lang="zh-CN" altLang="en-US" sz="2400">
                <a:latin typeface="楷体_GB2312" pitchFamily="49" charset="-122"/>
                <a:ea typeface="楷体_GB2312" pitchFamily="49" charset="-122"/>
              </a:rPr>
              <a:t>的值赋给</a:t>
            </a:r>
            <a:r>
              <a:rPr lang="en-US" altLang="zh-CN" sz="2400">
                <a:latin typeface="楷体_GB2312" pitchFamily="49" charset="-122"/>
                <a:ea typeface="楷体_GB2312" pitchFamily="49" charset="-122"/>
              </a:rPr>
              <a:t>b:</a:t>
            </a:r>
            <a:br>
              <a:rPr lang="en-US" altLang="zh-CN" sz="2400">
                <a:latin typeface="楷体_GB2312" pitchFamily="49" charset="-122"/>
                <a:ea typeface="楷体_GB2312" pitchFamily="49" charset="-122"/>
              </a:rPr>
            </a:br>
            <a:r>
              <a:rPr lang="en-US" altLang="zh-CN" sz="2400">
                <a:latin typeface="楷体_GB2312" pitchFamily="49" charset="-122"/>
                <a:ea typeface="楷体_GB2312" pitchFamily="49" charset="-122"/>
              </a:rPr>
              <a:t>1) “b”</a:t>
            </a:r>
            <a:r>
              <a:rPr lang="zh-CN" altLang="en-US" sz="2400">
                <a:latin typeface="楷体_GB2312" pitchFamily="49" charset="-122"/>
                <a:ea typeface="楷体_GB2312" pitchFamily="49" charset="-122"/>
              </a:rPr>
              <a:t>是输出操作数，用</a:t>
            </a:r>
            <a:r>
              <a:rPr lang="en-US" altLang="zh-CN" sz="2400">
                <a:latin typeface="楷体_GB2312" pitchFamily="49" charset="-122"/>
                <a:ea typeface="楷体_GB2312" pitchFamily="49" charset="-122"/>
              </a:rPr>
              <a:t>%0</a:t>
            </a:r>
            <a:r>
              <a:rPr lang="zh-CN" altLang="en-US" sz="2400">
                <a:latin typeface="楷体_GB2312" pitchFamily="49" charset="-122"/>
                <a:ea typeface="楷体_GB2312" pitchFamily="49" charset="-122"/>
              </a:rPr>
              <a:t>来访问</a:t>
            </a:r>
            <a:r>
              <a:rPr lang="en-US" altLang="zh-CN" sz="2400">
                <a:latin typeface="楷体_GB2312" pitchFamily="49" charset="-122"/>
                <a:ea typeface="楷体_GB2312" pitchFamily="49" charset="-122"/>
              </a:rPr>
              <a:t>,”a”</a:t>
            </a:r>
            <a:r>
              <a:rPr lang="zh-CN" altLang="en-US" sz="2400">
                <a:latin typeface="楷体_GB2312" pitchFamily="49" charset="-122"/>
                <a:ea typeface="楷体_GB2312" pitchFamily="49" charset="-122"/>
              </a:rPr>
              <a:t>是输入操作数，用</a:t>
            </a:r>
            <a:r>
              <a:rPr lang="en-US" altLang="zh-CN" sz="2400">
                <a:latin typeface="楷体_GB2312" pitchFamily="49" charset="-122"/>
                <a:ea typeface="楷体_GB2312" pitchFamily="49" charset="-122"/>
              </a:rPr>
              <a:t>%1</a:t>
            </a:r>
            <a:r>
              <a:rPr lang="zh-CN" altLang="en-US" sz="2400">
                <a:latin typeface="楷体_GB2312" pitchFamily="49" charset="-122"/>
                <a:ea typeface="楷体_GB2312" pitchFamily="49" charset="-122"/>
              </a:rPr>
              <a:t>来访问。 </a:t>
            </a:r>
            <a:br>
              <a:rPr lang="zh-CN" altLang="en-US" sz="2400">
                <a:latin typeface="楷体_GB2312" pitchFamily="49" charset="-122"/>
                <a:ea typeface="楷体_GB2312" pitchFamily="49" charset="-122"/>
              </a:rPr>
            </a:br>
            <a:r>
              <a:rPr lang="en-US" altLang="zh-CN" sz="2400">
                <a:latin typeface="楷体_GB2312" pitchFamily="49" charset="-122"/>
                <a:ea typeface="楷体_GB2312" pitchFamily="49" charset="-122"/>
              </a:rPr>
              <a:t>2) “r” </a:t>
            </a:r>
            <a:r>
              <a:rPr lang="zh-CN" altLang="en-US" sz="2400">
                <a:latin typeface="楷体_GB2312" pitchFamily="49" charset="-122"/>
                <a:ea typeface="楷体_GB2312" pitchFamily="49" charset="-122"/>
              </a:rPr>
              <a:t>是一个</a:t>
            </a:r>
            <a:r>
              <a:rPr lang="en-US" altLang="zh-CN" sz="2400">
                <a:latin typeface="楷体_GB2312" pitchFamily="49" charset="-122"/>
                <a:ea typeface="楷体_GB2312" pitchFamily="49" charset="-122"/>
              </a:rPr>
              <a:t>constraint, constraint ”r”</a:t>
            </a:r>
            <a:r>
              <a:rPr lang="zh-CN" altLang="en-US" sz="2400">
                <a:latin typeface="楷体_GB2312" pitchFamily="49" charset="-122"/>
                <a:ea typeface="楷体_GB2312" pitchFamily="49" charset="-122"/>
              </a:rPr>
              <a:t>让</a:t>
            </a:r>
            <a:r>
              <a:rPr lang="en-US" altLang="zh-CN" sz="2400">
                <a:latin typeface="楷体_GB2312" pitchFamily="49" charset="-122"/>
                <a:ea typeface="楷体_GB2312" pitchFamily="49" charset="-122"/>
              </a:rPr>
              <a:t>GCC</a:t>
            </a:r>
            <a:r>
              <a:rPr lang="zh-CN" altLang="en-US" sz="2400">
                <a:latin typeface="楷体_GB2312" pitchFamily="49" charset="-122"/>
                <a:ea typeface="楷体_GB2312" pitchFamily="49" charset="-122"/>
              </a:rPr>
              <a:t>自己选择一个寄存器去存储变量</a:t>
            </a:r>
            <a:r>
              <a:rPr lang="en-US" altLang="zh-CN" sz="2400">
                <a:latin typeface="楷体_GB2312" pitchFamily="49" charset="-122"/>
                <a:ea typeface="楷体_GB2312" pitchFamily="49" charset="-122"/>
              </a:rPr>
              <a:t>a</a:t>
            </a:r>
            <a:r>
              <a:rPr lang="zh-CN" altLang="en-US" sz="2400">
                <a:latin typeface="楷体_GB2312" pitchFamily="49" charset="-122"/>
                <a:ea typeface="楷体_GB2312" pitchFamily="49" charset="-122"/>
              </a:rPr>
              <a:t>。</a:t>
            </a:r>
            <a:endParaRPr lang="en-US" altLang="zh-CN" sz="2400">
              <a:latin typeface="楷体_GB2312" pitchFamily="49" charset="-122"/>
              <a:ea typeface="楷体_GB2312" pitchFamily="49" charset="-122"/>
            </a:endParaRPr>
          </a:p>
          <a:p>
            <a:r>
              <a:rPr lang="zh-CN" altLang="en-US" sz="2400">
                <a:latin typeface="楷体_GB2312" pitchFamily="49" charset="-122"/>
                <a:ea typeface="楷体_GB2312" pitchFamily="49" charset="-122"/>
              </a:rPr>
              <a:t>输出部分的</a:t>
            </a:r>
            <a:r>
              <a:rPr lang="en-US" altLang="zh-CN" sz="2400">
                <a:latin typeface="楷体_GB2312" pitchFamily="49" charset="-122"/>
                <a:ea typeface="楷体_GB2312" pitchFamily="49" charset="-122"/>
              </a:rPr>
              <a:t>constraint</a:t>
            </a:r>
            <a:r>
              <a:rPr lang="zh-CN" altLang="en-US" sz="2400">
                <a:latin typeface="楷体_GB2312" pitchFamily="49" charset="-122"/>
                <a:ea typeface="楷体_GB2312" pitchFamily="49" charset="-122"/>
              </a:rPr>
              <a:t>前必须要有个 ”</a:t>
            </a:r>
            <a:r>
              <a:rPr lang="en-US" altLang="zh-CN" sz="2400">
                <a:latin typeface="楷体_GB2312" pitchFamily="49" charset="-122"/>
                <a:ea typeface="楷体_GB2312" pitchFamily="49" charset="-122"/>
              </a:rPr>
              <a:t>=”</a:t>
            </a:r>
            <a:r>
              <a:rPr lang="zh-CN" altLang="en-US" sz="2400">
                <a:latin typeface="楷体_GB2312" pitchFamily="49" charset="-122"/>
                <a:ea typeface="楷体_GB2312" pitchFamily="49" charset="-122"/>
              </a:rPr>
              <a:t>，用来说明是一个这是一个输出操作数，并且只写。 </a:t>
            </a:r>
            <a:br>
              <a:rPr lang="zh-CN" altLang="en-US" sz="2400">
                <a:latin typeface="楷体_GB2312" pitchFamily="49" charset="-122"/>
                <a:ea typeface="楷体_GB2312" pitchFamily="49" charset="-122"/>
              </a:rPr>
            </a:br>
            <a:r>
              <a:rPr lang="en-US" altLang="zh-CN" sz="2400">
                <a:latin typeface="楷体_GB2312" pitchFamily="49" charset="-122"/>
                <a:ea typeface="楷体_GB2312" pitchFamily="49" charset="-122"/>
              </a:rPr>
              <a:t>3) </a:t>
            </a:r>
            <a:r>
              <a:rPr lang="zh-CN" altLang="en-US" sz="2400">
                <a:latin typeface="楷体_GB2312" pitchFamily="49" charset="-122"/>
                <a:ea typeface="楷体_GB2312" pitchFamily="49" charset="-122"/>
              </a:rPr>
              <a:t>有的寄存器名字前面写了两个</a:t>
            </a:r>
            <a:r>
              <a:rPr lang="en-US" altLang="zh-CN" sz="2400">
                <a:latin typeface="楷体_GB2312" pitchFamily="49" charset="-122"/>
                <a:ea typeface="楷体_GB2312" pitchFamily="49" charset="-122"/>
              </a:rPr>
              <a:t>%</a:t>
            </a:r>
            <a:r>
              <a:rPr lang="zh-CN" altLang="en-US" sz="2400">
                <a:latin typeface="楷体_GB2312" pitchFamily="49" charset="-122"/>
                <a:ea typeface="楷体_GB2312" pitchFamily="49" charset="-122"/>
              </a:rPr>
              <a:t>，这是用来帮助</a:t>
            </a:r>
            <a:r>
              <a:rPr lang="en-US" altLang="zh-CN" sz="2400">
                <a:latin typeface="楷体_GB2312" pitchFamily="49" charset="-122"/>
                <a:ea typeface="楷体_GB2312" pitchFamily="49" charset="-122"/>
              </a:rPr>
              <a:t>GCC</a:t>
            </a:r>
            <a:r>
              <a:rPr lang="zh-CN" altLang="en-US" sz="2400">
                <a:latin typeface="楷体_GB2312" pitchFamily="49" charset="-122"/>
                <a:ea typeface="楷体_GB2312" pitchFamily="49" charset="-122"/>
              </a:rPr>
              <a:t>区分操作数和寄存器。操作数只需要一个</a:t>
            </a:r>
            <a:r>
              <a:rPr lang="en-US" altLang="zh-CN" sz="2400">
                <a:latin typeface="楷体_GB2312" pitchFamily="49" charset="-122"/>
                <a:ea typeface="楷体_GB2312" pitchFamily="49" charset="-122"/>
              </a:rPr>
              <a:t>%</a:t>
            </a:r>
            <a:r>
              <a:rPr lang="zh-CN" altLang="en-US" sz="2400">
                <a:latin typeface="楷体_GB2312" pitchFamily="49" charset="-122"/>
                <a:ea typeface="楷体_GB2312" pitchFamily="49" charset="-122"/>
              </a:rPr>
              <a:t>前缀。 </a:t>
            </a:r>
            <a:br>
              <a:rPr lang="zh-CN" altLang="en-US" sz="2400">
                <a:latin typeface="楷体_GB2312" pitchFamily="49" charset="-122"/>
                <a:ea typeface="楷体_GB2312" pitchFamily="49" charset="-122"/>
              </a:rPr>
            </a:br>
            <a:r>
              <a:rPr lang="en-US" altLang="zh-CN" sz="2400">
                <a:latin typeface="楷体_GB2312" pitchFamily="49" charset="-122"/>
                <a:ea typeface="楷体_GB2312" pitchFamily="49" charset="-122"/>
              </a:rPr>
              <a:t>4) </a:t>
            </a:r>
            <a:r>
              <a:rPr lang="zh-CN" altLang="en-US" sz="2400">
                <a:latin typeface="楷体_GB2312" pitchFamily="49" charset="-122"/>
                <a:ea typeface="楷体_GB2312" pitchFamily="49" charset="-122"/>
              </a:rPr>
              <a:t>在第三个冒号后面的</a:t>
            </a:r>
            <a:r>
              <a:rPr lang="en-US" altLang="zh-CN" sz="2400">
                <a:latin typeface="楷体_GB2312" pitchFamily="49" charset="-122"/>
                <a:ea typeface="楷体_GB2312" pitchFamily="49" charset="-122"/>
              </a:rPr>
              <a:t>clobbered register</a:t>
            </a:r>
            <a:r>
              <a:rPr lang="zh-CN" altLang="en-US" sz="2400">
                <a:latin typeface="楷体_GB2312" pitchFamily="49" charset="-122"/>
                <a:ea typeface="楷体_GB2312" pitchFamily="49" charset="-122"/>
              </a:rPr>
              <a:t>部分， </a:t>
            </a:r>
            <a:r>
              <a:rPr lang="en-US" altLang="zh-CN" sz="2400">
                <a:latin typeface="楷体_GB2312" pitchFamily="49" charset="-122"/>
                <a:ea typeface="楷体_GB2312" pitchFamily="49" charset="-122"/>
              </a:rPr>
              <a:t>%eax </a:t>
            </a:r>
            <a:r>
              <a:rPr lang="zh-CN" altLang="en-US" sz="2400">
                <a:latin typeface="楷体_GB2312" pitchFamily="49" charset="-122"/>
                <a:ea typeface="楷体_GB2312" pitchFamily="49" charset="-122"/>
              </a:rPr>
              <a:t>说明在内联汇编代码中将要改变</a:t>
            </a:r>
            <a:r>
              <a:rPr lang="en-US" altLang="zh-CN" sz="2400">
                <a:latin typeface="楷体_GB2312" pitchFamily="49" charset="-122"/>
                <a:ea typeface="楷体_GB2312" pitchFamily="49" charset="-122"/>
              </a:rPr>
              <a:t>eax</a:t>
            </a:r>
            <a:r>
              <a:rPr lang="zh-CN" altLang="en-US" sz="2400">
                <a:latin typeface="楷体_GB2312" pitchFamily="49" charset="-122"/>
                <a:ea typeface="楷体_GB2312" pitchFamily="49" charset="-122"/>
              </a:rPr>
              <a:t>中的内容，</a:t>
            </a:r>
            <a:r>
              <a:rPr lang="en-US" altLang="zh-CN" sz="2400">
                <a:latin typeface="楷体_GB2312" pitchFamily="49" charset="-122"/>
                <a:ea typeface="楷体_GB2312" pitchFamily="49" charset="-122"/>
              </a:rPr>
              <a:t>GCC</a:t>
            </a:r>
            <a:r>
              <a:rPr lang="zh-CN" altLang="en-US" sz="2400">
                <a:latin typeface="楷体_GB2312" pitchFamily="49" charset="-122"/>
                <a:ea typeface="楷体_GB2312" pitchFamily="49" charset="-122"/>
              </a:rPr>
              <a:t>不要用他存储其他值。 </a:t>
            </a:r>
            <a:br>
              <a:rPr lang="zh-CN" altLang="en-US" sz="2400">
                <a:latin typeface="楷体_GB2312" pitchFamily="49" charset="-122"/>
                <a:ea typeface="楷体_GB2312" pitchFamily="49" charset="-122"/>
              </a:rPr>
            </a:br>
            <a:r>
              <a:rPr lang="zh-CN" altLang="en-US" sz="2400">
                <a:latin typeface="楷体_GB2312" pitchFamily="49" charset="-122"/>
                <a:ea typeface="楷体_GB2312" pitchFamily="49" charset="-122"/>
              </a:rPr>
              <a:t>当这段代码执行结束后，”</a:t>
            </a:r>
            <a:r>
              <a:rPr lang="en-US" altLang="zh-CN" sz="2400">
                <a:latin typeface="楷体_GB2312" pitchFamily="49" charset="-122"/>
                <a:ea typeface="楷体_GB2312" pitchFamily="49" charset="-122"/>
              </a:rPr>
              <a:t>b”</a:t>
            </a:r>
            <a:r>
              <a:rPr lang="zh-CN" altLang="en-US" sz="2400">
                <a:latin typeface="楷体_GB2312" pitchFamily="49" charset="-122"/>
                <a:ea typeface="楷体_GB2312" pitchFamily="49" charset="-122"/>
              </a:rPr>
              <a:t>的值将会被改掉，因为它被指定作为输出操作数。换句话说，在“</a:t>
            </a:r>
            <a:r>
              <a:rPr lang="en-US" altLang="zh-CN" sz="2400">
                <a:latin typeface="楷体_GB2312" pitchFamily="49" charset="-122"/>
                <a:ea typeface="楷体_GB2312" pitchFamily="49" charset="-122"/>
              </a:rPr>
              <a:t>asm”</a:t>
            </a:r>
            <a:r>
              <a:rPr lang="zh-CN" altLang="en-US" sz="2400">
                <a:latin typeface="楷体_GB2312" pitchFamily="49" charset="-122"/>
                <a:ea typeface="楷体_GB2312" pitchFamily="49" charset="-122"/>
              </a:rPr>
              <a:t>内部对</a:t>
            </a:r>
            <a:r>
              <a:rPr lang="en-US" altLang="zh-CN" sz="2400">
                <a:latin typeface="楷体_GB2312" pitchFamily="49" charset="-122"/>
                <a:ea typeface="楷体_GB2312" pitchFamily="49" charset="-122"/>
              </a:rPr>
              <a:t>b</a:t>
            </a:r>
            <a:r>
              <a:rPr lang="zh-CN" altLang="en-US" sz="2400">
                <a:latin typeface="楷体_GB2312" pitchFamily="49" charset="-122"/>
                <a:ea typeface="楷体_GB2312" pitchFamily="49" charset="-122"/>
              </a:rPr>
              <a:t>的改动将影响到</a:t>
            </a:r>
            <a:r>
              <a:rPr lang="en-US" altLang="zh-CN" sz="2400">
                <a:latin typeface="楷体_GB2312" pitchFamily="49" charset="-122"/>
                <a:ea typeface="楷体_GB2312" pitchFamily="49" charset="-122"/>
              </a:rPr>
              <a:t>asm</a:t>
            </a:r>
            <a:r>
              <a:rPr lang="zh-CN" altLang="en-US" sz="2400">
                <a:latin typeface="楷体_GB2312" pitchFamily="49" charset="-122"/>
                <a:ea typeface="楷体_GB2312" pitchFamily="49" charset="-122"/>
              </a:rPr>
              <a:t>外面</a:t>
            </a:r>
            <a:r>
              <a:rPr lang="en-US" altLang="zh-CN" sz="2400">
                <a:latin typeface="楷体_GB2312" pitchFamily="49" charset="-122"/>
                <a:ea typeface="楷体_GB2312" pitchFamily="49" charset="-122"/>
              </a:rPr>
              <a:t>.</a:t>
            </a:r>
            <a:endParaRPr lang="zh-CN" altLang="en-US" sz="2400">
              <a:latin typeface="楷体_GB2312" pitchFamily="49" charset="-122"/>
              <a:ea typeface="楷体_GB2312" pitchFamily="49" charset="-122"/>
            </a:endParaRPr>
          </a:p>
        </p:txBody>
      </p:sp>
      <p:sp>
        <p:nvSpPr>
          <p:cNvPr id="4" name="Rectangle 2"/>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defRPr/>
            </a:pPr>
            <a:r>
              <a:rPr lang="en-US" altLang="zh-CN" kern="0" dirty="0">
                <a:latin typeface="楷体_GB2312" pitchFamily="49" charset="-122"/>
                <a:ea typeface="楷体_GB2312" pitchFamily="49" charset="-122"/>
              </a:rPr>
              <a:t>9.Linux</a:t>
            </a:r>
            <a:r>
              <a:rPr lang="zh-CN" altLang="en-US" kern="0" dirty="0">
                <a:latin typeface="楷体_GB2312" pitchFamily="49" charset="-122"/>
                <a:ea typeface="楷体_GB2312" pitchFamily="49" charset="-122"/>
              </a:rPr>
              <a:t>中的</a:t>
            </a:r>
            <a:r>
              <a:rPr lang="en-US" altLang="zh-CN" kern="0" dirty="0">
                <a:latin typeface="楷体_GB2312" pitchFamily="49" charset="-122"/>
                <a:ea typeface="楷体_GB2312" pitchFamily="49" charset="-122"/>
              </a:rPr>
              <a:t>C</a:t>
            </a:r>
            <a:r>
              <a:rPr lang="zh-CN" altLang="en-US" kern="0" dirty="0">
                <a:latin typeface="楷体_GB2312" pitchFamily="49" charset="-122"/>
                <a:ea typeface="楷体_GB2312" pitchFamily="49" charset="-122"/>
              </a:rPr>
              <a:t>语言与汇编语言</a:t>
            </a:r>
          </a:p>
        </p:txBody>
      </p:sp>
    </p:spTree>
    <p:extLst>
      <p:ext uri="{BB962C8B-B14F-4D97-AF65-F5344CB8AC3E}">
        <p14:creationId xmlns:p14="http://schemas.microsoft.com/office/powerpoint/2010/main" val="12541445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zh-CN" altLang="en-US">
                <a:latin typeface="楷体_GB2312" pitchFamily="49" charset="-122"/>
                <a:ea typeface="楷体_GB2312" pitchFamily="49" charset="-122"/>
              </a:rPr>
              <a:t>本章作业</a:t>
            </a:r>
            <a:endParaRPr lang="en-US" altLang="zh-CN">
              <a:latin typeface="楷体_GB2312" pitchFamily="49" charset="-122"/>
              <a:ea typeface="楷体_GB2312" pitchFamily="49" charset="-122"/>
            </a:endParaRPr>
          </a:p>
        </p:txBody>
      </p:sp>
      <p:sp>
        <p:nvSpPr>
          <p:cNvPr id="35843" name="Rectangle 3"/>
          <p:cNvSpPr>
            <a:spLocks noGrp="1" noChangeArrowheads="1"/>
          </p:cNvSpPr>
          <p:nvPr>
            <p:ph type="body" idx="1"/>
          </p:nvPr>
        </p:nvSpPr>
        <p:spPr/>
        <p:txBody>
          <a:bodyPr/>
          <a:lstStyle/>
          <a:p>
            <a:pPr eaLnBrk="1" hangingPunct="1"/>
            <a:r>
              <a:rPr lang="zh-CN" altLang="en-US" dirty="0">
                <a:latin typeface="楷体_GB2312" pitchFamily="49" charset="-122"/>
                <a:ea typeface="楷体_GB2312" pitchFamily="49" charset="-122"/>
              </a:rPr>
              <a:t>请通过进一步查阅资料了解</a:t>
            </a:r>
            <a:r>
              <a:rPr lang="en-US" altLang="zh-CN" dirty="0">
                <a:latin typeface="楷体_GB2312" pitchFamily="49" charset="-122"/>
                <a:ea typeface="楷体_GB2312" pitchFamily="49" charset="-122"/>
              </a:rPr>
              <a:t>Linux</a:t>
            </a:r>
            <a:r>
              <a:rPr lang="zh-CN" altLang="en-US" dirty="0">
                <a:latin typeface="楷体_GB2312" pitchFamily="49" charset="-122"/>
                <a:ea typeface="楷体_GB2312" pitchFamily="49" charset="-122"/>
              </a:rPr>
              <a:t>的发展过程。</a:t>
            </a:r>
            <a:endParaRPr lang="en-US" altLang="zh-CN" dirty="0">
              <a:latin typeface="楷体_GB2312" pitchFamily="49" charset="-122"/>
              <a:ea typeface="楷体_GB2312" pitchFamily="49" charset="-122"/>
            </a:endParaRPr>
          </a:p>
          <a:p>
            <a:pPr eaLnBrk="1" hangingPunct="1"/>
            <a:r>
              <a:rPr lang="zh-CN" altLang="en-US" dirty="0">
                <a:latin typeface="楷体_GB2312" pitchFamily="49" charset="-122"/>
                <a:ea typeface="楷体_GB2312" pitchFamily="49" charset="-122"/>
              </a:rPr>
              <a:t>解释下列名词：自由软件，</a:t>
            </a:r>
            <a:r>
              <a:rPr lang="en-US" altLang="zh-CN" dirty="0">
                <a:latin typeface="楷体_GB2312" pitchFamily="49" charset="-122"/>
                <a:ea typeface="楷体_GB2312" pitchFamily="49" charset="-122"/>
              </a:rPr>
              <a:t>GPL</a:t>
            </a:r>
            <a:r>
              <a:rPr lang="zh-CN" altLang="en-US" dirty="0">
                <a:latin typeface="楷体_GB2312" pitchFamily="49" charset="-122"/>
                <a:ea typeface="楷体_GB2312" pitchFamily="49" charset="-122"/>
              </a:rPr>
              <a:t>，</a:t>
            </a:r>
            <a:r>
              <a:rPr lang="en-US" altLang="zh-CN" dirty="0">
                <a:latin typeface="楷体_GB2312" pitchFamily="49" charset="-122"/>
                <a:ea typeface="楷体_GB2312" pitchFamily="49" charset="-122"/>
              </a:rPr>
              <a:t>POSIX</a:t>
            </a:r>
            <a:r>
              <a:rPr lang="zh-CN" altLang="en-US" dirty="0">
                <a:latin typeface="楷体_GB2312" pitchFamily="49" charset="-122"/>
                <a:ea typeface="楷体_GB2312" pitchFamily="49" charset="-122"/>
              </a:rPr>
              <a:t>，</a:t>
            </a:r>
            <a:r>
              <a:rPr lang="en-US" altLang="zh-CN" dirty="0">
                <a:latin typeface="楷体_GB2312" pitchFamily="49" charset="-122"/>
                <a:ea typeface="楷体_GB2312" pitchFamily="49" charset="-122"/>
              </a:rPr>
              <a:t>GNU</a:t>
            </a:r>
            <a:endParaRPr lang="zh-CN" altLang="en-US" dirty="0">
              <a:latin typeface="楷体_GB2312" pitchFamily="49" charset="-122"/>
              <a:ea typeface="楷体_GB2312" pitchFamily="49" charset="-122"/>
            </a:endParaRPr>
          </a:p>
          <a:p>
            <a:pPr eaLnBrk="1" hangingPunct="1"/>
            <a:r>
              <a:rPr lang="en-US" altLang="zh-CN" dirty="0">
                <a:latin typeface="楷体_GB2312" pitchFamily="49" charset="-122"/>
                <a:ea typeface="楷体_GB2312" pitchFamily="49" charset="-122"/>
              </a:rPr>
              <a:t>Linux</a:t>
            </a:r>
            <a:r>
              <a:rPr lang="zh-CN" altLang="en-US" dirty="0">
                <a:latin typeface="楷体_GB2312" pitchFamily="49" charset="-122"/>
                <a:ea typeface="楷体_GB2312" pitchFamily="49" charset="-122"/>
              </a:rPr>
              <a:t>内核版本中包含哪些信息？</a:t>
            </a:r>
          </a:p>
          <a:p>
            <a:pPr eaLnBrk="1" hangingPunct="1"/>
            <a:r>
              <a:rPr lang="en-US" altLang="zh-CN" dirty="0">
                <a:latin typeface="楷体_GB2312" pitchFamily="49" charset="-122"/>
                <a:ea typeface="楷体_GB2312" pitchFamily="49" charset="-122"/>
              </a:rPr>
              <a:t>Linux</a:t>
            </a:r>
            <a:r>
              <a:rPr lang="zh-CN" altLang="en-US" dirty="0">
                <a:latin typeface="楷体_GB2312" pitchFamily="49" charset="-122"/>
                <a:ea typeface="楷体_GB2312" pitchFamily="49" charset="-122"/>
              </a:rPr>
              <a:t>内核的基本组成是什么？各模块之间有什么关系？</a:t>
            </a:r>
          </a:p>
          <a:p>
            <a:pPr eaLnBrk="1" hangingPunct="1"/>
            <a:r>
              <a:rPr lang="en-US" altLang="zh-CN" dirty="0">
                <a:latin typeface="楷体_GB2312" pitchFamily="49" charset="-122"/>
                <a:ea typeface="楷体_GB2312" pitchFamily="49" charset="-122"/>
              </a:rPr>
              <a:t>Linux</a:t>
            </a:r>
            <a:r>
              <a:rPr lang="zh-CN" altLang="en-US" dirty="0">
                <a:latin typeface="楷体_GB2312" pitchFamily="49" charset="-122"/>
                <a:ea typeface="楷体_GB2312" pitchFamily="49" charset="-122"/>
              </a:rPr>
              <a:t>内核目录结构如何？各目录主要用途有哪些？</a:t>
            </a:r>
          </a:p>
          <a:p>
            <a:pPr eaLnBrk="1" hangingPunct="1"/>
            <a:r>
              <a:rPr lang="zh-CN" altLang="en-US" dirty="0">
                <a:latin typeface="楷体_GB2312" pitchFamily="49" charset="-122"/>
                <a:ea typeface="楷体_GB2312" pitchFamily="49" charset="-122"/>
              </a:rPr>
              <a:t>什么是</a:t>
            </a:r>
            <a:r>
              <a:rPr lang="en-US" altLang="zh-CN" dirty="0">
                <a:latin typeface="楷体_GB2312" pitchFamily="49" charset="-122"/>
                <a:ea typeface="楷体_GB2312" pitchFamily="49" charset="-122"/>
              </a:rPr>
              <a:t>Linux</a:t>
            </a:r>
            <a:r>
              <a:rPr lang="zh-CN" altLang="en-US" dirty="0">
                <a:latin typeface="楷体_GB2312" pitchFamily="49" charset="-122"/>
                <a:ea typeface="楷体_GB2312" pitchFamily="49" charset="-122"/>
              </a:rPr>
              <a:t>的发行版本？写出你知道的发行版本</a:t>
            </a:r>
            <a:endParaRPr lang="en-US" altLang="zh-CN" dirty="0">
              <a:latin typeface="楷体_GB2312" pitchFamily="49" charset="-122"/>
              <a:ea typeface="楷体_GB2312" pitchFamily="49" charset="-122"/>
            </a:endParaRPr>
          </a:p>
          <a:p>
            <a:pPr eaLnBrk="1" hangingPunct="1"/>
            <a:r>
              <a:rPr lang="en-US" altLang="zh-CN" dirty="0">
                <a:latin typeface="楷体_GB2312" pitchFamily="49" charset="-122"/>
                <a:ea typeface="楷体_GB2312" pitchFamily="49" charset="-122"/>
              </a:rPr>
              <a:t>Linux</a:t>
            </a:r>
            <a:r>
              <a:rPr lang="zh-CN" altLang="en-US" dirty="0">
                <a:latin typeface="楷体_GB2312" pitchFamily="49" charset="-122"/>
                <a:ea typeface="楷体_GB2312" pitchFamily="49" charset="-122"/>
              </a:rPr>
              <a:t>系统有哪些特点？</a:t>
            </a:r>
          </a:p>
          <a:p>
            <a:pPr eaLnBrk="1" hangingPunct="1"/>
            <a:r>
              <a:rPr lang="zh-CN" altLang="en-US" dirty="0">
                <a:latin typeface="楷体_GB2312" pitchFamily="49" charset="-122"/>
                <a:ea typeface="楷体_GB2312" pitchFamily="49" charset="-122"/>
              </a:rPr>
              <a:t>解释</a:t>
            </a:r>
            <a:r>
              <a:rPr lang="en-US" altLang="zh-CN" dirty="0">
                <a:latin typeface="楷体_GB2312" pitchFamily="49" charset="-122"/>
                <a:ea typeface="楷体_GB2312" pitchFamily="49" charset="-122"/>
              </a:rPr>
              <a:t>Linux 2.4.18.10</a:t>
            </a:r>
            <a:r>
              <a:rPr lang="zh-CN" altLang="en-US">
                <a:latin typeface="楷体_GB2312" pitchFamily="49" charset="-122"/>
                <a:ea typeface="楷体_GB2312" pitchFamily="49" charset="-122"/>
              </a:rPr>
              <a:t>内核版本中</a:t>
            </a:r>
            <a:r>
              <a:rPr lang="zh-CN" altLang="en-US" dirty="0">
                <a:latin typeface="楷体_GB2312" pitchFamily="49" charset="-122"/>
                <a:ea typeface="楷体_GB2312" pitchFamily="49" charset="-122"/>
              </a:rPr>
              <a:t>各数字的含义。</a:t>
            </a:r>
            <a:endParaRPr lang="en-US" altLang="zh-CN" dirty="0">
              <a:latin typeface="楷体_GB2312" pitchFamily="49" charset="-122"/>
              <a:ea typeface="楷体_GB2312" pitchFamily="49" charset="-122"/>
            </a:endParaRPr>
          </a:p>
          <a:p>
            <a:pPr eaLnBrk="1" hangingPunct="1"/>
            <a:endParaRPr lang="zh-CN" altLang="en-US" dirty="0">
              <a:latin typeface="楷体_GB2312" pitchFamily="49" charset="-122"/>
              <a:ea typeface="楷体_GB2312" pitchFamily="49" charset="-122"/>
            </a:endParaRPr>
          </a:p>
        </p:txBody>
      </p:sp>
    </p:spTree>
    <p:extLst>
      <p:ext uri="{BB962C8B-B14F-4D97-AF65-F5344CB8AC3E}">
        <p14:creationId xmlns:p14="http://schemas.microsoft.com/office/powerpoint/2010/main" val="74693852"/>
      </p:ext>
    </p:extLst>
  </p:cSld>
  <p:clrMapOvr>
    <a:masterClrMapping/>
  </p:clrMapOvr>
</p:sld>
</file>

<file path=ppt/theme/theme1.xml><?xml version="1.0" encoding="utf-8"?>
<a:theme xmlns:a="http://schemas.openxmlformats.org/drawingml/2006/main" name="041tgp_figure_blue">
  <a:themeElements>
    <a:clrScheme name="041tgp_figure_blue 3">
      <a:dk1>
        <a:srgbClr val="0F1A81"/>
      </a:dk1>
      <a:lt1>
        <a:srgbClr val="FFFFFF"/>
      </a:lt1>
      <a:dk2>
        <a:srgbClr val="175B5B"/>
      </a:dk2>
      <a:lt2>
        <a:srgbClr val="DDDDDD"/>
      </a:lt2>
      <a:accent1>
        <a:srgbClr val="A4C226"/>
      </a:accent1>
      <a:accent2>
        <a:srgbClr val="6CA5D8"/>
      </a:accent2>
      <a:accent3>
        <a:srgbClr val="FFFFFF"/>
      </a:accent3>
      <a:accent4>
        <a:srgbClr val="0B146D"/>
      </a:accent4>
      <a:accent5>
        <a:srgbClr val="CFDDAC"/>
      </a:accent5>
      <a:accent6>
        <a:srgbClr val="6195C4"/>
      </a:accent6>
      <a:hlink>
        <a:srgbClr val="5D4BC7"/>
      </a:hlink>
      <a:folHlink>
        <a:srgbClr val="878FA5"/>
      </a:folHlink>
    </a:clrScheme>
    <a:fontScheme name="041tgp_figure_blue">
      <a:majorFont>
        <a:latin typeface="黑体"/>
        <a:ea typeface="黑体"/>
        <a:cs typeface=""/>
      </a:majorFont>
      <a:minorFont>
        <a:latin typeface="新宋体"/>
        <a:ea typeface="新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imes New Roman" pitchFamily="18" charset="0"/>
            <a:ea typeface="楷体_GB2312" pitchFamily="49" charset="-122"/>
          </a:defRPr>
        </a:defPPr>
      </a:lstStyle>
    </a:lnDef>
  </a:objectDefaults>
  <a:extraClrSchemeLst>
    <a:extraClrScheme>
      <a:clrScheme name="041tgp_figure_blue 1">
        <a:dk1>
          <a:srgbClr val="000000"/>
        </a:dk1>
        <a:lt1>
          <a:srgbClr val="FFFFFF"/>
        </a:lt1>
        <a:dk2>
          <a:srgbClr val="000066"/>
        </a:dk2>
        <a:lt2>
          <a:srgbClr val="DDDDDD"/>
        </a:lt2>
        <a:accent1>
          <a:srgbClr val="E47F6E"/>
        </a:accent1>
        <a:accent2>
          <a:srgbClr val="0099CC"/>
        </a:accent2>
        <a:accent3>
          <a:srgbClr val="FFFFFF"/>
        </a:accent3>
        <a:accent4>
          <a:srgbClr val="000000"/>
        </a:accent4>
        <a:accent5>
          <a:srgbClr val="EFC0BA"/>
        </a:accent5>
        <a:accent6>
          <a:srgbClr val="008AB9"/>
        </a:accent6>
        <a:hlink>
          <a:srgbClr val="7648EA"/>
        </a:hlink>
        <a:folHlink>
          <a:srgbClr val="DFAE6D"/>
        </a:folHlink>
      </a:clrScheme>
      <a:clrMap bg1="lt1" tx1="dk1" bg2="lt2" tx2="dk2" accent1="accent1" accent2="accent2" accent3="accent3" accent4="accent4" accent5="accent5" accent6="accent6" hlink="hlink" folHlink="folHlink"/>
    </a:extraClrScheme>
    <a:extraClrScheme>
      <a:clrScheme name="041tgp_figure_blue 2">
        <a:dk1>
          <a:srgbClr val="333333"/>
        </a:dk1>
        <a:lt1>
          <a:srgbClr val="FFFFFF"/>
        </a:lt1>
        <a:dk2>
          <a:srgbClr val="003366"/>
        </a:dk2>
        <a:lt2>
          <a:srgbClr val="B2B2B2"/>
        </a:lt2>
        <a:accent1>
          <a:srgbClr val="4CA491"/>
        </a:accent1>
        <a:accent2>
          <a:srgbClr val="E2AF52"/>
        </a:accent2>
        <a:accent3>
          <a:srgbClr val="FFFFFF"/>
        </a:accent3>
        <a:accent4>
          <a:srgbClr val="2A2A2A"/>
        </a:accent4>
        <a:accent5>
          <a:srgbClr val="B2CFC7"/>
        </a:accent5>
        <a:accent6>
          <a:srgbClr val="CD9E49"/>
        </a:accent6>
        <a:hlink>
          <a:srgbClr val="576CD5"/>
        </a:hlink>
        <a:folHlink>
          <a:srgbClr val="D87252"/>
        </a:folHlink>
      </a:clrScheme>
      <a:clrMap bg1="lt1" tx1="dk1" bg2="lt2" tx2="dk2" accent1="accent1" accent2="accent2" accent3="accent3" accent4="accent4" accent5="accent5" accent6="accent6" hlink="hlink" folHlink="folHlink"/>
    </a:extraClrScheme>
    <a:extraClrScheme>
      <a:clrScheme name="041tgp_figure_blue 3">
        <a:dk1>
          <a:srgbClr val="0F1A81"/>
        </a:dk1>
        <a:lt1>
          <a:srgbClr val="FFFFFF"/>
        </a:lt1>
        <a:dk2>
          <a:srgbClr val="175B5B"/>
        </a:dk2>
        <a:lt2>
          <a:srgbClr val="DDDDDD"/>
        </a:lt2>
        <a:accent1>
          <a:srgbClr val="A4C226"/>
        </a:accent1>
        <a:accent2>
          <a:srgbClr val="6CA5D8"/>
        </a:accent2>
        <a:accent3>
          <a:srgbClr val="FFFFFF"/>
        </a:accent3>
        <a:accent4>
          <a:srgbClr val="0B146D"/>
        </a:accent4>
        <a:accent5>
          <a:srgbClr val="CFDDAC"/>
        </a:accent5>
        <a:accent6>
          <a:srgbClr val="6195C4"/>
        </a:accent6>
        <a:hlink>
          <a:srgbClr val="5D4BC7"/>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1746</TotalTime>
  <Words>6689</Words>
  <Application>Microsoft Office PowerPoint</Application>
  <PresentationFormat>全屏显示(4:3)</PresentationFormat>
  <Paragraphs>538</Paragraphs>
  <Slides>58</Slides>
  <Notes>26</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58</vt:i4>
      </vt:variant>
    </vt:vector>
  </HeadingPairs>
  <TitlesOfParts>
    <vt:vector size="71" baseType="lpstr">
      <vt:lpstr>Gulim</vt:lpstr>
      <vt:lpstr>Open Sans Light</vt:lpstr>
      <vt:lpstr>黑体</vt:lpstr>
      <vt:lpstr>华文中宋</vt:lpstr>
      <vt:lpstr>楷体_GB2312</vt:lpstr>
      <vt:lpstr>宋体</vt:lpstr>
      <vt:lpstr>新宋体</vt:lpstr>
      <vt:lpstr>Arial</vt:lpstr>
      <vt:lpstr>Times New Roman</vt:lpstr>
      <vt:lpstr>Verdana</vt:lpstr>
      <vt:lpstr>Wingdings</vt:lpstr>
      <vt:lpstr>041tgp_figure_blue</vt:lpstr>
      <vt:lpstr>Visio</vt:lpstr>
      <vt:lpstr>第1章 Linux 操作系统概述</vt:lpstr>
      <vt:lpstr>第1章 Linux 操作系统概述</vt:lpstr>
      <vt:lpstr>1、 Linux的起源与发展</vt:lpstr>
      <vt:lpstr>Linux之父-Linus Tovalds </vt:lpstr>
      <vt:lpstr>Linux内核编年史</vt:lpstr>
      <vt:lpstr>2、自由软件与GPL</vt:lpstr>
      <vt:lpstr>PowerPoint 演示文稿</vt:lpstr>
      <vt:lpstr>PowerPoint 演示文稿</vt:lpstr>
      <vt:lpstr>PowerPoint 演示文稿</vt:lpstr>
      <vt:lpstr>PowerPoint 演示文稿</vt:lpstr>
      <vt:lpstr>PowerPoint 演示文稿</vt:lpstr>
      <vt:lpstr>3、Linux系统的主要特点</vt:lpstr>
      <vt:lpstr>PowerPoint 演示文稿</vt:lpstr>
      <vt:lpstr>PowerPoint 演示文稿</vt:lpstr>
      <vt:lpstr>3、Linux系统的主要特点</vt:lpstr>
      <vt:lpstr>3、Linux系统的主要特点</vt:lpstr>
      <vt:lpstr>4. Linux 系统及内核的组成</vt:lpstr>
      <vt:lpstr>4. Linux 系统及内核的组成</vt:lpstr>
      <vt:lpstr>PowerPoint 演示文稿</vt:lpstr>
      <vt:lpstr>PowerPoint 演示文稿</vt:lpstr>
      <vt:lpstr>Linux内核各个子系统之间的依赖关系</vt:lpstr>
      <vt:lpstr>Linux内核的特征如下：</vt:lpstr>
      <vt:lpstr>PowerPoint 演示文稿</vt:lpstr>
      <vt:lpstr>PowerPoint 演示文稿</vt:lpstr>
      <vt:lpstr>5、Linux版本认识</vt:lpstr>
      <vt:lpstr>PowerPoint 演示文稿</vt:lpstr>
      <vt:lpstr>PowerPoint 演示文稿</vt:lpstr>
      <vt:lpstr>PowerPoint 演示文稿</vt:lpstr>
      <vt:lpstr>5、Linux版本认识</vt:lpstr>
      <vt:lpstr>5、Linux版本认识</vt:lpstr>
      <vt:lpstr>发行版基本组成</vt:lpstr>
      <vt:lpstr>  6、Linux内核源代码的组织</vt:lpstr>
      <vt:lpstr>  6、 Linux内核源代码的组织</vt:lpstr>
      <vt:lpstr>6、Linux内核源代码的组织</vt:lpstr>
      <vt:lpstr>6、Linux内核源代码的组织</vt:lpstr>
      <vt:lpstr>Linux内核对SMP的支持</vt:lpstr>
      <vt:lpstr>考虑arch为i386</vt:lpstr>
      <vt:lpstr>i386的启动代码文件</vt:lpstr>
      <vt:lpstr>i386的启动代码文件</vt:lpstr>
      <vt:lpstr>Linux内核源代码的几大组成部分</vt:lpstr>
      <vt:lpstr>7、Linux内核分析方法</vt:lpstr>
      <vt:lpstr>PowerPoint 演示文稿</vt:lpstr>
      <vt:lpstr>分析和实验验证环境-VMvare</vt:lpstr>
      <vt:lpstr>内核分析工具</vt:lpstr>
      <vt:lpstr>SourceInsight</vt:lpstr>
      <vt:lpstr>PowerPoint 演示文稿</vt:lpstr>
      <vt:lpstr> 8、Linux与其他系统的区别 </vt:lpstr>
      <vt:lpstr>PowerPoint 演示文稿</vt:lpstr>
      <vt:lpstr>PowerPoint 演示文稿</vt:lpstr>
      <vt:lpstr>9.Linux中的C语言与汇编语言</vt:lpstr>
      <vt:lpstr>9.Linux中的C语言与汇编语言</vt:lpstr>
      <vt:lpstr>9.Linux中的C语言与汇编语言</vt:lpstr>
      <vt:lpstr>9.Linux中的C语言与汇编语言</vt:lpstr>
      <vt:lpstr>9.Linux中的C语言与汇编语言</vt:lpstr>
      <vt:lpstr>AT&amp;T行内汇编</vt:lpstr>
      <vt:lpstr>PowerPoint 演示文稿</vt:lpstr>
      <vt:lpstr>PowerPoint 演示文稿</vt:lpstr>
      <vt:lpstr>本章作业</vt:lpstr>
    </vt:vector>
  </TitlesOfParts>
  <Company>Guild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授课教师：王 丹 办公电话：67396752  E-Mail：  wangdan@bjut.edu.cn  单   位： 计算机学院-软件系 办公地点：信南404          2011年2月</dc:title>
  <dc:creator>admin</dc:creator>
  <cp:lastModifiedBy>wd</cp:lastModifiedBy>
  <cp:revision>300</cp:revision>
  <cp:lastPrinted>2015-03-01T04:37:34Z</cp:lastPrinted>
  <dcterms:created xsi:type="dcterms:W3CDTF">2003-08-26T05:45:41Z</dcterms:created>
  <dcterms:modified xsi:type="dcterms:W3CDTF">2024-02-25T03:15:39Z</dcterms:modified>
</cp:coreProperties>
</file>