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8"/>
  </p:notesMasterIdLst>
  <p:handoutMasterIdLst>
    <p:handoutMasterId r:id="rId9"/>
  </p:handoutMasterIdLst>
  <p:sldIdLst>
    <p:sldId id="300" r:id="rId2"/>
    <p:sldId id="311" r:id="rId3"/>
    <p:sldId id="303" r:id="rId4"/>
    <p:sldId id="301" r:id="rId5"/>
    <p:sldId id="257" r:id="rId6"/>
    <p:sldId id="325" r:id="rId7"/>
  </p:sldIdLst>
  <p:sldSz cx="9144000" cy="6858000" type="screen4x3"/>
  <p:notesSz cx="6858000" cy="9947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464"/>
    <a:srgbClr val="03061F"/>
    <a:srgbClr val="004182"/>
    <a:srgbClr val="2B5681"/>
    <a:srgbClr val="006666"/>
    <a:srgbClr val="669900"/>
    <a:srgbClr val="2E5C8A"/>
    <a:srgbClr val="D71B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1669" autoAdjust="0"/>
  </p:normalViewPr>
  <p:slideViewPr>
    <p:cSldViewPr>
      <p:cViewPr varScale="1">
        <p:scale>
          <a:sx n="88" d="100"/>
          <a:sy n="88" d="100"/>
        </p:scale>
        <p:origin x="157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fld id="{755A8CD5-D4D3-4F71-B97D-C8FA2948D17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5988"/>
            <a:ext cx="5486400" cy="447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4F765DD-635C-4605-9B64-B59D34B7B5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FB2B653-8EC6-4812-930B-93E98387C43E}" type="slidenum">
              <a:rPr lang="zh-CN" altLang="en-US" sz="1200" smtClean="0">
                <a:latin typeface="Arial" panose="020B0604020202020204" pitchFamily="34" charset="0"/>
                <a:ea typeface="宋体" panose="02010600030101010101" pitchFamily="2" charset="-122"/>
              </a:rPr>
              <a:pPr/>
              <a:t>1</a:t>
            </a:fld>
            <a:endParaRPr lang="en-US" altLang="zh-CN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44</a:t>
            </a:r>
            <a:r>
              <a:rPr lang="zh-CN" altLang="en-US"/>
              <a:t>人</a:t>
            </a: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8A09E63C-6578-41D0-8214-65838271A9B5}" type="slidenum">
              <a:rPr lang="zh-CN" altLang="en-US" sz="1200" smtClean="0">
                <a:latin typeface="Arial" panose="020B0604020202020204" pitchFamily="34" charset="0"/>
                <a:ea typeface="宋体" panose="02010600030101010101" pitchFamily="2" charset="-122"/>
              </a:rPr>
              <a:pPr/>
              <a:t>3</a:t>
            </a:fld>
            <a:endParaRPr lang="en-US" altLang="zh-CN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4AD9EEB-8E0F-42BA-8344-8CF1A7ED1588}" type="slidenum">
              <a:rPr lang="zh-CN" altLang="en-US" sz="1200" smtClean="0">
                <a:latin typeface="Arial" panose="020B0604020202020204" pitchFamily="34" charset="0"/>
                <a:ea typeface="宋体" panose="02010600030101010101" pitchFamily="2" charset="-122"/>
              </a:rPr>
              <a:pPr/>
              <a:t>4</a:t>
            </a:fld>
            <a:endParaRPr lang="en-US" altLang="zh-CN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725988"/>
            <a:ext cx="5029200" cy="44751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2"/>
          <p:cNvSpPr>
            <a:spLocks noChangeArrowheads="1"/>
          </p:cNvSpPr>
          <p:nvPr/>
        </p:nvSpPr>
        <p:spPr bwMode="ltGray">
          <a:xfrm>
            <a:off x="0" y="0"/>
            <a:ext cx="9144000" cy="4832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AutoShape 37"/>
          <p:cNvSpPr>
            <a:spLocks noChangeArrowheads="1"/>
          </p:cNvSpPr>
          <p:nvPr/>
        </p:nvSpPr>
        <p:spPr bwMode="ltGray">
          <a:xfrm flipH="1">
            <a:off x="2411413" y="4581525"/>
            <a:ext cx="863600" cy="503238"/>
          </a:xfrm>
          <a:prstGeom prst="homePlate">
            <a:avLst>
              <a:gd name="adj" fmla="val 42902"/>
            </a:avLst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AutoShape 38"/>
          <p:cNvSpPr>
            <a:spLocks noChangeArrowheads="1"/>
          </p:cNvSpPr>
          <p:nvPr/>
        </p:nvSpPr>
        <p:spPr bwMode="ltGray">
          <a:xfrm flipH="1">
            <a:off x="2700338" y="4581525"/>
            <a:ext cx="719137" cy="503238"/>
          </a:xfrm>
          <a:prstGeom prst="homePlate">
            <a:avLst>
              <a:gd name="adj" fmla="val 35725"/>
            </a:avLst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2987675" y="4581525"/>
            <a:ext cx="6156325" cy="503238"/>
            <a:chOff x="1882" y="2886"/>
            <a:chExt cx="3878" cy="317"/>
          </a:xfrm>
        </p:grpSpPr>
        <p:sp>
          <p:nvSpPr>
            <p:cNvPr id="8" name="Rectangle 40"/>
            <p:cNvSpPr>
              <a:spLocks noChangeArrowheads="1"/>
            </p:cNvSpPr>
            <p:nvPr/>
          </p:nvSpPr>
          <p:spPr bwMode="gray">
            <a:xfrm flipH="1">
              <a:off x="2147" y="2887"/>
              <a:ext cx="3613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9" name="AutoShape 41"/>
            <p:cNvSpPr>
              <a:spLocks noChangeArrowheads="1"/>
            </p:cNvSpPr>
            <p:nvPr/>
          </p:nvSpPr>
          <p:spPr bwMode="gray">
            <a:xfrm flipH="1">
              <a:off x="1882" y="2886"/>
              <a:ext cx="411" cy="316"/>
            </a:xfrm>
            <a:prstGeom prst="homePlate">
              <a:avLst>
                <a:gd name="adj" fmla="val 325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>
          <a:xfrm>
            <a:off x="2843213" y="2349500"/>
            <a:ext cx="6300787" cy="1944688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 bwMode="white">
          <a:xfrm>
            <a:off x="3348038" y="4581525"/>
            <a:ext cx="5795962" cy="376238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dt" sz="quarter" idx="10"/>
          </p:nvPr>
        </p:nvSpPr>
        <p:spPr bwMode="black">
          <a:xfrm>
            <a:off x="457200" y="6553200"/>
            <a:ext cx="2133600" cy="152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ffectLst>
                  <a:outerShdw blurRad="38100" dist="38100" dir="2700000" algn="tl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ftr" sz="quarter" idx="11"/>
          </p:nvPr>
        </p:nvSpPr>
        <p:spPr bwMode="black">
          <a:xfrm>
            <a:off x="3124200" y="6553200"/>
            <a:ext cx="2895600" cy="152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effectLst>
                  <a:outerShdw blurRad="38100" dist="38100" dir="2700000" algn="tl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" name="Rectangle 25"/>
          <p:cNvSpPr>
            <a:spLocks noGrp="1" noChangeArrowheads="1"/>
          </p:cNvSpPr>
          <p:nvPr>
            <p:ph type="sldNum" sz="quarter" idx="12"/>
          </p:nvPr>
        </p:nvSpPr>
        <p:spPr bwMode="black">
          <a:xfrm>
            <a:off x="6553200" y="6553200"/>
            <a:ext cx="2133600" cy="152400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FF9D458-F1F2-4086-B2D4-60402759C15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755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DA0BE-4AB2-4AD0-BB0F-AAD488184F5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442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ADD5F-2C6E-4C2E-A0B2-02426FEFA76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290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052513"/>
            <a:ext cx="4068762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6450" y="1052513"/>
            <a:ext cx="4070350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57618-DF1D-4695-BD89-598C3F2F177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896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18B5B-58AD-4A11-ADF6-3AB4EA07844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959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88A44-A33D-46AF-9517-7DFD957E9BC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153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E6D07-F656-4190-8F2D-3A18F48DD7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9211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444C2-63CB-49A0-A1E7-B4E6215E93F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41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85D315-C927-4EFD-ABE7-EB70EC78A01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761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EC868-99D5-46E4-A514-8EEF77EE3B0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988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5113" y="115888"/>
            <a:ext cx="2071687" cy="62087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15888"/>
            <a:ext cx="6067425" cy="62087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22958-B3DF-4DDA-BBE1-3438DC9B5EB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2336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76327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052513"/>
            <a:ext cx="4068762" cy="5272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16450" y="1052513"/>
            <a:ext cx="4070350" cy="5272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C02F6-367C-479A-9623-9FD3F7527B7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858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4" name="Rectangle 36"/>
          <p:cNvSpPr>
            <a:spLocks noChangeArrowheads="1"/>
          </p:cNvSpPr>
          <p:nvPr/>
        </p:nvSpPr>
        <p:spPr bwMode="ltGray">
          <a:xfrm>
            <a:off x="8859838" y="0"/>
            <a:ext cx="284162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27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052513"/>
            <a:ext cx="8291512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64770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fld id="{B44FA842-3E68-4723-BD29-D95C1BC8B19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326" name="AutoShape 38"/>
          <p:cNvSpPr>
            <a:spLocks noChangeArrowheads="1"/>
          </p:cNvSpPr>
          <p:nvPr/>
        </p:nvSpPr>
        <p:spPr bwMode="ltGray">
          <a:xfrm>
            <a:off x="8461375" y="-6350"/>
            <a:ext cx="539750" cy="835025"/>
          </a:xfrm>
          <a:prstGeom prst="homePlate">
            <a:avLst>
              <a:gd name="adj" fmla="val 25000"/>
            </a:avLst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328" name="AutoShape 40"/>
          <p:cNvSpPr>
            <a:spLocks noChangeArrowheads="1"/>
          </p:cNvSpPr>
          <p:nvPr/>
        </p:nvSpPr>
        <p:spPr bwMode="ltGray">
          <a:xfrm>
            <a:off x="8101013" y="1588"/>
            <a:ext cx="574675" cy="835025"/>
          </a:xfrm>
          <a:prstGeom prst="homePlate">
            <a:avLst>
              <a:gd name="adj" fmla="val 25000"/>
            </a:avLst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>
              <a:ea typeface="Gulim" pitchFamily="34" charset="-127"/>
            </a:endParaRPr>
          </a:p>
        </p:txBody>
      </p:sp>
      <p:sp>
        <p:nvSpPr>
          <p:cNvPr id="12323" name="Rectangle 35"/>
          <p:cNvSpPr>
            <a:spLocks noChangeArrowheads="1"/>
          </p:cNvSpPr>
          <p:nvPr/>
        </p:nvSpPr>
        <p:spPr bwMode="ltGray">
          <a:xfrm>
            <a:off x="107950" y="0"/>
            <a:ext cx="7951788" cy="847725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0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32" name="AutoShape 41"/>
          <p:cNvSpPr>
            <a:spLocks noChangeArrowheads="1"/>
          </p:cNvSpPr>
          <p:nvPr/>
        </p:nvSpPr>
        <p:spPr bwMode="ltGray">
          <a:xfrm>
            <a:off x="7888288" y="0"/>
            <a:ext cx="427037" cy="835025"/>
          </a:xfrm>
          <a:prstGeom prst="homePlate">
            <a:avLst>
              <a:gd name="adj" fmla="val 25000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3" name="Rectangle 21"/>
          <p:cNvSpPr>
            <a:spLocks noGrp="1" noChangeArrowheads="1"/>
          </p:cNvSpPr>
          <p:nvPr>
            <p:ph type="title"/>
          </p:nvPr>
        </p:nvSpPr>
        <p:spPr bwMode="black">
          <a:xfrm>
            <a:off x="611188" y="115888"/>
            <a:ext cx="76327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800" b="1">
          <a:solidFill>
            <a:srgbClr val="2B568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n"/>
        <a:defRPr sz="2600" b="1">
          <a:solidFill>
            <a:srgbClr val="00808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rgbClr val="339966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3132138"/>
            <a:ext cx="6102350" cy="2862262"/>
          </a:xfrm>
          <a:noFill/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授课教师：王 丹</a:t>
            </a:r>
            <a:b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</a:b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电子邮件</a:t>
            </a:r>
            <a: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wangdan@bjut.edu.cn </a:t>
            </a:r>
            <a:b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</a:b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单        位： 信息学部计算机学院</a:t>
            </a:r>
            <a:b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</a:b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办公地点：知新园</a:t>
            </a:r>
            <a:b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</a:br>
            <a:b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2024</a:t>
            </a: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月</a:t>
            </a:r>
            <a:endParaRPr lang="en-US" altLang="zh-CN" sz="2800" dirty="0">
              <a:solidFill>
                <a:srgbClr val="2E5C8A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611188" y="1268413"/>
            <a:ext cx="7924800" cy="14462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4400" b="1" dirty="0">
                <a:solidFill>
                  <a:srgbClr val="FF0000"/>
                </a:solidFill>
                <a:ea typeface="+mj-ea"/>
                <a:cs typeface="Times New Roman" panose="02020603050405020304" pitchFamily="18" charset="0"/>
              </a:rPr>
              <a:t>Linux</a:t>
            </a:r>
            <a:r>
              <a:rPr kumimoji="1" lang="zh-CN" altLang="en-US" sz="4400" b="1" dirty="0">
                <a:solidFill>
                  <a:srgbClr val="FF0000"/>
                </a:solidFill>
                <a:ea typeface="+mj-ea"/>
                <a:cs typeface="Times New Roman" panose="02020603050405020304" pitchFamily="18" charset="0"/>
              </a:rPr>
              <a:t>操作系统原理</a:t>
            </a:r>
          </a:p>
          <a:p>
            <a:pPr algn="ctr" eaLnBrk="1" hangingPunct="1">
              <a:defRPr/>
            </a:pPr>
            <a:endParaRPr kumimoji="1" lang="en-US" altLang="zh-CN" sz="4400" b="1" dirty="0"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124" name="Picture 4" descr="1-4-7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2636838"/>
            <a:ext cx="1066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137525" cy="649287"/>
          </a:xfrm>
          <a:noFill/>
        </p:spPr>
        <p:txBody>
          <a:bodyPr anchor="b"/>
          <a:lstStyle/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本课程目标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4895850"/>
          </a:xfrm>
          <a:noFill/>
        </p:spPr>
        <p:txBody>
          <a:bodyPr/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掌握</a:t>
            </a:r>
            <a:r>
              <a:rPr lang="en-US" altLang="zh-CN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操作系统基本概念、</a:t>
            </a:r>
            <a:r>
              <a:rPr lang="en-US" altLang="zh-CN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的内核构造机理、主要功能，加深对操作系统原理的理解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掌握</a:t>
            </a:r>
            <a:r>
              <a:rPr lang="en-US" altLang="zh-CN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内核中进程、内存、中断、文件、</a:t>
            </a:r>
            <a:r>
              <a:rPr lang="en-US" altLang="zh-CN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等的设计与实现技术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从代码角度理解操作系统原理及其关键算法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E5C8A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提高系统软件的分析和设计能力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学时安排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425184" cy="5272088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学时</a:t>
            </a:r>
          </a:p>
          <a:p>
            <a:pPr lvl="1" eaLnBrk="1" hangingPunct="1"/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总学时：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32</a:t>
            </a:r>
          </a:p>
          <a:p>
            <a:pPr lvl="1" eaLnBrk="1" hangingPunct="1"/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理论学时：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24</a:t>
            </a:r>
          </a:p>
          <a:p>
            <a:pPr lvl="1" eaLnBrk="1" hangingPunct="1"/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实验学时：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8</a:t>
            </a:r>
          </a:p>
          <a:p>
            <a:pPr eaLnBrk="1" hangingPunct="1"/>
            <a:r>
              <a:rPr lang="zh-CN" altLang="en-US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时间安排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授课时间：第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1-8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周上课：周一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1,2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节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周三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1,2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节</a:t>
            </a:r>
            <a:endParaRPr lang="en-US" altLang="zh-CN" sz="2800" dirty="0">
              <a:solidFill>
                <a:srgbClr val="2E5C8A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授课地点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教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111</a:t>
            </a:r>
            <a:endParaRPr lang="zh-CN" altLang="en-US" sz="2800" dirty="0">
              <a:solidFill>
                <a:srgbClr val="2E5C8A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实验时间：第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4,5,6,7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周周三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节上机</a:t>
            </a:r>
            <a:endParaRPr lang="en-US" altLang="zh-CN" sz="2800" dirty="0">
              <a:solidFill>
                <a:srgbClr val="2E5C8A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考试时间：第</a:t>
            </a:r>
            <a:r>
              <a:rPr lang="en-US" altLang="zh-CN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8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周周三</a:t>
            </a:r>
            <a:r>
              <a:rPr lang="en-US" altLang="zh-CN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ea typeface="楷体_GB2312" pitchFamily="49" charset="-122"/>
              </a:rPr>
              <a:t>节（随堂考试）</a:t>
            </a:r>
            <a:endParaRPr lang="en-US" altLang="zh-CN" sz="2800" dirty="0">
              <a:solidFill>
                <a:srgbClr val="2E5C8A"/>
              </a:solidFill>
              <a:highlight>
                <a:srgbClr val="FFFF00"/>
              </a:highlight>
              <a:ea typeface="楷体_GB2312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答疑</a:t>
            </a:r>
          </a:p>
          <a:p>
            <a:pPr lvl="1" eaLnBrk="1" hangingPunct="1"/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时间：周一中午和下午，地点：知新园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765175"/>
            <a:ext cx="6192366" cy="5867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课程形式</a:t>
            </a:r>
            <a:br>
              <a:rPr lang="zh-CN" altLang="en-US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课堂讲授</a:t>
            </a:r>
            <a:b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习题课</a:t>
            </a:r>
            <a:b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上机实验</a:t>
            </a:r>
            <a:b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答疑</a:t>
            </a:r>
            <a:b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分析源代码</a:t>
            </a:r>
            <a:br>
              <a:rPr lang="zh-CN" altLang="en-US" sz="2800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考试</a:t>
            </a:r>
            <a:br>
              <a:rPr lang="zh-CN" altLang="en-US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笔试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开卷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br>
              <a:rPr lang="zh-CN" altLang="en-US" sz="2800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成绩</a:t>
            </a:r>
            <a:br>
              <a:rPr lang="zh-CN" altLang="en-US" sz="2400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期末考试：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卷面成绩</a:t>
            </a:r>
            <a:b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平时成绩：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网络学习情况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作业      </a:t>
            </a:r>
            <a:b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2E5C8A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</a:rPr>
              <a:t>实验成绩：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运行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讲解</a:t>
            </a:r>
            <a:r>
              <a:rPr lang="en-US" altLang="zh-CN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实验报告</a:t>
            </a:r>
            <a:br>
              <a:rPr lang="zh-CN" altLang="en-US" sz="2800" dirty="0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endParaRPr lang="en-US" altLang="zh-CN" sz="2800" dirty="0">
              <a:solidFill>
                <a:srgbClr val="2E5C8A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59" name="Rectangle 3"/>
          <p:cNvSpPr>
            <a:spLocks noChangeArrowheads="1"/>
          </p:cNvSpPr>
          <p:nvPr/>
        </p:nvSpPr>
        <p:spPr bwMode="auto">
          <a:xfrm>
            <a:off x="304800" y="2895600"/>
            <a:ext cx="7543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800" b="1">
                <a:solidFill>
                  <a:srgbClr val="2B5681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600" b="1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rgbClr val="339966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3200" b="0">
              <a:solidFill>
                <a:schemeClr val="tx1"/>
              </a:solidFill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4716463" y="549275"/>
            <a:ext cx="41148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800" b="1">
                <a:solidFill>
                  <a:srgbClr val="2B5681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600" b="1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rgbClr val="339966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学习方法</a:t>
            </a:r>
            <a:br>
              <a:rPr lang="zh-CN" altLang="en-US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课堂听讲、记笔记</a:t>
            </a:r>
            <a:b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看教材、复习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作业</a:t>
            </a:r>
            <a:b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分析源代码</a:t>
            </a:r>
            <a:b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思考、提问</a:t>
            </a:r>
            <a:b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实验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2E5C8A"/>
                </a:solidFill>
                <a:latin typeface="楷体_GB2312" pitchFamily="49" charset="-122"/>
                <a:ea typeface="楷体_GB2312" pitchFamily="49" charset="-122"/>
              </a:rPr>
              <a:t>    答疑</a:t>
            </a: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black">
          <a:xfrm>
            <a:off x="611188" y="115888"/>
            <a:ext cx="76327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800" b="1">
                <a:solidFill>
                  <a:srgbClr val="2B5681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600" b="1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rgbClr val="339966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课程组织</a:t>
            </a:r>
            <a:endParaRPr lang="en-US" altLang="zh-CN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 autoUpdateAnimBg="0"/>
      <p:bldP spid="198659" grpId="0" autoUpdateAnimBg="0"/>
      <p:bldP spid="19866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88913"/>
            <a:ext cx="8229600" cy="601345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zh-CN" altLang="en-US" sz="3200" kern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参考教材</a:t>
            </a:r>
            <a:endParaRPr lang="en-US" altLang="zh-CN" sz="3200" kern="1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3200" kern="1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（美）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Robert Love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著，陈莉君 康华译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内核设计与实现</a:t>
            </a:r>
            <a:r>
              <a:rPr lang="en-US" altLang="zh-CN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原书第</a:t>
            </a:r>
            <a:r>
              <a:rPr lang="en-US" altLang="zh-CN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版</a:t>
            </a:r>
            <a:r>
              <a:rPr lang="en-US" altLang="zh-CN" sz="2400" dirty="0">
                <a:solidFill>
                  <a:srgbClr val="FB1705"/>
                </a:solidFill>
                <a:latin typeface="楷体_GB2312" pitchFamily="49" charset="-122"/>
                <a:ea typeface="楷体_GB2312" pitchFamily="49" charset="-122"/>
              </a:rPr>
              <a:t>).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机械工业出版社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罗秋明，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技术内幕。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清华大学出版社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.2019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鸟哥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鸟哥的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私房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菜 基础学习篇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第四版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).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人民邮电出版社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.2019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任哲等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微型计算机操作系统基础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基于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Linux/i386.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清华大学出版社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 2008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蒋静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徐志伟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操作系统 原理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·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技术与编程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机械工业出版社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 2004.             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陈莉君，康华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.Linux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操作系统原理与应用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清华大学出版社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.2006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河秦，王洪涛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.Linux 2.6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内核标准教程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人民邮电出版社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.2008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博韦，西斯特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.O'Reilly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：深入理解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内核（第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版）中国电力出版社 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.2008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20309147-1_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" y="3929063"/>
            <a:ext cx="18161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5" descr="9113248-1_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8" y="3960813"/>
            <a:ext cx="1712912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6" descr="8777318-1_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4005263"/>
            <a:ext cx="1752600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" y="1052513"/>
            <a:ext cx="2451100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663" y="1050925"/>
            <a:ext cx="2452687" cy="245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图片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1085850"/>
            <a:ext cx="2417762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矩形 3"/>
          <p:cNvSpPr>
            <a:spLocks noChangeArrowheads="1"/>
          </p:cNvSpPr>
          <p:nvPr/>
        </p:nvSpPr>
        <p:spPr bwMode="auto">
          <a:xfrm>
            <a:off x="3779838" y="284163"/>
            <a:ext cx="183197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800" b="1">
                <a:solidFill>
                  <a:srgbClr val="2B5681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600" b="1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rgbClr val="339966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参考教材</a:t>
            </a:r>
            <a:endParaRPr lang="en-US" altLang="zh-CN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41tgp_figure_blue">
  <a:themeElements>
    <a:clrScheme name="041tgp_figure_blue 3">
      <a:dk1>
        <a:srgbClr val="0F1A81"/>
      </a:dk1>
      <a:lt1>
        <a:srgbClr val="FFFFFF"/>
      </a:lt1>
      <a:dk2>
        <a:srgbClr val="175B5B"/>
      </a:dk2>
      <a:lt2>
        <a:srgbClr val="DDDDDD"/>
      </a:lt2>
      <a:accent1>
        <a:srgbClr val="A4C226"/>
      </a:accent1>
      <a:accent2>
        <a:srgbClr val="6CA5D8"/>
      </a:accent2>
      <a:accent3>
        <a:srgbClr val="FFFFFF"/>
      </a:accent3>
      <a:accent4>
        <a:srgbClr val="0B146D"/>
      </a:accent4>
      <a:accent5>
        <a:srgbClr val="CFDDAC"/>
      </a:accent5>
      <a:accent6>
        <a:srgbClr val="6195C4"/>
      </a:accent6>
      <a:hlink>
        <a:srgbClr val="5D4BC7"/>
      </a:hlink>
      <a:folHlink>
        <a:srgbClr val="878FA5"/>
      </a:folHlink>
    </a:clrScheme>
    <a:fontScheme name="041tgp_figure_blue">
      <a:majorFont>
        <a:latin typeface="黑体"/>
        <a:ea typeface="黑体"/>
        <a:cs typeface=""/>
      </a:majorFont>
      <a:minorFont>
        <a:latin typeface="新宋体"/>
        <a:ea typeface="新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041tgp_figure_blue 1">
        <a:dk1>
          <a:srgbClr val="000000"/>
        </a:dk1>
        <a:lt1>
          <a:srgbClr val="FFFFFF"/>
        </a:lt1>
        <a:dk2>
          <a:srgbClr val="000066"/>
        </a:dk2>
        <a:lt2>
          <a:srgbClr val="DDDDDD"/>
        </a:lt2>
        <a:accent1>
          <a:srgbClr val="E47F6E"/>
        </a:accent1>
        <a:accent2>
          <a:srgbClr val="0099CC"/>
        </a:accent2>
        <a:accent3>
          <a:srgbClr val="FFFFFF"/>
        </a:accent3>
        <a:accent4>
          <a:srgbClr val="000000"/>
        </a:accent4>
        <a:accent5>
          <a:srgbClr val="EFC0BA"/>
        </a:accent5>
        <a:accent6>
          <a:srgbClr val="008AB9"/>
        </a:accent6>
        <a:hlink>
          <a:srgbClr val="7648EA"/>
        </a:hlink>
        <a:folHlink>
          <a:srgbClr val="DFAE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1tgp_figure_blue 2">
        <a:dk1>
          <a:srgbClr val="333333"/>
        </a:dk1>
        <a:lt1>
          <a:srgbClr val="FFFFFF"/>
        </a:lt1>
        <a:dk2>
          <a:srgbClr val="003366"/>
        </a:dk2>
        <a:lt2>
          <a:srgbClr val="B2B2B2"/>
        </a:lt2>
        <a:accent1>
          <a:srgbClr val="4CA491"/>
        </a:accent1>
        <a:accent2>
          <a:srgbClr val="E2AF52"/>
        </a:accent2>
        <a:accent3>
          <a:srgbClr val="FFFFFF"/>
        </a:accent3>
        <a:accent4>
          <a:srgbClr val="2A2A2A"/>
        </a:accent4>
        <a:accent5>
          <a:srgbClr val="B2CFC7"/>
        </a:accent5>
        <a:accent6>
          <a:srgbClr val="CD9E49"/>
        </a:accent6>
        <a:hlink>
          <a:srgbClr val="576CD5"/>
        </a:hlink>
        <a:folHlink>
          <a:srgbClr val="D8725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1tgp_figure_blue 3">
        <a:dk1>
          <a:srgbClr val="0F1A81"/>
        </a:dk1>
        <a:lt1>
          <a:srgbClr val="FFFFFF"/>
        </a:lt1>
        <a:dk2>
          <a:srgbClr val="175B5B"/>
        </a:dk2>
        <a:lt2>
          <a:srgbClr val="DDDDDD"/>
        </a:lt2>
        <a:accent1>
          <a:srgbClr val="A4C226"/>
        </a:accent1>
        <a:accent2>
          <a:srgbClr val="6CA5D8"/>
        </a:accent2>
        <a:accent3>
          <a:srgbClr val="FFFFFF"/>
        </a:accent3>
        <a:accent4>
          <a:srgbClr val="0B146D"/>
        </a:accent4>
        <a:accent5>
          <a:srgbClr val="CFDDAC"/>
        </a:accent5>
        <a:accent6>
          <a:srgbClr val="6195C4"/>
        </a:accent6>
        <a:hlink>
          <a:srgbClr val="5D4BC7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</TotalTime>
  <Words>432</Words>
  <Application>Microsoft Office PowerPoint</Application>
  <PresentationFormat>全屏显示(4:3)</PresentationFormat>
  <Paragraphs>39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Gulim</vt:lpstr>
      <vt:lpstr>黑体</vt:lpstr>
      <vt:lpstr>楷体_GB2312</vt:lpstr>
      <vt:lpstr>宋体</vt:lpstr>
      <vt:lpstr>新宋体</vt:lpstr>
      <vt:lpstr>Arial</vt:lpstr>
      <vt:lpstr>Times New Roman</vt:lpstr>
      <vt:lpstr>Verdana</vt:lpstr>
      <vt:lpstr>Wingdings</vt:lpstr>
      <vt:lpstr>041tgp_figure_blue</vt:lpstr>
      <vt:lpstr>授课教师：王 丹 电子邮件:    wangdan@bjut.edu.cn  单        位： 信息学部计算机学院 办公地点：知新园                    2024年2月</vt:lpstr>
      <vt:lpstr>本课程目标</vt:lpstr>
      <vt:lpstr>学时安排</vt:lpstr>
      <vt:lpstr>课程形式      课堂讲授     习题课     上机实验     答疑     分析源代码 考试     笔试(开卷) 成绩      期末考试：卷面成绩     平时成绩：网络学习情况+作业           实验成绩：运行+讲解+实验报告 </vt:lpstr>
      <vt:lpstr>PowerPoint 演示文稿</vt:lpstr>
      <vt:lpstr>PowerPoint 演示文稿</vt:lpstr>
    </vt:vector>
  </TitlesOfParts>
  <Company>Guild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授课教师：王 丹 办公电话：67396752  E-Mail：  wangdan@bjut.edu.cn  单   位： 计算机学院-软件系 办公地点：信南404          2011年2月</dc:title>
  <dc:creator>admin</dc:creator>
  <cp:lastModifiedBy>wd</cp:lastModifiedBy>
  <cp:revision>300</cp:revision>
  <cp:lastPrinted>2015-03-01T04:37:34Z</cp:lastPrinted>
  <dcterms:created xsi:type="dcterms:W3CDTF">2003-08-26T05:45:41Z</dcterms:created>
  <dcterms:modified xsi:type="dcterms:W3CDTF">2024-02-25T03:13:52Z</dcterms:modified>
</cp:coreProperties>
</file>