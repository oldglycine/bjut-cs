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62"/>
  </p:notesMasterIdLst>
  <p:handoutMasterIdLst>
    <p:handoutMasterId r:id="rId163"/>
  </p:handoutMasterIdLst>
  <p:sldIdLst>
    <p:sldId id="350" r:id="rId2"/>
    <p:sldId id="600" r:id="rId3"/>
    <p:sldId id="594" r:id="rId4"/>
    <p:sldId id="595" r:id="rId5"/>
    <p:sldId id="597" r:id="rId6"/>
    <p:sldId id="257" r:id="rId7"/>
    <p:sldId id="512" r:id="rId8"/>
    <p:sldId id="608" r:id="rId9"/>
    <p:sldId id="540" r:id="rId10"/>
    <p:sldId id="788" r:id="rId11"/>
    <p:sldId id="789" r:id="rId12"/>
    <p:sldId id="790" r:id="rId13"/>
    <p:sldId id="979" r:id="rId14"/>
    <p:sldId id="980" r:id="rId15"/>
    <p:sldId id="981" r:id="rId16"/>
    <p:sldId id="982" r:id="rId17"/>
    <p:sldId id="983" r:id="rId18"/>
    <p:sldId id="791" r:id="rId19"/>
    <p:sldId id="792" r:id="rId20"/>
    <p:sldId id="793" r:id="rId21"/>
    <p:sldId id="794" r:id="rId22"/>
    <p:sldId id="795" r:id="rId23"/>
    <p:sldId id="751" r:id="rId24"/>
    <p:sldId id="752" r:id="rId25"/>
    <p:sldId id="756" r:id="rId26"/>
    <p:sldId id="784" r:id="rId27"/>
    <p:sldId id="984" r:id="rId28"/>
    <p:sldId id="985" r:id="rId29"/>
    <p:sldId id="986" r:id="rId30"/>
    <p:sldId id="987" r:id="rId31"/>
    <p:sldId id="988" r:id="rId32"/>
    <p:sldId id="989" r:id="rId33"/>
    <p:sldId id="990" r:id="rId34"/>
    <p:sldId id="991" r:id="rId35"/>
    <p:sldId id="992" r:id="rId36"/>
    <p:sldId id="993" r:id="rId37"/>
    <p:sldId id="994" r:id="rId38"/>
    <p:sldId id="995" r:id="rId39"/>
    <p:sldId id="996" r:id="rId40"/>
    <p:sldId id="997" r:id="rId41"/>
    <p:sldId id="998" r:id="rId42"/>
    <p:sldId id="999" r:id="rId43"/>
    <p:sldId id="1000" r:id="rId44"/>
    <p:sldId id="1001" r:id="rId45"/>
    <p:sldId id="1002" r:id="rId46"/>
    <p:sldId id="1003" r:id="rId47"/>
    <p:sldId id="1004" r:id="rId48"/>
    <p:sldId id="1005" r:id="rId49"/>
    <p:sldId id="1006" r:id="rId50"/>
    <p:sldId id="1007" r:id="rId51"/>
    <p:sldId id="1008" r:id="rId52"/>
    <p:sldId id="1009" r:id="rId53"/>
    <p:sldId id="1010" r:id="rId54"/>
    <p:sldId id="1011" r:id="rId55"/>
    <p:sldId id="1012" r:id="rId56"/>
    <p:sldId id="1013" r:id="rId57"/>
    <p:sldId id="1014" r:id="rId58"/>
    <p:sldId id="1015" r:id="rId59"/>
    <p:sldId id="1016" r:id="rId60"/>
    <p:sldId id="1017" r:id="rId61"/>
    <p:sldId id="1018" r:id="rId62"/>
    <p:sldId id="1019" r:id="rId63"/>
    <p:sldId id="1020" r:id="rId64"/>
    <p:sldId id="1021" r:id="rId65"/>
    <p:sldId id="1022" r:id="rId66"/>
    <p:sldId id="1023" r:id="rId67"/>
    <p:sldId id="1024" r:id="rId68"/>
    <p:sldId id="1025" r:id="rId69"/>
    <p:sldId id="1026" r:id="rId70"/>
    <p:sldId id="1027" r:id="rId71"/>
    <p:sldId id="1028" r:id="rId72"/>
    <p:sldId id="1029" r:id="rId73"/>
    <p:sldId id="1030" r:id="rId74"/>
    <p:sldId id="1031" r:id="rId75"/>
    <p:sldId id="1032" r:id="rId76"/>
    <p:sldId id="1033" r:id="rId77"/>
    <p:sldId id="1034" r:id="rId78"/>
    <p:sldId id="1035" r:id="rId79"/>
    <p:sldId id="1036" r:id="rId80"/>
    <p:sldId id="1037" r:id="rId81"/>
    <p:sldId id="1038" r:id="rId82"/>
    <p:sldId id="1039" r:id="rId83"/>
    <p:sldId id="1040" r:id="rId84"/>
    <p:sldId id="1041" r:id="rId85"/>
    <p:sldId id="1042" r:id="rId86"/>
    <p:sldId id="1043" r:id="rId87"/>
    <p:sldId id="1044" r:id="rId88"/>
    <p:sldId id="1045" r:id="rId89"/>
    <p:sldId id="1046" r:id="rId90"/>
    <p:sldId id="1047" r:id="rId91"/>
    <p:sldId id="1048" r:id="rId92"/>
    <p:sldId id="1049" r:id="rId93"/>
    <p:sldId id="1050" r:id="rId94"/>
    <p:sldId id="1051" r:id="rId95"/>
    <p:sldId id="1052" r:id="rId96"/>
    <p:sldId id="1053" r:id="rId97"/>
    <p:sldId id="1054" r:id="rId98"/>
    <p:sldId id="1055" r:id="rId99"/>
    <p:sldId id="1056" r:id="rId100"/>
    <p:sldId id="1057" r:id="rId101"/>
    <p:sldId id="1058" r:id="rId102"/>
    <p:sldId id="1059" r:id="rId103"/>
    <p:sldId id="1060" r:id="rId104"/>
    <p:sldId id="1061" r:id="rId105"/>
    <p:sldId id="1062" r:id="rId106"/>
    <p:sldId id="1063" r:id="rId107"/>
    <p:sldId id="1064" r:id="rId108"/>
    <p:sldId id="1065" r:id="rId109"/>
    <p:sldId id="1066" r:id="rId110"/>
    <p:sldId id="1067" r:id="rId111"/>
    <p:sldId id="1068" r:id="rId112"/>
    <p:sldId id="1069" r:id="rId113"/>
    <p:sldId id="1070" r:id="rId114"/>
    <p:sldId id="1071" r:id="rId115"/>
    <p:sldId id="1072" r:id="rId116"/>
    <p:sldId id="1073" r:id="rId117"/>
    <p:sldId id="1074" r:id="rId118"/>
    <p:sldId id="1075" r:id="rId119"/>
    <p:sldId id="1076" r:id="rId120"/>
    <p:sldId id="1077" r:id="rId121"/>
    <p:sldId id="1078" r:id="rId122"/>
    <p:sldId id="1079" r:id="rId123"/>
    <p:sldId id="1080" r:id="rId124"/>
    <p:sldId id="1081" r:id="rId125"/>
    <p:sldId id="1082" r:id="rId126"/>
    <p:sldId id="1083" r:id="rId127"/>
    <p:sldId id="1084" r:id="rId128"/>
    <p:sldId id="1085" r:id="rId129"/>
    <p:sldId id="1086" r:id="rId130"/>
    <p:sldId id="1087" r:id="rId131"/>
    <p:sldId id="1088" r:id="rId132"/>
    <p:sldId id="1089" r:id="rId133"/>
    <p:sldId id="1090" r:id="rId134"/>
    <p:sldId id="1091" r:id="rId135"/>
    <p:sldId id="1092" r:id="rId136"/>
    <p:sldId id="1093" r:id="rId137"/>
    <p:sldId id="1094" r:id="rId138"/>
    <p:sldId id="1095" r:id="rId139"/>
    <p:sldId id="1096" r:id="rId140"/>
    <p:sldId id="1097" r:id="rId141"/>
    <p:sldId id="1098" r:id="rId142"/>
    <p:sldId id="1099" r:id="rId143"/>
    <p:sldId id="1100" r:id="rId144"/>
    <p:sldId id="1101" r:id="rId145"/>
    <p:sldId id="1102" r:id="rId146"/>
    <p:sldId id="1103" r:id="rId147"/>
    <p:sldId id="1104" r:id="rId148"/>
    <p:sldId id="1105" r:id="rId149"/>
    <p:sldId id="1106" r:id="rId150"/>
    <p:sldId id="1107" r:id="rId151"/>
    <p:sldId id="1108" r:id="rId152"/>
    <p:sldId id="1109" r:id="rId153"/>
    <p:sldId id="1110" r:id="rId154"/>
    <p:sldId id="1111" r:id="rId155"/>
    <p:sldId id="1112" r:id="rId156"/>
    <p:sldId id="1113" r:id="rId157"/>
    <p:sldId id="1114" r:id="rId158"/>
    <p:sldId id="1115" r:id="rId159"/>
    <p:sldId id="1116" r:id="rId160"/>
    <p:sldId id="1117" r:id="rId161"/>
  </p:sldIdLst>
  <p:sldSz cx="9144000" cy="6858000" type="screen4x3"/>
  <p:notesSz cx="6797675" cy="9928225"/>
  <p:defaultTextStyle>
    <a:defPPr>
      <a:defRPr lang="zh-CN"/>
    </a:defPPr>
    <a:lvl1pPr algn="just" rtl="0" fontAlgn="base">
      <a:spcBef>
        <a:spcPct val="20000"/>
      </a:spcBef>
      <a:spcAft>
        <a:spcPct val="0"/>
      </a:spcAft>
      <a:buClr>
        <a:schemeClr val="folHlink"/>
      </a:buClr>
      <a:buSzPct val="90000"/>
      <a:buFont typeface="Wingdings" panose="05000000000000000000" pitchFamily="2" charset="2"/>
      <a:defRPr sz="2400" kern="1200">
        <a:solidFill>
          <a:schemeClr val="tx1"/>
        </a:solidFill>
        <a:latin typeface="Times New Roman" panose="02020603050405020304" pitchFamily="18" charset="0"/>
        <a:ea typeface="宋体" panose="02010600030101010101" pitchFamily="2" charset="-122"/>
        <a:cs typeface="+mn-cs"/>
      </a:defRPr>
    </a:lvl1pPr>
    <a:lvl2pPr marL="457200" algn="just" rtl="0" fontAlgn="base">
      <a:spcBef>
        <a:spcPct val="20000"/>
      </a:spcBef>
      <a:spcAft>
        <a:spcPct val="0"/>
      </a:spcAft>
      <a:buClr>
        <a:schemeClr val="folHlink"/>
      </a:buClr>
      <a:buSzPct val="90000"/>
      <a:buFont typeface="Wingdings" panose="05000000000000000000" pitchFamily="2" charset="2"/>
      <a:defRPr sz="2400" kern="1200">
        <a:solidFill>
          <a:schemeClr val="tx1"/>
        </a:solidFill>
        <a:latin typeface="Times New Roman" panose="02020603050405020304" pitchFamily="18" charset="0"/>
        <a:ea typeface="宋体" panose="02010600030101010101" pitchFamily="2" charset="-122"/>
        <a:cs typeface="+mn-cs"/>
      </a:defRPr>
    </a:lvl2pPr>
    <a:lvl3pPr marL="914400" algn="just" rtl="0" fontAlgn="base">
      <a:spcBef>
        <a:spcPct val="20000"/>
      </a:spcBef>
      <a:spcAft>
        <a:spcPct val="0"/>
      </a:spcAft>
      <a:buClr>
        <a:schemeClr val="folHlink"/>
      </a:buClr>
      <a:buSzPct val="90000"/>
      <a:buFont typeface="Wingdings" panose="05000000000000000000" pitchFamily="2" charset="2"/>
      <a:defRPr sz="2400" kern="1200">
        <a:solidFill>
          <a:schemeClr val="tx1"/>
        </a:solidFill>
        <a:latin typeface="Times New Roman" panose="02020603050405020304" pitchFamily="18" charset="0"/>
        <a:ea typeface="宋体" panose="02010600030101010101" pitchFamily="2" charset="-122"/>
        <a:cs typeface="+mn-cs"/>
      </a:defRPr>
    </a:lvl3pPr>
    <a:lvl4pPr marL="1371600" algn="just" rtl="0" fontAlgn="base">
      <a:spcBef>
        <a:spcPct val="20000"/>
      </a:spcBef>
      <a:spcAft>
        <a:spcPct val="0"/>
      </a:spcAft>
      <a:buClr>
        <a:schemeClr val="folHlink"/>
      </a:buClr>
      <a:buSzPct val="90000"/>
      <a:buFont typeface="Wingdings" panose="05000000000000000000" pitchFamily="2" charset="2"/>
      <a:defRPr sz="2400" kern="1200">
        <a:solidFill>
          <a:schemeClr val="tx1"/>
        </a:solidFill>
        <a:latin typeface="Times New Roman" panose="02020603050405020304" pitchFamily="18" charset="0"/>
        <a:ea typeface="宋体" panose="02010600030101010101" pitchFamily="2" charset="-122"/>
        <a:cs typeface="+mn-cs"/>
      </a:defRPr>
    </a:lvl4pPr>
    <a:lvl5pPr marL="1828800" algn="just" rtl="0" fontAlgn="base">
      <a:spcBef>
        <a:spcPct val="20000"/>
      </a:spcBef>
      <a:spcAft>
        <a:spcPct val="0"/>
      </a:spcAft>
      <a:buClr>
        <a:schemeClr val="folHlink"/>
      </a:buClr>
      <a:buSzPct val="90000"/>
      <a:buFont typeface="Wingdings" panose="05000000000000000000" pitchFamily="2" charset="2"/>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a:srgbClr val="999ACD"/>
    <a:srgbClr val="CCFFFF"/>
    <a:srgbClr val="CCFF33"/>
    <a:srgbClr val="00FF00"/>
    <a:srgbClr val="00CC66"/>
    <a:srgbClr val="0000FF"/>
    <a:srgbClr val="A1C2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329" autoAdjust="0"/>
    <p:restoredTop sz="81258" autoAdjust="0"/>
  </p:normalViewPr>
  <p:slideViewPr>
    <p:cSldViewPr>
      <p:cViewPr varScale="1">
        <p:scale>
          <a:sx n="79" d="100"/>
          <a:sy n="79" d="100"/>
        </p:scale>
        <p:origin x="1518" y="9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812" y="-78"/>
      </p:cViewPr>
      <p:guideLst>
        <p:guide orient="horz" pos="3128"/>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handoutMaster" Target="handoutMasters/handout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_rels/viewProps.xml.rels><?xml version="1.0" encoding="UTF-8" standalone="yes"?>
<Relationships xmlns="http://schemas.openxmlformats.org/package/2006/relationships"><Relationship Id="rId8" Type="http://schemas.openxmlformats.org/officeDocument/2006/relationships/slide" Target="slides/slide53.xml"/><Relationship Id="rId13" Type="http://schemas.openxmlformats.org/officeDocument/2006/relationships/slide" Target="slides/slide110.xml"/><Relationship Id="rId18" Type="http://schemas.openxmlformats.org/officeDocument/2006/relationships/slide" Target="slides/slide137.xml"/><Relationship Id="rId3" Type="http://schemas.openxmlformats.org/officeDocument/2006/relationships/slide" Target="slides/slide20.xml"/><Relationship Id="rId7" Type="http://schemas.openxmlformats.org/officeDocument/2006/relationships/slide" Target="slides/slide51.xml"/><Relationship Id="rId12" Type="http://schemas.openxmlformats.org/officeDocument/2006/relationships/slide" Target="slides/slide59.xml"/><Relationship Id="rId17" Type="http://schemas.openxmlformats.org/officeDocument/2006/relationships/slide" Target="slides/slide136.xml"/><Relationship Id="rId2" Type="http://schemas.openxmlformats.org/officeDocument/2006/relationships/slide" Target="slides/slide14.xml"/><Relationship Id="rId16" Type="http://schemas.openxmlformats.org/officeDocument/2006/relationships/slide" Target="slides/slide125.xml"/><Relationship Id="rId20" Type="http://schemas.openxmlformats.org/officeDocument/2006/relationships/slide" Target="slides/slide150.xml"/><Relationship Id="rId1" Type="http://schemas.openxmlformats.org/officeDocument/2006/relationships/slide" Target="slides/slide13.xml"/><Relationship Id="rId6" Type="http://schemas.openxmlformats.org/officeDocument/2006/relationships/slide" Target="slides/slide40.xml"/><Relationship Id="rId11" Type="http://schemas.openxmlformats.org/officeDocument/2006/relationships/slide" Target="slides/slide56.xml"/><Relationship Id="rId5" Type="http://schemas.openxmlformats.org/officeDocument/2006/relationships/slide" Target="slides/slide39.xml"/><Relationship Id="rId15" Type="http://schemas.openxmlformats.org/officeDocument/2006/relationships/slide" Target="slides/slide118.xml"/><Relationship Id="rId10" Type="http://schemas.openxmlformats.org/officeDocument/2006/relationships/slide" Target="slides/slide55.xml"/><Relationship Id="rId19" Type="http://schemas.openxmlformats.org/officeDocument/2006/relationships/slide" Target="slides/slide138.xml"/><Relationship Id="rId4" Type="http://schemas.openxmlformats.org/officeDocument/2006/relationships/slide" Target="slides/slide38.xml"/><Relationship Id="rId9" Type="http://schemas.openxmlformats.org/officeDocument/2006/relationships/slide" Target="slides/slide54.xml"/><Relationship Id="rId14" Type="http://schemas.openxmlformats.org/officeDocument/2006/relationships/slide" Target="slides/slide1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atin typeface="Arial" pitchFamily="34" charset="0"/>
              </a:defRPr>
            </a:lvl1pPr>
          </a:lstStyle>
          <a:p>
            <a:pPr>
              <a:defRPr/>
            </a:pPr>
            <a:endParaRPr lang="en-US" altLang="zh-CN"/>
          </a:p>
        </p:txBody>
      </p:sp>
      <p:sp>
        <p:nvSpPr>
          <p:cNvPr id="50179" name="Rectangle 3"/>
          <p:cNvSpPr>
            <a:spLocks noGrp="1" noChangeArrowheads="1"/>
          </p:cNvSpPr>
          <p:nvPr>
            <p:ph type="dt" sz="quarter" idx="1"/>
          </p:nvPr>
        </p:nvSpPr>
        <p:spPr bwMode="auto">
          <a:xfrm>
            <a:off x="3851275"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atin typeface="Arial" pitchFamily="34" charset="0"/>
              </a:defRPr>
            </a:lvl1pPr>
          </a:lstStyle>
          <a:p>
            <a:pPr>
              <a:defRPr/>
            </a:pPr>
            <a:endParaRPr lang="en-US" altLang="zh-CN"/>
          </a:p>
        </p:txBody>
      </p:sp>
      <p:sp>
        <p:nvSpPr>
          <p:cNvPr id="50180" name="Rectangle 4"/>
          <p:cNvSpPr>
            <a:spLocks noGrp="1" noChangeArrowheads="1"/>
          </p:cNvSpPr>
          <p:nvPr>
            <p:ph type="ftr" sz="quarter" idx="2"/>
          </p:nvPr>
        </p:nvSpPr>
        <p:spPr bwMode="auto">
          <a:xfrm>
            <a:off x="0" y="9431338"/>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atin typeface="Arial" pitchFamily="34" charset="0"/>
              </a:defRPr>
            </a:lvl1pPr>
          </a:lstStyle>
          <a:p>
            <a:pPr>
              <a:defRPr/>
            </a:pPr>
            <a:endParaRPr lang="en-US" altLang="zh-CN"/>
          </a:p>
        </p:txBody>
      </p:sp>
      <p:sp>
        <p:nvSpPr>
          <p:cNvPr id="50181" name="Rectangle 5"/>
          <p:cNvSpPr>
            <a:spLocks noGrp="1" noChangeArrowheads="1"/>
          </p:cNvSpPr>
          <p:nvPr>
            <p:ph type="sldNum" sz="quarter" idx="3"/>
          </p:nvPr>
        </p:nvSpPr>
        <p:spPr bwMode="auto">
          <a:xfrm>
            <a:off x="3851275" y="9431338"/>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atin typeface="Arial" panose="020B0604020202020204" pitchFamily="34" charset="0"/>
              </a:defRPr>
            </a:lvl1pPr>
          </a:lstStyle>
          <a:p>
            <a:fld id="{46C2BB55-6223-41FE-8921-1CFBCA37DDA5}"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atin typeface="Arial" pitchFamily="34" charset="0"/>
              </a:defRPr>
            </a:lvl1pPr>
          </a:lstStyle>
          <a:p>
            <a:pPr>
              <a:defRPr/>
            </a:pPr>
            <a:endParaRPr lang="en-US" altLang="zh-CN"/>
          </a:p>
        </p:txBody>
      </p:sp>
      <p:sp>
        <p:nvSpPr>
          <p:cNvPr id="65539" name="Rectangle 3"/>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atin typeface="Arial" pitchFamily="34" charset="0"/>
              </a:defRPr>
            </a:lvl1pPr>
          </a:lstStyle>
          <a:p>
            <a:pPr>
              <a:defRPr/>
            </a:pPr>
            <a:endParaRPr lang="en-US" altLang="zh-CN"/>
          </a:p>
        </p:txBody>
      </p:sp>
      <p:sp>
        <p:nvSpPr>
          <p:cNvPr id="179204" name="Rectangle 4"/>
          <p:cNvSpPr>
            <a:spLocks noGrp="1" noRot="1" noChangeAspect="1" noChangeArrowheads="1" noTextEdit="1"/>
          </p:cNvSpPr>
          <p:nvPr>
            <p:ph type="sldImg" idx="2"/>
          </p:nvPr>
        </p:nvSpPr>
        <p:spPr bwMode="auto">
          <a:xfrm>
            <a:off x="917575" y="744538"/>
            <a:ext cx="4964113"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41" name="Rectangle 5"/>
          <p:cNvSpPr>
            <a:spLocks noGrp="1" noChangeArrowheads="1"/>
          </p:cNvSpPr>
          <p:nvPr>
            <p:ph type="body" sz="quarter" idx="3"/>
          </p:nvPr>
        </p:nvSpPr>
        <p:spPr bwMode="auto">
          <a:xfrm>
            <a:off x="681038" y="4714875"/>
            <a:ext cx="5435600" cy="44688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5542" name="Rectangle 6"/>
          <p:cNvSpPr>
            <a:spLocks noGrp="1" noChangeArrowheads="1"/>
          </p:cNvSpPr>
          <p:nvPr>
            <p:ph type="ftr" sz="quarter" idx="4"/>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atin typeface="Arial" pitchFamily="34" charset="0"/>
              </a:defRPr>
            </a:lvl1pPr>
          </a:lstStyle>
          <a:p>
            <a:pPr>
              <a:defRPr/>
            </a:pPr>
            <a:endParaRPr lang="en-US" altLang="zh-CN"/>
          </a:p>
        </p:txBody>
      </p:sp>
      <p:sp>
        <p:nvSpPr>
          <p:cNvPr id="65543" name="Rectangle 7"/>
          <p:cNvSpPr>
            <a:spLocks noGrp="1" noChangeArrowheads="1"/>
          </p:cNvSpPr>
          <p:nvPr>
            <p:ph type="sldNum" sz="quarter" idx="5"/>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atin typeface="Arial" panose="020B0604020202020204" pitchFamily="34" charset="0"/>
              </a:defRPr>
            </a:lvl1pPr>
          </a:lstStyle>
          <a:p>
            <a:fld id="{24C3C3D0-99F8-4900-A7DD-AB33328626DD}"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os.rdxx.com/Linux/" TargetMode="External"/><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286AF858-0EE2-4D05-B4BC-A51BCFED6402}" type="slidenum">
              <a:rPr lang="en-US" altLang="zh-CN" sz="1200">
                <a:latin typeface="Arial" panose="020B0604020202020204" pitchFamily="34" charset="0"/>
              </a:rPr>
              <a:pPr eaLnBrk="1" hangingPunct="1"/>
              <a:t>5</a:t>
            </a:fld>
            <a:endParaRPr lang="en-US" altLang="zh-CN" sz="1200">
              <a:latin typeface="Arial" panose="020B0604020202020204" pitchFamily="34" charset="0"/>
            </a:endParaRPr>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宋体" panose="02010600030101010101" pitchFamily="2" charset="-122"/>
              </a:rPr>
              <a:t>Linux</a:t>
            </a:r>
            <a:r>
              <a:rPr lang="zh-CN" altLang="en-US" smtClean="0">
                <a:latin typeface="宋体" panose="02010600030101010101" pitchFamily="2" charset="-122"/>
              </a:rPr>
              <a:t>采用虚拟文件系统</a:t>
            </a:r>
            <a:r>
              <a:rPr lang="en-US" altLang="zh-CN" smtClean="0">
                <a:latin typeface="宋体" panose="02010600030101010101" pitchFamily="2" charset="-122"/>
              </a:rPr>
              <a:t>VFS</a:t>
            </a:r>
            <a:r>
              <a:rPr lang="zh-CN" altLang="en-US" smtClean="0">
                <a:latin typeface="宋体" panose="02010600030101010101" pitchFamily="2" charset="-122"/>
              </a:rPr>
              <a:t>支持许多不同类型的文件系统，</a:t>
            </a:r>
            <a:r>
              <a:rPr lang="en-US" altLang="zh-CN" smtClean="0">
                <a:latin typeface="宋体" panose="02010600030101010101" pitchFamily="2" charset="-122"/>
              </a:rPr>
              <a:t>VFS</a:t>
            </a:r>
            <a:r>
              <a:rPr lang="zh-CN" altLang="en-US" smtClean="0">
                <a:latin typeface="宋体" panose="02010600030101010101" pitchFamily="2" charset="-122"/>
              </a:rPr>
              <a:t>是物理系统与服务之间的一个接口层，它屏蔽各类文件系统的差异，给用户和程序提供一个统一的接口。</a:t>
            </a:r>
            <a:r>
              <a:rPr lang="en-US" altLang="zh-CN" smtClean="0">
                <a:latin typeface="宋体" panose="02010600030101010101" pitchFamily="2" charset="-122"/>
              </a:rPr>
              <a:t>Linux</a:t>
            </a:r>
            <a:r>
              <a:rPr lang="zh-CN" altLang="en-US" smtClean="0">
                <a:latin typeface="宋体" panose="02010600030101010101" pitchFamily="2" charset="-122"/>
              </a:rPr>
              <a:t>支持</a:t>
            </a:r>
            <a:r>
              <a:rPr lang="en-US" altLang="zh-CN" smtClean="0">
                <a:latin typeface="宋体" panose="02010600030101010101" pitchFamily="2" charset="-122"/>
              </a:rPr>
              <a:t>ext</a:t>
            </a:r>
            <a:r>
              <a:rPr lang="zh-CN" altLang="en-US" smtClean="0">
                <a:latin typeface="宋体" panose="02010600030101010101" pitchFamily="2" charset="-122"/>
              </a:rPr>
              <a:t>、</a:t>
            </a:r>
            <a:r>
              <a:rPr lang="en-US" altLang="zh-CN" smtClean="0">
                <a:latin typeface="宋体" panose="02010600030101010101" pitchFamily="2" charset="-122"/>
              </a:rPr>
              <a:t>ext2</a:t>
            </a:r>
            <a:r>
              <a:rPr lang="zh-CN" altLang="en-US" smtClean="0">
                <a:latin typeface="宋体" panose="02010600030101010101" pitchFamily="2" charset="-122"/>
              </a:rPr>
              <a:t>、</a:t>
            </a:r>
            <a:r>
              <a:rPr lang="en-US" altLang="zh-CN" smtClean="0">
                <a:latin typeface="宋体" panose="02010600030101010101" pitchFamily="2" charset="-122"/>
              </a:rPr>
              <a:t>msdos</a:t>
            </a:r>
            <a:r>
              <a:rPr lang="zh-CN" altLang="en-US" smtClean="0">
                <a:latin typeface="宋体" panose="02010600030101010101" pitchFamily="2" charset="-122"/>
              </a:rPr>
              <a:t>、</a:t>
            </a:r>
            <a:r>
              <a:rPr lang="en-US" altLang="zh-CN" smtClean="0">
                <a:latin typeface="宋体" panose="02010600030101010101" pitchFamily="2" charset="-122"/>
              </a:rPr>
              <a:t>vfat</a:t>
            </a:r>
            <a:r>
              <a:rPr lang="zh-CN" altLang="en-US" smtClean="0">
                <a:latin typeface="宋体" panose="02010600030101010101" pitchFamily="2" charset="-122"/>
              </a:rPr>
              <a:t>、</a:t>
            </a:r>
            <a:r>
              <a:rPr lang="en-US" altLang="zh-CN" smtClean="0">
                <a:latin typeface="宋体" panose="02010600030101010101" pitchFamily="2" charset="-122"/>
              </a:rPr>
              <a:t>iso9660</a:t>
            </a:r>
            <a:r>
              <a:rPr lang="zh-CN" altLang="en-US" smtClean="0">
                <a:latin typeface="宋体" panose="02010600030101010101" pitchFamily="2" charset="-122"/>
              </a:rPr>
              <a:t>、</a:t>
            </a:r>
            <a:r>
              <a:rPr lang="en-US" altLang="zh-CN" smtClean="0">
                <a:latin typeface="宋体" panose="02010600030101010101" pitchFamily="2" charset="-122"/>
              </a:rPr>
              <a:t>hpfs</a:t>
            </a:r>
            <a:r>
              <a:rPr lang="zh-CN" altLang="en-US" smtClean="0">
                <a:latin typeface="宋体" panose="02010600030101010101" pitchFamily="2" charset="-122"/>
              </a:rPr>
              <a:t>等多种文件系统。使用命令</a:t>
            </a:r>
            <a:r>
              <a:rPr lang="en-US" altLang="zh-CN" smtClean="0">
                <a:latin typeface="Times New Roman" panose="02020603050405020304" pitchFamily="18" charset="0"/>
              </a:rPr>
              <a:t>mkfs</a:t>
            </a:r>
            <a:r>
              <a:rPr lang="zh-CN" altLang="en-US" smtClean="0">
                <a:latin typeface="Times New Roman" panose="02020603050405020304" pitchFamily="18" charset="0"/>
              </a:rPr>
              <a:t>创建</a:t>
            </a:r>
            <a:r>
              <a:rPr lang="zh-CN" altLang="en-US" smtClean="0">
                <a:latin typeface="宋体" panose="02010600030101010101" pitchFamily="2" charset="-122"/>
              </a:rPr>
              <a:t>各类文件系统</a:t>
            </a:r>
            <a:r>
              <a:rPr lang="zh-CN" altLang="en-US" smtClean="0">
                <a:latin typeface="Times New Roman" panose="02020603050405020304" pitchFamily="18" charset="0"/>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FDC8DBD7-BF0C-4889-9B24-1C701883E271}" type="slidenum">
              <a:rPr lang="en-US" altLang="zh-CN" sz="1200">
                <a:latin typeface="Arial" panose="020B0604020202020204" pitchFamily="34" charset="0"/>
              </a:rPr>
              <a:pPr eaLnBrk="1" hangingPunct="1"/>
              <a:t>8</a:t>
            </a:fld>
            <a:endParaRPr lang="en-US" altLang="zh-CN" sz="1200">
              <a:latin typeface="Arial" panose="020B0604020202020204" pitchFamily="34" charset="0"/>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t>Cp /dev/tty1 terminalread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幻灯片图像占位符 1"/>
          <p:cNvSpPr>
            <a:spLocks noGrp="1" noRot="1" noChangeAspect="1" noTextEdit="1"/>
          </p:cNvSpPr>
          <p:nvPr>
            <p:ph type="sldImg"/>
          </p:nvPr>
        </p:nvSpPr>
        <p:spPr>
          <a:ln/>
        </p:spPr>
      </p:sp>
      <p:sp>
        <p:nvSpPr>
          <p:cNvPr id="1822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任哲：虚拟文件系统既没有文件，也不直接管理文件，它只是用户与实际文件系统之间的接口。因此，它并不需要保存在永久存储介质中，它只是在需要时由内核在内存中创建起来的一个文件系统，因此，叫做虚拟文件系统。</a:t>
            </a:r>
          </a:p>
        </p:txBody>
      </p:sp>
      <p:sp>
        <p:nvSpPr>
          <p:cNvPr id="1822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3414C556-2502-4268-A65E-6E29A46047DD}" type="slidenum">
              <a:rPr lang="en-US" altLang="zh-CN" sz="1200">
                <a:latin typeface="Arial" panose="020B0604020202020204" pitchFamily="34" charset="0"/>
              </a:rPr>
              <a:pPr eaLnBrk="1" hangingPunct="1"/>
              <a:t>22</a:t>
            </a:fld>
            <a:endParaRPr lang="en-US" altLang="zh-CN" sz="120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4270DF0C-2EF8-4DD1-93D9-D3F32FF2A249}" type="slidenum">
              <a:rPr lang="en-US" altLang="zh-CN" sz="1200">
                <a:latin typeface="Arial" panose="020B0604020202020204" pitchFamily="34" charset="0"/>
              </a:rPr>
              <a:pPr eaLnBrk="1" hangingPunct="1"/>
              <a:t>31</a:t>
            </a:fld>
            <a:endParaRPr lang="en-US" altLang="zh-CN" sz="1200">
              <a:latin typeface="Arial" panose="020B0604020202020204" pitchFamily="34" charset="0"/>
            </a:endParaRPr>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所有的实际文件系统，一旦被安装到系统上，就必须由系统在内存为其创建一个虚拟文件系统的超级块。这个超级块实质上也就是系统将实际文件系统超级块的相关信息提取出来，再与虚拟系统所需要的通用信息拼合起来而形式的一个格式统一的超级块，它相当于一个实际系统在虚拟文件系统中的身份证。</a:t>
            </a:r>
            <a:endParaRPr lang="zh-CN" altLang="zh-CN" smtClean="0"/>
          </a:p>
        </p:txBody>
      </p:sp>
    </p:spTree>
    <p:extLst>
      <p:ext uri="{BB962C8B-B14F-4D97-AF65-F5344CB8AC3E}">
        <p14:creationId xmlns:p14="http://schemas.microsoft.com/office/powerpoint/2010/main" val="1396422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07780663-8F7B-417B-B06D-0EC67BADC5E3}" type="slidenum">
              <a:rPr lang="en-US" altLang="zh-CN" sz="1200">
                <a:latin typeface="Arial" panose="020B0604020202020204" pitchFamily="34" charset="0"/>
              </a:rPr>
              <a:pPr eaLnBrk="1" hangingPunct="1"/>
              <a:t>35</a:t>
            </a:fld>
            <a:endParaRPr lang="en-US" altLang="zh-CN" sz="1200">
              <a:latin typeface="Arial" panose="020B0604020202020204" pitchFamily="34" charset="0"/>
            </a:endParaRPr>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例如对于</a:t>
            </a:r>
            <a:r>
              <a:rPr lang="en-US" altLang="zh-CN" smtClean="0"/>
              <a:t>ext2</a:t>
            </a:r>
            <a:r>
              <a:rPr lang="zh-CN" altLang="en-US" smtClean="0"/>
              <a:t>文件系统，对应的数据结构是</a:t>
            </a:r>
            <a:r>
              <a:rPr lang="en-US" altLang="zh-CN" smtClean="0"/>
              <a:t>ext2_sb_info,</a:t>
            </a:r>
            <a:r>
              <a:rPr lang="zh-CN" altLang="en-US" smtClean="0"/>
              <a:t>与通用数据模型无关的数据；在装载文件系统时，内核从磁盘的超级块中把相应的数据读入内存的超级块中，</a:t>
            </a:r>
          </a:p>
        </p:txBody>
      </p:sp>
    </p:spTree>
    <p:extLst>
      <p:ext uri="{BB962C8B-B14F-4D97-AF65-F5344CB8AC3E}">
        <p14:creationId xmlns:p14="http://schemas.microsoft.com/office/powerpoint/2010/main" val="2688991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560FDD51-AE15-414D-89C7-C6AA91B4CCAE}" type="slidenum">
              <a:rPr lang="en-US" altLang="zh-CN" sz="1200">
                <a:latin typeface="Arial" panose="020B0604020202020204" pitchFamily="34" charset="0"/>
              </a:rPr>
              <a:pPr eaLnBrk="1" hangingPunct="1"/>
              <a:t>38</a:t>
            </a:fld>
            <a:endParaRPr lang="en-US" altLang="zh-CN" sz="1200">
              <a:latin typeface="Arial" panose="020B0604020202020204" pitchFamily="34" charset="0"/>
            </a:endParaRPr>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xfrm>
            <a:off x="906463" y="4714875"/>
            <a:ext cx="498475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extLst>
      <p:ext uri="{BB962C8B-B14F-4D97-AF65-F5344CB8AC3E}">
        <p14:creationId xmlns:p14="http://schemas.microsoft.com/office/powerpoint/2010/main" val="2697744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A1BAAF6B-115F-4DBF-A988-D0F00C60D057}" type="slidenum">
              <a:rPr lang="en-US" altLang="zh-CN" sz="1200">
                <a:latin typeface="Arial" panose="020B0604020202020204" pitchFamily="34" charset="0"/>
              </a:rPr>
              <a:pPr eaLnBrk="1" hangingPunct="1"/>
              <a:t>39</a:t>
            </a:fld>
            <a:endParaRPr lang="en-US" altLang="zh-CN" sz="1200">
              <a:latin typeface="Arial" panose="020B0604020202020204" pitchFamily="34" charset="0"/>
            </a:endParaRPr>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xfrm>
            <a:off x="906463" y="4714875"/>
            <a:ext cx="498475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extLst>
      <p:ext uri="{BB962C8B-B14F-4D97-AF65-F5344CB8AC3E}">
        <p14:creationId xmlns:p14="http://schemas.microsoft.com/office/powerpoint/2010/main" val="4067620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E4043746-93ED-432C-8870-03C6D7C281B0}" type="slidenum">
              <a:rPr lang="en-US" altLang="zh-CN" sz="1200">
                <a:latin typeface="Arial" panose="020B0604020202020204" pitchFamily="34" charset="0"/>
              </a:rPr>
              <a:pPr eaLnBrk="1" hangingPunct="1"/>
              <a:t>40</a:t>
            </a:fld>
            <a:endParaRPr lang="en-US" altLang="zh-CN" sz="1200">
              <a:latin typeface="Arial" panose="020B0604020202020204" pitchFamily="34" charset="0"/>
            </a:endParaRPr>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xfrm>
            <a:off x="906463" y="4714875"/>
            <a:ext cx="498475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extLst>
      <p:ext uri="{BB962C8B-B14F-4D97-AF65-F5344CB8AC3E}">
        <p14:creationId xmlns:p14="http://schemas.microsoft.com/office/powerpoint/2010/main" val="435598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8477432F-A175-4705-B62A-AFC2B43A6B44}" type="slidenum">
              <a:rPr lang="en-US" altLang="zh-CN" sz="1200">
                <a:latin typeface="Arial" panose="020B0604020202020204" pitchFamily="34" charset="0"/>
              </a:rPr>
              <a:pPr eaLnBrk="1" hangingPunct="1"/>
              <a:t>45</a:t>
            </a:fld>
            <a:endParaRPr lang="en-US" altLang="zh-CN" sz="1200">
              <a:latin typeface="Arial" panose="020B0604020202020204" pitchFamily="34" charset="0"/>
            </a:endParaRPr>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solidFill>
                  <a:srgbClr val="000000"/>
                </a:solidFill>
              </a:rPr>
              <a:t>（</a:t>
            </a:r>
            <a:r>
              <a:rPr lang="en-US" altLang="zh-CN" smtClean="0">
                <a:solidFill>
                  <a:srgbClr val="000000"/>
                </a:solidFill>
              </a:rPr>
              <a:t>1</a:t>
            </a:r>
            <a:r>
              <a:rPr lang="zh-CN" altLang="en-US" smtClean="0">
                <a:solidFill>
                  <a:srgbClr val="000000"/>
                </a:solidFill>
              </a:rPr>
              <a:t>）在同一个文件系统中，每个索引节点号都是唯一的，内核可以根据索引节点号的哈希值查找其</a:t>
            </a:r>
            <a:r>
              <a:rPr lang="en-US" altLang="zh-CN" smtClean="0">
                <a:solidFill>
                  <a:srgbClr val="000000"/>
                </a:solidFill>
              </a:rPr>
              <a:t>inode</a:t>
            </a:r>
            <a:r>
              <a:rPr lang="zh-CN" altLang="en-US" smtClean="0">
                <a:solidFill>
                  <a:srgbClr val="000000"/>
                </a:solidFill>
              </a:rPr>
              <a:t>结构。</a:t>
            </a:r>
            <a:endParaRPr lang="zh-CN" altLang="en-US" smtClean="0"/>
          </a:p>
          <a:p>
            <a:pPr eaLnBrk="1" hangingPunct="1"/>
            <a:r>
              <a:rPr lang="zh-CN" altLang="en-US" smtClean="0">
                <a:solidFill>
                  <a:srgbClr val="000000"/>
                </a:solidFill>
              </a:rPr>
              <a:t>（</a:t>
            </a:r>
            <a:r>
              <a:rPr lang="en-US" altLang="zh-CN" smtClean="0">
                <a:solidFill>
                  <a:srgbClr val="000000"/>
                </a:solidFill>
              </a:rPr>
              <a:t>2</a:t>
            </a:r>
            <a:r>
              <a:rPr lang="zh-CN" altLang="en-US" smtClean="0">
                <a:solidFill>
                  <a:srgbClr val="000000"/>
                </a:solidFill>
              </a:rPr>
              <a:t>）</a:t>
            </a:r>
            <a:r>
              <a:rPr lang="en-US" altLang="zh-CN" smtClean="0">
                <a:solidFill>
                  <a:srgbClr val="000000"/>
                </a:solidFill>
              </a:rPr>
              <a:t>inode </a:t>
            </a:r>
            <a:r>
              <a:rPr lang="zh-CN" altLang="en-US" smtClean="0">
                <a:solidFill>
                  <a:srgbClr val="000000"/>
                </a:solidFill>
              </a:rPr>
              <a:t>中有两个设备号，</a:t>
            </a:r>
            <a:r>
              <a:rPr lang="en-US" altLang="zh-CN" smtClean="0">
                <a:solidFill>
                  <a:srgbClr val="000000"/>
                </a:solidFill>
              </a:rPr>
              <a:t>i_dev</a:t>
            </a:r>
            <a:r>
              <a:rPr lang="zh-CN" altLang="en-US" smtClean="0">
                <a:solidFill>
                  <a:srgbClr val="000000"/>
                </a:solidFill>
              </a:rPr>
              <a:t>和</a:t>
            </a:r>
            <a:r>
              <a:rPr lang="en-US" altLang="zh-CN" smtClean="0">
                <a:solidFill>
                  <a:srgbClr val="000000"/>
                </a:solidFill>
              </a:rPr>
              <a:t>i_rdev</a:t>
            </a:r>
            <a:r>
              <a:rPr lang="zh-CN" altLang="en-US" smtClean="0">
                <a:solidFill>
                  <a:srgbClr val="000000"/>
                </a:solidFill>
              </a:rPr>
              <a:t>。首先，除特殊文件外，每个节点都存储在某个设备上，这就是</a:t>
            </a:r>
            <a:r>
              <a:rPr lang="en-US" altLang="zh-CN" smtClean="0">
                <a:solidFill>
                  <a:srgbClr val="000000"/>
                </a:solidFill>
              </a:rPr>
              <a:t>i_dev</a:t>
            </a:r>
            <a:r>
              <a:rPr lang="zh-CN" altLang="en-US" smtClean="0">
                <a:solidFill>
                  <a:srgbClr val="000000"/>
                </a:solidFill>
              </a:rPr>
              <a:t>。其次，如果索引节点所代表的并不是常规文件，而是某个设备，那就还得有个设备号，这就是</a:t>
            </a:r>
            <a:r>
              <a:rPr lang="en-US" altLang="zh-CN" smtClean="0">
                <a:solidFill>
                  <a:srgbClr val="000000"/>
                </a:solidFill>
              </a:rPr>
              <a:t>i_rdev</a:t>
            </a:r>
            <a:r>
              <a:rPr lang="zh-CN" altLang="en-US" smtClean="0">
                <a:solidFill>
                  <a:srgbClr val="000000"/>
                </a:solidFill>
              </a:rPr>
              <a:t>。</a:t>
            </a:r>
            <a:endParaRPr lang="zh-CN" altLang="en-US" smtClean="0"/>
          </a:p>
          <a:p>
            <a:pPr eaLnBrk="1" hangingPunct="1"/>
            <a:r>
              <a:rPr lang="zh-CN" altLang="en-US" smtClean="0"/>
              <a:t>（</a:t>
            </a:r>
            <a:r>
              <a:rPr lang="en-US" altLang="zh-CN" smtClean="0"/>
              <a:t>3</a:t>
            </a:r>
            <a:r>
              <a:rPr lang="zh-CN" altLang="en-US" smtClean="0"/>
              <a:t>）每个</a:t>
            </a:r>
            <a:r>
              <a:rPr lang="en-US" altLang="zh-CN" smtClean="0"/>
              <a:t>VFS</a:t>
            </a:r>
            <a:r>
              <a:rPr lang="zh-CN" altLang="en-US" smtClean="0"/>
              <a:t>索引节点都会复制磁盘索引节点包含的一些数据，比如文件占用的磁盘块数。如果</a:t>
            </a:r>
            <a:r>
              <a:rPr lang="en-US" altLang="zh-CN" smtClean="0"/>
              <a:t>i_state</a:t>
            </a:r>
            <a:r>
              <a:rPr lang="zh-CN" altLang="en-US" smtClean="0"/>
              <a:t>域的值等于</a:t>
            </a:r>
            <a:r>
              <a:rPr lang="en-US" altLang="zh-CN" smtClean="0"/>
              <a:t>I_DIRTY</a:t>
            </a:r>
            <a:r>
              <a:rPr lang="zh-CN" altLang="en-US" smtClean="0"/>
              <a:t>，该索引节点就是“脏”的，也就是说，对应的磁盘索引节点必须被更新。</a:t>
            </a:r>
          </a:p>
          <a:p>
            <a:pPr eaLnBrk="1" hangingPunct="1"/>
            <a:r>
              <a:rPr lang="zh-CN" altLang="en-US" smtClean="0"/>
              <a:t>（</a:t>
            </a:r>
            <a:r>
              <a:rPr lang="en-US" altLang="zh-CN" smtClean="0"/>
              <a:t>4</a:t>
            </a:r>
            <a:r>
              <a:rPr lang="zh-CN" altLang="en-US" smtClean="0"/>
              <a:t>）每个索引节点对象总是出现在下列循环双向链表的某个链表中：未用索引节点链表、正在使用索引节点链表和脏索引节点链表。这三个链表都是通过索引节点的</a:t>
            </a:r>
            <a:r>
              <a:rPr lang="en-US" altLang="zh-CN" smtClean="0"/>
              <a:t>i_list</a:t>
            </a:r>
            <a:r>
              <a:rPr lang="zh-CN" altLang="en-US" smtClean="0"/>
              <a:t>域链接在一起的。</a:t>
            </a:r>
          </a:p>
          <a:p>
            <a:pPr eaLnBrk="1" hangingPunct="1"/>
            <a:endParaRPr lang="en-US" altLang="zh-CN" smtClean="0"/>
          </a:p>
        </p:txBody>
      </p:sp>
    </p:spTree>
    <p:extLst>
      <p:ext uri="{BB962C8B-B14F-4D97-AF65-F5344CB8AC3E}">
        <p14:creationId xmlns:p14="http://schemas.microsoft.com/office/powerpoint/2010/main" val="4149107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E41B629D-F77D-43D7-8CD6-376BA08CFDC9}" type="slidenum">
              <a:rPr lang="en-US" altLang="zh-CN" sz="1200">
                <a:latin typeface="Arial" panose="020B0604020202020204" pitchFamily="34" charset="0"/>
              </a:rPr>
              <a:pPr eaLnBrk="1" hangingPunct="1"/>
              <a:t>47</a:t>
            </a:fld>
            <a:endParaRPr lang="en-US" altLang="zh-CN" sz="1200">
              <a:latin typeface="Arial" panose="020B0604020202020204" pitchFamily="34" charset="0"/>
            </a:endParaRPr>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900" smtClean="0">
                <a:latin typeface="宋体" panose="02010600030101010101" pitchFamily="2" charset="-122"/>
              </a:rPr>
              <a:t>索引节点操作集	指向索引节点操作例程集的指针。这些例程专用于该文件系统，执行针对该节点的操作。</a:t>
            </a:r>
          </a:p>
          <a:p>
            <a:pPr eaLnBrk="1" hangingPunct="1"/>
            <a:r>
              <a:rPr lang="zh-CN" altLang="en-US" sz="900" smtClean="0">
                <a:latin typeface="宋体" panose="02010600030101010101" pitchFamily="2" charset="-122"/>
              </a:rPr>
              <a:t>计数	系统组件使用该 </a:t>
            </a:r>
            <a:r>
              <a:rPr lang="en-US" altLang="zh-CN" sz="900" smtClean="0">
                <a:latin typeface="宋体" panose="02010600030101010101" pitchFamily="2" charset="-122"/>
              </a:rPr>
              <a:t>VFS </a:t>
            </a:r>
            <a:r>
              <a:rPr lang="zh-CN" altLang="en-US" sz="900" smtClean="0">
                <a:latin typeface="宋体" panose="02010600030101010101" pitchFamily="2" charset="-122"/>
              </a:rPr>
              <a:t>节点的次数。计数为零，表明该节点可丢弃或重新使用。</a:t>
            </a:r>
            <a:endParaRPr lang="en-US" altLang="zh-CN" sz="900" smtClean="0">
              <a:latin typeface="宋体" panose="02010600030101010101" pitchFamily="2" charset="-122"/>
            </a:endParaRPr>
          </a:p>
          <a:p>
            <a:pPr eaLnBrk="1" hangingPunct="1"/>
            <a:endParaRPr lang="en-US" altLang="zh-CN" sz="900" smtClean="0">
              <a:latin typeface="宋体" panose="02010600030101010101" pitchFamily="2" charset="-122"/>
            </a:endParaRPr>
          </a:p>
          <a:p>
            <a:pPr eaLnBrk="1" hangingPunct="1"/>
            <a:endParaRPr lang="en-US" altLang="zh-CN" sz="900" smtClean="0">
              <a:latin typeface="宋体" panose="02010600030101010101" pitchFamily="2" charset="-122"/>
            </a:endParaRPr>
          </a:p>
          <a:p>
            <a:pPr eaLnBrk="1" hangingPunct="1"/>
            <a:r>
              <a:rPr lang="en-US" altLang="zh-CN" sz="900" smtClean="0">
                <a:latin typeface="宋体" panose="02010600030101010101" pitchFamily="2" charset="-122"/>
              </a:rPr>
              <a:t>VFS</a:t>
            </a:r>
            <a:r>
              <a:rPr lang="zh-CN" altLang="en-US" sz="900" smtClean="0">
                <a:latin typeface="宋体" panose="02010600030101010101" pitchFamily="2" charset="-122"/>
              </a:rPr>
              <a:t>的</a:t>
            </a:r>
            <a:r>
              <a:rPr lang="en-US" altLang="zh-CN" sz="900" smtClean="0">
                <a:latin typeface="宋体" panose="02010600030101010101" pitchFamily="2" charset="-122"/>
              </a:rPr>
              <a:t>i</a:t>
            </a:r>
            <a:r>
              <a:rPr lang="zh-CN" altLang="en-US" sz="900" smtClean="0">
                <a:latin typeface="宋体" panose="02010600030101010101" pitchFamily="2" charset="-122"/>
              </a:rPr>
              <a:t>节点既包含了虚拟文件系统的通用管理信息，又包含了具体的文件系统</a:t>
            </a:r>
            <a:r>
              <a:rPr lang="en-US" altLang="zh-CN" sz="900" smtClean="0">
                <a:latin typeface="宋体" panose="02010600030101010101" pitchFamily="2" charset="-122"/>
              </a:rPr>
              <a:t>i</a:t>
            </a:r>
            <a:r>
              <a:rPr lang="zh-CN" altLang="en-US" sz="900" smtClean="0">
                <a:latin typeface="宋体" panose="02010600030101010101" pitchFamily="2" charset="-122"/>
              </a:rPr>
              <a:t>节点的私有信息。</a:t>
            </a:r>
          </a:p>
        </p:txBody>
      </p:sp>
    </p:spTree>
    <p:extLst>
      <p:ext uri="{BB962C8B-B14F-4D97-AF65-F5344CB8AC3E}">
        <p14:creationId xmlns:p14="http://schemas.microsoft.com/office/powerpoint/2010/main" val="446125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44BCEF75-7509-4CA1-81DA-16B39340CFB2}" type="slidenum">
              <a:rPr lang="en-US" altLang="zh-CN" sz="1200">
                <a:latin typeface="Arial" panose="020B0604020202020204" pitchFamily="34" charset="0"/>
              </a:rPr>
              <a:pPr eaLnBrk="1" hangingPunct="1"/>
              <a:t>51</a:t>
            </a:fld>
            <a:endParaRPr lang="en-US" altLang="zh-CN" sz="1200">
              <a:latin typeface="Arial" panose="020B0604020202020204" pitchFamily="34" charset="0"/>
            </a:endParaRPr>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t>VFS</a:t>
            </a:r>
            <a:r>
              <a:rPr lang="zh-CN" altLang="en-US" smtClean="0"/>
              <a:t>的</a:t>
            </a:r>
            <a:r>
              <a:rPr lang="en-US" altLang="zh-CN" smtClean="0"/>
              <a:t>dentry</a:t>
            </a:r>
            <a:r>
              <a:rPr lang="zh-CN" altLang="en-US" smtClean="0"/>
              <a:t>定义在</a:t>
            </a:r>
            <a:r>
              <a:rPr lang="en-US" altLang="zh-CN" smtClean="0">
                <a:solidFill>
                  <a:srgbClr val="FF0000"/>
                </a:solidFill>
              </a:rPr>
              <a:t>include/linux/dcache.h</a:t>
            </a:r>
            <a:r>
              <a:rPr lang="zh-CN" altLang="en-US" smtClean="0"/>
              <a:t>中</a:t>
            </a:r>
            <a:endParaRPr lang="zh-CN" altLang="en-US" b="1" smtClean="0"/>
          </a:p>
          <a:p>
            <a:pPr eaLnBrk="1" hangingPunct="1"/>
            <a:r>
              <a:rPr lang="zh-CN" altLang="en-US" b="1" smtClean="0"/>
              <a:t>目录项（</a:t>
            </a:r>
            <a:r>
              <a:rPr lang="en-US" altLang="zh-CN" b="1" smtClean="0"/>
              <a:t>dentry</a:t>
            </a:r>
            <a:r>
              <a:rPr lang="zh-CN" altLang="en-US" b="1" smtClean="0"/>
              <a:t>）对象</a:t>
            </a:r>
            <a:r>
              <a:rPr lang="en-US" altLang="zh-CN" b="1" smtClean="0"/>
              <a:t>:</a:t>
            </a:r>
            <a:r>
              <a:rPr lang="en-US" altLang="zh-CN" smtClean="0"/>
              <a:t> </a:t>
            </a:r>
            <a:r>
              <a:rPr lang="zh-CN" altLang="en-US" smtClean="0"/>
              <a:t>存放目录项与对应文件进行链接的信息。</a:t>
            </a:r>
            <a:r>
              <a:rPr lang="en-US" altLang="zh-CN" smtClean="0"/>
              <a:t>VFS</a:t>
            </a:r>
            <a:r>
              <a:rPr lang="zh-CN" altLang="en-US" smtClean="0"/>
              <a:t>把每个目录看作一个由若干子目录和文件组成的常规文件。例如，在查找路径名</a:t>
            </a:r>
            <a:r>
              <a:rPr lang="en-US" altLang="zh-CN" smtClean="0"/>
              <a:t>/tmp/test</a:t>
            </a:r>
            <a:r>
              <a:rPr lang="zh-CN" altLang="en-US" smtClean="0"/>
              <a:t>时 </a:t>
            </a:r>
            <a:r>
              <a:rPr lang="en-US" altLang="zh-CN" smtClean="0"/>
              <a:t>, </a:t>
            </a:r>
            <a:r>
              <a:rPr lang="zh-CN" altLang="en-US" smtClean="0"/>
              <a:t>内核为根目录“</a:t>
            </a:r>
            <a:r>
              <a:rPr lang="en-US" altLang="zh-CN" smtClean="0"/>
              <a:t>/ ”</a:t>
            </a:r>
            <a:r>
              <a:rPr lang="zh-CN" altLang="en-US" smtClean="0"/>
              <a:t>创建第一个目录项对象</a:t>
            </a:r>
            <a:r>
              <a:rPr lang="en-US" altLang="zh-CN" smtClean="0"/>
              <a:t>, </a:t>
            </a:r>
            <a:r>
              <a:rPr lang="zh-CN" altLang="en-US" smtClean="0"/>
              <a:t>为根目录下的 </a:t>
            </a:r>
            <a:r>
              <a:rPr lang="en-US" altLang="zh-CN" smtClean="0"/>
              <a:t>tmp</a:t>
            </a:r>
            <a:r>
              <a:rPr lang="zh-CN" altLang="en-US" smtClean="0"/>
              <a:t>项创建第二级目录项对象，为 </a:t>
            </a:r>
            <a:r>
              <a:rPr lang="en-US" altLang="zh-CN" smtClean="0"/>
              <a:t>/tmp </a:t>
            </a:r>
            <a:r>
              <a:rPr lang="zh-CN" altLang="en-US" smtClean="0"/>
              <a:t>目录下的</a:t>
            </a:r>
            <a:r>
              <a:rPr lang="en-US" altLang="zh-CN" smtClean="0"/>
              <a:t>test</a:t>
            </a:r>
            <a:r>
              <a:rPr lang="zh-CN" altLang="en-US" smtClean="0"/>
              <a:t>项创建第三级目录项对象。</a:t>
            </a:r>
          </a:p>
          <a:p>
            <a:pPr eaLnBrk="1" hangingPunct="1"/>
            <a:r>
              <a:rPr lang="zh-CN" altLang="en-US" b="1" smtClean="0"/>
              <a:t>文件</a:t>
            </a:r>
            <a:r>
              <a:rPr lang="en-US" altLang="zh-CN" b="1" smtClean="0"/>
              <a:t>(file)</a:t>
            </a:r>
            <a:r>
              <a:rPr lang="zh-CN" altLang="en-US" b="1" smtClean="0"/>
              <a:t>对象</a:t>
            </a:r>
            <a:r>
              <a:rPr lang="en-US" altLang="zh-CN" b="1" smtClean="0"/>
              <a:t>:</a:t>
            </a:r>
            <a:r>
              <a:rPr lang="en-US" altLang="zh-CN" smtClean="0"/>
              <a:t> </a:t>
            </a:r>
            <a:r>
              <a:rPr lang="zh-CN" altLang="en-US" smtClean="0"/>
              <a:t>存放打开文件与进程之间进行交互的有关信息。这类信息仅当进程访问文件期间存在于内存中。</a:t>
            </a:r>
          </a:p>
          <a:p>
            <a:pPr eaLnBrk="1" hangingPunct="1">
              <a:lnSpc>
                <a:spcPct val="130000"/>
              </a:lnSpc>
              <a:buClr>
                <a:srgbClr val="3333CC"/>
              </a:buClr>
              <a:buFont typeface="Wingdings" panose="05000000000000000000" pitchFamily="2" charset="2"/>
              <a:buNone/>
            </a:pPr>
            <a:r>
              <a:rPr lang="zh-CN" altLang="en-US" smtClean="0">
                <a:solidFill>
                  <a:srgbClr val="000000"/>
                </a:solidFill>
                <a:latin typeface="Times New Roman" panose="02020603050405020304" pitchFamily="18" charset="0"/>
              </a:rPr>
              <a:t>每个文件除了有一个索引节点</a:t>
            </a:r>
            <a:r>
              <a:rPr lang="en-US" altLang="zh-CN" smtClean="0">
                <a:solidFill>
                  <a:srgbClr val="000000"/>
                </a:solidFill>
                <a:latin typeface="Times New Roman" panose="02020603050405020304" pitchFamily="18" charset="0"/>
              </a:rPr>
              <a:t>inode</a:t>
            </a:r>
            <a:r>
              <a:rPr lang="zh-CN" altLang="en-US" smtClean="0">
                <a:solidFill>
                  <a:srgbClr val="000000"/>
                </a:solidFill>
                <a:latin typeface="Times New Roman" panose="02020603050405020304" pitchFamily="18" charset="0"/>
              </a:rPr>
              <a:t>数据结构外，还有一个目录项</a:t>
            </a:r>
            <a:r>
              <a:rPr lang="en-US" altLang="zh-CN" smtClean="0">
                <a:solidFill>
                  <a:srgbClr val="000000"/>
                </a:solidFill>
                <a:latin typeface="Times New Roman" panose="02020603050405020304" pitchFamily="18" charset="0"/>
              </a:rPr>
              <a:t>dentry</a:t>
            </a:r>
            <a:r>
              <a:rPr lang="zh-CN" altLang="en-US" smtClean="0">
                <a:solidFill>
                  <a:srgbClr val="000000"/>
                </a:solidFill>
                <a:latin typeface="Times New Roman" panose="02020603050405020304" pitchFamily="18" charset="0"/>
              </a:rPr>
              <a:t>数据结构。</a:t>
            </a:r>
            <a:r>
              <a:rPr lang="zh-CN" altLang="en-US" smtClean="0">
                <a:latin typeface="Times New Roman" panose="02020603050405020304" pitchFamily="18" charset="0"/>
              </a:rPr>
              <a:t> </a:t>
            </a:r>
          </a:p>
          <a:p>
            <a:pPr eaLnBrk="1" hangingPunct="1">
              <a:lnSpc>
                <a:spcPct val="130000"/>
              </a:lnSpc>
              <a:buClr>
                <a:srgbClr val="3333CC"/>
              </a:buClr>
              <a:buFont typeface="Wingdings" panose="05000000000000000000" pitchFamily="2" charset="2"/>
              <a:buNone/>
            </a:pPr>
            <a:r>
              <a:rPr lang="en-US" altLang="zh-CN" smtClean="0">
                <a:solidFill>
                  <a:srgbClr val="000000"/>
                </a:solidFill>
                <a:latin typeface="Times New Roman" panose="02020603050405020304" pitchFamily="18" charset="0"/>
              </a:rPr>
              <a:t>dentry</a:t>
            </a:r>
            <a:r>
              <a:rPr lang="zh-CN" altLang="en-US" smtClean="0">
                <a:solidFill>
                  <a:srgbClr val="000000"/>
                </a:solidFill>
                <a:latin typeface="Times New Roman" panose="02020603050405020304" pitchFamily="18" charset="0"/>
              </a:rPr>
              <a:t>结构代表的是逻辑意义上的文件，描述的是文件逻辑上的属性</a:t>
            </a:r>
            <a:r>
              <a:rPr lang="zh-CN" altLang="en-US" smtClean="0">
                <a:latin typeface="Times New Roman" panose="02020603050405020304" pitchFamily="18" charset="0"/>
              </a:rPr>
              <a:t>，</a:t>
            </a:r>
            <a:r>
              <a:rPr lang="zh-CN" altLang="en-US" smtClean="0">
                <a:solidFill>
                  <a:srgbClr val="000000"/>
                </a:solidFill>
                <a:latin typeface="Times New Roman" panose="02020603050405020304" pitchFamily="18" charset="0"/>
              </a:rPr>
              <a:t>目录项对象在磁盘上并没有对应的映像</a:t>
            </a:r>
            <a:r>
              <a:rPr lang="zh-CN" altLang="en-US" smtClean="0">
                <a:latin typeface="Times New Roman" panose="02020603050405020304" pitchFamily="18" charset="0"/>
              </a:rPr>
              <a:t> </a:t>
            </a:r>
          </a:p>
          <a:p>
            <a:pPr eaLnBrk="1" hangingPunct="1">
              <a:lnSpc>
                <a:spcPct val="130000"/>
              </a:lnSpc>
              <a:buClr>
                <a:srgbClr val="3333CC"/>
              </a:buClr>
              <a:buFont typeface="Wingdings" panose="05000000000000000000" pitchFamily="2" charset="2"/>
              <a:buNone/>
            </a:pPr>
            <a:r>
              <a:rPr lang="en-US" altLang="zh-CN" smtClean="0">
                <a:solidFill>
                  <a:srgbClr val="000000"/>
                </a:solidFill>
                <a:latin typeface="Times New Roman" panose="02020603050405020304" pitchFamily="18" charset="0"/>
              </a:rPr>
              <a:t>inode</a:t>
            </a:r>
            <a:r>
              <a:rPr lang="zh-CN" altLang="en-US" smtClean="0">
                <a:solidFill>
                  <a:srgbClr val="000000"/>
                </a:solidFill>
                <a:latin typeface="Times New Roman" panose="02020603050405020304" pitchFamily="18" charset="0"/>
              </a:rPr>
              <a:t>结构代表的是物理意义上的文件，记录的是物理上的属性，对于一个具体的文件系统，其</a:t>
            </a:r>
            <a:r>
              <a:rPr lang="en-US" altLang="zh-CN" smtClean="0">
                <a:solidFill>
                  <a:srgbClr val="000000"/>
                </a:solidFill>
                <a:latin typeface="Times New Roman" panose="02020603050405020304" pitchFamily="18" charset="0"/>
              </a:rPr>
              <a:t>inode</a:t>
            </a:r>
            <a:r>
              <a:rPr lang="zh-CN" altLang="en-US" smtClean="0">
                <a:solidFill>
                  <a:srgbClr val="000000"/>
                </a:solidFill>
                <a:latin typeface="Times New Roman" panose="02020603050405020304" pitchFamily="18" charset="0"/>
              </a:rPr>
              <a:t>结构在磁盘上就有对应的映像</a:t>
            </a:r>
          </a:p>
          <a:p>
            <a:pPr eaLnBrk="1" hangingPunct="1">
              <a:lnSpc>
                <a:spcPct val="130000"/>
              </a:lnSpc>
              <a:buClr>
                <a:srgbClr val="3333CC"/>
              </a:buClr>
              <a:buFont typeface="Wingdings" panose="05000000000000000000" pitchFamily="2" charset="2"/>
              <a:buNone/>
            </a:pPr>
            <a:r>
              <a:rPr lang="zh-CN" altLang="en-US" smtClean="0">
                <a:solidFill>
                  <a:srgbClr val="000000"/>
                </a:solidFill>
                <a:latin typeface="Times New Roman" panose="02020603050405020304" pitchFamily="18" charset="0"/>
                <a:cs typeface="Times New Roman" panose="02020603050405020304" pitchFamily="18" charset="0"/>
              </a:rPr>
              <a:t>一个索引节点对象可能对应多个目录项对象</a:t>
            </a:r>
            <a:r>
              <a:rPr lang="zh-CN" altLang="en-US" smtClean="0">
                <a:latin typeface="Times New Roman" panose="02020603050405020304" pitchFamily="18" charset="0"/>
              </a:rPr>
              <a:t> </a:t>
            </a:r>
          </a:p>
          <a:p>
            <a:pPr eaLnBrk="1" hangingPunct="1"/>
            <a:endParaRPr lang="en-US" altLang="zh-CN" smtClean="0"/>
          </a:p>
        </p:txBody>
      </p:sp>
    </p:spTree>
    <p:extLst>
      <p:ext uri="{BB962C8B-B14F-4D97-AF65-F5344CB8AC3E}">
        <p14:creationId xmlns:p14="http://schemas.microsoft.com/office/powerpoint/2010/main" val="1929255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幻灯片图像占位符 1"/>
          <p:cNvSpPr>
            <a:spLocks noGrp="1" noRot="1" noChangeAspect="1" noTextEdit="1"/>
          </p:cNvSpPr>
          <p:nvPr>
            <p:ph type="sldImg"/>
          </p:nvPr>
        </p:nvSpPr>
        <p:spPr>
          <a:ln/>
        </p:spPr>
      </p:sp>
      <p:sp>
        <p:nvSpPr>
          <p:cNvPr id="1914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t>其中，</a:t>
            </a:r>
            <a:r>
              <a:rPr lang="en-US" altLang="zh-CN" smtClean="0"/>
              <a:t>dname</a:t>
            </a:r>
            <a:r>
              <a:rPr lang="zh-CN" altLang="en-US" smtClean="0"/>
              <a:t>是</a:t>
            </a:r>
            <a:r>
              <a:rPr lang="en-US" altLang="zh-CN" smtClean="0"/>
              <a:t>qstr</a:t>
            </a:r>
            <a:r>
              <a:rPr lang="zh-CN" altLang="en-US" smtClean="0"/>
              <a:t>类型的结构，该结构的定义：</a:t>
            </a:r>
            <a:endParaRPr lang="en-US" altLang="zh-CN" smtClean="0"/>
          </a:p>
          <a:p>
            <a:r>
              <a:rPr lang="en-US" altLang="zh-CN" smtClean="0"/>
              <a:t>Struct qstr{</a:t>
            </a:r>
          </a:p>
          <a:p>
            <a:r>
              <a:rPr lang="en-US" altLang="zh-CN" smtClean="0"/>
              <a:t>Const unsigned char* name;//</a:t>
            </a:r>
            <a:r>
              <a:rPr lang="zh-CN" altLang="en-US" smtClean="0"/>
              <a:t>文件名</a:t>
            </a:r>
            <a:endParaRPr lang="en-US" altLang="zh-CN" smtClean="0"/>
          </a:p>
          <a:p>
            <a:r>
              <a:rPr lang="en-US" altLang="zh-CN" smtClean="0"/>
              <a:t>Unsigned int len;//</a:t>
            </a:r>
            <a:r>
              <a:rPr lang="zh-CN" altLang="en-US" smtClean="0"/>
              <a:t>文件名长度</a:t>
            </a:r>
            <a:endParaRPr lang="en-US" altLang="zh-CN" smtClean="0"/>
          </a:p>
          <a:p>
            <a:r>
              <a:rPr lang="en-US" altLang="zh-CN" smtClean="0"/>
              <a:t>Unsigned int hash;//</a:t>
            </a:r>
            <a:r>
              <a:rPr lang="zh-CN" altLang="en-US" smtClean="0"/>
              <a:t>散列值</a:t>
            </a:r>
            <a:endParaRPr lang="en-US" altLang="zh-CN" smtClean="0"/>
          </a:p>
          <a:p>
            <a:r>
              <a:rPr lang="en-US" altLang="zh-CN" smtClean="0"/>
              <a:t>}</a:t>
            </a:r>
          </a:p>
          <a:p>
            <a:r>
              <a:rPr lang="zh-CN" altLang="en-US" smtClean="0"/>
              <a:t>内核通过维护一个</a:t>
            </a:r>
            <a:r>
              <a:rPr lang="en-US" altLang="zh-CN" smtClean="0"/>
              <a:t>dentry_hashtable</a:t>
            </a:r>
            <a:r>
              <a:rPr lang="zh-CN" altLang="en-US" smtClean="0"/>
              <a:t>来管理</a:t>
            </a:r>
            <a:r>
              <a:rPr lang="en-US" altLang="zh-CN" smtClean="0"/>
              <a:t>dentry.</a:t>
            </a:r>
            <a:r>
              <a:rPr lang="zh-CN" altLang="en-US" smtClean="0"/>
              <a:t>当系统一旦在内存中建立了一个</a:t>
            </a:r>
            <a:r>
              <a:rPr lang="en-US" altLang="zh-CN" smtClean="0"/>
              <a:t>dentry,</a:t>
            </a:r>
            <a:r>
              <a:rPr lang="zh-CN" altLang="en-US" smtClean="0"/>
              <a:t>该</a:t>
            </a:r>
            <a:r>
              <a:rPr lang="en-US" altLang="zh-CN" smtClean="0"/>
              <a:t>dentry</a:t>
            </a:r>
            <a:r>
              <a:rPr lang="zh-CN" altLang="en-US" smtClean="0"/>
              <a:t>结构就会被链入散列表的某个队列中。</a:t>
            </a:r>
          </a:p>
        </p:txBody>
      </p:sp>
      <p:sp>
        <p:nvSpPr>
          <p:cNvPr id="1914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A0001433-2C8C-48B3-BBC0-FC75B0CA7B5E}" type="slidenum">
              <a:rPr lang="en-US" altLang="zh-CN" sz="1200">
                <a:latin typeface="Arial" panose="020B0604020202020204" pitchFamily="34" charset="0"/>
              </a:rPr>
              <a:pPr eaLnBrk="1" hangingPunct="1"/>
              <a:t>53</a:t>
            </a:fld>
            <a:endParaRPr lang="en-US" altLang="zh-CN" sz="1200">
              <a:latin typeface="Arial" panose="020B0604020202020204" pitchFamily="34" charset="0"/>
            </a:endParaRPr>
          </a:p>
        </p:txBody>
      </p:sp>
    </p:spTree>
    <p:extLst>
      <p:ext uri="{BB962C8B-B14F-4D97-AF65-F5344CB8AC3E}">
        <p14:creationId xmlns:p14="http://schemas.microsoft.com/office/powerpoint/2010/main" val="3177472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44455850-2C1A-4679-B093-DB7B8EE50E40}" type="slidenum">
              <a:rPr lang="en-US" altLang="zh-CN" sz="1200">
                <a:latin typeface="Arial" panose="020B0604020202020204" pitchFamily="34" charset="0"/>
              </a:rPr>
              <a:pPr eaLnBrk="1" hangingPunct="1"/>
              <a:t>56</a:t>
            </a:fld>
            <a:endParaRPr lang="en-US" altLang="zh-CN" sz="1200">
              <a:latin typeface="Arial" panose="020B0604020202020204" pitchFamily="34" charset="0"/>
            </a:endParaRPr>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spcBef>
                <a:spcPct val="50000"/>
              </a:spcBef>
            </a:pPr>
            <a:r>
              <a:rPr kumimoji="1" lang="zh-CN" altLang="en-US" sz="1400" b="1" smtClean="0">
                <a:latin typeface="楷体_GB2312" pitchFamily="49" charset="-122"/>
                <a:ea typeface="楷体_GB2312" pitchFamily="49" charset="-122"/>
              </a:rPr>
              <a:t>每个对象都有一套函数操作集合</a:t>
            </a:r>
            <a:r>
              <a:rPr kumimoji="1" lang="en-US" altLang="zh-CN" sz="1400" b="1" smtClean="0">
                <a:latin typeface="楷体_GB2312" pitchFamily="49" charset="-122"/>
                <a:ea typeface="楷体_GB2312" pitchFamily="49" charset="-122"/>
              </a:rPr>
              <a:t>,</a:t>
            </a:r>
            <a:r>
              <a:rPr kumimoji="1" lang="zh-CN" altLang="en-US" sz="1400" b="1" smtClean="0">
                <a:latin typeface="楷体_GB2312" pitchFamily="49" charset="-122"/>
                <a:ea typeface="楷体_GB2312" pitchFamily="49" charset="-122"/>
              </a:rPr>
              <a:t>属于不同文件系统的对象的操作也就不同，</a:t>
            </a:r>
            <a:r>
              <a:rPr kumimoji="1" lang="en-US" altLang="zh-CN" sz="1400" b="1" smtClean="0">
                <a:latin typeface="楷体_GB2312" pitchFamily="49" charset="-122"/>
                <a:ea typeface="楷体_GB2312" pitchFamily="49" charset="-122"/>
              </a:rPr>
              <a:t>VFS</a:t>
            </a:r>
            <a:r>
              <a:rPr kumimoji="1" lang="zh-CN" altLang="en-US" sz="1400" b="1" smtClean="0">
                <a:latin typeface="楷体_GB2312" pitchFamily="49" charset="-122"/>
                <a:ea typeface="楷体_GB2312" pitchFamily="49" charset="-122"/>
              </a:rPr>
              <a:t>只负责提供接口（操作集合）</a:t>
            </a:r>
            <a:r>
              <a:rPr kumimoji="1" lang="zh-CN" altLang="en-US" b="1" smtClean="0">
                <a:latin typeface="宋体" panose="02010600030101010101" pitchFamily="2" charset="-122"/>
                <a:cs typeface="Times New Roman" panose="02020603050405020304" pitchFamily="18" charset="0"/>
              </a:rPr>
              <a:t>。</a:t>
            </a:r>
            <a:endParaRPr kumimoji="1" lang="zh-CN" altLang="en-US" b="1" smtClean="0">
              <a:latin typeface="Times New Roman" panose="02020603050405020304" pitchFamily="18" charset="0"/>
              <a:ea typeface="楷体_GB2312" pitchFamily="49" charset="-122"/>
            </a:endParaRPr>
          </a:p>
          <a:p>
            <a:pPr eaLnBrk="1" hangingPunct="1"/>
            <a:endParaRPr lang="en-US" altLang="zh-CN" smtClean="0"/>
          </a:p>
        </p:txBody>
      </p:sp>
    </p:spTree>
    <p:extLst>
      <p:ext uri="{BB962C8B-B14F-4D97-AF65-F5344CB8AC3E}">
        <p14:creationId xmlns:p14="http://schemas.microsoft.com/office/powerpoint/2010/main" val="2798991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82D35105-AEFA-4D61-908F-4317CB9C82C3}" type="slidenum">
              <a:rPr lang="en-US" altLang="zh-CN" sz="1200">
                <a:latin typeface="Arial" panose="020B0604020202020204" pitchFamily="34" charset="0"/>
              </a:rPr>
              <a:pPr eaLnBrk="1" hangingPunct="1"/>
              <a:t>58</a:t>
            </a:fld>
            <a:endParaRPr lang="en-US" altLang="zh-CN" sz="1200">
              <a:latin typeface="Arial" panose="020B0604020202020204" pitchFamily="34" charset="0"/>
            </a:endParaRPr>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内核通过文件系统注册链表来搜索每个文件系统的接口函数，以便装入该文件系统的超级块，实现虚实文件系统的转换。</a:t>
            </a:r>
          </a:p>
          <a:p>
            <a:pPr eaLnBrk="1" hangingPunct="1"/>
            <a:endParaRPr lang="en-US" altLang="zh-CN" smtClean="0"/>
          </a:p>
        </p:txBody>
      </p:sp>
    </p:spTree>
    <p:extLst>
      <p:ext uri="{BB962C8B-B14F-4D97-AF65-F5344CB8AC3E}">
        <p14:creationId xmlns:p14="http://schemas.microsoft.com/office/powerpoint/2010/main" val="2417637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F8282191-88AF-4AD8-9E63-6B49252BF9EF}" type="slidenum">
              <a:rPr lang="en-US" altLang="zh-CN" sz="1200">
                <a:latin typeface="Arial" panose="020B0604020202020204" pitchFamily="34" charset="0"/>
              </a:rPr>
              <a:pPr eaLnBrk="1" hangingPunct="1"/>
              <a:t>59</a:t>
            </a:fld>
            <a:endParaRPr lang="en-US" altLang="zh-CN" sz="1200">
              <a:latin typeface="Arial" panose="020B0604020202020204" pitchFamily="34" charset="0"/>
            </a:endParaRPr>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该文件系统是否需要设备支持？并不是所有的文件系统都需要特定设备，例如，</a:t>
            </a:r>
            <a:r>
              <a:rPr lang="en-US" altLang="zh-CN" smtClean="0"/>
              <a:t>/proc </a:t>
            </a:r>
            <a:r>
              <a:rPr lang="zh-CN" altLang="en-US" smtClean="0"/>
              <a:t>文件系统并不需要块设备。 </a:t>
            </a:r>
          </a:p>
          <a:p>
            <a:pPr eaLnBrk="1" hangingPunct="1"/>
            <a:r>
              <a:rPr lang="zh-CN" altLang="en-US" smtClean="0"/>
              <a:t>文件系统的名称。例如 </a:t>
            </a:r>
            <a:r>
              <a:rPr lang="en-US" altLang="zh-CN" smtClean="0"/>
              <a:t>Ext2</a:t>
            </a:r>
            <a:r>
              <a:rPr lang="zh-CN" altLang="en-US" smtClean="0"/>
              <a:t>、</a:t>
            </a:r>
            <a:r>
              <a:rPr lang="en-US" altLang="zh-CN" smtClean="0"/>
              <a:t>vfat</a:t>
            </a:r>
            <a:r>
              <a:rPr lang="zh-CN" altLang="en-US" smtClean="0"/>
              <a:t>、</a:t>
            </a:r>
            <a:r>
              <a:rPr lang="en-US" altLang="zh-CN" smtClean="0"/>
              <a:t>iso9660</a:t>
            </a:r>
            <a:r>
              <a:rPr lang="zh-CN" altLang="en-US" smtClean="0"/>
              <a:t>等。</a:t>
            </a:r>
          </a:p>
          <a:p>
            <a:pPr eaLnBrk="1" hangingPunct="1"/>
            <a:r>
              <a:rPr lang="zh-CN" altLang="en-US" smtClean="0"/>
              <a:t> </a:t>
            </a:r>
            <a:r>
              <a:rPr lang="en-US" altLang="zh-CN" smtClean="0"/>
              <a:t>/* </a:t>
            </a:r>
            <a:r>
              <a:rPr lang="zh-CN" altLang="en-US" smtClean="0"/>
              <a:t>读出该文件系统在外存的</a:t>
            </a:r>
            <a:r>
              <a:rPr lang="en-US" altLang="zh-CN" smtClean="0"/>
              <a:t>super_block */</a:t>
            </a:r>
          </a:p>
          <a:p>
            <a:pPr eaLnBrk="1" hangingPunct="1"/>
            <a:endParaRPr lang="en-US" altLang="zh-CN" smtClean="0"/>
          </a:p>
          <a:p>
            <a:pPr eaLnBrk="1" hangingPunct="1"/>
            <a:endParaRPr lang="en-US" altLang="zh-CN" smtClean="0"/>
          </a:p>
          <a:p>
            <a:pPr eaLnBrk="1" hangingPunct="1"/>
            <a:endParaRPr lang="en-US" altLang="zh-CN" sz="1400" smtClean="0"/>
          </a:p>
        </p:txBody>
      </p:sp>
    </p:spTree>
    <p:extLst>
      <p:ext uri="{BB962C8B-B14F-4D97-AF65-F5344CB8AC3E}">
        <p14:creationId xmlns:p14="http://schemas.microsoft.com/office/powerpoint/2010/main" val="4276887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B11C2AE7-833B-416B-8E52-A0E8DFF66CA8}" type="slidenum">
              <a:rPr lang="en-US" altLang="zh-CN" sz="1200">
                <a:latin typeface="Arial" panose="020B0604020202020204" pitchFamily="34" charset="0"/>
              </a:rPr>
              <a:pPr eaLnBrk="1" hangingPunct="1"/>
              <a:t>60</a:t>
            </a:fld>
            <a:endParaRPr lang="en-US" altLang="zh-CN" sz="1200">
              <a:latin typeface="Arial" panose="020B0604020202020204"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内核通过文件系统注册链表来搜索每个文件系统的接口函数，以便装入该文件系统的超级块，实现虚实文件系统的转换。</a:t>
            </a:r>
          </a:p>
          <a:p>
            <a:pPr eaLnBrk="1" hangingPunct="1"/>
            <a:endParaRPr lang="en-US" altLang="zh-CN" smtClean="0"/>
          </a:p>
        </p:txBody>
      </p:sp>
    </p:spTree>
    <p:extLst>
      <p:ext uri="{BB962C8B-B14F-4D97-AF65-F5344CB8AC3E}">
        <p14:creationId xmlns:p14="http://schemas.microsoft.com/office/powerpoint/2010/main" val="3290008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BC085014-5847-4330-9920-2DADE50A9E3C}" type="slidenum">
              <a:rPr lang="en-US" altLang="zh-CN" sz="1200">
                <a:latin typeface="Arial" panose="020B0604020202020204" pitchFamily="34" charset="0"/>
              </a:rPr>
              <a:pPr eaLnBrk="1" hangingPunct="1"/>
              <a:t>69</a:t>
            </a:fld>
            <a:endParaRPr lang="en-US" altLang="zh-CN" sz="1200">
              <a:latin typeface="Arial" panose="020B0604020202020204" pitchFamily="34" charset="0"/>
            </a:endParaRPr>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t>   “</a:t>
            </a:r>
            <a:r>
              <a:rPr lang="zh-CN" altLang="en-US" smtClean="0"/>
              <a:t>根安装点”、“根设备”和“根文件系统”安装一个文件系统，除了需要“被安装设备”外，还要指定一个“安装点”。“安装点”是已经存在的一个目录节点。例如把 </a:t>
            </a:r>
            <a:r>
              <a:rPr lang="en-US" altLang="zh-CN" smtClean="0"/>
              <a:t>/dev/sda1 </a:t>
            </a:r>
            <a:r>
              <a:rPr lang="zh-CN" altLang="en-US" smtClean="0"/>
              <a:t>安装到 </a:t>
            </a:r>
            <a:r>
              <a:rPr lang="en-US" altLang="zh-CN" smtClean="0"/>
              <a:t>/mnt/win </a:t>
            </a:r>
            <a:r>
              <a:rPr lang="zh-CN" altLang="en-US" smtClean="0"/>
              <a:t>下，那么 </a:t>
            </a:r>
            <a:r>
              <a:rPr lang="en-US" altLang="zh-CN" smtClean="0"/>
              <a:t>/mnt/win </a:t>
            </a:r>
            <a:r>
              <a:rPr lang="zh-CN" altLang="en-US" smtClean="0"/>
              <a:t>就是“安装点”。</a:t>
            </a:r>
            <a:br>
              <a:rPr lang="zh-CN" altLang="en-US" smtClean="0"/>
            </a:br>
            <a:r>
              <a:rPr lang="zh-CN" altLang="en-US" smtClean="0"/>
              <a:t>可是文件系统要先安装后使用。因此，要使用 </a:t>
            </a:r>
            <a:r>
              <a:rPr lang="en-US" altLang="zh-CN" smtClean="0"/>
              <a:t>/mnt/win </a:t>
            </a:r>
            <a:r>
              <a:rPr lang="zh-CN" altLang="en-US" smtClean="0"/>
              <a:t>这个“安装点”，必然要求它所在文件系统已也经被安装。</a:t>
            </a:r>
            <a:br>
              <a:rPr lang="zh-CN" altLang="en-US" smtClean="0"/>
            </a:br>
            <a:r>
              <a:rPr lang="zh-CN" altLang="en-US" smtClean="0"/>
              <a:t>也就是说，安装一个文件系统，需要另外一个文件系统已经被安装。</a:t>
            </a:r>
            <a:br>
              <a:rPr lang="zh-CN" altLang="en-US" smtClean="0"/>
            </a:br>
            <a:r>
              <a:rPr lang="zh-CN" altLang="en-US" smtClean="0"/>
              <a:t>答案是，最顶层文件系统的时候是被安装在“根安装点”上的，而根安装点不属于任何文件系统，它对应的 </a:t>
            </a:r>
            <a:r>
              <a:rPr lang="en-US" altLang="zh-CN" smtClean="0"/>
              <a:t>dentry </a:t>
            </a:r>
            <a:r>
              <a:rPr lang="zh-CN" altLang="en-US" smtClean="0"/>
              <a:t>、</a:t>
            </a:r>
            <a:r>
              <a:rPr lang="en-US" altLang="zh-CN" smtClean="0"/>
              <a:t>inode </a:t>
            </a:r>
            <a:r>
              <a:rPr lang="zh-CN" altLang="en-US" smtClean="0"/>
              <a:t>是由内核在初始化阶段凭空构造出来的。</a:t>
            </a:r>
            <a:br>
              <a:rPr lang="zh-CN" altLang="en-US" smtClean="0"/>
            </a:br>
            <a:endParaRPr lang="zh-CN" altLang="en-US" smtClean="0"/>
          </a:p>
        </p:txBody>
      </p:sp>
    </p:spTree>
    <p:extLst>
      <p:ext uri="{BB962C8B-B14F-4D97-AF65-F5344CB8AC3E}">
        <p14:creationId xmlns:p14="http://schemas.microsoft.com/office/powerpoint/2010/main" val="1615427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FE467318-7A65-4E0C-A9ED-8D068753EB2F}" type="slidenum">
              <a:rPr lang="en-US" altLang="zh-CN" sz="1200">
                <a:latin typeface="Arial" panose="020B0604020202020204" pitchFamily="34" charset="0"/>
              </a:rPr>
              <a:pPr eaLnBrk="1" hangingPunct="1"/>
              <a:t>70</a:t>
            </a:fld>
            <a:endParaRPr lang="en-US" altLang="zh-CN" sz="1200">
              <a:latin typeface="Arial" panose="020B0604020202020204" pitchFamily="34" charset="0"/>
            </a:endParaRPr>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zh-CN" altLang="en-US" smtClean="0"/>
              <a:t>每个 </a:t>
            </a:r>
            <a:r>
              <a:rPr lang="en-US" altLang="zh-CN" smtClean="0"/>
              <a:t>vfsmount </a:t>
            </a:r>
            <a:r>
              <a:rPr lang="zh-CN" altLang="en-US" smtClean="0"/>
              <a:t>结构包含保存该文件系统的块设备号，文件系统安装点的目录名称，以及指向为该文件系统分配的 </a:t>
            </a:r>
            <a:r>
              <a:rPr lang="en-US" altLang="zh-CN" smtClean="0"/>
              <a:t>VFS </a:t>
            </a:r>
            <a:r>
              <a:rPr lang="zh-CN" altLang="en-US" smtClean="0"/>
              <a:t>超块的指针。而 </a:t>
            </a:r>
            <a:r>
              <a:rPr lang="en-US" altLang="zh-CN" smtClean="0"/>
              <a:t>VFS </a:t>
            </a:r>
            <a:r>
              <a:rPr lang="zh-CN" altLang="en-US" smtClean="0"/>
              <a:t>超块中则包含描述文件系统的 </a:t>
            </a:r>
            <a:r>
              <a:rPr lang="en-US" altLang="zh-CN" smtClean="0"/>
              <a:t>file_system_type </a:t>
            </a:r>
            <a:r>
              <a:rPr lang="zh-CN" altLang="en-US" smtClean="0"/>
              <a:t>结构指针和该文件系统根节点指针。 </a:t>
            </a:r>
          </a:p>
          <a:p>
            <a:pPr eaLnBrk="1" hangingPunct="1"/>
            <a:endParaRPr lang="en-US" altLang="zh-CN" smtClean="0"/>
          </a:p>
        </p:txBody>
      </p:sp>
    </p:spTree>
    <p:extLst>
      <p:ext uri="{BB962C8B-B14F-4D97-AF65-F5344CB8AC3E}">
        <p14:creationId xmlns:p14="http://schemas.microsoft.com/office/powerpoint/2010/main" val="3114516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09E5652F-63AA-4340-A181-5765D301D612}" type="slidenum">
              <a:rPr lang="en-US" altLang="zh-CN" sz="1200">
                <a:latin typeface="Arial" panose="020B0604020202020204" pitchFamily="34" charset="0"/>
              </a:rPr>
              <a:pPr eaLnBrk="1" hangingPunct="1"/>
              <a:t>72</a:t>
            </a:fld>
            <a:endParaRPr lang="en-US" altLang="zh-CN" sz="1200">
              <a:latin typeface="Arial" panose="020B0604020202020204" pitchFamily="34" charset="0"/>
            </a:endParaRPr>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en-US" altLang="zh-CN" smtClean="0">
              <a:latin typeface="Times New Roman" panose="02020603050405020304" pitchFamily="18" charset="0"/>
            </a:endParaRPr>
          </a:p>
          <a:p>
            <a:pPr eaLnBrk="1" hangingPunct="1">
              <a:lnSpc>
                <a:spcPct val="80000"/>
              </a:lnSpc>
            </a:pPr>
            <a:r>
              <a:rPr lang="zh-CN" altLang="en-US" smtClean="0">
                <a:latin typeface="Times New Roman" panose="02020603050405020304" pitchFamily="18" charset="0"/>
              </a:rPr>
              <a:t>文件系统的注册和注销操作时，将在以</a:t>
            </a:r>
            <a:r>
              <a:rPr lang="en-US" altLang="zh-CN" smtClean="0"/>
              <a:t>vfsmntlist</a:t>
            </a:r>
            <a:r>
              <a:rPr lang="zh-CN" altLang="en-US" smtClean="0">
                <a:latin typeface="Times New Roman" panose="02020603050405020304" pitchFamily="18" charset="0"/>
              </a:rPr>
              <a:t>为链表头和</a:t>
            </a:r>
            <a:r>
              <a:rPr lang="en-US" altLang="zh-CN" smtClean="0"/>
              <a:t>vfsmnttail</a:t>
            </a:r>
            <a:r>
              <a:rPr lang="zh-CN" altLang="en-US" smtClean="0">
                <a:latin typeface="Times New Roman" panose="02020603050405020304" pitchFamily="18" charset="0"/>
              </a:rPr>
              <a:t>为链表尾的单项链表中增加或删除一个</a:t>
            </a:r>
            <a:r>
              <a:rPr lang="en-US" altLang="zh-CN" smtClean="0"/>
              <a:t>vfsmount</a:t>
            </a:r>
            <a:r>
              <a:rPr lang="zh-CN" altLang="en-US" smtClean="0">
                <a:latin typeface="Times New Roman" panose="02020603050405020304" pitchFamily="18" charset="0"/>
              </a:rPr>
              <a:t>节点，具体数据结构如下：</a:t>
            </a:r>
          </a:p>
          <a:p>
            <a:pPr algn="just" eaLnBrk="1" hangingPunct="1"/>
            <a:endParaRPr lang="zh-CN" altLang="en-US" smtClean="0">
              <a:latin typeface="Times New Roman" panose="02020603050405020304" pitchFamily="18" charset="0"/>
            </a:endParaRPr>
          </a:p>
          <a:p>
            <a:pPr algn="just" eaLnBrk="1" hangingPunct="1"/>
            <a:r>
              <a:rPr lang="en-US" altLang="zh-CN" sz="1000" smtClean="0"/>
              <a:t>static struct vfsmount vfsmntlist = (static struct vfsmount )NULL;</a:t>
            </a:r>
          </a:p>
          <a:p>
            <a:pPr algn="just" eaLnBrk="1" hangingPunct="1"/>
            <a:r>
              <a:rPr lang="en-US" altLang="zh-CN" sz="1000" smtClean="0"/>
              <a:t>static struct vfsmount *vfsmnttail = (static struct vfsmount *)NULL; 	/* </a:t>
            </a:r>
            <a:r>
              <a:rPr lang="zh-CN" altLang="en-US" sz="1000" smtClean="0">
                <a:latin typeface="Times New Roman" panose="02020603050405020304" pitchFamily="18" charset="0"/>
              </a:rPr>
              <a:t>尾</a:t>
            </a:r>
            <a:r>
              <a:rPr lang="zh-CN" altLang="en-US" sz="1000" smtClean="0"/>
              <a:t> *</a:t>
            </a:r>
            <a:r>
              <a:rPr lang="en-US" altLang="zh-CN" sz="1000" smtClean="0"/>
              <a:t>/</a:t>
            </a:r>
          </a:p>
          <a:p>
            <a:pPr algn="just" eaLnBrk="1" hangingPunct="1"/>
            <a:r>
              <a:rPr lang="en-US" altLang="zh-CN" sz="1000" smtClean="0"/>
              <a:t>static struct vfsmount *mru_vfsmnt = (static struct vfsmount *)NULL; 	/*</a:t>
            </a:r>
            <a:r>
              <a:rPr lang="zh-CN" altLang="en-US" sz="1000" smtClean="0">
                <a:latin typeface="Times New Roman" panose="02020603050405020304" pitchFamily="18" charset="0"/>
              </a:rPr>
              <a:t>当前</a:t>
            </a:r>
            <a:r>
              <a:rPr lang="zh-CN" altLang="en-US" sz="1000" smtClean="0"/>
              <a:t>*</a:t>
            </a:r>
            <a:r>
              <a:rPr lang="en-US" altLang="zh-CN" sz="1000" smtClean="0"/>
              <a:t>/</a:t>
            </a:r>
          </a:p>
          <a:p>
            <a:pPr algn="just" eaLnBrk="1" hangingPunct="1"/>
            <a:endParaRPr lang="en-US" altLang="zh-CN" sz="1000" smtClean="0"/>
          </a:p>
          <a:p>
            <a:pPr eaLnBrk="1" hangingPunct="1"/>
            <a:endParaRPr lang="en-US" altLang="zh-CN" smtClean="0"/>
          </a:p>
        </p:txBody>
      </p:sp>
    </p:spTree>
    <p:extLst>
      <p:ext uri="{BB962C8B-B14F-4D97-AF65-F5344CB8AC3E}">
        <p14:creationId xmlns:p14="http://schemas.microsoft.com/office/powerpoint/2010/main" val="1240391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E0E9B810-7BAE-4AF7-8049-3157758BB49B}" type="slidenum">
              <a:rPr lang="en-US" altLang="zh-CN" sz="1200">
                <a:latin typeface="Arial" panose="020B0604020202020204" pitchFamily="34" charset="0"/>
              </a:rPr>
              <a:pPr eaLnBrk="1" hangingPunct="1"/>
              <a:t>101</a:t>
            </a:fld>
            <a:endParaRPr lang="en-US" altLang="zh-CN" sz="1200">
              <a:latin typeface="Arial" panose="020B0604020202020204" pitchFamily="34" charset="0"/>
            </a:endParaRPr>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进程通过文件描述符（</a:t>
            </a:r>
            <a:r>
              <a:rPr lang="en-US" altLang="zh-CN" smtClean="0"/>
              <a:t>file descriptors</a:t>
            </a:r>
            <a:r>
              <a:rPr lang="zh-CN" altLang="en-US" smtClean="0"/>
              <a:t>）来访问文件。文件描述符是一个整数，</a:t>
            </a:r>
            <a:r>
              <a:rPr lang="en-US" altLang="zh-CN" smtClean="0"/>
              <a:t>Linux</a:t>
            </a:r>
            <a:r>
              <a:rPr lang="zh-CN" altLang="en-US" smtClean="0"/>
              <a:t>通过</a:t>
            </a:r>
            <a:r>
              <a:rPr lang="en-US" altLang="zh-CN" smtClean="0"/>
              <a:t>fs.h</a:t>
            </a:r>
            <a:r>
              <a:rPr lang="zh-CN" altLang="en-US" smtClean="0"/>
              <a:t>中定义的</a:t>
            </a:r>
            <a:r>
              <a:rPr lang="en-US" altLang="zh-CN" smtClean="0"/>
              <a:t>NR_OPEN</a:t>
            </a:r>
            <a:r>
              <a:rPr lang="zh-CN" altLang="en-US" smtClean="0"/>
              <a:t>来规定每个进程最多同时使用的文件描述符个数： </a:t>
            </a:r>
          </a:p>
          <a:p>
            <a:pPr eaLnBrk="1" hangingPunct="1"/>
            <a:r>
              <a:rPr lang="en-US" altLang="zh-CN" smtClean="0"/>
              <a:t>#define NR_OPEN (1024*1024) </a:t>
            </a:r>
          </a:p>
          <a:p>
            <a:pPr eaLnBrk="1" hangingPunct="1"/>
            <a:endParaRPr lang="en-US" altLang="zh-CN" smtClean="0"/>
          </a:p>
        </p:txBody>
      </p:sp>
    </p:spTree>
    <p:extLst>
      <p:ext uri="{BB962C8B-B14F-4D97-AF65-F5344CB8AC3E}">
        <p14:creationId xmlns:p14="http://schemas.microsoft.com/office/powerpoint/2010/main" val="821785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F495F4A4-C446-4481-A013-DD46255FA496}" type="slidenum">
              <a:rPr lang="en-US" altLang="zh-CN" sz="1200">
                <a:latin typeface="Arial" panose="020B0604020202020204" pitchFamily="34" charset="0"/>
              </a:rPr>
              <a:pPr eaLnBrk="1" hangingPunct="1"/>
              <a:t>103</a:t>
            </a:fld>
            <a:endParaRPr lang="en-US" altLang="zh-CN" sz="1200">
              <a:latin typeface="Arial" panose="020B0604020202020204" pitchFamily="34" charset="0"/>
            </a:endParaRPr>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kumimoji="1" lang="zh-CN" altLang="en-US" sz="2000" smtClean="0">
                <a:latin typeface="Times New Roman" panose="02020603050405020304" pitchFamily="18" charset="0"/>
              </a:rPr>
              <a:t>进程通过</a:t>
            </a:r>
            <a:r>
              <a:rPr kumimoji="1" lang="en-US" altLang="zh-CN" sz="2000" smtClean="0">
                <a:latin typeface="Times New Roman" panose="02020603050405020304" pitchFamily="18" charset="0"/>
              </a:rPr>
              <a:t>task_struct</a:t>
            </a:r>
            <a:r>
              <a:rPr kumimoji="1" lang="zh-CN" altLang="en-US" sz="2000" smtClean="0">
                <a:latin typeface="Times New Roman" panose="02020603050405020304" pitchFamily="18" charset="0"/>
              </a:rPr>
              <a:t>中的一个域</a:t>
            </a:r>
            <a:r>
              <a:rPr kumimoji="1" lang="en-US" altLang="zh-CN" sz="2000" smtClean="0">
                <a:latin typeface="Times New Roman" panose="02020603050405020304" pitchFamily="18" charset="0"/>
              </a:rPr>
              <a:t>files_struct files</a:t>
            </a:r>
            <a:r>
              <a:rPr kumimoji="1" lang="zh-CN" altLang="en-US" sz="2000" smtClean="0">
                <a:latin typeface="Times New Roman" panose="02020603050405020304" pitchFamily="18" charset="0"/>
              </a:rPr>
              <a:t>来了解它当前所打开的文件对象；而我们通常所说的文件描述符其实是进程打开的文件对象数组的索引值。文件对象通过域</a:t>
            </a:r>
            <a:r>
              <a:rPr kumimoji="1" lang="en-US" altLang="zh-CN" sz="2000" smtClean="0">
                <a:latin typeface="Times New Roman" panose="02020603050405020304" pitchFamily="18" charset="0"/>
              </a:rPr>
              <a:t>f_dentry</a:t>
            </a:r>
            <a:r>
              <a:rPr kumimoji="1" lang="zh-CN" altLang="en-US" sz="2000" smtClean="0">
                <a:latin typeface="Times New Roman" panose="02020603050405020304" pitchFamily="18" charset="0"/>
              </a:rPr>
              <a:t>找到它对应的</a:t>
            </a:r>
            <a:r>
              <a:rPr kumimoji="1" lang="en-US" altLang="zh-CN" sz="2000" smtClean="0">
                <a:latin typeface="Times New Roman" panose="02020603050405020304" pitchFamily="18" charset="0"/>
              </a:rPr>
              <a:t>dentry</a:t>
            </a:r>
            <a:r>
              <a:rPr kumimoji="1" lang="zh-CN" altLang="en-US" sz="2000" smtClean="0">
                <a:latin typeface="Times New Roman" panose="02020603050405020304" pitchFamily="18" charset="0"/>
              </a:rPr>
              <a:t>对象，再由</a:t>
            </a:r>
            <a:r>
              <a:rPr kumimoji="1" lang="en-US" altLang="zh-CN" sz="2000" smtClean="0">
                <a:latin typeface="Times New Roman" panose="02020603050405020304" pitchFamily="18" charset="0"/>
              </a:rPr>
              <a:t>dentry</a:t>
            </a:r>
            <a:r>
              <a:rPr kumimoji="1" lang="zh-CN" altLang="en-US" sz="2000" smtClean="0">
                <a:latin typeface="Times New Roman" panose="02020603050405020304" pitchFamily="18" charset="0"/>
              </a:rPr>
              <a:t>对象的域</a:t>
            </a:r>
            <a:r>
              <a:rPr kumimoji="1" lang="en-US" altLang="zh-CN" sz="2000" smtClean="0">
                <a:latin typeface="Times New Roman" panose="02020603050405020304" pitchFamily="18" charset="0"/>
              </a:rPr>
              <a:t>d_inode</a:t>
            </a:r>
            <a:r>
              <a:rPr kumimoji="1" lang="zh-CN" altLang="en-US" sz="2000" smtClean="0">
                <a:latin typeface="Times New Roman" panose="02020603050405020304" pitchFamily="18" charset="0"/>
              </a:rPr>
              <a:t>找到它对应的索引结点，这样就建立了文件对象与实际的物理文件的关联。最后，还有一点很重要的是</a:t>
            </a:r>
            <a:r>
              <a:rPr kumimoji="1" lang="en-US" altLang="zh-CN" sz="2000" smtClean="0">
                <a:latin typeface="Times New Roman" panose="02020603050405020304" pitchFamily="18" charset="0"/>
              </a:rPr>
              <a:t>, </a:t>
            </a:r>
            <a:r>
              <a:rPr kumimoji="1" lang="zh-CN" altLang="en-US" sz="2000" smtClean="0">
                <a:latin typeface="Times New Roman" panose="02020603050405020304" pitchFamily="18" charset="0"/>
              </a:rPr>
              <a:t>文件对象所对应的文件操作函数列表是通过索引结点的域</a:t>
            </a:r>
            <a:r>
              <a:rPr kumimoji="1" lang="en-US" altLang="zh-CN" sz="2000" smtClean="0">
                <a:latin typeface="Times New Roman" panose="02020603050405020304" pitchFamily="18" charset="0"/>
              </a:rPr>
              <a:t>i_fop</a:t>
            </a:r>
            <a:r>
              <a:rPr kumimoji="1" lang="zh-CN" altLang="en-US" sz="2000" smtClean="0">
                <a:latin typeface="Times New Roman" panose="02020603050405020304" pitchFamily="18" charset="0"/>
              </a:rPr>
              <a:t>得到的。</a:t>
            </a:r>
          </a:p>
          <a:p>
            <a:pPr eaLnBrk="1" hangingPunct="1">
              <a:lnSpc>
                <a:spcPct val="90000"/>
              </a:lnSpc>
            </a:pPr>
            <a:endParaRPr kumimoji="1" lang="en-US" altLang="zh-CN" sz="2000" smtClean="0">
              <a:latin typeface="Times New Roman" panose="02020603050405020304" pitchFamily="18" charset="0"/>
            </a:endParaRPr>
          </a:p>
        </p:txBody>
      </p:sp>
    </p:spTree>
    <p:extLst>
      <p:ext uri="{BB962C8B-B14F-4D97-AF65-F5344CB8AC3E}">
        <p14:creationId xmlns:p14="http://schemas.microsoft.com/office/powerpoint/2010/main" val="36276435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2C7B32EA-CA3F-45E2-957F-76918845296F}" type="slidenum">
              <a:rPr lang="en-US" altLang="zh-CN" sz="1200">
                <a:latin typeface="Arial" panose="020B0604020202020204" pitchFamily="34" charset="0"/>
              </a:rPr>
              <a:pPr eaLnBrk="1" hangingPunct="1"/>
              <a:t>104</a:t>
            </a:fld>
            <a:endParaRPr lang="en-US" altLang="zh-CN" sz="1200">
              <a:latin typeface="Arial" panose="020B0604020202020204" pitchFamily="34" charset="0"/>
            </a:endParaRPr>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对于</a:t>
            </a:r>
            <a:r>
              <a:rPr lang="en-US" altLang="zh-CN" smtClean="0">
                <a:hlinkClick r:id="rId3"/>
              </a:rPr>
              <a:t>Linux</a:t>
            </a:r>
            <a:r>
              <a:rPr lang="en-US" altLang="zh-CN" smtClean="0"/>
              <a:t> </a:t>
            </a:r>
            <a:r>
              <a:rPr lang="zh-CN" altLang="en-US" smtClean="0"/>
              <a:t>而言，所有对设备和文件的操作都使用文件描述符来进行的。文件描述符</a:t>
            </a:r>
            <a:br>
              <a:rPr lang="zh-CN" altLang="en-US" smtClean="0"/>
            </a:br>
            <a:r>
              <a:rPr lang="zh-CN" altLang="en-US" smtClean="0"/>
              <a:t>是一个非负的整数，它是一个索引值，并指向内核中每个进程打开文件的记录表。当打开一</a:t>
            </a:r>
            <a:br>
              <a:rPr lang="zh-CN" altLang="en-US" smtClean="0"/>
            </a:br>
            <a:r>
              <a:rPr lang="zh-CN" altLang="en-US" smtClean="0"/>
              <a:t>个现存文件或创建一个新文件时，内核就向进程返回一个文件描述符；当需要读写文件时，</a:t>
            </a:r>
            <a:br>
              <a:rPr lang="zh-CN" altLang="en-US" smtClean="0"/>
            </a:br>
            <a:r>
              <a:rPr lang="zh-CN" altLang="en-US" smtClean="0"/>
              <a:t>也需要把文件描述符作为参数传递给相应的函数。</a:t>
            </a:r>
            <a:br>
              <a:rPr lang="zh-CN" altLang="en-US" smtClean="0"/>
            </a:br>
            <a:r>
              <a:rPr lang="zh-CN" altLang="en-US" smtClean="0"/>
              <a:t>    通常，一个进程启动时，都会打开</a:t>
            </a:r>
            <a:r>
              <a:rPr lang="en-US" altLang="zh-CN" smtClean="0"/>
              <a:t>3 </a:t>
            </a:r>
            <a:r>
              <a:rPr lang="zh-CN" altLang="en-US" smtClean="0"/>
              <a:t>个文件：标准输入、标准输出和标准出错处理。这</a:t>
            </a:r>
            <a:br>
              <a:rPr lang="zh-CN" altLang="en-US" smtClean="0"/>
            </a:br>
            <a:r>
              <a:rPr lang="en-US" altLang="zh-CN" smtClean="0"/>
              <a:t>3 </a:t>
            </a:r>
            <a:r>
              <a:rPr lang="zh-CN" altLang="en-US" smtClean="0"/>
              <a:t>个文件分别对应文件描述符为</a:t>
            </a:r>
            <a:r>
              <a:rPr lang="en-US" altLang="zh-CN" smtClean="0"/>
              <a:t>0</a:t>
            </a:r>
            <a:r>
              <a:rPr lang="zh-CN" altLang="en-US" smtClean="0"/>
              <a:t>、</a:t>
            </a:r>
            <a:r>
              <a:rPr lang="en-US" altLang="zh-CN" smtClean="0"/>
              <a:t>1 </a:t>
            </a:r>
            <a:r>
              <a:rPr lang="zh-CN" altLang="en-US" smtClean="0"/>
              <a:t>和</a:t>
            </a:r>
            <a:r>
              <a:rPr lang="en-US" altLang="zh-CN" smtClean="0"/>
              <a:t>2</a:t>
            </a:r>
            <a:r>
              <a:rPr lang="zh-CN" altLang="en-US" smtClean="0"/>
              <a:t>（也就是宏替换</a:t>
            </a:r>
            <a:r>
              <a:rPr lang="en-US" altLang="zh-CN" smtClean="0"/>
              <a:t>STDIN_FILENO</a:t>
            </a:r>
            <a:r>
              <a:rPr lang="zh-CN" altLang="en-US" smtClean="0"/>
              <a:t>、</a:t>
            </a:r>
            <a:r>
              <a:rPr lang="en-US" altLang="zh-CN" smtClean="0"/>
              <a:t>STDOUT_FILENO</a:t>
            </a:r>
            <a:br>
              <a:rPr lang="en-US" altLang="zh-CN" smtClean="0"/>
            </a:br>
            <a:r>
              <a:rPr lang="zh-CN" altLang="en-US" smtClean="0"/>
              <a:t>和</a:t>
            </a:r>
            <a:r>
              <a:rPr lang="en-US" altLang="zh-CN" smtClean="0"/>
              <a:t>STDERR_FILENO</a:t>
            </a:r>
            <a:r>
              <a:rPr lang="zh-CN" altLang="en-US" smtClean="0"/>
              <a:t>）。</a:t>
            </a:r>
            <a:br>
              <a:rPr lang="zh-CN" altLang="en-US" smtClean="0"/>
            </a:br>
            <a:endParaRPr lang="zh-CN" altLang="en-US" smtClean="0"/>
          </a:p>
        </p:txBody>
      </p:sp>
    </p:spTree>
    <p:extLst>
      <p:ext uri="{BB962C8B-B14F-4D97-AF65-F5344CB8AC3E}">
        <p14:creationId xmlns:p14="http://schemas.microsoft.com/office/powerpoint/2010/main" val="2702352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75E3199E-1162-4D37-9069-4348B3063B4F}" type="slidenum">
              <a:rPr lang="en-US" altLang="zh-CN" sz="1200">
                <a:latin typeface="Arial" panose="020B0604020202020204" pitchFamily="34" charset="0"/>
              </a:rPr>
              <a:pPr eaLnBrk="1" hangingPunct="1"/>
              <a:t>105</a:t>
            </a:fld>
            <a:endParaRPr lang="en-US" altLang="zh-CN" sz="1200">
              <a:latin typeface="Arial" panose="020B0604020202020204" pitchFamily="34" charset="0"/>
            </a:endParaRPr>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90000"/>
              </a:lnSpc>
              <a:spcBef>
                <a:spcPct val="0"/>
              </a:spcBef>
            </a:pPr>
            <a:r>
              <a:rPr lang="en-US" altLang="zh-CN" sz="1800" smtClean="0">
                <a:solidFill>
                  <a:srgbClr val="800080"/>
                </a:solidFill>
              </a:rPr>
              <a:t>f_mode</a:t>
            </a:r>
            <a:r>
              <a:rPr lang="zh-CN" altLang="en-US" sz="1800" smtClean="0"/>
              <a:t>是文件创建或打开时指定的</a:t>
            </a:r>
            <a:r>
              <a:rPr lang="zh-CN" altLang="en-US" sz="1800" smtClean="0">
                <a:solidFill>
                  <a:srgbClr val="0000FF"/>
                </a:solidFill>
              </a:rPr>
              <a:t>文件属性</a:t>
            </a:r>
            <a:r>
              <a:rPr lang="zh-CN" altLang="en-US" sz="1800" smtClean="0"/>
              <a:t>，包括</a:t>
            </a:r>
            <a:r>
              <a:rPr lang="zh-CN" altLang="en-US" sz="1800" smtClean="0">
                <a:solidFill>
                  <a:srgbClr val="0000FF"/>
                </a:solidFill>
              </a:rPr>
              <a:t>文件操作模式</a:t>
            </a:r>
            <a:r>
              <a:rPr lang="zh-CN" altLang="en-US" sz="1800" smtClean="0"/>
              <a:t>和</a:t>
            </a:r>
            <a:r>
              <a:rPr lang="zh-CN" altLang="en-US" sz="1800" smtClean="0">
                <a:solidFill>
                  <a:srgbClr val="0000FF"/>
                </a:solidFill>
              </a:rPr>
              <a:t>访问权限</a:t>
            </a:r>
            <a:r>
              <a:rPr lang="zh-CN" altLang="en-US" sz="1800" smtClean="0"/>
              <a:t>。符号常量</a:t>
            </a:r>
            <a:r>
              <a:rPr lang="en-US" altLang="zh-CN" sz="1800" smtClean="0">
                <a:solidFill>
                  <a:srgbClr val="008000"/>
                </a:solidFill>
              </a:rPr>
              <a:t>FMODE_READ</a:t>
            </a:r>
            <a:r>
              <a:rPr lang="zh-CN" altLang="en-US" sz="1800" smtClean="0"/>
              <a:t>（读）和</a:t>
            </a:r>
            <a:r>
              <a:rPr lang="en-US" altLang="zh-CN" sz="1800" smtClean="0">
                <a:solidFill>
                  <a:srgbClr val="008000"/>
                </a:solidFill>
              </a:rPr>
              <a:t>FMODE_WRITE</a:t>
            </a:r>
            <a:r>
              <a:rPr lang="zh-CN" altLang="en-US" sz="1800" smtClean="0"/>
              <a:t>（写）</a:t>
            </a:r>
            <a:endParaRPr lang="zh-CN" altLang="en-US" sz="2400" smtClean="0"/>
          </a:p>
          <a:p>
            <a:pPr algn="just">
              <a:lnSpc>
                <a:spcPct val="90000"/>
              </a:lnSpc>
              <a:spcBef>
                <a:spcPct val="0"/>
              </a:spcBef>
            </a:pPr>
            <a:r>
              <a:rPr lang="en-US" altLang="zh-CN" sz="1800" smtClean="0">
                <a:latin typeface="Wingdings" panose="05000000000000000000" pitchFamily="2" charset="2"/>
              </a:rPr>
              <a:t>l</a:t>
            </a:r>
            <a:r>
              <a:rPr lang="en-US" altLang="zh-CN" smtClean="0">
                <a:cs typeface="Times New Roman" panose="02020603050405020304" pitchFamily="18" charset="0"/>
              </a:rPr>
              <a:t>         </a:t>
            </a:r>
            <a:r>
              <a:rPr lang="en-US" altLang="zh-CN" sz="1800" smtClean="0">
                <a:solidFill>
                  <a:srgbClr val="800080"/>
                </a:solidFill>
              </a:rPr>
              <a:t>f_flags</a:t>
            </a:r>
            <a:r>
              <a:rPr lang="zh-CN" altLang="en-US" sz="1800" smtClean="0"/>
              <a:t>指定了文件打开后的</a:t>
            </a:r>
            <a:r>
              <a:rPr lang="zh-CN" altLang="en-US" sz="1800" smtClean="0">
                <a:solidFill>
                  <a:srgbClr val="0000FF"/>
                </a:solidFill>
              </a:rPr>
              <a:t>处理方式</a:t>
            </a:r>
            <a:r>
              <a:rPr lang="zh-CN" altLang="en-US" sz="1800" smtClean="0"/>
              <a:t>，</a:t>
            </a:r>
            <a:endParaRPr lang="zh-CN" altLang="en-US" sz="2400" smtClean="0"/>
          </a:p>
          <a:p>
            <a:pPr algn="just">
              <a:lnSpc>
                <a:spcPct val="90000"/>
              </a:lnSpc>
              <a:spcBef>
                <a:spcPct val="0"/>
              </a:spcBef>
            </a:pPr>
            <a:r>
              <a:rPr lang="zh-CN" altLang="en-US" sz="1800" smtClean="0"/>
              <a:t>   </a:t>
            </a:r>
            <a:r>
              <a:rPr lang="en-US" altLang="zh-CN" sz="1800" smtClean="0">
                <a:solidFill>
                  <a:srgbClr val="008000"/>
                </a:solidFill>
              </a:rPr>
              <a:t>O_RDONLY</a:t>
            </a:r>
            <a:r>
              <a:rPr lang="zh-CN" altLang="en-US" sz="1800" smtClean="0"/>
              <a:t>仅为读操作打开文件，</a:t>
            </a:r>
            <a:endParaRPr lang="zh-CN" altLang="en-US" sz="2400" smtClean="0"/>
          </a:p>
          <a:p>
            <a:pPr algn="just">
              <a:lnSpc>
                <a:spcPct val="90000"/>
              </a:lnSpc>
              <a:spcBef>
                <a:spcPct val="0"/>
              </a:spcBef>
            </a:pPr>
            <a:r>
              <a:rPr lang="zh-CN" altLang="en-US" sz="1800" smtClean="0"/>
              <a:t>   </a:t>
            </a:r>
            <a:r>
              <a:rPr lang="en-US" altLang="zh-CN" sz="1800" smtClean="0">
                <a:solidFill>
                  <a:srgbClr val="008000"/>
                </a:solidFill>
              </a:rPr>
              <a:t>O_WRONLY</a:t>
            </a:r>
            <a:r>
              <a:rPr lang="zh-CN" altLang="en-US" sz="1800" smtClean="0"/>
              <a:t>仅为写操作打开文件，</a:t>
            </a:r>
            <a:endParaRPr lang="zh-CN" altLang="en-US" sz="2400" smtClean="0"/>
          </a:p>
          <a:p>
            <a:pPr algn="just">
              <a:lnSpc>
                <a:spcPct val="90000"/>
              </a:lnSpc>
              <a:spcBef>
                <a:spcPct val="0"/>
              </a:spcBef>
            </a:pPr>
            <a:r>
              <a:rPr lang="zh-CN" altLang="en-US" sz="1800" smtClean="0"/>
              <a:t>   </a:t>
            </a:r>
            <a:r>
              <a:rPr lang="en-US" altLang="zh-CN" sz="1800" smtClean="0">
                <a:solidFill>
                  <a:srgbClr val="008000"/>
                </a:solidFill>
              </a:rPr>
              <a:t>O_RDWR</a:t>
            </a:r>
            <a:r>
              <a:rPr lang="zh-CN" altLang="en-US" sz="1800" smtClean="0"/>
              <a:t>为读和写操作打开文件等。</a:t>
            </a:r>
            <a:endParaRPr lang="zh-CN" altLang="en-US" sz="2400" smtClean="0"/>
          </a:p>
          <a:p>
            <a:pPr algn="just">
              <a:lnSpc>
                <a:spcPct val="90000"/>
              </a:lnSpc>
              <a:spcBef>
                <a:spcPct val="0"/>
              </a:spcBef>
            </a:pPr>
            <a:r>
              <a:rPr lang="en-US" altLang="zh-CN" sz="1800" smtClean="0">
                <a:latin typeface="Wingdings" panose="05000000000000000000" pitchFamily="2" charset="2"/>
              </a:rPr>
              <a:t>l</a:t>
            </a:r>
            <a:r>
              <a:rPr lang="en-US" altLang="zh-CN" smtClean="0">
                <a:cs typeface="Times New Roman" panose="02020603050405020304" pitchFamily="18" charset="0"/>
              </a:rPr>
              <a:t>         </a:t>
            </a:r>
            <a:r>
              <a:rPr lang="en-US" altLang="zh-CN" sz="1800" smtClean="0">
                <a:solidFill>
                  <a:srgbClr val="800080"/>
                </a:solidFill>
              </a:rPr>
              <a:t>f_pos</a:t>
            </a:r>
            <a:r>
              <a:rPr lang="zh-CN" altLang="en-US" sz="1800" smtClean="0"/>
              <a:t>记载文件中当前读写处理所在的</a:t>
            </a:r>
            <a:r>
              <a:rPr lang="zh-CN" altLang="en-US" sz="1800" smtClean="0">
                <a:solidFill>
                  <a:srgbClr val="0000FF"/>
                </a:solidFill>
              </a:rPr>
              <a:t>字节位置</a:t>
            </a:r>
            <a:r>
              <a:rPr lang="zh-CN" altLang="en-US" sz="1800" smtClean="0"/>
              <a:t>，相当是文件</a:t>
            </a:r>
            <a:r>
              <a:rPr lang="zh-CN" altLang="en-US" sz="1800" smtClean="0">
                <a:solidFill>
                  <a:srgbClr val="0000FF"/>
                </a:solidFill>
              </a:rPr>
              <a:t>内部</a:t>
            </a:r>
            <a:r>
              <a:rPr lang="zh-CN" altLang="en-US" sz="1800" smtClean="0"/>
              <a:t>的一个</a:t>
            </a:r>
            <a:r>
              <a:rPr lang="zh-CN" altLang="en-US" sz="1800" smtClean="0">
                <a:solidFill>
                  <a:srgbClr val="0000FF"/>
                </a:solidFill>
              </a:rPr>
              <a:t>位置指针</a:t>
            </a:r>
            <a:r>
              <a:rPr lang="zh-CN" altLang="en-US" sz="1800" smtClean="0"/>
              <a:t>。</a:t>
            </a:r>
            <a:endParaRPr lang="zh-CN" altLang="en-US" sz="2400" smtClean="0"/>
          </a:p>
          <a:p>
            <a:pPr algn="just">
              <a:lnSpc>
                <a:spcPct val="90000"/>
              </a:lnSpc>
              <a:spcBef>
                <a:spcPct val="0"/>
              </a:spcBef>
            </a:pPr>
            <a:r>
              <a:rPr lang="en-US" altLang="zh-CN" sz="1800" smtClean="0">
                <a:latin typeface="Wingdings" panose="05000000000000000000" pitchFamily="2" charset="2"/>
              </a:rPr>
              <a:t>l</a:t>
            </a:r>
            <a:r>
              <a:rPr lang="en-US" altLang="zh-CN" smtClean="0">
                <a:cs typeface="Times New Roman" panose="02020603050405020304" pitchFamily="18" charset="0"/>
              </a:rPr>
              <a:t>         </a:t>
            </a:r>
            <a:r>
              <a:rPr lang="en-US" altLang="zh-CN" sz="1800" smtClean="0">
                <a:solidFill>
                  <a:srgbClr val="800080"/>
                </a:solidFill>
              </a:rPr>
              <a:t>f_inode</a:t>
            </a:r>
            <a:r>
              <a:rPr lang="zh-CN" altLang="en-US" sz="1800" smtClean="0"/>
              <a:t>指向文件对应的</a:t>
            </a:r>
            <a:r>
              <a:rPr lang="en-US" altLang="zh-CN" sz="1800" smtClean="0">
                <a:solidFill>
                  <a:srgbClr val="0000FF"/>
                </a:solidFill>
              </a:rPr>
              <a:t>VFSinode</a:t>
            </a:r>
            <a:r>
              <a:rPr lang="zh-CN" altLang="en-US" sz="1800" smtClean="0"/>
              <a:t>。</a:t>
            </a:r>
            <a:endParaRPr lang="zh-CN" altLang="en-US" sz="2400" smtClean="0"/>
          </a:p>
          <a:p>
            <a:pPr algn="just">
              <a:lnSpc>
                <a:spcPct val="90000"/>
              </a:lnSpc>
              <a:spcBef>
                <a:spcPct val="0"/>
              </a:spcBef>
            </a:pPr>
            <a:r>
              <a:rPr lang="en-US" altLang="zh-CN" sz="1800" smtClean="0">
                <a:latin typeface="Wingdings" panose="05000000000000000000" pitchFamily="2" charset="2"/>
              </a:rPr>
              <a:t>l</a:t>
            </a:r>
            <a:r>
              <a:rPr lang="en-US" altLang="zh-CN" smtClean="0">
                <a:cs typeface="Times New Roman" panose="02020603050405020304" pitchFamily="18" charset="0"/>
              </a:rPr>
              <a:t>         </a:t>
            </a:r>
            <a:r>
              <a:rPr lang="en-US" altLang="zh-CN" sz="1800" smtClean="0">
                <a:solidFill>
                  <a:srgbClr val="800080"/>
                </a:solidFill>
              </a:rPr>
              <a:t>f_count</a:t>
            </a:r>
            <a:r>
              <a:rPr lang="zh-CN" altLang="en-US" sz="1800" smtClean="0"/>
              <a:t>记载的是</a:t>
            </a:r>
            <a:r>
              <a:rPr lang="zh-CN" altLang="en-US" sz="1800" smtClean="0">
                <a:solidFill>
                  <a:srgbClr val="0000FF"/>
                </a:solidFill>
              </a:rPr>
              <a:t>共享</a:t>
            </a:r>
            <a:r>
              <a:rPr lang="zh-CN" altLang="en-US" sz="1800" smtClean="0"/>
              <a:t>该</a:t>
            </a:r>
            <a:r>
              <a:rPr lang="en-US" altLang="zh-CN" sz="1800" smtClean="0"/>
              <a:t>file</a:t>
            </a:r>
            <a:r>
              <a:rPr lang="zh-CN" altLang="en-US" sz="1800" smtClean="0"/>
              <a:t>结构体的</a:t>
            </a:r>
            <a:r>
              <a:rPr lang="zh-CN" altLang="en-US" sz="1800" smtClean="0">
                <a:solidFill>
                  <a:srgbClr val="0000FF"/>
                </a:solidFill>
              </a:rPr>
              <a:t>进程的数目</a:t>
            </a:r>
            <a:r>
              <a:rPr lang="zh-CN" altLang="en-US" sz="1800" smtClean="0"/>
              <a:t>。</a:t>
            </a:r>
            <a:endParaRPr lang="zh-CN" altLang="en-US" sz="2400" smtClean="0"/>
          </a:p>
          <a:p>
            <a:pPr algn="just">
              <a:lnSpc>
                <a:spcPct val="90000"/>
              </a:lnSpc>
              <a:spcBef>
                <a:spcPct val="0"/>
              </a:spcBef>
            </a:pPr>
            <a:r>
              <a:rPr lang="zh-CN" altLang="en-US" sz="1800" smtClean="0"/>
              <a:t>   </a:t>
            </a:r>
            <a:r>
              <a:rPr lang="en-US" altLang="zh-CN" sz="1800" smtClean="0"/>
              <a:t>i_count</a:t>
            </a:r>
            <a:r>
              <a:rPr lang="zh-CN" altLang="en-US" sz="1800" smtClean="0"/>
              <a:t>记载</a:t>
            </a:r>
            <a:r>
              <a:rPr lang="zh-CN" altLang="en-US" sz="1800" smtClean="0">
                <a:solidFill>
                  <a:srgbClr val="0000FF"/>
                </a:solidFill>
              </a:rPr>
              <a:t>共享</a:t>
            </a:r>
            <a:r>
              <a:rPr lang="zh-CN" altLang="en-US" sz="1800" smtClean="0"/>
              <a:t>此文件的</a:t>
            </a:r>
            <a:r>
              <a:rPr lang="zh-CN" altLang="en-US" sz="1800" smtClean="0">
                <a:solidFill>
                  <a:srgbClr val="FF0000"/>
                </a:solidFill>
              </a:rPr>
              <a:t>独立</a:t>
            </a:r>
            <a:r>
              <a:rPr lang="zh-CN" altLang="en-US" sz="1800" smtClean="0">
                <a:solidFill>
                  <a:srgbClr val="0000FF"/>
                </a:solidFill>
              </a:rPr>
              <a:t>进程数目</a:t>
            </a:r>
            <a:r>
              <a:rPr lang="zh-CN" altLang="en-US" sz="1800" smtClean="0"/>
              <a:t>。</a:t>
            </a:r>
            <a:endParaRPr lang="zh-CN" altLang="en-US" sz="2400" smtClean="0"/>
          </a:p>
          <a:p>
            <a:pPr algn="just">
              <a:lnSpc>
                <a:spcPct val="90000"/>
              </a:lnSpc>
              <a:spcBef>
                <a:spcPct val="0"/>
              </a:spcBef>
            </a:pPr>
            <a:r>
              <a:rPr lang="en-US" altLang="zh-CN" sz="1800" smtClean="0">
                <a:latin typeface="Wingdings" panose="05000000000000000000" pitchFamily="2" charset="2"/>
              </a:rPr>
              <a:t>l</a:t>
            </a:r>
            <a:r>
              <a:rPr lang="en-US" altLang="zh-CN" smtClean="0">
                <a:cs typeface="Times New Roman" panose="02020603050405020304" pitchFamily="18" charset="0"/>
              </a:rPr>
              <a:t>         </a:t>
            </a:r>
            <a:r>
              <a:rPr lang="en-US" altLang="zh-CN" sz="1800" smtClean="0">
                <a:solidFill>
                  <a:srgbClr val="800080"/>
                </a:solidFill>
              </a:rPr>
              <a:t>f_op</a:t>
            </a:r>
            <a:r>
              <a:rPr lang="zh-CN" altLang="en-US" sz="1800" smtClean="0"/>
              <a:t>指向对文件进行操作的</a:t>
            </a:r>
            <a:r>
              <a:rPr lang="zh-CN" altLang="en-US" sz="1800" smtClean="0">
                <a:solidFill>
                  <a:srgbClr val="0000FF"/>
                </a:solidFill>
              </a:rPr>
              <a:t>函数指针集合</a:t>
            </a:r>
            <a:endParaRPr lang="zh-CN" altLang="en-US" sz="2400" smtClean="0"/>
          </a:p>
          <a:p>
            <a:pPr>
              <a:lnSpc>
                <a:spcPct val="90000"/>
              </a:lnSpc>
              <a:spcBef>
                <a:spcPct val="0"/>
              </a:spcBef>
            </a:pPr>
            <a:r>
              <a:rPr lang="en-US" altLang="zh-CN" sz="1800" smtClean="0">
                <a:solidFill>
                  <a:srgbClr val="008080"/>
                </a:solidFill>
                <a:latin typeface="宋体" panose="02010600030101010101" pitchFamily="2" charset="-122"/>
              </a:rPr>
              <a:t>file_operations</a:t>
            </a:r>
            <a:r>
              <a:rPr lang="zh-CN" altLang="en-US" sz="1800" smtClean="0">
                <a:latin typeface="宋体" panose="02010600030101010101" pitchFamily="2" charset="-122"/>
              </a:rPr>
              <a:t>结构。通过</a:t>
            </a:r>
            <a:r>
              <a:rPr lang="en-US" altLang="zh-CN" sz="1800" smtClean="0">
                <a:latin typeface="宋体" panose="02010600030101010101" pitchFamily="2" charset="-122"/>
              </a:rPr>
              <a:t>f_op</a:t>
            </a:r>
            <a:r>
              <a:rPr lang="zh-CN" altLang="en-US" sz="1800" smtClean="0">
                <a:latin typeface="宋体" panose="02010600030101010101" pitchFamily="2" charset="-122"/>
              </a:rPr>
              <a:t>对不同文件系统的文件调用不同的操作函数。</a:t>
            </a:r>
            <a:r>
              <a:rPr lang="zh-CN" altLang="en-US" sz="1900" smtClean="0"/>
              <a:t> </a:t>
            </a:r>
            <a:endParaRPr lang="zh-CN" altLang="en-US" sz="4000" smtClean="0"/>
          </a:p>
          <a:p>
            <a:pPr eaLnBrk="1" hangingPunct="1">
              <a:lnSpc>
                <a:spcPct val="90000"/>
              </a:lnSpc>
            </a:pPr>
            <a:endParaRPr lang="zh-CN" altLang="en-US" smtClean="0"/>
          </a:p>
          <a:p>
            <a:pPr eaLnBrk="1" hangingPunct="1">
              <a:lnSpc>
                <a:spcPct val="90000"/>
              </a:lnSpc>
            </a:pPr>
            <a:endParaRPr lang="en-US" altLang="zh-CN" smtClean="0"/>
          </a:p>
        </p:txBody>
      </p:sp>
    </p:spTree>
    <p:extLst>
      <p:ext uri="{BB962C8B-B14F-4D97-AF65-F5344CB8AC3E}">
        <p14:creationId xmlns:p14="http://schemas.microsoft.com/office/powerpoint/2010/main" val="21151654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fld id="{AB8CDF1F-FFC7-4EA8-B2B2-3E05172795CC}" type="slidenum">
              <a:rPr lang="en-US" altLang="zh-CN" sz="1200">
                <a:latin typeface="Arial" panose="020B0604020202020204" pitchFamily="34" charset="0"/>
              </a:rPr>
              <a:pPr eaLnBrk="1" hangingPunct="1"/>
              <a:t>109</a:t>
            </a:fld>
            <a:endParaRPr lang="en-US" altLang="zh-CN" sz="1200">
              <a:latin typeface="Arial" panose="020B0604020202020204" pitchFamily="34" charset="0"/>
            </a:endParaRPr>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zh-CN" smtClean="0"/>
              <a:t> file_operations </a:t>
            </a:r>
            <a:r>
              <a:rPr lang="zh-CN" altLang="en-US" smtClean="0"/>
              <a:t>是“目录节点”提供的操作“接口”。它包括 </a:t>
            </a:r>
            <a:r>
              <a:rPr lang="en-US" altLang="zh-CN" smtClean="0"/>
              <a:t>open, read, wirte, ioctl, llseek, mmap </a:t>
            </a:r>
            <a:r>
              <a:rPr lang="zh-CN" altLang="en-US" smtClean="0"/>
              <a:t>等操作。</a:t>
            </a:r>
          </a:p>
          <a:p>
            <a:pPr eaLnBrk="1" hangingPunct="1">
              <a:buFontTx/>
              <a:buChar char="•"/>
            </a:pPr>
            <a:r>
              <a:rPr lang="zh-CN" altLang="en-US" smtClean="0"/>
              <a:t>  一个  </a:t>
            </a:r>
            <a:r>
              <a:rPr lang="en-US" altLang="zh-CN" smtClean="0"/>
              <a:t>inode </a:t>
            </a:r>
            <a:r>
              <a:rPr lang="zh-CN" altLang="en-US" smtClean="0"/>
              <a:t>通过成员 </a:t>
            </a:r>
            <a:r>
              <a:rPr lang="en-US" altLang="zh-CN" smtClean="0"/>
              <a:t>i_fop </a:t>
            </a:r>
            <a:r>
              <a:rPr lang="zh-CN" altLang="en-US" smtClean="0"/>
              <a:t>对应一个 </a:t>
            </a:r>
            <a:r>
              <a:rPr lang="en-US" altLang="zh-CN" smtClean="0"/>
              <a:t>file_operations</a:t>
            </a:r>
            <a:br>
              <a:rPr lang="en-US" altLang="zh-CN" smtClean="0"/>
            </a:br>
            <a:endParaRPr lang="en-US" altLang="zh-CN" smtClean="0"/>
          </a:p>
          <a:p>
            <a:pPr eaLnBrk="1" hangingPunct="1">
              <a:buFontTx/>
              <a:buChar char="•"/>
            </a:pPr>
            <a:r>
              <a:rPr lang="en-US" altLang="zh-CN" smtClean="0"/>
              <a:t>  </a:t>
            </a:r>
            <a:r>
              <a:rPr lang="zh-CN" altLang="en-US" smtClean="0"/>
              <a:t>打开文件的过程就是寻找 “目录节点”对应的 </a:t>
            </a:r>
            <a:r>
              <a:rPr lang="en-US" altLang="zh-CN" smtClean="0"/>
              <a:t>inode </a:t>
            </a:r>
            <a:r>
              <a:rPr lang="zh-CN" altLang="en-US" smtClean="0"/>
              <a:t>的过程</a:t>
            </a:r>
          </a:p>
          <a:p>
            <a:pPr eaLnBrk="1" hangingPunct="1">
              <a:buFontTx/>
              <a:buChar char="•"/>
            </a:pPr>
            <a:r>
              <a:rPr lang="zh-CN" altLang="en-US" smtClean="0"/>
              <a:t>  文件被打开后，</a:t>
            </a:r>
            <a:r>
              <a:rPr lang="en-US" altLang="zh-CN" smtClean="0"/>
              <a:t>inode </a:t>
            </a:r>
            <a:r>
              <a:rPr lang="zh-CN" altLang="en-US" smtClean="0"/>
              <a:t>和 </a:t>
            </a:r>
            <a:r>
              <a:rPr lang="en-US" altLang="zh-CN" smtClean="0"/>
              <a:t>file_operation </a:t>
            </a:r>
            <a:r>
              <a:rPr lang="zh-CN" altLang="en-US" smtClean="0"/>
              <a:t>都已经在内存中建立，</a:t>
            </a:r>
            <a:r>
              <a:rPr lang="en-US" altLang="zh-CN" smtClean="0"/>
              <a:t>file_operations </a:t>
            </a:r>
            <a:r>
              <a:rPr lang="zh-CN" altLang="en-US" smtClean="0"/>
              <a:t>的指针也已经指向了具体文件系统提供的函数，此后都文件的操作，都由这些函数来完成。</a:t>
            </a:r>
            <a:br>
              <a:rPr lang="zh-CN" altLang="en-US" smtClean="0"/>
            </a:br>
            <a:endParaRPr lang="zh-CN" altLang="en-US" smtClean="0"/>
          </a:p>
        </p:txBody>
      </p:sp>
    </p:spTree>
    <p:extLst>
      <p:ext uri="{BB962C8B-B14F-4D97-AF65-F5344CB8AC3E}">
        <p14:creationId xmlns:p14="http://schemas.microsoft.com/office/powerpoint/2010/main" val="1534186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0" y="0"/>
            <a:ext cx="1752600" cy="4876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a:p>
        </p:txBody>
      </p:sp>
      <p:grpSp>
        <p:nvGrpSpPr>
          <p:cNvPr id="4" name="Group 8"/>
          <p:cNvGrpSpPr>
            <a:grpSpLocks/>
          </p:cNvGrpSpPr>
          <p:nvPr userDrawn="1"/>
        </p:nvGrpSpPr>
        <p:grpSpPr bwMode="auto">
          <a:xfrm>
            <a:off x="635000" y="533400"/>
            <a:ext cx="8077200" cy="304800"/>
            <a:chOff x="400" y="336"/>
            <a:chExt cx="5088" cy="192"/>
          </a:xfrm>
        </p:grpSpPr>
        <p:sp>
          <p:nvSpPr>
            <p:cNvPr id="5" name="Rectangle 9"/>
            <p:cNvSpPr>
              <a:spLocks noChangeArrowheads="1"/>
            </p:cNvSpPr>
            <p:nvPr userDrawn="1"/>
          </p:nvSpPr>
          <p:spPr bwMode="auto">
            <a:xfrm>
              <a:off x="3952" y="336"/>
              <a:ext cx="1536" cy="19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a:p>
          </p:txBody>
        </p:sp>
        <p:sp>
          <p:nvSpPr>
            <p:cNvPr id="6" name="Line 10"/>
            <p:cNvSpPr>
              <a:spLocks noChangeShapeType="1"/>
            </p:cNvSpPr>
            <p:nvPr userDrawn="1"/>
          </p:nvSpPr>
          <p:spPr bwMode="auto">
            <a:xfrm>
              <a:off x="400" y="432"/>
              <a:ext cx="5088" cy="0"/>
            </a:xfrm>
            <a:prstGeom prst="line">
              <a:avLst/>
            </a:prstGeom>
            <a:noFill/>
            <a:ln w="4445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31" name="Rectangle 11"/>
          <p:cNvSpPr>
            <a:spLocks noGrp="1" noChangeArrowheads="1"/>
          </p:cNvSpPr>
          <p:nvPr>
            <p:ph type="ctrTitle"/>
          </p:nvPr>
        </p:nvSpPr>
        <p:spPr>
          <a:xfrm>
            <a:off x="2057400" y="1143000"/>
            <a:ext cx="6629400" cy="2209800"/>
          </a:xfrm>
        </p:spPr>
        <p:txBody>
          <a:bodyPr/>
          <a:lstStyle>
            <a:lvl1pPr>
              <a:defRPr sz="4800"/>
            </a:lvl1pPr>
          </a:lstStyle>
          <a:p>
            <a:r>
              <a:rPr lang="zh-CN" altLang="en-US"/>
              <a:t>单击此处编辑母版标题样式</a:t>
            </a:r>
          </a:p>
        </p:txBody>
      </p:sp>
      <p:sp>
        <p:nvSpPr>
          <p:cNvPr id="7" name="Rectangle 13"/>
          <p:cNvSpPr>
            <a:spLocks noGrp="1" noChangeArrowheads="1"/>
          </p:cNvSpPr>
          <p:nvPr>
            <p:ph type="dt" sz="half" idx="10"/>
          </p:nvPr>
        </p:nvSpPr>
        <p:spPr>
          <a:xfrm>
            <a:off x="912813" y="6251575"/>
            <a:ext cx="1905000" cy="457200"/>
          </a:xfrm>
        </p:spPr>
        <p:txBody>
          <a:bodyPr/>
          <a:lstStyle>
            <a:lvl1pPr>
              <a:defRPr/>
            </a:lvl1pPr>
          </a:lstStyle>
          <a:p>
            <a:pPr>
              <a:defRPr/>
            </a:pPr>
            <a:endParaRPr lang="en-US" altLang="zh-CN"/>
          </a:p>
        </p:txBody>
      </p:sp>
      <p:sp>
        <p:nvSpPr>
          <p:cNvPr id="8" name="Rectangle 14"/>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zh-CN"/>
          </a:p>
        </p:txBody>
      </p:sp>
      <p:sp>
        <p:nvSpPr>
          <p:cNvPr id="9" name="Rectangle 15"/>
          <p:cNvSpPr>
            <a:spLocks noGrp="1" noChangeArrowheads="1"/>
          </p:cNvSpPr>
          <p:nvPr>
            <p:ph type="sldNum" sz="quarter" idx="12"/>
          </p:nvPr>
        </p:nvSpPr>
        <p:spPr/>
        <p:txBody>
          <a:bodyPr/>
          <a:lstStyle>
            <a:lvl1pPr>
              <a:defRPr/>
            </a:lvl1pPr>
          </a:lstStyle>
          <a:p>
            <a:fld id="{6CB7BD7E-20AB-459D-B008-C7508768E83B}" type="slidenum">
              <a:rPr lang="en-US" altLang="zh-CN"/>
              <a:pPr/>
              <a:t>‹#›</a:t>
            </a:fld>
            <a:endParaRPr lang="en-US" altLang="zh-CN"/>
          </a:p>
        </p:txBody>
      </p:sp>
    </p:spTree>
    <p:extLst>
      <p:ext uri="{BB962C8B-B14F-4D97-AF65-F5344CB8AC3E}">
        <p14:creationId xmlns:p14="http://schemas.microsoft.com/office/powerpoint/2010/main" val="3505943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fld id="{F4934708-2BB1-4A3F-A7D6-0E68F2F68409}" type="slidenum">
              <a:rPr lang="en-US" altLang="zh-CN"/>
              <a:pPr/>
              <a:t>‹#›</a:t>
            </a:fld>
            <a:endParaRPr lang="en-US" altLang="zh-CN"/>
          </a:p>
        </p:txBody>
      </p:sp>
    </p:spTree>
    <p:extLst>
      <p:ext uri="{BB962C8B-B14F-4D97-AF65-F5344CB8AC3E}">
        <p14:creationId xmlns:p14="http://schemas.microsoft.com/office/powerpoint/2010/main" val="3143292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fld id="{C4166DFA-96C3-4AFF-B15A-2671DB426EAA}" type="slidenum">
              <a:rPr lang="en-US" altLang="zh-CN"/>
              <a:pPr/>
              <a:t>‹#›</a:t>
            </a:fld>
            <a:endParaRPr lang="en-US" altLang="zh-CN"/>
          </a:p>
        </p:txBody>
      </p:sp>
    </p:spTree>
    <p:extLst>
      <p:ext uri="{BB962C8B-B14F-4D97-AF65-F5344CB8AC3E}">
        <p14:creationId xmlns:p14="http://schemas.microsoft.com/office/powerpoint/2010/main" val="4183764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fld id="{C9A58CED-80B5-4A28-8E98-91DF45F61CD4}" type="slidenum">
              <a:rPr lang="en-US" altLang="zh-CN"/>
              <a:pPr/>
              <a:t>‹#›</a:t>
            </a:fld>
            <a:endParaRPr lang="en-US" altLang="zh-CN"/>
          </a:p>
        </p:txBody>
      </p:sp>
    </p:spTree>
    <p:extLst>
      <p:ext uri="{BB962C8B-B14F-4D97-AF65-F5344CB8AC3E}">
        <p14:creationId xmlns:p14="http://schemas.microsoft.com/office/powerpoint/2010/main" val="3882295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1"/>
          <p:cNvSpPr>
            <a:spLocks noGrp="1" noChangeArrowheads="1"/>
          </p:cNvSpPr>
          <p:nvPr>
            <p:ph type="sldNum" sz="quarter" idx="12"/>
          </p:nvPr>
        </p:nvSpPr>
        <p:spPr>
          <a:ln/>
        </p:spPr>
        <p:txBody>
          <a:bodyPr/>
          <a:lstStyle>
            <a:lvl1pPr>
              <a:defRPr/>
            </a:lvl1pPr>
          </a:lstStyle>
          <a:p>
            <a:fld id="{316AF164-B5AB-494F-9645-2C64012A2BE5}" type="slidenum">
              <a:rPr lang="en-US" altLang="zh-CN"/>
              <a:pPr/>
              <a:t>‹#›</a:t>
            </a:fld>
            <a:endParaRPr lang="en-US" altLang="zh-CN"/>
          </a:p>
        </p:txBody>
      </p:sp>
    </p:spTree>
    <p:extLst>
      <p:ext uri="{BB962C8B-B14F-4D97-AF65-F5344CB8AC3E}">
        <p14:creationId xmlns:p14="http://schemas.microsoft.com/office/powerpoint/2010/main" val="2920826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1"/>
          <p:cNvSpPr>
            <a:spLocks noGrp="1" noChangeArrowheads="1"/>
          </p:cNvSpPr>
          <p:nvPr>
            <p:ph type="sldNum" sz="quarter" idx="12"/>
          </p:nvPr>
        </p:nvSpPr>
        <p:spPr>
          <a:ln/>
        </p:spPr>
        <p:txBody>
          <a:bodyPr/>
          <a:lstStyle>
            <a:lvl1pPr>
              <a:defRPr/>
            </a:lvl1pPr>
          </a:lstStyle>
          <a:p>
            <a:fld id="{13FFAC8C-25BC-431E-8D7A-A7513D69A4D9}" type="slidenum">
              <a:rPr lang="en-US" altLang="zh-CN"/>
              <a:pPr/>
              <a:t>‹#›</a:t>
            </a:fld>
            <a:endParaRPr lang="en-US" altLang="zh-CN"/>
          </a:p>
        </p:txBody>
      </p:sp>
    </p:spTree>
    <p:extLst>
      <p:ext uri="{BB962C8B-B14F-4D97-AF65-F5344CB8AC3E}">
        <p14:creationId xmlns:p14="http://schemas.microsoft.com/office/powerpoint/2010/main" val="3310932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1"/>
          <p:cNvSpPr>
            <a:spLocks noGrp="1" noChangeArrowheads="1"/>
          </p:cNvSpPr>
          <p:nvPr>
            <p:ph type="sldNum" sz="quarter" idx="12"/>
          </p:nvPr>
        </p:nvSpPr>
        <p:spPr>
          <a:ln/>
        </p:spPr>
        <p:txBody>
          <a:bodyPr/>
          <a:lstStyle>
            <a:lvl1pPr>
              <a:defRPr/>
            </a:lvl1pPr>
          </a:lstStyle>
          <a:p>
            <a:fld id="{595AE711-D046-41DB-BB0A-E48C0F6AC536}" type="slidenum">
              <a:rPr lang="en-US" altLang="zh-CN"/>
              <a:pPr/>
              <a:t>‹#›</a:t>
            </a:fld>
            <a:endParaRPr lang="en-US" altLang="zh-CN"/>
          </a:p>
        </p:txBody>
      </p:sp>
    </p:spTree>
    <p:extLst>
      <p:ext uri="{BB962C8B-B14F-4D97-AF65-F5344CB8AC3E}">
        <p14:creationId xmlns:p14="http://schemas.microsoft.com/office/powerpoint/2010/main" val="1176139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fld id="{E1CF9E9B-84BC-497E-9D24-F2F13EBF1DA6}" type="slidenum">
              <a:rPr lang="en-US" altLang="zh-CN"/>
              <a:pPr/>
              <a:t>‹#›</a:t>
            </a:fld>
            <a:endParaRPr lang="en-US" altLang="zh-CN"/>
          </a:p>
        </p:txBody>
      </p:sp>
    </p:spTree>
    <p:extLst>
      <p:ext uri="{BB962C8B-B14F-4D97-AF65-F5344CB8AC3E}">
        <p14:creationId xmlns:p14="http://schemas.microsoft.com/office/powerpoint/2010/main" val="4128613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fld id="{53FA9E27-C59E-40A8-83C3-AC2010D1D313}" type="slidenum">
              <a:rPr lang="en-US" altLang="zh-CN"/>
              <a:pPr/>
              <a:t>‹#›</a:t>
            </a:fld>
            <a:endParaRPr lang="en-US" altLang="zh-CN"/>
          </a:p>
        </p:txBody>
      </p:sp>
    </p:spTree>
    <p:extLst>
      <p:ext uri="{BB962C8B-B14F-4D97-AF65-F5344CB8AC3E}">
        <p14:creationId xmlns:p14="http://schemas.microsoft.com/office/powerpoint/2010/main" val="3477386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fld id="{6D454FF2-109A-44DC-88DA-FAD5C1B3DBB4}" type="slidenum">
              <a:rPr lang="en-US" altLang="zh-CN"/>
              <a:pPr/>
              <a:t>‹#›</a:t>
            </a:fld>
            <a:endParaRPr lang="en-US" altLang="zh-CN"/>
          </a:p>
        </p:txBody>
      </p:sp>
    </p:spTree>
    <p:extLst>
      <p:ext uri="{BB962C8B-B14F-4D97-AF65-F5344CB8AC3E}">
        <p14:creationId xmlns:p14="http://schemas.microsoft.com/office/powerpoint/2010/main" val="2310275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277813"/>
            <a:ext cx="19431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14400" y="277813"/>
            <a:ext cx="5676900" cy="5853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fld id="{F8F3BD96-A7AA-429B-BB5C-76DCBE92DC28}" type="slidenum">
              <a:rPr lang="en-US" altLang="zh-CN"/>
              <a:pPr/>
              <a:t>‹#›</a:t>
            </a:fld>
            <a:endParaRPr lang="en-US" altLang="zh-CN"/>
          </a:p>
        </p:txBody>
      </p:sp>
    </p:spTree>
    <p:extLst>
      <p:ext uri="{BB962C8B-B14F-4D97-AF65-F5344CB8AC3E}">
        <p14:creationId xmlns:p14="http://schemas.microsoft.com/office/powerpoint/2010/main" val="1207837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277813"/>
            <a:ext cx="7772400" cy="58531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1"/>
          <p:cNvSpPr>
            <a:spLocks noGrp="1" noChangeArrowheads="1"/>
          </p:cNvSpPr>
          <p:nvPr>
            <p:ph type="sldNum" sz="quarter" idx="12"/>
          </p:nvPr>
        </p:nvSpPr>
        <p:spPr>
          <a:ln/>
        </p:spPr>
        <p:txBody>
          <a:bodyPr/>
          <a:lstStyle>
            <a:lvl1pPr>
              <a:defRPr/>
            </a:lvl1pPr>
          </a:lstStyle>
          <a:p>
            <a:fld id="{A23CE985-6FCF-4FE5-9A9F-8AAEFEE05F35}" type="slidenum">
              <a:rPr lang="en-US" altLang="zh-CN"/>
              <a:pPr/>
              <a:t>‹#›</a:t>
            </a:fld>
            <a:endParaRPr lang="en-US" altLang="zh-CN"/>
          </a:p>
        </p:txBody>
      </p:sp>
    </p:spTree>
    <p:extLst>
      <p:ext uri="{BB962C8B-B14F-4D97-AF65-F5344CB8AC3E}">
        <p14:creationId xmlns:p14="http://schemas.microsoft.com/office/powerpoint/2010/main" val="2132302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77813"/>
            <a:ext cx="7772400" cy="78898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914400" y="1600200"/>
            <a:ext cx="38100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76800" y="1600200"/>
            <a:ext cx="38100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fld id="{DB4E2680-60BE-49BD-8B02-445055D1E1B2}" type="slidenum">
              <a:rPr lang="en-US" altLang="zh-CN"/>
              <a:pPr/>
              <a:t>‹#›</a:t>
            </a:fld>
            <a:endParaRPr lang="en-US" altLang="zh-CN"/>
          </a:p>
        </p:txBody>
      </p:sp>
    </p:spTree>
    <p:extLst>
      <p:ext uri="{BB962C8B-B14F-4D97-AF65-F5344CB8AC3E}">
        <p14:creationId xmlns:p14="http://schemas.microsoft.com/office/powerpoint/2010/main" val="27464275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277813"/>
            <a:ext cx="7772400" cy="788987"/>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914400" y="1600200"/>
            <a:ext cx="7772400" cy="4530725"/>
          </a:xfrm>
        </p:spPr>
        <p:txBody>
          <a:bodyPr/>
          <a:lstStyle/>
          <a:p>
            <a:pPr lvl="0"/>
            <a:endParaRPr lang="zh-CN" altLang="en-US" noProof="0" smtClean="0"/>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fld id="{F691FDCB-25A6-4543-BF95-DB183AFFCDD7}" type="slidenum">
              <a:rPr lang="en-US" altLang="zh-CN"/>
              <a:pPr/>
              <a:t>‹#›</a:t>
            </a:fld>
            <a:endParaRPr lang="en-US" altLang="zh-CN"/>
          </a:p>
        </p:txBody>
      </p:sp>
    </p:spTree>
    <p:extLst>
      <p:ext uri="{BB962C8B-B14F-4D97-AF65-F5344CB8AC3E}">
        <p14:creationId xmlns:p14="http://schemas.microsoft.com/office/powerpoint/2010/main" val="1784575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Grp="1" noChangeArrowheads="1"/>
          </p:cNvSpPr>
          <p:nvPr>
            <p:ph type="title"/>
          </p:nvPr>
        </p:nvSpPr>
        <p:spPr bwMode="auto">
          <a:xfrm>
            <a:off x="914400" y="277813"/>
            <a:ext cx="7772400"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8"/>
          <p:cNvSpPr>
            <a:spLocks noGrp="1" noChangeArrowheads="1"/>
          </p:cNvSpPr>
          <p:nvPr>
            <p:ph type="body" idx="1"/>
          </p:nvPr>
        </p:nvSpPr>
        <p:spPr bwMode="auto">
          <a:xfrm>
            <a:off x="914400" y="1600200"/>
            <a:ext cx="77724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105" name="Rectangle 9"/>
          <p:cNvSpPr>
            <a:spLocks noGrp="1" noChangeArrowheads="1"/>
          </p:cNvSpPr>
          <p:nvPr>
            <p:ph type="dt" sz="half" idx="2"/>
          </p:nvPr>
        </p:nvSpPr>
        <p:spPr bwMode="auto">
          <a:xfrm>
            <a:off x="914400" y="6251575"/>
            <a:ext cx="1981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000">
                <a:latin typeface="+mn-lt"/>
              </a:defRPr>
            </a:lvl1pPr>
          </a:lstStyle>
          <a:p>
            <a:pPr>
              <a:defRPr/>
            </a:pPr>
            <a:endParaRPr lang="en-US" altLang="zh-CN"/>
          </a:p>
        </p:txBody>
      </p:sp>
      <p:sp>
        <p:nvSpPr>
          <p:cNvPr id="4106" name="Rectangle 10"/>
          <p:cNvSpPr>
            <a:spLocks noGrp="1" noChangeArrowheads="1"/>
          </p:cNvSpPr>
          <p:nvPr>
            <p:ph type="ftr" sz="quarter" idx="3"/>
          </p:nvPr>
        </p:nvSpPr>
        <p:spPr bwMode="auto">
          <a:xfrm>
            <a:off x="3352800" y="624840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a:latin typeface="+mn-lt"/>
              </a:defRPr>
            </a:lvl1pPr>
          </a:lstStyle>
          <a:p>
            <a:pPr>
              <a:defRPr/>
            </a:pPr>
            <a:endParaRPr lang="en-US" altLang="zh-CN"/>
          </a:p>
        </p:txBody>
      </p:sp>
      <p:sp>
        <p:nvSpPr>
          <p:cNvPr id="4107" name="Rectangle 11"/>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a:latin typeface="Arial" panose="020B0604020202020204" pitchFamily="34" charset="0"/>
              </a:defRPr>
            </a:lvl1pPr>
          </a:lstStyle>
          <a:p>
            <a:fld id="{C8CC65BD-4163-42C7-B9CF-861E456DC64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08"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Lst>
  <p:timing>
    <p:tnLst>
      <p:par>
        <p:cTn id="1" dur="indefinite" restart="never" nodeType="tmRoot"/>
      </p:par>
    </p:tnLst>
  </p:timing>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宋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宋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宋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宋体" pitchFamily="2" charset="-122"/>
        </a:defRPr>
      </a:lvl5pPr>
      <a:lvl6pPr marL="457200" algn="l" rtl="0" fontAlgn="base">
        <a:spcBef>
          <a:spcPct val="0"/>
        </a:spcBef>
        <a:spcAft>
          <a:spcPct val="0"/>
        </a:spcAft>
        <a:defRPr sz="4200">
          <a:solidFill>
            <a:schemeClr val="tx2"/>
          </a:solidFill>
          <a:latin typeface="Times New Roman" pitchFamily="18" charset="0"/>
          <a:ea typeface="宋体" pitchFamily="2" charset="-122"/>
        </a:defRPr>
      </a:lvl6pPr>
      <a:lvl7pPr marL="914400" algn="l" rtl="0" fontAlgn="base">
        <a:spcBef>
          <a:spcPct val="0"/>
        </a:spcBef>
        <a:spcAft>
          <a:spcPct val="0"/>
        </a:spcAft>
        <a:defRPr sz="4200">
          <a:solidFill>
            <a:schemeClr val="tx2"/>
          </a:solidFill>
          <a:latin typeface="Times New Roman" pitchFamily="18" charset="0"/>
          <a:ea typeface="宋体" pitchFamily="2" charset="-122"/>
        </a:defRPr>
      </a:lvl7pPr>
      <a:lvl8pPr marL="1371600" algn="l" rtl="0" fontAlgn="base">
        <a:spcBef>
          <a:spcPct val="0"/>
        </a:spcBef>
        <a:spcAft>
          <a:spcPct val="0"/>
        </a:spcAft>
        <a:defRPr sz="4200">
          <a:solidFill>
            <a:schemeClr val="tx2"/>
          </a:solidFill>
          <a:latin typeface="Times New Roman" pitchFamily="18" charset="0"/>
          <a:ea typeface="宋体" pitchFamily="2" charset="-122"/>
        </a:defRPr>
      </a:lvl8pPr>
      <a:lvl9pPr marL="1828800" algn="l" rtl="0" fontAlgn="base">
        <a:spcBef>
          <a:spcPct val="0"/>
        </a:spcBef>
        <a:spcAft>
          <a:spcPct val="0"/>
        </a:spcAft>
        <a:defRPr sz="42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ea typeface="+mn-ea"/>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fs.h.doc#inode" TargetMode="External"/><Relationship Id="rId2" Type="http://schemas.openxmlformats.org/officeDocument/2006/relationships/hyperlink" Target="fs.h.doc#defsuperblock" TargetMode="External"/><Relationship Id="rId1" Type="http://schemas.openxmlformats.org/officeDocument/2006/relationships/slideLayout" Target="../slideLayouts/slideLayout2.xml"/><Relationship Id="rId5" Type="http://schemas.openxmlformats.org/officeDocument/2006/relationships/hyperlink" Target="dcache.h.doc#defdentry" TargetMode="External"/><Relationship Id="rId4" Type="http://schemas.openxmlformats.org/officeDocument/2006/relationships/hyperlink" Target="fs.h.doc#deffile"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sched.h.doc#files_struct" TargetMode="External"/><Relationship Id="rId2" Type="http://schemas.openxmlformats.org/officeDocument/2006/relationships/hyperlink" Target="fs_struct.h.doc#fs_struct"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2" Type="http://schemas.openxmlformats.org/officeDocument/2006/relationships/hyperlink" Target="fs.h.doc#defsuperblock"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fs.h.doc#defU"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fs.h.doc#defsuperoperation"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fs.h.doc#definod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fs.h.doc#definodeU"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fs.h.doc#definodeoperation"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hyperlink" Target="dcache.h.doc#defdentry"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dcache.h.doc#defdentryoperation"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hyperlink" Target="fs.h.doc#deffileoperation"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super.c.doc#def register_filesystem" TargetMode="External"/><Relationship Id="rId2" Type="http://schemas.openxmlformats.org/officeDocument/2006/relationships/hyperlink" Target="fs.h.doc#file_system_type" TargetMode="External"/><Relationship Id="rId1" Type="http://schemas.openxmlformats.org/officeDocument/2006/relationships/slideLayout" Target="../slideLayouts/slideLayout2.xml"/><Relationship Id="rId4" Type="http://schemas.openxmlformats.org/officeDocument/2006/relationships/hyperlink" Target="super.c.doc#defunregister_filesystem" TargetMode="Externa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0.png"/><Relationship Id="rId4" Type="http://schemas.openxmlformats.org/officeDocument/2006/relationships/image" Target="../media/image9.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1.wmf"/><Relationship Id="rId4" Type="http://schemas.openxmlformats.org/officeDocument/2006/relationships/oleObject" Target="../embeddings/oleObject6.bin"/></Relationships>
</file>

<file path=ppt/slides/_rels/slide7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namespace.c.doc#init_mount_tree" TargetMode="External"/><Relationship Id="rId7" Type="http://schemas.openxmlformats.org/officeDocument/2006/relationships/hyperlink" Target="namespace.c.doc#sys_umount" TargetMode="External"/><Relationship Id="rId2" Type="http://schemas.openxmlformats.org/officeDocument/2006/relationships/hyperlink" Target="mount.h.doc#vfsmount" TargetMode="External"/><Relationship Id="rId1" Type="http://schemas.openxmlformats.org/officeDocument/2006/relationships/slideLayout" Target="../slideLayouts/slideLayout2.xml"/><Relationship Id="rId6" Type="http://schemas.openxmlformats.org/officeDocument/2006/relationships/hyperlink" Target="namespace.c.doc#sys_mount" TargetMode="External"/><Relationship Id="rId5" Type="http://schemas.openxmlformats.org/officeDocument/2006/relationships/hyperlink" Target="../namespace.c.html#sys_mount" TargetMode="External"/><Relationship Id="rId4" Type="http://schemas.openxmlformats.org/officeDocument/2006/relationships/hyperlink" Target="super.c.doc#mount_root"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open.c.doc#sys_chroot" TargetMode="External"/><Relationship Id="rId2" Type="http://schemas.openxmlformats.org/officeDocument/2006/relationships/hyperlink" Target="fork.c.doc#do_fork" TargetMode="External"/><Relationship Id="rId1" Type="http://schemas.openxmlformats.org/officeDocument/2006/relationships/slideLayout" Target="../slideLayouts/slideLayout2.xml"/><Relationship Id="rId4" Type="http://schemas.openxmlformats.org/officeDocument/2006/relationships/hyperlink" Target="open.c.doc#sys_chdir"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namei.c.doc#path_walk" TargetMode="External"/><Relationship Id="rId2" Type="http://schemas.openxmlformats.org/officeDocument/2006/relationships/hyperlink" Target="namei.c.doc#path_init" TargetMode="External"/><Relationship Id="rId1" Type="http://schemas.openxmlformats.org/officeDocument/2006/relationships/slideLayout" Target="../slideLayouts/slideLayout2.xml"/><Relationship Id="rId4" Type="http://schemas.openxmlformats.org/officeDocument/2006/relationships/hyperlink" Target="namei.c.doc#path_release" TargetMode="External"/></Relationships>
</file>

<file path=ppt/slides/_rels/slide8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5.png"/></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hyperlink" Target="sched.h.doc#files_struct"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fs.h.doc#deffile" TargetMode="External"/><Relationship Id="rId4" Type="http://schemas.openxmlformats.org/officeDocument/2006/relationships/hyperlink" Target="fs_struct.h.doc#fs_struct"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3.wmf"/></Relationships>
</file>

<file path=ppt/slides/_rels/slide10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5.wmf"/></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7.wmf"/></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44.wmf"/></Relationships>
</file>

<file path=ppt/slides/_rels/slide15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45.wmf"/></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6"/>
          <p:cNvSpPr>
            <a:spLocks noGrp="1" noChangeArrowheads="1"/>
          </p:cNvSpPr>
          <p:nvPr>
            <p:ph type="title"/>
          </p:nvPr>
        </p:nvSpPr>
        <p:spPr>
          <a:xfrm>
            <a:off x="1120080" y="263748"/>
            <a:ext cx="7772400" cy="788988"/>
          </a:xfrm>
        </p:spPr>
        <p:txBody>
          <a:bodyPr/>
          <a:lstStyle/>
          <a:p>
            <a:pPr algn="ctr" eaLnBrk="1" hangingPunct="1"/>
            <a:r>
              <a:rPr lang="zh-CN" altLang="en-US" sz="3800" dirty="0" smtClean="0"/>
              <a:t>第</a:t>
            </a:r>
            <a:r>
              <a:rPr lang="en-US" altLang="zh-CN" sz="3800" dirty="0" smtClean="0"/>
              <a:t>7</a:t>
            </a:r>
            <a:r>
              <a:rPr lang="zh-CN" altLang="en-US" sz="3800" dirty="0" smtClean="0"/>
              <a:t>章  </a:t>
            </a:r>
            <a:r>
              <a:rPr lang="en-US" altLang="zh-CN" sz="3800" dirty="0" smtClean="0"/>
              <a:t>Linux</a:t>
            </a:r>
            <a:r>
              <a:rPr lang="zh-CN" altLang="en-US" sz="3800" dirty="0" smtClean="0"/>
              <a:t>文件系统</a:t>
            </a:r>
          </a:p>
        </p:txBody>
      </p:sp>
      <p:sp>
        <p:nvSpPr>
          <p:cNvPr id="3075" name="Rectangle 1027"/>
          <p:cNvSpPr>
            <a:spLocks noGrp="1" noChangeArrowheads="1"/>
          </p:cNvSpPr>
          <p:nvPr>
            <p:ph type="body" idx="1"/>
          </p:nvPr>
        </p:nvSpPr>
        <p:spPr>
          <a:xfrm>
            <a:off x="539750" y="1269131"/>
            <a:ext cx="8137525" cy="5256213"/>
          </a:xfrm>
        </p:spPr>
        <p:txBody>
          <a:bodyPr/>
          <a:lstStyle/>
          <a:p>
            <a:pPr marL="0" indent="0" eaLnBrk="1" hangingPunct="1">
              <a:lnSpc>
                <a:spcPct val="120000"/>
              </a:lnSpc>
              <a:buNone/>
            </a:pPr>
            <a:r>
              <a:rPr lang="en-US" altLang="zh-CN" dirty="0" smtClean="0">
                <a:latin typeface="宋体" panose="02010600030101010101" pitchFamily="2" charset="-122"/>
              </a:rPr>
              <a:t>7.1 Linux</a:t>
            </a:r>
            <a:r>
              <a:rPr lang="zh-CN" altLang="en-US" dirty="0" smtClean="0">
                <a:latin typeface="宋体" panose="02010600030101010101" pitchFamily="2" charset="-122"/>
              </a:rPr>
              <a:t>文件系统概述</a:t>
            </a:r>
          </a:p>
          <a:p>
            <a:pPr marL="0" indent="0" eaLnBrk="1" hangingPunct="1">
              <a:lnSpc>
                <a:spcPct val="120000"/>
              </a:lnSpc>
              <a:buNone/>
            </a:pPr>
            <a:r>
              <a:rPr lang="en-US" altLang="zh-CN" dirty="0" smtClean="0">
                <a:latin typeface="宋体" panose="02010600030101010101" pitchFamily="2" charset="-122"/>
              </a:rPr>
              <a:t>7.2 </a:t>
            </a:r>
            <a:r>
              <a:rPr lang="zh-CN" altLang="en-US" dirty="0" smtClean="0">
                <a:latin typeface="宋体" panose="02010600030101010101" pitchFamily="2" charset="-122"/>
              </a:rPr>
              <a:t>虚拟</a:t>
            </a:r>
            <a:r>
              <a:rPr lang="zh-CN" altLang="en-US" dirty="0" smtClean="0">
                <a:latin typeface="宋体" panose="02010600030101010101" pitchFamily="2" charset="-122"/>
              </a:rPr>
              <a:t>文件系统</a:t>
            </a:r>
            <a:r>
              <a:rPr lang="en-US" altLang="zh-CN" dirty="0" smtClean="0">
                <a:latin typeface="宋体" panose="02010600030101010101" pitchFamily="2" charset="-122"/>
              </a:rPr>
              <a:t>VFS</a:t>
            </a:r>
          </a:p>
          <a:p>
            <a:pPr lvl="1" eaLnBrk="1" hangingPunct="1">
              <a:lnSpc>
                <a:spcPct val="120000"/>
              </a:lnSpc>
            </a:pPr>
            <a:r>
              <a:rPr lang="en-US" altLang="zh-CN" sz="2800" dirty="0" smtClean="0">
                <a:latin typeface="宋体" panose="02010600030101010101" pitchFamily="2" charset="-122"/>
              </a:rPr>
              <a:t>VFS</a:t>
            </a:r>
            <a:r>
              <a:rPr lang="zh-CN" altLang="en-US" sz="2800" dirty="0" smtClean="0">
                <a:latin typeface="宋体" panose="02010600030101010101" pitchFamily="2" charset="-122"/>
              </a:rPr>
              <a:t>的作用及设计思想</a:t>
            </a:r>
          </a:p>
          <a:p>
            <a:pPr lvl="1" eaLnBrk="1" hangingPunct="1">
              <a:lnSpc>
                <a:spcPct val="120000"/>
              </a:lnSpc>
            </a:pPr>
            <a:r>
              <a:rPr lang="en-US" altLang="zh-CN" sz="2800" dirty="0" smtClean="0">
                <a:latin typeface="宋体" panose="02010600030101010101" pitchFamily="2" charset="-122"/>
              </a:rPr>
              <a:t>VFS</a:t>
            </a:r>
            <a:r>
              <a:rPr lang="zh-CN" altLang="en-US" sz="2800" dirty="0" smtClean="0">
                <a:latin typeface="宋体" panose="02010600030101010101" pitchFamily="2" charset="-122"/>
              </a:rPr>
              <a:t>重要</a:t>
            </a:r>
            <a:r>
              <a:rPr lang="zh-CN" altLang="en-US" sz="2800" dirty="0" smtClean="0">
                <a:latin typeface="宋体" panose="02010600030101010101" pitchFamily="2" charset="-122"/>
              </a:rPr>
              <a:t>数据结构</a:t>
            </a:r>
            <a:endParaRPr lang="en-US" altLang="zh-CN" sz="2800" dirty="0" smtClean="0">
              <a:latin typeface="宋体" panose="02010600030101010101" pitchFamily="2" charset="-122"/>
            </a:endParaRPr>
          </a:p>
          <a:p>
            <a:pPr marL="0" indent="0" eaLnBrk="1" hangingPunct="1">
              <a:lnSpc>
                <a:spcPct val="120000"/>
              </a:lnSpc>
              <a:buNone/>
            </a:pPr>
            <a:r>
              <a:rPr lang="zh-CN" altLang="en-US" sz="3000" dirty="0" smtClean="0">
                <a:latin typeface="宋体" panose="02010600030101010101" pitchFamily="2" charset="-122"/>
              </a:rPr>
              <a:t>7</a:t>
            </a:r>
            <a:r>
              <a:rPr lang="en-US" altLang="zh-CN" sz="3000" dirty="0" smtClean="0">
                <a:latin typeface="宋体" panose="02010600030101010101" pitchFamily="2" charset="-122"/>
              </a:rPr>
              <a:t>.3 </a:t>
            </a:r>
            <a:r>
              <a:rPr lang="zh-CN" altLang="en-US" dirty="0" smtClean="0">
                <a:latin typeface="宋体" panose="02010600030101010101" pitchFamily="2" charset="-122"/>
              </a:rPr>
              <a:t>文件系统类型</a:t>
            </a:r>
            <a:endParaRPr lang="en-US" altLang="zh-CN" dirty="0" smtClean="0">
              <a:latin typeface="宋体" panose="02010600030101010101" pitchFamily="2" charset="-122"/>
            </a:endParaRPr>
          </a:p>
          <a:p>
            <a:pPr marL="0" indent="0" eaLnBrk="1" hangingPunct="1">
              <a:lnSpc>
                <a:spcPct val="120000"/>
              </a:lnSpc>
              <a:buNone/>
            </a:pPr>
            <a:r>
              <a:rPr lang="en-US" altLang="zh-CN" dirty="0" smtClean="0">
                <a:latin typeface="宋体" panose="02010600030101010101" pitchFamily="2" charset="-122"/>
              </a:rPr>
              <a:t>7.4 </a:t>
            </a:r>
            <a:r>
              <a:rPr lang="zh-CN" altLang="en-US" dirty="0" smtClean="0">
                <a:latin typeface="宋体" panose="02010600030101010101" pitchFamily="2" charset="-122"/>
              </a:rPr>
              <a:t>文件系统安装与注册</a:t>
            </a:r>
            <a:endParaRPr lang="zh-CN" altLang="en-US" dirty="0" smtClean="0">
              <a:latin typeface="宋体" panose="02010600030101010101" pitchFamily="2" charset="-122"/>
            </a:endParaRPr>
          </a:p>
          <a:p>
            <a:pPr marL="0" indent="0" eaLnBrk="1" hangingPunct="1">
              <a:lnSpc>
                <a:spcPct val="120000"/>
              </a:lnSpc>
              <a:buNone/>
            </a:pPr>
            <a:r>
              <a:rPr lang="en-US" altLang="zh-CN" dirty="0" smtClean="0">
                <a:latin typeface="宋体" panose="02010600030101010101" pitchFamily="2" charset="-122"/>
              </a:rPr>
              <a:t>7.5</a:t>
            </a:r>
            <a:r>
              <a:rPr lang="zh-CN" altLang="en-US" dirty="0" smtClean="0">
                <a:latin typeface="宋体" panose="02010600030101010101" pitchFamily="2" charset="-122"/>
              </a:rPr>
              <a:t> </a:t>
            </a:r>
            <a:r>
              <a:rPr lang="en-US" altLang="zh-CN" dirty="0" smtClean="0">
                <a:latin typeface="宋体" panose="02010600030101010101" pitchFamily="2" charset="-122"/>
              </a:rPr>
              <a:t>Ext2</a:t>
            </a:r>
            <a:r>
              <a:rPr lang="zh-CN" altLang="en-US" dirty="0" smtClean="0">
                <a:latin typeface="宋体" panose="02010600030101010101" pitchFamily="2" charset="-122"/>
              </a:rPr>
              <a:t>、</a:t>
            </a:r>
            <a:r>
              <a:rPr lang="en-US" altLang="zh-CN" dirty="0" smtClean="0">
                <a:latin typeface="宋体" panose="02010600030101010101" pitchFamily="2" charset="-122"/>
              </a:rPr>
              <a:t>Ext3</a:t>
            </a:r>
            <a:r>
              <a:rPr lang="zh-CN" altLang="en-US" dirty="0" smtClean="0">
                <a:latin typeface="宋体" panose="02010600030101010101" pitchFamily="2" charset="-122"/>
              </a:rPr>
              <a:t>文件系统</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3"/>
          <p:cNvGraphicFramePr>
            <a:graphicFrameLocks noGrp="1" noChangeAspect="1"/>
          </p:cNvGraphicFramePr>
          <p:nvPr>
            <p:ph type="body" idx="1"/>
            <p:extLst>
              <p:ext uri="{D42A27DB-BD31-4B8C-83A1-F6EECF244321}">
                <p14:modId xmlns:p14="http://schemas.microsoft.com/office/powerpoint/2010/main" val="951470303"/>
              </p:ext>
            </p:extLst>
          </p:nvPr>
        </p:nvGraphicFramePr>
        <p:xfrm>
          <a:off x="384175" y="980529"/>
          <a:ext cx="8435975" cy="5184775"/>
        </p:xfrm>
        <a:graphic>
          <a:graphicData uri="http://schemas.openxmlformats.org/presentationml/2006/ole">
            <mc:AlternateContent xmlns:mc="http://schemas.openxmlformats.org/markup-compatibility/2006">
              <mc:Choice xmlns:v="urn:schemas-microsoft-com:vml" Requires="v">
                <p:oleObj spid="_x0000_s5131" name="BMP 图象" r:id="rId3" imgW="3971429" imgH="2371429" progId="Paint.Picture">
                  <p:embed/>
                </p:oleObj>
              </mc:Choice>
              <mc:Fallback>
                <p:oleObj name="BMP 图象" r:id="rId3" imgW="3971429" imgH="2371429"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980529"/>
                        <a:ext cx="8435975"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3" name="Rectangle 4"/>
          <p:cNvSpPr>
            <a:spLocks noChangeArrowheads="1"/>
          </p:cNvSpPr>
          <p:nvPr/>
        </p:nvSpPr>
        <p:spPr bwMode="auto">
          <a:xfrm>
            <a:off x="1047750" y="6055283"/>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dirty="0">
                <a:solidFill>
                  <a:schemeClr val="tx2"/>
                </a:solidFill>
                <a:latin typeface="Arial" panose="020B0604020202020204" pitchFamily="34" charset="0"/>
                <a:ea typeface="黑体" panose="02010609060101010101" pitchFamily="49" charset="-122"/>
              </a:rPr>
              <a:t>操作系统对多种文件系统的支持</a:t>
            </a:r>
          </a:p>
        </p:txBody>
      </p:sp>
      <p:sp>
        <p:nvSpPr>
          <p:cNvPr id="4" name="Rectangle 2"/>
          <p:cNvSpPr>
            <a:spLocks noGrp="1" noChangeArrowheads="1"/>
          </p:cNvSpPr>
          <p:nvPr>
            <p:ph type="title"/>
          </p:nvPr>
        </p:nvSpPr>
        <p:spPr>
          <a:xfrm>
            <a:off x="914400" y="277813"/>
            <a:ext cx="7772400" cy="788987"/>
          </a:xfrm>
        </p:spPr>
        <p:txBody>
          <a:bodyPr/>
          <a:lstStyle/>
          <a:p>
            <a:pPr eaLnBrk="1" hangingPunct="1"/>
            <a:r>
              <a:rPr lang="en-US" altLang="zh-CN" dirty="0" smtClean="0"/>
              <a:t>7.1  Linux</a:t>
            </a:r>
            <a:r>
              <a:rPr lang="zh-CN" altLang="en-US" dirty="0" smtClean="0"/>
              <a:t>文件系统概述</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95288" y="515144"/>
            <a:ext cx="7772400" cy="609600"/>
          </a:xfrm>
        </p:spPr>
        <p:txBody>
          <a:bodyPr/>
          <a:lstStyle/>
          <a:p>
            <a:pPr algn="ctr" eaLnBrk="1" hangingPunct="1"/>
            <a:r>
              <a:rPr lang="zh-CN" altLang="en-US" sz="3400" b="1" dirty="0" smtClean="0">
                <a:latin typeface="Arial" panose="020B0604020202020204" pitchFamily="34" charset="0"/>
                <a:ea typeface="黑体" panose="02010609060101010101" pitchFamily="49" charset="-122"/>
              </a:rPr>
              <a:t>文件系统的类型</a:t>
            </a:r>
            <a:endParaRPr lang="zh-CN" altLang="en-US" b="1" dirty="0" smtClean="0">
              <a:latin typeface="Arial" panose="020B0604020202020204" pitchFamily="34" charset="0"/>
              <a:ea typeface="黑体" panose="02010609060101010101" pitchFamily="49" charset="-122"/>
            </a:endParaRPr>
          </a:p>
        </p:txBody>
      </p:sp>
      <p:sp>
        <p:nvSpPr>
          <p:cNvPr id="6147" name="Rectangle 3"/>
          <p:cNvSpPr>
            <a:spLocks noGrp="1" noChangeArrowheads="1"/>
          </p:cNvSpPr>
          <p:nvPr>
            <p:ph type="body" idx="1"/>
          </p:nvPr>
        </p:nvSpPr>
        <p:spPr>
          <a:xfrm>
            <a:off x="228600" y="1557338"/>
            <a:ext cx="8736013" cy="4751387"/>
          </a:xfrm>
        </p:spPr>
        <p:txBody>
          <a:bodyPr/>
          <a:lstStyle/>
          <a:p>
            <a:pPr eaLnBrk="1" hangingPunct="1">
              <a:lnSpc>
                <a:spcPct val="105000"/>
              </a:lnSpc>
              <a:spcBef>
                <a:spcPct val="0"/>
              </a:spcBef>
            </a:pPr>
            <a:r>
              <a:rPr lang="en-US" altLang="zh-CN" b="1" smtClean="0">
                <a:solidFill>
                  <a:srgbClr val="0000FF"/>
                </a:solidFill>
                <a:latin typeface="宋体" panose="02010600030101010101" pitchFamily="2" charset="-122"/>
              </a:rPr>
              <a:t>FAT</a:t>
            </a:r>
            <a:r>
              <a:rPr lang="zh-CN" altLang="en-US" b="1" smtClean="0">
                <a:solidFill>
                  <a:srgbClr val="0000FF"/>
                </a:solidFill>
                <a:latin typeface="宋体" panose="02010600030101010101" pitchFamily="2" charset="-122"/>
              </a:rPr>
              <a:t>文件系统（</a:t>
            </a:r>
            <a:r>
              <a:rPr lang="en-US" altLang="zh-CN" b="1" smtClean="0">
                <a:solidFill>
                  <a:srgbClr val="0000FF"/>
                </a:solidFill>
                <a:latin typeface="宋体" panose="02010600030101010101" pitchFamily="2" charset="-122"/>
              </a:rPr>
              <a:t>MS-DOS</a:t>
            </a:r>
            <a:r>
              <a:rPr lang="zh-CN" altLang="en-US" b="1" smtClean="0">
                <a:solidFill>
                  <a:srgbClr val="0000FF"/>
                </a:solidFill>
                <a:latin typeface="宋体" panose="02010600030101010101" pitchFamily="2" charset="-122"/>
              </a:rPr>
              <a:t>文件系统）</a:t>
            </a:r>
            <a:endParaRPr lang="zh-CN" altLang="en-US" smtClean="0">
              <a:solidFill>
                <a:srgbClr val="0000FF"/>
              </a:solidFill>
              <a:latin typeface="宋体" panose="02010600030101010101" pitchFamily="2" charset="-122"/>
            </a:endParaRPr>
          </a:p>
          <a:p>
            <a:pPr eaLnBrk="1" hangingPunct="1">
              <a:lnSpc>
                <a:spcPct val="105000"/>
              </a:lnSpc>
              <a:spcBef>
                <a:spcPct val="0"/>
              </a:spcBef>
              <a:buFont typeface="Wingdings" panose="05000000000000000000" pitchFamily="2" charset="2"/>
              <a:buNone/>
            </a:pPr>
            <a:r>
              <a:rPr lang="zh-CN" altLang="en-US" smtClean="0">
                <a:latin typeface="宋体" panose="02010600030101010101" pitchFamily="2" charset="-122"/>
              </a:rPr>
              <a:t>　　它是</a:t>
            </a:r>
            <a:r>
              <a:rPr lang="en-US" altLang="zh-CN" smtClean="0">
                <a:latin typeface="宋体" panose="02010600030101010101" pitchFamily="2" charset="-122"/>
              </a:rPr>
              <a:t>MS-DOS</a:t>
            </a:r>
            <a:r>
              <a:rPr lang="zh-CN" altLang="en-US" smtClean="0">
                <a:latin typeface="宋体" panose="02010600030101010101" pitchFamily="2" charset="-122"/>
              </a:rPr>
              <a:t>操作系统使用的文件系统，它也能由</a:t>
            </a:r>
            <a:r>
              <a:rPr lang="en-US" altLang="zh-CN" smtClean="0">
                <a:latin typeface="宋体" panose="02010600030101010101" pitchFamily="2" charset="-122"/>
              </a:rPr>
              <a:t>Windows2000/XP</a:t>
            </a:r>
            <a:r>
              <a:rPr lang="zh-CN" altLang="en-US" smtClean="0">
                <a:latin typeface="宋体" panose="02010600030101010101" pitchFamily="2" charset="-122"/>
              </a:rPr>
              <a:t>、</a:t>
            </a:r>
            <a:r>
              <a:rPr lang="en-US" altLang="zh-CN" smtClean="0">
                <a:latin typeface="宋体" panose="02010600030101010101" pitchFamily="2" charset="-122"/>
              </a:rPr>
              <a:t>linux</a:t>
            </a:r>
            <a:r>
              <a:rPr lang="zh-CN" altLang="en-US" smtClean="0">
                <a:latin typeface="宋体" panose="02010600030101010101" pitchFamily="2" charset="-122"/>
              </a:rPr>
              <a:t>、</a:t>
            </a:r>
            <a:r>
              <a:rPr lang="en-US" altLang="zh-CN" smtClean="0">
                <a:latin typeface="宋体" panose="02010600030101010101" pitchFamily="2" charset="-122"/>
              </a:rPr>
              <a:t>SCO UNIX</a:t>
            </a:r>
            <a:r>
              <a:rPr lang="zh-CN" altLang="en-US" smtClean="0">
                <a:latin typeface="宋体" panose="02010600030101010101" pitchFamily="2" charset="-122"/>
              </a:rPr>
              <a:t>等操作系统访问。文件地址以</a:t>
            </a:r>
            <a:r>
              <a:rPr lang="en-US" altLang="zh-CN" smtClean="0">
                <a:latin typeface="宋体" panose="02010600030101010101" pitchFamily="2" charset="-122"/>
              </a:rPr>
              <a:t>FAT</a:t>
            </a:r>
            <a:r>
              <a:rPr lang="zh-CN" altLang="en-US" smtClean="0">
                <a:latin typeface="宋体" panose="02010600030101010101" pitchFamily="2" charset="-122"/>
              </a:rPr>
              <a:t>表结构存放，文件目录</a:t>
            </a:r>
            <a:r>
              <a:rPr lang="en-US" altLang="zh-CN" smtClean="0">
                <a:latin typeface="宋体" panose="02010600030101010101" pitchFamily="2" charset="-122"/>
              </a:rPr>
              <a:t>32B</a:t>
            </a:r>
            <a:r>
              <a:rPr lang="zh-CN" altLang="en-US" smtClean="0">
                <a:latin typeface="宋体" panose="02010600030101010101" pitchFamily="2" charset="-122"/>
              </a:rPr>
              <a:t>，文件名为</a:t>
            </a:r>
            <a:r>
              <a:rPr lang="en-US" altLang="zh-CN" smtClean="0">
                <a:latin typeface="宋体" panose="02010600030101010101" pitchFamily="2" charset="-122"/>
              </a:rPr>
              <a:t>8</a:t>
            </a:r>
            <a:r>
              <a:rPr lang="zh-CN" altLang="en-US" smtClean="0">
                <a:latin typeface="宋体" panose="02010600030101010101" pitchFamily="2" charset="-122"/>
              </a:rPr>
              <a:t>个基本名加上一个</a:t>
            </a:r>
            <a:r>
              <a:rPr lang="zh-CN" altLang="en-US" smtClean="0">
                <a:latin typeface="Times New Roman" panose="02020603050405020304" pitchFamily="18" charset="0"/>
              </a:rPr>
              <a:t>“</a:t>
            </a:r>
            <a:r>
              <a:rPr lang="en-US" altLang="zh-CN" smtClean="0">
                <a:latin typeface="宋体" panose="02010600030101010101" pitchFamily="2" charset="-122"/>
              </a:rPr>
              <a:t>.</a:t>
            </a:r>
            <a:r>
              <a:rPr lang="en-US" altLang="zh-CN" smtClean="0">
                <a:latin typeface="Times New Roman" panose="02020603050405020304" pitchFamily="18" charset="0"/>
              </a:rPr>
              <a:t>”</a:t>
            </a:r>
            <a:r>
              <a:rPr lang="zh-CN" altLang="en-US" smtClean="0">
                <a:latin typeface="宋体" panose="02010600030101010101" pitchFamily="2" charset="-122"/>
              </a:rPr>
              <a:t>和</a:t>
            </a:r>
            <a:r>
              <a:rPr lang="en-US" altLang="zh-CN" smtClean="0">
                <a:latin typeface="宋体" panose="02010600030101010101" pitchFamily="2" charset="-122"/>
              </a:rPr>
              <a:t>3</a:t>
            </a:r>
            <a:r>
              <a:rPr lang="zh-CN" altLang="en-US" smtClean="0">
                <a:latin typeface="宋体" panose="02010600030101010101" pitchFamily="2" charset="-122"/>
              </a:rPr>
              <a:t>个字符扩展名。</a:t>
            </a:r>
          </a:p>
          <a:p>
            <a:pPr eaLnBrk="1" hangingPunct="1">
              <a:lnSpc>
                <a:spcPct val="105000"/>
              </a:lnSpc>
            </a:pPr>
            <a:r>
              <a:rPr lang="zh-CN" altLang="en-US" b="1" smtClean="0">
                <a:solidFill>
                  <a:srgbClr val="0000FF"/>
                </a:solidFill>
                <a:latin typeface="宋体" panose="02010600030101010101" pitchFamily="2" charset="-122"/>
              </a:rPr>
              <a:t>扩展文件表系统（</a:t>
            </a:r>
            <a:r>
              <a:rPr lang="en-US" altLang="zh-CN" b="1" smtClean="0">
                <a:solidFill>
                  <a:srgbClr val="0000FF"/>
                </a:solidFill>
                <a:latin typeface="宋体" panose="02010600030101010101" pitchFamily="2" charset="-122"/>
              </a:rPr>
              <a:t>vfat</a:t>
            </a:r>
            <a:r>
              <a:rPr lang="zh-CN" altLang="en-US" b="1" smtClean="0">
                <a:solidFill>
                  <a:srgbClr val="0000FF"/>
                </a:solidFill>
                <a:latin typeface="宋体" panose="02010600030101010101" pitchFamily="2" charset="-122"/>
              </a:rPr>
              <a:t>）</a:t>
            </a:r>
            <a:endParaRPr lang="zh-CN" altLang="en-US" smtClean="0">
              <a:solidFill>
                <a:srgbClr val="0000FF"/>
              </a:solidFill>
              <a:latin typeface="宋体" panose="02010600030101010101" pitchFamily="2" charset="-122"/>
            </a:endParaRPr>
          </a:p>
          <a:p>
            <a:pPr eaLnBrk="1" hangingPunct="1">
              <a:lnSpc>
                <a:spcPct val="105000"/>
              </a:lnSpc>
              <a:buFont typeface="Wingdings" panose="05000000000000000000" pitchFamily="2" charset="2"/>
              <a:buNone/>
            </a:pPr>
            <a:r>
              <a:rPr lang="zh-CN" altLang="en-US" smtClean="0">
                <a:latin typeface="宋体" panose="02010600030101010101" pitchFamily="2" charset="-122"/>
              </a:rPr>
              <a:t>  它是</a:t>
            </a:r>
            <a:r>
              <a:rPr lang="en-US" altLang="zh-CN" smtClean="0">
                <a:latin typeface="宋体" panose="02010600030101010101" pitchFamily="2" charset="-122"/>
              </a:rPr>
              <a:t>Windows98</a:t>
            </a:r>
            <a:r>
              <a:rPr lang="zh-CN" altLang="en-US" smtClean="0">
                <a:latin typeface="宋体" panose="02010600030101010101" pitchFamily="2" charset="-122"/>
              </a:rPr>
              <a:t>使用的扩展的</a:t>
            </a:r>
            <a:r>
              <a:rPr lang="en-US" altLang="zh-CN" smtClean="0">
                <a:latin typeface="宋体" panose="02010600030101010101" pitchFamily="2" charset="-122"/>
              </a:rPr>
              <a:t>DOS</a:t>
            </a:r>
            <a:r>
              <a:rPr lang="zh-CN" altLang="en-US" smtClean="0">
                <a:latin typeface="宋体" panose="02010600030101010101" pitchFamily="2" charset="-122"/>
              </a:rPr>
              <a:t>文件系统，它在</a:t>
            </a:r>
            <a:r>
              <a:rPr lang="en-US" altLang="zh-CN" smtClean="0">
                <a:latin typeface="宋体" panose="02010600030101010101" pitchFamily="2" charset="-122"/>
              </a:rPr>
              <a:t>MS-DOS</a:t>
            </a:r>
            <a:r>
              <a:rPr lang="zh-CN" altLang="en-US" smtClean="0">
                <a:latin typeface="宋体" panose="02010600030101010101" pitchFamily="2" charset="-122"/>
              </a:rPr>
              <a:t>文件系统基础上增加了对长文件名（最多到</a:t>
            </a:r>
            <a:r>
              <a:rPr lang="en-US" altLang="zh-CN" smtClean="0">
                <a:latin typeface="宋体" panose="02010600030101010101" pitchFamily="2" charset="-122"/>
              </a:rPr>
              <a:t>256B</a:t>
            </a:r>
            <a:r>
              <a:rPr lang="zh-CN" altLang="en-US" smtClean="0">
                <a:latin typeface="宋体" panose="02010600030101010101" pitchFamily="2" charset="-122"/>
              </a:rPr>
              <a:t>）支持。</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14400" y="277813"/>
            <a:ext cx="7772400" cy="619125"/>
          </a:xfrm>
        </p:spPr>
        <p:txBody>
          <a:bodyPr/>
          <a:lstStyle/>
          <a:p>
            <a:pPr algn="ctr" eaLnBrk="1" hangingPunct="1"/>
            <a:r>
              <a:rPr lang="zh-CN" altLang="en-US" sz="3800" b="1" smtClean="0">
                <a:latin typeface="Arial" panose="020B0604020202020204" pitchFamily="34" charset="0"/>
                <a:ea typeface="黑体" panose="02010609060101010101" pitchFamily="49" charset="-122"/>
              </a:rPr>
              <a:t>文件系统的类型</a:t>
            </a:r>
          </a:p>
        </p:txBody>
      </p:sp>
      <p:sp>
        <p:nvSpPr>
          <p:cNvPr id="7171" name="Rectangle 3"/>
          <p:cNvSpPr>
            <a:spLocks noGrp="1" noChangeArrowheads="1"/>
          </p:cNvSpPr>
          <p:nvPr>
            <p:ph type="body" idx="1"/>
          </p:nvPr>
        </p:nvSpPr>
        <p:spPr>
          <a:xfrm>
            <a:off x="395288" y="1052513"/>
            <a:ext cx="8351837" cy="5589587"/>
          </a:xfrm>
        </p:spPr>
        <p:txBody>
          <a:bodyPr/>
          <a:lstStyle/>
          <a:p>
            <a:pPr eaLnBrk="1" hangingPunct="1">
              <a:lnSpc>
                <a:spcPct val="105000"/>
              </a:lnSpc>
            </a:pPr>
            <a:r>
              <a:rPr lang="en-US" altLang="zh-CN" b="1" smtClean="0">
                <a:solidFill>
                  <a:srgbClr val="0000FF"/>
                </a:solidFill>
                <a:latin typeface="宋体" panose="02010600030101010101" pitchFamily="2" charset="-122"/>
              </a:rPr>
              <a:t>NTFS</a:t>
            </a:r>
            <a:r>
              <a:rPr lang="zh-CN" altLang="en-US" b="1" smtClean="0">
                <a:solidFill>
                  <a:srgbClr val="0000FF"/>
                </a:solidFill>
                <a:latin typeface="宋体" panose="02010600030101010101" pitchFamily="2" charset="-122"/>
              </a:rPr>
              <a:t>（</a:t>
            </a:r>
            <a:r>
              <a:rPr lang="en-US" altLang="zh-CN" b="1" smtClean="0">
                <a:solidFill>
                  <a:srgbClr val="0000FF"/>
                </a:solidFill>
                <a:latin typeface="宋体" panose="02010600030101010101" pitchFamily="2" charset="-122"/>
              </a:rPr>
              <a:t>NT</a:t>
            </a:r>
            <a:r>
              <a:rPr lang="zh-CN" altLang="en-US" b="1" smtClean="0">
                <a:solidFill>
                  <a:srgbClr val="0000FF"/>
                </a:solidFill>
                <a:latin typeface="宋体" panose="02010600030101010101" pitchFamily="2" charset="-122"/>
              </a:rPr>
              <a:t>文件系统）</a:t>
            </a:r>
            <a:endParaRPr lang="zh-CN" altLang="en-US" smtClean="0">
              <a:solidFill>
                <a:srgbClr val="0000FF"/>
              </a:solidFill>
              <a:latin typeface="宋体" panose="02010600030101010101" pitchFamily="2" charset="-122"/>
            </a:endParaRPr>
          </a:p>
          <a:p>
            <a:pPr eaLnBrk="1" hangingPunct="1">
              <a:lnSpc>
                <a:spcPct val="105000"/>
              </a:lnSpc>
              <a:buFont typeface="Wingdings" panose="05000000000000000000" pitchFamily="2" charset="2"/>
              <a:buNone/>
            </a:pPr>
            <a:r>
              <a:rPr lang="zh-CN" altLang="en-US" smtClean="0">
                <a:latin typeface="宋体" panose="02010600030101010101" pitchFamily="2" charset="-122"/>
              </a:rPr>
              <a:t>  它是</a:t>
            </a:r>
            <a:r>
              <a:rPr lang="en-US" altLang="zh-CN" smtClean="0">
                <a:latin typeface="宋体" panose="02010600030101010101" pitchFamily="2" charset="-122"/>
              </a:rPr>
              <a:t>Windows NT</a:t>
            </a:r>
            <a:r>
              <a:rPr lang="zh-CN" altLang="en-US" smtClean="0">
                <a:latin typeface="宋体" panose="02010600030101010101" pitchFamily="2" charset="-122"/>
              </a:rPr>
              <a:t>操作系统使用的文件系统，它具有很强的安全特性和文件系统恢复功能，可以处理巨大的存储媒体，支持多种文件系统。</a:t>
            </a:r>
          </a:p>
          <a:p>
            <a:pPr eaLnBrk="1" hangingPunct="1">
              <a:lnSpc>
                <a:spcPct val="105000"/>
              </a:lnSpc>
            </a:pPr>
            <a:r>
              <a:rPr lang="en-US" altLang="zh-CN" b="1" smtClean="0">
                <a:solidFill>
                  <a:srgbClr val="0000FF"/>
                </a:solidFill>
                <a:latin typeface="宋体" panose="02010600030101010101" pitchFamily="2" charset="-122"/>
              </a:rPr>
              <a:t>ext2</a:t>
            </a:r>
            <a:r>
              <a:rPr lang="zh-CN" altLang="en-US" b="1" smtClean="0">
                <a:solidFill>
                  <a:srgbClr val="0000FF"/>
                </a:solidFill>
                <a:latin typeface="宋体" panose="02010600030101010101" pitchFamily="2" charset="-122"/>
              </a:rPr>
              <a:t>（二级扩展文件系统）</a:t>
            </a:r>
            <a:endParaRPr lang="zh-CN" altLang="en-US" smtClean="0">
              <a:solidFill>
                <a:srgbClr val="0000FF"/>
              </a:solidFill>
              <a:latin typeface="宋体" panose="02010600030101010101" pitchFamily="2" charset="-122"/>
            </a:endParaRPr>
          </a:p>
          <a:p>
            <a:pPr eaLnBrk="1" hangingPunct="1">
              <a:lnSpc>
                <a:spcPct val="105000"/>
              </a:lnSpc>
              <a:buFont typeface="Wingdings" panose="05000000000000000000" pitchFamily="2" charset="2"/>
              <a:buNone/>
            </a:pPr>
            <a:r>
              <a:rPr lang="zh-CN" altLang="en-US" smtClean="0">
                <a:latin typeface="宋体" panose="02010600030101010101" pitchFamily="2" charset="-122"/>
              </a:rPr>
              <a:t>     它是</a:t>
            </a:r>
            <a:r>
              <a:rPr lang="en-US" altLang="zh-CN" smtClean="0">
                <a:latin typeface="宋体" panose="02010600030101010101" pitchFamily="2" charset="-122"/>
              </a:rPr>
              <a:t>Linux</a:t>
            </a:r>
            <a:r>
              <a:rPr lang="zh-CN" altLang="en-US" smtClean="0">
                <a:latin typeface="宋体" panose="02010600030101010101" pitchFamily="2" charset="-122"/>
              </a:rPr>
              <a:t>操作系统使用的高性能磁盘文件系统，它是对</a:t>
            </a:r>
            <a:r>
              <a:rPr lang="en-US" altLang="zh-CN" smtClean="0">
                <a:latin typeface="宋体" panose="02010600030101010101" pitchFamily="2" charset="-122"/>
              </a:rPr>
              <a:t>Minux</a:t>
            </a:r>
            <a:r>
              <a:rPr lang="zh-CN" altLang="en-US" smtClean="0">
                <a:latin typeface="宋体" panose="02010600030101010101" pitchFamily="2" charset="-122"/>
              </a:rPr>
              <a:t>操作系统中使用的文件系统扩展（</a:t>
            </a:r>
            <a:r>
              <a:rPr lang="en-US" altLang="zh-CN" smtClean="0">
                <a:latin typeface="宋体" panose="02010600030101010101" pitchFamily="2" charset="-122"/>
              </a:rPr>
              <a:t>ext</a:t>
            </a:r>
            <a:r>
              <a:rPr lang="zh-CN" altLang="en-US" smtClean="0">
                <a:latin typeface="宋体" panose="02010600030101010101" pitchFamily="2" charset="-122"/>
              </a:rPr>
              <a:t>）的扩展。它支持</a:t>
            </a:r>
            <a:r>
              <a:rPr lang="en-US" altLang="zh-CN" smtClean="0">
                <a:latin typeface="宋体" panose="02010600030101010101" pitchFamily="2" charset="-122"/>
              </a:rPr>
              <a:t>256</a:t>
            </a:r>
            <a:r>
              <a:rPr lang="zh-CN" altLang="en-US" smtClean="0">
                <a:latin typeface="宋体" panose="02010600030101010101" pitchFamily="2" charset="-122"/>
              </a:rPr>
              <a:t>字符的文件名，最大可支持到</a:t>
            </a:r>
            <a:r>
              <a:rPr lang="en-US" altLang="zh-CN" smtClean="0">
                <a:latin typeface="宋体" panose="02010600030101010101" pitchFamily="2" charset="-122"/>
              </a:rPr>
              <a:t>4TB</a:t>
            </a:r>
            <a:r>
              <a:rPr lang="zh-CN" altLang="en-US" smtClean="0">
                <a:latin typeface="宋体" panose="02010600030101010101" pitchFamily="2" charset="-122"/>
              </a:rPr>
              <a:t>的文件系统大小。</a:t>
            </a:r>
          </a:p>
          <a:p>
            <a:pPr eaLnBrk="1" hangingPunct="1">
              <a:lnSpc>
                <a:spcPct val="105000"/>
              </a:lnSpc>
            </a:pPr>
            <a:r>
              <a:rPr lang="en-US" altLang="zh-CN" b="1" smtClean="0">
                <a:solidFill>
                  <a:srgbClr val="0000FF"/>
                </a:solidFill>
                <a:latin typeface="宋体" panose="02010600030101010101" pitchFamily="2" charset="-122"/>
              </a:rPr>
              <a:t>HPFS</a:t>
            </a:r>
            <a:r>
              <a:rPr lang="zh-CN" altLang="en-US" b="1" smtClean="0">
                <a:solidFill>
                  <a:srgbClr val="0000FF"/>
                </a:solidFill>
                <a:latin typeface="宋体" panose="02010600030101010101" pitchFamily="2" charset="-122"/>
              </a:rPr>
              <a:t>（高性能文件系统）</a:t>
            </a:r>
          </a:p>
          <a:p>
            <a:pPr eaLnBrk="1" hangingPunct="1">
              <a:lnSpc>
                <a:spcPct val="105000"/>
              </a:lnSpc>
              <a:buFont typeface="Wingdings" panose="05000000000000000000" pitchFamily="2" charset="2"/>
              <a:buNone/>
            </a:pPr>
            <a:r>
              <a:rPr lang="zh-CN" altLang="en-US" smtClean="0">
                <a:latin typeface="宋体" panose="02010600030101010101" pitchFamily="2" charset="-122"/>
              </a:rPr>
              <a:t>     它是</a:t>
            </a:r>
            <a:r>
              <a:rPr lang="en-US" altLang="zh-CN" smtClean="0">
                <a:latin typeface="宋体" panose="02010600030101010101" pitchFamily="2" charset="-122"/>
              </a:rPr>
              <a:t>OS/2</a:t>
            </a:r>
            <a:r>
              <a:rPr lang="zh-CN" altLang="en-US" smtClean="0">
                <a:latin typeface="宋体" panose="02010600030101010101" pitchFamily="2" charset="-122"/>
              </a:rPr>
              <a:t>操作系统使用的文件系统。</a:t>
            </a:r>
          </a:p>
          <a:p>
            <a:pPr eaLnBrk="1" hangingPunct="1">
              <a:buFont typeface="Wingdings" panose="05000000000000000000" pitchFamily="2" charset="2"/>
              <a:buNone/>
            </a:pPr>
            <a:endParaRPr lang="en-US" altLang="zh-CN"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14400" y="277813"/>
            <a:ext cx="7772400" cy="468312"/>
          </a:xfrm>
        </p:spPr>
        <p:txBody>
          <a:bodyPr/>
          <a:lstStyle/>
          <a:p>
            <a:pPr algn="ctr" eaLnBrk="1" hangingPunct="1"/>
            <a:r>
              <a:rPr lang="zh-CN" altLang="en-US" sz="3800" b="1" smtClean="0">
                <a:latin typeface="Arial" panose="020B0604020202020204" pitchFamily="34" charset="0"/>
                <a:ea typeface="黑体" panose="02010609060101010101" pitchFamily="49" charset="-122"/>
              </a:rPr>
              <a:t>文件系统的类型</a:t>
            </a:r>
          </a:p>
        </p:txBody>
      </p:sp>
      <p:sp>
        <p:nvSpPr>
          <p:cNvPr id="8195" name="Rectangle 3"/>
          <p:cNvSpPr>
            <a:spLocks noGrp="1" noChangeArrowheads="1"/>
          </p:cNvSpPr>
          <p:nvPr>
            <p:ph type="body" idx="1"/>
          </p:nvPr>
        </p:nvSpPr>
        <p:spPr>
          <a:xfrm>
            <a:off x="457200" y="1196752"/>
            <a:ext cx="8178800" cy="4573587"/>
          </a:xfrm>
        </p:spPr>
        <p:txBody>
          <a:bodyPr/>
          <a:lstStyle/>
          <a:p>
            <a:pPr eaLnBrk="1" hangingPunct="1">
              <a:lnSpc>
                <a:spcPct val="110000"/>
              </a:lnSpc>
            </a:pPr>
            <a:r>
              <a:rPr lang="en-US" altLang="zh-CN" b="1" dirty="0" smtClean="0">
                <a:solidFill>
                  <a:srgbClr val="0000FF"/>
                </a:solidFill>
                <a:latin typeface="宋体" panose="02010600030101010101" pitchFamily="2" charset="-122"/>
              </a:rPr>
              <a:t>CD-ROM</a:t>
            </a:r>
            <a:r>
              <a:rPr lang="zh-CN" altLang="en-US" b="1" dirty="0" smtClean="0">
                <a:solidFill>
                  <a:srgbClr val="0000FF"/>
                </a:solidFill>
                <a:latin typeface="宋体" panose="02010600030101010101" pitchFamily="2" charset="-122"/>
              </a:rPr>
              <a:t>文件系统</a:t>
            </a:r>
            <a:r>
              <a:rPr lang="en-US" altLang="zh-CN" b="1" dirty="0" smtClean="0">
                <a:solidFill>
                  <a:srgbClr val="0000FF"/>
                </a:solidFill>
                <a:latin typeface="宋体" panose="02010600030101010101" pitchFamily="2" charset="-122"/>
              </a:rPr>
              <a:t>(iso9660)</a:t>
            </a:r>
          </a:p>
          <a:p>
            <a:pPr eaLnBrk="1" hangingPunct="1">
              <a:lnSpc>
                <a:spcPct val="110000"/>
              </a:lnSpc>
              <a:buFont typeface="Wingdings" panose="05000000000000000000" pitchFamily="2" charset="2"/>
              <a:buNone/>
            </a:pPr>
            <a:r>
              <a:rPr lang="en-US" altLang="zh-CN" dirty="0" smtClean="0">
                <a:latin typeface="宋体" panose="02010600030101010101" pitchFamily="2" charset="-122"/>
              </a:rPr>
              <a:t>      </a:t>
            </a:r>
            <a:r>
              <a:rPr lang="zh-CN" altLang="en-US" dirty="0" smtClean="0">
                <a:latin typeface="宋体" panose="02010600030101010101" pitchFamily="2" charset="-122"/>
              </a:rPr>
              <a:t>它是符合</a:t>
            </a:r>
            <a:r>
              <a:rPr lang="en-US" altLang="zh-CN" dirty="0" smtClean="0">
                <a:latin typeface="宋体" panose="02010600030101010101" pitchFamily="2" charset="-122"/>
              </a:rPr>
              <a:t>ISO9660</a:t>
            </a:r>
            <a:r>
              <a:rPr lang="zh-CN" altLang="en-US" dirty="0" smtClean="0">
                <a:latin typeface="宋体" panose="02010600030101010101" pitchFamily="2" charset="-122"/>
              </a:rPr>
              <a:t>标准的支持</a:t>
            </a:r>
            <a:r>
              <a:rPr lang="en-US" altLang="zh-CN" dirty="0" smtClean="0">
                <a:latin typeface="宋体" panose="02010600030101010101" pitchFamily="2" charset="-122"/>
              </a:rPr>
              <a:t>CD-ROM</a:t>
            </a:r>
            <a:r>
              <a:rPr lang="zh-CN" altLang="en-US" dirty="0" smtClean="0">
                <a:latin typeface="宋体" panose="02010600030101010101" pitchFamily="2" charset="-122"/>
              </a:rPr>
              <a:t>的文件系统，它有</a:t>
            </a:r>
            <a:r>
              <a:rPr lang="en-US" altLang="zh-CN" dirty="0" smtClean="0">
                <a:latin typeface="宋体" panose="02010600030101010101" pitchFamily="2" charset="-122"/>
              </a:rPr>
              <a:t>High sierra CD-ROM</a:t>
            </a:r>
            <a:r>
              <a:rPr lang="zh-CN" altLang="en-US" dirty="0" smtClean="0">
                <a:latin typeface="宋体" panose="02010600030101010101" pitchFamily="2" charset="-122"/>
              </a:rPr>
              <a:t>和</a:t>
            </a:r>
            <a:r>
              <a:rPr lang="en-US" altLang="zh-CN" dirty="0" smtClean="0">
                <a:latin typeface="宋体" panose="02010600030101010101" pitchFamily="2" charset="-122"/>
              </a:rPr>
              <a:t>Rock Ridge CD-ROM</a:t>
            </a:r>
            <a:r>
              <a:rPr lang="zh-CN" altLang="en-US" dirty="0" smtClean="0">
                <a:latin typeface="宋体" panose="02010600030101010101" pitchFamily="2" charset="-122"/>
              </a:rPr>
              <a:t>二种类型。</a:t>
            </a:r>
          </a:p>
          <a:p>
            <a:pPr eaLnBrk="1" hangingPunct="1">
              <a:lnSpc>
                <a:spcPct val="110000"/>
              </a:lnSpc>
            </a:pPr>
            <a:r>
              <a:rPr lang="en-US" altLang="zh-CN" b="1" dirty="0" smtClean="0">
                <a:solidFill>
                  <a:srgbClr val="0000FF"/>
                </a:solidFill>
                <a:latin typeface="宋体" panose="02010600030101010101" pitchFamily="2" charset="-122"/>
              </a:rPr>
              <a:t>UDF</a:t>
            </a:r>
            <a:r>
              <a:rPr lang="zh-CN" altLang="en-US" b="1" dirty="0" smtClean="0">
                <a:solidFill>
                  <a:srgbClr val="0000FF"/>
                </a:solidFill>
                <a:latin typeface="宋体" panose="02010600030101010101" pitchFamily="2" charset="-122"/>
              </a:rPr>
              <a:t>通用磁盘格式文件系统</a:t>
            </a:r>
            <a:endParaRPr lang="zh-CN" altLang="en-US" dirty="0" smtClean="0">
              <a:solidFill>
                <a:srgbClr val="0000FF"/>
              </a:solidFill>
              <a:latin typeface="宋体" panose="02010600030101010101" pitchFamily="2" charset="-122"/>
            </a:endParaRPr>
          </a:p>
          <a:p>
            <a:pPr eaLnBrk="1" hangingPunct="1">
              <a:lnSpc>
                <a:spcPct val="110000"/>
              </a:lnSpc>
              <a:buFont typeface="Wingdings" panose="05000000000000000000" pitchFamily="2" charset="2"/>
              <a:buNone/>
            </a:pPr>
            <a:r>
              <a:rPr lang="zh-CN" altLang="en-US" dirty="0" smtClean="0">
                <a:latin typeface="宋体" panose="02010600030101010101" pitchFamily="2" charset="-122"/>
              </a:rPr>
              <a:t>       </a:t>
            </a:r>
            <a:r>
              <a:rPr lang="en-US" altLang="zh-CN" dirty="0" smtClean="0">
                <a:latin typeface="宋体" panose="02010600030101010101" pitchFamily="2" charset="-122"/>
              </a:rPr>
              <a:t>UDF(Universal Disk Format)</a:t>
            </a:r>
            <a:r>
              <a:rPr lang="zh-CN" altLang="en-US" dirty="0" smtClean="0">
                <a:latin typeface="宋体" panose="02010600030101010101" pitchFamily="2" charset="-122"/>
              </a:rPr>
              <a:t>文件系统是依据光学储存技术协会（</a:t>
            </a:r>
            <a:r>
              <a:rPr lang="en-US" altLang="zh-CN" dirty="0" smtClean="0">
                <a:latin typeface="宋体" panose="02010600030101010101" pitchFamily="2" charset="-122"/>
              </a:rPr>
              <a:t>Optical Storage Technology Association, OSTA</a:t>
            </a:r>
            <a:r>
              <a:rPr lang="zh-CN" altLang="en-US" dirty="0" smtClean="0">
                <a:latin typeface="宋体" panose="02010600030101010101" pitchFamily="2" charset="-122"/>
              </a:rPr>
              <a:t>）的通用磁盘格式文件系统规格</a:t>
            </a:r>
            <a:r>
              <a:rPr lang="en-US" altLang="zh-CN" dirty="0" smtClean="0">
                <a:latin typeface="宋体" panose="02010600030101010101" pitchFamily="2" charset="-122"/>
              </a:rPr>
              <a:t>1.02</a:t>
            </a:r>
            <a:r>
              <a:rPr lang="zh-CN" altLang="en-US" dirty="0" smtClean="0">
                <a:latin typeface="宋体" panose="02010600030101010101" pitchFamily="2" charset="-122"/>
              </a:rPr>
              <a:t>版所制定的。它提供了对 </a:t>
            </a:r>
            <a:r>
              <a:rPr lang="en-US" altLang="zh-CN" dirty="0" smtClean="0">
                <a:latin typeface="宋体" panose="02010600030101010101" pitchFamily="2" charset="-122"/>
              </a:rPr>
              <a:t>UDF</a:t>
            </a:r>
            <a:r>
              <a:rPr lang="zh-CN" altLang="en-US" dirty="0" smtClean="0">
                <a:latin typeface="宋体" panose="02010600030101010101" pitchFamily="2" charset="-122"/>
              </a:rPr>
              <a:t>格式媒体的只读访问（例如</a:t>
            </a:r>
            <a:r>
              <a:rPr lang="en-US" altLang="zh-CN" dirty="0" smtClean="0">
                <a:latin typeface="宋体" panose="02010600030101010101" pitchFamily="2" charset="-122"/>
              </a:rPr>
              <a:t>DVD</a:t>
            </a:r>
            <a:r>
              <a:rPr lang="zh-CN" altLang="en-US" dirty="0" smtClean="0">
                <a:latin typeface="宋体" panose="02010600030101010101" pitchFamily="2" charset="-122"/>
              </a:rPr>
              <a:t>光盘）。</a:t>
            </a:r>
            <a:r>
              <a:rPr lang="en-US" altLang="zh-CN" dirty="0" smtClean="0">
                <a:latin typeface="宋体" panose="02010600030101010101" pitchFamily="2" charset="-122"/>
              </a:rPr>
              <a:t>Windows2000/XP</a:t>
            </a:r>
            <a:r>
              <a:rPr lang="zh-CN" altLang="en-US" dirty="0" smtClean="0">
                <a:latin typeface="宋体" panose="02010600030101010101" pitchFamily="2" charset="-122"/>
              </a:rPr>
              <a:t>提供对</a:t>
            </a:r>
            <a:r>
              <a:rPr lang="en-US" altLang="zh-CN" dirty="0" smtClean="0">
                <a:latin typeface="宋体" panose="02010600030101010101" pitchFamily="2" charset="-122"/>
              </a:rPr>
              <a:t>UDF</a:t>
            </a:r>
            <a:r>
              <a:rPr lang="zh-CN" altLang="en-US" dirty="0" smtClean="0">
                <a:latin typeface="宋体" panose="02010600030101010101" pitchFamily="2" charset="-122"/>
              </a:rPr>
              <a:t>文件系统支持。</a:t>
            </a:r>
            <a:endParaRPr lang="zh-CN" altLang="en-U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81000" y="243359"/>
            <a:ext cx="8421688" cy="1241425"/>
          </a:xfrm>
        </p:spPr>
        <p:txBody>
          <a:bodyPr/>
          <a:lstStyle/>
          <a:p>
            <a:pPr algn="ctr" eaLnBrk="1" hangingPunct="1"/>
            <a:r>
              <a:rPr lang="en-US" altLang="zh-CN" sz="4000" b="1" dirty="0" smtClean="0"/>
              <a:t>Linux</a:t>
            </a:r>
            <a:r>
              <a:rPr lang="zh-CN" altLang="en-US" sz="4000" b="1" dirty="0" smtClean="0"/>
              <a:t>的文件系统树</a:t>
            </a:r>
          </a:p>
        </p:txBody>
      </p:sp>
      <p:sp>
        <p:nvSpPr>
          <p:cNvPr id="9219" name="Rectangle 3"/>
          <p:cNvSpPr>
            <a:spLocks noGrp="1" noChangeArrowheads="1"/>
          </p:cNvSpPr>
          <p:nvPr>
            <p:ph type="body" idx="1"/>
          </p:nvPr>
        </p:nvSpPr>
        <p:spPr>
          <a:xfrm>
            <a:off x="468313" y="1557338"/>
            <a:ext cx="8280400" cy="3416300"/>
          </a:xfrm>
        </p:spPr>
        <p:txBody>
          <a:bodyPr/>
          <a:lstStyle/>
          <a:p>
            <a:pPr eaLnBrk="1" hangingPunct="1"/>
            <a:r>
              <a:rPr lang="zh-CN" altLang="en-US" dirty="0" smtClean="0">
                <a:latin typeface="宋体" panose="02010600030101010101" pitchFamily="2" charset="-122"/>
              </a:rPr>
              <a:t>在 </a:t>
            </a:r>
            <a:r>
              <a:rPr lang="en-US" altLang="zh-CN" dirty="0" smtClean="0">
                <a:latin typeface="宋体" panose="02010600030101010101" pitchFamily="2" charset="-122"/>
              </a:rPr>
              <a:t>Linux </a:t>
            </a:r>
            <a:r>
              <a:rPr lang="zh-CN" altLang="en-US" dirty="0" smtClean="0">
                <a:latin typeface="宋体" panose="02010600030101010101" pitchFamily="2" charset="-122"/>
              </a:rPr>
              <a:t>中，系统可以使用的不同的文件系统不是通过设备标识符（例如驱动器编号或设备名称）访问，而是连接成一个单一的树型的结构。</a:t>
            </a:r>
          </a:p>
          <a:p>
            <a:pPr eaLnBrk="1" hangingPunct="1"/>
            <a:r>
              <a:rPr lang="zh-CN" altLang="en-US" dirty="0" smtClean="0">
                <a:latin typeface="宋体" panose="02010600030101010101" pitchFamily="2" charset="-122"/>
              </a:rPr>
              <a:t> </a:t>
            </a:r>
            <a:r>
              <a:rPr lang="en-US" altLang="zh-CN" dirty="0" smtClean="0">
                <a:latin typeface="宋体" panose="02010600030101010101" pitchFamily="2" charset="-122"/>
              </a:rPr>
              <a:t>Linux </a:t>
            </a:r>
            <a:r>
              <a:rPr lang="zh-CN" altLang="en-US" dirty="0" smtClean="0">
                <a:latin typeface="宋体" panose="02010600030101010101" pitchFamily="2" charset="-122"/>
              </a:rPr>
              <a:t>在文件系统安装时把它加到这个单一的文件系统树上。所有的文件系统，都安装在一个目录树上。</a:t>
            </a:r>
          </a:p>
        </p:txBody>
      </p:sp>
    </p:spTree>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文件系统的安装"/>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825" y="476672"/>
            <a:ext cx="8459788" cy="637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Grp="1" noChangeArrowheads="1"/>
          </p:cNvSpPr>
          <p:nvPr>
            <p:ph type="title"/>
          </p:nvPr>
        </p:nvSpPr>
        <p:spPr>
          <a:xfrm>
            <a:off x="381000" y="-332705"/>
            <a:ext cx="8421688" cy="1241425"/>
          </a:xfrm>
        </p:spPr>
        <p:txBody>
          <a:bodyPr/>
          <a:lstStyle/>
          <a:p>
            <a:pPr algn="ctr" eaLnBrk="1" hangingPunct="1"/>
            <a:r>
              <a:rPr lang="en-US" altLang="zh-CN" sz="4000" b="1" dirty="0" smtClean="0"/>
              <a:t>Linux</a:t>
            </a:r>
            <a:r>
              <a:rPr lang="zh-CN" altLang="en-US" sz="4000" b="1" dirty="0" smtClean="0"/>
              <a:t>的文件系统树</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14400" y="188640"/>
            <a:ext cx="7772400" cy="788987"/>
          </a:xfrm>
        </p:spPr>
        <p:txBody>
          <a:bodyPr/>
          <a:lstStyle/>
          <a:p>
            <a:pPr algn="ctr" eaLnBrk="1" hangingPunct="1"/>
            <a:r>
              <a:rPr lang="en-US" altLang="zh-CN" sz="4000" b="1" dirty="0" smtClean="0"/>
              <a:t>Linux</a:t>
            </a:r>
            <a:r>
              <a:rPr lang="zh-CN" altLang="en-US" sz="4000" b="1" dirty="0" smtClean="0"/>
              <a:t>文件系统的特征</a:t>
            </a:r>
          </a:p>
        </p:txBody>
      </p:sp>
      <p:sp>
        <p:nvSpPr>
          <p:cNvPr id="967683" name="Rectangle 3"/>
          <p:cNvSpPr>
            <a:spLocks noGrp="1" noChangeArrowheads="1"/>
          </p:cNvSpPr>
          <p:nvPr>
            <p:ph type="body" idx="1"/>
          </p:nvPr>
        </p:nvSpPr>
        <p:spPr>
          <a:xfrm>
            <a:off x="755650" y="1124744"/>
            <a:ext cx="7772400" cy="5005387"/>
          </a:xfrm>
        </p:spPr>
        <p:txBody>
          <a:bodyPr/>
          <a:lstStyle/>
          <a:p>
            <a:pPr eaLnBrk="1" hangingPunct="1">
              <a:lnSpc>
                <a:spcPct val="80000"/>
              </a:lnSpc>
            </a:pPr>
            <a:r>
              <a:rPr lang="en-US" altLang="zh-CN" sz="3200" dirty="0" smtClean="0">
                <a:solidFill>
                  <a:schemeClr val="accent2"/>
                </a:solidFill>
              </a:rPr>
              <a:t>Linux</a:t>
            </a:r>
            <a:r>
              <a:rPr lang="zh-CN" altLang="en-US" sz="3200" dirty="0" smtClean="0">
                <a:solidFill>
                  <a:schemeClr val="accent2"/>
                </a:solidFill>
              </a:rPr>
              <a:t>文件系统的</a:t>
            </a:r>
            <a:r>
              <a:rPr lang="zh-CN" altLang="en-US" sz="3200" dirty="0" smtClean="0">
                <a:solidFill>
                  <a:srgbClr val="0000FF"/>
                </a:solidFill>
              </a:rPr>
              <a:t>特征</a:t>
            </a:r>
          </a:p>
          <a:p>
            <a:pPr lvl="1" eaLnBrk="1" hangingPunct="1">
              <a:lnSpc>
                <a:spcPct val="80000"/>
              </a:lnSpc>
            </a:pPr>
            <a:r>
              <a:rPr lang="zh-CN" altLang="en-US" sz="2800" dirty="0" smtClean="0"/>
              <a:t>树型结构</a:t>
            </a:r>
          </a:p>
          <a:p>
            <a:pPr lvl="1" eaLnBrk="1" hangingPunct="1">
              <a:lnSpc>
                <a:spcPct val="80000"/>
              </a:lnSpc>
            </a:pPr>
            <a:r>
              <a:rPr lang="zh-CN" altLang="en-US" sz="2800" dirty="0" smtClean="0"/>
              <a:t>文件是无结构的字符流式文件</a:t>
            </a:r>
          </a:p>
          <a:p>
            <a:pPr lvl="1" eaLnBrk="1" hangingPunct="1">
              <a:lnSpc>
                <a:spcPct val="80000"/>
              </a:lnSpc>
            </a:pPr>
            <a:r>
              <a:rPr lang="zh-CN" altLang="en-US" sz="2800" dirty="0" smtClean="0"/>
              <a:t>权限保护</a:t>
            </a:r>
          </a:p>
          <a:p>
            <a:pPr lvl="1" eaLnBrk="1" hangingPunct="1">
              <a:lnSpc>
                <a:spcPct val="80000"/>
              </a:lnSpc>
            </a:pPr>
            <a:r>
              <a:rPr lang="zh-CN" altLang="en-US" sz="2800" dirty="0" smtClean="0"/>
              <a:t>外部设备也被看作文件，如磁盘，鼠标，串行接口。设备在目录中占有一项，可以使用与文件相同的系统调用来读写设备文件。</a:t>
            </a:r>
          </a:p>
          <a:p>
            <a:pPr eaLnBrk="1" hangingPunct="1">
              <a:lnSpc>
                <a:spcPct val="80000"/>
              </a:lnSpc>
            </a:pPr>
            <a:r>
              <a:rPr lang="en-US" altLang="zh-CN" sz="3200" dirty="0" smtClean="0">
                <a:solidFill>
                  <a:schemeClr val="accent2"/>
                </a:solidFill>
              </a:rPr>
              <a:t>Linux</a:t>
            </a:r>
            <a:r>
              <a:rPr lang="zh-CN" altLang="en-US" sz="3200" dirty="0" smtClean="0">
                <a:solidFill>
                  <a:schemeClr val="accent2"/>
                </a:solidFill>
              </a:rPr>
              <a:t>文件系统</a:t>
            </a:r>
            <a:r>
              <a:rPr lang="zh-CN" altLang="en-US" sz="3200" dirty="0" smtClean="0">
                <a:solidFill>
                  <a:srgbClr val="0000FF"/>
                </a:solidFill>
              </a:rPr>
              <a:t>类型</a:t>
            </a:r>
          </a:p>
          <a:p>
            <a:pPr lvl="1" eaLnBrk="1" hangingPunct="1">
              <a:lnSpc>
                <a:spcPct val="80000"/>
              </a:lnSpc>
            </a:pPr>
            <a:r>
              <a:rPr lang="zh-CN" altLang="en-US" sz="2800" dirty="0" smtClean="0"/>
              <a:t>普通文件</a:t>
            </a:r>
          </a:p>
          <a:p>
            <a:pPr lvl="1" eaLnBrk="1" hangingPunct="1">
              <a:lnSpc>
                <a:spcPct val="80000"/>
              </a:lnSpc>
            </a:pPr>
            <a:r>
              <a:rPr lang="zh-CN" altLang="en-US" sz="2800" dirty="0" smtClean="0"/>
              <a:t>目录文件：由目录项组成，每个目录项由文件名及其</a:t>
            </a:r>
            <a:r>
              <a:rPr lang="en-US" altLang="zh-CN" sz="2800" dirty="0" err="1" smtClean="0"/>
              <a:t>inode</a:t>
            </a:r>
            <a:r>
              <a:rPr lang="zh-CN" altLang="en-US" sz="2800" dirty="0" smtClean="0"/>
              <a:t>号组成</a:t>
            </a:r>
          </a:p>
          <a:p>
            <a:pPr lvl="1" eaLnBrk="1" hangingPunct="1">
              <a:lnSpc>
                <a:spcPct val="80000"/>
              </a:lnSpc>
            </a:pPr>
            <a:r>
              <a:rPr lang="zh-CN" altLang="en-US" sz="2800" dirty="0" smtClean="0"/>
              <a:t>设备文件：不占有实际的物理块，对设备文件的读写操作实际变为对设备的操作。</a:t>
            </a:r>
          </a:p>
          <a:p>
            <a:pPr lvl="1" eaLnBrk="1" hangingPunct="1">
              <a:lnSpc>
                <a:spcPct val="80000"/>
              </a:lnSpc>
            </a:pPr>
            <a:r>
              <a:rPr lang="zh-CN" altLang="en-US" sz="2800" dirty="0" smtClean="0"/>
              <a:t>管道文件，链接文件</a:t>
            </a:r>
          </a:p>
          <a:p>
            <a:pPr eaLnBrk="1" hangingPunct="1">
              <a:lnSpc>
                <a:spcPct val="80000"/>
              </a:lnSpc>
            </a:pPr>
            <a:endParaRPr lang="en-US" altLang="zh-CN" sz="3200" dirty="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7683">
                                            <p:txEl>
                                              <p:pRg st="0" end="0"/>
                                            </p:txEl>
                                          </p:spTgt>
                                        </p:tgtEl>
                                        <p:attrNameLst>
                                          <p:attrName>style.visibility</p:attrName>
                                        </p:attrNameLst>
                                      </p:cBhvr>
                                      <p:to>
                                        <p:strVal val="visible"/>
                                      </p:to>
                                    </p:set>
                                    <p:animEffect transition="in" filter="blinds(horizontal)">
                                      <p:cBhvr>
                                        <p:cTn id="7" dur="500"/>
                                        <p:tgtEl>
                                          <p:spTgt spid="96768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67683">
                                            <p:txEl>
                                              <p:pRg st="1" end="1"/>
                                            </p:txEl>
                                          </p:spTgt>
                                        </p:tgtEl>
                                        <p:attrNameLst>
                                          <p:attrName>style.visibility</p:attrName>
                                        </p:attrNameLst>
                                      </p:cBhvr>
                                      <p:to>
                                        <p:strVal val="visible"/>
                                      </p:to>
                                    </p:set>
                                    <p:animEffect transition="in" filter="blinds(horizontal)">
                                      <p:cBhvr>
                                        <p:cTn id="10" dur="500"/>
                                        <p:tgtEl>
                                          <p:spTgt spid="96768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67683">
                                            <p:txEl>
                                              <p:pRg st="2" end="2"/>
                                            </p:txEl>
                                          </p:spTgt>
                                        </p:tgtEl>
                                        <p:attrNameLst>
                                          <p:attrName>style.visibility</p:attrName>
                                        </p:attrNameLst>
                                      </p:cBhvr>
                                      <p:to>
                                        <p:strVal val="visible"/>
                                      </p:to>
                                    </p:set>
                                    <p:animEffect transition="in" filter="blinds(horizontal)">
                                      <p:cBhvr>
                                        <p:cTn id="13" dur="500"/>
                                        <p:tgtEl>
                                          <p:spTgt spid="96768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67683">
                                            <p:txEl>
                                              <p:pRg st="3" end="3"/>
                                            </p:txEl>
                                          </p:spTgt>
                                        </p:tgtEl>
                                        <p:attrNameLst>
                                          <p:attrName>style.visibility</p:attrName>
                                        </p:attrNameLst>
                                      </p:cBhvr>
                                      <p:to>
                                        <p:strVal val="visible"/>
                                      </p:to>
                                    </p:set>
                                    <p:animEffect transition="in" filter="blinds(horizontal)">
                                      <p:cBhvr>
                                        <p:cTn id="16" dur="500"/>
                                        <p:tgtEl>
                                          <p:spTgt spid="96768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67683">
                                            <p:txEl>
                                              <p:pRg st="4" end="4"/>
                                            </p:txEl>
                                          </p:spTgt>
                                        </p:tgtEl>
                                        <p:attrNameLst>
                                          <p:attrName>style.visibility</p:attrName>
                                        </p:attrNameLst>
                                      </p:cBhvr>
                                      <p:to>
                                        <p:strVal val="visible"/>
                                      </p:to>
                                    </p:set>
                                    <p:animEffect transition="in" filter="blinds(horizontal)">
                                      <p:cBhvr>
                                        <p:cTn id="19" dur="500"/>
                                        <p:tgtEl>
                                          <p:spTgt spid="967683">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967683">
                                            <p:txEl>
                                              <p:pRg st="5" end="5"/>
                                            </p:txEl>
                                          </p:spTgt>
                                        </p:tgtEl>
                                        <p:attrNameLst>
                                          <p:attrName>style.visibility</p:attrName>
                                        </p:attrNameLst>
                                      </p:cBhvr>
                                      <p:to>
                                        <p:strVal val="visible"/>
                                      </p:to>
                                    </p:set>
                                    <p:animEffect transition="in" filter="blinds(horizontal)">
                                      <p:cBhvr>
                                        <p:cTn id="24" dur="500"/>
                                        <p:tgtEl>
                                          <p:spTgt spid="967683">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967683">
                                            <p:txEl>
                                              <p:pRg st="6" end="6"/>
                                            </p:txEl>
                                          </p:spTgt>
                                        </p:tgtEl>
                                        <p:attrNameLst>
                                          <p:attrName>style.visibility</p:attrName>
                                        </p:attrNameLst>
                                      </p:cBhvr>
                                      <p:to>
                                        <p:strVal val="visible"/>
                                      </p:to>
                                    </p:set>
                                    <p:animEffect transition="in" filter="blinds(horizontal)">
                                      <p:cBhvr>
                                        <p:cTn id="27" dur="500"/>
                                        <p:tgtEl>
                                          <p:spTgt spid="967683">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967683">
                                            <p:txEl>
                                              <p:pRg st="7" end="7"/>
                                            </p:txEl>
                                          </p:spTgt>
                                        </p:tgtEl>
                                        <p:attrNameLst>
                                          <p:attrName>style.visibility</p:attrName>
                                        </p:attrNameLst>
                                      </p:cBhvr>
                                      <p:to>
                                        <p:strVal val="visible"/>
                                      </p:to>
                                    </p:set>
                                    <p:animEffect transition="in" filter="blinds(horizontal)">
                                      <p:cBhvr>
                                        <p:cTn id="30" dur="500"/>
                                        <p:tgtEl>
                                          <p:spTgt spid="967683">
                                            <p:txEl>
                                              <p:pRg st="7" end="7"/>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967683">
                                            <p:txEl>
                                              <p:pRg st="8" end="8"/>
                                            </p:txEl>
                                          </p:spTgt>
                                        </p:tgtEl>
                                        <p:attrNameLst>
                                          <p:attrName>style.visibility</p:attrName>
                                        </p:attrNameLst>
                                      </p:cBhvr>
                                      <p:to>
                                        <p:strVal val="visible"/>
                                      </p:to>
                                    </p:set>
                                    <p:animEffect transition="in" filter="blinds(horizontal)">
                                      <p:cBhvr>
                                        <p:cTn id="33" dur="500"/>
                                        <p:tgtEl>
                                          <p:spTgt spid="967683">
                                            <p:txEl>
                                              <p:pRg st="8" end="8"/>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967683">
                                            <p:txEl>
                                              <p:pRg st="9" end="9"/>
                                            </p:txEl>
                                          </p:spTgt>
                                        </p:tgtEl>
                                        <p:attrNameLst>
                                          <p:attrName>style.visibility</p:attrName>
                                        </p:attrNameLst>
                                      </p:cBhvr>
                                      <p:to>
                                        <p:strVal val="visible"/>
                                      </p:to>
                                    </p:set>
                                    <p:animEffect transition="in" filter="blinds(horizontal)">
                                      <p:cBhvr>
                                        <p:cTn id="36" dur="500"/>
                                        <p:tgtEl>
                                          <p:spTgt spid="96768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768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95288" y="0"/>
            <a:ext cx="8421687" cy="1241425"/>
          </a:xfrm>
        </p:spPr>
        <p:txBody>
          <a:bodyPr/>
          <a:lstStyle/>
          <a:p>
            <a:pPr algn="ctr" eaLnBrk="1" hangingPunct="1"/>
            <a:r>
              <a:rPr lang="zh-CN" altLang="en-US" b="1" dirty="0" smtClean="0"/>
              <a:t>安装点</a:t>
            </a:r>
          </a:p>
        </p:txBody>
      </p:sp>
      <p:sp>
        <p:nvSpPr>
          <p:cNvPr id="886787" name="Rectangle 3"/>
          <p:cNvSpPr>
            <a:spLocks noGrp="1" noChangeArrowheads="1"/>
          </p:cNvSpPr>
          <p:nvPr>
            <p:ph type="body" idx="1"/>
          </p:nvPr>
        </p:nvSpPr>
        <p:spPr>
          <a:xfrm>
            <a:off x="323850" y="1125538"/>
            <a:ext cx="8567738" cy="5400675"/>
          </a:xfrm>
        </p:spPr>
        <p:txBody>
          <a:bodyPr/>
          <a:lstStyle/>
          <a:p>
            <a:pPr eaLnBrk="1" hangingPunct="1">
              <a:lnSpc>
                <a:spcPct val="110000"/>
              </a:lnSpc>
              <a:buClr>
                <a:srgbClr val="3333CC"/>
              </a:buClr>
              <a:buFont typeface="Wingdings" panose="05000000000000000000" pitchFamily="2" charset="2"/>
              <a:buChar char="v"/>
            </a:pPr>
            <a:r>
              <a:rPr lang="zh-CN" altLang="en-US" smtClean="0"/>
              <a:t>将一个文件系统的顶层目录挂到另一个文件系统的子目录上，使它们成为一个整体，称为“</a:t>
            </a:r>
            <a:r>
              <a:rPr lang="zh-CN" altLang="en-US" smtClean="0">
                <a:solidFill>
                  <a:srgbClr val="0000FF"/>
                </a:solidFill>
              </a:rPr>
              <a:t>安装（</a:t>
            </a:r>
            <a:r>
              <a:rPr lang="en-US" altLang="zh-CN" smtClean="0">
                <a:solidFill>
                  <a:srgbClr val="0000FF"/>
                </a:solidFill>
              </a:rPr>
              <a:t>mount</a:t>
            </a:r>
            <a:r>
              <a:rPr lang="zh-CN" altLang="en-US" smtClean="0">
                <a:solidFill>
                  <a:srgbClr val="0000FF"/>
                </a:solidFill>
              </a:rPr>
              <a:t>）</a:t>
            </a:r>
            <a:r>
              <a:rPr lang="zh-CN" altLang="en-US" smtClean="0"/>
              <a:t>”。把该子目录称为“</a:t>
            </a:r>
            <a:r>
              <a:rPr lang="zh-CN" altLang="en-US" smtClean="0">
                <a:solidFill>
                  <a:srgbClr val="0000FF"/>
                </a:solidFill>
              </a:rPr>
              <a:t>安装点</a:t>
            </a:r>
            <a:r>
              <a:rPr lang="en-US" altLang="zh-CN" smtClean="0">
                <a:solidFill>
                  <a:srgbClr val="0000FF"/>
                </a:solidFill>
              </a:rPr>
              <a:t>(mount point</a:t>
            </a:r>
            <a:r>
              <a:rPr lang="en-US" altLang="zh-CN" smtClean="0"/>
              <a:t>)” </a:t>
            </a:r>
          </a:p>
          <a:p>
            <a:pPr eaLnBrk="1" hangingPunct="1">
              <a:lnSpc>
                <a:spcPct val="110000"/>
              </a:lnSpc>
              <a:buClr>
                <a:srgbClr val="3333CC"/>
              </a:buClr>
              <a:buFont typeface="Wingdings" panose="05000000000000000000" pitchFamily="2" charset="2"/>
              <a:buChar char="v"/>
            </a:pPr>
            <a:r>
              <a:rPr lang="en-US" altLang="zh-CN" smtClean="0"/>
              <a:t>EXT2</a:t>
            </a:r>
            <a:r>
              <a:rPr lang="zh-CN" altLang="en-US" smtClean="0"/>
              <a:t>是</a:t>
            </a:r>
            <a:r>
              <a:rPr lang="en-US" altLang="zh-CN" smtClean="0"/>
              <a:t>Linux</a:t>
            </a:r>
            <a:r>
              <a:rPr lang="zh-CN" altLang="en-US" smtClean="0"/>
              <a:t>的标准文件系统，系统把它的磁盘分区做为系统的</a:t>
            </a:r>
            <a:r>
              <a:rPr lang="zh-CN" altLang="en-US" smtClean="0">
                <a:solidFill>
                  <a:srgbClr val="0000FF"/>
                </a:solidFill>
              </a:rPr>
              <a:t>根文件系统</a:t>
            </a:r>
            <a:r>
              <a:rPr lang="zh-CN" altLang="en-US" smtClean="0"/>
              <a:t>。</a:t>
            </a:r>
            <a:r>
              <a:rPr lang="en-US" altLang="zh-CN" smtClean="0"/>
              <a:t>EXT2</a:t>
            </a:r>
            <a:r>
              <a:rPr lang="zh-CN" altLang="en-US" smtClean="0"/>
              <a:t>以外的文件系统则安装在根文件系统下的某个目录下，成为系统树型结构中的一个分枝 </a:t>
            </a:r>
          </a:p>
          <a:p>
            <a:pPr eaLnBrk="1" hangingPunct="1">
              <a:lnSpc>
                <a:spcPct val="110000"/>
              </a:lnSpc>
            </a:pPr>
            <a:r>
              <a:rPr lang="zh-CN" altLang="en-US" smtClean="0">
                <a:latin typeface="宋体" panose="02010600030101010101" pitchFamily="2" charset="-122"/>
              </a:rPr>
              <a:t>安装的文件系统的文件掩盖了这个目录原来存在的内容。当这个文件系统卸载的时候，安装目录自己的文件又可以显现出来。</a:t>
            </a:r>
            <a:endParaRPr lang="zh-CN" altLang="en-US" sz="2400" smtClean="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86787">
                                            <p:txEl>
                                              <p:pRg st="0" end="0"/>
                                            </p:txEl>
                                          </p:spTgt>
                                        </p:tgtEl>
                                        <p:attrNameLst>
                                          <p:attrName>style.visibility</p:attrName>
                                        </p:attrNameLst>
                                      </p:cBhvr>
                                      <p:to>
                                        <p:strVal val="visible"/>
                                      </p:to>
                                    </p:set>
                                    <p:animEffect transition="in" filter="blinds(horizontal)">
                                      <p:cBhvr>
                                        <p:cTn id="7" dur="500"/>
                                        <p:tgtEl>
                                          <p:spTgt spid="8867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86787">
                                            <p:txEl>
                                              <p:pRg st="1" end="1"/>
                                            </p:txEl>
                                          </p:spTgt>
                                        </p:tgtEl>
                                        <p:attrNameLst>
                                          <p:attrName>style.visibility</p:attrName>
                                        </p:attrNameLst>
                                      </p:cBhvr>
                                      <p:to>
                                        <p:strVal val="visible"/>
                                      </p:to>
                                    </p:set>
                                    <p:animEffect transition="in" filter="blinds(horizontal)">
                                      <p:cBhvr>
                                        <p:cTn id="12" dur="500"/>
                                        <p:tgtEl>
                                          <p:spTgt spid="8867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86787">
                                            <p:txEl>
                                              <p:pRg st="2" end="2"/>
                                            </p:txEl>
                                          </p:spTgt>
                                        </p:tgtEl>
                                        <p:attrNameLst>
                                          <p:attrName>style.visibility</p:attrName>
                                        </p:attrNameLst>
                                      </p:cBhvr>
                                      <p:to>
                                        <p:strVal val="visible"/>
                                      </p:to>
                                    </p:set>
                                    <p:animEffect transition="in" filter="blinds(horizontal)">
                                      <p:cBhvr>
                                        <p:cTn id="17" dur="500"/>
                                        <p:tgtEl>
                                          <p:spTgt spid="8867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678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22313" y="260350"/>
            <a:ext cx="8421687" cy="1241425"/>
          </a:xfrm>
        </p:spPr>
        <p:txBody>
          <a:bodyPr/>
          <a:lstStyle/>
          <a:p>
            <a:pPr eaLnBrk="1" hangingPunct="1"/>
            <a:r>
              <a:rPr lang="en-US" altLang="zh-CN" dirty="0" smtClean="0"/>
              <a:t> 7.2 </a:t>
            </a:r>
            <a:r>
              <a:rPr lang="zh-CN" altLang="en-US" dirty="0" smtClean="0"/>
              <a:t>虚拟文件系统</a:t>
            </a:r>
            <a:r>
              <a:rPr lang="en-US" altLang="zh-CN" dirty="0" smtClean="0"/>
              <a:t>VFS</a:t>
            </a:r>
            <a:r>
              <a:rPr lang="zh-CN" altLang="en-US" dirty="0" smtClean="0"/>
              <a:t>－引入</a:t>
            </a:r>
          </a:p>
        </p:txBody>
      </p:sp>
      <p:sp>
        <p:nvSpPr>
          <p:cNvPr id="1163267" name="Rectangle 3"/>
          <p:cNvSpPr>
            <a:spLocks noGrp="1" noChangeArrowheads="1"/>
          </p:cNvSpPr>
          <p:nvPr>
            <p:ph type="body" idx="1"/>
          </p:nvPr>
        </p:nvSpPr>
        <p:spPr>
          <a:xfrm>
            <a:off x="611188" y="1412875"/>
            <a:ext cx="7772400" cy="4530725"/>
          </a:xfrm>
          <a:noFill/>
        </p:spPr>
        <p:txBody>
          <a:bodyPr/>
          <a:lstStyle/>
          <a:p>
            <a:pPr eaLnBrk="1" hangingPunct="1"/>
            <a:r>
              <a:rPr lang="en-US" altLang="zh-CN" dirty="0" smtClean="0"/>
              <a:t>Linux</a:t>
            </a:r>
            <a:r>
              <a:rPr lang="zh-CN" altLang="en-US" dirty="0" smtClean="0"/>
              <a:t>最初采用的是</a:t>
            </a:r>
            <a:r>
              <a:rPr lang="en-US" altLang="zh-CN" dirty="0" err="1" smtClean="0"/>
              <a:t>Minix</a:t>
            </a:r>
            <a:r>
              <a:rPr lang="zh-CN" altLang="en-US" dirty="0" smtClean="0"/>
              <a:t>的文件系统</a:t>
            </a:r>
          </a:p>
          <a:p>
            <a:pPr lvl="1" eaLnBrk="1" hangingPunct="1"/>
            <a:r>
              <a:rPr lang="en-US" altLang="zh-CN" dirty="0" err="1" smtClean="0"/>
              <a:t>Minix</a:t>
            </a:r>
            <a:r>
              <a:rPr lang="zh-CN" altLang="en-US" dirty="0" smtClean="0"/>
              <a:t>是一种教学用操作系统</a:t>
            </a:r>
          </a:p>
          <a:p>
            <a:pPr lvl="1" eaLnBrk="1" hangingPunct="1"/>
            <a:r>
              <a:rPr lang="zh-CN" altLang="en-US" dirty="0" smtClean="0"/>
              <a:t>其文件系统的大小限于</a:t>
            </a:r>
            <a:r>
              <a:rPr lang="en-US" altLang="zh-CN" dirty="0" smtClean="0"/>
              <a:t>64MB</a:t>
            </a:r>
          </a:p>
          <a:p>
            <a:pPr lvl="1" eaLnBrk="1" hangingPunct="1"/>
            <a:r>
              <a:rPr lang="zh-CN" altLang="en-US" dirty="0" smtClean="0"/>
              <a:t>文件名长度也限于</a:t>
            </a:r>
            <a:r>
              <a:rPr lang="en-US" altLang="zh-CN" dirty="0" smtClean="0"/>
              <a:t>14</a:t>
            </a:r>
            <a:r>
              <a:rPr lang="zh-CN" altLang="en-US" dirty="0" smtClean="0"/>
              <a:t>个字节。</a:t>
            </a:r>
          </a:p>
          <a:p>
            <a:pPr eaLnBrk="1" hangingPunct="1"/>
            <a:r>
              <a:rPr lang="zh-CN" altLang="en-US" dirty="0" smtClean="0"/>
              <a:t>所以，</a:t>
            </a:r>
            <a:r>
              <a:rPr lang="en-US" altLang="zh-CN" dirty="0" smtClean="0"/>
              <a:t>Linux</a:t>
            </a:r>
            <a:r>
              <a:rPr lang="zh-CN" altLang="en-US" dirty="0" smtClean="0"/>
              <a:t>经过一段时间的改进和发展，特别是吸取了</a:t>
            </a:r>
            <a:r>
              <a:rPr lang="en-US" altLang="zh-CN" dirty="0" smtClean="0"/>
              <a:t>Unix</a:t>
            </a:r>
            <a:r>
              <a:rPr lang="zh-CN" altLang="en-US" dirty="0" smtClean="0"/>
              <a:t>文件系统多年改进所积累的经验，最后形成了现在的</a:t>
            </a:r>
            <a:r>
              <a:rPr lang="en-US" altLang="zh-CN" dirty="0" smtClean="0"/>
              <a:t>Ext2</a:t>
            </a:r>
            <a:r>
              <a:rPr lang="zh-CN" altLang="en-US" dirty="0" smtClean="0"/>
              <a:t>文件系统。</a:t>
            </a:r>
          </a:p>
          <a:p>
            <a:pPr eaLnBrk="1" hangingPunct="1"/>
            <a:r>
              <a:rPr lang="zh-CN" altLang="en-US" dirty="0" smtClean="0"/>
              <a:t>可以说，</a:t>
            </a:r>
            <a:r>
              <a:rPr lang="en-US" altLang="zh-CN" dirty="0" smtClean="0"/>
              <a:t>Ext2</a:t>
            </a:r>
            <a:r>
              <a:rPr lang="zh-CN" altLang="en-US" dirty="0" smtClean="0"/>
              <a:t>文件系统就是</a:t>
            </a:r>
            <a:r>
              <a:rPr lang="en-US" altLang="zh-CN" dirty="0" smtClean="0"/>
              <a:t>Linux</a:t>
            </a:r>
            <a:r>
              <a:rPr lang="zh-CN" altLang="en-US" dirty="0" smtClean="0"/>
              <a:t>文件系统。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3267">
                                            <p:txEl>
                                              <p:pRg st="0" end="0"/>
                                            </p:txEl>
                                          </p:spTgt>
                                        </p:tgtEl>
                                        <p:attrNameLst>
                                          <p:attrName>style.visibility</p:attrName>
                                        </p:attrNameLst>
                                      </p:cBhvr>
                                      <p:to>
                                        <p:strVal val="visible"/>
                                      </p:to>
                                    </p:set>
                                    <p:animEffect transition="in" filter="blinds(horizontal)">
                                      <p:cBhvr>
                                        <p:cTn id="7" dur="500"/>
                                        <p:tgtEl>
                                          <p:spTgt spid="116326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63267">
                                            <p:txEl>
                                              <p:pRg st="1" end="1"/>
                                            </p:txEl>
                                          </p:spTgt>
                                        </p:tgtEl>
                                        <p:attrNameLst>
                                          <p:attrName>style.visibility</p:attrName>
                                        </p:attrNameLst>
                                      </p:cBhvr>
                                      <p:to>
                                        <p:strVal val="visible"/>
                                      </p:to>
                                    </p:set>
                                    <p:animEffect transition="in" filter="blinds(horizontal)">
                                      <p:cBhvr>
                                        <p:cTn id="10" dur="500"/>
                                        <p:tgtEl>
                                          <p:spTgt spid="116326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63267">
                                            <p:txEl>
                                              <p:pRg st="2" end="2"/>
                                            </p:txEl>
                                          </p:spTgt>
                                        </p:tgtEl>
                                        <p:attrNameLst>
                                          <p:attrName>style.visibility</p:attrName>
                                        </p:attrNameLst>
                                      </p:cBhvr>
                                      <p:to>
                                        <p:strVal val="visible"/>
                                      </p:to>
                                    </p:set>
                                    <p:animEffect transition="in" filter="blinds(horizontal)">
                                      <p:cBhvr>
                                        <p:cTn id="13" dur="500"/>
                                        <p:tgtEl>
                                          <p:spTgt spid="116326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63267">
                                            <p:txEl>
                                              <p:pRg st="3" end="3"/>
                                            </p:txEl>
                                          </p:spTgt>
                                        </p:tgtEl>
                                        <p:attrNameLst>
                                          <p:attrName>style.visibility</p:attrName>
                                        </p:attrNameLst>
                                      </p:cBhvr>
                                      <p:to>
                                        <p:strVal val="visible"/>
                                      </p:to>
                                    </p:set>
                                    <p:animEffect transition="in" filter="blinds(horizontal)">
                                      <p:cBhvr>
                                        <p:cTn id="16" dur="500"/>
                                        <p:tgtEl>
                                          <p:spTgt spid="1163267">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163267">
                                            <p:txEl>
                                              <p:pRg st="4" end="4"/>
                                            </p:txEl>
                                          </p:spTgt>
                                        </p:tgtEl>
                                        <p:attrNameLst>
                                          <p:attrName>style.visibility</p:attrName>
                                        </p:attrNameLst>
                                      </p:cBhvr>
                                      <p:to>
                                        <p:strVal val="visible"/>
                                      </p:to>
                                    </p:set>
                                    <p:animEffect transition="in" filter="blinds(horizontal)">
                                      <p:cBhvr>
                                        <p:cTn id="21" dur="500"/>
                                        <p:tgtEl>
                                          <p:spTgt spid="1163267">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63267">
                                            <p:txEl>
                                              <p:pRg st="5" end="5"/>
                                            </p:txEl>
                                          </p:spTgt>
                                        </p:tgtEl>
                                        <p:attrNameLst>
                                          <p:attrName>style.visibility</p:attrName>
                                        </p:attrNameLst>
                                      </p:cBhvr>
                                      <p:to>
                                        <p:strVal val="visible"/>
                                      </p:to>
                                    </p:set>
                                    <p:animEffect transition="in" filter="blinds(horizontal)">
                                      <p:cBhvr>
                                        <p:cTn id="26" dur="500"/>
                                        <p:tgtEl>
                                          <p:spTgt spid="1163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32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22313" y="260350"/>
            <a:ext cx="8421687" cy="1241425"/>
          </a:xfrm>
        </p:spPr>
        <p:txBody>
          <a:bodyPr/>
          <a:lstStyle/>
          <a:p>
            <a:pPr eaLnBrk="1" hangingPunct="1"/>
            <a:r>
              <a:rPr lang="en-US" altLang="zh-CN" dirty="0" smtClean="0"/>
              <a:t>7.2 </a:t>
            </a:r>
            <a:r>
              <a:rPr lang="zh-CN" altLang="en-US" dirty="0" smtClean="0"/>
              <a:t>虚拟文件系统</a:t>
            </a:r>
            <a:r>
              <a:rPr lang="en-US" altLang="zh-CN" dirty="0" smtClean="0"/>
              <a:t>VFS</a:t>
            </a:r>
            <a:r>
              <a:rPr lang="zh-CN" altLang="en-US" dirty="0" smtClean="0"/>
              <a:t>－引入</a:t>
            </a:r>
          </a:p>
        </p:txBody>
      </p:sp>
      <p:sp>
        <p:nvSpPr>
          <p:cNvPr id="1164291" name="Rectangle 3"/>
          <p:cNvSpPr>
            <a:spLocks noGrp="1" noChangeArrowheads="1"/>
          </p:cNvSpPr>
          <p:nvPr>
            <p:ph type="body" idx="1"/>
          </p:nvPr>
        </p:nvSpPr>
        <p:spPr>
          <a:xfrm>
            <a:off x="611188" y="1412875"/>
            <a:ext cx="7772400" cy="4530725"/>
          </a:xfrm>
          <a:noFill/>
        </p:spPr>
        <p:txBody>
          <a:bodyPr/>
          <a:lstStyle/>
          <a:p>
            <a:pPr eaLnBrk="1" hangingPunct="1"/>
            <a:r>
              <a:rPr lang="zh-CN" altLang="en-US" smtClean="0"/>
              <a:t>为了保证</a:t>
            </a:r>
            <a:r>
              <a:rPr lang="en-US" altLang="zh-CN" smtClean="0"/>
              <a:t>Linux</a:t>
            </a:r>
            <a:r>
              <a:rPr lang="zh-CN" altLang="en-US" smtClean="0"/>
              <a:t>的开放性，设计人员必须考虑如何使</a:t>
            </a:r>
            <a:r>
              <a:rPr lang="en-US" altLang="zh-CN" smtClean="0"/>
              <a:t>Linux</a:t>
            </a:r>
            <a:r>
              <a:rPr lang="zh-CN" altLang="en-US" smtClean="0"/>
              <a:t>除支持</a:t>
            </a:r>
            <a:r>
              <a:rPr lang="en-US" altLang="zh-CN" smtClean="0"/>
              <a:t>Ext2</a:t>
            </a:r>
            <a:r>
              <a:rPr lang="zh-CN" altLang="en-US" smtClean="0"/>
              <a:t>文件系统外，还能支持其他各种不同的文件系统。</a:t>
            </a:r>
          </a:p>
          <a:p>
            <a:pPr eaLnBrk="1" hangingPunct="1"/>
            <a:r>
              <a:rPr lang="zh-CN" altLang="en-US" smtClean="0">
                <a:solidFill>
                  <a:srgbClr val="0000FF"/>
                </a:solidFill>
              </a:rPr>
              <a:t>要求：</a:t>
            </a:r>
            <a:r>
              <a:rPr lang="zh-CN" altLang="en-US" smtClean="0"/>
              <a:t>须将各种不同文件系统的操作和管理纳入到一个统一的框架中，</a:t>
            </a:r>
            <a:r>
              <a:rPr lang="zh-CN" altLang="en-US" smtClean="0">
                <a:solidFill>
                  <a:srgbClr val="0000FF"/>
                </a:solidFill>
              </a:rPr>
              <a:t>使得用户程序可以通过同一个文件系统界面，也就是同一组系统调用，能够对各种不同的文件系统以及文件进行操作</a:t>
            </a:r>
            <a:r>
              <a:rPr lang="zh-CN" altLang="en-US" smtClean="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4291">
                                            <p:txEl>
                                              <p:pRg st="0" end="0"/>
                                            </p:txEl>
                                          </p:spTgt>
                                        </p:tgtEl>
                                        <p:attrNameLst>
                                          <p:attrName>style.visibility</p:attrName>
                                        </p:attrNameLst>
                                      </p:cBhvr>
                                      <p:to>
                                        <p:strVal val="visible"/>
                                      </p:to>
                                    </p:set>
                                    <p:animEffect transition="in" filter="blinds(horizontal)">
                                      <p:cBhvr>
                                        <p:cTn id="7" dur="500"/>
                                        <p:tgtEl>
                                          <p:spTgt spid="1164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64291">
                                            <p:txEl>
                                              <p:pRg st="1" end="1"/>
                                            </p:txEl>
                                          </p:spTgt>
                                        </p:tgtEl>
                                        <p:attrNameLst>
                                          <p:attrName>style.visibility</p:attrName>
                                        </p:attrNameLst>
                                      </p:cBhvr>
                                      <p:to>
                                        <p:strVal val="visible"/>
                                      </p:to>
                                    </p:set>
                                    <p:animEffect transition="in" filter="blinds(horizontal)">
                                      <p:cBhvr>
                                        <p:cTn id="12" dur="500"/>
                                        <p:tgtEl>
                                          <p:spTgt spid="11642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429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5315" name="Rectangle 3"/>
          <p:cNvSpPr>
            <a:spLocks noGrp="1" noChangeArrowheads="1"/>
          </p:cNvSpPr>
          <p:nvPr>
            <p:ph type="body" idx="1"/>
          </p:nvPr>
        </p:nvSpPr>
        <p:spPr>
          <a:xfrm>
            <a:off x="457200" y="1752600"/>
            <a:ext cx="8153400" cy="4419600"/>
          </a:xfrm>
        </p:spPr>
        <p:txBody>
          <a:bodyPr/>
          <a:lstStyle/>
          <a:p>
            <a:pPr eaLnBrk="1" hangingPunct="1">
              <a:lnSpc>
                <a:spcPct val="90000"/>
              </a:lnSpc>
            </a:pPr>
            <a:r>
              <a:rPr lang="en-US" altLang="zh-CN" dirty="0" smtClean="0">
                <a:solidFill>
                  <a:schemeClr val="accent2"/>
                </a:solidFill>
              </a:rPr>
              <a:t>VFS</a:t>
            </a:r>
            <a:r>
              <a:rPr lang="zh-CN" altLang="en-US" dirty="0" smtClean="0">
                <a:solidFill>
                  <a:schemeClr val="accent2"/>
                </a:solidFill>
              </a:rPr>
              <a:t>接口：</a:t>
            </a:r>
            <a:r>
              <a:rPr lang="zh-CN" altLang="en-US" dirty="0" smtClean="0">
                <a:solidFill>
                  <a:srgbClr val="0000FF"/>
                </a:solidFill>
              </a:rPr>
              <a:t>如同标准的的文件系统“总线”</a:t>
            </a:r>
            <a:r>
              <a:rPr lang="zh-CN" altLang="en-US" dirty="0" smtClean="0"/>
              <a:t>，让用户通过同</a:t>
            </a:r>
            <a:r>
              <a:rPr lang="zh-CN" altLang="en-US" dirty="0" smtClean="0">
                <a:solidFill>
                  <a:srgbClr val="0000FF"/>
                </a:solidFill>
              </a:rPr>
              <a:t>一组系统调用接口</a:t>
            </a:r>
            <a:r>
              <a:rPr lang="zh-CN" altLang="en-US" dirty="0" smtClean="0"/>
              <a:t>来管理和操作不同类型文件系统上的文件。这个统一的、抽象的、虚拟的文件系统接口，被称为</a:t>
            </a:r>
            <a:r>
              <a:rPr lang="en-US" altLang="zh-CN" dirty="0" smtClean="0"/>
              <a:t>VFS</a:t>
            </a:r>
            <a:r>
              <a:rPr lang="zh-CN" altLang="en-US" dirty="0" smtClean="0"/>
              <a:t>接口，它主要包含一组标准的文件操作接口</a:t>
            </a:r>
          </a:p>
          <a:p>
            <a:pPr eaLnBrk="1" hangingPunct="1">
              <a:lnSpc>
                <a:spcPct val="90000"/>
              </a:lnSpc>
            </a:pPr>
            <a:r>
              <a:rPr lang="zh-CN" altLang="en-US" dirty="0" smtClean="0"/>
              <a:t>将内核比作计算机主板，那么</a:t>
            </a:r>
            <a:r>
              <a:rPr lang="en-US" altLang="zh-CN" dirty="0" smtClean="0"/>
              <a:t>VFS</a:t>
            </a:r>
            <a:r>
              <a:rPr lang="zh-CN" altLang="en-US" dirty="0" smtClean="0"/>
              <a:t>就是一种标准的系统总线，</a:t>
            </a:r>
            <a:r>
              <a:rPr lang="zh-CN" altLang="en-US" dirty="0" smtClean="0">
                <a:solidFill>
                  <a:srgbClr val="0000FF"/>
                </a:solidFill>
              </a:rPr>
              <a:t>各种文件系统</a:t>
            </a:r>
            <a:r>
              <a:rPr lang="zh-CN" altLang="en-US" dirty="0" smtClean="0"/>
              <a:t>就是插在该总线上的子卡，虽然各个子卡的内部线路不同，但在总线接口处一致。 同时，内核看到的所有子卡的特性也映射为具有共性的几类。</a:t>
            </a:r>
          </a:p>
        </p:txBody>
      </p:sp>
      <p:sp>
        <p:nvSpPr>
          <p:cNvPr id="5" name="Rectangle 2"/>
          <p:cNvSpPr>
            <a:spLocks noGrp="1" noChangeArrowheads="1"/>
          </p:cNvSpPr>
          <p:nvPr>
            <p:ph type="title"/>
          </p:nvPr>
        </p:nvSpPr>
        <p:spPr>
          <a:xfrm>
            <a:off x="722313" y="260350"/>
            <a:ext cx="8421687" cy="1241425"/>
          </a:xfrm>
        </p:spPr>
        <p:txBody>
          <a:bodyPr/>
          <a:lstStyle/>
          <a:p>
            <a:pPr eaLnBrk="1" hangingPunct="1"/>
            <a:r>
              <a:rPr lang="en-US" altLang="zh-CN" dirty="0" smtClean="0"/>
              <a:t>7.2 </a:t>
            </a:r>
            <a:r>
              <a:rPr lang="zh-CN" altLang="en-US" dirty="0" smtClean="0"/>
              <a:t>虚拟文件系统</a:t>
            </a:r>
            <a:r>
              <a:rPr lang="en-US" altLang="zh-CN" dirty="0" smtClean="0"/>
              <a:t>VFS</a:t>
            </a:r>
            <a:r>
              <a:rPr lang="zh-CN" altLang="en-US" dirty="0" smtClean="0"/>
              <a:t>－引入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65315">
                                            <p:txEl>
                                              <p:pRg st="0" end="0"/>
                                            </p:txEl>
                                          </p:spTgt>
                                        </p:tgtEl>
                                        <p:attrNameLst>
                                          <p:attrName>style.visibility</p:attrName>
                                        </p:attrNameLst>
                                      </p:cBhvr>
                                      <p:to>
                                        <p:strVal val="visible"/>
                                      </p:to>
                                    </p:set>
                                    <p:animEffect transition="in" filter="blinds(horizontal)">
                                      <p:cBhvr>
                                        <p:cTn id="7" dur="500"/>
                                        <p:tgtEl>
                                          <p:spTgt spid="1165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65315">
                                            <p:txEl>
                                              <p:pRg st="1" end="1"/>
                                            </p:txEl>
                                          </p:spTgt>
                                        </p:tgtEl>
                                        <p:attrNameLst>
                                          <p:attrName>style.visibility</p:attrName>
                                        </p:attrNameLst>
                                      </p:cBhvr>
                                      <p:to>
                                        <p:strVal val="visible"/>
                                      </p:to>
                                    </p:set>
                                    <p:animEffect transition="in" filter="blinds(horizontal)">
                                      <p:cBhvr>
                                        <p:cTn id="12" dur="500"/>
                                        <p:tgtEl>
                                          <p:spTgt spid="11653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531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5" name="Group 5"/>
          <p:cNvGrpSpPr>
            <a:grpSpLocks/>
          </p:cNvGrpSpPr>
          <p:nvPr/>
        </p:nvGrpSpPr>
        <p:grpSpPr bwMode="auto">
          <a:xfrm>
            <a:off x="684213" y="1425575"/>
            <a:ext cx="7416800" cy="5114925"/>
            <a:chOff x="431" y="898"/>
            <a:chExt cx="4672" cy="3222"/>
          </a:xfrm>
        </p:grpSpPr>
        <p:sp>
          <p:nvSpPr>
            <p:cNvPr id="13316" name="AutoShape 6"/>
            <p:cNvSpPr>
              <a:spLocks noChangeArrowheads="1"/>
            </p:cNvSpPr>
            <p:nvPr/>
          </p:nvSpPr>
          <p:spPr bwMode="auto">
            <a:xfrm>
              <a:off x="3787" y="1570"/>
              <a:ext cx="1316" cy="681"/>
            </a:xfrm>
            <a:prstGeom prst="roundRect">
              <a:avLst>
                <a:gd name="adj" fmla="val 16667"/>
              </a:avLst>
            </a:prstGeom>
            <a:solidFill>
              <a:srgbClr val="990099"/>
            </a:solidFill>
            <a:ln w="9525" algn="ctr">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17" name="Line 7"/>
            <p:cNvSpPr>
              <a:spLocks noChangeShapeType="1"/>
            </p:cNvSpPr>
            <p:nvPr/>
          </p:nvSpPr>
          <p:spPr bwMode="auto">
            <a:xfrm>
              <a:off x="431" y="1207"/>
              <a:ext cx="77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8" name="Line 8"/>
            <p:cNvSpPr>
              <a:spLocks noChangeShapeType="1"/>
            </p:cNvSpPr>
            <p:nvPr/>
          </p:nvSpPr>
          <p:spPr bwMode="auto">
            <a:xfrm>
              <a:off x="1474" y="1207"/>
              <a:ext cx="77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9" name="AutoShape 9"/>
            <p:cNvSpPr>
              <a:spLocks noChangeArrowheads="1"/>
            </p:cNvSpPr>
            <p:nvPr/>
          </p:nvSpPr>
          <p:spPr bwMode="auto">
            <a:xfrm>
              <a:off x="1474" y="1570"/>
              <a:ext cx="771" cy="318"/>
            </a:xfrm>
            <a:prstGeom prst="roundRect">
              <a:avLst>
                <a:gd name="adj" fmla="val 16667"/>
              </a:avLst>
            </a:prstGeom>
            <a:solidFill>
              <a:schemeClr val="bg1"/>
            </a:solidFill>
            <a:ln w="9525" algn="ctr">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文件管理器</a:t>
              </a:r>
            </a:p>
          </p:txBody>
        </p:sp>
        <p:sp>
          <p:nvSpPr>
            <p:cNvPr id="13320" name="AutoShape 10"/>
            <p:cNvSpPr>
              <a:spLocks noChangeArrowheads="1"/>
            </p:cNvSpPr>
            <p:nvPr/>
          </p:nvSpPr>
          <p:spPr bwMode="auto">
            <a:xfrm>
              <a:off x="521" y="2387"/>
              <a:ext cx="589" cy="272"/>
            </a:xfrm>
            <a:prstGeom prst="roundRect">
              <a:avLst>
                <a:gd name="adj" fmla="val 16667"/>
              </a:avLst>
            </a:prstGeom>
            <a:solidFill>
              <a:schemeClr val="bg1"/>
            </a:solidFill>
            <a:ln w="9525" algn="ctr">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设备驱动</a:t>
              </a:r>
            </a:p>
          </p:txBody>
        </p:sp>
        <p:sp>
          <p:nvSpPr>
            <p:cNvPr id="13321" name="AutoShape 11"/>
            <p:cNvSpPr>
              <a:spLocks noChangeArrowheads="1"/>
            </p:cNvSpPr>
            <p:nvPr/>
          </p:nvSpPr>
          <p:spPr bwMode="auto">
            <a:xfrm>
              <a:off x="521" y="3385"/>
              <a:ext cx="576" cy="363"/>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磁盘</a:t>
              </a:r>
            </a:p>
          </p:txBody>
        </p:sp>
        <p:sp>
          <p:nvSpPr>
            <p:cNvPr id="13322" name="Line 12"/>
            <p:cNvSpPr>
              <a:spLocks noChangeShapeType="1"/>
            </p:cNvSpPr>
            <p:nvPr/>
          </p:nvSpPr>
          <p:spPr bwMode="auto">
            <a:xfrm>
              <a:off x="657" y="1207"/>
              <a:ext cx="0" cy="11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3" name="Line 13"/>
            <p:cNvSpPr>
              <a:spLocks noChangeShapeType="1"/>
            </p:cNvSpPr>
            <p:nvPr/>
          </p:nvSpPr>
          <p:spPr bwMode="auto">
            <a:xfrm flipV="1">
              <a:off x="930" y="1207"/>
              <a:ext cx="0" cy="11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4" name="Line 14"/>
            <p:cNvSpPr>
              <a:spLocks noChangeShapeType="1"/>
            </p:cNvSpPr>
            <p:nvPr/>
          </p:nvSpPr>
          <p:spPr bwMode="auto">
            <a:xfrm>
              <a:off x="1655" y="1207"/>
              <a:ext cx="0" cy="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5" name="Line 15"/>
            <p:cNvSpPr>
              <a:spLocks noChangeShapeType="1"/>
            </p:cNvSpPr>
            <p:nvPr/>
          </p:nvSpPr>
          <p:spPr bwMode="auto">
            <a:xfrm flipV="1">
              <a:off x="1973" y="1207"/>
              <a:ext cx="0" cy="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6" name="Line 16"/>
            <p:cNvSpPr>
              <a:spLocks noChangeShapeType="1"/>
            </p:cNvSpPr>
            <p:nvPr/>
          </p:nvSpPr>
          <p:spPr bwMode="auto">
            <a:xfrm>
              <a:off x="657" y="2659"/>
              <a:ext cx="0" cy="72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7" name="Line 17"/>
            <p:cNvSpPr>
              <a:spLocks noChangeShapeType="1"/>
            </p:cNvSpPr>
            <p:nvPr/>
          </p:nvSpPr>
          <p:spPr bwMode="auto">
            <a:xfrm flipV="1">
              <a:off x="930" y="2659"/>
              <a:ext cx="0" cy="72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8" name="Text Box 18"/>
            <p:cNvSpPr txBox="1">
              <a:spLocks noChangeArrowheads="1"/>
            </p:cNvSpPr>
            <p:nvPr/>
          </p:nvSpPr>
          <p:spPr bwMode="auto">
            <a:xfrm>
              <a:off x="471" y="902"/>
              <a:ext cx="6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solidFill>
                    <a:schemeClr val="accent2"/>
                  </a:solidFill>
                  <a:latin typeface="Arial" panose="020B0604020202020204" pitchFamily="34" charset="0"/>
                </a:rPr>
                <a:t>设备</a:t>
              </a:r>
              <a:r>
                <a:rPr lang="en-US" altLang="zh-CN" sz="1800" b="1">
                  <a:solidFill>
                    <a:schemeClr val="accent2"/>
                  </a:solidFill>
                  <a:latin typeface="Arial" panose="020B0604020202020204" pitchFamily="34" charset="0"/>
                </a:rPr>
                <a:t>API</a:t>
              </a:r>
            </a:p>
          </p:txBody>
        </p:sp>
        <p:sp>
          <p:nvSpPr>
            <p:cNvPr id="13329" name="Text Box 19"/>
            <p:cNvSpPr txBox="1">
              <a:spLocks noChangeArrowheads="1"/>
            </p:cNvSpPr>
            <p:nvPr/>
          </p:nvSpPr>
          <p:spPr bwMode="auto">
            <a:xfrm>
              <a:off x="1515" y="906"/>
              <a:ext cx="6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solidFill>
                    <a:schemeClr val="accent2"/>
                  </a:solidFill>
                  <a:latin typeface="Arial" panose="020B0604020202020204" pitchFamily="34" charset="0"/>
                </a:rPr>
                <a:t>文件</a:t>
              </a:r>
              <a:r>
                <a:rPr lang="en-US" altLang="zh-CN" sz="1800" b="1">
                  <a:solidFill>
                    <a:schemeClr val="accent2"/>
                  </a:solidFill>
                  <a:latin typeface="Arial" panose="020B0604020202020204" pitchFamily="34" charset="0"/>
                </a:rPr>
                <a:t>API</a:t>
              </a:r>
            </a:p>
          </p:txBody>
        </p:sp>
        <p:sp>
          <p:nvSpPr>
            <p:cNvPr id="13330" name="Text Box 20"/>
            <p:cNvSpPr txBox="1">
              <a:spLocks noChangeArrowheads="1"/>
            </p:cNvSpPr>
            <p:nvPr/>
          </p:nvSpPr>
          <p:spPr bwMode="auto">
            <a:xfrm>
              <a:off x="839" y="3884"/>
              <a:ext cx="9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传统文件系统</a:t>
              </a:r>
            </a:p>
          </p:txBody>
        </p:sp>
        <p:sp>
          <p:nvSpPr>
            <p:cNvPr id="13331" name="Line 21"/>
            <p:cNvSpPr>
              <a:spLocks noChangeShapeType="1"/>
            </p:cNvSpPr>
            <p:nvPr/>
          </p:nvSpPr>
          <p:spPr bwMode="auto">
            <a:xfrm>
              <a:off x="2971" y="1203"/>
              <a:ext cx="77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2" name="Line 22"/>
            <p:cNvSpPr>
              <a:spLocks noChangeShapeType="1"/>
            </p:cNvSpPr>
            <p:nvPr/>
          </p:nvSpPr>
          <p:spPr bwMode="auto">
            <a:xfrm>
              <a:off x="4059" y="1203"/>
              <a:ext cx="77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3" name="AutoShape 23"/>
            <p:cNvSpPr>
              <a:spLocks noChangeArrowheads="1"/>
            </p:cNvSpPr>
            <p:nvPr/>
          </p:nvSpPr>
          <p:spPr bwMode="auto">
            <a:xfrm>
              <a:off x="4059" y="1632"/>
              <a:ext cx="771" cy="227"/>
            </a:xfrm>
            <a:prstGeom prst="roundRect">
              <a:avLst>
                <a:gd name="adj" fmla="val 16667"/>
              </a:avLst>
            </a:prstGeom>
            <a:solidFill>
              <a:schemeClr val="bg1"/>
            </a:solidFill>
            <a:ln w="9525" algn="ctr">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文件管理器</a:t>
              </a:r>
            </a:p>
          </p:txBody>
        </p:sp>
        <p:sp>
          <p:nvSpPr>
            <p:cNvPr id="13334" name="AutoShape 24"/>
            <p:cNvSpPr>
              <a:spLocks noChangeArrowheads="1"/>
            </p:cNvSpPr>
            <p:nvPr/>
          </p:nvSpPr>
          <p:spPr bwMode="auto">
            <a:xfrm>
              <a:off x="2925" y="2795"/>
              <a:ext cx="953" cy="272"/>
            </a:xfrm>
            <a:prstGeom prst="roundRect">
              <a:avLst>
                <a:gd name="adj" fmla="val 16667"/>
              </a:avLst>
            </a:prstGeom>
            <a:solidFill>
              <a:schemeClr val="bg1"/>
            </a:solidFill>
            <a:ln w="9525" algn="ctr">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设备驱动</a:t>
              </a:r>
            </a:p>
          </p:txBody>
        </p:sp>
        <p:sp>
          <p:nvSpPr>
            <p:cNvPr id="13335" name="AutoShape 25"/>
            <p:cNvSpPr>
              <a:spLocks noChangeArrowheads="1"/>
            </p:cNvSpPr>
            <p:nvPr/>
          </p:nvSpPr>
          <p:spPr bwMode="auto">
            <a:xfrm>
              <a:off x="3061" y="3381"/>
              <a:ext cx="576" cy="363"/>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磁盘</a:t>
              </a:r>
            </a:p>
          </p:txBody>
        </p:sp>
        <p:sp>
          <p:nvSpPr>
            <p:cNvPr id="13336" name="Line 26"/>
            <p:cNvSpPr>
              <a:spLocks noChangeShapeType="1"/>
            </p:cNvSpPr>
            <p:nvPr/>
          </p:nvSpPr>
          <p:spPr bwMode="auto">
            <a:xfrm>
              <a:off x="3197" y="1203"/>
              <a:ext cx="1" cy="159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7" name="Line 27"/>
            <p:cNvSpPr>
              <a:spLocks noChangeShapeType="1"/>
            </p:cNvSpPr>
            <p:nvPr/>
          </p:nvSpPr>
          <p:spPr bwMode="auto">
            <a:xfrm flipV="1">
              <a:off x="3515" y="1203"/>
              <a:ext cx="0" cy="159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8" name="Line 28"/>
            <p:cNvSpPr>
              <a:spLocks noChangeShapeType="1"/>
            </p:cNvSpPr>
            <p:nvPr/>
          </p:nvSpPr>
          <p:spPr bwMode="auto">
            <a:xfrm>
              <a:off x="4240" y="1203"/>
              <a:ext cx="0" cy="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9" name="Line 29"/>
            <p:cNvSpPr>
              <a:spLocks noChangeShapeType="1"/>
            </p:cNvSpPr>
            <p:nvPr/>
          </p:nvSpPr>
          <p:spPr bwMode="auto">
            <a:xfrm flipV="1">
              <a:off x="4558" y="1203"/>
              <a:ext cx="0" cy="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0" name="Text Box 30"/>
            <p:cNvSpPr txBox="1">
              <a:spLocks noChangeArrowheads="1"/>
            </p:cNvSpPr>
            <p:nvPr/>
          </p:nvSpPr>
          <p:spPr bwMode="auto">
            <a:xfrm>
              <a:off x="2660" y="898"/>
              <a:ext cx="11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1800" b="1">
                  <a:solidFill>
                    <a:schemeClr val="accent2"/>
                  </a:solidFill>
                  <a:latin typeface="Arial" panose="020B0604020202020204" pitchFamily="34" charset="0"/>
                </a:rPr>
                <a:t>POSIX </a:t>
              </a:r>
              <a:r>
                <a:rPr lang="zh-CN" altLang="en-US" sz="1800" b="1">
                  <a:solidFill>
                    <a:schemeClr val="accent2"/>
                  </a:solidFill>
                  <a:latin typeface="Arial" panose="020B0604020202020204" pitchFamily="34" charset="0"/>
                </a:rPr>
                <a:t>文件 </a:t>
              </a:r>
              <a:r>
                <a:rPr lang="en-US" altLang="zh-CN" sz="1800" b="1">
                  <a:solidFill>
                    <a:schemeClr val="accent2"/>
                  </a:solidFill>
                  <a:latin typeface="Arial" panose="020B0604020202020204" pitchFamily="34" charset="0"/>
                </a:rPr>
                <a:t>API</a:t>
              </a:r>
            </a:p>
          </p:txBody>
        </p:sp>
        <p:sp>
          <p:nvSpPr>
            <p:cNvPr id="13341" name="Text Box 31"/>
            <p:cNvSpPr txBox="1">
              <a:spLocks noChangeArrowheads="1"/>
            </p:cNvSpPr>
            <p:nvPr/>
          </p:nvSpPr>
          <p:spPr bwMode="auto">
            <a:xfrm>
              <a:off x="3932" y="902"/>
              <a:ext cx="10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1800" b="1">
                  <a:solidFill>
                    <a:schemeClr val="accent2"/>
                  </a:solidFill>
                  <a:latin typeface="Arial" panose="020B0604020202020204" pitchFamily="34" charset="0"/>
                </a:rPr>
                <a:t>POSIX</a:t>
              </a:r>
              <a:r>
                <a:rPr lang="zh-CN" altLang="en-US" sz="1800" b="1">
                  <a:solidFill>
                    <a:schemeClr val="accent2"/>
                  </a:solidFill>
                  <a:latin typeface="Arial" panose="020B0604020202020204" pitchFamily="34" charset="0"/>
                </a:rPr>
                <a:t>文件</a:t>
              </a:r>
              <a:r>
                <a:rPr lang="en-US" altLang="zh-CN" sz="1800" b="1">
                  <a:solidFill>
                    <a:schemeClr val="accent2"/>
                  </a:solidFill>
                  <a:latin typeface="Arial" panose="020B0604020202020204" pitchFamily="34" charset="0"/>
                </a:rPr>
                <a:t>API</a:t>
              </a:r>
            </a:p>
          </p:txBody>
        </p:sp>
        <p:sp>
          <p:nvSpPr>
            <p:cNvPr id="13342" name="Text Box 32"/>
            <p:cNvSpPr txBox="1">
              <a:spLocks noChangeArrowheads="1"/>
            </p:cNvSpPr>
            <p:nvPr/>
          </p:nvSpPr>
          <p:spPr bwMode="auto">
            <a:xfrm>
              <a:off x="3240" y="3889"/>
              <a:ext cx="10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1800" b="1">
                  <a:latin typeface="Arial" panose="020B0604020202020204" pitchFamily="34" charset="0"/>
                </a:rPr>
                <a:t>Linux</a:t>
              </a:r>
              <a:r>
                <a:rPr lang="zh-CN" altLang="en-US" sz="1800" b="1">
                  <a:latin typeface="Arial" panose="020B0604020202020204" pitchFamily="34" charset="0"/>
                </a:rPr>
                <a:t>文件系统</a:t>
              </a:r>
            </a:p>
          </p:txBody>
        </p:sp>
        <p:sp>
          <p:nvSpPr>
            <p:cNvPr id="13343" name="AutoShape 33"/>
            <p:cNvSpPr>
              <a:spLocks noChangeArrowheads="1"/>
            </p:cNvSpPr>
            <p:nvPr/>
          </p:nvSpPr>
          <p:spPr bwMode="auto">
            <a:xfrm>
              <a:off x="3923" y="1949"/>
              <a:ext cx="1089" cy="227"/>
            </a:xfrm>
            <a:prstGeom prst="roundRect">
              <a:avLst>
                <a:gd name="adj" fmla="val 16667"/>
              </a:avLst>
            </a:prstGeom>
            <a:solidFill>
              <a:schemeClr val="bg1"/>
            </a:solidFill>
            <a:ln w="9525" algn="ctr">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1800" b="1">
                  <a:latin typeface="Arial" panose="020B0604020202020204" pitchFamily="34" charset="0"/>
                </a:rPr>
                <a:t>设备独立转换器</a:t>
              </a:r>
            </a:p>
          </p:txBody>
        </p:sp>
        <p:sp>
          <p:nvSpPr>
            <p:cNvPr id="13344" name="Line 34"/>
            <p:cNvSpPr>
              <a:spLocks noChangeShapeType="1"/>
            </p:cNvSpPr>
            <p:nvPr/>
          </p:nvSpPr>
          <p:spPr bwMode="auto">
            <a:xfrm>
              <a:off x="1655" y="1888"/>
              <a:ext cx="0"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5" name="Line 35"/>
            <p:cNvSpPr>
              <a:spLocks noChangeShapeType="1"/>
            </p:cNvSpPr>
            <p:nvPr/>
          </p:nvSpPr>
          <p:spPr bwMode="auto">
            <a:xfrm>
              <a:off x="748" y="2115"/>
              <a:ext cx="9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6" name="Line 36"/>
            <p:cNvSpPr>
              <a:spLocks noChangeShapeType="1"/>
            </p:cNvSpPr>
            <p:nvPr/>
          </p:nvSpPr>
          <p:spPr bwMode="auto">
            <a:xfrm>
              <a:off x="748" y="2115"/>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7" name="Line 37"/>
            <p:cNvSpPr>
              <a:spLocks noChangeShapeType="1"/>
            </p:cNvSpPr>
            <p:nvPr/>
          </p:nvSpPr>
          <p:spPr bwMode="auto">
            <a:xfrm flipV="1">
              <a:off x="1020" y="2160"/>
              <a:ext cx="0"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8" name="Line 38"/>
            <p:cNvSpPr>
              <a:spLocks noChangeShapeType="1"/>
            </p:cNvSpPr>
            <p:nvPr/>
          </p:nvSpPr>
          <p:spPr bwMode="auto">
            <a:xfrm>
              <a:off x="1020" y="2160"/>
              <a:ext cx="10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9" name="Line 39"/>
            <p:cNvSpPr>
              <a:spLocks noChangeShapeType="1"/>
            </p:cNvSpPr>
            <p:nvPr/>
          </p:nvSpPr>
          <p:spPr bwMode="auto">
            <a:xfrm flipV="1">
              <a:off x="2064" y="1888"/>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0" name="Line 40"/>
            <p:cNvSpPr>
              <a:spLocks noChangeShapeType="1"/>
            </p:cNvSpPr>
            <p:nvPr/>
          </p:nvSpPr>
          <p:spPr bwMode="auto">
            <a:xfrm>
              <a:off x="4331" y="2251"/>
              <a:ext cx="0"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1" name="Line 41"/>
            <p:cNvSpPr>
              <a:spLocks noChangeShapeType="1"/>
            </p:cNvSpPr>
            <p:nvPr/>
          </p:nvSpPr>
          <p:spPr bwMode="auto">
            <a:xfrm>
              <a:off x="3424" y="2478"/>
              <a:ext cx="90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2" name="Line 42"/>
            <p:cNvSpPr>
              <a:spLocks noChangeShapeType="1"/>
            </p:cNvSpPr>
            <p:nvPr/>
          </p:nvSpPr>
          <p:spPr bwMode="auto">
            <a:xfrm>
              <a:off x="3696" y="2523"/>
              <a:ext cx="10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3" name="Line 43"/>
            <p:cNvSpPr>
              <a:spLocks noChangeShapeType="1"/>
            </p:cNvSpPr>
            <p:nvPr/>
          </p:nvSpPr>
          <p:spPr bwMode="auto">
            <a:xfrm flipV="1">
              <a:off x="4740" y="2251"/>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4" name="Line 44"/>
            <p:cNvSpPr>
              <a:spLocks noChangeShapeType="1"/>
            </p:cNvSpPr>
            <p:nvPr/>
          </p:nvSpPr>
          <p:spPr bwMode="auto">
            <a:xfrm>
              <a:off x="3424" y="2478"/>
              <a:ext cx="0" cy="31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5" name="Line 45"/>
            <p:cNvSpPr>
              <a:spLocks noChangeShapeType="1"/>
            </p:cNvSpPr>
            <p:nvPr/>
          </p:nvSpPr>
          <p:spPr bwMode="auto">
            <a:xfrm>
              <a:off x="3198" y="3067"/>
              <a:ext cx="0" cy="31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6" name="Line 46"/>
            <p:cNvSpPr>
              <a:spLocks noChangeShapeType="1"/>
            </p:cNvSpPr>
            <p:nvPr/>
          </p:nvSpPr>
          <p:spPr bwMode="auto">
            <a:xfrm flipV="1">
              <a:off x="3424" y="3067"/>
              <a:ext cx="0" cy="31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7" name="Line 47"/>
            <p:cNvSpPr>
              <a:spLocks noChangeShapeType="1"/>
            </p:cNvSpPr>
            <p:nvPr/>
          </p:nvSpPr>
          <p:spPr bwMode="auto">
            <a:xfrm>
              <a:off x="3696" y="2523"/>
              <a:ext cx="0" cy="2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7" name="Rectangle 2"/>
          <p:cNvSpPr>
            <a:spLocks noGrp="1" noChangeArrowheads="1"/>
          </p:cNvSpPr>
          <p:nvPr>
            <p:ph type="title"/>
          </p:nvPr>
        </p:nvSpPr>
        <p:spPr>
          <a:xfrm>
            <a:off x="381000" y="381000"/>
            <a:ext cx="8421688" cy="1241425"/>
          </a:xfrm>
        </p:spPr>
        <p:txBody>
          <a:bodyPr/>
          <a:lstStyle/>
          <a:p>
            <a:pPr eaLnBrk="1" hangingPunct="1"/>
            <a:r>
              <a:rPr lang="en-US" altLang="zh-CN" sz="3800" dirty="0" smtClean="0">
                <a:solidFill>
                  <a:schemeClr val="tx1"/>
                </a:solidFill>
              </a:rPr>
              <a:t> Linux</a:t>
            </a:r>
            <a:r>
              <a:rPr lang="zh-CN" altLang="en-US" sz="3800" dirty="0" smtClean="0">
                <a:solidFill>
                  <a:schemeClr val="tx1"/>
                </a:solidFill>
              </a:rPr>
              <a:t>的虚拟文件系统接口</a:t>
            </a:r>
            <a:r>
              <a:rPr lang="en-US" altLang="zh-CN" sz="3800" dirty="0" smtClean="0">
                <a:solidFill>
                  <a:schemeClr val="tx1"/>
                </a:solidFill>
              </a:rPr>
              <a:t>-</a:t>
            </a:r>
            <a:r>
              <a:rPr lang="en-US" altLang="zh-CN" sz="3800" dirty="0" smtClean="0">
                <a:solidFill>
                  <a:srgbClr val="0000FF"/>
                </a:solidFill>
              </a:rPr>
              <a:t>VFS</a:t>
            </a:r>
            <a:r>
              <a:rPr lang="zh-CN" altLang="en-US" sz="3800" dirty="0" smtClean="0">
                <a:solidFill>
                  <a:srgbClr val="0000FF"/>
                </a:solidFill>
              </a:rPr>
              <a:t>接口</a:t>
            </a:r>
          </a:p>
        </p:txBody>
      </p:sp>
    </p:spTree>
    <p:extLst>
      <p:ext uri="{BB962C8B-B14F-4D97-AF65-F5344CB8AC3E}">
        <p14:creationId xmlns:p14="http://schemas.microsoft.com/office/powerpoint/2010/main" val="35208914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p:txBody>
          <a:bodyPr/>
          <a:lstStyle/>
          <a:p>
            <a:pPr eaLnBrk="1" hangingPunct="1"/>
            <a:r>
              <a:rPr lang="en-US" altLang="zh-CN" smtClean="0"/>
              <a:t>Linux</a:t>
            </a:r>
            <a:r>
              <a:rPr lang="zh-CN" altLang="en-US" smtClean="0"/>
              <a:t>与其他类</a:t>
            </a:r>
            <a:r>
              <a:rPr lang="en-US" altLang="zh-CN" smtClean="0"/>
              <a:t>Unix</a:t>
            </a:r>
            <a:r>
              <a:rPr lang="zh-CN" altLang="en-US" smtClean="0"/>
              <a:t>系统一样，采用虚拟文件系统</a:t>
            </a:r>
            <a:r>
              <a:rPr lang="en-US" altLang="zh-CN" smtClean="0"/>
              <a:t>VFS</a:t>
            </a:r>
            <a:r>
              <a:rPr lang="zh-CN" altLang="en-US" smtClean="0"/>
              <a:t>来达到支持多种文件系统格式的目标</a:t>
            </a:r>
          </a:p>
          <a:p>
            <a:pPr eaLnBrk="1" hangingPunct="1"/>
            <a:r>
              <a:rPr lang="zh-CN" altLang="en-US" smtClean="0"/>
              <a:t>虚拟文件系统</a:t>
            </a:r>
            <a:r>
              <a:rPr lang="en-US" altLang="zh-CN" smtClean="0"/>
              <a:t>(Virtual Filesystem,Virtual Filesystem Switch)</a:t>
            </a:r>
          </a:p>
          <a:p>
            <a:pPr lvl="1" eaLnBrk="1" hangingPunct="1"/>
            <a:r>
              <a:rPr lang="en-US" altLang="zh-CN" smtClean="0"/>
              <a:t>VFS</a:t>
            </a:r>
            <a:r>
              <a:rPr lang="zh-CN" altLang="en-US" smtClean="0"/>
              <a:t>是一个软件层，用来处理与</a:t>
            </a:r>
            <a:r>
              <a:rPr lang="en-US" altLang="zh-CN" smtClean="0"/>
              <a:t>Linux/Unix</a:t>
            </a:r>
            <a:r>
              <a:rPr lang="zh-CN" altLang="en-US" smtClean="0"/>
              <a:t>标准文件系统相关的所有系统调用。</a:t>
            </a:r>
          </a:p>
          <a:p>
            <a:pPr lvl="2" eaLnBrk="1" hangingPunct="1"/>
            <a:r>
              <a:rPr lang="zh-CN" altLang="en-US" smtClean="0"/>
              <a:t>是用户应用程序与文件系统实现之间的抽象层</a:t>
            </a:r>
          </a:p>
          <a:p>
            <a:pPr lvl="1" eaLnBrk="1" hangingPunct="1"/>
            <a:r>
              <a:rPr lang="zh-CN" altLang="en-US" smtClean="0"/>
              <a:t>能为各种文件系统提供一个通用的、统一的接口</a:t>
            </a:r>
          </a:p>
        </p:txBody>
      </p:sp>
      <p:sp>
        <p:nvSpPr>
          <p:cNvPr id="5" name="Rectangle 2"/>
          <p:cNvSpPr>
            <a:spLocks noGrp="1" noChangeArrowheads="1"/>
          </p:cNvSpPr>
          <p:nvPr>
            <p:ph type="title"/>
          </p:nvPr>
        </p:nvSpPr>
        <p:spPr>
          <a:xfrm>
            <a:off x="722313" y="260350"/>
            <a:ext cx="8421687" cy="1241425"/>
          </a:xfrm>
        </p:spPr>
        <p:txBody>
          <a:bodyPr/>
          <a:lstStyle/>
          <a:p>
            <a:pPr eaLnBrk="1" hangingPunct="1"/>
            <a:r>
              <a:rPr lang="en-US" altLang="zh-CN" dirty="0" smtClean="0"/>
              <a:t>7.2 </a:t>
            </a:r>
            <a:r>
              <a:rPr lang="zh-CN" altLang="en-US" dirty="0" smtClean="0"/>
              <a:t>虚拟文件系统</a:t>
            </a:r>
            <a:r>
              <a:rPr lang="en-US" altLang="zh-CN" dirty="0" smtClean="0"/>
              <a:t>VFS</a:t>
            </a:r>
            <a:r>
              <a:rPr lang="zh-CN" altLang="en-US" dirty="0" smtClean="0"/>
              <a:t>－引入</a:t>
            </a:r>
          </a:p>
        </p:txBody>
      </p:sp>
    </p:spTree>
    <p:extLst>
      <p:ext uri="{BB962C8B-B14F-4D97-AF65-F5344CB8AC3E}">
        <p14:creationId xmlns:p14="http://schemas.microsoft.com/office/powerpoint/2010/main" val="14845710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lgn="ctr" eaLnBrk="1" hangingPunct="1"/>
            <a:r>
              <a:rPr lang="zh-CN" altLang="en-US" sz="3600" b="1" dirty="0" smtClean="0"/>
              <a:t>举 例</a:t>
            </a:r>
          </a:p>
        </p:txBody>
      </p:sp>
      <p:sp>
        <p:nvSpPr>
          <p:cNvPr id="15363" name="Rectangle 3"/>
          <p:cNvSpPr>
            <a:spLocks noGrp="1" noChangeArrowheads="1"/>
          </p:cNvSpPr>
          <p:nvPr>
            <p:ph type="body" idx="1"/>
          </p:nvPr>
        </p:nvSpPr>
        <p:spPr/>
        <p:txBody>
          <a:bodyPr/>
          <a:lstStyle/>
          <a:p>
            <a:pPr marL="0" indent="0" eaLnBrk="1" hangingPunct="1">
              <a:buNone/>
            </a:pPr>
            <a:r>
              <a:rPr lang="zh-CN" altLang="en-US" dirty="0" smtClean="0"/>
              <a:t>举例：</a:t>
            </a:r>
            <a:r>
              <a:rPr lang="en-US" altLang="zh-CN" dirty="0" smtClean="0"/>
              <a:t>VFS</a:t>
            </a:r>
            <a:r>
              <a:rPr lang="zh-CN" altLang="en-US" dirty="0"/>
              <a:t>在一个简单文件复制操作中的作用</a:t>
            </a:r>
            <a:endParaRPr lang="en-US" altLang="zh-CN" dirty="0" smtClean="0"/>
          </a:p>
          <a:p>
            <a:pPr eaLnBrk="1" hangingPunct="1"/>
            <a:r>
              <a:rPr lang="zh-CN" altLang="en-US" dirty="0" smtClean="0"/>
              <a:t>假设用户输入以下</a:t>
            </a:r>
            <a:r>
              <a:rPr lang="en-US" altLang="zh-CN" dirty="0" smtClean="0"/>
              <a:t>shell</a:t>
            </a:r>
            <a:r>
              <a:rPr lang="zh-CN" altLang="en-US" dirty="0" smtClean="0"/>
              <a:t>命令</a:t>
            </a:r>
          </a:p>
          <a:p>
            <a:pPr lvl="1" eaLnBrk="1" hangingPunct="1">
              <a:buFont typeface="Wingdings" panose="05000000000000000000" pitchFamily="2" charset="2"/>
              <a:buNone/>
            </a:pPr>
            <a:r>
              <a:rPr lang="en-US" altLang="zh-CN" dirty="0" smtClean="0"/>
              <a:t>$ </a:t>
            </a:r>
            <a:r>
              <a:rPr lang="en-US" altLang="zh-CN" dirty="0" err="1" smtClean="0"/>
              <a:t>cp</a:t>
            </a:r>
            <a:r>
              <a:rPr lang="en-US" altLang="zh-CN" dirty="0" smtClean="0"/>
              <a:t> /</a:t>
            </a:r>
            <a:r>
              <a:rPr lang="en-US" altLang="zh-CN" dirty="0" err="1" smtClean="0"/>
              <a:t>usb</a:t>
            </a:r>
            <a:r>
              <a:rPr lang="en-US" altLang="zh-CN" dirty="0" smtClean="0"/>
              <a:t>/TEST       /</a:t>
            </a:r>
            <a:r>
              <a:rPr lang="en-US" altLang="zh-CN" dirty="0" err="1" smtClean="0"/>
              <a:t>tmp</a:t>
            </a:r>
            <a:r>
              <a:rPr lang="en-US" altLang="zh-CN" dirty="0" smtClean="0"/>
              <a:t>/test </a:t>
            </a:r>
          </a:p>
          <a:p>
            <a:pPr eaLnBrk="1" hangingPunct="1"/>
            <a:r>
              <a:rPr lang="zh-CN" altLang="en-US" dirty="0" smtClean="0"/>
              <a:t>其中</a:t>
            </a:r>
            <a:r>
              <a:rPr lang="en-US" altLang="zh-CN" dirty="0" smtClean="0"/>
              <a:t>:</a:t>
            </a:r>
          </a:p>
          <a:p>
            <a:pPr lvl="1" eaLnBrk="1" hangingPunct="1"/>
            <a:r>
              <a:rPr lang="en-US" altLang="zh-CN" dirty="0" smtClean="0"/>
              <a:t>/</a:t>
            </a:r>
            <a:r>
              <a:rPr lang="en-US" altLang="zh-CN" dirty="0" err="1" smtClean="0"/>
              <a:t>usb</a:t>
            </a:r>
            <a:r>
              <a:rPr lang="zh-CN" altLang="en-US" dirty="0" smtClean="0"/>
              <a:t>是</a:t>
            </a:r>
            <a:r>
              <a:rPr lang="en-US" altLang="zh-CN" dirty="0" smtClean="0"/>
              <a:t>MS-DOS</a:t>
            </a:r>
            <a:r>
              <a:rPr lang="zh-CN" altLang="en-US" dirty="0" smtClean="0"/>
              <a:t>的磁盘的一个挂载点（安装点）</a:t>
            </a:r>
          </a:p>
          <a:p>
            <a:pPr lvl="1" eaLnBrk="1" hangingPunct="1"/>
            <a:r>
              <a:rPr lang="en-US" altLang="zh-CN" dirty="0" smtClean="0"/>
              <a:t>/</a:t>
            </a:r>
            <a:r>
              <a:rPr lang="en-US" altLang="zh-CN" dirty="0" err="1" smtClean="0"/>
              <a:t>tmp</a:t>
            </a:r>
            <a:r>
              <a:rPr lang="zh-CN" altLang="en-US" dirty="0" smtClean="0"/>
              <a:t>是</a:t>
            </a:r>
            <a:r>
              <a:rPr lang="en-US" altLang="zh-CN" dirty="0" smtClean="0"/>
              <a:t>Ext2</a:t>
            </a:r>
            <a:r>
              <a:rPr lang="zh-CN" altLang="en-US" dirty="0" smtClean="0"/>
              <a:t>文件系统中的一个目录</a:t>
            </a:r>
          </a:p>
          <a:p>
            <a:pPr eaLnBrk="1" hangingPunct="1"/>
            <a:r>
              <a:rPr lang="zh-CN" altLang="en-US" dirty="0" smtClean="0"/>
              <a:t>对于</a:t>
            </a:r>
            <a:r>
              <a:rPr lang="en-US" altLang="zh-CN" dirty="0" err="1" smtClean="0"/>
              <a:t>cp</a:t>
            </a:r>
            <a:r>
              <a:rPr lang="zh-CN" altLang="en-US" dirty="0" smtClean="0"/>
              <a:t>命令而言，它不需要知道</a:t>
            </a:r>
            <a:r>
              <a:rPr lang="en-US" altLang="zh-CN" dirty="0" smtClean="0"/>
              <a:t>/</a:t>
            </a:r>
            <a:r>
              <a:rPr lang="en-US" altLang="zh-CN" dirty="0" err="1" smtClean="0"/>
              <a:t>usb</a:t>
            </a:r>
            <a:r>
              <a:rPr lang="en-US" altLang="zh-CN" dirty="0" smtClean="0"/>
              <a:t>/TEST</a:t>
            </a:r>
            <a:r>
              <a:rPr lang="zh-CN" altLang="en-US" dirty="0" smtClean="0"/>
              <a:t>和</a:t>
            </a:r>
            <a:r>
              <a:rPr lang="en-US" altLang="zh-CN" dirty="0" smtClean="0"/>
              <a:t>/</a:t>
            </a:r>
            <a:r>
              <a:rPr lang="en-US" altLang="zh-CN" dirty="0" err="1" smtClean="0"/>
              <a:t>tmp</a:t>
            </a:r>
            <a:r>
              <a:rPr lang="en-US" altLang="zh-CN" dirty="0" smtClean="0"/>
              <a:t>/test</a:t>
            </a:r>
            <a:r>
              <a:rPr lang="zh-CN" altLang="en-US" dirty="0" smtClean="0"/>
              <a:t>分别是什么文件系统类型</a:t>
            </a:r>
          </a:p>
          <a:p>
            <a:pPr lvl="1" eaLnBrk="1" hangingPunct="1"/>
            <a:r>
              <a:rPr lang="zh-CN" altLang="en-US" dirty="0" smtClean="0"/>
              <a:t>在</a:t>
            </a:r>
            <a:r>
              <a:rPr lang="en-US" altLang="zh-CN" dirty="0" err="1" smtClean="0"/>
              <a:t>cp</a:t>
            </a:r>
            <a:r>
              <a:rPr lang="zh-CN" altLang="en-US" dirty="0" smtClean="0"/>
              <a:t>命令中，它通过</a:t>
            </a:r>
            <a:r>
              <a:rPr lang="en-US" altLang="zh-CN" dirty="0" smtClean="0"/>
              <a:t>VFS</a:t>
            </a:r>
            <a:r>
              <a:rPr lang="zh-CN" altLang="en-US" dirty="0" smtClean="0"/>
              <a:t>提供的系统调用接口进行文件操作</a:t>
            </a:r>
          </a:p>
        </p:txBody>
      </p:sp>
    </p:spTree>
    <p:extLst>
      <p:ext uri="{BB962C8B-B14F-4D97-AF65-F5344CB8AC3E}">
        <p14:creationId xmlns:p14="http://schemas.microsoft.com/office/powerpoint/2010/main" val="7156044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lgn="ctr" eaLnBrk="1" hangingPunct="1"/>
            <a:r>
              <a:rPr lang="zh-CN" altLang="en-US" sz="4000" dirty="0" smtClean="0"/>
              <a:t>举例</a:t>
            </a:r>
            <a:endParaRPr lang="zh-CN" altLang="zh-CN" sz="4000" dirty="0" smtClean="0"/>
          </a:p>
        </p:txBody>
      </p:sp>
      <p:sp>
        <p:nvSpPr>
          <p:cNvPr id="16387" name="Rectangle 3"/>
          <p:cNvSpPr>
            <a:spLocks noGrp="1" noChangeArrowheads="1"/>
          </p:cNvSpPr>
          <p:nvPr>
            <p:ph type="body" idx="1"/>
          </p:nvPr>
        </p:nvSpPr>
        <p:spPr/>
        <p:txBody>
          <a:bodyPr/>
          <a:lstStyle/>
          <a:p>
            <a:pPr eaLnBrk="1" hangingPunct="1"/>
            <a:endParaRPr lang="zh-CN" altLang="zh-CN" smtClean="0"/>
          </a:p>
        </p:txBody>
      </p:sp>
      <p:pic>
        <p:nvPicPr>
          <p:cNvPr id="163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28775"/>
            <a:ext cx="8675688" cy="513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39458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14400" y="260648"/>
            <a:ext cx="7772400" cy="788987"/>
          </a:xfrm>
        </p:spPr>
        <p:txBody>
          <a:bodyPr/>
          <a:lstStyle/>
          <a:p>
            <a:pPr algn="ctr" eaLnBrk="1" hangingPunct="1"/>
            <a:r>
              <a:rPr lang="en-US" altLang="zh-CN" sz="3800" b="1" dirty="0" smtClean="0"/>
              <a:t>Linux</a:t>
            </a:r>
            <a:r>
              <a:rPr lang="zh-CN" altLang="en-US" sz="3800" b="1" dirty="0" smtClean="0"/>
              <a:t>文件系统的基本组成</a:t>
            </a:r>
          </a:p>
        </p:txBody>
      </p:sp>
      <p:sp>
        <p:nvSpPr>
          <p:cNvPr id="17411" name="Rectangle 3"/>
          <p:cNvSpPr>
            <a:spLocks noGrp="1" noChangeArrowheads="1"/>
          </p:cNvSpPr>
          <p:nvPr>
            <p:ph type="body" idx="1"/>
          </p:nvPr>
        </p:nvSpPr>
        <p:spPr>
          <a:xfrm>
            <a:off x="685800" y="1295400"/>
            <a:ext cx="8077200" cy="2514600"/>
          </a:xfrm>
        </p:spPr>
        <p:txBody>
          <a:bodyPr/>
          <a:lstStyle/>
          <a:p>
            <a:pPr eaLnBrk="1" hangingPunct="1"/>
            <a:r>
              <a:rPr lang="en-US" altLang="zh-CN" smtClean="0">
                <a:ea typeface="song"/>
                <a:cs typeface="song"/>
              </a:rPr>
              <a:t>Linux</a:t>
            </a:r>
            <a:r>
              <a:rPr lang="zh-CN" altLang="en-US" smtClean="0">
                <a:ea typeface="song"/>
                <a:cs typeface="song"/>
              </a:rPr>
              <a:t>的文件系统主要可分为三大块：</a:t>
            </a:r>
          </a:p>
          <a:p>
            <a:pPr lvl="1" eaLnBrk="1" hangingPunct="1"/>
            <a:r>
              <a:rPr lang="zh-CN" altLang="en-US" smtClean="0">
                <a:ea typeface="song"/>
                <a:cs typeface="song"/>
              </a:rPr>
              <a:t>上层的文件系统的系统调用</a:t>
            </a:r>
          </a:p>
          <a:p>
            <a:pPr lvl="1" eaLnBrk="1" hangingPunct="1"/>
            <a:r>
              <a:rPr lang="zh-CN" altLang="en-US" smtClean="0">
                <a:ea typeface="song"/>
                <a:cs typeface="song"/>
              </a:rPr>
              <a:t>虚拟文件系统 </a:t>
            </a:r>
            <a:r>
              <a:rPr lang="en-US" altLang="zh-CN" smtClean="0">
                <a:ea typeface="song"/>
                <a:cs typeface="song"/>
              </a:rPr>
              <a:t>VFS(Virtual File system or  Switch)</a:t>
            </a:r>
          </a:p>
          <a:p>
            <a:pPr lvl="1" eaLnBrk="1" hangingPunct="1"/>
            <a:r>
              <a:rPr lang="zh-CN" altLang="en-US" smtClean="0">
                <a:ea typeface="song"/>
                <a:cs typeface="song"/>
              </a:rPr>
              <a:t>挂载到 </a:t>
            </a:r>
            <a:r>
              <a:rPr lang="en-US" altLang="zh-CN" smtClean="0">
                <a:ea typeface="song"/>
                <a:cs typeface="song"/>
              </a:rPr>
              <a:t>VFS </a:t>
            </a:r>
            <a:r>
              <a:rPr lang="zh-CN" altLang="en-US" smtClean="0">
                <a:ea typeface="song"/>
                <a:cs typeface="song"/>
              </a:rPr>
              <a:t>中的各</a:t>
            </a:r>
            <a:r>
              <a:rPr lang="zh-CN" altLang="en-US" smtClean="0"/>
              <a:t>种</a:t>
            </a:r>
            <a:r>
              <a:rPr lang="zh-CN" altLang="en-US" smtClean="0">
                <a:ea typeface="song"/>
                <a:cs typeface="song"/>
              </a:rPr>
              <a:t>实际文件系统，例如 </a:t>
            </a:r>
            <a:r>
              <a:rPr lang="en-US" altLang="zh-CN" smtClean="0">
                <a:ea typeface="song"/>
                <a:cs typeface="song"/>
              </a:rPr>
              <a:t>ext2</a:t>
            </a:r>
            <a:r>
              <a:rPr lang="zh-CN" altLang="en-US" smtClean="0">
                <a:ea typeface="song"/>
                <a:cs typeface="song"/>
              </a:rPr>
              <a:t>，</a:t>
            </a:r>
            <a:r>
              <a:rPr lang="en-US" altLang="zh-CN" smtClean="0"/>
              <a:t>msdos</a:t>
            </a:r>
            <a:r>
              <a:rPr lang="en-US" altLang="zh-CN" smtClean="0">
                <a:ea typeface="song"/>
                <a:cs typeface="song"/>
              </a:rPr>
              <a:t> </a:t>
            </a:r>
            <a:r>
              <a:rPr lang="zh-CN" altLang="en-US" smtClean="0">
                <a:ea typeface="song"/>
                <a:cs typeface="song"/>
              </a:rPr>
              <a:t>等。</a:t>
            </a:r>
          </a:p>
        </p:txBody>
      </p:sp>
      <p:pic>
        <p:nvPicPr>
          <p:cNvPr id="174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919538"/>
            <a:ext cx="6096000" cy="293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3004968"/>
      </p:ext>
    </p:extLst>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68313" y="333375"/>
            <a:ext cx="8421687" cy="1241425"/>
          </a:xfrm>
        </p:spPr>
        <p:txBody>
          <a:bodyPr/>
          <a:lstStyle/>
          <a:p>
            <a:pPr algn="ctr" eaLnBrk="1" hangingPunct="1"/>
            <a:r>
              <a:rPr lang="en-US" altLang="zh-CN" dirty="0" smtClean="0">
                <a:ea typeface="黑体" panose="02010609060101010101" pitchFamily="49" charset="-122"/>
              </a:rPr>
              <a:t>7.2 </a:t>
            </a:r>
            <a:r>
              <a:rPr lang="zh-CN" altLang="en-US" dirty="0" smtClean="0">
                <a:ea typeface="黑体" panose="02010609060101010101" pitchFamily="49" charset="-122"/>
              </a:rPr>
              <a:t>虚拟文件系统</a:t>
            </a:r>
            <a:r>
              <a:rPr lang="en-US" altLang="zh-CN" dirty="0" smtClean="0">
                <a:ea typeface="黑体" panose="02010609060101010101" pitchFamily="49" charset="-122"/>
              </a:rPr>
              <a:t>VFS</a:t>
            </a:r>
          </a:p>
        </p:txBody>
      </p:sp>
      <p:sp>
        <p:nvSpPr>
          <p:cNvPr id="21507" name="Rectangle 3"/>
          <p:cNvSpPr>
            <a:spLocks noGrp="1" noChangeArrowheads="1"/>
          </p:cNvSpPr>
          <p:nvPr>
            <p:ph type="body" idx="1"/>
          </p:nvPr>
        </p:nvSpPr>
        <p:spPr>
          <a:xfrm>
            <a:off x="684213" y="1828800"/>
            <a:ext cx="7848600" cy="5029200"/>
          </a:xfrm>
        </p:spPr>
        <p:txBody>
          <a:bodyPr/>
          <a:lstStyle/>
          <a:p>
            <a:pPr algn="just" eaLnBrk="1" hangingPunct="1"/>
            <a:r>
              <a:rPr lang="en-US" altLang="zh-CN" smtClean="0">
                <a:latin typeface="Times New Roman" panose="02020603050405020304" pitchFamily="18" charset="0"/>
              </a:rPr>
              <a:t>VFS</a:t>
            </a:r>
            <a:r>
              <a:rPr lang="zh-CN" altLang="en-US" smtClean="0">
                <a:latin typeface="Times New Roman" panose="02020603050405020304" pitchFamily="18" charset="0"/>
              </a:rPr>
              <a:t>接收对文件系统的访问操作请求，并通过</a:t>
            </a:r>
            <a:r>
              <a:rPr lang="en-US" altLang="zh-CN" smtClean="0">
                <a:latin typeface="Times New Roman" panose="02020603050405020304" pitchFamily="18" charset="0"/>
              </a:rPr>
              <a:t>VFS</a:t>
            </a:r>
            <a:r>
              <a:rPr lang="zh-CN" altLang="en-US" smtClean="0">
                <a:latin typeface="Times New Roman" panose="02020603050405020304" pitchFamily="18" charset="0"/>
              </a:rPr>
              <a:t>的操作函数，</a:t>
            </a:r>
            <a:r>
              <a:rPr lang="zh-CN" altLang="en-US" smtClean="0">
                <a:solidFill>
                  <a:schemeClr val="accent2"/>
                </a:solidFill>
                <a:latin typeface="Times New Roman" panose="02020603050405020304" pitchFamily="18" charset="0"/>
              </a:rPr>
              <a:t>按照一定的映射关系把这些访问</a:t>
            </a:r>
            <a:r>
              <a:rPr lang="zh-CN" altLang="en-US" smtClean="0">
                <a:solidFill>
                  <a:srgbClr val="0000FF"/>
                </a:solidFill>
                <a:latin typeface="Times New Roman" panose="02020603050405020304" pitchFamily="18" charset="0"/>
              </a:rPr>
              <a:t>重新定向</a:t>
            </a:r>
            <a:r>
              <a:rPr lang="zh-CN" altLang="en-US" smtClean="0">
                <a:solidFill>
                  <a:schemeClr val="accent2"/>
                </a:solidFill>
                <a:latin typeface="Times New Roman" panose="02020603050405020304" pitchFamily="18" charset="0"/>
              </a:rPr>
              <a:t>到实际文件系统中的相应的函数调用</a:t>
            </a:r>
          </a:p>
          <a:p>
            <a:pPr algn="just" eaLnBrk="1" hangingPunct="1"/>
            <a:r>
              <a:rPr lang="zh-CN" altLang="en-US" smtClean="0">
                <a:latin typeface="Times New Roman" panose="02020603050405020304" pitchFamily="18" charset="0"/>
              </a:rPr>
              <a:t>真正与物理结构有关的具体操作由实际文件系统完成。</a:t>
            </a:r>
            <a:endParaRPr lang="zh-CN" altLang="en-US"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468313" y="1574800"/>
            <a:ext cx="7848600" cy="5029200"/>
          </a:xfrm>
        </p:spPr>
        <p:txBody>
          <a:bodyPr/>
          <a:lstStyle/>
          <a:p>
            <a:pPr eaLnBrk="1" hangingPunct="1"/>
            <a:r>
              <a:rPr lang="en-US" altLang="zh-CN" dirty="0" smtClean="0"/>
              <a:t>VFS</a:t>
            </a:r>
            <a:r>
              <a:rPr lang="zh-CN" altLang="en-US" dirty="0" smtClean="0"/>
              <a:t>提供上</a:t>
            </a:r>
            <a:r>
              <a:rPr lang="en-US" altLang="zh-CN" dirty="0" smtClean="0"/>
              <a:t>/</a:t>
            </a:r>
            <a:r>
              <a:rPr lang="zh-CN" altLang="en-US" dirty="0" smtClean="0"/>
              <a:t>下两类接口</a:t>
            </a:r>
          </a:p>
          <a:p>
            <a:pPr lvl="1" eaLnBrk="1" hangingPunct="1"/>
            <a:r>
              <a:rPr lang="zh-CN" altLang="en-US" dirty="0" smtClean="0"/>
              <a:t>上层接口是提供给用户使用。这些用户包括应用程序和内核的其它管理模块。通过该接口使用</a:t>
            </a:r>
            <a:r>
              <a:rPr lang="en-US" altLang="zh-CN" dirty="0" smtClean="0"/>
              <a:t>I/O</a:t>
            </a:r>
            <a:r>
              <a:rPr lang="zh-CN" altLang="en-US" dirty="0" smtClean="0"/>
              <a:t>系统，如打开，关闭等。</a:t>
            </a:r>
          </a:p>
          <a:p>
            <a:pPr lvl="1" eaLnBrk="1" hangingPunct="1"/>
            <a:r>
              <a:rPr lang="zh-CN" altLang="en-US" dirty="0" smtClean="0"/>
              <a:t>下层接口提供给真实文件系统。</a:t>
            </a:r>
            <a:r>
              <a:rPr lang="en-US" altLang="zh-CN" dirty="0" smtClean="0"/>
              <a:t>VFS</a:t>
            </a:r>
            <a:r>
              <a:rPr lang="zh-CN" altLang="en-US" dirty="0" smtClean="0"/>
              <a:t>支持的每个真实文件系统都提供对这个接口的实现。只要实现了这组接口，</a:t>
            </a:r>
            <a:r>
              <a:rPr lang="en-US" altLang="zh-CN" dirty="0" smtClean="0"/>
              <a:t>VFS</a:t>
            </a:r>
            <a:r>
              <a:rPr lang="zh-CN" altLang="en-US" dirty="0" smtClean="0"/>
              <a:t>就认为它是一个真实的文件系统。</a:t>
            </a:r>
          </a:p>
        </p:txBody>
      </p:sp>
      <p:sp>
        <p:nvSpPr>
          <p:cNvPr id="5" name="Rectangle 2"/>
          <p:cNvSpPr>
            <a:spLocks noGrp="1" noChangeArrowheads="1"/>
          </p:cNvSpPr>
          <p:nvPr>
            <p:ph type="title"/>
          </p:nvPr>
        </p:nvSpPr>
        <p:spPr>
          <a:xfrm>
            <a:off x="468313" y="333375"/>
            <a:ext cx="8421687" cy="1241425"/>
          </a:xfrm>
        </p:spPr>
        <p:txBody>
          <a:bodyPr/>
          <a:lstStyle/>
          <a:p>
            <a:pPr algn="ctr" eaLnBrk="1" hangingPunct="1"/>
            <a:r>
              <a:rPr lang="en-US" altLang="zh-CN" dirty="0" smtClean="0">
                <a:ea typeface="黑体" panose="02010609060101010101" pitchFamily="49" charset="-122"/>
              </a:rPr>
              <a:t>7.2 </a:t>
            </a:r>
            <a:r>
              <a:rPr lang="zh-CN" altLang="en-US" dirty="0" smtClean="0">
                <a:ea typeface="黑体" panose="02010609060101010101" pitchFamily="49" charset="-122"/>
              </a:rPr>
              <a:t>虚拟文件系统</a:t>
            </a:r>
            <a:r>
              <a:rPr lang="en-US" altLang="zh-CN" dirty="0" smtClean="0">
                <a:ea typeface="黑体" panose="02010609060101010101" pitchFamily="49" charset="-122"/>
              </a:rPr>
              <a:t>VFS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Object 2"/>
          <p:cNvGraphicFramePr>
            <a:graphicFrameLocks noGrp="1" noChangeAspect="1"/>
          </p:cNvGraphicFramePr>
          <p:nvPr>
            <p:ph/>
            <p:extLst>
              <p:ext uri="{D42A27DB-BD31-4B8C-83A1-F6EECF244321}">
                <p14:modId xmlns:p14="http://schemas.microsoft.com/office/powerpoint/2010/main" val="2103087565"/>
              </p:ext>
            </p:extLst>
          </p:nvPr>
        </p:nvGraphicFramePr>
        <p:xfrm>
          <a:off x="323850" y="1456977"/>
          <a:ext cx="8640763" cy="4132263"/>
        </p:xfrm>
        <a:graphic>
          <a:graphicData uri="http://schemas.openxmlformats.org/presentationml/2006/ole">
            <mc:AlternateContent xmlns:mc="http://schemas.openxmlformats.org/markup-compatibility/2006">
              <mc:Choice xmlns:v="urn:schemas-microsoft-com:vml" Requires="v">
                <p:oleObj spid="_x0000_s23563" name="位图图像" r:id="rId3" imgW="5276190" imgH="2523810" progId="Paint.Picture">
                  <p:embed/>
                </p:oleObj>
              </mc:Choice>
              <mc:Fallback>
                <p:oleObj name="位图图像" r:id="rId3" imgW="5276190" imgH="2523810" progId="Paint.Picture">
                  <p:embed/>
                  <p:pic>
                    <p:nvPicPr>
                      <p:cNvPr id="0" name="Object 2"/>
                      <p:cNvPicPr>
                        <a:picLocks noChangeAspect="1" noChangeArrowheads="1"/>
                      </p:cNvPicPr>
                      <p:nvPr/>
                    </p:nvPicPr>
                    <p:blipFill>
                      <a:blip r:embed="rId4">
                        <a:lum contrast="18000"/>
                        <a:extLst>
                          <a:ext uri="{28A0092B-C50C-407E-A947-70E740481C1C}">
                            <a14:useLocalDpi xmlns:a14="http://schemas.microsoft.com/office/drawing/2010/main" val="0"/>
                          </a:ext>
                        </a:extLst>
                      </a:blip>
                      <a:srcRect/>
                      <a:stretch>
                        <a:fillRect/>
                      </a:stretch>
                    </p:blipFill>
                    <p:spPr bwMode="auto">
                      <a:xfrm>
                        <a:off x="323850" y="1456977"/>
                        <a:ext cx="8640763" cy="413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5" name="Rectangle 3"/>
          <p:cNvSpPr>
            <a:spLocks noChangeArrowheads="1"/>
          </p:cNvSpPr>
          <p:nvPr/>
        </p:nvSpPr>
        <p:spPr bwMode="auto">
          <a:xfrm>
            <a:off x="3131840" y="5661248"/>
            <a:ext cx="19367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90000"/>
              </a:lnSpc>
            </a:pPr>
            <a:r>
              <a:rPr lang="en-US" altLang="zh-CN" sz="3600">
                <a:solidFill>
                  <a:schemeClr val="tx2"/>
                </a:solidFill>
              </a:rPr>
              <a:t>VFS</a:t>
            </a:r>
            <a:r>
              <a:rPr lang="zh-CN" altLang="en-US" sz="3600">
                <a:solidFill>
                  <a:schemeClr val="tx2"/>
                </a:solidFill>
              </a:rPr>
              <a:t>接口</a:t>
            </a:r>
          </a:p>
        </p:txBody>
      </p:sp>
      <p:sp>
        <p:nvSpPr>
          <p:cNvPr id="4" name="Rectangle 2"/>
          <p:cNvSpPr txBox="1">
            <a:spLocks noChangeArrowheads="1"/>
          </p:cNvSpPr>
          <p:nvPr/>
        </p:nvSpPr>
        <p:spPr bwMode="auto">
          <a:xfrm>
            <a:off x="468313" y="333375"/>
            <a:ext cx="8421687"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ea typeface="+mn-ea"/>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9pPr>
          </a:lstStyle>
          <a:p>
            <a:pPr marL="0" indent="0" algn="ctr" eaLnBrk="1" hangingPunct="1">
              <a:spcBef>
                <a:spcPct val="0"/>
              </a:spcBef>
              <a:buNone/>
            </a:pPr>
            <a:r>
              <a:rPr lang="en-US" altLang="zh-CN" sz="4200" dirty="0" smtClean="0">
                <a:solidFill>
                  <a:schemeClr val="tx2"/>
                </a:solidFill>
                <a:latin typeface="+mj-lt"/>
                <a:ea typeface="黑体" panose="02010609060101010101" pitchFamily="49" charset="-122"/>
                <a:cs typeface="+mj-cs"/>
              </a:rPr>
              <a:t>7.2 </a:t>
            </a:r>
            <a:r>
              <a:rPr lang="zh-CN" altLang="en-US" sz="4200" dirty="0">
                <a:solidFill>
                  <a:schemeClr val="tx2"/>
                </a:solidFill>
                <a:latin typeface="+mj-lt"/>
                <a:ea typeface="黑体" panose="02010609060101010101" pitchFamily="49" charset="-122"/>
                <a:cs typeface="+mj-cs"/>
              </a:rPr>
              <a:t>虚拟文件系统</a:t>
            </a:r>
            <a:r>
              <a:rPr lang="en-US" altLang="zh-CN" sz="4200" dirty="0">
                <a:solidFill>
                  <a:schemeClr val="tx2"/>
                </a:solidFill>
                <a:latin typeface="+mj-lt"/>
                <a:ea typeface="黑体" panose="02010609060101010101" pitchFamily="49" charset="-122"/>
                <a:cs typeface="+mj-cs"/>
              </a:rPr>
              <a:t>VFS</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457200" y="1412875"/>
            <a:ext cx="8147050" cy="5445125"/>
          </a:xfrm>
        </p:spPr>
        <p:txBody>
          <a:bodyPr/>
          <a:lstStyle/>
          <a:p>
            <a:pPr eaLnBrk="1" hangingPunct="1"/>
            <a:r>
              <a:rPr lang="en-US" altLang="zh-CN" sz="3200" smtClean="0">
                <a:latin typeface="Times New Roman" panose="02020603050405020304" pitchFamily="18" charset="0"/>
              </a:rPr>
              <a:t>VFS</a:t>
            </a:r>
            <a:r>
              <a:rPr lang="zh-CN" altLang="en-US" sz="3200" smtClean="0">
                <a:solidFill>
                  <a:srgbClr val="FF0000"/>
                </a:solidFill>
                <a:latin typeface="Times New Roman" panose="02020603050405020304" pitchFamily="18" charset="0"/>
              </a:rPr>
              <a:t>通过对每一个具体的文件系统的所有细节进行抽象</a:t>
            </a:r>
            <a:r>
              <a:rPr lang="zh-CN" altLang="en-US" sz="3200" smtClean="0">
                <a:latin typeface="Times New Roman" panose="02020603050405020304" pitchFamily="18" charset="0"/>
              </a:rPr>
              <a:t>，使得</a:t>
            </a:r>
            <a:r>
              <a:rPr lang="en-US" altLang="zh-CN" sz="3200" smtClean="0"/>
              <a:t>Linux</a:t>
            </a:r>
            <a:r>
              <a:rPr lang="zh-CN" altLang="en-US" sz="3200" smtClean="0">
                <a:latin typeface="Times New Roman" panose="02020603050405020304" pitchFamily="18" charset="0"/>
              </a:rPr>
              <a:t>用户能用统一接口使用不同的文件系统。</a:t>
            </a:r>
          </a:p>
          <a:p>
            <a:pPr algn="just" eaLnBrk="1" hangingPunct="1"/>
            <a:r>
              <a:rPr lang="en-US" altLang="zh-CN" sz="3200" smtClean="0"/>
              <a:t>VFS</a:t>
            </a:r>
            <a:r>
              <a:rPr lang="zh-CN" altLang="en-US" sz="3200" smtClean="0">
                <a:latin typeface="Times New Roman" panose="02020603050405020304" pitchFamily="18" charset="0"/>
              </a:rPr>
              <a:t>只是一种存在于内存的文件系统，在操作系统自举时建立，在系统关闭时消亡。</a:t>
            </a:r>
          </a:p>
          <a:p>
            <a:pPr algn="just" eaLnBrk="1" hangingPunct="1"/>
            <a:r>
              <a:rPr lang="zh-CN" altLang="en-US" sz="3200" smtClean="0"/>
              <a:t>一个实际的文件系统要想被 </a:t>
            </a:r>
            <a:r>
              <a:rPr lang="en-US" altLang="zh-CN" sz="3200" smtClean="0"/>
              <a:t>Linux </a:t>
            </a:r>
            <a:r>
              <a:rPr lang="zh-CN" altLang="en-US" sz="3200" smtClean="0"/>
              <a:t>支持，就必须按照这个接口来编写自己的操作函数，从而将自己的细节对其他子系统隐藏起来。</a:t>
            </a:r>
          </a:p>
          <a:p>
            <a:pPr algn="just" eaLnBrk="1" hangingPunct="1"/>
            <a:r>
              <a:rPr lang="zh-CN" altLang="en-US" sz="3200" smtClean="0">
                <a:solidFill>
                  <a:schemeClr val="accent2"/>
                </a:solidFill>
              </a:rPr>
              <a:t>思考：如何实现呢？</a:t>
            </a:r>
          </a:p>
        </p:txBody>
      </p:sp>
      <p:sp>
        <p:nvSpPr>
          <p:cNvPr id="5" name="Rectangle 2"/>
          <p:cNvSpPr>
            <a:spLocks noGrp="1" noChangeArrowheads="1"/>
          </p:cNvSpPr>
          <p:nvPr>
            <p:ph type="title"/>
          </p:nvPr>
        </p:nvSpPr>
        <p:spPr>
          <a:xfrm>
            <a:off x="468313" y="333375"/>
            <a:ext cx="8421687" cy="1241425"/>
          </a:xfrm>
        </p:spPr>
        <p:txBody>
          <a:bodyPr/>
          <a:lstStyle/>
          <a:p>
            <a:pPr algn="ctr" eaLnBrk="1" hangingPunct="1"/>
            <a:r>
              <a:rPr lang="en-US" altLang="zh-CN" dirty="0" smtClean="0">
                <a:ea typeface="黑体" panose="02010609060101010101" pitchFamily="49" charset="-122"/>
              </a:rPr>
              <a:t>7.2 </a:t>
            </a:r>
            <a:r>
              <a:rPr lang="zh-CN" altLang="en-US" dirty="0" smtClean="0">
                <a:ea typeface="黑体" panose="02010609060101010101" pitchFamily="49" charset="-122"/>
              </a:rPr>
              <a:t>虚拟文件系统</a:t>
            </a:r>
            <a:r>
              <a:rPr lang="en-US" altLang="zh-CN" dirty="0" smtClean="0">
                <a:ea typeface="黑体" panose="02010609060101010101" pitchFamily="49" charset="-122"/>
              </a:rPr>
              <a:t>VFS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p:txBody>
          <a:bodyPr/>
          <a:lstStyle/>
          <a:p>
            <a:pPr eaLnBrk="1" hangingPunct="1"/>
            <a:r>
              <a:rPr lang="en-US" altLang="zh-CN" sz="3200" smtClean="0"/>
              <a:t>VFS</a:t>
            </a:r>
            <a:r>
              <a:rPr lang="zh-CN" altLang="en-US" sz="3200" smtClean="0"/>
              <a:t>是由面向对象的思想发展起来的</a:t>
            </a:r>
          </a:p>
          <a:p>
            <a:pPr lvl="1" eaLnBrk="1" hangingPunct="1"/>
            <a:r>
              <a:rPr lang="en-US" altLang="zh-CN" sz="3000" smtClean="0"/>
              <a:t>VFS</a:t>
            </a:r>
            <a:r>
              <a:rPr lang="zh-CN" altLang="en-US" sz="3000" smtClean="0"/>
              <a:t>提供一个</a:t>
            </a:r>
            <a:r>
              <a:rPr lang="zh-CN" altLang="en-US" sz="3000" smtClean="0">
                <a:solidFill>
                  <a:schemeClr val="accent2"/>
                </a:solidFill>
              </a:rPr>
              <a:t>抽象基类</a:t>
            </a:r>
          </a:p>
          <a:p>
            <a:pPr lvl="1" eaLnBrk="1" hangingPunct="1"/>
            <a:r>
              <a:rPr lang="zh-CN" altLang="en-US" sz="3000" smtClean="0"/>
              <a:t>由该基类派生出的</a:t>
            </a:r>
            <a:r>
              <a:rPr lang="zh-CN" altLang="en-US" sz="3000" smtClean="0">
                <a:solidFill>
                  <a:schemeClr val="accent2"/>
                </a:solidFill>
              </a:rPr>
              <a:t>子类</a:t>
            </a:r>
            <a:r>
              <a:rPr lang="zh-CN" altLang="en-US" sz="3000" smtClean="0"/>
              <a:t>支持具体的文件系统。</a:t>
            </a:r>
          </a:p>
          <a:p>
            <a:pPr eaLnBrk="1" hangingPunct="1"/>
            <a:r>
              <a:rPr lang="zh-CN" altLang="en-US" sz="3200" smtClean="0"/>
              <a:t>由于</a:t>
            </a:r>
            <a:r>
              <a:rPr lang="en-US" altLang="zh-CN" sz="3200" smtClean="0"/>
              <a:t>Linux</a:t>
            </a:r>
            <a:r>
              <a:rPr lang="zh-CN" altLang="en-US" sz="3200" smtClean="0"/>
              <a:t>没有使用</a:t>
            </a:r>
            <a:r>
              <a:rPr lang="en-US" altLang="zh-CN" sz="3200" smtClean="0"/>
              <a:t>OOP</a:t>
            </a:r>
            <a:r>
              <a:rPr lang="zh-CN" altLang="en-US" sz="3200" smtClean="0"/>
              <a:t>的语言，而是使用</a:t>
            </a:r>
            <a:r>
              <a:rPr lang="en-US" altLang="zh-CN" sz="3200" smtClean="0"/>
              <a:t>C</a:t>
            </a:r>
            <a:r>
              <a:rPr lang="zh-CN" altLang="en-US" sz="3200" smtClean="0"/>
              <a:t>语言开发的，因此“对象”用</a:t>
            </a:r>
            <a:r>
              <a:rPr lang="zh-CN" altLang="en-US" sz="3200" smtClean="0">
                <a:solidFill>
                  <a:srgbClr val="0000FF"/>
                </a:solidFill>
              </a:rPr>
              <a:t>数据结构</a:t>
            </a:r>
            <a:r>
              <a:rPr lang="zh-CN" altLang="en-US" sz="3200" smtClean="0"/>
              <a:t>实现。</a:t>
            </a:r>
          </a:p>
        </p:txBody>
      </p:sp>
      <p:sp>
        <p:nvSpPr>
          <p:cNvPr id="4" name="Rectangle 2"/>
          <p:cNvSpPr txBox="1">
            <a:spLocks noChangeArrowheads="1"/>
          </p:cNvSpPr>
          <p:nvPr/>
        </p:nvSpPr>
        <p:spPr bwMode="auto">
          <a:xfrm>
            <a:off x="468313" y="333375"/>
            <a:ext cx="8421687"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宋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宋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宋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宋体" pitchFamily="2" charset="-122"/>
              </a:defRPr>
            </a:lvl5pPr>
            <a:lvl6pPr marL="457200" algn="l" rtl="0" fontAlgn="base">
              <a:spcBef>
                <a:spcPct val="0"/>
              </a:spcBef>
              <a:spcAft>
                <a:spcPct val="0"/>
              </a:spcAft>
              <a:defRPr sz="4200">
                <a:solidFill>
                  <a:schemeClr val="tx2"/>
                </a:solidFill>
                <a:latin typeface="Times New Roman" pitchFamily="18" charset="0"/>
                <a:ea typeface="宋体" pitchFamily="2" charset="-122"/>
              </a:defRPr>
            </a:lvl6pPr>
            <a:lvl7pPr marL="914400" algn="l" rtl="0" fontAlgn="base">
              <a:spcBef>
                <a:spcPct val="0"/>
              </a:spcBef>
              <a:spcAft>
                <a:spcPct val="0"/>
              </a:spcAft>
              <a:defRPr sz="4200">
                <a:solidFill>
                  <a:schemeClr val="tx2"/>
                </a:solidFill>
                <a:latin typeface="Times New Roman" pitchFamily="18" charset="0"/>
                <a:ea typeface="宋体" pitchFamily="2" charset="-122"/>
              </a:defRPr>
            </a:lvl7pPr>
            <a:lvl8pPr marL="1371600" algn="l" rtl="0" fontAlgn="base">
              <a:spcBef>
                <a:spcPct val="0"/>
              </a:spcBef>
              <a:spcAft>
                <a:spcPct val="0"/>
              </a:spcAft>
              <a:defRPr sz="4200">
                <a:solidFill>
                  <a:schemeClr val="tx2"/>
                </a:solidFill>
                <a:latin typeface="Times New Roman" pitchFamily="18" charset="0"/>
                <a:ea typeface="宋体" pitchFamily="2" charset="-122"/>
              </a:defRPr>
            </a:lvl8pPr>
            <a:lvl9pPr marL="1828800" algn="l" rtl="0" fontAlgn="base">
              <a:spcBef>
                <a:spcPct val="0"/>
              </a:spcBef>
              <a:spcAft>
                <a:spcPct val="0"/>
              </a:spcAft>
              <a:defRPr sz="4200">
                <a:solidFill>
                  <a:schemeClr val="tx2"/>
                </a:solidFill>
                <a:latin typeface="Times New Roman" pitchFamily="18" charset="0"/>
                <a:ea typeface="宋体" pitchFamily="2" charset="-122"/>
              </a:defRPr>
            </a:lvl9pPr>
          </a:lstStyle>
          <a:p>
            <a:pPr algn="ctr" eaLnBrk="1" hangingPunct="1">
              <a:buClrTx/>
              <a:buSzTx/>
              <a:buFontTx/>
            </a:pPr>
            <a:r>
              <a:rPr lang="en-US" altLang="zh-CN" kern="0" dirty="0" smtClean="0">
                <a:ea typeface="黑体" panose="02010609060101010101" pitchFamily="49" charset="-122"/>
              </a:rPr>
              <a:t>7.2 </a:t>
            </a:r>
            <a:r>
              <a:rPr lang="zh-CN" altLang="en-US" kern="0" dirty="0" smtClean="0">
                <a:ea typeface="黑体" panose="02010609060101010101" pitchFamily="49" charset="-122"/>
              </a:rPr>
              <a:t>虚拟文件系统</a:t>
            </a:r>
            <a:r>
              <a:rPr lang="en-US" altLang="zh-CN" kern="0" dirty="0" smtClean="0">
                <a:ea typeface="黑体" panose="02010609060101010101" pitchFamily="49" charset="-122"/>
              </a:rPr>
              <a:t>VFS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smtClean="0"/>
              <a:t>VFS</a:t>
            </a:r>
            <a:r>
              <a:rPr lang="zh-CN" altLang="en-US" smtClean="0"/>
              <a:t>支持的文件系统类型</a:t>
            </a:r>
          </a:p>
        </p:txBody>
      </p:sp>
      <p:sp>
        <p:nvSpPr>
          <p:cNvPr id="26627" name="Rectangle 3"/>
          <p:cNvSpPr>
            <a:spLocks noGrp="1" noChangeArrowheads="1"/>
          </p:cNvSpPr>
          <p:nvPr>
            <p:ph type="body" idx="1"/>
          </p:nvPr>
        </p:nvSpPr>
        <p:spPr>
          <a:xfrm>
            <a:off x="250825" y="1196975"/>
            <a:ext cx="8497888" cy="4530725"/>
          </a:xfrm>
        </p:spPr>
        <p:txBody>
          <a:bodyPr/>
          <a:lstStyle/>
          <a:p>
            <a:pPr eaLnBrk="1" hangingPunct="1"/>
            <a:r>
              <a:rPr lang="en-US" altLang="zh-CN" smtClean="0"/>
              <a:t>VFS</a:t>
            </a:r>
            <a:r>
              <a:rPr lang="zh-CN" altLang="en-US" smtClean="0"/>
              <a:t>支持的文件系统可以划分为三种主要类型</a:t>
            </a:r>
          </a:p>
          <a:p>
            <a:pPr lvl="1" eaLnBrk="1" hangingPunct="1"/>
            <a:r>
              <a:rPr lang="zh-CN" altLang="en-US" smtClean="0">
                <a:solidFill>
                  <a:schemeClr val="accent2"/>
                </a:solidFill>
              </a:rPr>
              <a:t>基于磁盘的文件系统</a:t>
            </a:r>
            <a:r>
              <a:rPr lang="zh-CN" altLang="en-US" smtClean="0"/>
              <a:t>：它们管理在本地磁盘分区中可用的存储空间</a:t>
            </a:r>
          </a:p>
          <a:p>
            <a:pPr lvl="2" eaLnBrk="1" hangingPunct="1"/>
            <a:r>
              <a:rPr lang="en-US" altLang="zh-CN" sz="2500" smtClean="0"/>
              <a:t>Linux</a:t>
            </a:r>
            <a:r>
              <a:rPr lang="zh-CN" altLang="en-US" sz="2500" smtClean="0"/>
              <a:t>使用的文件系统：</a:t>
            </a:r>
            <a:r>
              <a:rPr lang="en-US" altLang="zh-CN" sz="2500" smtClean="0"/>
              <a:t>ext2</a:t>
            </a:r>
            <a:r>
              <a:rPr lang="zh-CN" altLang="en-US" sz="2500" smtClean="0"/>
              <a:t>、</a:t>
            </a:r>
            <a:r>
              <a:rPr lang="en-US" altLang="zh-CN" sz="2500" smtClean="0"/>
              <a:t>ext3</a:t>
            </a:r>
            <a:r>
              <a:rPr lang="zh-CN" altLang="en-US" sz="2500" smtClean="0"/>
              <a:t>、</a:t>
            </a:r>
            <a:r>
              <a:rPr lang="en-US" altLang="zh-CN" sz="2500" smtClean="0"/>
              <a:t>ReiserFS</a:t>
            </a:r>
          </a:p>
          <a:p>
            <a:pPr lvl="2" eaLnBrk="1" hangingPunct="1"/>
            <a:r>
              <a:rPr lang="en-US" altLang="zh-CN" sz="2500" smtClean="0"/>
              <a:t>Unix</a:t>
            </a:r>
            <a:r>
              <a:rPr lang="zh-CN" altLang="en-US" sz="2500" smtClean="0"/>
              <a:t>家族的文件系统：</a:t>
            </a:r>
            <a:r>
              <a:rPr lang="en-US" altLang="zh-CN" sz="2500" smtClean="0"/>
              <a:t>SYS V</a:t>
            </a:r>
            <a:r>
              <a:rPr lang="zh-CN" altLang="en-US" sz="2500" smtClean="0"/>
              <a:t>文件系统，</a:t>
            </a:r>
            <a:r>
              <a:rPr lang="en-US" altLang="zh-CN" sz="2500" smtClean="0"/>
              <a:t>UFS</a:t>
            </a:r>
            <a:r>
              <a:rPr lang="zh-CN" altLang="en-US" sz="2500" smtClean="0"/>
              <a:t>，</a:t>
            </a:r>
            <a:r>
              <a:rPr lang="en-US" altLang="zh-CN" sz="2500" smtClean="0"/>
              <a:t>MINIX</a:t>
            </a:r>
            <a:r>
              <a:rPr lang="zh-CN" altLang="en-US" sz="2500" smtClean="0"/>
              <a:t>文件系统以及</a:t>
            </a:r>
            <a:r>
              <a:rPr lang="en-US" altLang="zh-CN" sz="2500" smtClean="0"/>
              <a:t>VERITAS VxFS</a:t>
            </a:r>
          </a:p>
          <a:p>
            <a:pPr lvl="2" eaLnBrk="1" hangingPunct="1"/>
            <a:r>
              <a:rPr lang="zh-CN" altLang="en-US" sz="2500" smtClean="0"/>
              <a:t>微软公司的文件系统：</a:t>
            </a:r>
            <a:r>
              <a:rPr lang="en-US" altLang="zh-CN" sz="2500" smtClean="0"/>
              <a:t>MS-DOS</a:t>
            </a:r>
            <a:r>
              <a:rPr lang="zh-CN" altLang="en-US" sz="2500" smtClean="0"/>
              <a:t>、</a:t>
            </a:r>
            <a:r>
              <a:rPr lang="en-US" altLang="zh-CN" sz="2500" smtClean="0"/>
              <a:t>VFAT</a:t>
            </a:r>
            <a:r>
              <a:rPr lang="zh-CN" altLang="en-US" sz="2500" smtClean="0"/>
              <a:t>以及</a:t>
            </a:r>
            <a:r>
              <a:rPr lang="en-US" altLang="zh-CN" sz="2500" smtClean="0"/>
              <a:t>NTFS</a:t>
            </a:r>
          </a:p>
          <a:p>
            <a:pPr lvl="2" eaLnBrk="1" hangingPunct="1"/>
            <a:r>
              <a:rPr lang="en-US" altLang="zh-CN" sz="2500" smtClean="0"/>
              <a:t>ISO9660CD-ROM</a:t>
            </a:r>
            <a:r>
              <a:rPr lang="zh-CN" altLang="en-US" sz="2500" smtClean="0"/>
              <a:t>文件系统和通用磁盘格式的</a:t>
            </a:r>
            <a:r>
              <a:rPr lang="en-US" altLang="zh-CN" sz="2500" smtClean="0"/>
              <a:t>DVD</a:t>
            </a:r>
            <a:r>
              <a:rPr lang="zh-CN" altLang="en-US" sz="2500" smtClean="0"/>
              <a:t>文件系统</a:t>
            </a:r>
          </a:p>
          <a:p>
            <a:pPr lvl="2" eaLnBrk="1" hangingPunct="1"/>
            <a:r>
              <a:rPr lang="zh-CN" altLang="en-US" sz="2500" smtClean="0"/>
              <a:t>其他</a:t>
            </a:r>
            <a:r>
              <a:rPr lang="en-US" altLang="zh-CN" sz="2500" smtClean="0"/>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smtClean="0"/>
              <a:t>VFS</a:t>
            </a:r>
            <a:r>
              <a:rPr lang="zh-CN" altLang="en-US" smtClean="0"/>
              <a:t>支持的文件系统类型</a:t>
            </a:r>
          </a:p>
        </p:txBody>
      </p:sp>
      <p:sp>
        <p:nvSpPr>
          <p:cNvPr id="27651" name="Rectangle 3"/>
          <p:cNvSpPr>
            <a:spLocks noGrp="1" noChangeArrowheads="1"/>
          </p:cNvSpPr>
          <p:nvPr>
            <p:ph type="body" idx="1"/>
          </p:nvPr>
        </p:nvSpPr>
        <p:spPr>
          <a:xfrm>
            <a:off x="611188" y="1412875"/>
            <a:ext cx="8075612" cy="4530725"/>
          </a:xfrm>
        </p:spPr>
        <p:txBody>
          <a:bodyPr/>
          <a:lstStyle/>
          <a:p>
            <a:pPr lvl="1" eaLnBrk="1" hangingPunct="1"/>
            <a:r>
              <a:rPr lang="zh-CN" altLang="en-US" smtClean="0">
                <a:solidFill>
                  <a:schemeClr val="accent2"/>
                </a:solidFill>
              </a:rPr>
              <a:t>网络文件系统：</a:t>
            </a:r>
            <a:r>
              <a:rPr lang="zh-CN" altLang="en-US" smtClean="0"/>
              <a:t>用于访问属于其他网络计算机的文件系统所包含的文件</a:t>
            </a:r>
          </a:p>
          <a:p>
            <a:pPr lvl="2" eaLnBrk="1" hangingPunct="1"/>
            <a:r>
              <a:rPr lang="en-US" altLang="zh-CN" sz="2500" smtClean="0"/>
              <a:t>NFS</a:t>
            </a:r>
            <a:r>
              <a:rPr lang="zh-CN" altLang="en-US" sz="2500" smtClean="0"/>
              <a:t>、</a:t>
            </a:r>
            <a:r>
              <a:rPr lang="en-US" altLang="zh-CN" sz="2500" smtClean="0"/>
              <a:t>Coda</a:t>
            </a:r>
            <a:r>
              <a:rPr lang="zh-CN" altLang="en-US" sz="2500" smtClean="0"/>
              <a:t>、</a:t>
            </a:r>
            <a:r>
              <a:rPr lang="en-US" altLang="zh-CN" sz="2500" smtClean="0"/>
              <a:t>AFS</a:t>
            </a:r>
            <a:r>
              <a:rPr lang="zh-CN" altLang="en-US" sz="2500" smtClean="0"/>
              <a:t>、</a:t>
            </a:r>
            <a:r>
              <a:rPr lang="en-US" altLang="zh-CN" sz="2500" smtClean="0"/>
              <a:t>SMB</a:t>
            </a:r>
            <a:r>
              <a:rPr lang="zh-CN" altLang="en-US" sz="2500" smtClean="0"/>
              <a:t>、</a:t>
            </a:r>
            <a:r>
              <a:rPr lang="en-US" altLang="zh-CN" sz="2500" smtClean="0"/>
              <a:t>NCP</a:t>
            </a:r>
          </a:p>
          <a:p>
            <a:pPr lvl="1" eaLnBrk="1" hangingPunct="1"/>
            <a:r>
              <a:rPr lang="zh-CN" altLang="en-US" smtClean="0">
                <a:solidFill>
                  <a:schemeClr val="accent2"/>
                </a:solidFill>
              </a:rPr>
              <a:t>特殊文件系统</a:t>
            </a:r>
          </a:p>
          <a:p>
            <a:pPr lvl="2" eaLnBrk="1" hangingPunct="1"/>
            <a:r>
              <a:rPr lang="zh-CN" altLang="en-US" sz="2500" smtClean="0"/>
              <a:t>不同于上述两大类</a:t>
            </a:r>
          </a:p>
          <a:p>
            <a:pPr lvl="2" eaLnBrk="1" hangingPunct="1"/>
            <a:r>
              <a:rPr lang="zh-CN" altLang="en-US" sz="2500" smtClean="0"/>
              <a:t>不管理具体的磁盘空间</a:t>
            </a:r>
          </a:p>
          <a:p>
            <a:pPr lvl="2" eaLnBrk="1" hangingPunct="1"/>
            <a:r>
              <a:rPr lang="en-US" altLang="zh-CN" sz="2500" smtClean="0"/>
              <a:t>/proc</a:t>
            </a:r>
          </a:p>
          <a:p>
            <a:pPr eaLnBrk="1" hangingPunct="1"/>
            <a:r>
              <a:rPr lang="zh-CN" altLang="en-US" smtClean="0"/>
              <a:t>各种不同的文件系统通过</a:t>
            </a:r>
            <a:r>
              <a:rPr lang="en-US" altLang="zh-CN" smtClean="0"/>
              <a:t>mount</a:t>
            </a:r>
            <a:r>
              <a:rPr lang="zh-CN" altLang="en-US" smtClean="0"/>
              <a:t>（挂载、安装）到根文件系统中</a:t>
            </a:r>
          </a:p>
          <a:p>
            <a:pPr lvl="1" eaLnBrk="1" hangingPunct="1"/>
            <a:r>
              <a:rPr lang="zh-CN" altLang="en-US" smtClean="0"/>
              <a:t>在</a:t>
            </a:r>
            <a:r>
              <a:rPr lang="en-US" altLang="zh-CN" smtClean="0"/>
              <a:t>Linux</a:t>
            </a:r>
            <a:r>
              <a:rPr lang="zh-CN" altLang="en-US" smtClean="0"/>
              <a:t>中，根文件系统即根目录所代表的文件系统</a:t>
            </a:r>
            <a:r>
              <a:rPr lang="en-US" altLang="zh-CN" smtClean="0"/>
              <a:t>,</a:t>
            </a:r>
            <a:r>
              <a:rPr lang="zh-CN" altLang="en-US" smtClean="0"/>
              <a:t>通常是</a:t>
            </a:r>
            <a:r>
              <a:rPr lang="en-US" altLang="zh-CN" smtClean="0"/>
              <a:t>ext2</a:t>
            </a:r>
            <a:r>
              <a:rPr lang="zh-CN" altLang="en-US" smtClean="0"/>
              <a:t>文件系统</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smtClean="0"/>
              <a:t>VFS</a:t>
            </a:r>
            <a:r>
              <a:rPr lang="zh-CN" altLang="en-US" smtClean="0"/>
              <a:t>所处理的系统调用</a:t>
            </a:r>
          </a:p>
        </p:txBody>
      </p:sp>
      <p:sp>
        <p:nvSpPr>
          <p:cNvPr id="28675" name="Rectangle 3"/>
          <p:cNvSpPr>
            <a:spLocks noGrp="1" noChangeArrowheads="1"/>
          </p:cNvSpPr>
          <p:nvPr>
            <p:ph type="body" idx="1"/>
          </p:nvPr>
        </p:nvSpPr>
        <p:spPr>
          <a:xfrm>
            <a:off x="755650" y="1268413"/>
            <a:ext cx="7772400" cy="4530725"/>
          </a:xfrm>
        </p:spPr>
        <p:txBody>
          <a:bodyPr/>
          <a:lstStyle/>
          <a:p>
            <a:pPr eaLnBrk="1" hangingPunct="1">
              <a:lnSpc>
                <a:spcPct val="90000"/>
              </a:lnSpc>
            </a:pPr>
            <a:r>
              <a:rPr lang="en-US" altLang="zh-CN" sz="2400" smtClean="0"/>
              <a:t>mount</a:t>
            </a:r>
            <a:r>
              <a:rPr lang="zh-CN" altLang="en-US" sz="2400" smtClean="0"/>
              <a:t>、</a:t>
            </a:r>
            <a:r>
              <a:rPr lang="en-US" altLang="zh-CN" sz="2400" smtClean="0"/>
              <a:t>umount</a:t>
            </a:r>
            <a:r>
              <a:rPr lang="zh-CN" altLang="en-US" sz="2400" smtClean="0"/>
              <a:t>：挂载</a:t>
            </a:r>
            <a:r>
              <a:rPr lang="en-US" altLang="zh-CN" sz="2400" smtClean="0"/>
              <a:t>/</a:t>
            </a:r>
            <a:r>
              <a:rPr lang="zh-CN" altLang="en-US" sz="2400" smtClean="0"/>
              <a:t>卸载文件系统</a:t>
            </a:r>
          </a:p>
          <a:p>
            <a:pPr eaLnBrk="1" hangingPunct="1">
              <a:lnSpc>
                <a:spcPct val="90000"/>
              </a:lnSpc>
            </a:pPr>
            <a:r>
              <a:rPr lang="en-US" altLang="zh-CN" sz="2400" smtClean="0"/>
              <a:t>sysfs </a:t>
            </a:r>
            <a:r>
              <a:rPr lang="zh-CN" altLang="en-US" sz="2400" smtClean="0"/>
              <a:t>：获取文件系统信息</a:t>
            </a:r>
          </a:p>
          <a:p>
            <a:pPr eaLnBrk="1" hangingPunct="1">
              <a:lnSpc>
                <a:spcPct val="90000"/>
              </a:lnSpc>
            </a:pPr>
            <a:r>
              <a:rPr lang="en-US" altLang="zh-CN" sz="2400" smtClean="0"/>
              <a:t>statfs</a:t>
            </a:r>
            <a:r>
              <a:rPr lang="zh-CN" altLang="en-US" sz="2400" smtClean="0"/>
              <a:t>、</a:t>
            </a:r>
            <a:r>
              <a:rPr lang="en-US" altLang="zh-CN" sz="2400" smtClean="0"/>
              <a:t>fstatfs</a:t>
            </a:r>
            <a:r>
              <a:rPr lang="zh-CN" altLang="en-US" sz="2400" smtClean="0"/>
              <a:t>、</a:t>
            </a:r>
            <a:r>
              <a:rPr lang="en-US" altLang="zh-CN" sz="2400" smtClean="0"/>
              <a:t>ustat </a:t>
            </a:r>
            <a:r>
              <a:rPr lang="zh-CN" altLang="en-US" sz="2400" smtClean="0"/>
              <a:t>：获取文件系统统计信息</a:t>
            </a:r>
          </a:p>
          <a:p>
            <a:pPr eaLnBrk="1" hangingPunct="1">
              <a:lnSpc>
                <a:spcPct val="90000"/>
              </a:lnSpc>
            </a:pPr>
            <a:r>
              <a:rPr lang="en-US" altLang="zh-CN" sz="2400" smtClean="0"/>
              <a:t>chroot </a:t>
            </a:r>
            <a:r>
              <a:rPr lang="zh-CN" altLang="en-US" sz="2400" smtClean="0"/>
              <a:t>：更改根目录</a:t>
            </a:r>
          </a:p>
          <a:p>
            <a:pPr eaLnBrk="1" hangingPunct="1">
              <a:lnSpc>
                <a:spcPct val="90000"/>
              </a:lnSpc>
            </a:pPr>
            <a:r>
              <a:rPr lang="en-US" altLang="zh-CN" sz="2400" smtClean="0"/>
              <a:t>chdir</a:t>
            </a:r>
            <a:r>
              <a:rPr lang="zh-CN" altLang="en-US" sz="2400" smtClean="0"/>
              <a:t>、</a:t>
            </a:r>
            <a:r>
              <a:rPr lang="en-US" altLang="zh-CN" sz="2400" smtClean="0"/>
              <a:t>fchdir</a:t>
            </a:r>
            <a:r>
              <a:rPr lang="zh-CN" altLang="en-US" sz="2400" smtClean="0"/>
              <a:t>、</a:t>
            </a:r>
            <a:r>
              <a:rPr lang="en-US" altLang="zh-CN" sz="2400" smtClean="0"/>
              <a:t>getcwd </a:t>
            </a:r>
            <a:r>
              <a:rPr lang="zh-CN" altLang="en-US" sz="2400" smtClean="0"/>
              <a:t>：操纵当前工作目录</a:t>
            </a:r>
          </a:p>
          <a:p>
            <a:pPr eaLnBrk="1" hangingPunct="1">
              <a:lnSpc>
                <a:spcPct val="90000"/>
              </a:lnSpc>
            </a:pPr>
            <a:r>
              <a:rPr lang="en-US" altLang="zh-CN" sz="2400" smtClean="0"/>
              <a:t>mkdir</a:t>
            </a:r>
            <a:r>
              <a:rPr lang="zh-CN" altLang="en-US" sz="2400" smtClean="0"/>
              <a:t>、</a:t>
            </a:r>
            <a:r>
              <a:rPr lang="en-US" altLang="zh-CN" sz="2400" smtClean="0"/>
              <a:t>rmdir </a:t>
            </a:r>
            <a:r>
              <a:rPr lang="zh-CN" altLang="en-US" sz="2400" smtClean="0"/>
              <a:t>：创建</a:t>
            </a:r>
            <a:r>
              <a:rPr lang="en-US" altLang="zh-CN" sz="2400" smtClean="0"/>
              <a:t>/</a:t>
            </a:r>
            <a:r>
              <a:rPr lang="zh-CN" altLang="en-US" sz="2400" smtClean="0"/>
              <a:t>删除目录</a:t>
            </a:r>
          </a:p>
          <a:p>
            <a:pPr eaLnBrk="1" hangingPunct="1">
              <a:lnSpc>
                <a:spcPct val="90000"/>
              </a:lnSpc>
            </a:pPr>
            <a:r>
              <a:rPr lang="en-US" altLang="zh-CN" sz="2400" smtClean="0"/>
              <a:t>getdents</a:t>
            </a:r>
            <a:r>
              <a:rPr lang="zh-CN" altLang="en-US" sz="2400" smtClean="0"/>
              <a:t>、</a:t>
            </a:r>
            <a:r>
              <a:rPr lang="en-US" altLang="zh-CN" sz="2400" smtClean="0"/>
              <a:t>readdir </a:t>
            </a:r>
            <a:r>
              <a:rPr lang="zh-CN" altLang="en-US" sz="2400" smtClean="0"/>
              <a:t>、</a:t>
            </a:r>
            <a:r>
              <a:rPr lang="en-US" altLang="zh-CN" sz="2400" smtClean="0"/>
              <a:t>link </a:t>
            </a:r>
            <a:r>
              <a:rPr lang="zh-CN" altLang="en-US" sz="2400" smtClean="0"/>
              <a:t>、</a:t>
            </a:r>
            <a:r>
              <a:rPr lang="en-US" altLang="zh-CN" sz="2400" smtClean="0"/>
              <a:t>unlink </a:t>
            </a:r>
            <a:r>
              <a:rPr lang="zh-CN" altLang="en-US" sz="2400" smtClean="0"/>
              <a:t>、</a:t>
            </a:r>
            <a:r>
              <a:rPr lang="en-US" altLang="zh-CN" sz="2400" smtClean="0"/>
              <a:t>rename </a:t>
            </a:r>
            <a:r>
              <a:rPr lang="zh-CN" altLang="en-US" sz="2400" smtClean="0"/>
              <a:t>：对目录项进行操作</a:t>
            </a:r>
          </a:p>
          <a:p>
            <a:pPr eaLnBrk="1" hangingPunct="1">
              <a:lnSpc>
                <a:spcPct val="90000"/>
              </a:lnSpc>
            </a:pPr>
            <a:r>
              <a:rPr lang="en-US" altLang="zh-CN" sz="2400" smtClean="0"/>
              <a:t>readlink </a:t>
            </a:r>
            <a:r>
              <a:rPr lang="zh-CN" altLang="en-US" sz="2400" smtClean="0"/>
              <a:t>、</a:t>
            </a:r>
            <a:r>
              <a:rPr lang="en-US" altLang="zh-CN" sz="2400" smtClean="0"/>
              <a:t>symlink </a:t>
            </a:r>
            <a:r>
              <a:rPr lang="zh-CN" altLang="en-US" sz="2400" smtClean="0"/>
              <a:t>：对软链接进行操作</a:t>
            </a:r>
          </a:p>
          <a:p>
            <a:pPr eaLnBrk="1" hangingPunct="1">
              <a:lnSpc>
                <a:spcPct val="90000"/>
              </a:lnSpc>
            </a:pPr>
            <a:r>
              <a:rPr lang="en-US" altLang="zh-CN" sz="2400" smtClean="0"/>
              <a:t>chown </a:t>
            </a:r>
            <a:r>
              <a:rPr lang="zh-CN" altLang="en-US" sz="2400" smtClean="0"/>
              <a:t>、</a:t>
            </a:r>
            <a:r>
              <a:rPr lang="en-US" altLang="zh-CN" sz="2400" smtClean="0"/>
              <a:t>fchown </a:t>
            </a:r>
            <a:r>
              <a:rPr lang="zh-CN" altLang="en-US" sz="2400" smtClean="0"/>
              <a:t>、</a:t>
            </a:r>
            <a:r>
              <a:rPr lang="en-US" altLang="zh-CN" sz="2400" smtClean="0"/>
              <a:t>lchown </a:t>
            </a:r>
            <a:r>
              <a:rPr lang="zh-CN" altLang="en-US" sz="2400" smtClean="0"/>
              <a:t>：更改文件所有者</a:t>
            </a:r>
          </a:p>
          <a:p>
            <a:pPr eaLnBrk="1" hangingPunct="1">
              <a:lnSpc>
                <a:spcPct val="90000"/>
              </a:lnSpc>
            </a:pPr>
            <a:r>
              <a:rPr lang="en-US" altLang="zh-CN" sz="2400" smtClean="0"/>
              <a:t>chmod </a:t>
            </a:r>
            <a:r>
              <a:rPr lang="zh-CN" altLang="en-US" sz="2400" smtClean="0"/>
              <a:t>、</a:t>
            </a:r>
            <a:r>
              <a:rPr lang="en-US" altLang="zh-CN" sz="2400" smtClean="0"/>
              <a:t>fchmod </a:t>
            </a:r>
            <a:r>
              <a:rPr lang="zh-CN" altLang="en-US" sz="2400" smtClean="0"/>
              <a:t>、</a:t>
            </a:r>
            <a:r>
              <a:rPr lang="en-US" altLang="zh-CN" sz="2400" smtClean="0"/>
              <a:t>utime </a:t>
            </a:r>
            <a:r>
              <a:rPr lang="zh-CN" altLang="en-US" sz="2400" smtClean="0"/>
              <a:t>：更改文件属性</a:t>
            </a:r>
          </a:p>
          <a:p>
            <a:pPr eaLnBrk="1" hangingPunct="1">
              <a:lnSpc>
                <a:spcPct val="90000"/>
              </a:lnSpc>
            </a:pPr>
            <a:r>
              <a:rPr lang="en-US" altLang="zh-CN" sz="2400" smtClean="0"/>
              <a:t>open</a:t>
            </a:r>
            <a:r>
              <a:rPr lang="zh-CN" altLang="en-US" sz="2400" smtClean="0"/>
              <a:t>、</a:t>
            </a:r>
            <a:r>
              <a:rPr lang="en-US" altLang="zh-CN" sz="2400" smtClean="0"/>
              <a:t>close</a:t>
            </a:r>
            <a:r>
              <a:rPr lang="zh-CN" altLang="en-US" sz="2400" smtClean="0"/>
              <a:t>、</a:t>
            </a:r>
            <a:r>
              <a:rPr lang="en-US" altLang="zh-CN" sz="2400" smtClean="0"/>
              <a:t>create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smtClean="0"/>
              <a:t>Linux</a:t>
            </a:r>
            <a:r>
              <a:rPr lang="zh-CN" altLang="en-US" smtClean="0"/>
              <a:t>通用文件模型</a:t>
            </a:r>
          </a:p>
        </p:txBody>
      </p:sp>
      <p:sp>
        <p:nvSpPr>
          <p:cNvPr id="29699" name="Rectangle 3"/>
          <p:cNvSpPr>
            <a:spLocks noGrp="1" noChangeArrowheads="1"/>
          </p:cNvSpPr>
          <p:nvPr>
            <p:ph type="body" idx="1"/>
          </p:nvPr>
        </p:nvSpPr>
        <p:spPr>
          <a:xfrm>
            <a:off x="611188" y="1125538"/>
            <a:ext cx="8064500" cy="5399087"/>
          </a:xfrm>
        </p:spPr>
        <p:txBody>
          <a:bodyPr/>
          <a:lstStyle/>
          <a:p>
            <a:pPr eaLnBrk="1" hangingPunct="1"/>
            <a:r>
              <a:rPr lang="zh-CN" altLang="en-US" dirty="0" smtClean="0"/>
              <a:t>用于表示所有支持的文件系统，由以下对象类型组成</a:t>
            </a:r>
          </a:p>
          <a:p>
            <a:pPr lvl="1" eaLnBrk="1" hangingPunct="1"/>
            <a:r>
              <a:rPr lang="zh-CN" altLang="en-US" sz="2200" dirty="0" smtClean="0">
                <a:solidFill>
                  <a:schemeClr val="accent2"/>
                </a:solidFill>
              </a:rPr>
              <a:t>超级块对象（</a:t>
            </a:r>
            <a:r>
              <a:rPr lang="en-US" altLang="zh-CN" sz="2200" dirty="0" smtClean="0">
                <a:solidFill>
                  <a:schemeClr val="accent2"/>
                </a:solidFill>
              </a:rPr>
              <a:t>superblock object</a:t>
            </a:r>
            <a:r>
              <a:rPr lang="zh-CN" altLang="en-US" sz="2200" dirty="0" smtClean="0">
                <a:solidFill>
                  <a:schemeClr val="accent2"/>
                </a:solidFill>
              </a:rPr>
              <a:t>）</a:t>
            </a:r>
          </a:p>
          <a:p>
            <a:pPr lvl="2" eaLnBrk="1" hangingPunct="1"/>
            <a:r>
              <a:rPr lang="zh-CN" altLang="en-US" sz="2100" dirty="0" smtClean="0"/>
              <a:t>存放文件系统相关信息：例如文件系统控制块</a:t>
            </a:r>
          </a:p>
          <a:p>
            <a:pPr lvl="1" eaLnBrk="1" hangingPunct="1"/>
            <a:r>
              <a:rPr lang="zh-CN" altLang="en-US" sz="2200" dirty="0" smtClean="0">
                <a:solidFill>
                  <a:schemeClr val="accent2"/>
                </a:solidFill>
              </a:rPr>
              <a:t>索引节点对象（</a:t>
            </a:r>
            <a:r>
              <a:rPr lang="en-US" altLang="zh-CN" sz="2200" dirty="0" err="1" smtClean="0">
                <a:solidFill>
                  <a:schemeClr val="accent2"/>
                </a:solidFill>
              </a:rPr>
              <a:t>inode</a:t>
            </a:r>
            <a:r>
              <a:rPr lang="en-US" altLang="zh-CN" sz="2200" dirty="0" smtClean="0">
                <a:solidFill>
                  <a:schemeClr val="accent2"/>
                </a:solidFill>
              </a:rPr>
              <a:t> object</a:t>
            </a:r>
            <a:r>
              <a:rPr lang="zh-CN" altLang="en-US" sz="2200" dirty="0" smtClean="0">
                <a:solidFill>
                  <a:schemeClr val="accent2"/>
                </a:solidFill>
              </a:rPr>
              <a:t>）</a:t>
            </a:r>
          </a:p>
          <a:p>
            <a:pPr lvl="2" eaLnBrk="1" hangingPunct="1"/>
            <a:r>
              <a:rPr lang="zh-CN" altLang="en-US" sz="2100" dirty="0" smtClean="0"/>
              <a:t>存放具体文件的一般信息：文件控制块</a:t>
            </a:r>
            <a:r>
              <a:rPr lang="en-US" altLang="zh-CN" sz="2100" dirty="0" smtClean="0"/>
              <a:t>/</a:t>
            </a:r>
            <a:r>
              <a:rPr lang="en-US" altLang="zh-CN" sz="2100" dirty="0" err="1" smtClean="0"/>
              <a:t>inode</a:t>
            </a:r>
            <a:endParaRPr lang="en-US" altLang="zh-CN" sz="2100" dirty="0" smtClean="0"/>
          </a:p>
          <a:p>
            <a:pPr lvl="1" eaLnBrk="1" hangingPunct="1"/>
            <a:r>
              <a:rPr lang="zh-CN" altLang="en-US" sz="2200" dirty="0" smtClean="0">
                <a:solidFill>
                  <a:schemeClr val="accent2"/>
                </a:solidFill>
              </a:rPr>
              <a:t>文件对象（</a:t>
            </a:r>
            <a:r>
              <a:rPr lang="en-US" altLang="zh-CN" sz="2200" dirty="0" smtClean="0">
                <a:solidFill>
                  <a:schemeClr val="accent2"/>
                </a:solidFill>
              </a:rPr>
              <a:t>file object</a:t>
            </a:r>
            <a:r>
              <a:rPr lang="zh-CN" altLang="en-US" sz="2200" dirty="0" smtClean="0">
                <a:solidFill>
                  <a:schemeClr val="accent2"/>
                </a:solidFill>
              </a:rPr>
              <a:t>）</a:t>
            </a:r>
          </a:p>
          <a:p>
            <a:pPr lvl="2" eaLnBrk="1" hangingPunct="1"/>
            <a:r>
              <a:rPr lang="zh-CN" altLang="en-US" sz="2100" dirty="0" smtClean="0"/>
              <a:t>存放已打开的文件和进程之间交互的信息</a:t>
            </a:r>
          </a:p>
          <a:p>
            <a:pPr lvl="1" eaLnBrk="1" hangingPunct="1"/>
            <a:r>
              <a:rPr lang="zh-CN" altLang="en-US" sz="2200" dirty="0" smtClean="0">
                <a:solidFill>
                  <a:schemeClr val="accent2"/>
                </a:solidFill>
              </a:rPr>
              <a:t>目录项对象（</a:t>
            </a:r>
            <a:r>
              <a:rPr lang="en-US" altLang="zh-CN" sz="2200" dirty="0" err="1" smtClean="0">
                <a:solidFill>
                  <a:schemeClr val="accent2"/>
                </a:solidFill>
              </a:rPr>
              <a:t>dentry</a:t>
            </a:r>
            <a:r>
              <a:rPr lang="en-US" altLang="zh-CN" sz="2200" dirty="0" smtClean="0">
                <a:solidFill>
                  <a:schemeClr val="accent2"/>
                </a:solidFill>
              </a:rPr>
              <a:t> object</a:t>
            </a:r>
            <a:r>
              <a:rPr lang="zh-CN" altLang="en-US" sz="2200" dirty="0" smtClean="0">
                <a:solidFill>
                  <a:schemeClr val="accent2"/>
                </a:solidFill>
              </a:rPr>
              <a:t>）</a:t>
            </a:r>
          </a:p>
          <a:p>
            <a:pPr lvl="2" eaLnBrk="1" hangingPunct="1"/>
            <a:r>
              <a:rPr lang="zh-CN" altLang="en-US" sz="2100" dirty="0" smtClean="0"/>
              <a:t>存放目录项与文件的链接信息</a:t>
            </a:r>
            <a:endParaRPr lang="zh-CN" altLang="en-US" sz="2500" dirty="0" smtClean="0"/>
          </a:p>
          <a:p>
            <a:pPr eaLnBrk="1" hangingPunct="1"/>
            <a:r>
              <a:rPr lang="zh-CN" altLang="en-US" dirty="0" smtClean="0"/>
              <a:t>同时</a:t>
            </a:r>
            <a:r>
              <a:rPr lang="en-US" altLang="zh-CN" dirty="0" smtClean="0"/>
              <a:t>VFS</a:t>
            </a:r>
            <a:r>
              <a:rPr lang="zh-CN" altLang="en-US" dirty="0" smtClean="0"/>
              <a:t>还使用了</a:t>
            </a:r>
            <a:r>
              <a:rPr lang="zh-CN" altLang="en-US" dirty="0" smtClean="0">
                <a:solidFill>
                  <a:schemeClr val="accent2"/>
                </a:solidFill>
              </a:rPr>
              <a:t>磁盘高速缓存</a:t>
            </a:r>
            <a:r>
              <a:rPr lang="zh-CN" altLang="en-US" dirty="0" smtClean="0"/>
              <a:t>（软件机制），将常用的目录项对象放在目录项高速缓存中</a:t>
            </a:r>
          </a:p>
          <a:p>
            <a:pPr eaLnBrk="1" hangingPunct="1"/>
            <a:endParaRPr lang="en-US" altLang="zh-CN"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dirty="0" smtClean="0"/>
              <a:t>7.3 VFS</a:t>
            </a:r>
            <a:r>
              <a:rPr lang="zh-CN" altLang="en-US" dirty="0" smtClean="0"/>
              <a:t>的数据结构</a:t>
            </a:r>
          </a:p>
        </p:txBody>
      </p:sp>
      <p:sp>
        <p:nvSpPr>
          <p:cNvPr id="30723" name="Rectangle 3"/>
          <p:cNvSpPr>
            <a:spLocks noGrp="1" noChangeArrowheads="1"/>
          </p:cNvSpPr>
          <p:nvPr>
            <p:ph type="body" idx="1"/>
          </p:nvPr>
        </p:nvSpPr>
        <p:spPr/>
        <p:txBody>
          <a:bodyPr/>
          <a:lstStyle/>
          <a:p>
            <a:pPr eaLnBrk="1" hangingPunct="1"/>
            <a:r>
              <a:rPr lang="zh-CN" altLang="en-US" smtClean="0"/>
              <a:t>每个</a:t>
            </a:r>
            <a:r>
              <a:rPr lang="en-US" altLang="zh-CN" smtClean="0"/>
              <a:t>VFS</a:t>
            </a:r>
            <a:r>
              <a:rPr lang="zh-CN" altLang="en-US" smtClean="0"/>
              <a:t>对象都对应一定的数据结构，在这个数据结构中包含对象的属性及其方法</a:t>
            </a:r>
          </a:p>
          <a:p>
            <a:pPr eaLnBrk="1" hangingPunct="1"/>
            <a:r>
              <a:rPr lang="zh-CN" altLang="en-US" smtClean="0"/>
              <a:t>一个具体的文件系统：超级块对象：  </a:t>
            </a:r>
            <a:r>
              <a:rPr lang="en-US" altLang="zh-CN" smtClean="0">
                <a:hlinkClick r:id="rId2" action="ppaction://hlinkfile"/>
              </a:rPr>
              <a:t>super_block</a:t>
            </a:r>
            <a:endParaRPr lang="en-US" altLang="zh-CN" smtClean="0"/>
          </a:p>
          <a:p>
            <a:pPr eaLnBrk="1" hangingPunct="1"/>
            <a:r>
              <a:rPr lang="zh-CN" altLang="en-US" smtClean="0"/>
              <a:t>一个具体的文件：</a:t>
            </a:r>
            <a:r>
              <a:rPr lang="en-US" altLang="zh-CN" smtClean="0"/>
              <a:t>Inode</a:t>
            </a:r>
            <a:r>
              <a:rPr lang="zh-CN" altLang="en-US" smtClean="0"/>
              <a:t>对象：   </a:t>
            </a:r>
            <a:r>
              <a:rPr lang="en-US" altLang="zh-CN" smtClean="0">
                <a:hlinkClick r:id="rId3" action="ppaction://hlinkfile"/>
              </a:rPr>
              <a:t>inode</a:t>
            </a:r>
            <a:endParaRPr lang="en-US" altLang="zh-CN" smtClean="0"/>
          </a:p>
          <a:p>
            <a:pPr eaLnBrk="1" hangingPunct="1"/>
            <a:r>
              <a:rPr lang="zh-CN" altLang="en-US" smtClean="0"/>
              <a:t>一个打开文件：文件对象：</a:t>
            </a:r>
            <a:r>
              <a:rPr lang="en-US" altLang="zh-CN" smtClean="0">
                <a:hlinkClick r:id="rId4" action="ppaction://hlinkfile"/>
              </a:rPr>
              <a:t>file</a:t>
            </a:r>
            <a:endParaRPr lang="en-US" altLang="zh-CN" smtClean="0"/>
          </a:p>
          <a:p>
            <a:pPr eaLnBrk="1" hangingPunct="1"/>
            <a:r>
              <a:rPr lang="zh-CN" altLang="en-US" smtClean="0"/>
              <a:t>目录项对象：</a:t>
            </a:r>
            <a:r>
              <a:rPr lang="en-US" altLang="zh-CN" smtClean="0">
                <a:hlinkClick r:id="rId5" action="ppaction://hlinkfile"/>
              </a:rPr>
              <a:t>dentry</a:t>
            </a:r>
            <a:endParaRPr lang="en-US" altLang="zh-CN" smtClean="0"/>
          </a:p>
        </p:txBody>
      </p:sp>
    </p:spTree>
    <p:extLst>
      <p:ext uri="{BB962C8B-B14F-4D97-AF65-F5344CB8AC3E}">
        <p14:creationId xmlns:p14="http://schemas.microsoft.com/office/powerpoint/2010/main" val="18997854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smtClean="0"/>
              <a:t>与进程相关的文件</a:t>
            </a:r>
          </a:p>
        </p:txBody>
      </p:sp>
      <p:sp>
        <p:nvSpPr>
          <p:cNvPr id="31747" name="Rectangle 3"/>
          <p:cNvSpPr>
            <a:spLocks noGrp="1" noChangeArrowheads="1"/>
          </p:cNvSpPr>
          <p:nvPr>
            <p:ph type="body" idx="1"/>
          </p:nvPr>
        </p:nvSpPr>
        <p:spPr>
          <a:xfrm>
            <a:off x="539750" y="1052513"/>
            <a:ext cx="7772400" cy="4530725"/>
          </a:xfrm>
        </p:spPr>
        <p:txBody>
          <a:bodyPr/>
          <a:lstStyle/>
          <a:p>
            <a:pPr eaLnBrk="1" hangingPunct="1"/>
            <a:r>
              <a:rPr lang="zh-CN" altLang="en-US" smtClean="0"/>
              <a:t>文件系统相关信息  </a:t>
            </a:r>
            <a:r>
              <a:rPr lang="en-US" altLang="zh-CN" smtClean="0">
                <a:hlinkClick r:id="rId2" action="ppaction://hlinkfile"/>
              </a:rPr>
              <a:t>fs_struct</a:t>
            </a:r>
            <a:endParaRPr lang="en-US" altLang="zh-CN" smtClean="0"/>
          </a:p>
          <a:p>
            <a:pPr eaLnBrk="1" hangingPunct="1"/>
            <a:r>
              <a:rPr lang="zh-CN" altLang="en-US" smtClean="0"/>
              <a:t>打开文件相关信息   </a:t>
            </a:r>
            <a:r>
              <a:rPr lang="en-US" altLang="zh-CN" smtClean="0">
                <a:hlinkClick r:id="rId3" action="ppaction://hlinkfile"/>
              </a:rPr>
              <a:t>files_struct</a:t>
            </a:r>
            <a:endParaRPr lang="en-US" altLang="zh-CN" smtClean="0"/>
          </a:p>
        </p:txBody>
      </p:sp>
      <p:pic>
        <p:nvPicPr>
          <p:cNvPr id="11325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2060575"/>
            <a:ext cx="5327650" cy="507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50711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325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rot="10810101" flipV="1">
            <a:off x="152400" y="457200"/>
            <a:ext cx="8226425" cy="384175"/>
          </a:xfrm>
        </p:spPr>
        <p:txBody>
          <a:bodyPr/>
          <a:lstStyle/>
          <a:p>
            <a:pPr eaLnBrk="1" hangingPunct="1"/>
            <a:r>
              <a:rPr lang="en-US" altLang="zh-CN" sz="3400" smtClean="0"/>
              <a:t> </a:t>
            </a:r>
            <a:r>
              <a:rPr lang="zh-CN" altLang="en-US" sz="3400" smtClean="0"/>
              <a:t>超级块 </a:t>
            </a:r>
            <a:r>
              <a:rPr lang="en-US" altLang="zh-CN" sz="3400" smtClean="0">
                <a:hlinkClick r:id="rId2" action="ppaction://hlinkfile"/>
              </a:rPr>
              <a:t>superblock</a:t>
            </a:r>
            <a:r>
              <a:rPr lang="zh-CN" altLang="en-US" sz="3400" smtClean="0"/>
              <a:t>：作用</a:t>
            </a:r>
          </a:p>
        </p:txBody>
      </p:sp>
      <p:sp>
        <p:nvSpPr>
          <p:cNvPr id="32771" name="Rectangle 3"/>
          <p:cNvSpPr>
            <a:spLocks noGrp="1" noChangeArrowheads="1"/>
          </p:cNvSpPr>
          <p:nvPr>
            <p:ph type="body" idx="1"/>
          </p:nvPr>
        </p:nvSpPr>
        <p:spPr>
          <a:xfrm>
            <a:off x="468313" y="1125538"/>
            <a:ext cx="8675687" cy="5616575"/>
          </a:xfrm>
        </p:spPr>
        <p:txBody>
          <a:bodyPr/>
          <a:lstStyle/>
          <a:p>
            <a:pPr eaLnBrk="1" hangingPunct="1">
              <a:lnSpc>
                <a:spcPct val="120000"/>
              </a:lnSpc>
              <a:buClr>
                <a:srgbClr val="3333CC"/>
              </a:buClr>
              <a:buFont typeface="Wingdings" panose="05000000000000000000" pitchFamily="2" charset="2"/>
              <a:buChar char="v"/>
            </a:pPr>
            <a:r>
              <a:rPr lang="zh-CN" altLang="en-US" smtClean="0">
                <a:latin typeface="宋体" panose="02010600030101010101" pitchFamily="2" charset="-122"/>
              </a:rPr>
              <a:t>在文件系统安装时，</a:t>
            </a:r>
            <a:r>
              <a:rPr lang="en-US" altLang="zh-CN" smtClean="0">
                <a:latin typeface="宋体" panose="02010600030101010101" pitchFamily="2" charset="-122"/>
              </a:rPr>
              <a:t>VFS</a:t>
            </a:r>
            <a:r>
              <a:rPr lang="zh-CN" altLang="en-US" smtClean="0">
                <a:latin typeface="宋体" panose="02010600030101010101" pitchFamily="2" charset="-122"/>
              </a:rPr>
              <a:t>根据实际文件系统存放在块设备上的管理信息，在内存中建立</a:t>
            </a:r>
            <a:r>
              <a:rPr lang="zh-CN" altLang="en-US" smtClean="0">
                <a:solidFill>
                  <a:srgbClr val="0000FF"/>
                </a:solidFill>
                <a:latin typeface="宋体" panose="02010600030101010101" pitchFamily="2" charset="-122"/>
              </a:rPr>
              <a:t>一个</a:t>
            </a:r>
            <a:r>
              <a:rPr lang="en-US" altLang="zh-CN" smtClean="0">
                <a:solidFill>
                  <a:srgbClr val="0000FF"/>
                </a:solidFill>
                <a:latin typeface="宋体" panose="02010600030101010101" pitchFamily="2" charset="-122"/>
              </a:rPr>
              <a:t>VFS</a:t>
            </a:r>
            <a:r>
              <a:rPr lang="zh-CN" altLang="en-US" smtClean="0">
                <a:solidFill>
                  <a:srgbClr val="0000FF"/>
                </a:solidFill>
                <a:latin typeface="宋体" panose="02010600030101010101" pitchFamily="2" charset="-122"/>
              </a:rPr>
              <a:t>超级块</a:t>
            </a:r>
            <a:endParaRPr lang="zh-CN" altLang="en-US" smtClean="0">
              <a:solidFill>
                <a:srgbClr val="000000"/>
              </a:solidFill>
              <a:latin typeface="Times New Roman" panose="02020603050405020304" pitchFamily="18" charset="0"/>
            </a:endParaRPr>
          </a:p>
          <a:p>
            <a:pPr eaLnBrk="1" hangingPunct="1">
              <a:lnSpc>
                <a:spcPct val="120000"/>
              </a:lnSpc>
              <a:buClr>
                <a:srgbClr val="3333CC"/>
              </a:buClr>
              <a:buFont typeface="Wingdings" panose="05000000000000000000" pitchFamily="2" charset="2"/>
              <a:buChar char="v"/>
            </a:pPr>
            <a:r>
              <a:rPr lang="en-US" altLang="zh-CN" smtClean="0">
                <a:latin typeface="宋体" panose="02010600030101010101" pitchFamily="2" charset="-122"/>
              </a:rPr>
              <a:t>VFS</a:t>
            </a:r>
            <a:r>
              <a:rPr lang="zh-CN" altLang="en-US" smtClean="0">
                <a:latin typeface="宋体" panose="02010600030101010101" pitchFamily="2" charset="-122"/>
              </a:rPr>
              <a:t>超级块用来描述已安装的文件系统的信息，是一个</a:t>
            </a:r>
            <a:r>
              <a:rPr lang="zh-CN" altLang="en-US" smtClean="0">
                <a:solidFill>
                  <a:srgbClr val="0000FF"/>
                </a:solidFill>
                <a:latin typeface="宋体" panose="02010600030101010101" pitchFamily="2" charset="-122"/>
              </a:rPr>
              <a:t>全局的数据结构</a:t>
            </a:r>
            <a:endParaRPr lang="zh-CN" altLang="en-US" smtClean="0">
              <a:latin typeface="宋体" panose="02010600030101010101" pitchFamily="2" charset="-122"/>
            </a:endParaRPr>
          </a:p>
          <a:p>
            <a:pPr eaLnBrk="1" hangingPunct="1">
              <a:lnSpc>
                <a:spcPct val="120000"/>
              </a:lnSpc>
              <a:buClr>
                <a:srgbClr val="3333CC"/>
              </a:buClr>
              <a:buFont typeface="Wingdings" panose="05000000000000000000" pitchFamily="2" charset="2"/>
              <a:buChar char="v"/>
            </a:pPr>
            <a:r>
              <a:rPr lang="en-US" altLang="zh-CN" smtClean="0">
                <a:latin typeface="宋体" panose="02010600030101010101" pitchFamily="2" charset="-122"/>
              </a:rPr>
              <a:t>VFS</a:t>
            </a:r>
            <a:r>
              <a:rPr lang="zh-CN" altLang="en-US" smtClean="0">
                <a:latin typeface="宋体" panose="02010600030101010101" pitchFamily="2" charset="-122"/>
              </a:rPr>
              <a:t>超级块存在于内存中，它在文件系统安装时建立，并且在文件系统卸载时自动删除 </a:t>
            </a:r>
          </a:p>
          <a:p>
            <a:pPr lvl="1" eaLnBrk="1" hangingPunct="1">
              <a:lnSpc>
                <a:spcPct val="120000"/>
              </a:lnSpc>
              <a:buClr>
                <a:srgbClr val="3333CC"/>
              </a:buClr>
              <a:buFont typeface="Wingdings" panose="05000000000000000000" pitchFamily="2" charset="2"/>
              <a:buChar char="v"/>
            </a:pPr>
            <a:r>
              <a:rPr lang="zh-CN" altLang="en-US" smtClean="0">
                <a:latin typeface="宋体" panose="02010600030101010101" pitchFamily="2" charset="-122"/>
              </a:rPr>
              <a:t>注意：分清楚</a:t>
            </a:r>
            <a:r>
              <a:rPr lang="en-US" altLang="zh-CN" smtClean="0">
                <a:latin typeface="宋体" panose="02010600030101010101" pitchFamily="2" charset="-122"/>
              </a:rPr>
              <a:t>VFS</a:t>
            </a:r>
            <a:r>
              <a:rPr lang="zh-CN" altLang="en-US" smtClean="0">
                <a:latin typeface="宋体" panose="02010600030101010101" pitchFamily="2" charset="-122"/>
              </a:rPr>
              <a:t>超级块和各实际文件系统，如</a:t>
            </a:r>
            <a:r>
              <a:rPr lang="en-US" altLang="zh-CN" smtClean="0">
                <a:latin typeface="宋体" panose="02010600030101010101" pitchFamily="2" charset="-122"/>
              </a:rPr>
              <a:t>EXT2</a:t>
            </a:r>
            <a:r>
              <a:rPr lang="zh-CN" altLang="en-US" smtClean="0">
                <a:latin typeface="宋体" panose="02010600030101010101" pitchFamily="2" charset="-122"/>
              </a:rPr>
              <a:t>的超级块</a:t>
            </a:r>
          </a:p>
          <a:p>
            <a:pPr eaLnBrk="1" hangingPunct="1">
              <a:lnSpc>
                <a:spcPct val="120000"/>
              </a:lnSpc>
              <a:buClr>
                <a:srgbClr val="3333CC"/>
              </a:buClr>
              <a:buFont typeface="Wingdings" panose="05000000000000000000" pitchFamily="2" charset="2"/>
              <a:buChar char="v"/>
            </a:pPr>
            <a:r>
              <a:rPr lang="zh-CN" altLang="en-US" smtClean="0">
                <a:solidFill>
                  <a:srgbClr val="000000"/>
                </a:solidFill>
                <a:latin typeface="Times New Roman" panose="02020603050405020304" pitchFamily="18" charset="0"/>
              </a:rPr>
              <a:t>对每个具体的文件系统来说</a:t>
            </a:r>
            <a:r>
              <a:rPr lang="en-US" altLang="zh-CN" smtClean="0">
                <a:solidFill>
                  <a:srgbClr val="000000"/>
                </a:solidFill>
                <a:latin typeface="Times New Roman" panose="02020603050405020304" pitchFamily="18" charset="0"/>
              </a:rPr>
              <a:t>,</a:t>
            </a:r>
            <a:r>
              <a:rPr lang="zh-CN" altLang="en-US" smtClean="0">
                <a:solidFill>
                  <a:srgbClr val="000000"/>
                </a:solidFill>
                <a:latin typeface="Times New Roman" panose="02020603050405020304" pitchFamily="18" charset="0"/>
              </a:rPr>
              <a:t>都有</a:t>
            </a:r>
            <a:r>
              <a:rPr lang="zh-CN" altLang="en-US" smtClean="0">
                <a:solidFill>
                  <a:srgbClr val="0000FF"/>
                </a:solidFill>
                <a:latin typeface="Times New Roman" panose="02020603050405020304" pitchFamily="18" charset="0"/>
              </a:rPr>
              <a:t>各自的超级块</a:t>
            </a:r>
            <a:r>
              <a:rPr lang="en-US" altLang="zh-CN" smtClean="0">
                <a:solidFill>
                  <a:srgbClr val="000000"/>
                </a:solidFill>
                <a:latin typeface="Times New Roman" panose="02020603050405020304" pitchFamily="18" charset="0"/>
              </a:rPr>
              <a:t>, </a:t>
            </a:r>
            <a:r>
              <a:rPr lang="zh-CN" altLang="en-US" smtClean="0">
                <a:solidFill>
                  <a:srgbClr val="000000"/>
                </a:solidFill>
                <a:latin typeface="Times New Roman" panose="02020603050405020304" pitchFamily="18" charset="0"/>
              </a:rPr>
              <a:t>如</a:t>
            </a:r>
            <a:r>
              <a:rPr lang="en-US" altLang="zh-CN" smtClean="0">
                <a:solidFill>
                  <a:srgbClr val="000000"/>
                </a:solidFill>
                <a:latin typeface="Times New Roman" panose="02020603050405020304" pitchFamily="18" charset="0"/>
              </a:rPr>
              <a:t>Ext2</a:t>
            </a:r>
            <a:r>
              <a:rPr lang="zh-CN" altLang="en-US" smtClean="0">
                <a:solidFill>
                  <a:srgbClr val="000000"/>
                </a:solidFill>
                <a:latin typeface="Times New Roman" panose="02020603050405020304" pitchFamily="18" charset="0"/>
              </a:rPr>
              <a:t>超级块，它们存放于磁盘</a:t>
            </a:r>
          </a:p>
        </p:txBody>
      </p:sp>
    </p:spTree>
    <p:extLst>
      <p:ext uri="{BB962C8B-B14F-4D97-AF65-F5344CB8AC3E}">
        <p14:creationId xmlns:p14="http://schemas.microsoft.com/office/powerpoint/2010/main" val="36866751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rot="10810101" flipV="1">
            <a:off x="152400" y="457200"/>
            <a:ext cx="8226425" cy="384175"/>
          </a:xfrm>
        </p:spPr>
        <p:txBody>
          <a:bodyPr/>
          <a:lstStyle/>
          <a:p>
            <a:pPr eaLnBrk="1" hangingPunct="1"/>
            <a:r>
              <a:rPr lang="en-US" altLang="zh-CN" sz="3400" smtClean="0"/>
              <a:t> </a:t>
            </a:r>
            <a:r>
              <a:rPr lang="zh-CN" altLang="en-US" sz="3400" smtClean="0"/>
              <a:t>超级块</a:t>
            </a:r>
            <a:r>
              <a:rPr lang="en-US" altLang="zh-CN" sz="3400" smtClean="0"/>
              <a:t>superblock</a:t>
            </a:r>
          </a:p>
        </p:txBody>
      </p:sp>
      <p:sp>
        <p:nvSpPr>
          <p:cNvPr id="33795" name="Rectangle 3"/>
          <p:cNvSpPr>
            <a:spLocks noGrp="1" noChangeArrowheads="1"/>
          </p:cNvSpPr>
          <p:nvPr>
            <p:ph type="body" idx="1"/>
          </p:nvPr>
        </p:nvSpPr>
        <p:spPr>
          <a:xfrm>
            <a:off x="457200" y="1143000"/>
            <a:ext cx="7848600" cy="5257800"/>
          </a:xfrm>
        </p:spPr>
        <p:txBody>
          <a:bodyPr/>
          <a:lstStyle/>
          <a:p>
            <a:pPr algn="just" eaLnBrk="1" hangingPunct="1"/>
            <a:r>
              <a:rPr lang="zh-CN" altLang="en-US" sz="3200" smtClean="0">
                <a:latin typeface="宋体" panose="02010600030101010101" pitchFamily="2" charset="-122"/>
              </a:rPr>
              <a:t>主要信息：</a:t>
            </a:r>
          </a:p>
          <a:p>
            <a:pPr eaLnBrk="1" hangingPunct="1">
              <a:buFont typeface="Wingdings" panose="05000000000000000000" pitchFamily="2" charset="2"/>
              <a:buNone/>
            </a:pPr>
            <a:r>
              <a:rPr lang="zh-CN" altLang="en-US" sz="3200" smtClean="0">
                <a:latin typeface="宋体" panose="02010600030101010101" pitchFamily="2" charset="-122"/>
              </a:rPr>
              <a:t>          （</a:t>
            </a:r>
            <a:r>
              <a:rPr lang="en-US" altLang="zh-CN" sz="3200" smtClean="0">
                <a:latin typeface="宋体" panose="02010600030101010101" pitchFamily="2" charset="-122"/>
              </a:rPr>
              <a:t>1</a:t>
            </a:r>
            <a:r>
              <a:rPr lang="zh-CN" altLang="en-US" sz="3200" smtClean="0">
                <a:latin typeface="宋体" panose="02010600030101010101" pitchFamily="2" charset="-122"/>
              </a:rPr>
              <a:t>） 设备标识符。</a:t>
            </a:r>
          </a:p>
          <a:p>
            <a:pPr eaLnBrk="1" hangingPunct="1">
              <a:buFont typeface="Wingdings" panose="05000000000000000000" pitchFamily="2" charset="2"/>
              <a:buNone/>
            </a:pPr>
            <a:r>
              <a:rPr lang="zh-CN" altLang="en-US" sz="3200" smtClean="0">
                <a:latin typeface="宋体" panose="02010600030101010101" pitchFamily="2" charset="-122"/>
              </a:rPr>
              <a:t>          （</a:t>
            </a:r>
            <a:r>
              <a:rPr lang="en-US" altLang="zh-CN" sz="3200" smtClean="0">
                <a:latin typeface="宋体" panose="02010600030101010101" pitchFamily="2" charset="-122"/>
              </a:rPr>
              <a:t>2</a:t>
            </a:r>
            <a:r>
              <a:rPr lang="zh-CN" altLang="en-US" sz="3200" smtClean="0">
                <a:latin typeface="宋体" panose="02010600030101010101" pitchFamily="2" charset="-122"/>
              </a:rPr>
              <a:t>） 索引节点指针。  </a:t>
            </a:r>
          </a:p>
          <a:p>
            <a:pPr eaLnBrk="1" hangingPunct="1">
              <a:buFont typeface="Wingdings" panose="05000000000000000000" pitchFamily="2" charset="2"/>
              <a:buNone/>
            </a:pPr>
            <a:r>
              <a:rPr lang="zh-CN" altLang="en-US" sz="3200" smtClean="0">
                <a:latin typeface="宋体" panose="02010600030101010101" pitchFamily="2" charset="-122"/>
              </a:rPr>
              <a:t>          （</a:t>
            </a:r>
            <a:r>
              <a:rPr lang="en-US" altLang="zh-CN" sz="3200" smtClean="0">
                <a:latin typeface="宋体" panose="02010600030101010101" pitchFamily="2" charset="-122"/>
              </a:rPr>
              <a:t>3</a:t>
            </a:r>
            <a:r>
              <a:rPr lang="zh-CN" altLang="en-US" sz="3200" smtClean="0">
                <a:latin typeface="宋体" panose="02010600030101010101" pitchFamily="2" charset="-122"/>
              </a:rPr>
              <a:t>） 数据块大小。 </a:t>
            </a:r>
          </a:p>
          <a:p>
            <a:pPr eaLnBrk="1" hangingPunct="1">
              <a:buFont typeface="Wingdings" panose="05000000000000000000" pitchFamily="2" charset="2"/>
              <a:buNone/>
            </a:pPr>
            <a:r>
              <a:rPr lang="zh-CN" altLang="en-US" sz="3200" smtClean="0">
                <a:latin typeface="宋体" panose="02010600030101010101" pitchFamily="2" charset="-122"/>
              </a:rPr>
              <a:t>          （</a:t>
            </a:r>
            <a:r>
              <a:rPr lang="en-US" altLang="zh-CN" sz="3200" smtClean="0">
                <a:latin typeface="宋体" panose="02010600030101010101" pitchFamily="2" charset="-122"/>
              </a:rPr>
              <a:t>4</a:t>
            </a:r>
            <a:r>
              <a:rPr lang="zh-CN" altLang="en-US" sz="3200" smtClean="0">
                <a:latin typeface="宋体" panose="02010600030101010101" pitchFamily="2" charset="-122"/>
              </a:rPr>
              <a:t>） 超级块操作集。 </a:t>
            </a:r>
          </a:p>
          <a:p>
            <a:pPr eaLnBrk="1" hangingPunct="1">
              <a:buFont typeface="Wingdings" panose="05000000000000000000" pitchFamily="2" charset="2"/>
              <a:buNone/>
            </a:pPr>
            <a:r>
              <a:rPr lang="zh-CN" altLang="en-US" sz="3200" smtClean="0">
                <a:latin typeface="宋体" panose="02010600030101010101" pitchFamily="2" charset="-122"/>
              </a:rPr>
              <a:t>          （</a:t>
            </a:r>
            <a:r>
              <a:rPr lang="en-US" altLang="zh-CN" sz="3200" smtClean="0">
                <a:latin typeface="宋体" panose="02010600030101010101" pitchFamily="2" charset="-122"/>
              </a:rPr>
              <a:t>5</a:t>
            </a:r>
            <a:r>
              <a:rPr lang="zh-CN" altLang="en-US" sz="3200" smtClean="0">
                <a:latin typeface="宋体" panose="02010600030101010101" pitchFamily="2" charset="-122"/>
              </a:rPr>
              <a:t>） 文件系统类型。 </a:t>
            </a:r>
          </a:p>
          <a:p>
            <a:pPr eaLnBrk="1" hangingPunct="1">
              <a:buFont typeface="Wingdings" panose="05000000000000000000" pitchFamily="2" charset="2"/>
              <a:buNone/>
            </a:pPr>
            <a:r>
              <a:rPr lang="zh-CN" altLang="en-US" sz="3200" smtClean="0">
                <a:latin typeface="宋体" panose="02010600030101010101" pitchFamily="2" charset="-122"/>
              </a:rPr>
              <a:t>          （</a:t>
            </a:r>
            <a:r>
              <a:rPr lang="en-US" altLang="zh-CN" sz="3200" smtClean="0">
                <a:latin typeface="宋体" panose="02010600030101010101" pitchFamily="2" charset="-122"/>
              </a:rPr>
              <a:t>6</a:t>
            </a:r>
            <a:r>
              <a:rPr lang="zh-CN" altLang="en-US" sz="3200" smtClean="0">
                <a:latin typeface="宋体" panose="02010600030101010101" pitchFamily="2" charset="-122"/>
              </a:rPr>
              <a:t>） 文件系统的特殊信息。</a:t>
            </a:r>
          </a:p>
        </p:txBody>
      </p:sp>
    </p:spTree>
    <p:extLst>
      <p:ext uri="{BB962C8B-B14F-4D97-AF65-F5344CB8AC3E}">
        <p14:creationId xmlns:p14="http://schemas.microsoft.com/office/powerpoint/2010/main" val="36541174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AutoShape 2"/>
          <p:cNvSpPr>
            <a:spLocks noChangeArrowheads="1"/>
          </p:cNvSpPr>
          <p:nvPr/>
        </p:nvSpPr>
        <p:spPr bwMode="auto">
          <a:xfrm>
            <a:off x="35496" y="398463"/>
            <a:ext cx="8893175" cy="6459537"/>
          </a:xfrm>
          <a:prstGeom prst="flowChartAlternateProcess">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80000"/>
              </a:lnSpc>
            </a:pPr>
            <a:r>
              <a:rPr lang="en-US" altLang="zh-CN" sz="2000" dirty="0" err="1">
                <a:solidFill>
                  <a:schemeClr val="accent2"/>
                </a:solidFill>
                <a:latin typeface="Arial" panose="020B0604020202020204" pitchFamily="34" charset="0"/>
              </a:rPr>
              <a:t>struct</a:t>
            </a:r>
            <a:r>
              <a:rPr lang="en-US" altLang="zh-CN" sz="2000" dirty="0">
                <a:solidFill>
                  <a:schemeClr val="accent2"/>
                </a:solidFill>
                <a:latin typeface="Arial" panose="020B0604020202020204" pitchFamily="34" charset="0"/>
              </a:rPr>
              <a:t> </a:t>
            </a:r>
            <a:r>
              <a:rPr lang="en-US" altLang="zh-CN" sz="2000" dirty="0" err="1">
                <a:solidFill>
                  <a:schemeClr val="accent2"/>
                </a:solidFill>
                <a:latin typeface="Arial" panose="020B0604020202020204" pitchFamily="34" charset="0"/>
              </a:rPr>
              <a:t>super_block</a:t>
            </a:r>
            <a:r>
              <a:rPr lang="en-US" altLang="zh-CN" sz="2000" dirty="0">
                <a:latin typeface="Arial" panose="020B0604020202020204" pitchFamily="34" charset="0"/>
              </a:rPr>
              <a:t> {</a:t>
            </a:r>
          </a:p>
          <a:p>
            <a:pPr algn="l" eaLnBrk="1" hangingPunct="1">
              <a:lnSpc>
                <a:spcPct val="80000"/>
              </a:lnSpc>
            </a:pPr>
            <a:r>
              <a:rPr lang="en-US" altLang="zh-CN" sz="2000" dirty="0" err="1">
                <a:latin typeface="Arial" panose="020B0604020202020204" pitchFamily="34" charset="0"/>
              </a:rPr>
              <a:t>struct</a:t>
            </a:r>
            <a:r>
              <a:rPr lang="en-US" altLang="zh-CN" sz="2000" dirty="0">
                <a:latin typeface="Arial" panose="020B0604020202020204" pitchFamily="34" charset="0"/>
              </a:rPr>
              <a:t> </a:t>
            </a:r>
            <a:r>
              <a:rPr lang="en-US" altLang="zh-CN" sz="2000" dirty="0" err="1">
                <a:latin typeface="Arial" panose="020B0604020202020204" pitchFamily="34" charset="0"/>
              </a:rPr>
              <a:t>list_head</a:t>
            </a:r>
            <a:r>
              <a:rPr lang="en-US" altLang="zh-CN" sz="2000" dirty="0">
                <a:latin typeface="Arial" panose="020B0604020202020204" pitchFamily="34" charset="0"/>
              </a:rPr>
              <a:t>      </a:t>
            </a:r>
            <a:r>
              <a:rPr lang="en-US" altLang="zh-CN" sz="2000" dirty="0" err="1">
                <a:latin typeface="Arial" panose="020B0604020202020204" pitchFamily="34" charset="0"/>
              </a:rPr>
              <a:t>s_list</a:t>
            </a:r>
            <a:r>
              <a:rPr lang="en-US" altLang="zh-CN" sz="2000" dirty="0">
                <a:latin typeface="Arial" panose="020B0604020202020204" pitchFamily="34" charset="0"/>
              </a:rPr>
              <a:t>;   /*</a:t>
            </a:r>
            <a:r>
              <a:rPr lang="zh-CN" altLang="en-US" sz="2000" dirty="0">
                <a:latin typeface="Arial" panose="020B0604020202020204" pitchFamily="34" charset="0"/>
              </a:rPr>
              <a:t>文件链表头超级块指针*</a:t>
            </a:r>
            <a:r>
              <a:rPr lang="en-US" altLang="zh-CN" sz="2000" dirty="0">
                <a:latin typeface="Arial" panose="020B0604020202020204" pitchFamily="34" charset="0"/>
              </a:rPr>
              <a:t>/</a:t>
            </a:r>
          </a:p>
          <a:p>
            <a:pPr algn="l" eaLnBrk="1" hangingPunct="1">
              <a:lnSpc>
                <a:spcPct val="80000"/>
              </a:lnSpc>
            </a:pPr>
            <a:r>
              <a:rPr lang="en-US" altLang="zh-CN" sz="2000" dirty="0" err="1">
                <a:latin typeface="Arial" panose="020B0604020202020204" pitchFamily="34" charset="0"/>
              </a:rPr>
              <a:t>kdev_t</a:t>
            </a:r>
            <a:r>
              <a:rPr lang="en-US" altLang="zh-CN" sz="2000" dirty="0">
                <a:latin typeface="Arial" panose="020B0604020202020204" pitchFamily="34" charset="0"/>
              </a:rPr>
              <a:t>  </a:t>
            </a:r>
            <a:r>
              <a:rPr lang="en-US" altLang="zh-CN" sz="2000" dirty="0" err="1">
                <a:latin typeface="Arial" panose="020B0604020202020204" pitchFamily="34" charset="0"/>
              </a:rPr>
              <a:t>s_dev</a:t>
            </a:r>
            <a:r>
              <a:rPr lang="en-US" altLang="zh-CN" sz="2000" dirty="0">
                <a:latin typeface="Arial" panose="020B0604020202020204" pitchFamily="34" charset="0"/>
              </a:rPr>
              <a:t>;		/* </a:t>
            </a:r>
            <a:r>
              <a:rPr lang="zh-CN" altLang="en-US" sz="2000" dirty="0">
                <a:latin typeface="Arial" panose="020B0604020202020204" pitchFamily="34" charset="0"/>
              </a:rPr>
              <a:t>该文件系统的主次设备号 *</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unsigned long  </a:t>
            </a:r>
            <a:r>
              <a:rPr lang="en-US" altLang="zh-CN" sz="2000" dirty="0" err="1">
                <a:latin typeface="Arial" panose="020B0604020202020204" pitchFamily="34" charset="0"/>
              </a:rPr>
              <a:t>s_blocksize</a:t>
            </a:r>
            <a:r>
              <a:rPr lang="en-US" altLang="zh-CN" sz="2000" dirty="0">
                <a:latin typeface="Arial" panose="020B0604020202020204" pitchFamily="34" charset="0"/>
              </a:rPr>
              <a:t>;	/*</a:t>
            </a:r>
            <a:r>
              <a:rPr lang="zh-CN" altLang="en-US" sz="2000" dirty="0">
                <a:latin typeface="Arial" panose="020B0604020202020204" pitchFamily="34" charset="0"/>
              </a:rPr>
              <a:t>数据</a:t>
            </a:r>
            <a:r>
              <a:rPr lang="en-US" altLang="zh-CN" sz="2000" dirty="0">
                <a:latin typeface="Arial" panose="020B0604020202020204" pitchFamily="34" charset="0"/>
              </a:rPr>
              <a:t> </a:t>
            </a:r>
            <a:r>
              <a:rPr lang="zh-CN" altLang="en-US" sz="2000" dirty="0">
                <a:latin typeface="Arial" panose="020B0604020202020204" pitchFamily="34" charset="0"/>
              </a:rPr>
              <a:t>块大小 *</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unsigned char  </a:t>
            </a:r>
            <a:r>
              <a:rPr lang="en-US" altLang="zh-CN" sz="2000" dirty="0" err="1">
                <a:latin typeface="Arial" panose="020B0604020202020204" pitchFamily="34" charset="0"/>
              </a:rPr>
              <a:t>s_blocksize_bits</a:t>
            </a:r>
            <a:r>
              <a:rPr lang="en-US" altLang="zh-CN" sz="2000" dirty="0">
                <a:latin typeface="Arial" panose="020B0604020202020204" pitchFamily="34" charset="0"/>
              </a:rPr>
              <a:t>;	/* </a:t>
            </a:r>
            <a:r>
              <a:rPr lang="zh-CN" altLang="en-US" sz="2000" dirty="0">
                <a:latin typeface="Arial" panose="020B0604020202020204" pitchFamily="34" charset="0"/>
              </a:rPr>
              <a:t>块大小值占的位数，以</a:t>
            </a:r>
            <a:r>
              <a:rPr lang="en-US" altLang="zh-CN" sz="2000" dirty="0">
                <a:latin typeface="Arial" panose="020B0604020202020204" pitchFamily="34" charset="0"/>
              </a:rPr>
              <a:t>2</a:t>
            </a:r>
            <a:r>
              <a:rPr lang="zh-CN" altLang="en-US" sz="2000" dirty="0">
                <a:latin typeface="Arial" panose="020B0604020202020204" pitchFamily="34" charset="0"/>
              </a:rPr>
              <a:t>的幂次表示块大小 *</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unsigned char  </a:t>
            </a:r>
            <a:r>
              <a:rPr lang="en-US" altLang="zh-CN" sz="2000" dirty="0" err="1">
                <a:latin typeface="Arial" panose="020B0604020202020204" pitchFamily="34" charset="0"/>
              </a:rPr>
              <a:t>s_lock</a:t>
            </a:r>
            <a:r>
              <a:rPr lang="en-US" altLang="zh-CN" sz="2000" dirty="0">
                <a:latin typeface="Arial" panose="020B0604020202020204" pitchFamily="34" charset="0"/>
              </a:rPr>
              <a:t>;		/* </a:t>
            </a:r>
            <a:r>
              <a:rPr lang="zh-CN" altLang="en-US" sz="2000" dirty="0">
                <a:latin typeface="Arial" panose="020B0604020202020204" pitchFamily="34" charset="0"/>
              </a:rPr>
              <a:t>锁定标志，置位表示拒绝其他进程访问 *</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unsigned char  </a:t>
            </a:r>
            <a:r>
              <a:rPr lang="en-US" altLang="zh-CN" sz="2000" dirty="0" err="1">
                <a:latin typeface="Arial" panose="020B0604020202020204" pitchFamily="34" charset="0"/>
              </a:rPr>
              <a:t>s_rd_only</a:t>
            </a:r>
            <a:r>
              <a:rPr lang="en-US" altLang="zh-CN" sz="2000" dirty="0">
                <a:latin typeface="Arial" panose="020B0604020202020204" pitchFamily="34" charset="0"/>
              </a:rPr>
              <a:t>;		/* </a:t>
            </a:r>
            <a:r>
              <a:rPr lang="zh-CN" altLang="en-US" sz="2000" dirty="0">
                <a:latin typeface="Arial" panose="020B0604020202020204" pitchFamily="34" charset="0"/>
              </a:rPr>
              <a:t>只读标志 *</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unsigned char  </a:t>
            </a:r>
            <a:r>
              <a:rPr lang="en-US" altLang="zh-CN" sz="2000" dirty="0" err="1">
                <a:latin typeface="Arial" panose="020B0604020202020204" pitchFamily="34" charset="0"/>
              </a:rPr>
              <a:t>s_dirt</a:t>
            </a:r>
            <a:r>
              <a:rPr lang="en-US" altLang="zh-CN" sz="2000" dirty="0">
                <a:latin typeface="Arial" panose="020B0604020202020204" pitchFamily="34" charset="0"/>
              </a:rPr>
              <a:t>;		/* </a:t>
            </a:r>
            <a:r>
              <a:rPr lang="zh-CN" altLang="en-US" sz="2000" dirty="0">
                <a:latin typeface="Arial" panose="020B0604020202020204" pitchFamily="34" charset="0"/>
              </a:rPr>
              <a:t>已修改标志 ，若为</a:t>
            </a:r>
            <a:r>
              <a:rPr lang="en-US" altLang="zh-CN" sz="2000" dirty="0">
                <a:latin typeface="Arial" panose="020B0604020202020204" pitchFamily="34" charset="0"/>
              </a:rPr>
              <a:t>1</a:t>
            </a:r>
            <a:r>
              <a:rPr lang="zh-CN" altLang="en-US" sz="2000" dirty="0">
                <a:latin typeface="Arial" panose="020B0604020202020204" pitchFamily="34" charset="0"/>
              </a:rPr>
              <a:t>，表明超级块已经被修改*</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a:t>
            </a:r>
            <a:r>
              <a:rPr lang="en-US" altLang="zh-CN" sz="2000" dirty="0" err="1">
                <a:latin typeface="Arial" panose="020B0604020202020204" pitchFamily="34" charset="0"/>
              </a:rPr>
              <a:t>struct</a:t>
            </a:r>
            <a:r>
              <a:rPr lang="en-US" altLang="zh-CN" sz="2000" dirty="0">
                <a:latin typeface="Arial" panose="020B0604020202020204" pitchFamily="34" charset="0"/>
              </a:rPr>
              <a:t> </a:t>
            </a:r>
            <a:r>
              <a:rPr lang="en-US" altLang="zh-CN" sz="2000" dirty="0" err="1">
                <a:latin typeface="Arial" panose="020B0604020202020204" pitchFamily="34" charset="0"/>
              </a:rPr>
              <a:t>file_system_type</a:t>
            </a:r>
            <a:r>
              <a:rPr lang="en-US" altLang="zh-CN" sz="2000" dirty="0">
                <a:latin typeface="Arial" panose="020B0604020202020204" pitchFamily="34" charset="0"/>
              </a:rPr>
              <a:t>* </a:t>
            </a:r>
            <a:r>
              <a:rPr lang="en-US" altLang="zh-CN" sz="2000" dirty="0" err="1">
                <a:latin typeface="Arial" panose="020B0604020202020204" pitchFamily="34" charset="0"/>
              </a:rPr>
              <a:t>s_type</a:t>
            </a:r>
            <a:r>
              <a:rPr lang="en-US" altLang="zh-CN" sz="2000" dirty="0">
                <a:latin typeface="Arial" panose="020B0604020202020204" pitchFamily="34" charset="0"/>
              </a:rPr>
              <a:t>;	/* </a:t>
            </a:r>
            <a:r>
              <a:rPr lang="zh-CN" altLang="en-US" sz="2000" dirty="0">
                <a:latin typeface="Arial" panose="020B0604020202020204" pitchFamily="34" charset="0"/>
              </a:rPr>
              <a:t>指向文件系统类型注册表相应项 *</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a:t>
            </a:r>
            <a:r>
              <a:rPr lang="en-US" altLang="zh-CN" sz="2000" dirty="0" err="1">
                <a:latin typeface="Arial" panose="020B0604020202020204" pitchFamily="34" charset="0"/>
              </a:rPr>
              <a:t>struct</a:t>
            </a:r>
            <a:r>
              <a:rPr lang="en-US" altLang="zh-CN" sz="2000" dirty="0">
                <a:latin typeface="Arial" panose="020B0604020202020204" pitchFamily="34" charset="0"/>
              </a:rPr>
              <a:t> </a:t>
            </a:r>
            <a:r>
              <a:rPr lang="en-US" altLang="zh-CN" sz="2000" dirty="0" err="1">
                <a:latin typeface="Arial" panose="020B0604020202020204" pitchFamily="34" charset="0"/>
              </a:rPr>
              <a:t>super_operations</a:t>
            </a:r>
            <a:r>
              <a:rPr lang="en-US" altLang="zh-CN" sz="2000" dirty="0">
                <a:latin typeface="Arial" panose="020B0604020202020204" pitchFamily="34" charset="0"/>
              </a:rPr>
              <a:t>* </a:t>
            </a:r>
            <a:r>
              <a:rPr lang="en-US" altLang="zh-CN" sz="2000" dirty="0" err="1">
                <a:latin typeface="Arial" panose="020B0604020202020204" pitchFamily="34" charset="0"/>
              </a:rPr>
              <a:t>s_op</a:t>
            </a:r>
            <a:r>
              <a:rPr lang="en-US" altLang="zh-CN" sz="2000" dirty="0">
                <a:latin typeface="Arial" panose="020B0604020202020204" pitchFamily="34" charset="0"/>
              </a:rPr>
              <a:t>;	/* </a:t>
            </a:r>
            <a:r>
              <a:rPr lang="zh-CN" altLang="en-US" sz="2000" dirty="0">
                <a:latin typeface="Arial" panose="020B0604020202020204" pitchFamily="34" charset="0"/>
              </a:rPr>
              <a:t>指向一组操作该文件系统的函数 *</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a:t>
            </a:r>
            <a:r>
              <a:rPr lang="en-US" altLang="zh-CN" sz="2000" dirty="0" err="1">
                <a:latin typeface="Arial" panose="020B0604020202020204" pitchFamily="34" charset="0"/>
              </a:rPr>
              <a:t>struct</a:t>
            </a:r>
            <a:r>
              <a:rPr lang="en-US" altLang="zh-CN" sz="2000" dirty="0">
                <a:latin typeface="Arial" panose="020B0604020202020204" pitchFamily="34" charset="0"/>
              </a:rPr>
              <a:t> </a:t>
            </a:r>
            <a:r>
              <a:rPr lang="en-US" altLang="zh-CN" sz="2000" dirty="0" err="1">
                <a:latin typeface="Arial" panose="020B0604020202020204" pitchFamily="34" charset="0"/>
              </a:rPr>
              <a:t>dquot_operations</a:t>
            </a:r>
            <a:r>
              <a:rPr lang="en-US" altLang="zh-CN" sz="2000" dirty="0">
                <a:latin typeface="Arial" panose="020B0604020202020204" pitchFamily="34" charset="0"/>
              </a:rPr>
              <a:t>* </a:t>
            </a:r>
            <a:r>
              <a:rPr lang="en-US" altLang="zh-CN" sz="2000" dirty="0" err="1">
                <a:latin typeface="Arial" panose="020B0604020202020204" pitchFamily="34" charset="0"/>
              </a:rPr>
              <a:t>dq_op</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unsigned long  </a:t>
            </a:r>
            <a:r>
              <a:rPr lang="en-US" altLang="zh-CN" sz="2000" dirty="0" err="1">
                <a:latin typeface="Arial" panose="020B0604020202020204" pitchFamily="34" charset="0"/>
              </a:rPr>
              <a:t>s_flags</a:t>
            </a:r>
            <a:r>
              <a:rPr lang="en-US" altLang="zh-CN" sz="2000" dirty="0">
                <a:latin typeface="Arial" panose="020B0604020202020204" pitchFamily="34" charset="0"/>
              </a:rPr>
              <a:t>;/*</a:t>
            </a:r>
            <a:r>
              <a:rPr lang="zh-CN" altLang="en-US" sz="2000" dirty="0">
                <a:latin typeface="Arial" panose="020B0604020202020204" pitchFamily="34" charset="0"/>
              </a:rPr>
              <a:t>文件系统标志*</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unsigned long  </a:t>
            </a:r>
            <a:r>
              <a:rPr lang="en-US" altLang="zh-CN" sz="2000" dirty="0" err="1">
                <a:latin typeface="Arial" panose="020B0604020202020204" pitchFamily="34" charset="0"/>
              </a:rPr>
              <a:t>s_magic</a:t>
            </a:r>
            <a:r>
              <a:rPr lang="en-US" altLang="zh-CN" sz="2000" dirty="0">
                <a:latin typeface="Arial" panose="020B0604020202020204" pitchFamily="34" charset="0"/>
              </a:rPr>
              <a:t>; /*</a:t>
            </a:r>
            <a:r>
              <a:rPr lang="zh-CN" altLang="en-US" sz="2000" dirty="0">
                <a:latin typeface="Arial" panose="020B0604020202020204" pitchFamily="34" charset="0"/>
              </a:rPr>
              <a:t>文件系统幻数*</a:t>
            </a:r>
            <a:r>
              <a:rPr lang="en-US" altLang="zh-CN" sz="2000" dirty="0">
                <a:latin typeface="Arial" panose="020B0604020202020204" pitchFamily="34" charset="0"/>
              </a:rPr>
              <a:t>/</a:t>
            </a:r>
          </a:p>
          <a:p>
            <a:pPr algn="l" eaLnBrk="1" hangingPunct="1">
              <a:lnSpc>
                <a:spcPct val="80000"/>
              </a:lnSpc>
            </a:pPr>
            <a:r>
              <a:rPr lang="en-US" altLang="zh-CN" sz="2000" dirty="0">
                <a:latin typeface="Arial" panose="020B0604020202020204" pitchFamily="34" charset="0"/>
              </a:rPr>
              <a:t>  ……</a:t>
            </a:r>
          </a:p>
          <a:p>
            <a:pPr algn="l" eaLnBrk="1" hangingPunct="1">
              <a:lnSpc>
                <a:spcPct val="80000"/>
              </a:lnSpc>
            </a:pPr>
            <a:r>
              <a:rPr lang="en-US" altLang="zh-CN" sz="2000" dirty="0">
                <a:latin typeface="Arial" panose="020B0604020202020204" pitchFamily="34" charset="0"/>
              </a:rPr>
              <a:t>  </a:t>
            </a:r>
            <a:r>
              <a:rPr lang="en-US" altLang="zh-CN" sz="2000" dirty="0">
                <a:solidFill>
                  <a:srgbClr val="0000FF"/>
                </a:solidFill>
                <a:latin typeface="Arial" panose="020B0604020202020204" pitchFamily="34" charset="0"/>
              </a:rPr>
              <a:t>union { </a:t>
            </a:r>
            <a:r>
              <a:rPr lang="zh-CN" altLang="en-US" sz="2000" dirty="0">
                <a:solidFill>
                  <a:srgbClr val="0000FF"/>
                </a:solidFill>
                <a:latin typeface="Arial" panose="020B0604020202020204" pitchFamily="34" charset="0"/>
              </a:rPr>
              <a:t>各个物理文件系统超级块的结构类型 </a:t>
            </a:r>
            <a:r>
              <a:rPr lang="en-US" altLang="zh-CN" sz="2000" dirty="0">
                <a:solidFill>
                  <a:srgbClr val="0000FF"/>
                </a:solidFill>
                <a:latin typeface="Arial" panose="020B0604020202020204" pitchFamily="34" charset="0"/>
              </a:rPr>
              <a:t>}  u;  </a:t>
            </a:r>
            <a:r>
              <a:rPr lang="en-US" altLang="zh-CN" sz="2000" dirty="0">
                <a:latin typeface="Arial" panose="020B0604020202020204" pitchFamily="34" charset="0"/>
              </a:rPr>
              <a:t>/*</a:t>
            </a:r>
            <a:r>
              <a:rPr lang="zh-CN" altLang="en-US" sz="2000" dirty="0">
                <a:latin typeface="Arial" panose="020B0604020202020204" pitchFamily="34" charset="0"/>
              </a:rPr>
              <a:t>问津系统的私有信息</a:t>
            </a:r>
            <a:r>
              <a:rPr lang="en-US" altLang="zh-CN" sz="2000" dirty="0">
                <a:latin typeface="Arial" panose="020B0604020202020204" pitchFamily="34" charset="0"/>
              </a:rPr>
              <a:t>*/</a:t>
            </a:r>
          </a:p>
          <a:p>
            <a:pPr algn="l" eaLnBrk="1" hangingPunct="1">
              <a:lnSpc>
                <a:spcPct val="80000"/>
              </a:lnSpc>
            </a:pPr>
            <a:r>
              <a:rPr lang="en-US" altLang="zh-CN" sz="2000" dirty="0">
                <a:solidFill>
                  <a:srgbClr val="0000FF"/>
                </a:solidFill>
                <a:latin typeface="Arial" panose="020B0604020202020204" pitchFamily="34" charset="0"/>
              </a:rPr>
              <a:t>};</a:t>
            </a:r>
          </a:p>
          <a:p>
            <a:pPr algn="l" eaLnBrk="1" hangingPunct="1">
              <a:lnSpc>
                <a:spcPct val="115000"/>
              </a:lnSpc>
              <a:spcBef>
                <a:spcPct val="0"/>
              </a:spcBef>
              <a:buClrTx/>
              <a:buSzTx/>
              <a:buFontTx/>
              <a:buNone/>
            </a:pPr>
            <a:endParaRPr lang="en-US" altLang="zh-CN" sz="2000" b="1" dirty="0">
              <a:solidFill>
                <a:srgbClr val="3333CC"/>
              </a:solidFill>
              <a:latin typeface="宋体" panose="02010600030101010101" pitchFamily="2" charset="-122"/>
              <a:cs typeface="Times New Roman" panose="02020603050405020304" pitchFamily="18" charset="0"/>
            </a:endParaRPr>
          </a:p>
        </p:txBody>
      </p:sp>
      <p:sp>
        <p:nvSpPr>
          <p:cNvPr id="34819" name="Rectangle 3"/>
          <p:cNvSpPr>
            <a:spLocks noGrp="1" noChangeArrowheads="1"/>
          </p:cNvSpPr>
          <p:nvPr>
            <p:ph type="title"/>
          </p:nvPr>
        </p:nvSpPr>
        <p:spPr>
          <a:xfrm rot="10810101" flipV="1">
            <a:off x="0" y="0"/>
            <a:ext cx="8226425" cy="384175"/>
          </a:xfrm>
          <a:noFill/>
        </p:spPr>
        <p:txBody>
          <a:bodyPr/>
          <a:lstStyle/>
          <a:p>
            <a:pPr eaLnBrk="1" hangingPunct="1"/>
            <a:r>
              <a:rPr lang="en-US" altLang="zh-CN" sz="3000" smtClean="0"/>
              <a:t> </a:t>
            </a:r>
            <a:r>
              <a:rPr lang="zh-CN" altLang="en-US" sz="3000" smtClean="0"/>
              <a:t>超级块</a:t>
            </a:r>
          </a:p>
        </p:txBody>
      </p:sp>
    </p:spTree>
    <p:extLst>
      <p:ext uri="{BB962C8B-B14F-4D97-AF65-F5344CB8AC3E}">
        <p14:creationId xmlns:p14="http://schemas.microsoft.com/office/powerpoint/2010/main" val="37299760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rot="10810101" flipV="1">
            <a:off x="152400" y="457200"/>
            <a:ext cx="8226425" cy="384175"/>
          </a:xfrm>
        </p:spPr>
        <p:txBody>
          <a:bodyPr/>
          <a:lstStyle/>
          <a:p>
            <a:pPr eaLnBrk="1" hangingPunct="1"/>
            <a:r>
              <a:rPr lang="en-US" altLang="zh-CN" sz="3400" smtClean="0"/>
              <a:t> </a:t>
            </a:r>
            <a:r>
              <a:rPr lang="zh-CN" altLang="en-US" sz="3400" smtClean="0"/>
              <a:t>超级块</a:t>
            </a:r>
            <a:r>
              <a:rPr lang="en-US" altLang="zh-CN" sz="3400" smtClean="0"/>
              <a:t>superblock</a:t>
            </a:r>
          </a:p>
        </p:txBody>
      </p:sp>
      <p:sp>
        <p:nvSpPr>
          <p:cNvPr id="35843" name="Rectangle 3"/>
          <p:cNvSpPr>
            <a:spLocks noGrp="1" noChangeArrowheads="1"/>
          </p:cNvSpPr>
          <p:nvPr>
            <p:ph type="body" idx="1"/>
          </p:nvPr>
        </p:nvSpPr>
        <p:spPr>
          <a:xfrm>
            <a:off x="457200" y="1143000"/>
            <a:ext cx="7848600" cy="5257800"/>
          </a:xfrm>
        </p:spPr>
        <p:txBody>
          <a:bodyPr/>
          <a:lstStyle/>
          <a:p>
            <a:pPr eaLnBrk="1" hangingPunct="1">
              <a:lnSpc>
                <a:spcPct val="120000"/>
              </a:lnSpc>
              <a:buClr>
                <a:srgbClr val="3333CC"/>
              </a:buClr>
              <a:buFont typeface="Wingdings" panose="05000000000000000000" pitchFamily="2" charset="2"/>
              <a:buChar char="v"/>
            </a:pPr>
            <a:r>
              <a:rPr lang="zh-CN" altLang="en-US" smtClean="0">
                <a:latin typeface="Times New Roman" panose="02020603050405020304" pitchFamily="18" charset="0"/>
              </a:rPr>
              <a:t>所有超级块对象（每个已安装的文件系统都有一个超级块）以</a:t>
            </a:r>
            <a:r>
              <a:rPr lang="zh-CN" altLang="en-US" smtClean="0">
                <a:solidFill>
                  <a:srgbClr val="0000FF"/>
                </a:solidFill>
                <a:latin typeface="Times New Roman" panose="02020603050405020304" pitchFamily="18" charset="0"/>
              </a:rPr>
              <a:t>双向环形链表的形式链接在一起。</a:t>
            </a:r>
          </a:p>
          <a:p>
            <a:pPr eaLnBrk="1" hangingPunct="1">
              <a:lnSpc>
                <a:spcPct val="120000"/>
              </a:lnSpc>
              <a:buClr>
                <a:srgbClr val="3333CC"/>
              </a:buClr>
              <a:buFont typeface="Wingdings" panose="05000000000000000000" pitchFamily="2" charset="2"/>
              <a:buChar char="v"/>
            </a:pPr>
            <a:r>
              <a:rPr lang="zh-CN" altLang="en-US" smtClean="0">
                <a:latin typeface="Times New Roman" panose="02020603050405020304" pitchFamily="18" charset="0"/>
              </a:rPr>
              <a:t>超级块对象的</a:t>
            </a:r>
            <a:r>
              <a:rPr lang="en-US" altLang="zh-CN" smtClean="0">
                <a:latin typeface="Times New Roman" panose="02020603050405020304" pitchFamily="18" charset="0"/>
                <a:cs typeface="Times New Roman" panose="02020603050405020304" pitchFamily="18" charset="0"/>
              </a:rPr>
              <a:t>s_list</a:t>
            </a:r>
            <a:r>
              <a:rPr lang="zh-CN" altLang="en-US" smtClean="0">
                <a:latin typeface="Times New Roman" panose="02020603050405020304" pitchFamily="18" charset="0"/>
              </a:rPr>
              <a:t>域包含指向链表中两个相邻超级块对象的指针</a:t>
            </a:r>
            <a:r>
              <a:rPr lang="en-US" altLang="zh-CN" smtClean="0">
                <a:latin typeface="Times New Roman" panose="02020603050405020304" pitchFamily="18" charset="0"/>
              </a:rPr>
              <a:t>(s_list</a:t>
            </a:r>
            <a:r>
              <a:rPr lang="zh-CN" altLang="en-US" smtClean="0">
                <a:latin typeface="Times New Roman" panose="02020603050405020304" pitchFamily="18" charset="0"/>
              </a:rPr>
              <a:t>的 </a:t>
            </a:r>
            <a:r>
              <a:rPr lang="en-US" altLang="zh-CN" smtClean="0">
                <a:latin typeface="Times New Roman" panose="02020603050405020304" pitchFamily="18" charset="0"/>
              </a:rPr>
              <a:t>next</a:t>
            </a:r>
            <a:r>
              <a:rPr lang="zh-CN" altLang="en-US" smtClean="0">
                <a:latin typeface="Times New Roman" panose="02020603050405020304" pitchFamily="18" charset="0"/>
              </a:rPr>
              <a:t>和</a:t>
            </a:r>
            <a:r>
              <a:rPr lang="en-US" altLang="zh-CN" smtClean="0">
                <a:latin typeface="Times New Roman" panose="02020603050405020304" pitchFamily="18" charset="0"/>
              </a:rPr>
              <a:t>prev</a:t>
            </a:r>
            <a:r>
              <a:rPr lang="zh-CN" altLang="en-US" smtClean="0">
                <a:latin typeface="Times New Roman" panose="02020603050405020304" pitchFamily="18" charset="0"/>
              </a:rPr>
              <a:t>域）</a:t>
            </a:r>
          </a:p>
          <a:p>
            <a:pPr eaLnBrk="1" hangingPunct="1">
              <a:lnSpc>
                <a:spcPct val="120000"/>
              </a:lnSpc>
              <a:buClr>
                <a:srgbClr val="3333CC"/>
              </a:buClr>
              <a:buFont typeface="Wingdings" panose="05000000000000000000" pitchFamily="2" charset="2"/>
              <a:buChar char="v"/>
            </a:pPr>
            <a:r>
              <a:rPr lang="zh-CN" altLang="en-US" smtClean="0">
                <a:latin typeface="宋体" panose="02010600030101010101" pitchFamily="2" charset="-122"/>
              </a:rPr>
              <a:t>超级块操作由数据结构</a:t>
            </a:r>
            <a:r>
              <a:rPr lang="en-US" altLang="zh-CN" smtClean="0">
                <a:latin typeface="Times New Roman" panose="02020603050405020304" pitchFamily="18" charset="0"/>
                <a:cs typeface="Times New Roman" panose="02020603050405020304" pitchFamily="18" charset="0"/>
              </a:rPr>
              <a:t>super_operations</a:t>
            </a:r>
            <a:r>
              <a:rPr lang="zh-CN" altLang="en-US" smtClean="0">
                <a:latin typeface="宋体" panose="02010600030101010101" pitchFamily="2" charset="-122"/>
              </a:rPr>
              <a:t>来描述</a:t>
            </a:r>
          </a:p>
          <a:p>
            <a:pPr eaLnBrk="1" hangingPunct="1">
              <a:lnSpc>
                <a:spcPct val="120000"/>
              </a:lnSpc>
              <a:buClr>
                <a:srgbClr val="3333CC"/>
              </a:buClr>
              <a:buFont typeface="Wingdings" panose="05000000000000000000" pitchFamily="2" charset="2"/>
              <a:buNone/>
            </a:pPr>
            <a:endParaRPr lang="zh-CN" altLang="en-US" smtClean="0">
              <a:latin typeface="Times New Roman" panose="02020603050405020304" pitchFamily="18" charset="0"/>
            </a:endParaRPr>
          </a:p>
          <a:p>
            <a:pPr eaLnBrk="1" hangingPunct="1">
              <a:lnSpc>
                <a:spcPct val="120000"/>
              </a:lnSpc>
              <a:buClr>
                <a:srgbClr val="3333CC"/>
              </a:buClr>
              <a:buFont typeface="Wingdings" panose="05000000000000000000" pitchFamily="2" charset="2"/>
              <a:buChar char="v"/>
            </a:pPr>
            <a:endParaRPr lang="en-US" altLang="zh-CN" smtClean="0">
              <a:latin typeface="Times New Roman" panose="02020603050405020304" pitchFamily="18" charset="0"/>
            </a:endParaRPr>
          </a:p>
        </p:txBody>
      </p:sp>
    </p:spTree>
    <p:extLst>
      <p:ext uri="{BB962C8B-B14F-4D97-AF65-F5344CB8AC3E}">
        <p14:creationId xmlns:p14="http://schemas.microsoft.com/office/powerpoint/2010/main" val="12592352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z="3400" smtClean="0"/>
              <a:t>超级块</a:t>
            </a:r>
            <a:r>
              <a:rPr lang="en-US" altLang="zh-CN" sz="3400" smtClean="0"/>
              <a:t>superblock</a:t>
            </a:r>
            <a:r>
              <a:rPr lang="zh-CN" altLang="en-US" sz="3400" smtClean="0"/>
              <a:t>：操作</a:t>
            </a:r>
          </a:p>
        </p:txBody>
      </p:sp>
      <p:sp>
        <p:nvSpPr>
          <p:cNvPr id="36867" name="Rectangle 3"/>
          <p:cNvSpPr>
            <a:spLocks noGrp="1" noChangeArrowheads="1"/>
          </p:cNvSpPr>
          <p:nvPr>
            <p:ph type="body" idx="1"/>
          </p:nvPr>
        </p:nvSpPr>
        <p:spPr>
          <a:xfrm>
            <a:off x="914400" y="1600200"/>
            <a:ext cx="7772400" cy="4953000"/>
          </a:xfrm>
        </p:spPr>
        <p:txBody>
          <a:bodyPr/>
          <a:lstStyle/>
          <a:p>
            <a:pPr eaLnBrk="1" hangingPunct="1">
              <a:lnSpc>
                <a:spcPct val="110000"/>
              </a:lnSpc>
            </a:pPr>
            <a:r>
              <a:rPr lang="zh-CN" altLang="en-US" smtClean="0"/>
              <a:t>在 </a:t>
            </a:r>
            <a:r>
              <a:rPr lang="en-US" altLang="zh-CN" smtClean="0"/>
              <a:t>Linux </a:t>
            </a:r>
            <a:r>
              <a:rPr lang="zh-CN" altLang="en-US" smtClean="0"/>
              <a:t>中，超级块和设备号之间有紧密的联系。每一个文件系统必须有一个唯一的设备号，该文件系统即建立在此设备之上。</a:t>
            </a:r>
          </a:p>
          <a:p>
            <a:pPr eaLnBrk="1" hangingPunct="1">
              <a:lnSpc>
                <a:spcPct val="110000"/>
              </a:lnSpc>
            </a:pPr>
            <a:r>
              <a:rPr lang="zh-CN" altLang="en-US" smtClean="0"/>
              <a:t>有一些文件系统（如</a:t>
            </a:r>
            <a:r>
              <a:rPr lang="en-US" altLang="zh-CN" smtClean="0"/>
              <a:t>/proc </a:t>
            </a:r>
            <a:r>
              <a:rPr lang="zh-CN" altLang="en-US" smtClean="0"/>
              <a:t>文件系统）不需要真实的设备。因此，对于这些文件系统，将会自动地分配以主设备号（</a:t>
            </a:r>
            <a:r>
              <a:rPr lang="en-US" altLang="zh-CN" smtClean="0"/>
              <a:t>major number</a:t>
            </a:r>
            <a:r>
              <a:rPr lang="zh-CN" altLang="en-US" smtClean="0"/>
              <a:t>）为</a:t>
            </a:r>
            <a:r>
              <a:rPr lang="en-US" altLang="zh-CN" smtClean="0"/>
              <a:t>0</a:t>
            </a:r>
            <a:r>
              <a:rPr lang="zh-CN" altLang="en-US" smtClean="0"/>
              <a:t>的匿名设备。 </a:t>
            </a:r>
          </a:p>
          <a:p>
            <a:pPr eaLnBrk="1" hangingPunct="1">
              <a:buFont typeface="Wingdings" panose="05000000000000000000" pitchFamily="2" charset="2"/>
              <a:buNone/>
            </a:pPr>
            <a:endParaRPr lang="en-US" altLang="zh-CN" smtClean="0"/>
          </a:p>
        </p:txBody>
      </p:sp>
    </p:spTree>
    <p:extLst>
      <p:ext uri="{BB962C8B-B14F-4D97-AF65-F5344CB8AC3E}">
        <p14:creationId xmlns:p14="http://schemas.microsoft.com/office/powerpoint/2010/main" val="20325484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p:spPr>
        <p:txBody>
          <a:bodyPr/>
          <a:lstStyle/>
          <a:p>
            <a:pPr eaLnBrk="1" hangingPunct="1"/>
            <a:r>
              <a:rPr lang="zh-CN" altLang="en-US" sz="3400" smtClean="0"/>
              <a:t>超级块的</a:t>
            </a:r>
            <a:r>
              <a:rPr lang="en-US" altLang="zh-CN" smtClean="0">
                <a:solidFill>
                  <a:srgbClr val="0000FF"/>
                </a:solidFill>
                <a:hlinkClick r:id="rId2" action="ppaction://hlinkfile"/>
              </a:rPr>
              <a:t>U</a:t>
            </a:r>
            <a:r>
              <a:rPr lang="zh-CN" altLang="en-US" smtClean="0">
                <a:solidFill>
                  <a:srgbClr val="0000FF"/>
                </a:solidFill>
                <a:hlinkClick r:id="rId2" action="ppaction://hlinkfile"/>
              </a:rPr>
              <a:t>域</a:t>
            </a:r>
            <a:endParaRPr lang="zh-CN" altLang="en-US" smtClean="0">
              <a:solidFill>
                <a:srgbClr val="0000FF"/>
              </a:solidFill>
            </a:endParaRPr>
          </a:p>
        </p:txBody>
      </p:sp>
      <p:sp>
        <p:nvSpPr>
          <p:cNvPr id="37891" name="Rectangle 3"/>
          <p:cNvSpPr>
            <a:spLocks noGrp="1" noChangeArrowheads="1"/>
          </p:cNvSpPr>
          <p:nvPr>
            <p:ph type="body" idx="1"/>
          </p:nvPr>
        </p:nvSpPr>
        <p:spPr>
          <a:xfrm>
            <a:off x="395288" y="1268413"/>
            <a:ext cx="8135937" cy="4824412"/>
          </a:xfrm>
          <a:noFill/>
        </p:spPr>
        <p:txBody>
          <a:bodyPr/>
          <a:lstStyle/>
          <a:p>
            <a:pPr eaLnBrk="1" hangingPunct="1">
              <a:lnSpc>
                <a:spcPct val="115000"/>
              </a:lnSpc>
            </a:pPr>
            <a:r>
              <a:rPr lang="zh-CN" altLang="en-US" smtClean="0"/>
              <a:t>联合体数据成员</a:t>
            </a:r>
            <a:r>
              <a:rPr lang="en-US" altLang="zh-CN" smtClean="0"/>
              <a:t>super_block.u</a:t>
            </a:r>
            <a:r>
              <a:rPr lang="zh-CN" altLang="en-US" smtClean="0"/>
              <a:t>是实现支持多种文件系统的关键。</a:t>
            </a:r>
            <a:r>
              <a:rPr lang="zh-CN" altLang="en-US" smtClean="0">
                <a:solidFill>
                  <a:schemeClr val="accent2"/>
                </a:solidFill>
              </a:rPr>
              <a:t>它指向</a:t>
            </a:r>
            <a:r>
              <a:rPr lang="en-US" altLang="zh-CN" smtClean="0">
                <a:solidFill>
                  <a:schemeClr val="accent2"/>
                </a:solidFill>
              </a:rPr>
              <a:t>VFS</a:t>
            </a:r>
            <a:r>
              <a:rPr lang="zh-CN" altLang="en-US" smtClean="0">
                <a:solidFill>
                  <a:schemeClr val="accent2"/>
                </a:solidFill>
              </a:rPr>
              <a:t>所支持的各种具体文件系统的超级块。</a:t>
            </a:r>
          </a:p>
          <a:p>
            <a:pPr eaLnBrk="1" hangingPunct="1">
              <a:lnSpc>
                <a:spcPct val="115000"/>
              </a:lnSpc>
            </a:pPr>
            <a:r>
              <a:rPr lang="zh-CN" altLang="en-US" smtClean="0"/>
              <a:t>如当在系统上安装了另一个文件系统（比如</a:t>
            </a:r>
            <a:r>
              <a:rPr lang="en-US" altLang="zh-CN" smtClean="0"/>
              <a:t>DOS</a:t>
            </a:r>
            <a:r>
              <a:rPr lang="zh-CN" altLang="en-US" smtClean="0"/>
              <a:t>的</a:t>
            </a:r>
            <a:r>
              <a:rPr lang="en-US" altLang="zh-CN" smtClean="0"/>
              <a:t>FAT</a:t>
            </a:r>
            <a:r>
              <a:rPr lang="zh-CN" altLang="en-US" smtClean="0"/>
              <a:t>）时，那么</a:t>
            </a:r>
            <a:r>
              <a:rPr lang="en-US" altLang="zh-CN" smtClean="0"/>
              <a:t>DOS</a:t>
            </a:r>
            <a:r>
              <a:rPr lang="zh-CN" altLang="en-US" smtClean="0"/>
              <a:t>的超级块就被复制到内存的</a:t>
            </a:r>
            <a:r>
              <a:rPr lang="en-US" altLang="zh-CN" smtClean="0"/>
              <a:t>msdos_sb_info</a:t>
            </a:r>
            <a:r>
              <a:rPr lang="zh-CN" altLang="en-US" smtClean="0"/>
              <a:t>结构中。</a:t>
            </a:r>
          </a:p>
          <a:p>
            <a:pPr eaLnBrk="1" hangingPunct="1">
              <a:lnSpc>
                <a:spcPct val="115000"/>
              </a:lnSpc>
            </a:pPr>
            <a:r>
              <a:rPr lang="zh-CN" altLang="en-US" smtClean="0"/>
              <a:t>由于联合体类型数据成员</a:t>
            </a:r>
            <a:r>
              <a:rPr lang="en-US" altLang="zh-CN" smtClean="0"/>
              <a:t>super_block.u.msdos_sb</a:t>
            </a:r>
            <a:r>
              <a:rPr lang="zh-CN" altLang="en-US" smtClean="0"/>
              <a:t>指向该结构体，以后就允许该文件系统直接对内存超级块</a:t>
            </a:r>
            <a:r>
              <a:rPr lang="en-US" altLang="zh-CN" smtClean="0"/>
              <a:t>u</a:t>
            </a:r>
            <a:r>
              <a:rPr lang="zh-CN" altLang="en-US" smtClean="0"/>
              <a:t>域进行操作，无需再去访问磁盘，以提高系统效率。</a:t>
            </a:r>
          </a:p>
        </p:txBody>
      </p:sp>
    </p:spTree>
    <p:extLst>
      <p:ext uri="{BB962C8B-B14F-4D97-AF65-F5344CB8AC3E}">
        <p14:creationId xmlns:p14="http://schemas.microsoft.com/office/powerpoint/2010/main" val="28957141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sz="3800" smtClean="0"/>
              <a:t>Super block</a:t>
            </a:r>
            <a:r>
              <a:rPr lang="zh-CN" altLang="en-US" sz="3800" smtClean="0"/>
              <a:t>中的文件系统特有信息</a:t>
            </a:r>
          </a:p>
        </p:txBody>
      </p:sp>
      <p:sp>
        <p:nvSpPr>
          <p:cNvPr id="38915" name="Rectangle 3"/>
          <p:cNvSpPr>
            <a:spLocks noGrp="1" noChangeArrowheads="1"/>
          </p:cNvSpPr>
          <p:nvPr>
            <p:ph type="body" idx="1"/>
          </p:nvPr>
        </p:nvSpPr>
        <p:spPr>
          <a:xfrm>
            <a:off x="468313" y="990600"/>
            <a:ext cx="8280400" cy="5867400"/>
          </a:xfrm>
          <a:solidFill>
            <a:srgbClr val="CCFFFF"/>
          </a:solidFill>
        </p:spPr>
        <p:txBody>
          <a:bodyPr/>
          <a:lstStyle/>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union {     /* </a:t>
            </a:r>
            <a:r>
              <a:rPr lang="zh-CN" altLang="en-US" sz="2400" smtClean="0">
                <a:latin typeface="Times New Roman" panose="02020603050405020304" pitchFamily="18" charset="0"/>
              </a:rPr>
              <a:t>联合体，</a:t>
            </a:r>
            <a:r>
              <a:rPr lang="zh-CN" altLang="en-US" sz="2400" smtClean="0">
                <a:solidFill>
                  <a:schemeClr val="accent2"/>
                </a:solidFill>
                <a:latin typeface="Times New Roman" panose="02020603050405020304" pitchFamily="18" charset="0"/>
              </a:rPr>
              <a:t>各种具体文件</a:t>
            </a:r>
            <a:r>
              <a:rPr lang="zh-CN" altLang="en-US" sz="2400" smtClean="0">
                <a:solidFill>
                  <a:srgbClr val="FF0000"/>
                </a:solidFill>
                <a:latin typeface="Times New Roman" panose="02020603050405020304" pitchFamily="18" charset="0"/>
              </a:rPr>
              <a:t>系统超级块的内存映像</a:t>
            </a:r>
            <a:r>
              <a:rPr lang="zh-CN" altLang="en-US" sz="2400" smtClean="0">
                <a:latin typeface="Times New Roman" panose="02020603050405020304" pitchFamily="18" charset="0"/>
              </a:rPr>
              <a:t> *</a:t>
            </a:r>
            <a:r>
              <a:rPr lang="en-US" altLang="zh-CN" sz="24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minix_sb_info </a:t>
            </a:r>
            <a:r>
              <a:rPr lang="en-US" altLang="zh-CN" sz="2400" smtClean="0">
                <a:solidFill>
                  <a:srgbClr val="800000"/>
                </a:solidFill>
                <a:latin typeface="Times New Roman" panose="02020603050405020304" pitchFamily="18" charset="0"/>
              </a:rPr>
              <a:t>minix_sb</a:t>
            </a:r>
            <a:r>
              <a:rPr lang="en-US" altLang="zh-CN" sz="24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ext_sb_info </a:t>
            </a:r>
            <a:r>
              <a:rPr lang="en-US" altLang="zh-CN" sz="2400" smtClean="0">
                <a:solidFill>
                  <a:srgbClr val="800000"/>
                </a:solidFill>
                <a:latin typeface="Times New Roman" panose="02020603050405020304" pitchFamily="18" charset="0"/>
              </a:rPr>
              <a:t>ext_sb</a:t>
            </a:r>
            <a:r>
              <a:rPr lang="en-US" altLang="zh-CN" sz="24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ext2_sb_info </a:t>
            </a:r>
            <a:r>
              <a:rPr lang="en-US" altLang="zh-CN" sz="2400" smtClean="0">
                <a:solidFill>
                  <a:srgbClr val="800000"/>
                </a:solidFill>
                <a:latin typeface="Times New Roman" panose="02020603050405020304" pitchFamily="18" charset="0"/>
              </a:rPr>
              <a:t>ext2_sb</a:t>
            </a:r>
            <a:r>
              <a:rPr lang="en-US" altLang="zh-CN" sz="24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hpfs_sb_info </a:t>
            </a:r>
            <a:r>
              <a:rPr lang="en-US" altLang="zh-CN" sz="2400" smtClean="0">
                <a:solidFill>
                  <a:srgbClr val="800000"/>
                </a:solidFill>
                <a:latin typeface="Times New Roman" panose="02020603050405020304" pitchFamily="18" charset="0"/>
              </a:rPr>
              <a:t>hpfs_sb</a:t>
            </a:r>
            <a:r>
              <a:rPr lang="en-US" altLang="zh-CN" sz="24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msdos_sb_info </a:t>
            </a:r>
            <a:r>
              <a:rPr lang="en-US" altLang="zh-CN" sz="2400" smtClean="0">
                <a:solidFill>
                  <a:srgbClr val="800000"/>
                </a:solidFill>
                <a:latin typeface="Times New Roman" panose="02020603050405020304" pitchFamily="18" charset="0"/>
              </a:rPr>
              <a:t>msdos_sb</a:t>
            </a:r>
            <a:r>
              <a:rPr lang="en-US" altLang="zh-CN" sz="24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isofs_sb_info </a:t>
            </a:r>
            <a:r>
              <a:rPr lang="en-US" altLang="zh-CN" sz="2400" smtClean="0">
                <a:solidFill>
                  <a:srgbClr val="800000"/>
                </a:solidFill>
                <a:latin typeface="Times New Roman" panose="02020603050405020304" pitchFamily="18" charset="0"/>
              </a:rPr>
              <a:t>isofs_sb</a:t>
            </a:r>
            <a:r>
              <a:rPr lang="en-US" altLang="zh-CN" sz="24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nfs_sb_info </a:t>
            </a:r>
            <a:r>
              <a:rPr lang="en-US" altLang="zh-CN" sz="2400" smtClean="0">
                <a:solidFill>
                  <a:srgbClr val="800000"/>
                </a:solidFill>
                <a:latin typeface="Times New Roman" panose="02020603050405020304" pitchFamily="18" charset="0"/>
              </a:rPr>
              <a:t>nfs_sb;</a:t>
            </a:r>
            <a:endParaRPr lang="en-US" altLang="zh-CN" sz="2400" smtClean="0">
              <a:latin typeface="Times New Roman" panose="02020603050405020304" pitchFamily="18" charset="0"/>
            </a:endParaRP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xiafs_sb_info </a:t>
            </a:r>
            <a:r>
              <a:rPr lang="en-US" altLang="zh-CN" sz="2400" smtClean="0">
                <a:solidFill>
                  <a:srgbClr val="800000"/>
                </a:solidFill>
                <a:latin typeface="Times New Roman" panose="02020603050405020304" pitchFamily="18" charset="0"/>
              </a:rPr>
              <a:t>xiafs_sb</a:t>
            </a:r>
            <a:r>
              <a:rPr lang="en-US" altLang="zh-CN" sz="24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sysv_sb_info </a:t>
            </a:r>
            <a:r>
              <a:rPr lang="en-US" altLang="zh-CN" sz="2400" smtClean="0">
                <a:solidFill>
                  <a:srgbClr val="800000"/>
                </a:solidFill>
                <a:latin typeface="Times New Roman" panose="02020603050405020304" pitchFamily="18" charset="0"/>
              </a:rPr>
              <a:t>sysv_sb;</a:t>
            </a:r>
            <a:endParaRPr lang="en-US" altLang="zh-CN" sz="2400" smtClean="0">
              <a:latin typeface="Times New Roman" panose="02020603050405020304" pitchFamily="18" charset="0"/>
            </a:endParaRP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affs_sb_info </a:t>
            </a:r>
            <a:r>
              <a:rPr lang="en-US" altLang="zh-CN" sz="2400" smtClean="0">
                <a:solidFill>
                  <a:srgbClr val="800000"/>
                </a:solidFill>
                <a:latin typeface="Times New Roman" panose="02020603050405020304" pitchFamily="18" charset="0"/>
              </a:rPr>
              <a:t>affs_sb;</a:t>
            </a:r>
            <a:endParaRPr lang="en-US" altLang="zh-CN" sz="2400" smtClean="0">
              <a:latin typeface="Times New Roman" panose="02020603050405020304" pitchFamily="18" charset="0"/>
            </a:endParaRP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ufs_sb_info </a:t>
            </a:r>
            <a:r>
              <a:rPr lang="en-US" altLang="zh-CN" sz="2400" smtClean="0">
                <a:solidFill>
                  <a:srgbClr val="800000"/>
                </a:solidFill>
                <a:latin typeface="Times New Roman" panose="02020603050405020304" pitchFamily="18" charset="0"/>
              </a:rPr>
              <a:t>ufs_sb;</a:t>
            </a:r>
            <a:endParaRPr lang="en-US" altLang="zh-CN" sz="2400" smtClean="0">
              <a:latin typeface="Times New Roman" panose="02020603050405020304" pitchFamily="18" charset="0"/>
            </a:endParaRP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void *</a:t>
            </a:r>
            <a:r>
              <a:rPr lang="en-US" altLang="zh-CN" sz="2400" smtClean="0">
                <a:solidFill>
                  <a:srgbClr val="800000"/>
                </a:solidFill>
                <a:latin typeface="Times New Roman" panose="02020603050405020304" pitchFamily="18" charset="0"/>
              </a:rPr>
              <a:t>generic_sbp</a:t>
            </a:r>
            <a:r>
              <a:rPr lang="en-US" altLang="zh-CN" sz="24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 </a:t>
            </a:r>
            <a:r>
              <a:rPr lang="en-US" altLang="zh-CN" sz="2400" smtClean="0">
                <a:solidFill>
                  <a:srgbClr val="0000FF"/>
                </a:solidFill>
                <a:latin typeface="Times New Roman" panose="02020603050405020304" pitchFamily="18" charset="0"/>
              </a:rPr>
              <a:t>u</a:t>
            </a:r>
            <a:r>
              <a:rPr lang="en-US" altLang="zh-CN" sz="2400" smtClean="0">
                <a:latin typeface="Times New Roman" panose="02020603050405020304" pitchFamily="18" charset="0"/>
              </a:rPr>
              <a:t>;</a:t>
            </a:r>
          </a:p>
          <a:p>
            <a:pPr eaLnBrk="1" hangingPunct="1">
              <a:lnSpc>
                <a:spcPct val="90000"/>
              </a:lnSpc>
            </a:pPr>
            <a:endParaRPr lang="en-US" altLang="zh-CN" sz="2400" smtClean="0">
              <a:latin typeface="Times New Roman" panose="02020603050405020304" pitchFamily="18" charset="0"/>
            </a:endParaRPr>
          </a:p>
        </p:txBody>
      </p:sp>
    </p:spTree>
    <p:extLst>
      <p:ext uri="{BB962C8B-B14F-4D97-AF65-F5344CB8AC3E}">
        <p14:creationId xmlns:p14="http://schemas.microsoft.com/office/powerpoint/2010/main" val="39214071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noFill/>
        </p:spPr>
        <p:txBody>
          <a:bodyPr/>
          <a:lstStyle/>
          <a:p>
            <a:pPr eaLnBrk="1" hangingPunct="1"/>
            <a:r>
              <a:rPr lang="en-US" altLang="zh-CN" smtClean="0"/>
              <a:t>U</a:t>
            </a:r>
            <a:r>
              <a:rPr lang="zh-CN" altLang="en-US" smtClean="0"/>
              <a:t>域</a:t>
            </a:r>
          </a:p>
        </p:txBody>
      </p:sp>
      <p:sp>
        <p:nvSpPr>
          <p:cNvPr id="39939" name="Rectangle 3"/>
          <p:cNvSpPr>
            <a:spLocks noGrp="1" noChangeArrowheads="1"/>
          </p:cNvSpPr>
          <p:nvPr>
            <p:ph type="body" idx="1"/>
          </p:nvPr>
        </p:nvSpPr>
        <p:spPr>
          <a:xfrm>
            <a:off x="323850" y="1341438"/>
            <a:ext cx="8280400" cy="5040312"/>
          </a:xfrm>
          <a:noFill/>
        </p:spPr>
        <p:txBody>
          <a:bodyPr/>
          <a:lstStyle/>
          <a:p>
            <a:pPr eaLnBrk="1" hangingPunct="1">
              <a:lnSpc>
                <a:spcPct val="120000"/>
              </a:lnSpc>
            </a:pPr>
            <a:r>
              <a:rPr lang="zh-CN" altLang="en-US" sz="2400" smtClean="0">
                <a:solidFill>
                  <a:schemeClr val="accent2"/>
                </a:solidFill>
              </a:rPr>
              <a:t>问题</a:t>
            </a:r>
            <a:r>
              <a:rPr lang="en-US" altLang="zh-CN" sz="2400" smtClean="0">
                <a:solidFill>
                  <a:schemeClr val="accent2"/>
                </a:solidFill>
              </a:rPr>
              <a:t>1</a:t>
            </a:r>
            <a:r>
              <a:rPr lang="zh-CN" altLang="en-US" sz="2400" smtClean="0">
                <a:solidFill>
                  <a:schemeClr val="accent2"/>
                </a:solidFill>
              </a:rPr>
              <a:t>：</a:t>
            </a:r>
            <a:r>
              <a:rPr lang="zh-CN" altLang="en-US" sz="2400" smtClean="0"/>
              <a:t>有可能</a:t>
            </a:r>
            <a:r>
              <a:rPr lang="en-US" altLang="zh-CN" sz="2400" smtClean="0"/>
              <a:t>VFS</a:t>
            </a:r>
            <a:r>
              <a:rPr lang="zh-CN" altLang="en-US" sz="2400" smtClean="0"/>
              <a:t>超级块最终不再与磁盘上相应的超级块同步。因此，有必要引入一个</a:t>
            </a:r>
            <a:r>
              <a:rPr lang="en-US" altLang="zh-CN" sz="2400" smtClean="0">
                <a:solidFill>
                  <a:srgbClr val="0000FF"/>
                </a:solidFill>
              </a:rPr>
              <a:t>s_dirt</a:t>
            </a:r>
            <a:r>
              <a:rPr lang="zh-CN" altLang="en-US" sz="2400" smtClean="0">
                <a:solidFill>
                  <a:srgbClr val="0000FF"/>
                </a:solidFill>
              </a:rPr>
              <a:t>标志</a:t>
            </a:r>
            <a:r>
              <a:rPr lang="zh-CN" altLang="en-US" sz="2400" smtClean="0"/>
              <a:t>，来表示该超级块是否是脏的，也就是说，磁盘上的数据是否必须要更新。</a:t>
            </a:r>
          </a:p>
          <a:p>
            <a:pPr eaLnBrk="1" hangingPunct="1">
              <a:lnSpc>
                <a:spcPct val="120000"/>
              </a:lnSpc>
            </a:pPr>
            <a:r>
              <a:rPr lang="zh-CN" altLang="en-US" sz="2400" smtClean="0">
                <a:solidFill>
                  <a:schemeClr val="accent2"/>
                </a:solidFill>
              </a:rPr>
              <a:t>问题</a:t>
            </a:r>
            <a:r>
              <a:rPr lang="en-US" altLang="zh-CN" sz="2400" smtClean="0">
                <a:solidFill>
                  <a:schemeClr val="accent2"/>
                </a:solidFill>
              </a:rPr>
              <a:t>2</a:t>
            </a:r>
            <a:r>
              <a:rPr lang="zh-CN" altLang="en-US" sz="2400" smtClean="0">
                <a:solidFill>
                  <a:schemeClr val="accent2"/>
                </a:solidFill>
              </a:rPr>
              <a:t>：</a:t>
            </a:r>
            <a:r>
              <a:rPr lang="zh-CN" altLang="en-US" sz="2400" smtClean="0"/>
              <a:t>缺乏同步还导致一个问题：当一台机器的电源突然断开而用户来不及正常关闭系统时，就会出现文件系统崩溃。</a:t>
            </a:r>
            <a:r>
              <a:rPr lang="en-US" altLang="zh-CN" sz="2400" smtClean="0"/>
              <a:t>Linux</a:t>
            </a:r>
            <a:r>
              <a:rPr lang="zh-CN" altLang="en-US" sz="2400" smtClean="0"/>
              <a:t>是通过周期性地将所有“脏”的超级块写回磁盘来减少该问题带来的危害。 </a:t>
            </a:r>
          </a:p>
          <a:p>
            <a:pPr eaLnBrk="1" hangingPunct="1">
              <a:lnSpc>
                <a:spcPct val="90000"/>
              </a:lnSpc>
            </a:pPr>
            <a:endParaRPr lang="en-US" altLang="zh-CN" sz="2400" smtClean="0"/>
          </a:p>
        </p:txBody>
      </p:sp>
    </p:spTree>
    <p:extLst>
      <p:ext uri="{BB962C8B-B14F-4D97-AF65-F5344CB8AC3E}">
        <p14:creationId xmlns:p14="http://schemas.microsoft.com/office/powerpoint/2010/main" val="167008998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11188" y="0"/>
            <a:ext cx="7772400" cy="788988"/>
          </a:xfrm>
        </p:spPr>
        <p:txBody>
          <a:bodyPr/>
          <a:lstStyle/>
          <a:p>
            <a:pPr eaLnBrk="1" hangingPunct="1"/>
            <a:r>
              <a:rPr lang="zh-CN" altLang="en-US" smtClean="0"/>
              <a:t>超级块的操作</a:t>
            </a:r>
          </a:p>
        </p:txBody>
      </p:sp>
      <p:sp>
        <p:nvSpPr>
          <p:cNvPr id="40963" name="Text Box 3"/>
          <p:cNvSpPr txBox="1">
            <a:spLocks noChangeArrowheads="1"/>
          </p:cNvSpPr>
          <p:nvPr/>
        </p:nvSpPr>
        <p:spPr bwMode="auto">
          <a:xfrm>
            <a:off x="250825" y="1557338"/>
            <a:ext cx="8686800" cy="71516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1" lang="en-US" altLang="zh-CN" sz="2000">
                <a:ea typeface="楷体_GB2312" pitchFamily="49" charset="-122"/>
              </a:rPr>
              <a:t>struct  </a:t>
            </a:r>
            <a:r>
              <a:rPr kumimoji="1" lang="en-US" altLang="zh-CN" sz="2000">
                <a:solidFill>
                  <a:srgbClr val="0000FF"/>
                </a:solidFill>
                <a:ea typeface="楷体_GB2312" pitchFamily="49" charset="-122"/>
                <a:hlinkClick r:id="rId2" action="ppaction://hlinkfile"/>
              </a:rPr>
              <a:t>super_operations</a:t>
            </a:r>
            <a:r>
              <a:rPr kumimoji="1" lang="en-US" altLang="zh-CN" sz="2000">
                <a:ea typeface="楷体_GB2312" pitchFamily="49" charset="-122"/>
                <a:hlinkClick r:id="rId2" action="ppaction://hlinkfile"/>
              </a:rPr>
              <a:t> </a:t>
            </a:r>
            <a:r>
              <a:rPr kumimoji="1" lang="en-US" altLang="zh-CN" sz="2000">
                <a:ea typeface="楷体_GB2312" pitchFamily="49" charset="-122"/>
              </a:rPr>
              <a:t>{</a:t>
            </a:r>
          </a:p>
          <a:p>
            <a:pPr eaLnBrk="1" hangingPunct="1">
              <a:spcBef>
                <a:spcPct val="50000"/>
              </a:spcBef>
              <a:buClrTx/>
              <a:buSzTx/>
              <a:buFontTx/>
              <a:buNone/>
            </a:pPr>
            <a:r>
              <a:rPr kumimoji="1" lang="en-US" altLang="zh-CN" sz="2000">
                <a:ea typeface="楷体_GB2312" pitchFamily="49" charset="-122"/>
              </a:rPr>
              <a:t>	</a:t>
            </a:r>
            <a:r>
              <a:rPr kumimoji="1" lang="en-US" altLang="zh-CN"/>
              <a:t>struct inode *(*alloc_inode)(struct super_block * sb);</a:t>
            </a:r>
          </a:p>
          <a:p>
            <a:pPr eaLnBrk="1" hangingPunct="1">
              <a:spcBef>
                <a:spcPct val="50000"/>
              </a:spcBef>
              <a:buClrTx/>
              <a:buSzTx/>
              <a:buFontTx/>
              <a:buNone/>
            </a:pPr>
            <a:r>
              <a:rPr kumimoji="1" lang="en-US" altLang="zh-CN"/>
              <a:t> void (*destroy_inode)(struct inode *);</a:t>
            </a:r>
            <a:br>
              <a:rPr kumimoji="1" lang="en-US" altLang="zh-CN"/>
            </a:br>
            <a:r>
              <a:rPr kumimoji="1" lang="en-US" altLang="zh-CN" sz="2000">
                <a:ea typeface="楷体_GB2312" pitchFamily="49" charset="-122"/>
              </a:rPr>
              <a:t>void (*read_inode) (struct inode *); </a:t>
            </a:r>
            <a:r>
              <a:rPr kumimoji="1" lang="en-US" altLang="zh-CN"/>
              <a:t>//</a:t>
            </a:r>
            <a:r>
              <a:rPr kumimoji="1" lang="zh-CN" altLang="en-US"/>
              <a:t>读取文件</a:t>
            </a:r>
            <a:r>
              <a:rPr kumimoji="1" lang="en-US" altLang="zh-CN"/>
              <a:t>inode</a:t>
            </a:r>
            <a:endParaRPr kumimoji="1" lang="en-US" altLang="zh-CN" sz="2000">
              <a:ea typeface="楷体_GB2312" pitchFamily="49" charset="-122"/>
            </a:endParaRPr>
          </a:p>
          <a:p>
            <a:pPr eaLnBrk="1" hangingPunct="1">
              <a:spcBef>
                <a:spcPct val="50000"/>
              </a:spcBef>
              <a:buClrTx/>
              <a:buSzTx/>
              <a:buFontTx/>
              <a:buNone/>
            </a:pPr>
            <a:r>
              <a:rPr kumimoji="1" lang="en-US" altLang="zh-CN" sz="2000">
                <a:ea typeface="楷体_GB2312" pitchFamily="49" charset="-122"/>
              </a:rPr>
              <a:t>	void (*write_inode) (struct inode *);</a:t>
            </a:r>
            <a:r>
              <a:rPr kumimoji="1" lang="en-US" altLang="zh-CN"/>
              <a:t> //</a:t>
            </a:r>
            <a:r>
              <a:rPr kumimoji="1" lang="zh-CN" altLang="en-US"/>
              <a:t>回写文件</a:t>
            </a:r>
            <a:r>
              <a:rPr kumimoji="1" lang="en-US" altLang="zh-CN"/>
              <a:t>inode</a:t>
            </a:r>
            <a:endParaRPr kumimoji="1" lang="en-US" altLang="zh-CN" sz="2000">
              <a:ea typeface="楷体_GB2312" pitchFamily="49" charset="-122"/>
            </a:endParaRPr>
          </a:p>
          <a:p>
            <a:pPr eaLnBrk="1" hangingPunct="1">
              <a:spcBef>
                <a:spcPct val="50000"/>
              </a:spcBef>
              <a:buClrTx/>
              <a:buSzTx/>
              <a:buFontTx/>
              <a:buNone/>
            </a:pPr>
            <a:r>
              <a:rPr kumimoji="1" lang="en-US" altLang="zh-CN" sz="2000">
                <a:ea typeface="楷体_GB2312" pitchFamily="49" charset="-122"/>
              </a:rPr>
              <a:t>	void (*put_inode) (struct inode *);</a:t>
            </a:r>
            <a:r>
              <a:rPr kumimoji="1" lang="en-US" altLang="zh-CN"/>
              <a:t> //</a:t>
            </a:r>
            <a:r>
              <a:rPr kumimoji="1" lang="zh-CN" altLang="en-US"/>
              <a:t>逻辑上释放</a:t>
            </a:r>
            <a:r>
              <a:rPr kumimoji="1" lang="en-US" altLang="zh-CN"/>
              <a:t>inode</a:t>
            </a:r>
            <a:endParaRPr kumimoji="1" lang="en-US" altLang="zh-CN" sz="2000">
              <a:ea typeface="楷体_GB2312" pitchFamily="49" charset="-122"/>
            </a:endParaRPr>
          </a:p>
          <a:p>
            <a:pPr eaLnBrk="1" hangingPunct="1">
              <a:spcBef>
                <a:spcPct val="50000"/>
              </a:spcBef>
              <a:buClrTx/>
              <a:buSzTx/>
              <a:buFontTx/>
              <a:buNone/>
            </a:pPr>
            <a:r>
              <a:rPr kumimoji="1" lang="en-US" altLang="zh-CN" sz="2000">
                <a:ea typeface="楷体_GB2312" pitchFamily="49" charset="-122"/>
              </a:rPr>
              <a:t>	void (*delete_inode) (struct inode *);</a:t>
            </a:r>
            <a:r>
              <a:rPr kumimoji="1" lang="en-US" altLang="zh-CN"/>
              <a:t> //</a:t>
            </a:r>
            <a:r>
              <a:rPr kumimoji="1" lang="zh-CN" altLang="en-US"/>
              <a:t>物理上释放</a:t>
            </a:r>
            <a:r>
              <a:rPr kumimoji="1" lang="en-US" altLang="zh-CN"/>
              <a:t>inode</a:t>
            </a:r>
            <a:endParaRPr kumimoji="1" lang="en-US" altLang="zh-CN" sz="2000">
              <a:ea typeface="楷体_GB2312" pitchFamily="49" charset="-122"/>
            </a:endParaRPr>
          </a:p>
          <a:p>
            <a:pPr eaLnBrk="1" hangingPunct="1">
              <a:spcBef>
                <a:spcPct val="50000"/>
              </a:spcBef>
              <a:buClrTx/>
              <a:buSzTx/>
              <a:buFontTx/>
              <a:buNone/>
            </a:pPr>
            <a:r>
              <a:rPr kumimoji="1" lang="en-US" altLang="zh-CN" sz="2000">
                <a:ea typeface="楷体_GB2312" pitchFamily="49" charset="-122"/>
              </a:rPr>
              <a:t>	void (*put_super) (struct super_block *); </a:t>
            </a:r>
            <a:r>
              <a:rPr kumimoji="1" lang="en-US" altLang="zh-CN"/>
              <a:t>//</a:t>
            </a:r>
            <a:r>
              <a:rPr kumimoji="1" lang="zh-CN" altLang="en-US"/>
              <a:t>释放超级块对象 </a:t>
            </a:r>
            <a:endParaRPr kumimoji="1" lang="zh-CN" altLang="en-US" sz="2000">
              <a:ea typeface="楷体_GB2312" pitchFamily="49" charset="-122"/>
            </a:endParaRPr>
          </a:p>
          <a:p>
            <a:pPr eaLnBrk="1" hangingPunct="1">
              <a:spcBef>
                <a:spcPct val="50000"/>
              </a:spcBef>
              <a:buClrTx/>
              <a:buSzTx/>
              <a:buFontTx/>
              <a:buNone/>
            </a:pPr>
            <a:r>
              <a:rPr kumimoji="1" lang="zh-CN" altLang="en-US" sz="2000">
                <a:ea typeface="楷体_GB2312" pitchFamily="49" charset="-122"/>
              </a:rPr>
              <a:t>	</a:t>
            </a:r>
            <a:r>
              <a:rPr kumimoji="1" lang="en-US" altLang="zh-CN" sz="2000">
                <a:ea typeface="楷体_GB2312" pitchFamily="49" charset="-122"/>
              </a:rPr>
              <a:t>void (*write_super) (struct super_block *); </a:t>
            </a:r>
            <a:r>
              <a:rPr kumimoji="1" lang="en-US" altLang="zh-CN"/>
              <a:t>//</a:t>
            </a:r>
            <a:r>
              <a:rPr kumimoji="1" lang="zh-CN" altLang="en-US"/>
              <a:t>把超级块信息写回磁盘 </a:t>
            </a:r>
            <a:endParaRPr kumimoji="1" lang="zh-CN" altLang="en-US" sz="2000">
              <a:ea typeface="楷体_GB2312" pitchFamily="49" charset="-122"/>
            </a:endParaRPr>
          </a:p>
          <a:p>
            <a:pPr eaLnBrk="1" hangingPunct="1"/>
            <a:r>
              <a:rPr kumimoji="1" lang="zh-CN" altLang="en-US" sz="2000"/>
              <a:t>     </a:t>
            </a:r>
            <a:r>
              <a:rPr kumimoji="1" lang="en-US" altLang="zh-CN" sz="2000"/>
              <a:t>int (*statfs) (struct super_block *, struct statfs *);</a:t>
            </a:r>
          </a:p>
          <a:p>
            <a:pPr eaLnBrk="1" hangingPunct="1"/>
            <a:r>
              <a:rPr kumimoji="1" lang="en-US" altLang="zh-CN" sz="2000"/>
              <a:t>	int (*remount_fs) (struct super_block *, int *, char *);</a:t>
            </a:r>
          </a:p>
          <a:p>
            <a:pPr eaLnBrk="1" hangingPunct="1"/>
            <a:r>
              <a:rPr kumimoji="1" lang="en-US" altLang="zh-CN" sz="2000"/>
              <a:t>	void (*clear_inode) (struct inode *);</a:t>
            </a:r>
          </a:p>
          <a:p>
            <a:pPr eaLnBrk="1" hangingPunct="1"/>
            <a:r>
              <a:rPr kumimoji="1" lang="en-US" altLang="zh-CN" sz="2000"/>
              <a:t>	void (*umount_begin) (struct super_block *);</a:t>
            </a:r>
            <a:endParaRPr kumimoji="1" lang="en-US" altLang="zh-CN" sz="2000">
              <a:ea typeface="楷体_GB2312" pitchFamily="49" charset="-122"/>
            </a:endParaRPr>
          </a:p>
          <a:p>
            <a:pPr eaLnBrk="1" hangingPunct="1">
              <a:spcBef>
                <a:spcPct val="50000"/>
              </a:spcBef>
              <a:buClrTx/>
              <a:buSzTx/>
              <a:buFontTx/>
              <a:buNone/>
            </a:pPr>
            <a:r>
              <a:rPr kumimoji="1" lang="en-US" altLang="zh-CN" b="1">
                <a:ea typeface="楷体_GB2312" pitchFamily="49" charset="-122"/>
              </a:rPr>
              <a:t>	......</a:t>
            </a:r>
          </a:p>
          <a:p>
            <a:pPr eaLnBrk="1" hangingPunct="1">
              <a:spcBef>
                <a:spcPct val="50000"/>
              </a:spcBef>
              <a:buClrTx/>
              <a:buSzTx/>
              <a:buFontTx/>
              <a:buNone/>
            </a:pPr>
            <a:r>
              <a:rPr kumimoji="1" lang="en-US" altLang="zh-CN" b="1">
                <a:ea typeface="楷体_GB2312" pitchFamily="49" charset="-122"/>
              </a:rPr>
              <a:t> };</a:t>
            </a:r>
          </a:p>
        </p:txBody>
      </p:sp>
      <p:sp>
        <p:nvSpPr>
          <p:cNvPr id="40964" name="Text Box 4"/>
          <p:cNvSpPr txBox="1">
            <a:spLocks noChangeArrowheads="1"/>
          </p:cNvSpPr>
          <p:nvPr/>
        </p:nvSpPr>
        <p:spPr bwMode="auto">
          <a:xfrm>
            <a:off x="250825" y="692150"/>
            <a:ext cx="8686800" cy="884238"/>
          </a:xfrm>
          <a:prstGeom prst="rect">
            <a:avLst/>
          </a:prstGeom>
          <a:solidFill>
            <a:srgbClr val="00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kumimoji="1" lang="zh-CN" altLang="en-US" sz="2800" b="1">
                <a:ea typeface="楷体_GB2312" pitchFamily="49" charset="-122"/>
              </a:rPr>
              <a:t>超级块操作由</a:t>
            </a:r>
            <a:r>
              <a:rPr kumimoji="1" lang="en-US" altLang="zh-CN" b="1"/>
              <a:t>struct super_operations</a:t>
            </a:r>
            <a:r>
              <a:rPr kumimoji="1" lang="zh-CN" altLang="en-US" b="1"/>
              <a:t>描述，其地址存放在</a:t>
            </a:r>
            <a:r>
              <a:rPr kumimoji="1" lang="en-US" altLang="zh-CN" b="1"/>
              <a:t>s_op</a:t>
            </a:r>
            <a:r>
              <a:rPr kumimoji="1" lang="zh-CN" altLang="en-US" b="1"/>
              <a:t>域中；</a:t>
            </a:r>
            <a:endParaRPr kumimoji="1" lang="zh-CN" altLang="en-US" sz="2800" b="1">
              <a:ea typeface="楷体_GB2312" pitchFamily="49" charset="-122"/>
            </a:endParaRPr>
          </a:p>
        </p:txBody>
      </p:sp>
    </p:spTree>
    <p:extLst>
      <p:ext uri="{BB962C8B-B14F-4D97-AF65-F5344CB8AC3E}">
        <p14:creationId xmlns:p14="http://schemas.microsoft.com/office/powerpoint/2010/main" val="65697891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250825" y="476250"/>
            <a:ext cx="8497888" cy="588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1" lang="zh-CN" altLang="en-US" sz="3200" b="1">
                <a:latin typeface="楷体_GB2312" pitchFamily="49" charset="-122"/>
                <a:ea typeface="楷体_GB2312" pitchFamily="49" charset="-122"/>
              </a:rPr>
              <a:t>每个具体文件系统都应该提供这些超级块操作的具体实现，这些操作可以实现文件系统的挂载、读写</a:t>
            </a:r>
            <a:r>
              <a:rPr kumimoji="1" lang="en-US" altLang="zh-CN" sz="3200" b="1">
                <a:latin typeface="楷体_GB2312" pitchFamily="49" charset="-122"/>
                <a:ea typeface="楷体_GB2312" pitchFamily="49" charset="-122"/>
              </a:rPr>
              <a:t>inode</a:t>
            </a:r>
            <a:r>
              <a:rPr kumimoji="1" lang="zh-CN" altLang="en-US" sz="3200" b="1">
                <a:latin typeface="楷体_GB2312" pitchFamily="49" charset="-122"/>
                <a:ea typeface="楷体_GB2312" pitchFamily="49" charset="-122"/>
              </a:rPr>
              <a:t>等；</a:t>
            </a:r>
          </a:p>
          <a:p>
            <a:pPr eaLnBrk="1" hangingPunct="1">
              <a:spcBef>
                <a:spcPct val="0"/>
              </a:spcBef>
              <a:buClrTx/>
              <a:buSzTx/>
              <a:buFontTx/>
              <a:buNone/>
            </a:pPr>
            <a:endParaRPr kumimoji="1" lang="zh-CN" altLang="en-US" sz="3200" b="1">
              <a:latin typeface="楷体_GB2312" pitchFamily="49" charset="-122"/>
              <a:ea typeface="楷体_GB2312" pitchFamily="49" charset="-122"/>
            </a:endParaRPr>
          </a:p>
          <a:p>
            <a:pPr eaLnBrk="1" hangingPunct="1">
              <a:spcBef>
                <a:spcPct val="0"/>
              </a:spcBef>
              <a:buClrTx/>
              <a:buSzTx/>
              <a:buFontTx/>
              <a:buNone/>
            </a:pPr>
            <a:r>
              <a:rPr kumimoji="1" lang="en-US" altLang="zh-CN" sz="2800" b="1">
                <a:solidFill>
                  <a:srgbClr val="0000FF"/>
                </a:solidFill>
                <a:latin typeface="楷体_GB2312" pitchFamily="49" charset="-122"/>
                <a:ea typeface="楷体_GB2312" pitchFamily="49" charset="-122"/>
              </a:rPr>
              <a:t>read_inode</a:t>
            </a:r>
            <a:r>
              <a:rPr kumimoji="1" lang="zh-CN" altLang="en-US" sz="2800" b="1">
                <a:solidFill>
                  <a:srgbClr val="0000FF"/>
                </a:solidFill>
                <a:latin typeface="楷体_GB2312" pitchFamily="49" charset="-122"/>
                <a:ea typeface="楷体_GB2312" pitchFamily="49" charset="-122"/>
              </a:rPr>
              <a:t>：</a:t>
            </a:r>
            <a:r>
              <a:rPr kumimoji="1" lang="zh-CN" altLang="en-US" sz="2800" b="1">
                <a:solidFill>
                  <a:schemeClr val="tx2"/>
                </a:solidFill>
                <a:latin typeface="楷体_GB2312" pitchFamily="49" charset="-122"/>
                <a:ea typeface="楷体_GB2312" pitchFamily="49" charset="-122"/>
              </a:rPr>
              <a:t> </a:t>
            </a:r>
            <a:r>
              <a:rPr kumimoji="1" lang="zh-CN" altLang="en-US" sz="2800" b="1">
                <a:latin typeface="楷体_GB2312" pitchFamily="49" charset="-122"/>
                <a:ea typeface="楷体_GB2312" pitchFamily="49" charset="-122"/>
              </a:rPr>
              <a:t>该函数从已</a:t>
            </a:r>
            <a:r>
              <a:rPr kumimoji="1" lang="en-US" altLang="zh-CN" sz="2800" b="1">
                <a:latin typeface="楷体_GB2312" pitchFamily="49" charset="-122"/>
                <a:ea typeface="楷体_GB2312" pitchFamily="49" charset="-122"/>
              </a:rPr>
              <a:t>mount</a:t>
            </a:r>
            <a:r>
              <a:rPr kumimoji="1" lang="zh-CN" altLang="en-US" sz="2800" b="1">
                <a:latin typeface="楷体_GB2312" pitchFamily="49" charset="-122"/>
                <a:ea typeface="楷体_GB2312" pitchFamily="49" charset="-122"/>
              </a:rPr>
              <a:t>的文件系统读入</a:t>
            </a:r>
          </a:p>
          <a:p>
            <a:pPr eaLnBrk="1" hangingPunct="1">
              <a:spcBef>
                <a:spcPct val="0"/>
              </a:spcBef>
              <a:buClrTx/>
              <a:buSzTx/>
              <a:buFontTx/>
              <a:buNone/>
            </a:pPr>
            <a:r>
              <a:rPr kumimoji="1" lang="zh-CN" altLang="en-US" sz="2800" b="1">
                <a:latin typeface="楷体_GB2312" pitchFamily="49" charset="-122"/>
                <a:ea typeface="楷体_GB2312" pitchFamily="49" charset="-122"/>
              </a:rPr>
              <a:t>              一 个</a:t>
            </a:r>
            <a:r>
              <a:rPr kumimoji="1" lang="en-US" altLang="zh-CN" sz="2800" b="1">
                <a:latin typeface="楷体_GB2312" pitchFamily="49" charset="-122"/>
                <a:ea typeface="楷体_GB2312" pitchFamily="49" charset="-122"/>
              </a:rPr>
              <a:t>inode</a:t>
            </a:r>
            <a:r>
              <a:rPr kumimoji="1" lang="zh-CN" altLang="en-US" sz="2800" b="1">
                <a:latin typeface="楷体_GB2312" pitchFamily="49" charset="-122"/>
                <a:ea typeface="楷体_GB2312" pitchFamily="49" charset="-122"/>
              </a:rPr>
              <a:t>的信息。该</a:t>
            </a:r>
            <a:r>
              <a:rPr kumimoji="1" lang="en-US" altLang="zh-CN" sz="2800" b="1">
                <a:latin typeface="楷体_GB2312" pitchFamily="49" charset="-122"/>
                <a:ea typeface="楷体_GB2312" pitchFamily="49" charset="-122"/>
              </a:rPr>
              <a:t>inode</a:t>
            </a:r>
            <a:r>
              <a:rPr kumimoji="1" lang="zh-CN" altLang="en-US" sz="2800" b="1">
                <a:latin typeface="楷体_GB2312" pitchFamily="49" charset="-122"/>
                <a:ea typeface="楷体_GB2312" pitchFamily="49" charset="-122"/>
              </a:rPr>
              <a:t>对</a:t>
            </a:r>
          </a:p>
          <a:p>
            <a:pPr eaLnBrk="1" hangingPunct="1">
              <a:spcBef>
                <a:spcPct val="0"/>
              </a:spcBef>
              <a:buClrTx/>
              <a:buSzTx/>
              <a:buFontTx/>
              <a:buNone/>
            </a:pPr>
            <a:r>
              <a:rPr kumimoji="1" lang="zh-CN" altLang="en-US" sz="2800" b="1">
                <a:latin typeface="楷体_GB2312" pitchFamily="49" charset="-122"/>
                <a:ea typeface="楷体_GB2312" pitchFamily="49" charset="-122"/>
              </a:rPr>
              <a:t>             象的</a:t>
            </a:r>
            <a:r>
              <a:rPr kumimoji="1" lang="en-US" altLang="zh-CN" sz="2800" b="1">
                <a:latin typeface="楷体_GB2312" pitchFamily="49" charset="-122"/>
                <a:ea typeface="楷体_GB2312" pitchFamily="49" charset="-122"/>
              </a:rPr>
              <a:t>inode</a:t>
            </a:r>
            <a:r>
              <a:rPr kumimoji="1" lang="zh-CN" altLang="en-US" sz="2800" b="1">
                <a:latin typeface="楷体_GB2312" pitchFamily="49" charset="-122"/>
                <a:ea typeface="楷体_GB2312" pitchFamily="49" charset="-122"/>
              </a:rPr>
              <a:t>号已事先被初始化。</a:t>
            </a:r>
          </a:p>
          <a:p>
            <a:pPr eaLnBrk="1" hangingPunct="1">
              <a:spcBef>
                <a:spcPct val="0"/>
              </a:spcBef>
              <a:buClrTx/>
              <a:buSzTx/>
              <a:buFontTx/>
              <a:buNone/>
            </a:pPr>
            <a:r>
              <a:rPr kumimoji="1" lang="en-US" altLang="zh-CN" sz="2800" b="1">
                <a:solidFill>
                  <a:srgbClr val="0000FF"/>
                </a:solidFill>
                <a:latin typeface="楷体_GB2312" pitchFamily="49" charset="-122"/>
                <a:ea typeface="楷体_GB2312" pitchFamily="49" charset="-122"/>
              </a:rPr>
              <a:t>write_inode:</a:t>
            </a:r>
            <a:r>
              <a:rPr kumimoji="1" lang="en-US" altLang="zh-CN" sz="2800" b="1">
                <a:solidFill>
                  <a:schemeClr val="tx2"/>
                </a:solidFill>
                <a:latin typeface="楷体_GB2312" pitchFamily="49" charset="-122"/>
                <a:ea typeface="楷体_GB2312" pitchFamily="49" charset="-122"/>
              </a:rPr>
              <a:t> </a:t>
            </a:r>
            <a:r>
              <a:rPr kumimoji="1" lang="zh-CN" altLang="en-US" sz="2800" b="1">
                <a:latin typeface="楷体_GB2312" pitchFamily="49" charset="-122"/>
                <a:ea typeface="楷体_GB2312" pitchFamily="49" charset="-122"/>
              </a:rPr>
              <a:t>把</a:t>
            </a:r>
            <a:r>
              <a:rPr kumimoji="1" lang="en-US" altLang="zh-CN" sz="2800" b="1">
                <a:latin typeface="楷体_GB2312" pitchFamily="49" charset="-122"/>
                <a:ea typeface="楷体_GB2312" pitchFamily="49" charset="-122"/>
              </a:rPr>
              <a:t>inode</a:t>
            </a:r>
            <a:r>
              <a:rPr kumimoji="1" lang="zh-CN" altLang="en-US" sz="2800" b="1">
                <a:latin typeface="楷体_GB2312" pitchFamily="49" charset="-122"/>
                <a:ea typeface="楷体_GB2312" pitchFamily="49" charset="-122"/>
              </a:rPr>
              <a:t>信息写入磁盘。</a:t>
            </a:r>
          </a:p>
          <a:p>
            <a:pPr eaLnBrk="1" hangingPunct="1">
              <a:spcBef>
                <a:spcPct val="0"/>
              </a:spcBef>
              <a:buClrTx/>
              <a:buSzTx/>
              <a:buFontTx/>
              <a:buNone/>
            </a:pPr>
            <a:r>
              <a:rPr kumimoji="1" lang="en-US" altLang="zh-CN" sz="2800" b="1">
                <a:solidFill>
                  <a:srgbClr val="0000FF"/>
                </a:solidFill>
                <a:latin typeface="楷体_GB2312" pitchFamily="49" charset="-122"/>
                <a:ea typeface="楷体_GB2312" pitchFamily="49" charset="-122"/>
              </a:rPr>
              <a:t>put_inode:</a:t>
            </a:r>
            <a:r>
              <a:rPr kumimoji="1" lang="en-US" altLang="zh-CN" sz="2800" b="1">
                <a:latin typeface="楷体_GB2312" pitchFamily="49" charset="-122"/>
                <a:ea typeface="楷体_GB2312" pitchFamily="49" charset="-122"/>
              </a:rPr>
              <a:t>   inode</a:t>
            </a:r>
            <a:r>
              <a:rPr kumimoji="1" lang="zh-CN" altLang="en-US" sz="2800" b="1">
                <a:latin typeface="楷体_GB2312" pitchFamily="49" charset="-122"/>
                <a:ea typeface="楷体_GB2312" pitchFamily="49" charset="-122"/>
              </a:rPr>
              <a:t>对象从</a:t>
            </a:r>
            <a:r>
              <a:rPr kumimoji="1" lang="en-US" altLang="zh-CN" sz="2800" b="1">
                <a:latin typeface="楷体_GB2312" pitchFamily="49" charset="-122"/>
                <a:ea typeface="楷体_GB2312" pitchFamily="49" charset="-122"/>
              </a:rPr>
              <a:t>inode cache</a:t>
            </a:r>
            <a:r>
              <a:rPr kumimoji="1" lang="zh-CN" altLang="en-US" sz="2800" b="1">
                <a:latin typeface="楷体_GB2312" pitchFamily="49" charset="-122"/>
                <a:ea typeface="楷体_GB2312" pitchFamily="49" charset="-122"/>
              </a:rPr>
              <a:t>移去</a:t>
            </a:r>
          </a:p>
          <a:p>
            <a:pPr eaLnBrk="1" hangingPunct="1">
              <a:spcBef>
                <a:spcPct val="0"/>
              </a:spcBef>
              <a:buClrTx/>
              <a:buSzTx/>
              <a:buFontTx/>
              <a:buNone/>
            </a:pPr>
            <a:r>
              <a:rPr kumimoji="1" lang="zh-CN" altLang="en-US" sz="2800" b="1">
                <a:latin typeface="楷体_GB2312" pitchFamily="49" charset="-122"/>
                <a:ea typeface="楷体_GB2312" pitchFamily="49" charset="-122"/>
              </a:rPr>
              <a:t>             时调用该函数。</a:t>
            </a:r>
          </a:p>
          <a:p>
            <a:pPr eaLnBrk="1" hangingPunct="1">
              <a:spcBef>
                <a:spcPct val="0"/>
              </a:spcBef>
              <a:buClrTx/>
              <a:buSzTx/>
              <a:buFontTx/>
              <a:buNone/>
            </a:pPr>
            <a:r>
              <a:rPr kumimoji="1" lang="en-US" altLang="zh-CN" sz="2800" b="1">
                <a:solidFill>
                  <a:srgbClr val="0000FF"/>
                </a:solidFill>
                <a:latin typeface="楷体_GB2312" pitchFamily="49" charset="-122"/>
                <a:ea typeface="楷体_GB2312" pitchFamily="49" charset="-122"/>
              </a:rPr>
              <a:t>delete_inode:</a:t>
            </a:r>
            <a:r>
              <a:rPr kumimoji="1" lang="en-US" altLang="zh-CN" sz="2800" b="1">
                <a:latin typeface="楷体_GB2312" pitchFamily="49" charset="-122"/>
                <a:ea typeface="楷体_GB2312" pitchFamily="49" charset="-122"/>
              </a:rPr>
              <a:t> </a:t>
            </a:r>
            <a:r>
              <a:rPr kumimoji="1" lang="zh-CN" altLang="en-US" sz="2800" b="1">
                <a:latin typeface="楷体_GB2312" pitchFamily="49" charset="-122"/>
                <a:ea typeface="楷体_GB2312" pitchFamily="49" charset="-122"/>
              </a:rPr>
              <a:t>删除</a:t>
            </a:r>
            <a:r>
              <a:rPr kumimoji="1" lang="en-US" altLang="zh-CN" sz="2800" b="1">
                <a:latin typeface="楷体_GB2312" pitchFamily="49" charset="-122"/>
                <a:ea typeface="楷体_GB2312" pitchFamily="49" charset="-122"/>
              </a:rPr>
              <a:t>inode</a:t>
            </a:r>
            <a:r>
              <a:rPr kumimoji="1" lang="zh-CN" altLang="en-US" sz="2800" b="1">
                <a:latin typeface="楷体_GB2312" pitchFamily="49" charset="-122"/>
                <a:ea typeface="楷体_GB2312" pitchFamily="49" charset="-122"/>
              </a:rPr>
              <a:t>时调用。</a:t>
            </a:r>
          </a:p>
          <a:p>
            <a:pPr eaLnBrk="1" hangingPunct="1">
              <a:spcBef>
                <a:spcPct val="0"/>
              </a:spcBef>
              <a:buClrTx/>
              <a:buSzTx/>
              <a:buFontTx/>
              <a:buNone/>
            </a:pPr>
            <a:r>
              <a:rPr kumimoji="1" lang="en-US" altLang="zh-CN" sz="2800" b="1">
                <a:solidFill>
                  <a:srgbClr val="0000FF"/>
                </a:solidFill>
                <a:latin typeface="楷体_GB2312" pitchFamily="49" charset="-122"/>
                <a:ea typeface="楷体_GB2312" pitchFamily="49" charset="-122"/>
              </a:rPr>
              <a:t>put_super:</a:t>
            </a:r>
            <a:r>
              <a:rPr kumimoji="1" lang="en-US" altLang="zh-CN" sz="2800" b="1">
                <a:latin typeface="楷体_GB2312" pitchFamily="49" charset="-122"/>
                <a:ea typeface="楷体_GB2312" pitchFamily="49" charset="-122"/>
              </a:rPr>
              <a:t>   umount</a:t>
            </a:r>
            <a:r>
              <a:rPr kumimoji="1" lang="zh-CN" altLang="en-US" sz="2800" b="1">
                <a:latin typeface="楷体_GB2312" pitchFamily="49" charset="-122"/>
                <a:ea typeface="楷体_GB2312" pitchFamily="49" charset="-122"/>
              </a:rPr>
              <a:t>时，</a:t>
            </a:r>
            <a:r>
              <a:rPr kumimoji="1" lang="en-US" altLang="zh-CN" sz="2800" b="1">
                <a:latin typeface="楷体_GB2312" pitchFamily="49" charset="-122"/>
                <a:ea typeface="楷体_GB2312" pitchFamily="49" charset="-122"/>
              </a:rPr>
              <a:t>VFS</a:t>
            </a:r>
            <a:r>
              <a:rPr kumimoji="1" lang="zh-CN" altLang="en-US" sz="2800" b="1">
                <a:latin typeface="楷体_GB2312" pitchFamily="49" charset="-122"/>
                <a:ea typeface="楷体_GB2312" pitchFamily="49" charset="-122"/>
              </a:rPr>
              <a:t>释放超级块。</a:t>
            </a:r>
          </a:p>
          <a:p>
            <a:pPr algn="l" eaLnBrk="1" hangingPunct="1">
              <a:spcBef>
                <a:spcPct val="0"/>
              </a:spcBef>
              <a:buClrTx/>
              <a:buSzTx/>
              <a:buFontTx/>
              <a:buNone/>
            </a:pPr>
            <a:r>
              <a:rPr kumimoji="1" lang="en-US" altLang="zh-CN" sz="2800" b="1">
                <a:solidFill>
                  <a:srgbClr val="0000FF"/>
                </a:solidFill>
                <a:latin typeface="楷体_GB2312" pitchFamily="49" charset="-122"/>
                <a:ea typeface="楷体_GB2312" pitchFamily="49" charset="-122"/>
              </a:rPr>
              <a:t>write_super:</a:t>
            </a:r>
            <a:r>
              <a:rPr kumimoji="1" lang="en-US" altLang="zh-CN" sz="2800" b="1">
                <a:latin typeface="楷体_GB2312" pitchFamily="49" charset="-122"/>
                <a:ea typeface="楷体_GB2312" pitchFamily="49" charset="-122"/>
              </a:rPr>
              <a:t> </a:t>
            </a:r>
            <a:r>
              <a:rPr kumimoji="1" lang="zh-CN" altLang="en-US" sz="2800" b="1">
                <a:latin typeface="楷体_GB2312" pitchFamily="49" charset="-122"/>
                <a:ea typeface="楷体_GB2312" pitchFamily="49" charset="-122"/>
              </a:rPr>
              <a:t>希望把</a:t>
            </a:r>
            <a:r>
              <a:rPr kumimoji="1" lang="en-US" altLang="zh-CN" sz="2800" b="1">
                <a:latin typeface="楷体_GB2312" pitchFamily="49" charset="-122"/>
                <a:ea typeface="楷体_GB2312" pitchFamily="49" charset="-122"/>
              </a:rPr>
              <a:t>VFS</a:t>
            </a:r>
            <a:r>
              <a:rPr kumimoji="1" lang="zh-CN" altLang="en-US" sz="2800" b="1">
                <a:latin typeface="楷体_GB2312" pitchFamily="49" charset="-122"/>
                <a:ea typeface="楷体_GB2312" pitchFamily="49" charset="-122"/>
              </a:rPr>
              <a:t>超级块写入磁盘时调用。</a:t>
            </a:r>
            <a:endParaRPr kumimoji="1" lang="zh-CN" altLang="en-US" sz="3200">
              <a:latin typeface="楷体_GB2312" pitchFamily="49" charset="-122"/>
              <a:ea typeface="楷体_GB2312" pitchFamily="49" charset="-122"/>
            </a:endParaRPr>
          </a:p>
        </p:txBody>
      </p:sp>
    </p:spTree>
    <p:extLst>
      <p:ext uri="{BB962C8B-B14F-4D97-AF65-F5344CB8AC3E}">
        <p14:creationId xmlns:p14="http://schemas.microsoft.com/office/powerpoint/2010/main" val="329928119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755650" y="476250"/>
            <a:ext cx="8001000" cy="569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1" lang="en-US" altLang="zh-CN" sz="3200">
                <a:latin typeface="楷体_GB2312" pitchFamily="49" charset="-122"/>
                <a:ea typeface="楷体_GB2312" pitchFamily="49" charset="-122"/>
              </a:rPr>
              <a:t>   </a:t>
            </a:r>
            <a:r>
              <a:rPr kumimoji="1" lang="zh-CN" altLang="en-US" sz="3200">
                <a:ea typeface="楷体_GB2312" pitchFamily="49" charset="-122"/>
              </a:rPr>
              <a:t>如：</a:t>
            </a:r>
            <a:r>
              <a:rPr kumimoji="1" lang="zh-CN" altLang="en-US" sz="3200" b="1">
                <a:ea typeface="楷体_GB2312" pitchFamily="49" charset="-122"/>
              </a:rPr>
              <a:t>当第一次安装一个</a:t>
            </a:r>
            <a:r>
              <a:rPr kumimoji="1" lang="en-US" altLang="zh-CN" sz="3200" b="1">
                <a:ea typeface="楷体_GB2312" pitchFamily="49" charset="-122"/>
              </a:rPr>
              <a:t>ext2</a:t>
            </a:r>
            <a:r>
              <a:rPr kumimoji="1" lang="zh-CN" altLang="en-US" sz="3200" b="1">
                <a:ea typeface="楷体_GB2312" pitchFamily="49" charset="-122"/>
              </a:rPr>
              <a:t>系统时</a:t>
            </a:r>
            <a:r>
              <a:rPr kumimoji="1" lang="en-US" altLang="zh-CN" sz="3200" b="1">
                <a:ea typeface="楷体_GB2312" pitchFamily="49" charset="-122"/>
              </a:rPr>
              <a:t>,</a:t>
            </a:r>
            <a:r>
              <a:rPr kumimoji="1" lang="zh-CN" altLang="en-US" sz="3200" b="1">
                <a:ea typeface="楷体_GB2312" pitchFamily="49" charset="-122"/>
              </a:rPr>
              <a:t>会调用</a:t>
            </a:r>
            <a:r>
              <a:rPr kumimoji="1" lang="en-US" altLang="zh-CN" sz="3200" b="1">
                <a:ea typeface="楷体_GB2312" pitchFamily="49" charset="-122"/>
              </a:rPr>
              <a:t>ext2_read_super( ),</a:t>
            </a:r>
            <a:r>
              <a:rPr kumimoji="1" lang="zh-CN" altLang="en-US" sz="3200" b="1">
                <a:ea typeface="楷体_GB2312" pitchFamily="49" charset="-122"/>
              </a:rPr>
              <a:t>该函数有一条语句</a:t>
            </a:r>
          </a:p>
          <a:p>
            <a:pPr eaLnBrk="1" hangingPunct="1">
              <a:spcBef>
                <a:spcPct val="0"/>
              </a:spcBef>
              <a:buClrTx/>
              <a:buSzTx/>
              <a:buFontTx/>
              <a:buNone/>
            </a:pPr>
            <a:r>
              <a:rPr kumimoji="1" lang="en-US" altLang="zh-CN" sz="3200" b="1">
                <a:ea typeface="楷体_GB2312" pitchFamily="49" charset="-122"/>
              </a:rPr>
              <a:t>sb-&gt;s_op = &amp;ext2_sops</a:t>
            </a:r>
            <a:r>
              <a:rPr kumimoji="1" lang="zh-CN" altLang="en-US" sz="3200" b="1">
                <a:ea typeface="楷体_GB2312" pitchFamily="49" charset="-122"/>
              </a:rPr>
              <a:t>。</a:t>
            </a:r>
            <a:r>
              <a:rPr kumimoji="1" lang="en-US" altLang="zh-CN" sz="3200" b="1">
                <a:ea typeface="楷体_GB2312" pitchFamily="49" charset="-122"/>
              </a:rPr>
              <a:t>ext2_sops</a:t>
            </a:r>
            <a:r>
              <a:rPr kumimoji="1" lang="zh-CN" altLang="en-US" sz="3200" b="1">
                <a:ea typeface="楷体_GB2312" pitchFamily="49" charset="-122"/>
              </a:rPr>
              <a:t>变量的成员值如下</a:t>
            </a:r>
            <a:r>
              <a:rPr kumimoji="1" lang="en-US" altLang="zh-CN" sz="3200" b="1">
                <a:ea typeface="楷体_GB2312" pitchFamily="49" charset="-122"/>
              </a:rPr>
              <a:t>:</a:t>
            </a:r>
          </a:p>
          <a:p>
            <a:pPr eaLnBrk="1" hangingPunct="1">
              <a:spcBef>
                <a:spcPct val="0"/>
              </a:spcBef>
              <a:buClrTx/>
              <a:buSzTx/>
              <a:buFontTx/>
              <a:buNone/>
            </a:pPr>
            <a:endParaRPr kumimoji="1" lang="en-US" altLang="zh-CN" b="1">
              <a:ea typeface="楷体_GB2312" pitchFamily="49" charset="-122"/>
            </a:endParaRPr>
          </a:p>
          <a:p>
            <a:pPr eaLnBrk="1" hangingPunct="1">
              <a:spcBef>
                <a:spcPct val="0"/>
              </a:spcBef>
              <a:buClrTx/>
              <a:buSzTx/>
              <a:buFontTx/>
              <a:buNone/>
            </a:pPr>
            <a:r>
              <a:rPr kumimoji="1" lang="en-US" altLang="zh-CN" b="1">
                <a:ea typeface="楷体_GB2312" pitchFamily="49" charset="-122"/>
              </a:rPr>
              <a:t>static struct super_operations </a:t>
            </a:r>
            <a:r>
              <a:rPr kumimoji="1" lang="en-US" altLang="zh-CN" b="1">
                <a:solidFill>
                  <a:srgbClr val="0000FF"/>
                </a:solidFill>
                <a:ea typeface="楷体_GB2312" pitchFamily="49" charset="-122"/>
              </a:rPr>
              <a:t>ext2_sops</a:t>
            </a:r>
            <a:r>
              <a:rPr kumimoji="1" lang="en-US" altLang="zh-CN" b="1">
                <a:ea typeface="楷体_GB2312" pitchFamily="49" charset="-122"/>
              </a:rPr>
              <a:t> = {</a:t>
            </a:r>
          </a:p>
          <a:p>
            <a:pPr eaLnBrk="1" hangingPunct="1">
              <a:spcBef>
                <a:spcPct val="0"/>
              </a:spcBef>
              <a:buClrTx/>
              <a:buSzTx/>
              <a:buFontTx/>
              <a:buNone/>
            </a:pPr>
            <a:r>
              <a:rPr kumimoji="1" lang="en-US" altLang="zh-CN" b="1">
                <a:ea typeface="楷体_GB2312" pitchFamily="49" charset="-122"/>
              </a:rPr>
              <a:t>	read_inode:   ext2_read_inode,</a:t>
            </a:r>
          </a:p>
          <a:p>
            <a:pPr eaLnBrk="1" hangingPunct="1">
              <a:spcBef>
                <a:spcPct val="0"/>
              </a:spcBef>
              <a:buClrTx/>
              <a:buSzTx/>
              <a:buFontTx/>
              <a:buNone/>
            </a:pPr>
            <a:r>
              <a:rPr kumimoji="1" lang="en-US" altLang="zh-CN" b="1">
                <a:ea typeface="楷体_GB2312" pitchFamily="49" charset="-122"/>
              </a:rPr>
              <a:t>	write_inode:  ext2_write_inode,</a:t>
            </a:r>
          </a:p>
          <a:p>
            <a:pPr eaLnBrk="1" hangingPunct="1">
              <a:spcBef>
                <a:spcPct val="0"/>
              </a:spcBef>
              <a:buClrTx/>
              <a:buSzTx/>
              <a:buFontTx/>
              <a:buNone/>
            </a:pPr>
            <a:r>
              <a:rPr kumimoji="1" lang="en-US" altLang="zh-CN" b="1">
                <a:ea typeface="楷体_GB2312" pitchFamily="49" charset="-122"/>
              </a:rPr>
              <a:t>	put_inode:    ext2_put_inode,</a:t>
            </a:r>
          </a:p>
          <a:p>
            <a:pPr eaLnBrk="1" hangingPunct="1">
              <a:spcBef>
                <a:spcPct val="0"/>
              </a:spcBef>
              <a:buClrTx/>
              <a:buSzTx/>
              <a:buFontTx/>
              <a:buNone/>
            </a:pPr>
            <a:r>
              <a:rPr kumimoji="1" lang="en-US" altLang="zh-CN" b="1">
                <a:ea typeface="楷体_GB2312" pitchFamily="49" charset="-122"/>
              </a:rPr>
              <a:t>	delete_inode: ext2_delete_inode,</a:t>
            </a:r>
          </a:p>
          <a:p>
            <a:pPr eaLnBrk="1" hangingPunct="1">
              <a:spcBef>
                <a:spcPct val="0"/>
              </a:spcBef>
              <a:buClrTx/>
              <a:buSzTx/>
              <a:buFontTx/>
              <a:buNone/>
            </a:pPr>
            <a:r>
              <a:rPr kumimoji="1" lang="en-US" altLang="zh-CN" b="1">
                <a:ea typeface="楷体_GB2312" pitchFamily="49" charset="-122"/>
              </a:rPr>
              <a:t>	put_super:	  ext2_put_super,</a:t>
            </a:r>
          </a:p>
          <a:p>
            <a:pPr eaLnBrk="1" hangingPunct="1">
              <a:spcBef>
                <a:spcPct val="0"/>
              </a:spcBef>
              <a:buClrTx/>
              <a:buSzTx/>
              <a:buFontTx/>
              <a:buNone/>
            </a:pPr>
            <a:r>
              <a:rPr kumimoji="1" lang="en-US" altLang="zh-CN" b="1">
                <a:ea typeface="楷体_GB2312" pitchFamily="49" charset="-122"/>
              </a:rPr>
              <a:t>	write_super:  ext2_write_super,</a:t>
            </a:r>
          </a:p>
          <a:p>
            <a:pPr eaLnBrk="1" hangingPunct="1">
              <a:spcBef>
                <a:spcPct val="0"/>
              </a:spcBef>
              <a:buClrTx/>
              <a:buSzTx/>
              <a:buFontTx/>
              <a:buNone/>
            </a:pPr>
            <a:r>
              <a:rPr kumimoji="1" lang="en-US" altLang="zh-CN" b="1">
                <a:ea typeface="楷体_GB2312" pitchFamily="49" charset="-122"/>
              </a:rPr>
              <a:t>	......</a:t>
            </a:r>
          </a:p>
          <a:p>
            <a:pPr eaLnBrk="1" hangingPunct="1">
              <a:spcBef>
                <a:spcPct val="0"/>
              </a:spcBef>
              <a:buClrTx/>
              <a:buSzTx/>
              <a:buFontTx/>
              <a:buNone/>
            </a:pPr>
            <a:r>
              <a:rPr kumimoji="1" lang="en-US" altLang="zh-CN" b="1">
                <a:ea typeface="楷体_GB2312" pitchFamily="49" charset="-122"/>
              </a:rPr>
              <a:t>  };</a:t>
            </a:r>
          </a:p>
        </p:txBody>
      </p:sp>
    </p:spTree>
    <p:extLst>
      <p:ext uri="{BB962C8B-B14F-4D97-AF65-F5344CB8AC3E}">
        <p14:creationId xmlns:p14="http://schemas.microsoft.com/office/powerpoint/2010/main" val="1807067049"/>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827088" y="692150"/>
            <a:ext cx="7924800" cy="484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1" lang="en-US" altLang="zh-CN" sz="3200" b="1">
                <a:latin typeface="宋体" panose="02010600030101010101" pitchFamily="2" charset="-122"/>
                <a:cs typeface="Times New Roman" panose="02020603050405020304" pitchFamily="18" charset="0"/>
              </a:rPr>
              <a:t>   </a:t>
            </a:r>
            <a:r>
              <a:rPr kumimoji="1" lang="zh-CN" altLang="en-US" sz="3200" b="1">
                <a:ea typeface="楷体_GB2312" pitchFamily="49" charset="-122"/>
              </a:rPr>
              <a:t>而当第一次</a:t>
            </a:r>
            <a:r>
              <a:rPr kumimoji="1" lang="en-US" altLang="zh-CN" sz="3200" b="1">
                <a:ea typeface="楷体_GB2312" pitchFamily="49" charset="-122"/>
              </a:rPr>
              <a:t>mount</a:t>
            </a:r>
            <a:r>
              <a:rPr kumimoji="1" lang="zh-CN" altLang="en-US" sz="3200" b="1">
                <a:ea typeface="楷体_GB2312" pitchFamily="49" charset="-122"/>
              </a:rPr>
              <a:t>一个</a:t>
            </a:r>
            <a:r>
              <a:rPr kumimoji="1" lang="en-US" altLang="zh-CN" sz="3200" b="1">
                <a:ea typeface="楷体_GB2312" pitchFamily="49" charset="-122"/>
              </a:rPr>
              <a:t>fat</a:t>
            </a:r>
            <a:r>
              <a:rPr kumimoji="1" lang="zh-CN" altLang="en-US" sz="3200" b="1">
                <a:ea typeface="楷体_GB2312" pitchFamily="49" charset="-122"/>
              </a:rPr>
              <a:t>分区时</a:t>
            </a:r>
            <a:r>
              <a:rPr kumimoji="1" lang="en-US" altLang="zh-CN" sz="3200" b="1">
                <a:ea typeface="楷体_GB2312" pitchFamily="49" charset="-122"/>
              </a:rPr>
              <a:t>,</a:t>
            </a:r>
            <a:r>
              <a:rPr kumimoji="1" lang="zh-CN" altLang="en-US" sz="3200" b="1">
                <a:ea typeface="楷体_GB2312" pitchFamily="49" charset="-122"/>
              </a:rPr>
              <a:t>会调用</a:t>
            </a:r>
            <a:r>
              <a:rPr kumimoji="1" lang="en-US" altLang="zh-CN" sz="3200" b="1">
                <a:ea typeface="楷体_GB2312" pitchFamily="49" charset="-122"/>
              </a:rPr>
              <a:t>fat_read_super( ),</a:t>
            </a:r>
            <a:r>
              <a:rPr kumimoji="1" lang="zh-CN" altLang="en-US" sz="3200" b="1">
                <a:ea typeface="楷体_GB2312" pitchFamily="49" charset="-122"/>
              </a:rPr>
              <a:t>该函数有一条语句</a:t>
            </a:r>
          </a:p>
          <a:p>
            <a:pPr eaLnBrk="1" hangingPunct="1">
              <a:spcBef>
                <a:spcPct val="0"/>
              </a:spcBef>
              <a:buClrTx/>
              <a:buSzTx/>
              <a:buFontTx/>
              <a:buNone/>
            </a:pPr>
            <a:r>
              <a:rPr kumimoji="1" lang="en-US" altLang="zh-CN" sz="3200" b="1">
                <a:ea typeface="楷体_GB2312" pitchFamily="49" charset="-122"/>
              </a:rPr>
              <a:t>sb-&gt;s_op = &amp;fat_sops</a:t>
            </a:r>
            <a:r>
              <a:rPr kumimoji="1" lang="zh-CN" altLang="en-US" sz="3200" b="1">
                <a:ea typeface="楷体_GB2312" pitchFamily="49" charset="-122"/>
              </a:rPr>
              <a:t>。</a:t>
            </a:r>
            <a:r>
              <a:rPr kumimoji="1" lang="en-US" altLang="zh-CN" sz="3200" b="1">
                <a:ea typeface="楷体_GB2312" pitchFamily="49" charset="-122"/>
              </a:rPr>
              <a:t>fat_sops</a:t>
            </a:r>
            <a:r>
              <a:rPr kumimoji="1" lang="zh-CN" altLang="en-US" sz="3200" b="1">
                <a:ea typeface="楷体_GB2312" pitchFamily="49" charset="-122"/>
              </a:rPr>
              <a:t>变量的成员值如下</a:t>
            </a:r>
            <a:r>
              <a:rPr kumimoji="1" lang="en-US" altLang="zh-CN" sz="3200" b="1">
                <a:ea typeface="楷体_GB2312" pitchFamily="49" charset="-122"/>
              </a:rPr>
              <a:t>:</a:t>
            </a:r>
          </a:p>
          <a:p>
            <a:pPr eaLnBrk="1" hangingPunct="1">
              <a:spcBef>
                <a:spcPct val="0"/>
              </a:spcBef>
              <a:buClrTx/>
              <a:buSzTx/>
              <a:buFontTx/>
              <a:buNone/>
            </a:pPr>
            <a:r>
              <a:rPr kumimoji="1" lang="en-US" altLang="zh-CN" sz="3200" b="1">
                <a:cs typeface="Times New Roman" panose="02020603050405020304" pitchFamily="18" charset="0"/>
              </a:rPr>
              <a:t> </a:t>
            </a:r>
            <a:r>
              <a:rPr kumimoji="1" lang="en-US" altLang="zh-CN" b="1">
                <a:cs typeface="Times New Roman" panose="02020603050405020304" pitchFamily="18" charset="0"/>
              </a:rPr>
              <a:t>static struct super_operations fat_sops = { </a:t>
            </a:r>
          </a:p>
          <a:p>
            <a:pPr eaLnBrk="1" hangingPunct="1">
              <a:spcBef>
                <a:spcPct val="0"/>
              </a:spcBef>
              <a:buClrTx/>
              <a:buSzTx/>
              <a:buFontTx/>
              <a:buNone/>
            </a:pPr>
            <a:r>
              <a:rPr kumimoji="1" lang="en-US" altLang="zh-CN" b="1">
                <a:cs typeface="Times New Roman" panose="02020603050405020304" pitchFamily="18" charset="0"/>
              </a:rPr>
              <a:t>	write_inode:	fat_write_inode,</a:t>
            </a:r>
          </a:p>
          <a:p>
            <a:pPr eaLnBrk="1" hangingPunct="1">
              <a:spcBef>
                <a:spcPct val="0"/>
              </a:spcBef>
              <a:buClrTx/>
              <a:buSzTx/>
              <a:buFontTx/>
              <a:buNone/>
            </a:pPr>
            <a:r>
              <a:rPr kumimoji="1" lang="en-US" altLang="zh-CN" b="1">
                <a:cs typeface="Times New Roman" panose="02020603050405020304" pitchFamily="18" charset="0"/>
              </a:rPr>
              <a:t>	delete_inode:	fat_delete_inode,</a:t>
            </a:r>
          </a:p>
          <a:p>
            <a:pPr eaLnBrk="1" hangingPunct="1">
              <a:spcBef>
                <a:spcPct val="0"/>
              </a:spcBef>
              <a:buClrTx/>
              <a:buSzTx/>
              <a:buFontTx/>
              <a:buNone/>
            </a:pPr>
            <a:r>
              <a:rPr kumimoji="1" lang="en-US" altLang="zh-CN" b="1">
                <a:cs typeface="Times New Roman" panose="02020603050405020304" pitchFamily="18" charset="0"/>
              </a:rPr>
              <a:t>	put_super:	      fat_put_super,</a:t>
            </a:r>
          </a:p>
          <a:p>
            <a:pPr eaLnBrk="1" hangingPunct="1">
              <a:spcBef>
                <a:spcPct val="0"/>
              </a:spcBef>
              <a:buClrTx/>
              <a:buSzTx/>
              <a:buFontTx/>
              <a:buNone/>
            </a:pPr>
            <a:r>
              <a:rPr kumimoji="1" lang="en-US" altLang="zh-CN" b="1">
                <a:cs typeface="Times New Roman" panose="02020603050405020304" pitchFamily="18" charset="0"/>
              </a:rPr>
              <a:t>	......</a:t>
            </a:r>
          </a:p>
          <a:p>
            <a:pPr eaLnBrk="1" hangingPunct="1">
              <a:spcBef>
                <a:spcPct val="0"/>
              </a:spcBef>
              <a:buClrTx/>
              <a:buSzTx/>
              <a:buFontTx/>
              <a:buNone/>
            </a:pPr>
            <a:r>
              <a:rPr kumimoji="1" lang="en-US" altLang="zh-CN" b="1">
                <a:cs typeface="Times New Roman" panose="02020603050405020304" pitchFamily="18" charset="0"/>
              </a:rPr>
              <a:t>};</a:t>
            </a:r>
          </a:p>
          <a:p>
            <a:pPr algn="l" eaLnBrk="1" hangingPunct="1">
              <a:spcBef>
                <a:spcPct val="0"/>
              </a:spcBef>
              <a:buClrTx/>
              <a:buSzTx/>
              <a:buFontTx/>
              <a:buNone/>
            </a:pPr>
            <a:r>
              <a:rPr kumimoji="1" lang="en-US" altLang="zh-CN" sz="3200" b="1">
                <a:ea typeface="楷体_GB2312" pitchFamily="49" charset="-122"/>
              </a:rPr>
              <a:t>   </a:t>
            </a:r>
          </a:p>
        </p:txBody>
      </p:sp>
    </p:spTree>
    <p:extLst>
      <p:ext uri="{BB962C8B-B14F-4D97-AF65-F5344CB8AC3E}">
        <p14:creationId xmlns:p14="http://schemas.microsoft.com/office/powerpoint/2010/main" val="42914911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type="body" idx="1"/>
          </p:nvPr>
        </p:nvSpPr>
        <p:spPr>
          <a:xfrm>
            <a:off x="0" y="333375"/>
            <a:ext cx="9144000" cy="6092825"/>
          </a:xfrm>
        </p:spPr>
        <p:txBody>
          <a:bodyPr/>
          <a:lstStyle/>
          <a:p>
            <a:pPr eaLnBrk="1" hangingPunct="1">
              <a:lnSpc>
                <a:spcPct val="90000"/>
              </a:lnSpc>
            </a:pPr>
            <a:r>
              <a:rPr lang="zh-CN" altLang="en-US" dirty="0" smtClean="0"/>
              <a:t>分析“获取一个 </a:t>
            </a:r>
            <a:r>
              <a:rPr lang="en-US" altLang="zh-CN" dirty="0" err="1" smtClean="0"/>
              <a:t>inode</a:t>
            </a:r>
            <a:r>
              <a:rPr lang="en-US" altLang="zh-CN" dirty="0" smtClean="0"/>
              <a:t> ”</a:t>
            </a:r>
            <a:r>
              <a:rPr lang="zh-CN" altLang="en-US" dirty="0" smtClean="0"/>
              <a:t>的过程来只理解这个“接口”中两个成员  </a:t>
            </a:r>
            <a:r>
              <a:rPr lang="en-US" altLang="zh-CN" dirty="0" err="1" smtClean="0"/>
              <a:t>alloc_inode</a:t>
            </a:r>
            <a:r>
              <a:rPr lang="en-US" altLang="zh-CN" dirty="0" smtClean="0"/>
              <a:t>  </a:t>
            </a:r>
            <a:r>
              <a:rPr lang="zh-CN" altLang="en-US" dirty="0" smtClean="0"/>
              <a:t>和 </a:t>
            </a:r>
            <a:r>
              <a:rPr lang="en-US" altLang="zh-CN" dirty="0" err="1" smtClean="0"/>
              <a:t>read_inode</a:t>
            </a:r>
            <a:r>
              <a:rPr lang="en-US" altLang="zh-CN" dirty="0" smtClean="0"/>
              <a:t> </a:t>
            </a:r>
            <a:r>
              <a:rPr lang="zh-CN" altLang="en-US" dirty="0" smtClean="0"/>
              <a:t>的作用。</a:t>
            </a:r>
          </a:p>
          <a:p>
            <a:pPr eaLnBrk="1" hangingPunct="1">
              <a:lnSpc>
                <a:spcPct val="90000"/>
              </a:lnSpc>
            </a:pPr>
            <a:endParaRPr lang="en-US" altLang="zh-CN" dirty="0" smtClean="0"/>
          </a:p>
          <a:p>
            <a:pPr eaLnBrk="1" hangingPunct="1">
              <a:lnSpc>
                <a:spcPct val="90000"/>
              </a:lnSpc>
            </a:pPr>
            <a:r>
              <a:rPr lang="zh-CN" altLang="en-US" dirty="0" smtClean="0"/>
              <a:t>在文件系统的操作中，经常需要获得一个“目录节点”对应的 </a:t>
            </a:r>
            <a:r>
              <a:rPr lang="en-US" altLang="zh-CN" dirty="0" err="1" smtClean="0"/>
              <a:t>inode</a:t>
            </a:r>
            <a:r>
              <a:rPr lang="zh-CN" altLang="en-US" dirty="0" smtClean="0"/>
              <a:t>，这个 </a:t>
            </a:r>
            <a:r>
              <a:rPr lang="en-US" altLang="zh-CN" dirty="0" err="1" smtClean="0"/>
              <a:t>inode</a:t>
            </a:r>
            <a:r>
              <a:rPr lang="en-US" altLang="zh-CN" dirty="0" smtClean="0"/>
              <a:t> </a:t>
            </a:r>
            <a:r>
              <a:rPr lang="zh-CN" altLang="en-US" dirty="0" smtClean="0"/>
              <a:t>有可能已经存在于内存中了，也可能还没有，需要创建一个新的 </a:t>
            </a:r>
            <a:r>
              <a:rPr lang="en-US" altLang="zh-CN" dirty="0" err="1" smtClean="0"/>
              <a:t>inode</a:t>
            </a:r>
            <a:r>
              <a:rPr lang="zh-CN" altLang="en-US" dirty="0" smtClean="0"/>
              <a:t>，并从磁盘上读取相应的信息来填充。</a:t>
            </a:r>
            <a:br>
              <a:rPr lang="zh-CN" altLang="en-US" dirty="0" smtClean="0"/>
            </a:br>
            <a:endParaRPr lang="zh-CN" altLang="en-US" dirty="0" smtClean="0"/>
          </a:p>
          <a:p>
            <a:pPr eaLnBrk="1" hangingPunct="1">
              <a:lnSpc>
                <a:spcPct val="90000"/>
              </a:lnSpc>
            </a:pPr>
            <a:r>
              <a:rPr lang="zh-CN" altLang="en-US" dirty="0" smtClean="0"/>
              <a:t>对应的代码是 </a:t>
            </a:r>
            <a:r>
              <a:rPr lang="en-US" altLang="zh-CN" dirty="0" err="1" smtClean="0"/>
              <a:t>iget</a:t>
            </a:r>
            <a:r>
              <a:rPr lang="en-US" altLang="zh-CN" dirty="0" smtClean="0"/>
              <a:t>()   </a:t>
            </a:r>
            <a:r>
              <a:rPr lang="zh-CN" altLang="en-US" dirty="0" smtClean="0"/>
              <a:t>（</a:t>
            </a:r>
            <a:r>
              <a:rPr lang="en-US" altLang="zh-CN" dirty="0" err="1" smtClean="0"/>
              <a:t>inlcude</a:t>
            </a:r>
            <a:r>
              <a:rPr lang="en-US" altLang="zh-CN" dirty="0" smtClean="0"/>
              <a:t>/</a:t>
            </a:r>
            <a:r>
              <a:rPr lang="en-US" altLang="zh-CN" dirty="0" err="1" smtClean="0"/>
              <a:t>linux</a:t>
            </a:r>
            <a:r>
              <a:rPr lang="en-US" altLang="zh-CN" dirty="0" smtClean="0"/>
              <a:t>/</a:t>
            </a:r>
            <a:r>
              <a:rPr lang="en-US" altLang="zh-CN" dirty="0" err="1" smtClean="0"/>
              <a:t>fs.h</a:t>
            </a:r>
            <a:r>
              <a:rPr lang="zh-CN" altLang="en-US" dirty="0" smtClean="0"/>
              <a:t>）过程如下：</a:t>
            </a:r>
            <a:br>
              <a:rPr lang="zh-CN" altLang="en-US" dirty="0" smtClean="0"/>
            </a:br>
            <a:r>
              <a:rPr lang="en-US" altLang="zh-CN" dirty="0" smtClean="0"/>
              <a:t>1</a:t>
            </a:r>
            <a:r>
              <a:rPr lang="zh-CN" altLang="en-US" dirty="0" smtClean="0"/>
              <a:t>、  通过 </a:t>
            </a:r>
            <a:r>
              <a:rPr lang="en-US" altLang="zh-CN" dirty="0" smtClean="0"/>
              <a:t>iget4_locked() </a:t>
            </a:r>
            <a:r>
              <a:rPr lang="zh-CN" altLang="en-US" dirty="0" smtClean="0"/>
              <a:t>获取 </a:t>
            </a:r>
            <a:r>
              <a:rPr lang="en-US" altLang="zh-CN" dirty="0" err="1" smtClean="0"/>
              <a:t>inode</a:t>
            </a:r>
            <a:r>
              <a:rPr lang="zh-CN" altLang="en-US" dirty="0" smtClean="0"/>
              <a:t>。如果 </a:t>
            </a:r>
            <a:r>
              <a:rPr lang="en-US" altLang="zh-CN" dirty="0" err="1" smtClean="0"/>
              <a:t>inode</a:t>
            </a:r>
            <a:r>
              <a:rPr lang="en-US" altLang="zh-CN" dirty="0" smtClean="0"/>
              <a:t> </a:t>
            </a:r>
            <a:r>
              <a:rPr lang="zh-CN" altLang="en-US" dirty="0" smtClean="0"/>
              <a:t>在内存中已经存在，则直接返回；否则创建一个新的 </a:t>
            </a:r>
            <a:r>
              <a:rPr lang="en-US" altLang="zh-CN" dirty="0" err="1" smtClean="0"/>
              <a:t>inode</a:t>
            </a:r>
            <a:r>
              <a:rPr lang="en-US" altLang="zh-CN" dirty="0" smtClean="0"/>
              <a:t/>
            </a:r>
            <a:br>
              <a:rPr lang="en-US" altLang="zh-CN" dirty="0" smtClean="0"/>
            </a:br>
            <a:r>
              <a:rPr lang="en-US" altLang="zh-CN" dirty="0" smtClean="0"/>
              <a:t>2</a:t>
            </a:r>
            <a:r>
              <a:rPr lang="zh-CN" altLang="en-US" dirty="0" smtClean="0"/>
              <a:t>、  如果是新创建的 </a:t>
            </a:r>
            <a:r>
              <a:rPr lang="en-US" altLang="zh-CN" dirty="0" err="1" smtClean="0"/>
              <a:t>inode</a:t>
            </a:r>
            <a:r>
              <a:rPr lang="zh-CN" altLang="en-US" dirty="0" smtClean="0"/>
              <a:t>，通过 </a:t>
            </a:r>
            <a:r>
              <a:rPr lang="en-US" altLang="zh-CN" dirty="0" err="1" smtClean="0"/>
              <a:t>super_block</a:t>
            </a:r>
            <a:r>
              <a:rPr lang="en-US" altLang="zh-CN" dirty="0" smtClean="0"/>
              <a:t>-&gt;</a:t>
            </a:r>
            <a:r>
              <a:rPr lang="en-US" altLang="zh-CN" dirty="0" err="1" smtClean="0"/>
              <a:t>s_op</a:t>
            </a:r>
            <a:r>
              <a:rPr lang="en-US" altLang="zh-CN" dirty="0" smtClean="0"/>
              <a:t>-&gt;</a:t>
            </a:r>
            <a:r>
              <a:rPr lang="en-US" altLang="zh-CN" dirty="0" err="1" smtClean="0"/>
              <a:t>read_inode</a:t>
            </a:r>
            <a:r>
              <a:rPr lang="en-US" altLang="zh-CN" dirty="0" smtClean="0"/>
              <a:t>() </a:t>
            </a:r>
            <a:r>
              <a:rPr lang="zh-CN" altLang="en-US" dirty="0" smtClean="0"/>
              <a:t>来填充它。也就是说，如何填充一个新创建的 </a:t>
            </a:r>
            <a:r>
              <a:rPr lang="en-US" altLang="zh-CN" dirty="0" err="1" smtClean="0"/>
              <a:t>inode</a:t>
            </a:r>
            <a:r>
              <a:rPr lang="zh-CN" altLang="en-US" dirty="0" smtClean="0"/>
              <a:t>， 是由具体文件系统提供的函数实现的。</a:t>
            </a:r>
            <a:br>
              <a:rPr lang="zh-CN" altLang="en-US" dirty="0" smtClean="0"/>
            </a:br>
            <a:r>
              <a:rPr lang="zh-CN" altLang="en-US" dirty="0" smtClean="0"/>
              <a:t> </a:t>
            </a:r>
            <a:br>
              <a:rPr lang="zh-CN" altLang="en-US" dirty="0" smtClean="0"/>
            </a:br>
            <a:endParaRPr lang="zh-CN" altLang="en-US" dirty="0" smtClean="0"/>
          </a:p>
        </p:txBody>
      </p:sp>
    </p:spTree>
    <p:extLst>
      <p:ext uri="{BB962C8B-B14F-4D97-AF65-F5344CB8AC3E}">
        <p14:creationId xmlns:p14="http://schemas.microsoft.com/office/powerpoint/2010/main" val="390216853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0" y="1341438"/>
            <a:ext cx="9144000" cy="9099550"/>
          </a:xfrm>
        </p:spPr>
        <p:txBody>
          <a:bodyPr/>
          <a:lstStyle/>
          <a:p>
            <a:pPr eaLnBrk="1" hangingPunct="1">
              <a:lnSpc>
                <a:spcPct val="150000"/>
              </a:lnSpc>
            </a:pPr>
            <a:r>
              <a:rPr lang="en-US" altLang="zh-CN" dirty="0" smtClean="0"/>
              <a:t>iget4_locked()  </a:t>
            </a:r>
            <a:r>
              <a:rPr lang="zh-CN" altLang="en-US" dirty="0" smtClean="0"/>
              <a:t>首先在全局的 </a:t>
            </a:r>
            <a:r>
              <a:rPr lang="en-US" altLang="zh-CN" dirty="0" err="1" smtClean="0"/>
              <a:t>inode</a:t>
            </a:r>
            <a:r>
              <a:rPr lang="en-US" altLang="zh-CN" dirty="0" smtClean="0"/>
              <a:t> hash table </a:t>
            </a:r>
            <a:r>
              <a:rPr lang="zh-CN" altLang="en-US" dirty="0" smtClean="0"/>
              <a:t>中寻找，如果找不到，则调用 </a:t>
            </a:r>
            <a:r>
              <a:rPr lang="en-US" altLang="zh-CN" dirty="0" err="1" smtClean="0"/>
              <a:t>get_new_inode</a:t>
            </a:r>
            <a:r>
              <a:rPr lang="en-US" altLang="zh-CN" dirty="0" smtClean="0"/>
              <a:t>() </a:t>
            </a:r>
            <a:r>
              <a:rPr lang="zh-CN" altLang="en-US" dirty="0" smtClean="0"/>
              <a:t>，进而调用 </a:t>
            </a:r>
            <a:r>
              <a:rPr lang="en-US" altLang="zh-CN" dirty="0" err="1" smtClean="0"/>
              <a:t>alloc_inode</a:t>
            </a:r>
            <a:r>
              <a:rPr lang="en-US" altLang="zh-CN" dirty="0" smtClean="0"/>
              <a:t>() </a:t>
            </a:r>
            <a:r>
              <a:rPr lang="zh-CN" altLang="en-US" dirty="0" smtClean="0"/>
              <a:t>来创建一个新的 </a:t>
            </a:r>
            <a:r>
              <a:rPr lang="en-US" altLang="zh-CN" dirty="0" err="1" smtClean="0"/>
              <a:t>inode</a:t>
            </a:r>
            <a:r>
              <a:rPr lang="en-US" altLang="zh-CN" dirty="0" smtClean="0"/>
              <a:t/>
            </a:r>
            <a:br>
              <a:rPr lang="en-US" altLang="zh-CN" dirty="0" smtClean="0"/>
            </a:br>
            <a:endParaRPr lang="en-US" altLang="zh-CN" dirty="0" smtClean="0"/>
          </a:p>
          <a:p>
            <a:pPr eaLnBrk="1" hangingPunct="1">
              <a:lnSpc>
                <a:spcPct val="150000"/>
              </a:lnSpc>
            </a:pPr>
            <a:r>
              <a:rPr lang="zh-CN" altLang="en-US" dirty="0" smtClean="0"/>
              <a:t>在 </a:t>
            </a:r>
            <a:r>
              <a:rPr lang="en-US" altLang="zh-CN" dirty="0" err="1" smtClean="0"/>
              <a:t>alloc_inode</a:t>
            </a:r>
            <a:r>
              <a:rPr lang="en-US" altLang="zh-CN" dirty="0" smtClean="0"/>
              <a:t>() </a:t>
            </a:r>
            <a:r>
              <a:rPr lang="zh-CN" altLang="en-US" dirty="0" smtClean="0"/>
              <a:t>中可以看到，如果具体文件系统提供了创建 </a:t>
            </a:r>
            <a:r>
              <a:rPr lang="en-US" altLang="zh-CN" dirty="0" err="1" smtClean="0"/>
              <a:t>inode</a:t>
            </a:r>
            <a:r>
              <a:rPr lang="en-US" altLang="zh-CN" dirty="0" smtClean="0"/>
              <a:t> </a:t>
            </a:r>
            <a:r>
              <a:rPr lang="zh-CN" altLang="en-US" dirty="0" smtClean="0"/>
              <a:t>的方法，则由具体文件系统来负责创建，否则采用系统默认的的创建方法。</a:t>
            </a:r>
          </a:p>
        </p:txBody>
      </p:sp>
    </p:spTree>
    <p:extLst>
      <p:ext uri="{BB962C8B-B14F-4D97-AF65-F5344CB8AC3E}">
        <p14:creationId xmlns:p14="http://schemas.microsoft.com/office/powerpoint/2010/main" val="245310628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idx="1"/>
          </p:nvPr>
        </p:nvSpPr>
        <p:spPr>
          <a:xfrm>
            <a:off x="395288" y="260350"/>
            <a:ext cx="8424862" cy="10440988"/>
          </a:xfrm>
        </p:spPr>
        <p:txBody>
          <a:bodyPr/>
          <a:lstStyle/>
          <a:p>
            <a:pPr eaLnBrk="1" hangingPunct="1">
              <a:lnSpc>
                <a:spcPct val="90000"/>
              </a:lnSpc>
            </a:pPr>
            <a:r>
              <a:rPr lang="en-US" altLang="zh-CN" sz="2400" smtClean="0">
                <a:solidFill>
                  <a:schemeClr val="accent2"/>
                </a:solidFill>
              </a:rPr>
              <a:t>static struct inode *alloc_inode(struct super_block *sb)</a:t>
            </a:r>
            <a:br>
              <a:rPr lang="en-US" altLang="zh-CN" sz="2400" smtClean="0">
                <a:solidFill>
                  <a:schemeClr val="accent2"/>
                </a:solidFill>
              </a:rPr>
            </a:br>
            <a:r>
              <a:rPr lang="en-US" altLang="zh-CN" sz="2400" smtClean="0"/>
              <a:t>{</a:t>
            </a:r>
            <a:br>
              <a:rPr lang="en-US" altLang="zh-CN" sz="2400" smtClean="0"/>
            </a:br>
            <a:r>
              <a:rPr lang="en-US" altLang="zh-CN" sz="2400" smtClean="0"/>
              <a:t>            static struct address_space_operations empty_aops;</a:t>
            </a:r>
            <a:br>
              <a:rPr lang="en-US" altLang="zh-CN" sz="2400" smtClean="0"/>
            </a:br>
            <a:r>
              <a:rPr lang="en-US" altLang="zh-CN" sz="2400" smtClean="0"/>
              <a:t>            static struct inode_operations empty_iops;</a:t>
            </a:r>
            <a:br>
              <a:rPr lang="en-US" altLang="zh-CN" sz="2400" smtClean="0"/>
            </a:br>
            <a:r>
              <a:rPr lang="en-US" altLang="zh-CN" sz="2400" smtClean="0"/>
              <a:t>            static struct file_operations empty_fops;</a:t>
            </a:r>
            <a:br>
              <a:rPr lang="en-US" altLang="zh-CN" sz="2400" smtClean="0"/>
            </a:br>
            <a:r>
              <a:rPr lang="en-US" altLang="zh-CN" sz="2400" smtClean="0"/>
              <a:t>            struct inode *inode;</a:t>
            </a:r>
            <a:br>
              <a:rPr lang="en-US" altLang="zh-CN" sz="2400" smtClean="0"/>
            </a:br>
            <a:r>
              <a:rPr lang="en-US" altLang="zh-CN" sz="2400" smtClean="0"/>
              <a:t>             if (sb-&gt;s_op-&gt;alloc_inode)</a:t>
            </a:r>
            <a:br>
              <a:rPr lang="en-US" altLang="zh-CN" sz="2400" smtClean="0"/>
            </a:br>
            <a:r>
              <a:rPr lang="en-US" altLang="zh-CN" sz="2400" smtClean="0"/>
              <a:t>                        inode = sb-&gt;s_op-&gt;alloc_inode(sb);</a:t>
            </a:r>
            <a:br>
              <a:rPr lang="en-US" altLang="zh-CN" sz="2400" smtClean="0"/>
            </a:br>
            <a:r>
              <a:rPr lang="en-US" altLang="zh-CN" sz="2400" smtClean="0"/>
              <a:t>            else {</a:t>
            </a:r>
            <a:br>
              <a:rPr lang="en-US" altLang="zh-CN" sz="2400" smtClean="0"/>
            </a:br>
            <a:r>
              <a:rPr lang="en-US" altLang="zh-CN" sz="2400" smtClean="0"/>
              <a:t>                        inode = (struct inode *) kmem_cache_alloc(inode_cachep, SLAB_KERNEL);</a:t>
            </a:r>
            <a:br>
              <a:rPr lang="en-US" altLang="zh-CN" sz="2400" smtClean="0"/>
            </a:br>
            <a:r>
              <a:rPr lang="en-US" altLang="zh-CN" sz="2400" smtClean="0"/>
              <a:t>                         if (inode)</a:t>
            </a:r>
            <a:br>
              <a:rPr lang="en-US" altLang="zh-CN" sz="2400" smtClean="0"/>
            </a:br>
            <a:r>
              <a:rPr lang="en-US" altLang="zh-CN" sz="2400" smtClean="0"/>
              <a:t>                             memset(&amp;inode-&gt;u, 0, sizeof(inode-&gt;u));</a:t>
            </a:r>
            <a:br>
              <a:rPr lang="en-US" altLang="zh-CN" sz="2400" smtClean="0"/>
            </a:br>
            <a:r>
              <a:rPr lang="en-US" altLang="zh-CN" sz="2400" smtClean="0"/>
              <a:t>            }</a:t>
            </a:r>
            <a:br>
              <a:rPr lang="en-US" altLang="zh-CN" sz="2400" smtClean="0"/>
            </a:br>
            <a:r>
              <a:rPr lang="en-US" altLang="zh-CN" sz="2400" smtClean="0"/>
              <a:t>             if (inode) {</a:t>
            </a:r>
            <a:br>
              <a:rPr lang="en-US" altLang="zh-CN" sz="2400" smtClean="0"/>
            </a:br>
            <a:r>
              <a:rPr lang="en-US" altLang="zh-CN" sz="2400" smtClean="0"/>
              <a:t>                        struct address_space * const mapping = &amp;inode-&gt;i_data;</a:t>
            </a:r>
            <a:br>
              <a:rPr lang="en-US" altLang="zh-CN" sz="2400" smtClean="0"/>
            </a:br>
            <a:r>
              <a:rPr lang="en-US" altLang="zh-CN" sz="2400" smtClean="0"/>
              <a:t>                        inode-&gt;i_sb = sb;</a:t>
            </a:r>
            <a:br>
              <a:rPr lang="en-US" altLang="zh-CN" sz="2400" smtClean="0"/>
            </a:br>
            <a:r>
              <a:rPr lang="en-US" altLang="zh-CN" sz="2400" smtClean="0"/>
              <a:t>                        inode-&gt;i_dev = sb-&gt;s_dev;</a:t>
            </a:r>
            <a:br>
              <a:rPr lang="en-US" altLang="zh-CN" sz="2400" smtClean="0"/>
            </a:br>
            <a:r>
              <a:rPr lang="en-US" altLang="zh-CN" sz="2400" smtClean="0"/>
              <a:t>                        inode-&gt;i_blkbits = sb-&gt;s_blocksize_bits;</a:t>
            </a:r>
            <a:br>
              <a:rPr lang="en-US" altLang="zh-CN" sz="2400" smtClean="0"/>
            </a:br>
            <a:r>
              <a:rPr lang="en-US" altLang="zh-CN" sz="2400" smtClean="0"/>
              <a:t>                        inode-&gt;i_flags = 0;</a:t>
            </a:r>
            <a:br>
              <a:rPr lang="en-US" altLang="zh-CN" sz="2400" smtClean="0"/>
            </a:br>
            <a:r>
              <a:rPr lang="en-US" altLang="zh-CN" sz="2400" smtClean="0"/>
              <a:t>                        atomic_set(&amp;inode-&gt;i_count, 1);</a:t>
            </a:r>
            <a:br>
              <a:rPr lang="en-US" altLang="zh-CN" sz="2400" smtClean="0"/>
            </a:br>
            <a:r>
              <a:rPr lang="en-US" altLang="zh-CN" sz="2400" smtClean="0"/>
              <a:t>                        inode-&gt;i_sock = 0;</a:t>
            </a:r>
            <a:br>
              <a:rPr lang="en-US" altLang="zh-CN" sz="2400" smtClean="0"/>
            </a:br>
            <a:r>
              <a:rPr lang="en-US" altLang="zh-CN" sz="2400" smtClean="0"/>
              <a:t>                        inode-&gt;i_op = &amp;empty_iops;</a:t>
            </a:r>
            <a:br>
              <a:rPr lang="en-US" altLang="zh-CN" sz="2400" smtClean="0"/>
            </a:br>
            <a:r>
              <a:rPr lang="en-US" altLang="zh-CN" sz="2400" smtClean="0"/>
              <a:t>                        inode-&gt;i_fop = &amp;empty_fops;</a:t>
            </a:r>
            <a:br>
              <a:rPr lang="en-US" altLang="zh-CN" sz="2400" smtClean="0"/>
            </a:br>
            <a:r>
              <a:rPr lang="en-US" altLang="zh-CN" sz="2400" smtClean="0"/>
              <a:t>                        inode-&gt;i_nlink = 1;</a:t>
            </a:r>
            <a:br>
              <a:rPr lang="en-US" altLang="zh-CN" sz="2400" smtClean="0"/>
            </a:br>
            <a:r>
              <a:rPr lang="en-US" altLang="zh-CN" sz="2400" smtClean="0"/>
              <a:t>                       ….</a:t>
            </a:r>
          </a:p>
          <a:p>
            <a:pPr eaLnBrk="1" hangingPunct="1">
              <a:lnSpc>
                <a:spcPct val="90000"/>
              </a:lnSpc>
            </a:pPr>
            <a:r>
              <a:rPr lang="en-US" altLang="zh-CN" sz="2400" smtClean="0"/>
              <a:t>            return inode;</a:t>
            </a:r>
            <a:br>
              <a:rPr lang="en-US" altLang="zh-CN" sz="2400" smtClean="0"/>
            </a:br>
            <a:r>
              <a:rPr lang="en-US" altLang="zh-CN" sz="2400" smtClean="0"/>
              <a:t>}</a:t>
            </a:r>
            <a:br>
              <a:rPr lang="en-US" altLang="zh-CN" sz="2400" smtClean="0"/>
            </a:br>
            <a:endParaRPr lang="en-US" altLang="zh-CN" sz="2400" smtClean="0"/>
          </a:p>
        </p:txBody>
      </p:sp>
    </p:spTree>
    <p:extLst>
      <p:ext uri="{BB962C8B-B14F-4D97-AF65-F5344CB8AC3E}">
        <p14:creationId xmlns:p14="http://schemas.microsoft.com/office/powerpoint/2010/main" val="210690036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mtClean="0"/>
              <a:t>抽象与具体</a:t>
            </a:r>
          </a:p>
        </p:txBody>
      </p:sp>
      <p:sp>
        <p:nvSpPr>
          <p:cNvPr id="48131" name="Rectangle 3"/>
          <p:cNvSpPr>
            <a:spLocks noGrp="1" noChangeArrowheads="1"/>
          </p:cNvSpPr>
          <p:nvPr>
            <p:ph type="body" idx="1"/>
          </p:nvPr>
        </p:nvSpPr>
        <p:spPr/>
        <p:txBody>
          <a:bodyPr/>
          <a:lstStyle/>
          <a:p>
            <a:pPr eaLnBrk="1" hangingPunct="1">
              <a:spcBef>
                <a:spcPct val="0"/>
              </a:spcBef>
              <a:buClrTx/>
              <a:buSzTx/>
              <a:buFontTx/>
              <a:buNone/>
            </a:pPr>
            <a:r>
              <a:rPr kumimoji="1" lang="en-US" altLang="zh-CN" sz="3200" b="1" smtClean="0">
                <a:latin typeface="楷体_GB2312" pitchFamily="49" charset="-122"/>
                <a:ea typeface="楷体_GB2312" pitchFamily="49" charset="-122"/>
              </a:rPr>
              <a:t>super_operations</a:t>
            </a:r>
            <a:r>
              <a:rPr kumimoji="1" lang="zh-CN" altLang="en-US" sz="3200" b="1" smtClean="0">
                <a:latin typeface="楷体_GB2312" pitchFamily="49" charset="-122"/>
                <a:ea typeface="楷体_GB2312" pitchFamily="49" charset="-122"/>
              </a:rPr>
              <a:t>就是一个</a:t>
            </a:r>
            <a:r>
              <a:rPr kumimoji="1" lang="zh-CN" altLang="en-US" sz="3200" b="1" smtClean="0">
                <a:solidFill>
                  <a:srgbClr val="0000FF"/>
                </a:solidFill>
                <a:latin typeface="黑体" panose="02010609060101010101" pitchFamily="49" charset="-122"/>
                <a:ea typeface="黑体" panose="02010609060101010101" pitchFamily="49" charset="-122"/>
              </a:rPr>
              <a:t>抽象类</a:t>
            </a:r>
            <a:r>
              <a:rPr kumimoji="1" lang="zh-CN" altLang="en-US" sz="3200" b="1" smtClean="0">
                <a:latin typeface="楷体_GB2312" pitchFamily="49" charset="-122"/>
                <a:ea typeface="楷体_GB2312" pitchFamily="49" charset="-122"/>
              </a:rPr>
              <a:t>，它只提供接口但并没有实现这些接口，而</a:t>
            </a:r>
            <a:r>
              <a:rPr kumimoji="1" lang="en-US" altLang="zh-CN" sz="3200" b="1" smtClean="0">
                <a:latin typeface="楷体_GB2312" pitchFamily="49" charset="-122"/>
                <a:ea typeface="楷体_GB2312" pitchFamily="49" charset="-122"/>
              </a:rPr>
              <a:t>ext2_sops</a:t>
            </a:r>
            <a:r>
              <a:rPr kumimoji="1" lang="zh-CN" altLang="en-US" sz="3200" b="1" smtClean="0">
                <a:latin typeface="楷体_GB2312" pitchFamily="49" charset="-122"/>
                <a:ea typeface="楷体_GB2312" pitchFamily="49" charset="-122"/>
              </a:rPr>
              <a:t>，</a:t>
            </a:r>
            <a:r>
              <a:rPr kumimoji="1" lang="en-US" altLang="zh-CN" sz="3200" b="1" smtClean="0">
                <a:latin typeface="楷体_GB2312" pitchFamily="49" charset="-122"/>
                <a:ea typeface="楷体_GB2312" pitchFamily="49" charset="-122"/>
              </a:rPr>
              <a:t>fat_sops</a:t>
            </a:r>
            <a:r>
              <a:rPr kumimoji="1" lang="zh-CN" altLang="en-US" sz="3200" b="1" smtClean="0">
                <a:latin typeface="楷体_GB2312" pitchFamily="49" charset="-122"/>
                <a:ea typeface="楷体_GB2312" pitchFamily="49" charset="-122"/>
              </a:rPr>
              <a:t>则是</a:t>
            </a:r>
            <a:r>
              <a:rPr kumimoji="1" lang="zh-CN" altLang="en-US" sz="3200" b="1" smtClean="0">
                <a:solidFill>
                  <a:srgbClr val="0000FF"/>
                </a:solidFill>
                <a:latin typeface="黑体" panose="02010609060101010101" pitchFamily="49" charset="-122"/>
                <a:ea typeface="黑体" panose="02010609060101010101" pitchFamily="49" charset="-122"/>
              </a:rPr>
              <a:t>具体</a:t>
            </a:r>
            <a:r>
              <a:rPr kumimoji="1" lang="zh-CN" altLang="en-US" sz="3200" b="1" smtClean="0">
                <a:solidFill>
                  <a:schemeClr val="tx2"/>
                </a:solidFill>
                <a:latin typeface="黑体" panose="02010609060101010101" pitchFamily="49" charset="-122"/>
                <a:ea typeface="黑体" panose="02010609060101010101" pitchFamily="49" charset="-122"/>
              </a:rPr>
              <a:t>类</a:t>
            </a:r>
            <a:r>
              <a:rPr kumimoji="1" lang="zh-CN" altLang="en-US" sz="3200" b="1" smtClean="0">
                <a:latin typeface="楷体_GB2312" pitchFamily="49" charset="-122"/>
                <a:ea typeface="楷体_GB2312" pitchFamily="49" charset="-122"/>
              </a:rPr>
              <a:t>，实现相应的接口。</a:t>
            </a:r>
          </a:p>
          <a:p>
            <a:pPr eaLnBrk="1" hangingPunct="1">
              <a:spcBef>
                <a:spcPct val="0"/>
              </a:spcBef>
              <a:buClrTx/>
              <a:buSzTx/>
              <a:buFontTx/>
              <a:buNone/>
            </a:pPr>
            <a:endParaRPr kumimoji="1" lang="zh-CN" altLang="en-US" sz="3200" b="1" smtClean="0">
              <a:latin typeface="楷体_GB2312" pitchFamily="49" charset="-122"/>
              <a:ea typeface="楷体_GB2312" pitchFamily="49" charset="-122"/>
            </a:endParaRPr>
          </a:p>
          <a:p>
            <a:pPr eaLnBrk="1" hangingPunct="1">
              <a:spcBef>
                <a:spcPct val="0"/>
              </a:spcBef>
              <a:buClrTx/>
              <a:buSzTx/>
              <a:buFontTx/>
              <a:buNone/>
            </a:pPr>
            <a:r>
              <a:rPr kumimoji="1" lang="zh-CN" altLang="en-US" sz="3200" b="1" smtClean="0">
                <a:latin typeface="楷体_GB2312" pitchFamily="49" charset="-122"/>
                <a:ea typeface="楷体_GB2312" pitchFamily="49" charset="-122"/>
              </a:rPr>
              <a:t>其他几个接口与此类似。</a:t>
            </a:r>
          </a:p>
          <a:p>
            <a:pPr eaLnBrk="1" hangingPunct="1"/>
            <a:endParaRPr lang="en-US" altLang="zh-CN" smtClean="0"/>
          </a:p>
        </p:txBody>
      </p:sp>
    </p:spTree>
    <p:extLst>
      <p:ext uri="{BB962C8B-B14F-4D97-AF65-F5344CB8AC3E}">
        <p14:creationId xmlns:p14="http://schemas.microsoft.com/office/powerpoint/2010/main" val="6875953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zh-CN" smtClean="0"/>
              <a:t>VFS</a:t>
            </a:r>
            <a:r>
              <a:rPr lang="zh-CN" altLang="en-US" smtClean="0"/>
              <a:t>索引节点 </a:t>
            </a:r>
            <a:r>
              <a:rPr lang="en-US" altLang="zh-CN" smtClean="0">
                <a:hlinkClick r:id="rId3" action="ppaction://hlinkfile"/>
              </a:rPr>
              <a:t>VFS </a:t>
            </a:r>
            <a:r>
              <a:rPr lang="en-US" altLang="zh-CN" sz="4000" smtClean="0">
                <a:hlinkClick r:id="rId3" action="ppaction://hlinkfile"/>
              </a:rPr>
              <a:t>Inode</a:t>
            </a:r>
            <a:endParaRPr lang="en-US" altLang="zh-CN" sz="4000" smtClean="0"/>
          </a:p>
        </p:txBody>
      </p:sp>
      <p:sp>
        <p:nvSpPr>
          <p:cNvPr id="1189891" name="Rectangle 3"/>
          <p:cNvSpPr>
            <a:spLocks noGrp="1" noChangeArrowheads="1"/>
          </p:cNvSpPr>
          <p:nvPr>
            <p:ph type="body" idx="1"/>
          </p:nvPr>
        </p:nvSpPr>
        <p:spPr>
          <a:xfrm>
            <a:off x="685800" y="1219200"/>
            <a:ext cx="7918450" cy="4787900"/>
          </a:xfrm>
        </p:spPr>
        <p:txBody>
          <a:bodyPr/>
          <a:lstStyle/>
          <a:p>
            <a:pPr eaLnBrk="1" hangingPunct="1">
              <a:lnSpc>
                <a:spcPct val="115000"/>
              </a:lnSpc>
            </a:pPr>
            <a:r>
              <a:rPr lang="en-US" altLang="zh-CN" sz="2400" smtClean="0">
                <a:latin typeface="宋体" panose="02010600030101010101" pitchFamily="2" charset="-122"/>
              </a:rPr>
              <a:t>VFS </a:t>
            </a:r>
            <a:r>
              <a:rPr lang="zh-CN" altLang="en-US" sz="2400" smtClean="0">
                <a:latin typeface="宋体" panose="02010600030101010101" pitchFamily="2" charset="-122"/>
              </a:rPr>
              <a:t>中的每个文件、目录等都用且只用一个</a:t>
            </a:r>
            <a:r>
              <a:rPr lang="en-US" altLang="zh-CN" sz="2400" smtClean="0">
                <a:solidFill>
                  <a:schemeClr val="accent2"/>
                </a:solidFill>
                <a:latin typeface="宋体" panose="02010600030101010101" pitchFamily="2" charset="-122"/>
              </a:rPr>
              <a:t>VFS inode</a:t>
            </a:r>
            <a:r>
              <a:rPr lang="zh-CN" altLang="en-US" sz="2400" smtClean="0">
                <a:latin typeface="宋体" panose="02010600030101010101" pitchFamily="2" charset="-122"/>
              </a:rPr>
              <a:t>表示，</a:t>
            </a:r>
            <a:r>
              <a:rPr lang="zh-CN" altLang="en-US" sz="2400" smtClean="0"/>
              <a:t>存放关于具体文件或者目录的一般信息。</a:t>
            </a:r>
          </a:p>
          <a:p>
            <a:pPr eaLnBrk="1" hangingPunct="1">
              <a:lnSpc>
                <a:spcPct val="115000"/>
              </a:lnSpc>
            </a:pPr>
            <a:r>
              <a:rPr lang="zh-CN" altLang="en-US" sz="2400" smtClean="0"/>
              <a:t>每个索引节点对象都有一个索引节点号</a:t>
            </a:r>
            <a:r>
              <a:rPr lang="en-US" altLang="zh-CN" sz="2400" smtClean="0"/>
              <a:t>,</a:t>
            </a:r>
            <a:r>
              <a:rPr lang="zh-CN" altLang="en-US" sz="2400" smtClean="0"/>
              <a:t>这个号唯一地标识某个文件系统中的指定文件。</a:t>
            </a:r>
          </a:p>
          <a:p>
            <a:pPr eaLnBrk="1" hangingPunct="1">
              <a:lnSpc>
                <a:spcPct val="115000"/>
              </a:lnSpc>
            </a:pPr>
            <a:r>
              <a:rPr lang="zh-CN" altLang="en-US" sz="2400" smtClean="0">
                <a:solidFill>
                  <a:srgbClr val="000000"/>
                </a:solidFill>
                <a:latin typeface="宋体" panose="02010600030101010101" pitchFamily="2" charset="-122"/>
              </a:rPr>
              <a:t>文件名可以随时更改，但是索引节点对文件是唯一的，并且随文件的存在而存在。</a:t>
            </a:r>
          </a:p>
          <a:p>
            <a:pPr eaLnBrk="1" hangingPunct="1">
              <a:lnSpc>
                <a:spcPct val="115000"/>
              </a:lnSpc>
            </a:pPr>
            <a:r>
              <a:rPr lang="zh-CN" altLang="en-US" sz="2400" smtClean="0">
                <a:solidFill>
                  <a:srgbClr val="000000"/>
                </a:solidFill>
                <a:latin typeface="宋体" panose="02010600030101010101" pitchFamily="2" charset="-122"/>
              </a:rPr>
              <a:t>具体文件系统的索引节点是存放在磁盘上的，是一种静态结构，要使用它，必须调入内存，填写</a:t>
            </a:r>
            <a:r>
              <a:rPr lang="en-US" altLang="zh-CN" sz="2400" smtClean="0">
                <a:solidFill>
                  <a:srgbClr val="000000"/>
                </a:solidFill>
                <a:latin typeface="宋体" panose="02010600030101010101" pitchFamily="2" charset="-122"/>
              </a:rPr>
              <a:t>VFS</a:t>
            </a:r>
            <a:r>
              <a:rPr lang="zh-CN" altLang="en-US" sz="2400" smtClean="0">
                <a:solidFill>
                  <a:srgbClr val="000000"/>
                </a:solidFill>
                <a:latin typeface="宋体" panose="02010600030101010101" pitchFamily="2" charset="-122"/>
              </a:rPr>
              <a:t>的索引节点，因此，也称</a:t>
            </a:r>
            <a:r>
              <a:rPr lang="en-US" altLang="zh-CN" sz="2400" smtClean="0">
                <a:solidFill>
                  <a:srgbClr val="000000"/>
                </a:solidFill>
                <a:latin typeface="宋体" panose="02010600030101010101" pitchFamily="2" charset="-122"/>
              </a:rPr>
              <a:t>VFS</a:t>
            </a:r>
            <a:r>
              <a:rPr lang="zh-CN" altLang="en-US" sz="2400" smtClean="0">
                <a:solidFill>
                  <a:srgbClr val="000000"/>
                </a:solidFill>
                <a:latin typeface="宋体" panose="02010600030101010101" pitchFamily="2" charset="-122"/>
              </a:rPr>
              <a:t>索引节点是动态节点</a:t>
            </a:r>
            <a:endParaRPr lang="zh-CN" altLang="en-US" sz="2400" smtClean="0">
              <a:latin typeface="宋体" panose="02010600030101010101" pitchFamily="2" charset="-122"/>
            </a:endParaRPr>
          </a:p>
          <a:p>
            <a:pPr eaLnBrk="1" hangingPunct="1">
              <a:lnSpc>
                <a:spcPct val="115000"/>
              </a:lnSpc>
            </a:pPr>
            <a:r>
              <a:rPr lang="zh-CN" altLang="en-US" sz="2400" smtClean="0">
                <a:latin typeface="宋体" panose="02010600030101010101" pitchFamily="2" charset="-122"/>
              </a:rPr>
              <a:t>每一个索引节点都由一个“</a:t>
            </a:r>
            <a:r>
              <a:rPr lang="en-US" altLang="zh-CN" sz="2400" smtClean="0">
                <a:latin typeface="宋体" panose="02010600030101010101" pitchFamily="2" charset="-122"/>
              </a:rPr>
              <a:t>struct inode”</a:t>
            </a:r>
            <a:r>
              <a:rPr lang="zh-CN" altLang="en-US" sz="2400" smtClean="0">
                <a:latin typeface="宋体" panose="02010600030101010101" pitchFamily="2" charset="-122"/>
              </a:rPr>
              <a:t>结构标识，它的一组方法保存在结构</a:t>
            </a:r>
            <a:r>
              <a:rPr lang="en-US" altLang="zh-CN" sz="2400" smtClean="0">
                <a:latin typeface="宋体" panose="02010600030101010101" pitchFamily="2" charset="-122"/>
              </a:rPr>
              <a:t>"struct inode_operations"</a:t>
            </a:r>
            <a:r>
              <a:rPr lang="zh-CN" altLang="en-US" sz="2400" smtClean="0">
                <a:latin typeface="宋体" panose="02010600030101010101" pitchFamily="2" charset="-122"/>
              </a:rPr>
              <a:t>中。</a:t>
            </a:r>
          </a:p>
        </p:txBody>
      </p:sp>
    </p:spTree>
    <p:extLst>
      <p:ext uri="{BB962C8B-B14F-4D97-AF65-F5344CB8AC3E}">
        <p14:creationId xmlns:p14="http://schemas.microsoft.com/office/powerpoint/2010/main" val="230860214"/>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9891">
                                            <p:txEl>
                                              <p:pRg st="0" end="0"/>
                                            </p:txEl>
                                          </p:spTgt>
                                        </p:tgtEl>
                                        <p:attrNameLst>
                                          <p:attrName>style.visibility</p:attrName>
                                        </p:attrNameLst>
                                      </p:cBhvr>
                                      <p:to>
                                        <p:strVal val="visible"/>
                                      </p:to>
                                    </p:set>
                                    <p:animEffect transition="in" filter="blinds(horizontal)">
                                      <p:cBhvr>
                                        <p:cTn id="7" dur="500"/>
                                        <p:tgtEl>
                                          <p:spTgt spid="11898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89891">
                                            <p:txEl>
                                              <p:pRg st="1" end="1"/>
                                            </p:txEl>
                                          </p:spTgt>
                                        </p:tgtEl>
                                        <p:attrNameLst>
                                          <p:attrName>style.visibility</p:attrName>
                                        </p:attrNameLst>
                                      </p:cBhvr>
                                      <p:to>
                                        <p:strVal val="visible"/>
                                      </p:to>
                                    </p:set>
                                    <p:animEffect transition="in" filter="blinds(horizontal)">
                                      <p:cBhvr>
                                        <p:cTn id="12" dur="500"/>
                                        <p:tgtEl>
                                          <p:spTgt spid="11898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89891">
                                            <p:txEl>
                                              <p:pRg st="2" end="2"/>
                                            </p:txEl>
                                          </p:spTgt>
                                        </p:tgtEl>
                                        <p:attrNameLst>
                                          <p:attrName>style.visibility</p:attrName>
                                        </p:attrNameLst>
                                      </p:cBhvr>
                                      <p:to>
                                        <p:strVal val="visible"/>
                                      </p:to>
                                    </p:set>
                                    <p:animEffect transition="in" filter="blinds(horizontal)">
                                      <p:cBhvr>
                                        <p:cTn id="17" dur="500"/>
                                        <p:tgtEl>
                                          <p:spTgt spid="11898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89891">
                                            <p:txEl>
                                              <p:pRg st="3" end="3"/>
                                            </p:txEl>
                                          </p:spTgt>
                                        </p:tgtEl>
                                        <p:attrNameLst>
                                          <p:attrName>style.visibility</p:attrName>
                                        </p:attrNameLst>
                                      </p:cBhvr>
                                      <p:to>
                                        <p:strVal val="visible"/>
                                      </p:to>
                                    </p:set>
                                    <p:animEffect transition="in" filter="blinds(horizontal)">
                                      <p:cBhvr>
                                        <p:cTn id="22" dur="500"/>
                                        <p:tgtEl>
                                          <p:spTgt spid="11898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89891">
                                            <p:txEl>
                                              <p:pRg st="4" end="4"/>
                                            </p:txEl>
                                          </p:spTgt>
                                        </p:tgtEl>
                                        <p:attrNameLst>
                                          <p:attrName>style.visibility</p:attrName>
                                        </p:attrNameLst>
                                      </p:cBhvr>
                                      <p:to>
                                        <p:strVal val="visible"/>
                                      </p:to>
                                    </p:set>
                                    <p:animEffect transition="in" filter="blinds(horizontal)">
                                      <p:cBhvr>
                                        <p:cTn id="27" dur="500"/>
                                        <p:tgtEl>
                                          <p:spTgt spid="11898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891"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627313" y="0"/>
            <a:ext cx="6092825" cy="501650"/>
          </a:xfrm>
        </p:spPr>
        <p:txBody>
          <a:bodyPr/>
          <a:lstStyle/>
          <a:p>
            <a:pPr eaLnBrk="1" hangingPunct="1"/>
            <a:r>
              <a:rPr lang="en-US" altLang="zh-CN" sz="3400" smtClean="0">
                <a:solidFill>
                  <a:srgbClr val="0000FF"/>
                </a:solidFill>
              </a:rPr>
              <a:t>VFS  inode</a:t>
            </a:r>
            <a:r>
              <a:rPr lang="zh-CN" altLang="en-US" sz="3400" smtClean="0">
                <a:solidFill>
                  <a:srgbClr val="0000FF"/>
                </a:solidFill>
              </a:rPr>
              <a:t>结构</a:t>
            </a:r>
          </a:p>
        </p:txBody>
      </p:sp>
      <p:sp>
        <p:nvSpPr>
          <p:cNvPr id="50179" name="Rectangle 3"/>
          <p:cNvSpPr>
            <a:spLocks noGrp="1" noChangeArrowheads="1"/>
          </p:cNvSpPr>
          <p:nvPr>
            <p:ph type="body" idx="1"/>
          </p:nvPr>
        </p:nvSpPr>
        <p:spPr>
          <a:xfrm>
            <a:off x="395288" y="609600"/>
            <a:ext cx="8443912" cy="5943600"/>
          </a:xfrm>
          <a:solidFill>
            <a:srgbClr val="CCFFFF"/>
          </a:solidFill>
          <a:ln>
            <a:solidFill>
              <a:srgbClr val="CCFFFF"/>
            </a:solidFill>
            <a:miter lim="800000"/>
            <a:headEnd/>
            <a:tailEnd/>
          </a:ln>
        </p:spPr>
        <p:txBody>
          <a:bodyPr/>
          <a:lstStyle/>
          <a:p>
            <a:pPr algn="just" eaLnBrk="1" hangingPunct="1">
              <a:lnSpc>
                <a:spcPct val="90000"/>
              </a:lnSpc>
              <a:buFont typeface="Wingdings" panose="05000000000000000000" pitchFamily="2" charset="2"/>
              <a:buNone/>
            </a:pPr>
            <a:r>
              <a:rPr lang="en-US" altLang="zh-CN" sz="2200" smtClean="0">
                <a:solidFill>
                  <a:schemeClr val="accent2"/>
                </a:solidFill>
              </a:rPr>
              <a:t>struct inode</a:t>
            </a:r>
            <a:r>
              <a:rPr lang="en-US" altLang="zh-CN" sz="2200" smtClean="0"/>
              <a:t> {</a:t>
            </a:r>
          </a:p>
          <a:p>
            <a:pPr lvl="1" algn="just" eaLnBrk="1" hangingPunct="1">
              <a:lnSpc>
                <a:spcPct val="90000"/>
              </a:lnSpc>
              <a:buFont typeface="Wingdings" panose="05000000000000000000" pitchFamily="2" charset="2"/>
              <a:buNone/>
            </a:pPr>
            <a:r>
              <a:rPr lang="en-US" altLang="zh-CN" sz="2000" smtClean="0"/>
              <a:t>struct list_head   i_hash;</a:t>
            </a:r>
          </a:p>
          <a:p>
            <a:pPr lvl="1" algn="just" eaLnBrk="1" hangingPunct="1">
              <a:lnSpc>
                <a:spcPct val="90000"/>
              </a:lnSpc>
              <a:buFont typeface="Wingdings" panose="05000000000000000000" pitchFamily="2" charset="2"/>
              <a:buNone/>
            </a:pPr>
            <a:r>
              <a:rPr lang="en-US" altLang="zh-CN" sz="2000" smtClean="0"/>
              <a:t> struct list_head  i_list;</a:t>
            </a:r>
          </a:p>
          <a:p>
            <a:pPr lvl="1" algn="just" eaLnBrk="1" hangingPunct="1">
              <a:lnSpc>
                <a:spcPct val="90000"/>
              </a:lnSpc>
              <a:buFont typeface="Wingdings" panose="05000000000000000000" pitchFamily="2" charset="2"/>
              <a:buNone/>
            </a:pPr>
            <a:r>
              <a:rPr lang="en-US" altLang="zh-CN" sz="2000" smtClean="0"/>
              <a:t>struct list_head   i_dentry;</a:t>
            </a:r>
          </a:p>
          <a:p>
            <a:pPr lvl="1" algn="just" eaLnBrk="1" hangingPunct="1">
              <a:lnSpc>
                <a:spcPct val="90000"/>
              </a:lnSpc>
              <a:buFont typeface="Wingdings" panose="05000000000000000000" pitchFamily="2" charset="2"/>
              <a:buNone/>
            </a:pPr>
            <a:r>
              <a:rPr lang="en-US" altLang="zh-CN" sz="2000" smtClean="0"/>
              <a:t>Unsigned long    i_ino;</a:t>
            </a:r>
          </a:p>
          <a:p>
            <a:pPr lvl="1" algn="just" eaLnBrk="1" hangingPunct="1">
              <a:lnSpc>
                <a:spcPct val="90000"/>
              </a:lnSpc>
              <a:buFont typeface="Wingdings" panose="05000000000000000000" pitchFamily="2" charset="2"/>
              <a:buNone/>
            </a:pPr>
            <a:r>
              <a:rPr lang="en-US" altLang="zh-CN" sz="2000" smtClean="0"/>
              <a:t>unsigned int        i_count;</a:t>
            </a:r>
          </a:p>
          <a:p>
            <a:pPr algn="just" eaLnBrk="1" hangingPunct="1">
              <a:lnSpc>
                <a:spcPct val="90000"/>
              </a:lnSpc>
              <a:buFont typeface="Wingdings" panose="05000000000000000000" pitchFamily="2" charset="2"/>
              <a:buNone/>
            </a:pPr>
            <a:r>
              <a:rPr lang="en-US" altLang="zh-CN" sz="2000" smtClean="0"/>
              <a:t> kdev_t  i_dev;			/* </a:t>
            </a:r>
            <a:r>
              <a:rPr lang="zh-CN" altLang="en-US" sz="2000" smtClean="0">
                <a:latin typeface="Times New Roman" panose="02020603050405020304" pitchFamily="18" charset="0"/>
              </a:rPr>
              <a:t>该文件系统的主设备号</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umode_t  i_mode;			/* </a:t>
            </a:r>
            <a:r>
              <a:rPr lang="zh-CN" altLang="en-US" sz="2000" smtClean="0">
                <a:latin typeface="Times New Roman" panose="02020603050405020304" pitchFamily="18" charset="0"/>
              </a:rPr>
              <a:t>文件类型以及存取权限</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ulink_t  i_nlink;			/* </a:t>
            </a:r>
            <a:r>
              <a:rPr lang="zh-CN" altLang="en-US" sz="2000" smtClean="0">
                <a:latin typeface="Times New Roman" panose="02020603050405020304" pitchFamily="18" charset="0"/>
              </a:rPr>
              <a:t>连接到该文件的</a:t>
            </a:r>
            <a:r>
              <a:rPr lang="en-US" altLang="zh-CN" sz="2000" smtClean="0"/>
              <a:t>link</a:t>
            </a:r>
            <a:r>
              <a:rPr lang="zh-CN" altLang="en-US" sz="2000" smtClean="0">
                <a:latin typeface="Times New Roman" panose="02020603050405020304" pitchFamily="18" charset="0"/>
              </a:rPr>
              <a:t>数</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uid_t  i_uid;	</a:t>
            </a:r>
          </a:p>
          <a:p>
            <a:pPr algn="just" eaLnBrk="1" hangingPunct="1">
              <a:lnSpc>
                <a:spcPct val="90000"/>
              </a:lnSpc>
              <a:buFont typeface="Wingdings" panose="05000000000000000000" pitchFamily="2" charset="2"/>
              <a:buNone/>
            </a:pPr>
            <a:r>
              <a:rPr lang="en-US" altLang="zh-CN" sz="2000" smtClean="0"/>
              <a:t>  gid_t  i_gid;	</a:t>
            </a:r>
          </a:p>
          <a:p>
            <a:pPr algn="just" eaLnBrk="1" hangingPunct="1">
              <a:lnSpc>
                <a:spcPct val="90000"/>
              </a:lnSpc>
              <a:buFont typeface="Wingdings" panose="05000000000000000000" pitchFamily="2" charset="2"/>
              <a:buNone/>
            </a:pPr>
            <a:r>
              <a:rPr lang="en-US" altLang="zh-CN" sz="2000" smtClean="0"/>
              <a:t>  kdev_t  i_rdev;			/* </a:t>
            </a:r>
            <a:r>
              <a:rPr lang="zh-CN" altLang="en-US" sz="2000" smtClean="0">
                <a:latin typeface="Times New Roman" panose="02020603050405020304" pitchFamily="18" charset="0"/>
              </a:rPr>
              <a:t>该文件系统的次设备号</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off_t  i_size;			/* </a:t>
            </a:r>
            <a:r>
              <a:rPr lang="zh-CN" altLang="en-US" sz="2000" smtClean="0">
                <a:latin typeface="Times New Roman" panose="02020603050405020304" pitchFamily="18" charset="0"/>
              </a:rPr>
              <a:t>文件长度</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time_t  i_atime</a:t>
            </a:r>
            <a:r>
              <a:rPr lang="zh-CN" altLang="en-US" sz="2000" smtClean="0">
                <a:latin typeface="Times New Roman" panose="02020603050405020304" pitchFamily="18" charset="0"/>
              </a:rPr>
              <a:t>，</a:t>
            </a:r>
            <a:r>
              <a:rPr lang="zh-CN" altLang="en-US" sz="2000" smtClean="0"/>
              <a:t> </a:t>
            </a:r>
            <a:r>
              <a:rPr lang="en-US" altLang="zh-CN" sz="2000" smtClean="0"/>
              <a:t>i_mtime</a:t>
            </a:r>
            <a:r>
              <a:rPr lang="zh-CN" altLang="en-US" sz="2000" smtClean="0">
                <a:latin typeface="Times New Roman" panose="02020603050405020304" pitchFamily="18" charset="0"/>
              </a:rPr>
              <a:t>，</a:t>
            </a:r>
            <a:r>
              <a:rPr lang="zh-CN" altLang="en-US" sz="2000" smtClean="0"/>
              <a:t> </a:t>
            </a:r>
            <a:r>
              <a:rPr lang="en-US" altLang="zh-CN" sz="2000" smtClean="0"/>
              <a:t>i_ctime;</a:t>
            </a:r>
          </a:p>
          <a:p>
            <a:pPr algn="just" eaLnBrk="1" hangingPunct="1">
              <a:lnSpc>
                <a:spcPct val="90000"/>
              </a:lnSpc>
              <a:buFont typeface="Wingdings" panose="05000000000000000000" pitchFamily="2" charset="2"/>
              <a:buNone/>
            </a:pPr>
            <a:r>
              <a:rPr lang="en-US" altLang="zh-CN" sz="2000" smtClean="0"/>
              <a:t>  unsigned long  i_blocksize</a:t>
            </a:r>
            <a:r>
              <a:rPr lang="zh-CN" altLang="en-US" sz="2000" smtClean="0">
                <a:latin typeface="Times New Roman" panose="02020603050405020304" pitchFamily="18" charset="0"/>
              </a:rPr>
              <a:t>，</a:t>
            </a:r>
            <a:r>
              <a:rPr lang="zh-CN" altLang="en-US" sz="2000" smtClean="0"/>
              <a:t> </a:t>
            </a:r>
            <a:r>
              <a:rPr lang="en-US" altLang="zh-CN" sz="2000" smtClean="0"/>
              <a:t>i_blocks;  /* </a:t>
            </a:r>
            <a:r>
              <a:rPr lang="zh-CN" altLang="en-US" sz="2000" smtClean="0">
                <a:latin typeface="Times New Roman" panose="02020603050405020304" pitchFamily="18" charset="0"/>
              </a:rPr>
              <a:t>字节</a:t>
            </a:r>
            <a:r>
              <a:rPr lang="en-US" altLang="zh-CN" sz="2000" smtClean="0"/>
              <a:t>/</a:t>
            </a:r>
            <a:r>
              <a:rPr lang="zh-CN" altLang="en-US" sz="2000" smtClean="0">
                <a:latin typeface="Times New Roman" panose="02020603050405020304" pitchFamily="18" charset="0"/>
              </a:rPr>
              <a:t>块为单位的文件长度</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unsigned long  i_version;</a:t>
            </a:r>
          </a:p>
          <a:p>
            <a:pPr algn="just" eaLnBrk="1" hangingPunct="1">
              <a:lnSpc>
                <a:spcPct val="90000"/>
              </a:lnSpc>
              <a:buFont typeface="Wingdings" panose="05000000000000000000" pitchFamily="2" charset="2"/>
              <a:buNone/>
            </a:pPr>
            <a:r>
              <a:rPr lang="en-US" altLang="zh-CN" sz="2000" smtClean="0"/>
              <a:t>  unsigned long  i_nrpages; 	/* </a:t>
            </a:r>
            <a:r>
              <a:rPr lang="zh-CN" altLang="en-US" sz="2000" smtClean="0">
                <a:latin typeface="Times New Roman" panose="02020603050405020304" pitchFamily="18" charset="0"/>
              </a:rPr>
              <a:t>文件所占的内存页数</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struct semaphore  i_sem;</a:t>
            </a:r>
          </a:p>
          <a:p>
            <a:pPr algn="just" eaLnBrk="1" hangingPunct="1">
              <a:lnSpc>
                <a:spcPct val="90000"/>
              </a:lnSpc>
              <a:buFont typeface="Wingdings" panose="05000000000000000000" pitchFamily="2" charset="2"/>
              <a:buNone/>
            </a:pPr>
            <a:r>
              <a:rPr lang="en-US" altLang="zh-CN" sz="2000" smtClean="0"/>
              <a:t>  </a:t>
            </a:r>
          </a:p>
        </p:txBody>
      </p:sp>
    </p:spTree>
    <p:extLst>
      <p:ext uri="{BB962C8B-B14F-4D97-AF65-F5344CB8AC3E}">
        <p14:creationId xmlns:p14="http://schemas.microsoft.com/office/powerpoint/2010/main" val="200402772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11188" y="0"/>
            <a:ext cx="8110537" cy="501650"/>
          </a:xfrm>
        </p:spPr>
        <p:txBody>
          <a:bodyPr/>
          <a:lstStyle/>
          <a:p>
            <a:pPr eaLnBrk="1" hangingPunct="1"/>
            <a:r>
              <a:rPr lang="en-US" altLang="zh-CN" sz="3400" smtClean="0">
                <a:solidFill>
                  <a:schemeClr val="tx1"/>
                </a:solidFill>
              </a:rPr>
              <a:t>VFS  Inode</a:t>
            </a:r>
            <a:r>
              <a:rPr lang="zh-CN" altLang="en-US" sz="3400" smtClean="0">
                <a:solidFill>
                  <a:schemeClr val="tx1"/>
                </a:solidFill>
              </a:rPr>
              <a:t>结构</a:t>
            </a:r>
          </a:p>
        </p:txBody>
      </p:sp>
      <p:sp>
        <p:nvSpPr>
          <p:cNvPr id="51203" name="Rectangle 3"/>
          <p:cNvSpPr>
            <a:spLocks noGrp="1" noChangeArrowheads="1"/>
          </p:cNvSpPr>
          <p:nvPr>
            <p:ph type="body" idx="1"/>
          </p:nvPr>
        </p:nvSpPr>
        <p:spPr>
          <a:xfrm>
            <a:off x="304800" y="765175"/>
            <a:ext cx="8839200" cy="5572125"/>
          </a:xfrm>
          <a:solidFill>
            <a:srgbClr val="A1C2C5"/>
          </a:solidFill>
          <a:ln>
            <a:solidFill>
              <a:srgbClr val="99CCFF"/>
            </a:solidFill>
            <a:miter lim="800000"/>
            <a:headEnd/>
            <a:tailEnd/>
          </a:ln>
        </p:spPr>
        <p:txBody>
          <a:bodyPr/>
          <a:lstStyle/>
          <a:p>
            <a:pPr algn="just" eaLnBrk="1" hangingPunct="1">
              <a:lnSpc>
                <a:spcPct val="90000"/>
              </a:lnSpc>
              <a:buFont typeface="Wingdings" panose="05000000000000000000" pitchFamily="2" charset="2"/>
              <a:buNone/>
            </a:pPr>
            <a:r>
              <a:rPr lang="en-US" altLang="zh-CN" sz="2000" smtClean="0"/>
              <a:t>  struct inode_operations</a:t>
            </a:r>
            <a:r>
              <a:rPr lang="en-US" altLang="zh-CN" sz="2000" smtClean="0">
                <a:solidFill>
                  <a:schemeClr val="accent2"/>
                </a:solidFill>
              </a:rPr>
              <a:t>* i_op</a:t>
            </a:r>
            <a:r>
              <a:rPr lang="en-US" altLang="zh-CN" sz="2000" smtClean="0"/>
              <a:t>;/* </a:t>
            </a:r>
            <a:r>
              <a:rPr lang="zh-CN" altLang="en-US" sz="2000" smtClean="0">
                <a:latin typeface="Times New Roman" panose="02020603050405020304" pitchFamily="18" charset="0"/>
              </a:rPr>
              <a:t>指向一组针对该文件的操作函数</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mtClean="0"/>
              <a:t> </a:t>
            </a:r>
            <a:r>
              <a:rPr lang="en-US" altLang="zh-CN" sz="2000" smtClean="0">
                <a:solidFill>
                  <a:schemeClr val="accent2"/>
                </a:solidFill>
              </a:rPr>
              <a:t>struct file_operations	*i_fop; </a:t>
            </a:r>
            <a:r>
              <a:rPr lang="en-US" altLang="zh-CN" sz="2000" smtClean="0">
                <a:latin typeface="Times New Roman" panose="02020603050405020304" pitchFamily="18" charset="0"/>
              </a:rPr>
              <a:t>/*</a:t>
            </a:r>
            <a:r>
              <a:rPr lang="zh-CN" altLang="en-US" sz="2000" smtClean="0">
                <a:latin typeface="Times New Roman" panose="02020603050405020304" pitchFamily="18" charset="0"/>
              </a:rPr>
              <a:t>指向文件操作操作的指针*</a:t>
            </a:r>
            <a:r>
              <a:rPr lang="en-US" altLang="zh-CN" sz="2000" smtClean="0">
                <a:latin typeface="Times New Roman" panose="02020603050405020304" pitchFamily="18" charset="0"/>
              </a:rPr>
              <a:t>/</a:t>
            </a:r>
          </a:p>
          <a:p>
            <a:pPr algn="just" eaLnBrk="1" hangingPunct="1">
              <a:lnSpc>
                <a:spcPct val="90000"/>
              </a:lnSpc>
              <a:buFont typeface="Wingdings" panose="05000000000000000000" pitchFamily="2" charset="2"/>
              <a:buNone/>
            </a:pPr>
            <a:r>
              <a:rPr lang="en-US" altLang="zh-CN" sz="2000" smtClean="0"/>
              <a:t>  struct super_block*  i_sb;	/* </a:t>
            </a:r>
            <a:r>
              <a:rPr lang="zh-CN" altLang="en-US" sz="2000" smtClean="0">
                <a:latin typeface="Times New Roman" panose="02020603050405020304" pitchFamily="18" charset="0"/>
              </a:rPr>
              <a:t>指向内存中的</a:t>
            </a:r>
            <a:r>
              <a:rPr lang="en-US" altLang="zh-CN" sz="2000" smtClean="0"/>
              <a:t>VFS</a:t>
            </a:r>
            <a:r>
              <a:rPr lang="zh-CN" altLang="en-US" sz="2000" smtClean="0">
                <a:latin typeface="Times New Roman" panose="02020603050405020304" pitchFamily="18" charset="0"/>
              </a:rPr>
              <a:t>超级块</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struct wait_queue*  i_wait;	/* </a:t>
            </a:r>
            <a:r>
              <a:rPr lang="zh-CN" altLang="en-US" sz="2000" smtClean="0">
                <a:latin typeface="Times New Roman" panose="02020603050405020304" pitchFamily="18" charset="0"/>
              </a:rPr>
              <a:t>在该文件上的等待队列</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struct file_lock*  i_flock; 	/* </a:t>
            </a:r>
            <a:r>
              <a:rPr lang="zh-CN" altLang="en-US" sz="2000" smtClean="0">
                <a:latin typeface="Times New Roman" panose="02020603050405020304" pitchFamily="18" charset="0"/>
              </a:rPr>
              <a:t>操作该文件的文件锁链表的首地址</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struct vm_area_struct*  i_mmap;</a:t>
            </a:r>
          </a:p>
          <a:p>
            <a:pPr algn="just" eaLnBrk="1" hangingPunct="1">
              <a:lnSpc>
                <a:spcPct val="90000"/>
              </a:lnSpc>
              <a:buFont typeface="Wingdings" panose="05000000000000000000" pitchFamily="2" charset="2"/>
              <a:buNone/>
            </a:pPr>
            <a:r>
              <a:rPr lang="en-US" altLang="zh-CN" sz="2000" smtClean="0"/>
              <a:t>  struct page*  i_pages; 		/* </a:t>
            </a:r>
            <a:r>
              <a:rPr lang="zh-CN" altLang="en-US" sz="2000" smtClean="0">
                <a:latin typeface="Times New Roman" panose="02020603050405020304" pitchFamily="18" charset="0"/>
              </a:rPr>
              <a:t>文件所占页面构成的单向链</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struct dquot*  i_dquot[MAXQUOTAS];</a:t>
            </a:r>
          </a:p>
          <a:p>
            <a:pPr algn="just" eaLnBrk="1" hangingPunct="1">
              <a:lnSpc>
                <a:spcPct val="90000"/>
              </a:lnSpc>
              <a:buFont typeface="Wingdings" panose="05000000000000000000" pitchFamily="2" charset="2"/>
              <a:buNone/>
            </a:pPr>
            <a:r>
              <a:rPr lang="en-US" altLang="zh-CN" sz="2000" smtClean="0"/>
              <a:t>  struct inode *i_next</a:t>
            </a:r>
            <a:r>
              <a:rPr lang="zh-CN" altLang="en-US" sz="2000" smtClean="0">
                <a:latin typeface="Times New Roman" panose="02020603050405020304" pitchFamily="18" charset="0"/>
              </a:rPr>
              <a:t>，</a:t>
            </a:r>
            <a:r>
              <a:rPr lang="zh-CN" altLang="en-US" sz="2000" smtClean="0"/>
              <a:t>*</a:t>
            </a:r>
            <a:r>
              <a:rPr lang="en-US" altLang="zh-CN" sz="2000" smtClean="0"/>
              <a:t>i_prev</a:t>
            </a:r>
            <a:r>
              <a:rPr lang="zh-CN" altLang="en-US" sz="2000" smtClean="0">
                <a:latin typeface="Times New Roman" panose="02020603050405020304" pitchFamily="18" charset="0"/>
              </a:rPr>
              <a:t>，</a:t>
            </a:r>
            <a:r>
              <a:rPr lang="zh-CN" altLang="en-US" sz="2000" smtClean="0"/>
              <a:t> *</a:t>
            </a:r>
            <a:r>
              <a:rPr lang="en-US" altLang="zh-CN" sz="2000" smtClean="0"/>
              <a:t>i_hash_next</a:t>
            </a:r>
            <a:r>
              <a:rPr lang="zh-CN" altLang="en-US" sz="2000" smtClean="0">
                <a:latin typeface="Times New Roman" panose="02020603050405020304" pitchFamily="18" charset="0"/>
              </a:rPr>
              <a:t>，</a:t>
            </a:r>
            <a:r>
              <a:rPr lang="zh-CN" altLang="en-US" sz="2000" smtClean="0"/>
              <a:t>*</a:t>
            </a:r>
            <a:r>
              <a:rPr lang="en-US" altLang="zh-CN" sz="2000" smtClean="0"/>
              <a:t>i_hash_prev</a:t>
            </a:r>
            <a:r>
              <a:rPr lang="zh-CN" altLang="en-US" sz="2000" smtClean="0">
                <a:latin typeface="Times New Roman" panose="02020603050405020304" pitchFamily="18" charset="0"/>
              </a:rPr>
              <a:t>，</a:t>
            </a:r>
            <a:r>
              <a:rPr lang="zh-CN" altLang="en-US" sz="2000" smtClean="0"/>
              <a:t>*</a:t>
            </a:r>
            <a:r>
              <a:rPr lang="en-US" altLang="zh-CN" sz="2000" smtClean="0"/>
              <a:t>i_bound_to</a:t>
            </a:r>
            <a:r>
              <a:rPr lang="zh-CN" altLang="en-US" sz="2000" smtClean="0">
                <a:latin typeface="Times New Roman" panose="02020603050405020304" pitchFamily="18" charset="0"/>
              </a:rPr>
              <a:t>，</a:t>
            </a:r>
            <a:r>
              <a:rPr lang="zh-CN" altLang="en-US" sz="2000" smtClean="0"/>
              <a:t>*</a:t>
            </a:r>
            <a:r>
              <a:rPr lang="en-US" altLang="zh-CN" sz="2000" smtClean="0"/>
              <a:t>i_bound_by;</a:t>
            </a:r>
          </a:p>
          <a:p>
            <a:pPr algn="just" eaLnBrk="1" hangingPunct="1">
              <a:lnSpc>
                <a:spcPct val="90000"/>
              </a:lnSpc>
              <a:buFont typeface="Wingdings" panose="05000000000000000000" pitchFamily="2" charset="2"/>
              <a:buNone/>
            </a:pPr>
            <a:r>
              <a:rPr lang="en-US" altLang="zh-CN" sz="2000" smtClean="0"/>
              <a:t>  struct inode *i_mount;	/* </a:t>
            </a:r>
            <a:r>
              <a:rPr lang="zh-CN" altLang="en-US" sz="2000" smtClean="0">
                <a:latin typeface="Times New Roman" panose="02020603050405020304" pitchFamily="18" charset="0"/>
              </a:rPr>
              <a:t>指向下挂文件系统的</a:t>
            </a:r>
            <a:r>
              <a:rPr lang="en-US" altLang="zh-CN" sz="2000" smtClean="0"/>
              <a:t>inode</a:t>
            </a:r>
            <a:r>
              <a:rPr lang="zh-CN" altLang="en-US" sz="2000" smtClean="0">
                <a:latin typeface="Times New Roman" panose="02020603050405020304" pitchFamily="18" charset="0"/>
              </a:rPr>
              <a:t>的根目录</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unsigned long  i_count;		/* </a:t>
            </a:r>
            <a:r>
              <a:rPr lang="zh-CN" altLang="en-US" sz="2000" smtClean="0">
                <a:latin typeface="Times New Roman" panose="02020603050405020304" pitchFamily="18" charset="0"/>
              </a:rPr>
              <a:t>引用计数，</a:t>
            </a:r>
            <a:r>
              <a:rPr lang="en-US" altLang="zh-CN" sz="2000" smtClean="0"/>
              <a:t>0</a:t>
            </a:r>
            <a:r>
              <a:rPr lang="zh-CN" altLang="en-US" sz="2000" smtClean="0">
                <a:latin typeface="Times New Roman" panose="02020603050405020304" pitchFamily="18" charset="0"/>
              </a:rPr>
              <a:t>表示空闲</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unsigned short  i_flags;</a:t>
            </a:r>
          </a:p>
          <a:p>
            <a:pPr algn="just" eaLnBrk="1" hangingPunct="1">
              <a:lnSpc>
                <a:spcPct val="90000"/>
              </a:lnSpc>
              <a:buFont typeface="Wingdings" panose="05000000000000000000" pitchFamily="2" charset="2"/>
              <a:buNone/>
            </a:pPr>
            <a:r>
              <a:rPr lang="en-US" altLang="zh-CN" sz="2000" smtClean="0"/>
              <a:t>  unsigned short  i_writecount;</a:t>
            </a:r>
          </a:p>
          <a:p>
            <a:pPr algn="just" eaLnBrk="1" hangingPunct="1">
              <a:lnSpc>
                <a:spcPct val="90000"/>
              </a:lnSpc>
              <a:buFont typeface="Wingdings" panose="05000000000000000000" pitchFamily="2" charset="2"/>
              <a:buNone/>
            </a:pPr>
            <a:r>
              <a:rPr lang="en-US" altLang="zh-CN" sz="2000" smtClean="0"/>
              <a:t>  unsigned char  i_lock; 			/* inode</a:t>
            </a:r>
            <a:r>
              <a:rPr lang="zh-CN" altLang="en-US" sz="2000" smtClean="0">
                <a:latin typeface="Times New Roman" panose="02020603050405020304" pitchFamily="18" charset="0"/>
              </a:rPr>
              <a:t>的锁定标志</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unsigned char  i_dirt;			/* </a:t>
            </a:r>
            <a:r>
              <a:rPr lang="zh-CN" altLang="en-US" sz="2000" smtClean="0">
                <a:latin typeface="Times New Roman" panose="02020603050405020304" pitchFamily="18" charset="0"/>
              </a:rPr>
              <a:t>已修改标志</a:t>
            </a:r>
            <a:r>
              <a:rPr lang="zh-CN" altLang="en-US" sz="2000" smtClean="0"/>
              <a:t> *</a:t>
            </a:r>
            <a:r>
              <a:rPr lang="en-US" altLang="zh-CN" sz="2000" smtClean="0"/>
              <a:t>/</a:t>
            </a:r>
          </a:p>
          <a:p>
            <a:pPr algn="just" eaLnBrk="1" hangingPunct="1">
              <a:lnSpc>
                <a:spcPct val="90000"/>
              </a:lnSpc>
              <a:buFont typeface="Wingdings" panose="05000000000000000000" pitchFamily="2" charset="2"/>
              <a:buNone/>
            </a:pPr>
            <a:r>
              <a:rPr lang="en-US" altLang="zh-CN" sz="2000" smtClean="0"/>
              <a:t>  unsigned char  i_pipe</a:t>
            </a:r>
            <a:r>
              <a:rPr lang="zh-CN" altLang="en-US" sz="2000" smtClean="0">
                <a:latin typeface="Times New Roman" panose="02020603050405020304" pitchFamily="18" charset="0"/>
              </a:rPr>
              <a:t>，</a:t>
            </a:r>
            <a:r>
              <a:rPr lang="zh-CN" altLang="en-US" sz="2000" smtClean="0"/>
              <a:t> </a:t>
            </a:r>
            <a:r>
              <a:rPr lang="en-US" altLang="zh-CN" sz="2000" smtClean="0"/>
              <a:t>i_sock</a:t>
            </a:r>
            <a:r>
              <a:rPr lang="zh-CN" altLang="en-US" sz="2000" smtClean="0">
                <a:latin typeface="Times New Roman" panose="02020603050405020304" pitchFamily="18" charset="0"/>
              </a:rPr>
              <a:t>，</a:t>
            </a:r>
            <a:r>
              <a:rPr lang="zh-CN" altLang="en-US" sz="2000" smtClean="0"/>
              <a:t> </a:t>
            </a:r>
            <a:r>
              <a:rPr lang="en-US" altLang="zh-CN" sz="2000" smtClean="0"/>
              <a:t>i_seek</a:t>
            </a:r>
            <a:r>
              <a:rPr lang="zh-CN" altLang="en-US" sz="2000" smtClean="0">
                <a:latin typeface="Times New Roman" panose="02020603050405020304" pitchFamily="18" charset="0"/>
              </a:rPr>
              <a:t>，</a:t>
            </a:r>
            <a:r>
              <a:rPr lang="zh-CN" altLang="en-US" sz="2000" smtClean="0"/>
              <a:t> </a:t>
            </a:r>
            <a:r>
              <a:rPr lang="en-US" altLang="zh-CN" sz="2000" smtClean="0"/>
              <a:t>i_update</a:t>
            </a:r>
            <a:r>
              <a:rPr lang="zh-CN" altLang="en-US" sz="2000" smtClean="0">
                <a:latin typeface="Times New Roman" panose="02020603050405020304" pitchFamily="18" charset="0"/>
              </a:rPr>
              <a:t>，</a:t>
            </a:r>
            <a:r>
              <a:rPr lang="zh-CN" altLang="en-US" sz="2000" smtClean="0"/>
              <a:t> </a:t>
            </a:r>
            <a:r>
              <a:rPr lang="en-US" altLang="zh-CN" sz="2000" smtClean="0"/>
              <a:t>i_condemned;</a:t>
            </a:r>
          </a:p>
          <a:p>
            <a:pPr algn="just" eaLnBrk="1" hangingPunct="1">
              <a:lnSpc>
                <a:spcPct val="90000"/>
              </a:lnSpc>
              <a:buFont typeface="Wingdings" panose="05000000000000000000" pitchFamily="2" charset="2"/>
              <a:buNone/>
            </a:pPr>
            <a:r>
              <a:rPr lang="en-US" altLang="zh-CN" sz="2000" smtClean="0"/>
              <a:t>  </a:t>
            </a:r>
            <a:r>
              <a:rPr lang="en-US" altLang="zh-CN" sz="2000" smtClean="0">
                <a:solidFill>
                  <a:srgbClr val="0000FF"/>
                </a:solidFill>
              </a:rPr>
              <a:t>union { </a:t>
            </a:r>
            <a:r>
              <a:rPr lang="zh-CN" altLang="en-US" sz="2000" smtClean="0">
                <a:solidFill>
                  <a:srgbClr val="0000FF"/>
                </a:solidFill>
                <a:latin typeface="Times New Roman" panose="02020603050405020304" pitchFamily="18" charset="0"/>
              </a:rPr>
              <a:t>各个物理文件系统</a:t>
            </a:r>
            <a:r>
              <a:rPr lang="en-US" altLang="zh-CN" sz="2000" smtClean="0">
                <a:solidFill>
                  <a:srgbClr val="0000FF"/>
                </a:solidFill>
              </a:rPr>
              <a:t>inode</a:t>
            </a:r>
            <a:r>
              <a:rPr lang="zh-CN" altLang="en-US" sz="2000" smtClean="0">
                <a:solidFill>
                  <a:srgbClr val="0000FF"/>
                </a:solidFill>
                <a:latin typeface="Times New Roman" panose="02020603050405020304" pitchFamily="18" charset="0"/>
              </a:rPr>
              <a:t>的结构类型</a:t>
            </a:r>
            <a:r>
              <a:rPr lang="zh-CN" altLang="en-US" sz="2000" smtClean="0">
                <a:solidFill>
                  <a:srgbClr val="0000FF"/>
                </a:solidFill>
              </a:rPr>
              <a:t> </a:t>
            </a:r>
            <a:r>
              <a:rPr lang="en-US" altLang="zh-CN" sz="2000" smtClean="0">
                <a:solidFill>
                  <a:srgbClr val="0000FF"/>
                </a:solidFill>
              </a:rPr>
              <a:t>}  u;</a:t>
            </a:r>
          </a:p>
          <a:p>
            <a:pPr algn="just" eaLnBrk="1" hangingPunct="1">
              <a:lnSpc>
                <a:spcPct val="90000"/>
              </a:lnSpc>
              <a:buFont typeface="Wingdings" panose="05000000000000000000" pitchFamily="2" charset="2"/>
              <a:buNone/>
            </a:pPr>
            <a:r>
              <a:rPr lang="en-US" altLang="zh-CN" sz="2000" smtClean="0"/>
              <a:t>};</a:t>
            </a:r>
          </a:p>
          <a:p>
            <a:pPr eaLnBrk="1" hangingPunct="1">
              <a:lnSpc>
                <a:spcPct val="90000"/>
              </a:lnSpc>
            </a:pPr>
            <a:endParaRPr lang="en-US" altLang="zh-CN" sz="2000" smtClean="0"/>
          </a:p>
        </p:txBody>
      </p:sp>
    </p:spTree>
    <p:extLst>
      <p:ext uri="{BB962C8B-B14F-4D97-AF65-F5344CB8AC3E}">
        <p14:creationId xmlns:p14="http://schemas.microsoft.com/office/powerpoint/2010/main" val="280511242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827088" y="0"/>
            <a:ext cx="7772400" cy="788988"/>
          </a:xfrm>
        </p:spPr>
        <p:txBody>
          <a:bodyPr/>
          <a:lstStyle/>
          <a:p>
            <a:pPr eaLnBrk="1" hangingPunct="1"/>
            <a:r>
              <a:rPr lang="en-US" altLang="zh-CN" sz="3400" smtClean="0">
                <a:solidFill>
                  <a:schemeClr val="tx1"/>
                </a:solidFill>
                <a:latin typeface="宋体" panose="02010600030101010101" pitchFamily="2" charset="-122"/>
                <a:hlinkClick r:id="rId2" action="ppaction://hlinkfile"/>
              </a:rPr>
              <a:t>U</a:t>
            </a:r>
            <a:r>
              <a:rPr lang="zh-CN" altLang="en-US" sz="3400" smtClean="0">
                <a:solidFill>
                  <a:schemeClr val="tx1"/>
                </a:solidFill>
                <a:latin typeface="宋体" panose="02010600030101010101" pitchFamily="2" charset="-122"/>
                <a:hlinkClick r:id="rId2" action="ppaction://hlinkfile"/>
              </a:rPr>
              <a:t>域</a:t>
            </a:r>
            <a:r>
              <a:rPr lang="en-US" altLang="zh-CN" sz="3400" smtClean="0">
                <a:solidFill>
                  <a:schemeClr val="tx1"/>
                </a:solidFill>
                <a:latin typeface="宋体" panose="02010600030101010101" pitchFamily="2" charset="-122"/>
              </a:rPr>
              <a:t>:</a:t>
            </a:r>
            <a:r>
              <a:rPr lang="zh-CN" altLang="en-US" sz="3400" smtClean="0">
                <a:solidFill>
                  <a:schemeClr val="tx1"/>
                </a:solidFill>
                <a:latin typeface="宋体" panose="02010600030101010101" pitchFamily="2" charset="-122"/>
              </a:rPr>
              <a:t>存放各种文件系统特有的</a:t>
            </a:r>
            <a:r>
              <a:rPr lang="en-US" altLang="zh-CN" sz="3400" smtClean="0">
                <a:solidFill>
                  <a:schemeClr val="tx1"/>
                </a:solidFill>
                <a:latin typeface="宋体" panose="02010600030101010101" pitchFamily="2" charset="-122"/>
              </a:rPr>
              <a:t>Inode</a:t>
            </a:r>
            <a:r>
              <a:rPr lang="zh-CN" altLang="en-US" sz="3400" smtClean="0">
                <a:solidFill>
                  <a:schemeClr val="tx1"/>
                </a:solidFill>
                <a:latin typeface="宋体" panose="02010600030101010101" pitchFamily="2" charset="-122"/>
              </a:rPr>
              <a:t>信息</a:t>
            </a:r>
          </a:p>
        </p:txBody>
      </p:sp>
      <p:sp>
        <p:nvSpPr>
          <p:cNvPr id="52227" name="Rectangle 3"/>
          <p:cNvSpPr>
            <a:spLocks noGrp="1" noChangeArrowheads="1"/>
          </p:cNvSpPr>
          <p:nvPr>
            <p:ph type="body" idx="1"/>
          </p:nvPr>
        </p:nvSpPr>
        <p:spPr>
          <a:xfrm>
            <a:off x="395288" y="836613"/>
            <a:ext cx="8424862" cy="6021387"/>
          </a:xfrm>
          <a:solidFill>
            <a:srgbClr val="CCFFFF"/>
          </a:solidFill>
          <a:ln>
            <a:solidFill>
              <a:schemeClr val="tx1"/>
            </a:solidFill>
            <a:miter lim="800000"/>
            <a:headEnd/>
            <a:tailEnd/>
          </a:ln>
        </p:spPr>
        <p:txBody>
          <a:bodyPr/>
          <a:lstStyle/>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union {struct pipe_inode_info pipe_i;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minix_inode_info minix_i;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ext_inode_info ext_i;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ext2_inode_info ext2_i;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hpfs_inode_info hpfs_i;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msdos_inode_info msdos_i;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umsdos_inode_info umsdos_i;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iso_inode_info isofs_i;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nfs_inode_info nfs_i;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xiafs_inode_info xiafs_i;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sysv_inode_info sysv_i;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ufs_inode_info ufs_i;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struct socket socket_i;</a:t>
            </a:r>
          </a:p>
          <a:p>
            <a:pPr algn="just" eaLnBrk="1" hangingPunct="1">
              <a:lnSpc>
                <a:spcPct val="90000"/>
              </a:lnSpc>
              <a:buFont typeface="Wingdings" panose="05000000000000000000" pitchFamily="2" charset="2"/>
              <a:buNone/>
            </a:pPr>
            <a:r>
              <a:rPr lang="en-US" altLang="zh-CN" sz="2400" smtClean="0">
                <a:latin typeface="Times New Roman" panose="02020603050405020304" pitchFamily="18" charset="0"/>
              </a:rPr>
              <a:t>		void * generic_ip;</a:t>
            </a:r>
          </a:p>
          <a:p>
            <a:pPr eaLnBrk="1" hangingPunct="1">
              <a:lnSpc>
                <a:spcPct val="90000"/>
              </a:lnSpc>
              <a:buFont typeface="Wingdings" panose="05000000000000000000" pitchFamily="2" charset="2"/>
              <a:buNone/>
            </a:pPr>
            <a:r>
              <a:rPr lang="en-US" altLang="zh-CN" sz="2400" smtClean="0">
                <a:latin typeface="Times New Roman" panose="02020603050405020304" pitchFamily="18" charset="0"/>
                <a:cs typeface="Times New Roman" panose="02020603050405020304" pitchFamily="18" charset="0"/>
              </a:rPr>
              <a:t>	} </a:t>
            </a:r>
            <a:r>
              <a:rPr lang="en-US" altLang="zh-CN" sz="2400" smtClean="0">
                <a:solidFill>
                  <a:srgbClr val="0000FF"/>
                </a:solidFill>
                <a:latin typeface="Times New Roman" panose="02020603050405020304" pitchFamily="18" charset="0"/>
                <a:cs typeface="Times New Roman" panose="02020603050405020304" pitchFamily="18" charset="0"/>
              </a:rPr>
              <a:t>u</a:t>
            </a:r>
            <a:r>
              <a:rPr lang="en-US" altLang="zh-CN" sz="2400" smtClean="0">
                <a:latin typeface="Times New Roman" panose="02020603050405020304" pitchFamily="18" charset="0"/>
                <a:cs typeface="Times New Roman" panose="02020603050405020304" pitchFamily="18" charset="0"/>
              </a:rPr>
              <a:t>;</a:t>
            </a:r>
            <a:r>
              <a:rPr lang="en-US" altLang="zh-CN" sz="2400" smtClean="0">
                <a:latin typeface="Times New Roman" panose="02020603050405020304" pitchFamily="18" charset="0"/>
              </a:rPr>
              <a:t> </a:t>
            </a:r>
          </a:p>
        </p:txBody>
      </p:sp>
    </p:spTree>
    <p:extLst>
      <p:ext uri="{BB962C8B-B14F-4D97-AF65-F5344CB8AC3E}">
        <p14:creationId xmlns:p14="http://schemas.microsoft.com/office/powerpoint/2010/main" val="2985075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zh-CN" smtClean="0"/>
              <a:t>inode.U</a:t>
            </a:r>
          </a:p>
        </p:txBody>
      </p:sp>
      <p:sp>
        <p:nvSpPr>
          <p:cNvPr id="53251" name="Rectangle 3"/>
          <p:cNvSpPr>
            <a:spLocks noGrp="1" noChangeArrowheads="1"/>
          </p:cNvSpPr>
          <p:nvPr>
            <p:ph type="body" idx="1"/>
          </p:nvPr>
        </p:nvSpPr>
        <p:spPr>
          <a:xfrm>
            <a:off x="684213" y="1557338"/>
            <a:ext cx="7772400" cy="4530725"/>
          </a:xfrm>
        </p:spPr>
        <p:txBody>
          <a:bodyPr/>
          <a:lstStyle/>
          <a:p>
            <a:pPr eaLnBrk="1" hangingPunct="1"/>
            <a:r>
              <a:rPr lang="zh-CN" altLang="en-US" smtClean="0">
                <a:latin typeface="Times New Roman" panose="02020603050405020304" pitchFamily="18" charset="0"/>
              </a:rPr>
              <a:t>同超级块一样，</a:t>
            </a:r>
            <a:r>
              <a:rPr lang="en-US" altLang="zh-CN" smtClean="0"/>
              <a:t>inode.u</a:t>
            </a:r>
            <a:r>
              <a:rPr lang="zh-CN" altLang="en-US" smtClean="0">
                <a:latin typeface="Times New Roman" panose="02020603050405020304" pitchFamily="18" charset="0"/>
              </a:rPr>
              <a:t>用于存储</a:t>
            </a:r>
            <a:r>
              <a:rPr lang="zh-CN" altLang="en-US" smtClean="0">
                <a:solidFill>
                  <a:schemeClr val="accent2"/>
                </a:solidFill>
                <a:latin typeface="Times New Roman" panose="02020603050405020304" pitchFamily="18" charset="0"/>
              </a:rPr>
              <a:t>每一个特定</a:t>
            </a:r>
            <a:r>
              <a:rPr lang="zh-CN" altLang="en-US" smtClean="0">
                <a:latin typeface="Times New Roman" panose="02020603050405020304" pitchFamily="18" charset="0"/>
              </a:rPr>
              <a:t>文件系统的特定</a:t>
            </a:r>
            <a:r>
              <a:rPr lang="en-US" altLang="zh-CN" smtClean="0"/>
              <a:t>inode</a:t>
            </a:r>
            <a:r>
              <a:rPr lang="zh-CN" altLang="en-US" smtClean="0">
                <a:latin typeface="Times New Roman" panose="02020603050405020304" pitchFamily="18" charset="0"/>
              </a:rPr>
              <a:t>。</a:t>
            </a:r>
            <a:endParaRPr lang="zh-CN" altLang="en-US" smtClean="0"/>
          </a:p>
          <a:p>
            <a:pPr eaLnBrk="1" hangingPunct="1"/>
            <a:r>
              <a:rPr lang="zh-CN" altLang="en-US" smtClean="0"/>
              <a:t>如果索引节点指向的是一个</a:t>
            </a:r>
            <a:r>
              <a:rPr lang="en-US" altLang="zh-CN" smtClean="0"/>
              <a:t>ext2</a:t>
            </a:r>
            <a:r>
              <a:rPr lang="zh-CN" altLang="en-US" smtClean="0"/>
              <a:t>文件，那么该</a:t>
            </a:r>
            <a:r>
              <a:rPr lang="en-US" altLang="zh-CN" smtClean="0"/>
              <a:t>U</a:t>
            </a:r>
            <a:r>
              <a:rPr lang="zh-CN" altLang="en-US" smtClean="0"/>
              <a:t>域就指向一个</a:t>
            </a:r>
            <a:r>
              <a:rPr lang="en-US" altLang="zh-CN" smtClean="0"/>
              <a:t>ext2_inode_info</a:t>
            </a:r>
            <a:r>
              <a:rPr lang="zh-CN" altLang="en-US" smtClean="0"/>
              <a:t>结构；</a:t>
            </a:r>
          </a:p>
          <a:p>
            <a:pPr eaLnBrk="1" hangingPunct="1"/>
            <a:r>
              <a:rPr lang="zh-CN" altLang="en-US" smtClean="0"/>
              <a:t>每个索引节点都要复制磁盘索引节点得到，譬如文件占用的磁盘块等，如果</a:t>
            </a:r>
            <a:r>
              <a:rPr lang="en-US" altLang="zh-CN" smtClean="0"/>
              <a:t>i_dirt</a:t>
            </a:r>
            <a:r>
              <a:rPr lang="zh-CN" altLang="en-US" smtClean="0"/>
              <a:t>域的值为</a:t>
            </a:r>
            <a:r>
              <a:rPr lang="en-US" altLang="zh-CN" smtClean="0"/>
              <a:t>I_DIRTY</a:t>
            </a:r>
            <a:r>
              <a:rPr lang="zh-CN" altLang="en-US" smtClean="0"/>
              <a:t>，则该索引节点对应的磁盘索引节点必须更新；</a:t>
            </a:r>
          </a:p>
        </p:txBody>
      </p:sp>
    </p:spTree>
    <p:extLst>
      <p:ext uri="{BB962C8B-B14F-4D97-AF65-F5344CB8AC3E}">
        <p14:creationId xmlns:p14="http://schemas.microsoft.com/office/powerpoint/2010/main" val="82924450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a:xfrm>
            <a:off x="250825" y="908050"/>
            <a:ext cx="8280400" cy="5689600"/>
          </a:xfrm>
          <a:solidFill>
            <a:srgbClr val="CCFFFF"/>
          </a:solidFill>
          <a:ln>
            <a:solidFill>
              <a:schemeClr val="tx1"/>
            </a:solidFill>
            <a:miter lim="800000"/>
            <a:headEnd/>
            <a:tailEnd/>
          </a:ln>
        </p:spPr>
        <p:txBody>
          <a:bodyPr/>
          <a:lstStyle/>
          <a:p>
            <a:pPr algn="just" eaLnBrk="1" hangingPunct="1">
              <a:lnSpc>
                <a:spcPct val="90000"/>
              </a:lnSpc>
              <a:buFont typeface="Wingdings" panose="05000000000000000000" pitchFamily="2" charset="2"/>
              <a:buNone/>
            </a:pPr>
            <a:r>
              <a:rPr lang="en-US" altLang="zh-CN" sz="2400" b="1" smtClean="0">
                <a:latin typeface="Times New Roman" panose="02020603050405020304" pitchFamily="18" charset="0"/>
                <a:ea typeface="楷体_GB2312" pitchFamily="49" charset="-122"/>
              </a:rPr>
              <a:t>struct   </a:t>
            </a:r>
            <a:r>
              <a:rPr lang="en-US" altLang="zh-CN" sz="2400" b="1" smtClean="0">
                <a:solidFill>
                  <a:srgbClr val="0000FF"/>
                </a:solidFill>
                <a:latin typeface="Times New Roman" panose="02020603050405020304" pitchFamily="18" charset="0"/>
                <a:ea typeface="楷体_GB2312" pitchFamily="49" charset="-122"/>
                <a:hlinkClick r:id="rId2" action="ppaction://hlinkfile"/>
              </a:rPr>
              <a:t>inode_operations</a:t>
            </a:r>
            <a:r>
              <a:rPr lang="en-US" altLang="zh-CN" sz="2400" b="1" smtClean="0">
                <a:solidFill>
                  <a:srgbClr val="0000FF"/>
                </a:solidFill>
                <a:latin typeface="Times New Roman" panose="02020603050405020304" pitchFamily="18" charset="0"/>
                <a:ea typeface="楷体_GB2312" pitchFamily="49" charset="-122"/>
              </a:rPr>
              <a:t> </a:t>
            </a:r>
            <a:r>
              <a:rPr lang="en-US" altLang="zh-CN" sz="2400" b="1" smtClean="0">
                <a:latin typeface="Times New Roman" panose="02020603050405020304" pitchFamily="18" charset="0"/>
                <a:ea typeface="楷体_GB2312" pitchFamily="49" charset="-122"/>
              </a:rPr>
              <a:t>{</a:t>
            </a:r>
          </a:p>
          <a:p>
            <a:pPr algn="just" eaLnBrk="1" hangingPunct="1">
              <a:lnSpc>
                <a:spcPct val="90000"/>
              </a:lnSpc>
              <a:buFont typeface="Wingdings" panose="05000000000000000000" pitchFamily="2" charset="2"/>
              <a:buNone/>
            </a:pPr>
            <a:r>
              <a:rPr lang="en-US" altLang="zh-CN" sz="2400" b="1" smtClean="0">
                <a:latin typeface="Times New Roman" panose="02020603050405020304" pitchFamily="18" charset="0"/>
                <a:ea typeface="楷体_GB2312" pitchFamily="49" charset="-122"/>
              </a:rPr>
              <a:t>Struct file_operations * default_file_ops; </a:t>
            </a:r>
          </a:p>
          <a:p>
            <a:pPr algn="just" eaLnBrk="1" hangingPunct="1">
              <a:lnSpc>
                <a:spcPct val="90000"/>
              </a:lnSpc>
              <a:buFont typeface="Wingdings" panose="05000000000000000000" pitchFamily="2" charset="2"/>
              <a:buNone/>
            </a:pPr>
            <a:r>
              <a:rPr lang="en-US" altLang="zh-CN" sz="2400" b="1" smtClean="0">
                <a:latin typeface="Times New Roman" panose="02020603050405020304" pitchFamily="18" charset="0"/>
                <a:ea typeface="楷体_GB2312" pitchFamily="49" charset="-122"/>
              </a:rPr>
              <a:t>int(*</a:t>
            </a:r>
            <a:r>
              <a:rPr lang="en-US" altLang="zh-CN" sz="2400" b="1" smtClean="0">
                <a:solidFill>
                  <a:schemeClr val="accent2"/>
                </a:solidFill>
                <a:latin typeface="Times New Roman" panose="02020603050405020304" pitchFamily="18" charset="0"/>
                <a:ea typeface="楷体_GB2312" pitchFamily="49" charset="-122"/>
              </a:rPr>
              <a:t>create</a:t>
            </a:r>
            <a:r>
              <a:rPr lang="en-US" altLang="zh-CN" sz="2400" b="1" smtClean="0">
                <a:latin typeface="Times New Roman" panose="02020603050405020304" pitchFamily="18" charset="0"/>
                <a:ea typeface="楷体_GB2312" pitchFamily="49" charset="-122"/>
              </a:rPr>
              <a:t>)(struct inode *,struct dentry *,int);</a:t>
            </a:r>
          </a:p>
          <a:p>
            <a:pPr algn="just" eaLnBrk="1" hangingPunct="1">
              <a:lnSpc>
                <a:spcPct val="90000"/>
              </a:lnSpc>
              <a:buFont typeface="Wingdings" panose="05000000000000000000" pitchFamily="2" charset="2"/>
              <a:buNone/>
            </a:pPr>
            <a:r>
              <a:rPr lang="en-US" altLang="zh-CN" sz="2400" b="1" smtClean="0">
                <a:latin typeface="Times New Roman" panose="02020603050405020304" pitchFamily="18" charset="0"/>
                <a:ea typeface="楷体_GB2312" pitchFamily="49" charset="-122"/>
              </a:rPr>
              <a:t> struct dentry * (*</a:t>
            </a:r>
            <a:r>
              <a:rPr lang="en-US" altLang="zh-CN" sz="2400" b="1" smtClean="0">
                <a:solidFill>
                  <a:schemeClr val="accent2"/>
                </a:solidFill>
                <a:latin typeface="Times New Roman" panose="02020603050405020304" pitchFamily="18" charset="0"/>
                <a:ea typeface="楷体_GB2312" pitchFamily="49" charset="-122"/>
              </a:rPr>
              <a:t>lookup</a:t>
            </a:r>
            <a:r>
              <a:rPr lang="en-US" altLang="zh-CN" sz="2400" b="1" smtClean="0">
                <a:latin typeface="Times New Roman" panose="02020603050405020304" pitchFamily="18" charset="0"/>
                <a:ea typeface="楷体_GB2312" pitchFamily="49" charset="-122"/>
              </a:rPr>
              <a:t>) (struct inode *,struct  dentry *);</a:t>
            </a:r>
          </a:p>
          <a:p>
            <a:pPr algn="just" eaLnBrk="1" hangingPunct="1">
              <a:lnSpc>
                <a:spcPct val="90000"/>
              </a:lnSpc>
              <a:buFont typeface="Wingdings" panose="05000000000000000000" pitchFamily="2" charset="2"/>
              <a:buNone/>
            </a:pPr>
            <a:r>
              <a:rPr lang="en-US" altLang="zh-CN" sz="2400" b="1" smtClean="0">
                <a:latin typeface="Times New Roman" panose="02020603050405020304" pitchFamily="18" charset="0"/>
                <a:ea typeface="楷体_GB2312" pitchFamily="49" charset="-122"/>
              </a:rPr>
              <a:t> int(*link)(struct dentry *,struct inode *,struct dentry *);</a:t>
            </a:r>
          </a:p>
          <a:p>
            <a:pPr algn="just" eaLnBrk="1" hangingPunct="1">
              <a:lnSpc>
                <a:spcPct val="90000"/>
              </a:lnSpc>
              <a:buFont typeface="Wingdings" panose="05000000000000000000" pitchFamily="2" charset="2"/>
              <a:buNone/>
            </a:pPr>
            <a:r>
              <a:rPr lang="en-US" altLang="zh-CN" sz="2400" b="1" smtClean="0">
                <a:latin typeface="Times New Roman" panose="02020603050405020304" pitchFamily="18" charset="0"/>
                <a:ea typeface="楷体_GB2312" pitchFamily="49" charset="-122"/>
              </a:rPr>
              <a:t> int (*unlink) (struct inode *,struct dentry *);</a:t>
            </a:r>
          </a:p>
          <a:p>
            <a:pPr algn="just" eaLnBrk="1" hangingPunct="1">
              <a:lnSpc>
                <a:spcPct val="90000"/>
              </a:lnSpc>
              <a:buFont typeface="Wingdings" panose="05000000000000000000" pitchFamily="2" charset="2"/>
              <a:buNone/>
            </a:pPr>
            <a:r>
              <a:rPr lang="en-US" altLang="zh-CN" sz="2400" b="1" smtClean="0">
                <a:latin typeface="Times New Roman" panose="02020603050405020304" pitchFamily="18" charset="0"/>
                <a:ea typeface="楷体_GB2312" pitchFamily="49" charset="-122"/>
              </a:rPr>
              <a:t> int (*symlink)(struct inode *,struct dentry *,const char *);</a:t>
            </a:r>
          </a:p>
          <a:p>
            <a:pPr algn="just" eaLnBrk="1" hangingPunct="1">
              <a:lnSpc>
                <a:spcPct val="90000"/>
              </a:lnSpc>
              <a:buFont typeface="Wingdings" panose="05000000000000000000" pitchFamily="2" charset="2"/>
              <a:buNone/>
            </a:pPr>
            <a:r>
              <a:rPr lang="en-US" altLang="zh-CN" sz="1000" b="1" smtClean="0">
                <a:latin typeface="Times New Roman" panose="02020603050405020304" pitchFamily="18" charset="0"/>
                <a:ea typeface="楷体_GB2312" pitchFamily="49" charset="-122"/>
              </a:rPr>
              <a:t>	......</a:t>
            </a:r>
          </a:p>
          <a:p>
            <a:pPr algn="just" eaLnBrk="1" hangingPunct="1">
              <a:lnSpc>
                <a:spcPct val="90000"/>
              </a:lnSpc>
              <a:buFont typeface="Wingdings" panose="05000000000000000000" pitchFamily="2" charset="2"/>
              <a:buNone/>
            </a:pPr>
            <a:r>
              <a:rPr lang="en-US" altLang="zh-CN" sz="2400" b="1" smtClean="0">
                <a:latin typeface="Times New Roman" panose="02020603050405020304" pitchFamily="18" charset="0"/>
                <a:ea typeface="楷体_GB2312" pitchFamily="49" charset="-122"/>
              </a:rPr>
              <a:t>};</a:t>
            </a:r>
          </a:p>
          <a:p>
            <a:pPr algn="just" eaLnBrk="1" hangingPunct="1">
              <a:lnSpc>
                <a:spcPct val="90000"/>
              </a:lnSpc>
              <a:buFont typeface="Wingdings" panose="05000000000000000000" pitchFamily="2" charset="2"/>
              <a:buNone/>
            </a:pPr>
            <a:r>
              <a:rPr lang="en-US" altLang="zh-CN" sz="2400" b="1" smtClean="0">
                <a:solidFill>
                  <a:schemeClr val="tx2"/>
                </a:solidFill>
                <a:latin typeface="Times New Roman" panose="02020603050405020304" pitchFamily="18" charset="0"/>
                <a:ea typeface="楷体_GB2312" pitchFamily="49" charset="-122"/>
              </a:rPr>
              <a:t>create:</a:t>
            </a:r>
            <a:r>
              <a:rPr lang="zh-CN" altLang="en-US" sz="2400" b="1" smtClean="0">
                <a:latin typeface="Times New Roman" panose="02020603050405020304" pitchFamily="18" charset="0"/>
                <a:ea typeface="楷体_GB2312" pitchFamily="49" charset="-122"/>
              </a:rPr>
              <a:t>第一个参数必须是目录型文件对应的</a:t>
            </a:r>
          </a:p>
          <a:p>
            <a:pPr algn="just" eaLnBrk="1" hangingPunct="1">
              <a:lnSpc>
                <a:spcPct val="90000"/>
              </a:lnSpc>
              <a:buFont typeface="Wingdings" panose="05000000000000000000" pitchFamily="2" charset="2"/>
              <a:buNone/>
            </a:pPr>
            <a:r>
              <a:rPr lang="zh-CN" altLang="en-US" sz="2400" b="1" smtClean="0">
                <a:latin typeface="Times New Roman" panose="02020603050405020304" pitchFamily="18" charset="0"/>
                <a:ea typeface="楷体_GB2312" pitchFamily="49" charset="-122"/>
              </a:rPr>
              <a:t>       </a:t>
            </a:r>
            <a:r>
              <a:rPr lang="en-US" altLang="zh-CN" sz="2400" b="1" smtClean="0">
                <a:latin typeface="Times New Roman" panose="02020603050405020304" pitchFamily="18" charset="0"/>
                <a:ea typeface="楷体_GB2312" pitchFamily="49" charset="-122"/>
              </a:rPr>
              <a:t>inode</a:t>
            </a:r>
            <a:r>
              <a:rPr lang="zh-CN" altLang="en-US" sz="2400" b="1" smtClean="0">
                <a:latin typeface="Times New Roman" panose="02020603050405020304" pitchFamily="18" charset="0"/>
                <a:ea typeface="楷体_GB2312" pitchFamily="49" charset="-122"/>
              </a:rPr>
              <a:t>。</a:t>
            </a:r>
            <a:r>
              <a:rPr lang="en-US" altLang="zh-CN" sz="2400" b="1" smtClean="0">
                <a:latin typeface="Times New Roman" panose="02020603050405020304" pitchFamily="18" charset="0"/>
                <a:ea typeface="楷体_GB2312" pitchFamily="49" charset="-122"/>
              </a:rPr>
              <a:t>create</a:t>
            </a:r>
            <a:r>
              <a:rPr lang="zh-CN" altLang="en-US" sz="2400" b="1" smtClean="0">
                <a:latin typeface="Times New Roman" panose="02020603050405020304" pitchFamily="18" charset="0"/>
                <a:ea typeface="楷体_GB2312" pitchFamily="49" charset="-122"/>
              </a:rPr>
              <a:t>在该目录下创建一个新的索引节点，主要是由</a:t>
            </a:r>
            <a:r>
              <a:rPr lang="en-US" altLang="zh-CN" sz="2400" b="1" smtClean="0">
                <a:latin typeface="Times New Roman" panose="02020603050405020304" pitchFamily="18" charset="0"/>
                <a:ea typeface="楷体_GB2312" pitchFamily="49" charset="-122"/>
              </a:rPr>
              <a:t>open()</a:t>
            </a:r>
            <a:r>
              <a:rPr lang="zh-CN" altLang="en-US" sz="2400" b="1" smtClean="0">
                <a:latin typeface="Times New Roman" panose="02020603050405020304" pitchFamily="18" charset="0"/>
                <a:ea typeface="楷体_GB2312" pitchFamily="49" charset="-122"/>
              </a:rPr>
              <a:t>系统调用来调用 </a:t>
            </a:r>
          </a:p>
          <a:p>
            <a:pPr algn="just" eaLnBrk="1" hangingPunct="1">
              <a:lnSpc>
                <a:spcPct val="90000"/>
              </a:lnSpc>
              <a:buFont typeface="Wingdings" panose="05000000000000000000" pitchFamily="2" charset="2"/>
              <a:buNone/>
            </a:pPr>
            <a:r>
              <a:rPr lang="en-US" altLang="zh-CN" sz="2400" b="1" smtClean="0">
                <a:solidFill>
                  <a:schemeClr val="tx2"/>
                </a:solidFill>
                <a:latin typeface="Times New Roman" panose="02020603050405020304" pitchFamily="18" charset="0"/>
                <a:ea typeface="楷体_GB2312" pitchFamily="49" charset="-122"/>
              </a:rPr>
              <a:t>lookup:</a:t>
            </a:r>
            <a:r>
              <a:rPr lang="zh-CN" altLang="en-US" sz="2400" b="1" smtClean="0">
                <a:latin typeface="Times New Roman" panose="02020603050405020304" pitchFamily="18" charset="0"/>
                <a:ea typeface="楷体_GB2312" pitchFamily="49" charset="-122"/>
              </a:rPr>
              <a:t>第一个参数是目录型文件对应的</a:t>
            </a:r>
            <a:r>
              <a:rPr lang="en-US" altLang="zh-CN" sz="2400" b="1" smtClean="0">
                <a:latin typeface="Times New Roman" panose="02020603050405020304" pitchFamily="18" charset="0"/>
                <a:ea typeface="楷体_GB2312" pitchFamily="49" charset="-122"/>
              </a:rPr>
              <a:t>inode</a:t>
            </a:r>
            <a:r>
              <a:rPr lang="zh-CN" altLang="en-US" sz="2400" b="1" smtClean="0">
                <a:latin typeface="Times New Roman" panose="02020603050405020304" pitchFamily="18" charset="0"/>
                <a:ea typeface="楷体_GB2312" pitchFamily="49" charset="-122"/>
              </a:rPr>
              <a:t>。</a:t>
            </a:r>
          </a:p>
          <a:p>
            <a:pPr algn="just" eaLnBrk="1" hangingPunct="1">
              <a:lnSpc>
                <a:spcPct val="90000"/>
              </a:lnSpc>
              <a:buFont typeface="Wingdings" panose="05000000000000000000" pitchFamily="2" charset="2"/>
              <a:buNone/>
            </a:pPr>
            <a:r>
              <a:rPr lang="zh-CN" altLang="en-US" sz="2400" b="1" smtClean="0">
                <a:latin typeface="Times New Roman" panose="02020603050405020304" pitchFamily="18" charset="0"/>
                <a:ea typeface="楷体_GB2312" pitchFamily="49" charset="-122"/>
              </a:rPr>
              <a:t>       </a:t>
            </a:r>
            <a:r>
              <a:rPr lang="en-US" altLang="zh-CN" sz="2400" b="1" smtClean="0">
                <a:latin typeface="Times New Roman" panose="02020603050405020304" pitchFamily="18" charset="0"/>
                <a:ea typeface="楷体_GB2312" pitchFamily="49" charset="-122"/>
              </a:rPr>
              <a:t>lookup</a:t>
            </a:r>
            <a:r>
              <a:rPr lang="zh-CN" altLang="en-US" sz="2400" b="1" smtClean="0">
                <a:latin typeface="Times New Roman" panose="02020603050405020304" pitchFamily="18" charset="0"/>
                <a:ea typeface="楷体_GB2312" pitchFamily="49" charset="-122"/>
              </a:rPr>
              <a:t>（）在该目录下寻找</a:t>
            </a:r>
            <a:r>
              <a:rPr lang="en-US" altLang="zh-CN" sz="2400" b="1" smtClean="0">
                <a:latin typeface="Times New Roman" panose="02020603050405020304" pitchFamily="18" charset="0"/>
                <a:ea typeface="楷体_GB2312" pitchFamily="49" charset="-122"/>
              </a:rPr>
              <a:t>dentry</a:t>
            </a:r>
            <a:r>
              <a:rPr lang="zh-CN" altLang="en-US" sz="2400" b="1" smtClean="0">
                <a:latin typeface="Times New Roman" panose="02020603050405020304" pitchFamily="18" charset="0"/>
                <a:ea typeface="楷体_GB2312" pitchFamily="49" charset="-122"/>
              </a:rPr>
              <a:t>对象所对应的索引节点 </a:t>
            </a:r>
          </a:p>
        </p:txBody>
      </p:sp>
      <p:sp>
        <p:nvSpPr>
          <p:cNvPr id="54275" name="Rectangle 3"/>
          <p:cNvSpPr>
            <a:spLocks noChangeArrowheads="1"/>
          </p:cNvSpPr>
          <p:nvPr/>
        </p:nvSpPr>
        <p:spPr bwMode="auto">
          <a:xfrm>
            <a:off x="1763713" y="333375"/>
            <a:ext cx="59769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80000"/>
              </a:lnSpc>
            </a:pPr>
            <a:r>
              <a:rPr lang="zh-CN" altLang="en-US" sz="3200" b="1"/>
              <a:t>与</a:t>
            </a:r>
            <a:r>
              <a:rPr lang="en-US" altLang="zh-CN" sz="3200" b="1"/>
              <a:t>VFS inode</a:t>
            </a:r>
            <a:r>
              <a:rPr lang="zh-CN" altLang="en-US" sz="3200" b="1"/>
              <a:t>节点相关的操作</a:t>
            </a:r>
          </a:p>
        </p:txBody>
      </p:sp>
    </p:spTree>
    <p:extLst>
      <p:ext uri="{BB962C8B-B14F-4D97-AF65-F5344CB8AC3E}">
        <p14:creationId xmlns:p14="http://schemas.microsoft.com/office/powerpoint/2010/main" val="363535776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p:spPr>
        <p:txBody>
          <a:bodyPr lIns="92075" tIns="46038" rIns="92075" bIns="46038"/>
          <a:lstStyle/>
          <a:p>
            <a:pPr eaLnBrk="1" hangingPunct="1"/>
            <a:r>
              <a:rPr lang="en-US" altLang="zh-CN" smtClean="0"/>
              <a:t>VFS</a:t>
            </a:r>
            <a:r>
              <a:rPr lang="zh-CN" altLang="en-US" smtClean="0"/>
              <a:t>的目录项（ </a:t>
            </a:r>
            <a:r>
              <a:rPr lang="en-US" altLang="zh-CN" smtClean="0">
                <a:hlinkClick r:id="rId4" action="ppaction://hlinkfile"/>
              </a:rPr>
              <a:t>dentry</a:t>
            </a:r>
            <a:r>
              <a:rPr lang="zh-CN" altLang="en-US" smtClean="0"/>
              <a:t>）</a:t>
            </a:r>
          </a:p>
        </p:txBody>
      </p:sp>
      <p:sp>
        <p:nvSpPr>
          <p:cNvPr id="55299" name="Rectangle 3"/>
          <p:cNvSpPr>
            <a:spLocks noGrp="1" noChangeArrowheads="1"/>
          </p:cNvSpPr>
          <p:nvPr>
            <p:ph type="body" sz="half" idx="1"/>
          </p:nvPr>
        </p:nvSpPr>
        <p:spPr>
          <a:xfrm>
            <a:off x="468313" y="1052513"/>
            <a:ext cx="5040312" cy="5327650"/>
          </a:xfrm>
        </p:spPr>
        <p:txBody>
          <a:bodyPr/>
          <a:lstStyle/>
          <a:p>
            <a:pPr algn="just" eaLnBrk="1" hangingPunct="1">
              <a:lnSpc>
                <a:spcPct val="90000"/>
              </a:lnSpc>
            </a:pPr>
            <a:r>
              <a:rPr lang="en-US" altLang="zh-CN" sz="2400" smtClean="0"/>
              <a:t>VFS inode</a:t>
            </a:r>
            <a:r>
              <a:rPr lang="zh-CN" altLang="en-US" sz="2400" smtClean="0"/>
              <a:t>中没有与路径相关的信息，也没有文件名。文件名记录在它所属的目录中。</a:t>
            </a:r>
          </a:p>
          <a:p>
            <a:pPr algn="just" eaLnBrk="1" hangingPunct="1">
              <a:lnSpc>
                <a:spcPct val="90000"/>
              </a:lnSpc>
            </a:pPr>
            <a:r>
              <a:rPr lang="zh-CN" altLang="en-US" sz="2400" smtClean="0"/>
              <a:t>一个目录是一个特殊的文件，其内容是该目录所包含的文件名和子目录名。</a:t>
            </a:r>
          </a:p>
          <a:p>
            <a:pPr algn="just" eaLnBrk="1" hangingPunct="1">
              <a:lnSpc>
                <a:spcPct val="90000"/>
              </a:lnSpc>
            </a:pPr>
            <a:r>
              <a:rPr lang="zh-CN" altLang="en-US" sz="2400" smtClean="0"/>
              <a:t>由于一个文件可以出现在多个目录中，因而一个文件可以有多个文件名、路径名，仅用</a:t>
            </a:r>
            <a:r>
              <a:rPr lang="en-US" altLang="zh-CN" sz="2400" smtClean="0"/>
              <a:t>VFS inode</a:t>
            </a:r>
            <a:r>
              <a:rPr lang="zh-CN" altLang="en-US" sz="2400" smtClean="0"/>
              <a:t>建立关系不现实，引入</a:t>
            </a:r>
            <a:r>
              <a:rPr lang="en-US" altLang="zh-CN" sz="2400" smtClean="0"/>
              <a:t>dentry</a:t>
            </a:r>
            <a:r>
              <a:rPr lang="zh-CN" altLang="en-US" sz="2400" smtClean="0"/>
              <a:t>结构</a:t>
            </a:r>
            <a:r>
              <a:rPr lang="zh-CN" altLang="en-US" sz="2400" smtClean="0">
                <a:latin typeface="Times New Roman" panose="02020603050405020304" pitchFamily="18" charset="0"/>
              </a:rPr>
              <a:t>描述目录与文件的关系树。</a:t>
            </a:r>
            <a:endParaRPr lang="zh-CN" altLang="en-US" sz="2400" smtClean="0"/>
          </a:p>
          <a:p>
            <a:pPr algn="just" eaLnBrk="1" hangingPunct="1">
              <a:lnSpc>
                <a:spcPct val="90000"/>
              </a:lnSpc>
            </a:pPr>
            <a:r>
              <a:rPr lang="zh-CN" altLang="en-US" sz="2400" smtClean="0"/>
              <a:t> </a:t>
            </a:r>
            <a:r>
              <a:rPr lang="en-US" altLang="zh-CN" sz="2400" smtClean="0"/>
              <a:t>Linux</a:t>
            </a:r>
            <a:r>
              <a:rPr lang="zh-CN" altLang="en-US" sz="2400" smtClean="0"/>
              <a:t>为每一个目录建立一个目录项结构，而且也为每个文件建立一个目录项结构。</a:t>
            </a:r>
          </a:p>
          <a:p>
            <a:pPr algn="just" eaLnBrk="1" hangingPunct="1">
              <a:lnSpc>
                <a:spcPct val="90000"/>
              </a:lnSpc>
            </a:pPr>
            <a:r>
              <a:rPr lang="zh-CN" altLang="en-US" sz="2400" smtClean="0"/>
              <a:t>目录项结构中包含很多信息：可以建立目录、子目录、文件之间的关系，利用目录项关系，加快文件的查找。</a:t>
            </a:r>
          </a:p>
          <a:p>
            <a:pPr algn="just" eaLnBrk="1" hangingPunct="1">
              <a:lnSpc>
                <a:spcPct val="90000"/>
              </a:lnSpc>
            </a:pPr>
            <a:endParaRPr lang="en-US" altLang="zh-CN" sz="2400" smtClean="0"/>
          </a:p>
        </p:txBody>
      </p:sp>
      <p:graphicFrame>
        <p:nvGraphicFramePr>
          <p:cNvPr id="55300" name="Object 4"/>
          <p:cNvGraphicFramePr>
            <a:graphicFrameLocks noGrp="1" noChangeAspect="1"/>
          </p:cNvGraphicFramePr>
          <p:nvPr>
            <p:ph sz="half" idx="2"/>
          </p:nvPr>
        </p:nvGraphicFramePr>
        <p:xfrm>
          <a:off x="5867400" y="1196975"/>
          <a:ext cx="2952750" cy="2195513"/>
        </p:xfrm>
        <a:graphic>
          <a:graphicData uri="http://schemas.openxmlformats.org/presentationml/2006/ole">
            <mc:AlternateContent xmlns:mc="http://schemas.openxmlformats.org/markup-compatibility/2006">
              <mc:Choice xmlns:v="urn:schemas-microsoft-com:vml" Requires="v">
                <p:oleObj spid="_x0000_s24578" name="Picture2" r:id="rId5" imgW="2819400" imgH="2095500" progId="Word.Picture.8">
                  <p:embed/>
                </p:oleObj>
              </mc:Choice>
              <mc:Fallback>
                <p:oleObj name="Picture2" r:id="rId5" imgW="2819400" imgH="2095500" progId="Word.Picture.8">
                  <p:embed/>
                  <p:pic>
                    <p:nvPicPr>
                      <p:cNvPr id="5530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1196975"/>
                        <a:ext cx="2952750" cy="2195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586658967"/>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zh-CN" smtClean="0"/>
              <a:t>VFS</a:t>
            </a:r>
            <a:r>
              <a:rPr lang="zh-CN" altLang="en-US" smtClean="0"/>
              <a:t>的目录项</a:t>
            </a:r>
            <a:r>
              <a:rPr lang="en-US" altLang="zh-CN" smtClean="0"/>
              <a:t>(</a:t>
            </a:r>
            <a:r>
              <a:rPr lang="en-US" altLang="zh-CN" b="1" smtClean="0"/>
              <a:t>dentry)</a:t>
            </a:r>
          </a:p>
        </p:txBody>
      </p:sp>
      <p:sp>
        <p:nvSpPr>
          <p:cNvPr id="56323" name="Rectangle 3"/>
          <p:cNvSpPr>
            <a:spLocks noGrp="1" noChangeArrowheads="1"/>
          </p:cNvSpPr>
          <p:nvPr>
            <p:ph type="body" idx="1"/>
          </p:nvPr>
        </p:nvSpPr>
        <p:spPr>
          <a:xfrm>
            <a:off x="914400" y="1600200"/>
            <a:ext cx="7772400" cy="5257800"/>
          </a:xfrm>
        </p:spPr>
        <p:txBody>
          <a:bodyPr/>
          <a:lstStyle/>
          <a:p>
            <a:pPr eaLnBrk="1" hangingPunct="1"/>
            <a:r>
              <a:rPr lang="zh-CN" altLang="en-US" b="1" smtClean="0"/>
              <a:t>引入</a:t>
            </a:r>
            <a:r>
              <a:rPr lang="zh-CN" altLang="en-US" b="1" smtClean="0">
                <a:solidFill>
                  <a:schemeClr val="accent2"/>
                </a:solidFill>
              </a:rPr>
              <a:t>目录项</a:t>
            </a:r>
            <a:r>
              <a:rPr lang="zh-CN" altLang="en-US" b="1" smtClean="0"/>
              <a:t>的概念主要是出于方便查找文件的目的。</a:t>
            </a:r>
          </a:p>
          <a:p>
            <a:pPr eaLnBrk="1" hangingPunct="1"/>
            <a:r>
              <a:rPr lang="zh-CN" altLang="en-US" b="1" smtClean="0"/>
              <a:t>一个路径的各个组成部分，不管是目录还是普通的文件，都是一个目录项对象。如，在路径</a:t>
            </a:r>
            <a:r>
              <a:rPr lang="en-US" altLang="zh-CN" b="1" smtClean="0"/>
              <a:t>/home/source/test.c</a:t>
            </a:r>
            <a:r>
              <a:rPr lang="zh-CN" altLang="en-US" b="1" smtClean="0"/>
              <a:t>中，目录 </a:t>
            </a:r>
            <a:r>
              <a:rPr lang="en-US" altLang="zh-CN" b="1" smtClean="0"/>
              <a:t>/, home, source</a:t>
            </a:r>
            <a:r>
              <a:rPr lang="zh-CN" altLang="en-US" b="1" smtClean="0"/>
              <a:t>和文件 </a:t>
            </a:r>
            <a:r>
              <a:rPr lang="en-US" altLang="zh-CN" b="1" smtClean="0"/>
              <a:t>test.c</a:t>
            </a:r>
            <a:r>
              <a:rPr lang="zh-CN" altLang="en-US" b="1" smtClean="0"/>
              <a:t>都对应一个目录项对象。</a:t>
            </a:r>
          </a:p>
          <a:p>
            <a:pPr eaLnBrk="1" hangingPunct="1"/>
            <a:r>
              <a:rPr lang="zh-CN" altLang="en-US" b="1" smtClean="0">
                <a:solidFill>
                  <a:schemeClr val="accent2"/>
                </a:solidFill>
              </a:rPr>
              <a:t>但是，</a:t>
            </a:r>
            <a:r>
              <a:rPr lang="zh-CN" altLang="en-US" b="1" smtClean="0"/>
              <a:t>目录项对象没有对应的磁盘数据结构，</a:t>
            </a:r>
            <a:r>
              <a:rPr lang="en-US" altLang="zh-CN" b="1" smtClean="0"/>
              <a:t>VFS</a:t>
            </a:r>
            <a:r>
              <a:rPr lang="zh-CN" altLang="en-US" b="1" smtClean="0"/>
              <a:t>在遍历路径名的过程中现场将它们逐个地解析成目录项对象。</a:t>
            </a:r>
            <a:r>
              <a:rPr lang="zh-CN" altLang="en-US" smtClean="0"/>
              <a:t> </a:t>
            </a:r>
          </a:p>
        </p:txBody>
      </p:sp>
    </p:spTree>
    <p:extLst>
      <p:ext uri="{BB962C8B-B14F-4D97-AF65-F5344CB8AC3E}">
        <p14:creationId xmlns:p14="http://schemas.microsoft.com/office/powerpoint/2010/main" val="347365755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722313" y="0"/>
            <a:ext cx="8421687" cy="836613"/>
          </a:xfrm>
          <a:noFill/>
        </p:spPr>
        <p:txBody>
          <a:bodyPr/>
          <a:lstStyle/>
          <a:p>
            <a:pPr eaLnBrk="1" hangingPunct="1"/>
            <a:r>
              <a:rPr lang="en-US" altLang="zh-CN" sz="3800" smtClean="0"/>
              <a:t>dentry</a:t>
            </a:r>
          </a:p>
        </p:txBody>
      </p:sp>
      <p:sp>
        <p:nvSpPr>
          <p:cNvPr id="57347" name="AutoShape 3"/>
          <p:cNvSpPr>
            <a:spLocks noChangeArrowheads="1"/>
          </p:cNvSpPr>
          <p:nvPr/>
        </p:nvSpPr>
        <p:spPr bwMode="auto">
          <a:xfrm>
            <a:off x="539750" y="990600"/>
            <a:ext cx="8153400" cy="5867400"/>
          </a:xfrm>
          <a:prstGeom prst="flowChartAlternateProcess">
            <a:avLst/>
          </a:prstGeom>
          <a:solidFill>
            <a:schemeClr val="accent1"/>
          </a:solidFill>
          <a:ln w="9525">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0000"/>
              </a:lnSpc>
              <a:spcBef>
                <a:spcPct val="0"/>
              </a:spcBef>
              <a:buClrTx/>
              <a:buSzTx/>
              <a:buFontTx/>
              <a:buNone/>
            </a:pPr>
            <a:r>
              <a:rPr lang="en-US" altLang="zh-CN" sz="1800">
                <a:solidFill>
                  <a:srgbClr val="000000"/>
                </a:solidFill>
                <a:latin typeface="宋体" panose="02010600030101010101" pitchFamily="2" charset="-122"/>
              </a:rPr>
              <a:t> </a:t>
            </a:r>
            <a:r>
              <a:rPr lang="en-US" altLang="zh-CN" sz="1800">
                <a:solidFill>
                  <a:srgbClr val="000000"/>
                </a:solidFill>
              </a:rPr>
              <a:t>struct dentry {</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atomic_t d_count;        /* </a:t>
            </a:r>
            <a:r>
              <a:rPr lang="zh-CN" altLang="en-US" sz="1800">
                <a:solidFill>
                  <a:srgbClr val="000000"/>
                </a:solidFill>
              </a:rPr>
              <a:t>目录项引用计数器 *</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unsigned int d_flags;    /* </a:t>
            </a:r>
            <a:r>
              <a:rPr lang="zh-CN" altLang="en-US" sz="1800">
                <a:solidFill>
                  <a:srgbClr val="000000"/>
                </a:solidFill>
              </a:rPr>
              <a:t>目录项标志 *</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a:t>
            </a:r>
            <a:r>
              <a:rPr lang="en-US" altLang="zh-CN" sz="1800">
                <a:solidFill>
                  <a:srgbClr val="0000FF"/>
                </a:solidFill>
              </a:rPr>
              <a:t>struct inode  * d_inode;   /* </a:t>
            </a:r>
            <a:r>
              <a:rPr lang="zh-CN" altLang="en-US" sz="1800">
                <a:solidFill>
                  <a:srgbClr val="0000FF"/>
                </a:solidFill>
              </a:rPr>
              <a:t>与文件名关联的索引节点 *</a:t>
            </a:r>
            <a:r>
              <a:rPr lang="en-US" altLang="zh-CN" sz="1800">
                <a:solidFill>
                  <a:srgbClr val="0000FF"/>
                </a:solidFill>
              </a:rPr>
              <a:t>/</a:t>
            </a:r>
            <a:endParaRPr lang="en-US" altLang="zh-CN" sz="1800">
              <a:solidFill>
                <a:srgbClr val="0000FF"/>
              </a:solidFill>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struct dentry * d_parent;      /* </a:t>
            </a:r>
            <a:r>
              <a:rPr lang="zh-CN" altLang="en-US" sz="1800">
                <a:solidFill>
                  <a:srgbClr val="000000"/>
                </a:solidFill>
              </a:rPr>
              <a:t>父目录的目录项 *</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struct list_head d_hash;       /* </a:t>
            </a:r>
            <a:r>
              <a:rPr lang="zh-CN" altLang="en-US" sz="1800">
                <a:solidFill>
                  <a:srgbClr val="000000"/>
                </a:solidFill>
              </a:rPr>
              <a:t>目录项形成的哈希表 *</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struct list_head d_lru;        /*</a:t>
            </a:r>
            <a:r>
              <a:rPr lang="zh-CN" altLang="en-US" sz="1800">
                <a:solidFill>
                  <a:srgbClr val="000000"/>
                </a:solidFill>
              </a:rPr>
              <a:t>未使用的 </a:t>
            </a:r>
            <a:r>
              <a:rPr lang="en-US" altLang="zh-CN" sz="1800">
                <a:solidFill>
                  <a:srgbClr val="000000"/>
                </a:solidFill>
              </a:rPr>
              <a:t>LRU </a:t>
            </a:r>
            <a:r>
              <a:rPr lang="zh-CN" altLang="en-US" sz="1800">
                <a:solidFill>
                  <a:srgbClr val="000000"/>
                </a:solidFill>
              </a:rPr>
              <a:t>链表 *</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struct list_head d_child;      /*</a:t>
            </a:r>
            <a:r>
              <a:rPr lang="zh-CN" altLang="en-US" sz="1800">
                <a:solidFill>
                  <a:srgbClr val="000000"/>
                </a:solidFill>
              </a:rPr>
              <a:t>父目录的子目录项所形成的链表 *</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struct list_head d_subdirs;    /* </a:t>
            </a:r>
            <a:r>
              <a:rPr lang="zh-CN" altLang="en-US" sz="1800">
                <a:solidFill>
                  <a:srgbClr val="000000"/>
                </a:solidFill>
              </a:rPr>
              <a:t>该目录项的子目录所形成的链表*</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struct list_head d_alias;      /* </a:t>
            </a:r>
            <a:r>
              <a:rPr lang="zh-CN" altLang="en-US" sz="1800">
                <a:solidFill>
                  <a:srgbClr val="000000"/>
                </a:solidFill>
              </a:rPr>
              <a:t>索引节点别名的链表*</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int d_mounted;                 /* </a:t>
            </a:r>
            <a:r>
              <a:rPr lang="zh-CN" altLang="en-US" sz="1800">
                <a:solidFill>
                  <a:srgbClr val="000000"/>
                </a:solidFill>
              </a:rPr>
              <a:t>目录项的安装点 *</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a:t>
            </a:r>
            <a:r>
              <a:rPr lang="en-US" altLang="zh-CN" sz="1800">
                <a:solidFill>
                  <a:srgbClr val="0000FF"/>
                </a:solidFill>
              </a:rPr>
              <a:t>struct qstr d_name;            /* </a:t>
            </a:r>
            <a:r>
              <a:rPr lang="zh-CN" altLang="en-US" sz="1800">
                <a:solidFill>
                  <a:srgbClr val="0000FF"/>
                </a:solidFill>
              </a:rPr>
              <a:t>目录项名（可快速查找） *</a:t>
            </a:r>
            <a:r>
              <a:rPr lang="en-US" altLang="zh-CN" sz="1800">
                <a:solidFill>
                  <a:srgbClr val="0000FF"/>
                </a:solidFill>
              </a:rPr>
              <a:t>/</a:t>
            </a:r>
            <a:endParaRPr lang="en-US" altLang="zh-CN" sz="1800">
              <a:solidFill>
                <a:srgbClr val="0000FF"/>
              </a:solidFill>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a:t>
            </a:r>
            <a:r>
              <a:rPr lang="en-US" altLang="zh-CN" sz="1800">
                <a:solidFill>
                  <a:schemeClr val="accent2"/>
                </a:solidFill>
              </a:rPr>
              <a:t>struct dentry_operations  *d_op;/* </a:t>
            </a:r>
            <a:r>
              <a:rPr lang="zh-CN" altLang="en-US" sz="1800">
                <a:solidFill>
                  <a:schemeClr val="accent2"/>
                </a:solidFill>
              </a:rPr>
              <a:t>操作目录项的函数*</a:t>
            </a:r>
            <a:r>
              <a:rPr lang="en-US" altLang="zh-CN" sz="1800">
                <a:solidFill>
                  <a:schemeClr val="accent2"/>
                </a:solidFill>
              </a:rPr>
              <a:t>/</a:t>
            </a:r>
            <a:endParaRPr lang="en-US" altLang="zh-CN" sz="1800">
              <a:solidFill>
                <a:schemeClr val="accent2"/>
              </a:solidFill>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struct super_block * d_sb;    /* </a:t>
            </a:r>
            <a:r>
              <a:rPr lang="zh-CN" altLang="en-US" sz="1800">
                <a:solidFill>
                  <a:srgbClr val="000000"/>
                </a:solidFill>
              </a:rPr>
              <a:t>目录项树的根（即文件的超级块）*</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unsigned long d_vfs_flags;   </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   void * d_fsdata;               /* </a:t>
            </a:r>
            <a:r>
              <a:rPr lang="zh-CN" altLang="en-US" sz="1800">
                <a:solidFill>
                  <a:srgbClr val="000000"/>
                </a:solidFill>
              </a:rPr>
              <a:t>具体文件系统的数据 *</a:t>
            </a: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a:t>
            </a:r>
            <a:endParaRPr lang="en-US" altLang="zh-CN" sz="1800">
              <a:cs typeface="Times New Roman" panose="02020603050405020304" pitchFamily="18" charset="0"/>
            </a:endParaRPr>
          </a:p>
          <a:p>
            <a:pPr algn="l" eaLnBrk="1" hangingPunct="1">
              <a:lnSpc>
                <a:spcPct val="110000"/>
              </a:lnSpc>
              <a:spcBef>
                <a:spcPct val="0"/>
              </a:spcBef>
              <a:buClrTx/>
              <a:buSzTx/>
              <a:buFontTx/>
              <a:buNone/>
            </a:pPr>
            <a:r>
              <a:rPr lang="en-US" altLang="zh-CN" sz="1800">
                <a:solidFill>
                  <a:srgbClr val="000000"/>
                </a:solidFill>
              </a:rPr>
              <a:t>};</a:t>
            </a:r>
          </a:p>
        </p:txBody>
      </p:sp>
    </p:spTree>
    <p:extLst>
      <p:ext uri="{BB962C8B-B14F-4D97-AF65-F5344CB8AC3E}">
        <p14:creationId xmlns:p14="http://schemas.microsoft.com/office/powerpoint/2010/main" val="395692730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70" name="Object 2"/>
          <p:cNvGraphicFramePr>
            <a:graphicFrameLocks noChangeAspect="1"/>
          </p:cNvGraphicFramePr>
          <p:nvPr/>
        </p:nvGraphicFramePr>
        <p:xfrm>
          <a:off x="468313" y="1628775"/>
          <a:ext cx="8113712" cy="3567113"/>
        </p:xfrm>
        <a:graphic>
          <a:graphicData uri="http://schemas.openxmlformats.org/presentationml/2006/ole">
            <mc:AlternateContent xmlns:mc="http://schemas.openxmlformats.org/markup-compatibility/2006">
              <mc:Choice xmlns:v="urn:schemas-microsoft-com:vml" Requires="v">
                <p:oleObj spid="_x0000_s25602" name="Visio" r:id="rId3" imgW="4733960" imgH="2095359" progId="Visio.Drawing.6">
                  <p:embed/>
                </p:oleObj>
              </mc:Choice>
              <mc:Fallback>
                <p:oleObj name="Visio" r:id="rId3" imgW="4733960" imgH="2095359" progId="Visio.Drawing.6">
                  <p:embed/>
                  <p:pic>
                    <p:nvPicPr>
                      <p:cNvPr id="5837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628775"/>
                        <a:ext cx="8113712" cy="3567113"/>
                      </a:xfrm>
                      <a:prstGeom prst="rect">
                        <a:avLst/>
                      </a:prstGeom>
                      <a:solidFill>
                        <a:srgbClr val="CCFFFF"/>
                      </a:solidFill>
                      <a:ln>
                        <a:noFill/>
                      </a:ln>
                      <a:effectLst/>
                      <a:extLst>
                        <a:ext uri="{91240B29-F687-4F45-9708-019B960494DF}">
                          <a14:hiddenLine xmlns:a14="http://schemas.microsoft.com/office/drawing/2010/main" w="57150" cmpd="thinThick">
                            <a:solidFill>
                              <a:srgbClr val="000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1" name="Rectangle 3"/>
          <p:cNvSpPr>
            <a:spLocks noGrp="1" noChangeArrowheads="1"/>
          </p:cNvSpPr>
          <p:nvPr>
            <p:ph type="title"/>
          </p:nvPr>
        </p:nvSpPr>
        <p:spPr>
          <a:xfrm>
            <a:off x="381000" y="0"/>
            <a:ext cx="8421688" cy="1241425"/>
          </a:xfrm>
          <a:noFill/>
        </p:spPr>
        <p:txBody>
          <a:bodyPr/>
          <a:lstStyle/>
          <a:p>
            <a:pPr eaLnBrk="1" hangingPunct="1"/>
            <a:r>
              <a:rPr lang="en-US" altLang="zh-CN" smtClean="0"/>
              <a:t>dentry</a:t>
            </a:r>
          </a:p>
        </p:txBody>
      </p:sp>
    </p:spTree>
    <p:extLst>
      <p:ext uri="{BB962C8B-B14F-4D97-AF65-F5344CB8AC3E}">
        <p14:creationId xmlns:p14="http://schemas.microsoft.com/office/powerpoint/2010/main" val="39570076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381000" y="0"/>
            <a:ext cx="8421688" cy="1241425"/>
          </a:xfrm>
          <a:noFill/>
        </p:spPr>
        <p:txBody>
          <a:bodyPr/>
          <a:lstStyle/>
          <a:p>
            <a:pPr eaLnBrk="1" hangingPunct="1"/>
            <a:r>
              <a:rPr lang="en-US" altLang="zh-CN" smtClean="0"/>
              <a:t>dentry</a:t>
            </a:r>
          </a:p>
        </p:txBody>
      </p:sp>
      <p:sp>
        <p:nvSpPr>
          <p:cNvPr id="59395" name="Rectangle 3"/>
          <p:cNvSpPr>
            <a:spLocks noChangeArrowheads="1"/>
          </p:cNvSpPr>
          <p:nvPr/>
        </p:nvSpPr>
        <p:spPr bwMode="auto">
          <a:xfrm>
            <a:off x="468313" y="1484313"/>
            <a:ext cx="8351837" cy="350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Char char="•"/>
            </a:pPr>
            <a:r>
              <a:rPr lang="en-US" altLang="zh-CN" sz="3200">
                <a:solidFill>
                  <a:srgbClr val="0000FF"/>
                </a:solidFill>
              </a:rPr>
              <a:t>VFS inode</a:t>
            </a:r>
            <a:r>
              <a:rPr lang="zh-CN" altLang="en-US" sz="3200">
                <a:solidFill>
                  <a:srgbClr val="0000FF"/>
                </a:solidFill>
              </a:rPr>
              <a:t>和它的目录项合起来，</a:t>
            </a:r>
            <a:r>
              <a:rPr lang="zh-CN" altLang="en-US" sz="3200">
                <a:solidFill>
                  <a:schemeClr val="accent2"/>
                </a:solidFill>
              </a:rPr>
              <a:t>才能完整地表示一个文件或者目录。</a:t>
            </a:r>
          </a:p>
          <a:p>
            <a:pPr algn="l" eaLnBrk="1" hangingPunct="1">
              <a:spcBef>
                <a:spcPct val="0"/>
              </a:spcBef>
              <a:buClrTx/>
              <a:buSzTx/>
              <a:buFontTx/>
              <a:buNone/>
            </a:pPr>
            <a:r>
              <a:rPr lang="zh-CN" altLang="en-US" sz="3200">
                <a:solidFill>
                  <a:srgbClr val="0000FF"/>
                </a:solidFill>
              </a:rPr>
              <a:t>注意：目录项在磁盘没有对应的映像，所以在</a:t>
            </a:r>
          </a:p>
          <a:p>
            <a:pPr algn="l" eaLnBrk="1" hangingPunct="1">
              <a:spcBef>
                <a:spcPct val="0"/>
              </a:spcBef>
              <a:buClrTx/>
              <a:buSzTx/>
              <a:buFontTx/>
              <a:buNone/>
            </a:pPr>
            <a:r>
              <a:rPr lang="en-US" altLang="zh-CN" sz="3200">
                <a:solidFill>
                  <a:srgbClr val="0000FF"/>
                </a:solidFill>
              </a:rPr>
              <a:t>Dentry</a:t>
            </a:r>
            <a:r>
              <a:rPr lang="zh-CN" altLang="en-US" sz="3200">
                <a:solidFill>
                  <a:srgbClr val="0000FF"/>
                </a:solidFill>
              </a:rPr>
              <a:t>中不包含</a:t>
            </a:r>
            <a:r>
              <a:rPr lang="zh-CN" altLang="en-US" sz="3200">
                <a:solidFill>
                  <a:srgbClr val="0000FF"/>
                </a:solidFill>
                <a:latin typeface="Helvetica" panose="020B0604020202020204" pitchFamily="34" charset="0"/>
              </a:rPr>
              <a:t>“</a:t>
            </a:r>
            <a:r>
              <a:rPr lang="zh-CN" altLang="en-US" sz="3200">
                <a:solidFill>
                  <a:srgbClr val="0000FF"/>
                </a:solidFill>
              </a:rPr>
              <a:t>脏</a:t>
            </a:r>
            <a:r>
              <a:rPr lang="zh-CN" altLang="en-US" sz="3200">
                <a:solidFill>
                  <a:srgbClr val="0000FF"/>
                </a:solidFill>
                <a:latin typeface="Helvetica" panose="020B0604020202020204" pitchFamily="34" charset="0"/>
              </a:rPr>
              <a:t>”</a:t>
            </a:r>
            <a:r>
              <a:rPr lang="zh-CN" altLang="en-US" sz="3200">
                <a:solidFill>
                  <a:srgbClr val="0000FF"/>
                </a:solidFill>
              </a:rPr>
              <a:t>域</a:t>
            </a:r>
          </a:p>
          <a:p>
            <a:pPr algn="l" eaLnBrk="1" hangingPunct="1">
              <a:spcBef>
                <a:spcPct val="0"/>
              </a:spcBef>
              <a:buClrTx/>
              <a:buSzTx/>
              <a:buFontTx/>
              <a:buNone/>
            </a:pPr>
            <a:r>
              <a:rPr lang="zh-CN" altLang="en-US" sz="3200"/>
              <a:t>为了加快文件的查找，每一个曾被读取的目录或文件都可能在目录高速缓存（</a:t>
            </a:r>
            <a:r>
              <a:rPr lang="en-US" altLang="zh-CN" sz="3200"/>
              <a:t>directory cache</a:t>
            </a:r>
            <a:r>
              <a:rPr lang="zh-CN" altLang="en-US" sz="3200"/>
              <a:t>）中有一个</a:t>
            </a:r>
            <a:r>
              <a:rPr lang="en-US" altLang="zh-CN" sz="3200"/>
              <a:t>dentry</a:t>
            </a:r>
            <a:r>
              <a:rPr lang="zh-CN" altLang="en-US" sz="3200"/>
              <a:t>项；</a:t>
            </a:r>
            <a:endParaRPr lang="zh-CN" altLang="en-US" sz="3200">
              <a:solidFill>
                <a:srgbClr val="0000FF"/>
              </a:solidFill>
            </a:endParaRPr>
          </a:p>
        </p:txBody>
      </p:sp>
    </p:spTree>
    <p:extLst>
      <p:ext uri="{BB962C8B-B14F-4D97-AF65-F5344CB8AC3E}">
        <p14:creationId xmlns:p14="http://schemas.microsoft.com/office/powerpoint/2010/main" val="389213035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219200" y="228600"/>
            <a:ext cx="7924800" cy="569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1" lang="zh-CN" altLang="en-US" sz="3200" b="1">
                <a:solidFill>
                  <a:schemeClr val="accent2"/>
                </a:solidFill>
                <a:latin typeface="宋体" panose="02010600030101010101" pitchFamily="2" charset="-122"/>
              </a:rPr>
              <a:t>目录项</a:t>
            </a:r>
            <a:r>
              <a:rPr kumimoji="1" lang="en-US" altLang="zh-CN" sz="3200" b="1">
                <a:solidFill>
                  <a:schemeClr val="accent2"/>
                </a:solidFill>
                <a:latin typeface="宋体" panose="02010600030101010101" pitchFamily="2" charset="-122"/>
              </a:rPr>
              <a:t>dentry</a:t>
            </a:r>
            <a:r>
              <a:rPr kumimoji="1" lang="zh-CN" altLang="en-US" sz="3200" b="1">
                <a:solidFill>
                  <a:schemeClr val="accent2"/>
                </a:solidFill>
                <a:latin typeface="宋体" panose="02010600030101010101" pitchFamily="2" charset="-122"/>
              </a:rPr>
              <a:t>操作</a:t>
            </a:r>
          </a:p>
          <a:p>
            <a:pPr eaLnBrk="1" hangingPunct="1">
              <a:spcBef>
                <a:spcPct val="0"/>
              </a:spcBef>
              <a:buClrTx/>
              <a:buSzTx/>
              <a:buFontTx/>
              <a:buNone/>
            </a:pPr>
            <a:r>
              <a:rPr kumimoji="1" lang="en-US" altLang="zh-CN" b="1">
                <a:solidFill>
                  <a:srgbClr val="0000FF"/>
                </a:solidFill>
                <a:ea typeface="楷体_GB2312" pitchFamily="49" charset="-122"/>
              </a:rPr>
              <a:t>struct   </a:t>
            </a:r>
            <a:r>
              <a:rPr kumimoji="1" lang="en-US" altLang="zh-CN" b="1">
                <a:solidFill>
                  <a:srgbClr val="0000FF"/>
                </a:solidFill>
                <a:ea typeface="楷体_GB2312" pitchFamily="49" charset="-122"/>
                <a:hlinkClick r:id="rId3" action="ppaction://hlinkfile"/>
              </a:rPr>
              <a:t>dentry_operations</a:t>
            </a:r>
            <a:r>
              <a:rPr kumimoji="1" lang="en-US" altLang="zh-CN" b="1">
                <a:solidFill>
                  <a:srgbClr val="0000FF"/>
                </a:solidFill>
                <a:ea typeface="楷体_GB2312" pitchFamily="49" charset="-122"/>
              </a:rPr>
              <a:t> </a:t>
            </a:r>
            <a:r>
              <a:rPr kumimoji="1" lang="en-US" altLang="zh-CN" b="1">
                <a:ea typeface="楷体_GB2312" pitchFamily="49" charset="-122"/>
              </a:rPr>
              <a:t>{</a:t>
            </a:r>
          </a:p>
          <a:p>
            <a:pPr eaLnBrk="1" hangingPunct="1">
              <a:spcBef>
                <a:spcPct val="0"/>
              </a:spcBef>
              <a:buClrTx/>
              <a:buSzTx/>
              <a:buFontTx/>
              <a:buNone/>
            </a:pPr>
            <a:r>
              <a:rPr kumimoji="1" lang="en-US" altLang="zh-CN" b="1">
                <a:ea typeface="楷体_GB2312" pitchFamily="49" charset="-122"/>
              </a:rPr>
              <a:t>  int (*d_revalidate)(struct dentry *, int);</a:t>
            </a:r>
          </a:p>
          <a:p>
            <a:pPr eaLnBrk="1" hangingPunct="1">
              <a:spcBef>
                <a:spcPct val="0"/>
              </a:spcBef>
              <a:buClrTx/>
              <a:buSzTx/>
              <a:buFontTx/>
              <a:buNone/>
            </a:pPr>
            <a:r>
              <a:rPr kumimoji="1" lang="en-US" altLang="zh-CN" b="1">
                <a:ea typeface="楷体_GB2312" pitchFamily="49" charset="-122"/>
              </a:rPr>
              <a:t>  int (*d_hash) (struct dentry *, struct qstr *);</a:t>
            </a:r>
          </a:p>
          <a:p>
            <a:pPr eaLnBrk="1" hangingPunct="1">
              <a:spcBef>
                <a:spcPct val="0"/>
              </a:spcBef>
              <a:buClrTx/>
              <a:buSzTx/>
              <a:buFontTx/>
              <a:buNone/>
            </a:pPr>
            <a:r>
              <a:rPr kumimoji="1" lang="en-US" altLang="zh-CN" b="1">
                <a:ea typeface="楷体_GB2312" pitchFamily="49" charset="-122"/>
              </a:rPr>
              <a:t>  int (*d_compare) (struct dentry *,</a:t>
            </a:r>
          </a:p>
          <a:p>
            <a:pPr eaLnBrk="1" hangingPunct="1">
              <a:spcBef>
                <a:spcPct val="0"/>
              </a:spcBef>
              <a:buClrTx/>
              <a:buSzTx/>
              <a:buFontTx/>
              <a:buNone/>
            </a:pPr>
            <a:r>
              <a:rPr kumimoji="1" lang="en-US" altLang="zh-CN" b="1">
                <a:ea typeface="楷体_GB2312" pitchFamily="49" charset="-122"/>
              </a:rPr>
              <a:t>                    struct qstr *, struct qstr *);</a:t>
            </a:r>
          </a:p>
          <a:p>
            <a:pPr eaLnBrk="1" hangingPunct="1">
              <a:spcBef>
                <a:spcPct val="0"/>
              </a:spcBef>
              <a:buClrTx/>
              <a:buSzTx/>
              <a:buFontTx/>
              <a:buNone/>
            </a:pPr>
            <a:r>
              <a:rPr kumimoji="1" lang="en-US" altLang="zh-CN" b="1">
                <a:ea typeface="楷体_GB2312" pitchFamily="49" charset="-122"/>
              </a:rPr>
              <a:t>	......</a:t>
            </a:r>
          </a:p>
          <a:p>
            <a:pPr eaLnBrk="1" hangingPunct="1">
              <a:spcBef>
                <a:spcPct val="0"/>
              </a:spcBef>
              <a:buClrTx/>
              <a:buSzTx/>
              <a:buFontTx/>
              <a:buNone/>
            </a:pPr>
            <a:r>
              <a:rPr kumimoji="1" lang="en-US" altLang="zh-CN" b="1">
                <a:ea typeface="楷体_GB2312" pitchFamily="49" charset="-122"/>
              </a:rPr>
              <a:t>}</a:t>
            </a:r>
            <a:r>
              <a:rPr kumimoji="1" lang="en-US" altLang="zh-CN" b="1"/>
              <a:t>;</a:t>
            </a:r>
            <a:endParaRPr kumimoji="1" lang="en-US" altLang="zh-CN" b="1">
              <a:ea typeface="楷体_GB2312" pitchFamily="49" charset="-122"/>
            </a:endParaRPr>
          </a:p>
          <a:p>
            <a:pPr eaLnBrk="1" hangingPunct="1">
              <a:spcBef>
                <a:spcPct val="0"/>
              </a:spcBef>
              <a:buClrTx/>
              <a:buSzTx/>
              <a:buFontTx/>
              <a:buNone/>
            </a:pPr>
            <a:r>
              <a:rPr kumimoji="1" lang="en-US" altLang="zh-CN" sz="2800" b="1">
                <a:solidFill>
                  <a:schemeClr val="tx2"/>
                </a:solidFill>
                <a:ea typeface="楷体_GB2312" pitchFamily="49" charset="-122"/>
              </a:rPr>
              <a:t>d_revalidate:</a:t>
            </a:r>
            <a:r>
              <a:rPr kumimoji="1" lang="en-US" altLang="zh-CN" sz="2800" b="1">
                <a:ea typeface="楷体_GB2312" pitchFamily="49" charset="-122"/>
              </a:rPr>
              <a:t> </a:t>
            </a:r>
            <a:r>
              <a:rPr kumimoji="1" lang="zh-CN" altLang="en-US" sz="2800" b="1">
                <a:ea typeface="楷体_GB2312" pitchFamily="49" charset="-122"/>
              </a:rPr>
              <a:t>检查</a:t>
            </a:r>
            <a:r>
              <a:rPr kumimoji="1" lang="en-US" altLang="zh-CN" sz="2800" b="1">
                <a:ea typeface="楷体_GB2312" pitchFamily="49" charset="-122"/>
              </a:rPr>
              <a:t>dentry cache</a:t>
            </a:r>
            <a:r>
              <a:rPr kumimoji="1" lang="zh-CN" altLang="en-US" sz="2800" b="1">
                <a:ea typeface="楷体_GB2312" pitchFamily="49" charset="-122"/>
              </a:rPr>
              <a:t>中的</a:t>
            </a:r>
            <a:r>
              <a:rPr kumimoji="1" lang="en-US" altLang="zh-CN" sz="2800" b="1">
                <a:ea typeface="楷体_GB2312" pitchFamily="49" charset="-122"/>
              </a:rPr>
              <a:t>dentry</a:t>
            </a:r>
            <a:r>
              <a:rPr kumimoji="1" lang="zh-CN" altLang="en-US" sz="2800" b="1">
                <a:ea typeface="楷体_GB2312" pitchFamily="49" charset="-122"/>
              </a:rPr>
              <a:t>是</a:t>
            </a:r>
          </a:p>
          <a:p>
            <a:pPr eaLnBrk="1" hangingPunct="1">
              <a:spcBef>
                <a:spcPct val="0"/>
              </a:spcBef>
              <a:buClrTx/>
              <a:buSzTx/>
              <a:buFontTx/>
              <a:buNone/>
            </a:pPr>
            <a:r>
              <a:rPr kumimoji="1" lang="zh-CN" altLang="en-US" sz="2800" b="1">
                <a:ea typeface="楷体_GB2312" pitchFamily="49" charset="-122"/>
              </a:rPr>
              <a:t>              否是最新的。</a:t>
            </a:r>
          </a:p>
          <a:p>
            <a:pPr eaLnBrk="1" hangingPunct="1">
              <a:spcBef>
                <a:spcPct val="0"/>
              </a:spcBef>
              <a:buClrTx/>
              <a:buSzTx/>
              <a:buFontTx/>
              <a:buNone/>
            </a:pPr>
            <a:r>
              <a:rPr kumimoji="1" lang="en-US" altLang="zh-CN" sz="2800" b="1">
                <a:solidFill>
                  <a:schemeClr val="tx2"/>
                </a:solidFill>
                <a:ea typeface="楷体_GB2312" pitchFamily="49" charset="-122"/>
              </a:rPr>
              <a:t>d_hash:</a:t>
            </a:r>
            <a:r>
              <a:rPr kumimoji="1" lang="zh-CN" altLang="en-US" sz="2800" b="1">
                <a:ea typeface="楷体_GB2312" pitchFamily="49" charset="-122"/>
              </a:rPr>
              <a:t>计算文件名的</a:t>
            </a:r>
            <a:r>
              <a:rPr kumimoji="1" lang="en-US" altLang="zh-CN" sz="2800" b="1">
                <a:ea typeface="楷体_GB2312" pitchFamily="49" charset="-122"/>
              </a:rPr>
              <a:t>hash</a:t>
            </a:r>
            <a:r>
              <a:rPr kumimoji="1" lang="zh-CN" altLang="en-US" sz="2800" b="1">
                <a:ea typeface="楷体_GB2312" pitchFamily="49" charset="-122"/>
              </a:rPr>
              <a:t>值。第一个参数是父目</a:t>
            </a:r>
          </a:p>
          <a:p>
            <a:pPr eaLnBrk="1" hangingPunct="1">
              <a:spcBef>
                <a:spcPct val="0"/>
              </a:spcBef>
              <a:buClrTx/>
              <a:buSzTx/>
              <a:buFontTx/>
              <a:buNone/>
            </a:pPr>
            <a:r>
              <a:rPr kumimoji="1" lang="zh-CN" altLang="en-US" sz="2800" b="1">
                <a:ea typeface="楷体_GB2312" pitchFamily="49" charset="-122"/>
              </a:rPr>
              <a:t>       录</a:t>
            </a:r>
            <a:r>
              <a:rPr kumimoji="1" lang="en-US" altLang="zh-CN" sz="2800" b="1">
                <a:ea typeface="楷体_GB2312" pitchFamily="49" charset="-122"/>
              </a:rPr>
              <a:t>,</a:t>
            </a:r>
            <a:r>
              <a:rPr kumimoji="1" lang="zh-CN" altLang="en-US" sz="2800" b="1">
                <a:ea typeface="楷体_GB2312" pitchFamily="49" charset="-122"/>
              </a:rPr>
              <a:t>第二个参数包含了预设的文件名。</a:t>
            </a:r>
          </a:p>
          <a:p>
            <a:pPr eaLnBrk="1" hangingPunct="1">
              <a:spcBef>
                <a:spcPct val="0"/>
              </a:spcBef>
              <a:buClrTx/>
              <a:buSzTx/>
              <a:buFontTx/>
              <a:buNone/>
            </a:pPr>
            <a:r>
              <a:rPr kumimoji="1" lang="en-US" altLang="zh-CN" sz="2800" b="1">
                <a:solidFill>
                  <a:schemeClr val="tx2"/>
                </a:solidFill>
                <a:ea typeface="楷体_GB2312" pitchFamily="49" charset="-122"/>
              </a:rPr>
              <a:t>d_compare:</a:t>
            </a:r>
            <a:r>
              <a:rPr kumimoji="1" lang="en-US" altLang="zh-CN" sz="2800" b="1">
                <a:ea typeface="楷体_GB2312" pitchFamily="49" charset="-122"/>
              </a:rPr>
              <a:t> </a:t>
            </a:r>
            <a:r>
              <a:rPr kumimoji="1" lang="zh-CN" altLang="en-US" sz="2800" b="1">
                <a:ea typeface="楷体_GB2312" pitchFamily="49" charset="-122"/>
              </a:rPr>
              <a:t>比较一个目录下的两个文件名是否相</a:t>
            </a:r>
          </a:p>
          <a:p>
            <a:pPr eaLnBrk="1" hangingPunct="1">
              <a:spcBef>
                <a:spcPct val="0"/>
              </a:spcBef>
              <a:buClrTx/>
              <a:buSzTx/>
              <a:buFontTx/>
              <a:buNone/>
            </a:pPr>
            <a:r>
              <a:rPr kumimoji="1" lang="zh-CN" altLang="en-US" sz="2800" b="1">
                <a:ea typeface="楷体_GB2312" pitchFamily="49" charset="-122"/>
              </a:rPr>
              <a:t>           等。如文件名是否区分大小写。</a:t>
            </a:r>
          </a:p>
        </p:txBody>
      </p:sp>
    </p:spTree>
    <p:extLst>
      <p:ext uri="{BB962C8B-B14F-4D97-AF65-F5344CB8AC3E}">
        <p14:creationId xmlns:p14="http://schemas.microsoft.com/office/powerpoint/2010/main" val="178953223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a:xfrm>
            <a:off x="468313" y="1236663"/>
            <a:ext cx="8351837" cy="5072062"/>
          </a:xfrm>
          <a:solidFill>
            <a:srgbClr val="CCFFFF"/>
          </a:solidFill>
        </p:spPr>
        <p:txBody>
          <a:bodyPr/>
          <a:lstStyle/>
          <a:p>
            <a:pPr algn="just" eaLnBrk="1" hangingPunct="1">
              <a:buFont typeface="Wingdings" panose="05000000000000000000" pitchFamily="2" charset="2"/>
              <a:buNone/>
            </a:pPr>
            <a:endParaRPr lang="en-US" altLang="zh-CN" sz="3600" b="1" smtClean="0">
              <a:solidFill>
                <a:schemeClr val="accent2"/>
              </a:solidFill>
              <a:latin typeface="Times New Roman" panose="02020603050405020304" pitchFamily="18" charset="0"/>
            </a:endParaRPr>
          </a:p>
          <a:p>
            <a:pPr algn="just" eaLnBrk="1" hangingPunct="1">
              <a:buFont typeface="Wingdings" panose="05000000000000000000" pitchFamily="2" charset="2"/>
              <a:buNone/>
            </a:pPr>
            <a:r>
              <a:rPr lang="en-US" altLang="zh-CN" sz="3200" smtClean="0">
                <a:latin typeface="Times New Roman" panose="02020603050405020304" pitchFamily="18" charset="0"/>
                <a:ea typeface="楷体_GB2312" pitchFamily="49" charset="-122"/>
              </a:rPr>
              <a:t> </a:t>
            </a:r>
            <a:r>
              <a:rPr lang="en-US" altLang="zh-CN" sz="2400" b="1" smtClean="0">
                <a:latin typeface="Times New Roman" panose="02020603050405020304" pitchFamily="18" charset="0"/>
                <a:ea typeface="楷体_GB2312" pitchFamily="49" charset="-122"/>
              </a:rPr>
              <a:t>struct  </a:t>
            </a:r>
            <a:r>
              <a:rPr lang="en-US" altLang="zh-CN" sz="2400" b="1" smtClean="0">
                <a:latin typeface="Times New Roman" panose="02020603050405020304" pitchFamily="18" charset="0"/>
                <a:ea typeface="楷体_GB2312" pitchFamily="49" charset="-122"/>
                <a:hlinkClick r:id="rId2" action="ppaction://hlinkfile"/>
              </a:rPr>
              <a:t>file_operations</a:t>
            </a:r>
            <a:r>
              <a:rPr lang="en-US" altLang="zh-CN" sz="2400" b="1" smtClean="0">
                <a:latin typeface="Times New Roman" panose="02020603050405020304" pitchFamily="18" charset="0"/>
                <a:ea typeface="楷体_GB2312" pitchFamily="49" charset="-122"/>
              </a:rPr>
              <a:t> {</a:t>
            </a:r>
          </a:p>
          <a:p>
            <a:pPr algn="just" eaLnBrk="1" hangingPunct="1">
              <a:buFont typeface="Wingdings" panose="05000000000000000000" pitchFamily="2" charset="2"/>
              <a:buNone/>
            </a:pPr>
            <a:r>
              <a:rPr lang="en-US" altLang="zh-CN" sz="2400" b="1" smtClean="0">
                <a:latin typeface="Times New Roman" panose="02020603050405020304" pitchFamily="18" charset="0"/>
                <a:ea typeface="楷体_GB2312" pitchFamily="49" charset="-122"/>
              </a:rPr>
              <a:t>	loff_t (*llseek) (struct file *, loff_t, int);</a:t>
            </a:r>
          </a:p>
          <a:p>
            <a:pPr algn="just" eaLnBrk="1" hangingPunct="1">
              <a:buFont typeface="Wingdings" panose="05000000000000000000" pitchFamily="2" charset="2"/>
              <a:buNone/>
            </a:pPr>
            <a:r>
              <a:rPr lang="en-US" altLang="zh-CN" sz="2400" b="1" smtClean="0">
                <a:latin typeface="Times New Roman" panose="02020603050405020304" pitchFamily="18" charset="0"/>
                <a:ea typeface="楷体_GB2312" pitchFamily="49" charset="-122"/>
              </a:rPr>
              <a:t>	ssize_t (*read) (struct file *, char *, size_t, loff_t *);</a:t>
            </a:r>
          </a:p>
          <a:p>
            <a:pPr algn="just" eaLnBrk="1" hangingPunct="1">
              <a:buFont typeface="Wingdings" panose="05000000000000000000" pitchFamily="2" charset="2"/>
              <a:buNone/>
            </a:pPr>
            <a:r>
              <a:rPr lang="en-US" altLang="zh-CN" sz="2400" b="1" smtClean="0">
                <a:latin typeface="Times New Roman" panose="02020603050405020304" pitchFamily="18" charset="0"/>
                <a:ea typeface="楷体_GB2312" pitchFamily="49" charset="-122"/>
              </a:rPr>
              <a:t>	ssize_t (*write) (struct file *, const char *, size_t, loff_t *);</a:t>
            </a:r>
          </a:p>
          <a:p>
            <a:pPr algn="just" eaLnBrk="1" hangingPunct="1">
              <a:buFont typeface="Wingdings" panose="05000000000000000000" pitchFamily="2" charset="2"/>
              <a:buNone/>
            </a:pPr>
            <a:r>
              <a:rPr lang="en-US" altLang="zh-CN" sz="2400" b="1" smtClean="0">
                <a:latin typeface="Times New Roman" panose="02020603050405020304" pitchFamily="18" charset="0"/>
                <a:ea typeface="楷体_GB2312" pitchFamily="49" charset="-122"/>
              </a:rPr>
              <a:t>	int (*mmap) (struct file *, struct vm_area_struct *);</a:t>
            </a:r>
          </a:p>
          <a:p>
            <a:pPr algn="just" eaLnBrk="1" hangingPunct="1">
              <a:buFont typeface="Wingdings" panose="05000000000000000000" pitchFamily="2" charset="2"/>
              <a:buNone/>
            </a:pPr>
            <a:r>
              <a:rPr lang="en-US" altLang="zh-CN" sz="2400" b="1" smtClean="0">
                <a:latin typeface="Times New Roman" panose="02020603050405020304" pitchFamily="18" charset="0"/>
                <a:ea typeface="楷体_GB2312" pitchFamily="49" charset="-122"/>
              </a:rPr>
              <a:t>	int (*open) (struct inode *, struct file *);</a:t>
            </a:r>
          </a:p>
          <a:p>
            <a:pPr algn="just" eaLnBrk="1" hangingPunct="1">
              <a:buFont typeface="Wingdings" panose="05000000000000000000" pitchFamily="2" charset="2"/>
              <a:buNone/>
            </a:pPr>
            <a:r>
              <a:rPr lang="en-US" altLang="zh-CN" b="1" smtClean="0">
                <a:latin typeface="Times New Roman" panose="02020603050405020304" pitchFamily="18" charset="0"/>
                <a:ea typeface="楷体_GB2312" pitchFamily="49" charset="-122"/>
              </a:rPr>
              <a:t>	......</a:t>
            </a:r>
          </a:p>
          <a:p>
            <a:pPr algn="just" eaLnBrk="1" hangingPunct="1">
              <a:buFont typeface="Wingdings" panose="05000000000000000000" pitchFamily="2" charset="2"/>
              <a:buNone/>
            </a:pPr>
            <a:r>
              <a:rPr lang="en-US" altLang="zh-CN" b="1" smtClean="0">
                <a:latin typeface="Times New Roman" panose="02020603050405020304" pitchFamily="18" charset="0"/>
                <a:ea typeface="楷体_GB2312" pitchFamily="49" charset="-122"/>
              </a:rPr>
              <a:t>}; </a:t>
            </a:r>
            <a:endParaRPr kumimoji="1" lang="en-US" altLang="zh-CN" sz="2400" b="1" smtClean="0">
              <a:solidFill>
                <a:srgbClr val="0000FF"/>
              </a:solidFill>
            </a:endParaRPr>
          </a:p>
          <a:p>
            <a:pPr algn="just" eaLnBrk="1" hangingPunct="1">
              <a:buFont typeface="Wingdings" panose="05000000000000000000" pitchFamily="2" charset="2"/>
              <a:buNone/>
            </a:pPr>
            <a:endParaRPr lang="en-US" altLang="zh-CN" sz="3600" b="1" smtClean="0">
              <a:latin typeface="Times New Roman" panose="02020603050405020304" pitchFamily="18" charset="0"/>
            </a:endParaRPr>
          </a:p>
        </p:txBody>
      </p:sp>
      <p:sp>
        <p:nvSpPr>
          <p:cNvPr id="61443" name="Rectangle 3"/>
          <p:cNvSpPr>
            <a:spLocks noChangeArrowheads="1"/>
          </p:cNvSpPr>
          <p:nvPr/>
        </p:nvSpPr>
        <p:spPr bwMode="auto">
          <a:xfrm>
            <a:off x="1763713" y="404813"/>
            <a:ext cx="655320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80000"/>
              </a:lnSpc>
            </a:pPr>
            <a:r>
              <a:rPr lang="zh-CN" altLang="en-US" sz="3600" b="1">
                <a:solidFill>
                  <a:schemeClr val="accent2"/>
                </a:solidFill>
              </a:rPr>
              <a:t>文件 操作</a:t>
            </a:r>
            <a:r>
              <a:rPr lang="en-US" altLang="zh-CN" sz="3600" b="1">
                <a:solidFill>
                  <a:schemeClr val="accent2"/>
                </a:solidFill>
              </a:rPr>
              <a:t>struct file_operations</a:t>
            </a:r>
          </a:p>
        </p:txBody>
      </p:sp>
    </p:spTree>
    <p:extLst>
      <p:ext uri="{BB962C8B-B14F-4D97-AF65-F5344CB8AC3E}">
        <p14:creationId xmlns:p14="http://schemas.microsoft.com/office/powerpoint/2010/main" val="405443604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CN" sz="3800" dirty="0" smtClean="0"/>
              <a:t>7.4 </a:t>
            </a:r>
            <a:r>
              <a:rPr lang="zh-CN" altLang="en-US" sz="3800" dirty="0" smtClean="0"/>
              <a:t>文件系统的注册与安装</a:t>
            </a:r>
          </a:p>
        </p:txBody>
      </p:sp>
      <p:sp>
        <p:nvSpPr>
          <p:cNvPr id="66563" name="Rectangle 3"/>
          <p:cNvSpPr>
            <a:spLocks noGrp="1" noChangeArrowheads="1"/>
          </p:cNvSpPr>
          <p:nvPr>
            <p:ph type="body" idx="1"/>
          </p:nvPr>
        </p:nvSpPr>
        <p:spPr>
          <a:xfrm>
            <a:off x="611188" y="1196975"/>
            <a:ext cx="7924800" cy="4572000"/>
          </a:xfrm>
        </p:spPr>
        <p:txBody>
          <a:bodyPr/>
          <a:lstStyle/>
          <a:p>
            <a:pPr eaLnBrk="1" hangingPunct="1"/>
            <a:r>
              <a:rPr lang="zh-CN" altLang="en-US" sz="3200" smtClean="0"/>
              <a:t>在使用一个文件系统之前，必须要对该文件系统进行注册。</a:t>
            </a:r>
            <a:r>
              <a:rPr lang="zh-CN" altLang="en-US" sz="3200" smtClean="0">
                <a:solidFill>
                  <a:srgbClr val="0000FF"/>
                </a:solidFill>
              </a:rPr>
              <a:t>注册时机</a:t>
            </a:r>
            <a:r>
              <a:rPr lang="zh-CN" altLang="en-US" sz="3200" smtClean="0"/>
              <a:t>：</a:t>
            </a:r>
          </a:p>
          <a:p>
            <a:pPr lvl="1" eaLnBrk="1" hangingPunct="1"/>
            <a:r>
              <a:rPr lang="zh-CN" altLang="en-US" sz="3000" smtClean="0"/>
              <a:t>系统初启时：内核在编译时就已经确定所支持的文件系统类型。</a:t>
            </a:r>
          </a:p>
          <a:p>
            <a:pPr lvl="1" eaLnBrk="1" hangingPunct="1"/>
            <a:r>
              <a:rPr lang="zh-CN" altLang="en-US" sz="3000" smtClean="0"/>
              <a:t>把某个文件系统作为一个内核模块显示安装时注册，在模块卸载的时候注销。</a:t>
            </a:r>
          </a:p>
          <a:p>
            <a:pPr eaLnBrk="1" hangingPunct="1"/>
            <a:r>
              <a:rPr lang="zh-CN" altLang="en-US" smtClean="0"/>
              <a:t>在</a:t>
            </a:r>
            <a:r>
              <a:rPr lang="en-US" altLang="zh-CN" smtClean="0"/>
              <a:t>VFS </a:t>
            </a:r>
            <a:r>
              <a:rPr lang="zh-CN" altLang="en-US" smtClean="0"/>
              <a:t>中，每一个文件系统类型都使用一个“</a:t>
            </a:r>
            <a:r>
              <a:rPr lang="en-US" altLang="zh-CN" smtClean="0">
                <a:solidFill>
                  <a:srgbClr val="0000FF"/>
                </a:solidFill>
              </a:rPr>
              <a:t>struct file_system_type</a:t>
            </a:r>
            <a:r>
              <a:rPr lang="en-US" altLang="zh-CN" smtClean="0"/>
              <a:t>”</a:t>
            </a:r>
            <a:r>
              <a:rPr lang="zh-CN" altLang="en-US" smtClean="0"/>
              <a:t>结构来表示，在该结构中，只包含一个“</a:t>
            </a:r>
            <a:r>
              <a:rPr lang="en-US" altLang="zh-CN" smtClean="0"/>
              <a:t>read_super”</a:t>
            </a:r>
            <a:r>
              <a:rPr lang="zh-CN" altLang="en-US" smtClean="0"/>
              <a:t>方法，用于</a:t>
            </a:r>
            <a:r>
              <a:rPr lang="zh-CN" altLang="en-US" smtClean="0">
                <a:solidFill>
                  <a:srgbClr val="0000FF"/>
                </a:solidFill>
              </a:rPr>
              <a:t>读出</a:t>
            </a:r>
            <a:r>
              <a:rPr lang="zh-CN" altLang="en-US" smtClean="0"/>
              <a:t>该文件系统在辅存的超级块</a:t>
            </a:r>
          </a:p>
        </p:txBody>
      </p:sp>
    </p:spTree>
    <p:extLst>
      <p:ext uri="{BB962C8B-B14F-4D97-AF65-F5344CB8AC3E}">
        <p14:creationId xmlns:p14="http://schemas.microsoft.com/office/powerpoint/2010/main" val="128883970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228600" y="381000"/>
            <a:ext cx="8421688" cy="1241425"/>
          </a:xfrm>
        </p:spPr>
        <p:txBody>
          <a:bodyPr/>
          <a:lstStyle/>
          <a:p>
            <a:pPr eaLnBrk="1" hangingPunct="1"/>
            <a:r>
              <a:rPr lang="en-US" altLang="zh-CN" smtClean="0"/>
              <a:t>file_system_type</a:t>
            </a:r>
            <a:r>
              <a:rPr lang="zh-CN" altLang="en-US" smtClean="0"/>
              <a:t>结构</a:t>
            </a:r>
            <a:r>
              <a:rPr lang="zh-CN" altLang="en-US" sz="2400" smtClean="0">
                <a:solidFill>
                  <a:schemeClr val="tx1"/>
                </a:solidFill>
                <a:latin typeface="宋体" panose="02010600030101010101" pitchFamily="2" charset="-122"/>
              </a:rPr>
              <a:t> </a:t>
            </a:r>
          </a:p>
        </p:txBody>
      </p:sp>
      <p:sp>
        <p:nvSpPr>
          <p:cNvPr id="67587" name="Rectangle 3"/>
          <p:cNvSpPr>
            <a:spLocks noChangeArrowheads="1"/>
          </p:cNvSpPr>
          <p:nvPr/>
        </p:nvSpPr>
        <p:spPr bwMode="auto">
          <a:xfrm>
            <a:off x="468313" y="1844675"/>
            <a:ext cx="8135937" cy="4216400"/>
          </a:xfrm>
          <a:prstGeom prst="rect">
            <a:avLst/>
          </a:prstGeom>
          <a:solidFill>
            <a:schemeClr val="accent1"/>
          </a:solidFill>
          <a:ln w="9525">
            <a:solidFill>
              <a:srgbClr val="00CC66"/>
            </a:solidFill>
            <a:miter lim="800000"/>
            <a:headEnd/>
            <a:tailEnd/>
          </a:ln>
        </p:spPr>
        <p:txBody>
          <a:bodyPr>
            <a:spAutoFit/>
          </a:bodyPr>
          <a:lstStyle>
            <a:lvl1pPr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a:lnSpc>
                <a:spcPct val="125000"/>
              </a:lnSpc>
              <a:spcBef>
                <a:spcPct val="0"/>
              </a:spcBef>
              <a:buClrTx/>
              <a:buSzTx/>
              <a:buFontTx/>
              <a:buNone/>
            </a:pPr>
            <a:r>
              <a:rPr lang="en-US" altLang="zh-CN"/>
              <a:t>static struct file_system_type *file_systems =</a:t>
            </a:r>
          </a:p>
          <a:p>
            <a:pPr algn="l">
              <a:lnSpc>
                <a:spcPct val="125000"/>
              </a:lnSpc>
              <a:spcBef>
                <a:spcPct val="0"/>
              </a:spcBef>
              <a:buClrTx/>
              <a:buSzTx/>
              <a:buFontTx/>
              <a:buNone/>
            </a:pPr>
            <a:r>
              <a:rPr lang="en-US" altLang="zh-CN"/>
              <a:t> (struct file_system_type *) NULL;</a:t>
            </a:r>
          </a:p>
          <a:p>
            <a:pPr algn="l">
              <a:lnSpc>
                <a:spcPct val="125000"/>
              </a:lnSpc>
              <a:spcBef>
                <a:spcPct val="0"/>
              </a:spcBef>
              <a:buClrTx/>
              <a:buSzTx/>
              <a:buFontTx/>
              <a:buNone/>
            </a:pPr>
            <a:r>
              <a:rPr lang="en-US" altLang="zh-CN"/>
              <a:t>struct </a:t>
            </a:r>
            <a:r>
              <a:rPr lang="en-US" altLang="zh-CN">
                <a:solidFill>
                  <a:schemeClr val="hlink"/>
                </a:solidFill>
              </a:rPr>
              <a:t>file_system_type</a:t>
            </a:r>
            <a:r>
              <a:rPr lang="en-US" altLang="zh-CN"/>
              <a:t> {</a:t>
            </a:r>
          </a:p>
          <a:p>
            <a:pPr algn="l">
              <a:lnSpc>
                <a:spcPct val="125000"/>
              </a:lnSpc>
              <a:spcBef>
                <a:spcPct val="0"/>
              </a:spcBef>
              <a:buClrTx/>
              <a:buSzTx/>
              <a:buFontTx/>
              <a:buNone/>
            </a:pPr>
            <a:r>
              <a:rPr lang="en-US" altLang="zh-CN"/>
              <a:t>	struct super_block *(*</a:t>
            </a:r>
            <a:r>
              <a:rPr lang="en-US" altLang="zh-CN">
                <a:solidFill>
                  <a:srgbClr val="0000FF"/>
                </a:solidFill>
              </a:rPr>
              <a:t>read_super)();</a:t>
            </a:r>
          </a:p>
          <a:p>
            <a:pPr algn="l">
              <a:lnSpc>
                <a:spcPct val="125000"/>
              </a:lnSpc>
              <a:spcBef>
                <a:spcPct val="0"/>
              </a:spcBef>
              <a:buClrTx/>
              <a:buSzTx/>
              <a:buFontTx/>
              <a:buNone/>
            </a:pPr>
            <a:r>
              <a:rPr lang="en-US" altLang="zh-CN"/>
              <a:t>	const char *name; /* </a:t>
            </a:r>
            <a:r>
              <a:rPr lang="zh-CN" altLang="en-US"/>
              <a:t>文件系统的类型名 *</a:t>
            </a:r>
            <a:r>
              <a:rPr lang="en-US" altLang="zh-CN"/>
              <a:t>/</a:t>
            </a:r>
          </a:p>
          <a:p>
            <a:pPr algn="l">
              <a:lnSpc>
                <a:spcPct val="125000"/>
              </a:lnSpc>
              <a:spcBef>
                <a:spcPct val="0"/>
              </a:spcBef>
              <a:buClrTx/>
              <a:buSzTx/>
              <a:buFontTx/>
              <a:buNone/>
            </a:pPr>
            <a:r>
              <a:rPr lang="en-US" altLang="zh-CN"/>
              <a:t>	int requires_dev; /* </a:t>
            </a:r>
            <a:r>
              <a:rPr lang="zh-CN" altLang="en-US"/>
              <a:t>支持文件系统的设备 *</a:t>
            </a:r>
            <a:r>
              <a:rPr lang="en-US" altLang="zh-CN"/>
              <a:t>/</a:t>
            </a:r>
          </a:p>
          <a:p>
            <a:pPr algn="l">
              <a:lnSpc>
                <a:spcPct val="125000"/>
              </a:lnSpc>
              <a:spcBef>
                <a:spcPct val="0"/>
              </a:spcBef>
              <a:buClrTx/>
              <a:buSzTx/>
              <a:buFontTx/>
              <a:buNone/>
            </a:pPr>
            <a:r>
              <a:rPr lang="en-US" altLang="zh-CN"/>
              <a:t>	struct file_system_type * next;</a:t>
            </a:r>
          </a:p>
          <a:p>
            <a:pPr algn="l">
              <a:lnSpc>
                <a:spcPct val="125000"/>
              </a:lnSpc>
              <a:spcBef>
                <a:spcPct val="0"/>
              </a:spcBef>
              <a:buClrTx/>
              <a:buSzTx/>
              <a:buFontTx/>
              <a:buNone/>
            </a:pPr>
            <a:r>
              <a:rPr lang="en-US" altLang="zh-CN"/>
              <a:t>  /* </a:t>
            </a:r>
            <a:r>
              <a:rPr lang="zh-CN" altLang="en-US"/>
              <a:t>文件系统类型链表的后续指针 *</a:t>
            </a:r>
            <a:r>
              <a:rPr lang="en-US" altLang="zh-CN"/>
              <a:t>/</a:t>
            </a:r>
          </a:p>
          <a:p>
            <a:pPr algn="l">
              <a:lnSpc>
                <a:spcPct val="125000"/>
              </a:lnSpc>
              <a:spcBef>
                <a:spcPct val="0"/>
              </a:spcBef>
              <a:buClrTx/>
              <a:buSzTx/>
              <a:buFontTx/>
              <a:buNone/>
            </a:pPr>
            <a:r>
              <a:rPr lang="en-US" altLang="zh-CN"/>
              <a:t>}; </a:t>
            </a:r>
          </a:p>
        </p:txBody>
      </p:sp>
    </p:spTree>
    <p:extLst>
      <p:ext uri="{BB962C8B-B14F-4D97-AF65-F5344CB8AC3E}">
        <p14:creationId xmlns:p14="http://schemas.microsoft.com/office/powerpoint/2010/main" val="121592828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sz="3800" smtClean="0"/>
              <a:t>文件系统的注册</a:t>
            </a:r>
          </a:p>
        </p:txBody>
      </p:sp>
      <p:sp>
        <p:nvSpPr>
          <p:cNvPr id="68611" name="Rectangle 3"/>
          <p:cNvSpPr>
            <a:spLocks noGrp="1" noChangeArrowheads="1"/>
          </p:cNvSpPr>
          <p:nvPr>
            <p:ph type="body" idx="1"/>
          </p:nvPr>
        </p:nvSpPr>
        <p:spPr>
          <a:xfrm>
            <a:off x="533400" y="1268413"/>
            <a:ext cx="8077200" cy="4751387"/>
          </a:xfrm>
        </p:spPr>
        <p:txBody>
          <a:bodyPr/>
          <a:lstStyle/>
          <a:p>
            <a:pPr eaLnBrk="1" hangingPunct="1"/>
            <a:r>
              <a:rPr lang="zh-CN" altLang="en-US" smtClean="0"/>
              <a:t>内核将每个已注册的文件系统都存放在</a:t>
            </a:r>
            <a:r>
              <a:rPr lang="en-US" altLang="zh-CN" smtClean="0"/>
              <a:t>file_system_type</a:t>
            </a:r>
            <a:r>
              <a:rPr lang="zh-CN" altLang="en-US" smtClean="0"/>
              <a:t>链表中。该链表的头部由</a:t>
            </a:r>
            <a:r>
              <a:rPr lang="en-US" altLang="zh-CN" smtClean="0"/>
              <a:t>file_systems</a:t>
            </a:r>
            <a:r>
              <a:rPr lang="zh-CN" altLang="en-US" smtClean="0"/>
              <a:t>指示。</a:t>
            </a:r>
          </a:p>
          <a:p>
            <a:pPr eaLnBrk="1" hangingPunct="1"/>
            <a:r>
              <a:rPr lang="zh-CN" altLang="en-US" smtClean="0"/>
              <a:t>在系统引导时，由</a:t>
            </a:r>
            <a:r>
              <a:rPr lang="en-US" altLang="zh-CN" smtClean="0"/>
              <a:t>filesystem_setup()</a:t>
            </a:r>
            <a:r>
              <a:rPr lang="zh-CN" altLang="en-US" smtClean="0"/>
              <a:t>来注册。它根据 </a:t>
            </a:r>
            <a:r>
              <a:rPr lang="en-US" altLang="zh-CN" smtClean="0"/>
              <a:t>file_system_type</a:t>
            </a:r>
            <a:r>
              <a:rPr lang="zh-CN" altLang="en-US" smtClean="0"/>
              <a:t>来调用注册函数</a:t>
            </a:r>
            <a:r>
              <a:rPr lang="en-US" altLang="zh-CN" smtClean="0"/>
              <a:t>register_filesystem()</a:t>
            </a:r>
            <a:r>
              <a:rPr lang="zh-CN" altLang="en-US" smtClean="0"/>
              <a:t>，将该文件系统插入到文件系统类型注册链表中。</a:t>
            </a:r>
          </a:p>
          <a:p>
            <a:pPr lvl="1" eaLnBrk="1" hangingPunct="1"/>
            <a:r>
              <a:rPr lang="en-US" altLang="zh-CN" smtClean="0"/>
              <a:t>register_filesystem() </a:t>
            </a:r>
          </a:p>
          <a:p>
            <a:pPr lvl="1" eaLnBrk="1" hangingPunct="1"/>
            <a:r>
              <a:rPr lang="en-US" altLang="zh-CN" smtClean="0"/>
              <a:t>unregister_filesystem()</a:t>
            </a:r>
          </a:p>
          <a:p>
            <a:pPr lvl="1" eaLnBrk="1" hangingPunct="1">
              <a:buFont typeface="Wingdings" panose="05000000000000000000" pitchFamily="2" charset="2"/>
              <a:buNone/>
            </a:pPr>
            <a:endParaRPr lang="en-US" altLang="zh-CN" smtClean="0"/>
          </a:p>
        </p:txBody>
      </p:sp>
    </p:spTree>
    <p:extLst>
      <p:ext uri="{BB962C8B-B14F-4D97-AF65-F5344CB8AC3E}">
        <p14:creationId xmlns:p14="http://schemas.microsoft.com/office/powerpoint/2010/main" val="23032613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zh-CN" altLang="en-US" smtClean="0"/>
              <a:t>文件系统类型的注册</a:t>
            </a:r>
          </a:p>
        </p:txBody>
      </p:sp>
      <p:sp>
        <p:nvSpPr>
          <p:cNvPr id="69635" name="Rectangle 3"/>
          <p:cNvSpPr>
            <a:spLocks noGrp="1" noChangeArrowheads="1"/>
          </p:cNvSpPr>
          <p:nvPr>
            <p:ph type="body" idx="1"/>
          </p:nvPr>
        </p:nvSpPr>
        <p:spPr/>
        <p:txBody>
          <a:bodyPr/>
          <a:lstStyle/>
          <a:p>
            <a:pPr eaLnBrk="1" hangingPunct="1"/>
            <a:r>
              <a:rPr lang="zh-CN" altLang="en-US" smtClean="0"/>
              <a:t>文件系统类型： </a:t>
            </a:r>
            <a:r>
              <a:rPr lang="en-US" altLang="zh-CN" smtClean="0">
                <a:hlinkClick r:id="rId2" action="ppaction://hlinkfile"/>
              </a:rPr>
              <a:t>file_system_type</a:t>
            </a:r>
            <a:endParaRPr lang="en-US" altLang="zh-CN" smtClean="0"/>
          </a:p>
          <a:p>
            <a:pPr eaLnBrk="1" hangingPunct="1"/>
            <a:endParaRPr lang="en-US" altLang="zh-CN" smtClean="0"/>
          </a:p>
          <a:p>
            <a:pPr eaLnBrk="1" hangingPunct="1"/>
            <a:endParaRPr lang="en-US" altLang="zh-CN" smtClean="0"/>
          </a:p>
          <a:p>
            <a:pPr eaLnBrk="1" hangingPunct="1"/>
            <a:r>
              <a:rPr lang="zh-CN" altLang="en-US" smtClean="0"/>
              <a:t>在系统初始化期间， </a:t>
            </a:r>
            <a:r>
              <a:rPr lang="en-US" altLang="zh-CN" smtClean="0">
                <a:hlinkClick r:id="rId3" action="ppaction://hlinkfile"/>
              </a:rPr>
              <a:t>register_filesystem</a:t>
            </a:r>
            <a:r>
              <a:rPr lang="en-US" altLang="zh-CN" smtClean="0"/>
              <a:t>()</a:t>
            </a:r>
            <a:r>
              <a:rPr lang="zh-CN" altLang="en-US" smtClean="0"/>
              <a:t>用来注册编译时指定的每个文件系统</a:t>
            </a:r>
          </a:p>
          <a:p>
            <a:pPr lvl="1" eaLnBrk="1" hangingPunct="1"/>
            <a:r>
              <a:rPr lang="zh-CN" altLang="en-US" smtClean="0"/>
              <a:t>相应的文件系统对象被插入到</a:t>
            </a:r>
            <a:r>
              <a:rPr lang="en-US" altLang="zh-CN" smtClean="0"/>
              <a:t>file_systems</a:t>
            </a:r>
            <a:r>
              <a:rPr lang="zh-CN" altLang="en-US" smtClean="0"/>
              <a:t>链表中</a:t>
            </a:r>
          </a:p>
          <a:p>
            <a:pPr eaLnBrk="1" hangingPunct="1"/>
            <a:r>
              <a:rPr lang="zh-CN" altLang="en-US" smtClean="0"/>
              <a:t> </a:t>
            </a:r>
            <a:r>
              <a:rPr lang="en-US" altLang="zh-CN" smtClean="0">
                <a:hlinkClick r:id="rId4" action="ppaction://hlinkfile"/>
              </a:rPr>
              <a:t>unregister_filesystem</a:t>
            </a:r>
            <a:r>
              <a:rPr lang="en-US" altLang="zh-CN" smtClean="0"/>
              <a:t>()</a:t>
            </a:r>
          </a:p>
        </p:txBody>
      </p:sp>
    </p:spTree>
    <p:extLst>
      <p:ext uri="{BB962C8B-B14F-4D97-AF65-F5344CB8AC3E}">
        <p14:creationId xmlns:p14="http://schemas.microsoft.com/office/powerpoint/2010/main" val="30444133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33400" y="304800"/>
            <a:ext cx="7772400" cy="788988"/>
          </a:xfrm>
        </p:spPr>
        <p:txBody>
          <a:bodyPr/>
          <a:lstStyle/>
          <a:p>
            <a:pPr eaLnBrk="1" hangingPunct="1"/>
            <a:r>
              <a:rPr lang="en-US" altLang="zh-CN" sz="3800" smtClean="0"/>
              <a:t>  </a:t>
            </a:r>
            <a:r>
              <a:rPr lang="zh-CN" altLang="en-US" sz="3800" smtClean="0"/>
              <a:t>文件系统的注册</a:t>
            </a:r>
          </a:p>
        </p:txBody>
      </p:sp>
      <p:sp>
        <p:nvSpPr>
          <p:cNvPr id="7065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000" smtClean="0"/>
              <a:t> </a:t>
            </a:r>
          </a:p>
        </p:txBody>
      </p:sp>
      <p:sp>
        <p:nvSpPr>
          <p:cNvPr id="7066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70661" name="Object 5"/>
          <p:cNvGraphicFramePr>
            <a:graphicFrameLocks noChangeAspect="1"/>
          </p:cNvGraphicFramePr>
          <p:nvPr/>
        </p:nvGraphicFramePr>
        <p:xfrm>
          <a:off x="304800" y="1219200"/>
          <a:ext cx="8370888" cy="1668463"/>
        </p:xfrm>
        <a:graphic>
          <a:graphicData uri="http://schemas.openxmlformats.org/presentationml/2006/ole">
            <mc:AlternateContent xmlns:mc="http://schemas.openxmlformats.org/markup-compatibility/2006">
              <mc:Choice xmlns:v="urn:schemas-microsoft-com:vml" Requires="v">
                <p:oleObj spid="_x0000_s26626" name="图片" r:id="rId3" imgW="4845864" imgH="999602" progId="Word.Picture.8">
                  <p:embed/>
                </p:oleObj>
              </mc:Choice>
              <mc:Fallback>
                <p:oleObj name="图片" r:id="rId3" imgW="4845864" imgH="999602" progId="Word.Picture.8">
                  <p:embed/>
                  <p:pic>
                    <p:nvPicPr>
                      <p:cNvPr id="7066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219200"/>
                        <a:ext cx="8370888" cy="1668463"/>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0662" name="Picture 6" descr="注册链表"/>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3124200"/>
            <a:ext cx="708660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3" name="Rectangle 7"/>
          <p:cNvSpPr>
            <a:spLocks noChangeArrowheads="1"/>
          </p:cNvSpPr>
          <p:nvPr/>
        </p:nvSpPr>
        <p:spPr bwMode="auto">
          <a:xfrm>
            <a:off x="0" y="5607050"/>
            <a:ext cx="9144000" cy="125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a:latin typeface="宋体" panose="02010600030101010101" pitchFamily="2" charset="-122"/>
              </a:rPr>
              <a:t>static struct file_system_type </a:t>
            </a:r>
            <a:r>
              <a:rPr lang="en-US" altLang="zh-CN" sz="2000">
                <a:solidFill>
                  <a:srgbClr val="000080"/>
                </a:solidFill>
                <a:latin typeface="宋体" panose="02010600030101010101" pitchFamily="2" charset="-122"/>
              </a:rPr>
              <a:t>ext2_fs_type</a:t>
            </a:r>
            <a:r>
              <a:rPr lang="en-US" altLang="zh-CN" sz="2000">
                <a:latin typeface="宋体" panose="02010600030101010101" pitchFamily="2" charset="-122"/>
              </a:rPr>
              <a:t> = {</a:t>
            </a:r>
          </a:p>
          <a:p>
            <a:pPr>
              <a:spcBef>
                <a:spcPct val="0"/>
              </a:spcBef>
              <a:buClrTx/>
              <a:buSzTx/>
              <a:buFontTx/>
              <a:buNone/>
            </a:pPr>
            <a:r>
              <a:rPr lang="en-US" altLang="zh-CN" sz="2000">
                <a:latin typeface="宋体" panose="02010600030101010101" pitchFamily="2" charset="-122"/>
              </a:rPr>
              <a:t>        </a:t>
            </a:r>
            <a:r>
              <a:rPr lang="en-US" altLang="zh-CN" sz="2000">
                <a:solidFill>
                  <a:srgbClr val="800080"/>
                </a:solidFill>
                <a:latin typeface="宋体" panose="02010600030101010101" pitchFamily="2" charset="-122"/>
              </a:rPr>
              <a:t>ext2_read_super</a:t>
            </a:r>
            <a:r>
              <a:rPr lang="en-US" altLang="zh-CN" sz="2000">
                <a:latin typeface="宋体" panose="02010600030101010101" pitchFamily="2" charset="-122"/>
              </a:rPr>
              <a:t>, </a:t>
            </a:r>
            <a:r>
              <a:rPr lang="en-US" altLang="zh-CN" sz="2000">
                <a:solidFill>
                  <a:srgbClr val="008000"/>
                </a:solidFill>
                <a:latin typeface="宋体" panose="02010600030101010101" pitchFamily="2" charset="-122"/>
              </a:rPr>
              <a:t>"ext2"</a:t>
            </a:r>
            <a:r>
              <a:rPr lang="en-US" altLang="zh-CN" sz="2000">
                <a:latin typeface="宋体" panose="02010600030101010101" pitchFamily="2" charset="-122"/>
              </a:rPr>
              <a:t>, </a:t>
            </a:r>
            <a:r>
              <a:rPr lang="en-US" altLang="zh-CN" sz="2000">
                <a:solidFill>
                  <a:srgbClr val="0000FF"/>
                </a:solidFill>
                <a:latin typeface="宋体" panose="02010600030101010101" pitchFamily="2" charset="-122"/>
              </a:rPr>
              <a:t>1</a:t>
            </a:r>
            <a:r>
              <a:rPr lang="en-US" altLang="zh-CN" sz="2000">
                <a:latin typeface="宋体" panose="02010600030101010101" pitchFamily="2" charset="-122"/>
              </a:rPr>
              <a:t>, </a:t>
            </a:r>
            <a:r>
              <a:rPr lang="en-US" altLang="zh-CN" sz="2000">
                <a:solidFill>
                  <a:srgbClr val="800000"/>
                </a:solidFill>
                <a:latin typeface="宋体" panose="02010600030101010101" pitchFamily="2" charset="-122"/>
              </a:rPr>
              <a:t>NULL}</a:t>
            </a:r>
            <a:endParaRPr lang="en-US" altLang="zh-CN" sz="2000">
              <a:latin typeface="宋体" panose="02010600030101010101" pitchFamily="2" charset="-122"/>
            </a:endParaRPr>
          </a:p>
          <a:p>
            <a:pPr algn="l">
              <a:spcBef>
                <a:spcPct val="0"/>
              </a:spcBef>
              <a:buClrTx/>
              <a:buSzTx/>
              <a:buFontTx/>
              <a:buNone/>
            </a:pPr>
            <a:endParaRPr lang="en-US" altLang="zh-CN" sz="3600">
              <a:latin typeface="Arial" panose="020B0604020202020204" pitchFamily="34" charset="0"/>
            </a:endParaRPr>
          </a:p>
        </p:txBody>
      </p:sp>
    </p:spTree>
    <p:extLst>
      <p:ext uri="{BB962C8B-B14F-4D97-AF65-F5344CB8AC3E}">
        <p14:creationId xmlns:p14="http://schemas.microsoft.com/office/powerpoint/2010/main" val="253439044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zh-CN" altLang="en-US" sz="3300" smtClean="0">
                <a:latin typeface="宋体" panose="02010600030101010101" pitchFamily="2" charset="-122"/>
              </a:rPr>
              <a:t>文件系统的初始化函数</a:t>
            </a:r>
          </a:p>
        </p:txBody>
      </p:sp>
      <p:sp>
        <p:nvSpPr>
          <p:cNvPr id="7168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3200" smtClean="0"/>
              <a:t> </a:t>
            </a:r>
            <a:r>
              <a:rPr lang="en-US" altLang="zh-CN" sz="4000" smtClean="0"/>
              <a:t>  </a:t>
            </a:r>
            <a:r>
              <a:rPr lang="en-US" altLang="zh-CN" smtClean="0">
                <a:latin typeface="Times New Roman" panose="02020603050405020304" pitchFamily="18" charset="0"/>
              </a:rPr>
              <a:t>init_minix_fs()    </a:t>
            </a:r>
            <a:r>
              <a:rPr lang="en-US" altLang="zh-CN" smtClean="0">
                <a:solidFill>
                  <a:srgbClr val="0000FF"/>
                </a:solidFill>
                <a:latin typeface="Times New Roman" panose="02020603050405020304" pitchFamily="18" charset="0"/>
              </a:rPr>
              <a:t>minix</a:t>
            </a:r>
            <a:r>
              <a:rPr lang="zh-CN" altLang="en-US" smtClean="0">
                <a:latin typeface="Times New Roman" panose="02020603050405020304" pitchFamily="18" charset="0"/>
              </a:rPr>
              <a:t>文件系统初始化函数；</a:t>
            </a:r>
          </a:p>
          <a:p>
            <a:pPr algn="just">
              <a:spcBef>
                <a:spcPct val="0"/>
              </a:spcBef>
              <a:buClrTx/>
              <a:buSzTx/>
              <a:buFontTx/>
              <a:buNone/>
            </a:pPr>
            <a:r>
              <a:rPr lang="zh-CN" altLang="en-US" smtClean="0">
                <a:latin typeface="Times New Roman" panose="02020603050405020304" pitchFamily="18" charset="0"/>
              </a:rPr>
              <a:t>	</a:t>
            </a:r>
            <a:r>
              <a:rPr lang="en-US" altLang="zh-CN" smtClean="0">
                <a:latin typeface="Times New Roman" panose="02020603050405020304" pitchFamily="18" charset="0"/>
              </a:rPr>
              <a:t>init_msdos_fs()    </a:t>
            </a:r>
            <a:r>
              <a:rPr lang="en-US" altLang="zh-CN" smtClean="0">
                <a:solidFill>
                  <a:srgbClr val="0000FF"/>
                </a:solidFill>
                <a:latin typeface="Times New Roman" panose="02020603050405020304" pitchFamily="18" charset="0"/>
              </a:rPr>
              <a:t>msdos</a:t>
            </a:r>
            <a:r>
              <a:rPr lang="zh-CN" altLang="en-US" smtClean="0">
                <a:latin typeface="Times New Roman" panose="02020603050405020304" pitchFamily="18" charset="0"/>
              </a:rPr>
              <a:t>文件系统初始化函数；</a:t>
            </a:r>
          </a:p>
          <a:p>
            <a:pPr algn="just">
              <a:spcBef>
                <a:spcPct val="0"/>
              </a:spcBef>
              <a:buClrTx/>
              <a:buSzTx/>
              <a:buFontTx/>
              <a:buNone/>
            </a:pPr>
            <a:r>
              <a:rPr lang="zh-CN" altLang="en-US" smtClean="0">
                <a:latin typeface="Times New Roman" panose="02020603050405020304" pitchFamily="18" charset="0"/>
              </a:rPr>
              <a:t>	</a:t>
            </a:r>
            <a:r>
              <a:rPr lang="en-US" altLang="zh-CN" smtClean="0">
                <a:latin typeface="Times New Roman" panose="02020603050405020304" pitchFamily="18" charset="0"/>
              </a:rPr>
              <a:t>init_proc_fs()     </a:t>
            </a:r>
            <a:r>
              <a:rPr lang="en-US" altLang="zh-CN" smtClean="0">
                <a:solidFill>
                  <a:srgbClr val="0000FF"/>
                </a:solidFill>
                <a:latin typeface="Times New Roman" panose="02020603050405020304" pitchFamily="18" charset="0"/>
              </a:rPr>
              <a:t>proc</a:t>
            </a:r>
            <a:r>
              <a:rPr lang="zh-CN" altLang="en-US" smtClean="0">
                <a:latin typeface="Times New Roman" panose="02020603050405020304" pitchFamily="18" charset="0"/>
              </a:rPr>
              <a:t>文件系统初始化函数；</a:t>
            </a:r>
          </a:p>
          <a:p>
            <a:pPr algn="just">
              <a:spcBef>
                <a:spcPct val="0"/>
              </a:spcBef>
              <a:buClrTx/>
              <a:buSzTx/>
              <a:buFontTx/>
              <a:buNone/>
            </a:pPr>
            <a:r>
              <a:rPr lang="zh-CN" altLang="en-US" smtClean="0">
                <a:latin typeface="Times New Roman" panose="02020603050405020304" pitchFamily="18" charset="0"/>
              </a:rPr>
              <a:t>	</a:t>
            </a:r>
            <a:r>
              <a:rPr lang="en-US" altLang="zh-CN" smtClean="0">
                <a:latin typeface="Times New Roman" panose="02020603050405020304" pitchFamily="18" charset="0"/>
              </a:rPr>
              <a:t>init_sysv_fs()     </a:t>
            </a:r>
            <a:r>
              <a:rPr lang="en-US" altLang="zh-CN" smtClean="0">
                <a:solidFill>
                  <a:srgbClr val="0000FF"/>
                </a:solidFill>
                <a:latin typeface="Times New Roman" panose="02020603050405020304" pitchFamily="18" charset="0"/>
              </a:rPr>
              <a:t>sysv</a:t>
            </a:r>
            <a:r>
              <a:rPr lang="zh-CN" altLang="en-US" smtClean="0">
                <a:latin typeface="Times New Roman" panose="02020603050405020304" pitchFamily="18" charset="0"/>
              </a:rPr>
              <a:t>文件系统初始化函数；</a:t>
            </a:r>
          </a:p>
          <a:p>
            <a:pPr algn="just">
              <a:spcBef>
                <a:spcPct val="0"/>
              </a:spcBef>
              <a:buClrTx/>
              <a:buSzTx/>
              <a:buFontTx/>
              <a:buNone/>
            </a:pPr>
            <a:endParaRPr lang="zh-CN" altLang="en-US" smtClean="0">
              <a:latin typeface="Times New Roman" panose="02020603050405020304" pitchFamily="18" charset="0"/>
            </a:endParaRPr>
          </a:p>
          <a:p>
            <a:pPr algn="just">
              <a:spcBef>
                <a:spcPct val="0"/>
              </a:spcBef>
              <a:buClrTx/>
              <a:buSzTx/>
              <a:buFontTx/>
              <a:buNone/>
            </a:pPr>
            <a:r>
              <a:rPr lang="zh-CN" altLang="en-US" sz="1800" smtClean="0">
                <a:latin typeface="Times New Roman" panose="02020603050405020304" pitchFamily="18" charset="0"/>
                <a:cs typeface="Times New Roman" panose="02020603050405020304" pitchFamily="18" charset="0"/>
              </a:rPr>
              <a:t>         </a:t>
            </a:r>
            <a:r>
              <a:rPr lang="zh-CN" altLang="en-US" smtClean="0">
                <a:latin typeface="Times New Roman" panose="02020603050405020304" pitchFamily="18" charset="0"/>
              </a:rPr>
              <a:t>在文件系统初始化函数中，把</a:t>
            </a:r>
            <a:r>
              <a:rPr lang="zh-CN" altLang="en-US" smtClean="0">
                <a:solidFill>
                  <a:srgbClr val="000080"/>
                </a:solidFill>
                <a:latin typeface="Times New Roman" panose="02020603050405020304" pitchFamily="18" charset="0"/>
              </a:rPr>
              <a:t>注册结构体</a:t>
            </a:r>
            <a:r>
              <a:rPr lang="zh-CN" altLang="en-US" smtClean="0">
                <a:latin typeface="Times New Roman" panose="02020603050405020304" pitchFamily="18" charset="0"/>
              </a:rPr>
              <a:t>做为参数，调用由内核提供的</a:t>
            </a:r>
            <a:r>
              <a:rPr lang="zh-CN" altLang="en-US" smtClean="0">
                <a:solidFill>
                  <a:srgbClr val="008000"/>
                </a:solidFill>
                <a:latin typeface="Times New Roman" panose="02020603050405020304" pitchFamily="18" charset="0"/>
              </a:rPr>
              <a:t>注册函数</a:t>
            </a:r>
            <a:r>
              <a:rPr lang="en-US" altLang="zh-CN" smtClean="0">
                <a:solidFill>
                  <a:srgbClr val="FF0000"/>
                </a:solidFill>
                <a:latin typeface="Times New Roman" panose="02020603050405020304" pitchFamily="18" charset="0"/>
              </a:rPr>
              <a:t>register_filesystem</a:t>
            </a:r>
            <a:r>
              <a:rPr lang="zh-CN" altLang="en-US" smtClean="0">
                <a:solidFill>
                  <a:srgbClr val="FF0000"/>
                </a:solidFill>
                <a:latin typeface="Times New Roman" panose="02020603050405020304" pitchFamily="18" charset="0"/>
              </a:rPr>
              <a:t>（）</a:t>
            </a:r>
            <a:endParaRPr lang="zh-CN" altLang="en-US" smtClean="0">
              <a:latin typeface="Times New Roman" panose="02020603050405020304" pitchFamily="18" charset="0"/>
            </a:endParaRPr>
          </a:p>
          <a:p>
            <a:pPr algn="just">
              <a:spcBef>
                <a:spcPct val="0"/>
              </a:spcBef>
              <a:buClrTx/>
              <a:buSzTx/>
              <a:buFontTx/>
              <a:buNone/>
            </a:pPr>
            <a:endParaRPr lang="en-US" altLang="zh-CN" sz="4000" smtClean="0">
              <a:latin typeface="Times New Roman" panose="02020603050405020304" pitchFamily="18" charset="0"/>
            </a:endParaRPr>
          </a:p>
        </p:txBody>
      </p:sp>
    </p:spTree>
    <p:extLst>
      <p:ext uri="{BB962C8B-B14F-4D97-AF65-F5344CB8AC3E}">
        <p14:creationId xmlns:p14="http://schemas.microsoft.com/office/powerpoint/2010/main" val="289023559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900113" y="188913"/>
            <a:ext cx="7772400" cy="788987"/>
          </a:xfrm>
        </p:spPr>
        <p:txBody>
          <a:bodyPr/>
          <a:lstStyle/>
          <a:p>
            <a:pPr eaLnBrk="1" hangingPunct="1"/>
            <a:r>
              <a:rPr lang="en-US" altLang="zh-CN" smtClean="0"/>
              <a:t> </a:t>
            </a:r>
            <a:r>
              <a:rPr lang="en-US" altLang="zh-CN" sz="2900" smtClean="0">
                <a:latin typeface="宋体" panose="02010600030101010101" pitchFamily="2" charset="-122"/>
              </a:rPr>
              <a:t>EXT2</a:t>
            </a:r>
            <a:r>
              <a:rPr lang="zh-CN" altLang="en-US" sz="2900" smtClean="0">
                <a:latin typeface="宋体" panose="02010600030101010101" pitchFamily="2" charset="-122"/>
              </a:rPr>
              <a:t>文件系统的初始化函数</a:t>
            </a:r>
          </a:p>
        </p:txBody>
      </p:sp>
      <p:sp>
        <p:nvSpPr>
          <p:cNvPr id="72707" name="Rectangle 3"/>
          <p:cNvSpPr>
            <a:spLocks noGrp="1" noChangeArrowheads="1"/>
          </p:cNvSpPr>
          <p:nvPr>
            <p:ph type="body" idx="1"/>
          </p:nvPr>
        </p:nvSpPr>
        <p:spPr>
          <a:xfrm>
            <a:off x="914400" y="1052513"/>
            <a:ext cx="7772400" cy="5500687"/>
          </a:xfrm>
        </p:spPr>
        <p:txBody>
          <a:bodyPr/>
          <a:lstStyle/>
          <a:p>
            <a:pPr eaLnBrk="1" hangingPunct="1">
              <a:lnSpc>
                <a:spcPct val="90000"/>
              </a:lnSpc>
              <a:buFont typeface="Wingdings" panose="05000000000000000000" pitchFamily="2" charset="2"/>
              <a:buNone/>
            </a:pPr>
            <a:r>
              <a:rPr lang="en-US" altLang="zh-CN" sz="1800" smtClean="0">
                <a:latin typeface="Times New Roman" panose="02020603050405020304" pitchFamily="18" charset="0"/>
              </a:rPr>
              <a:t>int init_ext2_fs(void)</a:t>
            </a:r>
          </a:p>
          <a:p>
            <a:pPr algn="just">
              <a:lnSpc>
                <a:spcPct val="90000"/>
              </a:lnSpc>
              <a:spcBef>
                <a:spcPct val="0"/>
              </a:spcBef>
              <a:buClrTx/>
              <a:buSzTx/>
              <a:buFontTx/>
              <a:buNone/>
            </a:pP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        return register_filesystem(&amp;ext2_fs_type);</a:t>
            </a:r>
          </a:p>
          <a:p>
            <a:pPr algn="just">
              <a:lnSpc>
                <a:spcPct val="90000"/>
              </a:lnSpc>
              <a:spcBef>
                <a:spcPct val="0"/>
              </a:spcBef>
              <a:buClrTx/>
              <a:buSzTx/>
              <a:buFontTx/>
              <a:buNone/>
            </a:pP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int </a:t>
            </a:r>
            <a:r>
              <a:rPr lang="en-US" altLang="zh-CN" sz="1800" smtClean="0">
                <a:solidFill>
                  <a:srgbClr val="0000FF"/>
                </a:solidFill>
                <a:latin typeface="Times New Roman" panose="02020603050405020304" pitchFamily="18" charset="0"/>
              </a:rPr>
              <a:t>register_filesystem</a:t>
            </a:r>
            <a:r>
              <a:rPr lang="en-US" altLang="zh-CN" sz="1800" smtClean="0">
                <a:latin typeface="Times New Roman" panose="02020603050405020304" pitchFamily="18" charset="0"/>
              </a:rPr>
              <a:t>(struct file_system_type * fs)</a:t>
            </a:r>
          </a:p>
          <a:p>
            <a:pPr algn="just">
              <a:lnSpc>
                <a:spcPct val="90000"/>
              </a:lnSpc>
              <a:spcBef>
                <a:spcPct val="0"/>
              </a:spcBef>
              <a:buClrTx/>
              <a:buSzTx/>
              <a:buFontTx/>
              <a:buNone/>
            </a:pPr>
            <a:r>
              <a:rPr lang="en-US" altLang="zh-CN" sz="1800" smtClean="0">
                <a:latin typeface="Times New Roman" panose="02020603050405020304" pitchFamily="18" charset="0"/>
              </a:rPr>
              <a:t>{                                           /* </a:t>
            </a:r>
            <a:r>
              <a:rPr lang="zh-CN" altLang="en-US" sz="1800" smtClean="0">
                <a:solidFill>
                  <a:srgbClr val="0000FF"/>
                </a:solidFill>
                <a:latin typeface="Times New Roman" panose="02020603050405020304" pitchFamily="18" charset="0"/>
              </a:rPr>
              <a:t>参数</a:t>
            </a:r>
            <a:r>
              <a:rPr lang="en-US" altLang="zh-CN" sz="1800" smtClean="0">
                <a:solidFill>
                  <a:srgbClr val="0000FF"/>
                </a:solidFill>
                <a:latin typeface="Times New Roman" panose="02020603050405020304" pitchFamily="18" charset="0"/>
              </a:rPr>
              <a:t>fs</a:t>
            </a:r>
            <a:r>
              <a:rPr lang="zh-CN" altLang="en-US" sz="1800" smtClean="0">
                <a:solidFill>
                  <a:srgbClr val="0000FF"/>
                </a:solidFill>
                <a:latin typeface="Times New Roman" panose="02020603050405020304" pitchFamily="18" charset="0"/>
              </a:rPr>
              <a:t>是注册结构体首址</a:t>
            </a:r>
            <a:r>
              <a:rPr lang="zh-CN" altLang="en-US" sz="1800" smtClean="0">
                <a:latin typeface="Times New Roman" panose="02020603050405020304" pitchFamily="18" charset="0"/>
              </a:rPr>
              <a:t> *</a:t>
            </a: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        struct file_system_type ** tmp;</a:t>
            </a:r>
          </a:p>
          <a:p>
            <a:pPr algn="just">
              <a:lnSpc>
                <a:spcPct val="90000"/>
              </a:lnSpc>
              <a:spcBef>
                <a:spcPct val="0"/>
              </a:spcBef>
              <a:buClrTx/>
              <a:buSzTx/>
              <a:buFontTx/>
              <a:buNone/>
            </a:pPr>
            <a:r>
              <a:rPr lang="en-US" altLang="zh-CN" sz="1800" smtClean="0">
                <a:latin typeface="Times New Roman" panose="02020603050405020304" pitchFamily="18" charset="0"/>
              </a:rPr>
              <a:t> </a:t>
            </a:r>
          </a:p>
          <a:p>
            <a:pPr algn="just">
              <a:lnSpc>
                <a:spcPct val="90000"/>
              </a:lnSpc>
              <a:spcBef>
                <a:spcPct val="0"/>
              </a:spcBef>
              <a:buClrTx/>
              <a:buSzTx/>
              <a:buFontTx/>
              <a:buNone/>
            </a:pPr>
            <a:r>
              <a:rPr lang="en-US" altLang="zh-CN" sz="1800" smtClean="0">
                <a:latin typeface="Times New Roman" panose="02020603050405020304" pitchFamily="18" charset="0"/>
              </a:rPr>
              <a:t>        if (!fs)</a:t>
            </a:r>
          </a:p>
          <a:p>
            <a:pPr algn="just">
              <a:lnSpc>
                <a:spcPct val="90000"/>
              </a:lnSpc>
              <a:spcBef>
                <a:spcPct val="0"/>
              </a:spcBef>
              <a:buClrTx/>
              <a:buSzTx/>
              <a:buFontTx/>
              <a:buNone/>
            </a:pPr>
            <a:r>
              <a:rPr lang="en-US" altLang="zh-CN" sz="1800" smtClean="0">
                <a:latin typeface="Times New Roman" panose="02020603050405020304" pitchFamily="18" charset="0"/>
              </a:rPr>
              <a:t>                return -EINVAL;  /* </a:t>
            </a:r>
            <a:r>
              <a:rPr lang="zh-CN" altLang="en-US" sz="1800" smtClean="0">
                <a:latin typeface="Times New Roman" panose="02020603050405020304" pitchFamily="18" charset="0"/>
              </a:rPr>
              <a:t>不支持该文件系统，出错返回 *</a:t>
            </a: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        if (fs-&gt;next)</a:t>
            </a:r>
          </a:p>
          <a:p>
            <a:pPr algn="just">
              <a:lnSpc>
                <a:spcPct val="90000"/>
              </a:lnSpc>
              <a:spcBef>
                <a:spcPct val="0"/>
              </a:spcBef>
              <a:buClrTx/>
              <a:buSzTx/>
              <a:buFontTx/>
              <a:buNone/>
            </a:pPr>
            <a:r>
              <a:rPr lang="en-US" altLang="zh-CN" sz="1800" smtClean="0">
                <a:latin typeface="Times New Roman" panose="02020603050405020304" pitchFamily="18" charset="0"/>
              </a:rPr>
              <a:t>                return -EBUSY;   /*</a:t>
            </a:r>
            <a:r>
              <a:rPr lang="en-US" altLang="zh-CN" sz="1800" smtClean="0">
                <a:solidFill>
                  <a:srgbClr val="0000FF"/>
                </a:solidFill>
                <a:latin typeface="Times New Roman" panose="02020603050405020304" pitchFamily="18" charset="0"/>
              </a:rPr>
              <a:t> </a:t>
            </a:r>
            <a:r>
              <a:rPr lang="zh-CN" altLang="en-US" sz="1800" smtClean="0">
                <a:solidFill>
                  <a:srgbClr val="0000FF"/>
                </a:solidFill>
                <a:latin typeface="Times New Roman" panose="02020603050405020304" pitchFamily="18" charset="0"/>
              </a:rPr>
              <a:t>文件系统已注册，</a:t>
            </a:r>
            <a:r>
              <a:rPr lang="zh-CN" altLang="en-US" sz="1800" smtClean="0">
                <a:latin typeface="Times New Roman" panose="02020603050405020304" pitchFamily="18" charset="0"/>
              </a:rPr>
              <a:t>返回 *</a:t>
            </a: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        tmp = &amp;file_systems;     /*</a:t>
            </a:r>
            <a:r>
              <a:rPr lang="en-US" altLang="zh-CN" sz="1800" smtClean="0">
                <a:solidFill>
                  <a:srgbClr val="0000FF"/>
                </a:solidFill>
                <a:latin typeface="Times New Roman" panose="02020603050405020304" pitchFamily="18" charset="0"/>
              </a:rPr>
              <a:t> </a:t>
            </a:r>
            <a:r>
              <a:rPr lang="zh-CN" altLang="en-US" sz="1800" smtClean="0">
                <a:solidFill>
                  <a:srgbClr val="0000FF"/>
                </a:solidFill>
                <a:latin typeface="Times New Roman" panose="02020603050405020304" pitchFamily="18" charset="0"/>
              </a:rPr>
              <a:t>得到注册链表首址</a:t>
            </a:r>
            <a:r>
              <a:rPr lang="zh-CN" altLang="en-US" sz="1800" smtClean="0">
                <a:latin typeface="Times New Roman" panose="02020603050405020304" pitchFamily="18" charset="0"/>
              </a:rPr>
              <a:t> *</a:t>
            </a: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        while (*tmp) {          /* </a:t>
            </a:r>
            <a:r>
              <a:rPr lang="zh-CN" altLang="en-US" sz="1800" smtClean="0">
                <a:solidFill>
                  <a:srgbClr val="0000FF"/>
                </a:solidFill>
                <a:latin typeface="Times New Roman" panose="02020603050405020304" pitchFamily="18" charset="0"/>
              </a:rPr>
              <a:t>从注册链表首开始遍</a:t>
            </a:r>
            <a:r>
              <a:rPr lang="zh-CN" altLang="en-US" sz="1800" smtClean="0">
                <a:latin typeface="Times New Roman" panose="02020603050405020304" pitchFamily="18" charset="0"/>
              </a:rPr>
              <a:t>历 *</a:t>
            </a: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                if (strcmp((*tmp)-&gt;name, fs-&gt;name) == 0) </a:t>
            </a:r>
          </a:p>
          <a:p>
            <a:pPr algn="just">
              <a:lnSpc>
                <a:spcPct val="90000"/>
              </a:lnSpc>
              <a:spcBef>
                <a:spcPct val="0"/>
              </a:spcBef>
              <a:buClrTx/>
              <a:buSzTx/>
              <a:buFontTx/>
              <a:buNone/>
            </a:pPr>
            <a:r>
              <a:rPr lang="en-US" altLang="zh-CN" sz="1800" smtClean="0">
                <a:latin typeface="Times New Roman" panose="02020603050405020304" pitchFamily="18" charset="0"/>
              </a:rPr>
              <a:t>                        return -EBUSY;          /* </a:t>
            </a:r>
            <a:r>
              <a:rPr lang="zh-CN" altLang="en-US" sz="1800" smtClean="0">
                <a:solidFill>
                  <a:srgbClr val="0000FF"/>
                </a:solidFill>
                <a:latin typeface="Times New Roman" panose="02020603050405020304" pitchFamily="18" charset="0"/>
              </a:rPr>
              <a:t>文件系统已注册，返回 </a:t>
            </a:r>
            <a:r>
              <a:rPr lang="zh-CN" altLang="en-US" sz="1800" smtClean="0">
                <a:latin typeface="Times New Roman" panose="02020603050405020304" pitchFamily="18" charset="0"/>
              </a:rPr>
              <a:t>*</a:t>
            </a: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                tmp = &amp;(*tmp)-&gt;next;            /*</a:t>
            </a:r>
            <a:r>
              <a:rPr lang="en-US" altLang="zh-CN" sz="1800" smtClean="0">
                <a:solidFill>
                  <a:srgbClr val="0000FF"/>
                </a:solidFill>
                <a:latin typeface="Times New Roman" panose="02020603050405020304" pitchFamily="18" charset="0"/>
              </a:rPr>
              <a:t> </a:t>
            </a:r>
            <a:r>
              <a:rPr lang="zh-CN" altLang="en-US" sz="1800" smtClean="0">
                <a:solidFill>
                  <a:srgbClr val="0000FF"/>
                </a:solidFill>
                <a:latin typeface="Times New Roman" panose="02020603050405020304" pitchFamily="18" charset="0"/>
              </a:rPr>
              <a:t>查看下一个注册结构体</a:t>
            </a:r>
            <a:r>
              <a:rPr lang="zh-CN" altLang="en-US" sz="1800" smtClean="0">
                <a:latin typeface="Times New Roman" panose="02020603050405020304" pitchFamily="18" charset="0"/>
              </a:rPr>
              <a:t> *</a:t>
            </a: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        }</a:t>
            </a:r>
          </a:p>
          <a:p>
            <a:pPr algn="just">
              <a:lnSpc>
                <a:spcPct val="90000"/>
              </a:lnSpc>
              <a:spcBef>
                <a:spcPct val="0"/>
              </a:spcBef>
              <a:buClrTx/>
              <a:buSzTx/>
              <a:buFontTx/>
              <a:buNone/>
            </a:pPr>
            <a:r>
              <a:rPr lang="en-US" altLang="zh-CN" sz="1800" smtClean="0">
                <a:latin typeface="Times New Roman" panose="02020603050405020304" pitchFamily="18" charset="0"/>
              </a:rPr>
              <a:t>        *tmp = fs;       /* </a:t>
            </a:r>
            <a:r>
              <a:rPr lang="zh-CN" altLang="en-US" sz="1800" smtClean="0">
                <a:solidFill>
                  <a:srgbClr val="0000FF"/>
                </a:solidFill>
                <a:latin typeface="Times New Roman" panose="02020603050405020304" pitchFamily="18" charset="0"/>
              </a:rPr>
              <a:t>把要注册的文件系统的注册结构体加到链表</a:t>
            </a:r>
            <a:r>
              <a:rPr lang="zh-CN" altLang="en-US" sz="1800" smtClean="0">
                <a:latin typeface="Times New Roman" panose="02020603050405020304" pitchFamily="18" charset="0"/>
              </a:rPr>
              <a:t> *</a:t>
            </a:r>
            <a:r>
              <a:rPr lang="en-US" altLang="zh-CN" sz="1800" smtClean="0">
                <a:latin typeface="Times New Roman" panose="02020603050405020304" pitchFamily="18" charset="0"/>
              </a:rPr>
              <a:t>/</a:t>
            </a:r>
          </a:p>
          <a:p>
            <a:pPr algn="just">
              <a:lnSpc>
                <a:spcPct val="90000"/>
              </a:lnSpc>
              <a:spcBef>
                <a:spcPct val="0"/>
              </a:spcBef>
              <a:buClrTx/>
              <a:buSzTx/>
              <a:buFontTx/>
              <a:buNone/>
            </a:pPr>
            <a:r>
              <a:rPr lang="en-US" altLang="zh-CN" sz="1800" smtClean="0">
                <a:latin typeface="Times New Roman" panose="02020603050405020304" pitchFamily="18" charset="0"/>
              </a:rPr>
              <a:t>        return 0;        /* </a:t>
            </a:r>
            <a:r>
              <a:rPr lang="zh-CN" altLang="en-US" sz="1800" smtClean="0">
                <a:solidFill>
                  <a:srgbClr val="0000FF"/>
                </a:solidFill>
                <a:latin typeface="Times New Roman" panose="02020603050405020304" pitchFamily="18" charset="0"/>
              </a:rPr>
              <a:t>注册成功，返回</a:t>
            </a:r>
            <a:r>
              <a:rPr lang="en-US" altLang="zh-CN" sz="1800" smtClean="0">
                <a:solidFill>
                  <a:srgbClr val="0000FF"/>
                </a:solidFill>
                <a:latin typeface="Times New Roman" panose="02020603050405020304" pitchFamily="18" charset="0"/>
              </a:rPr>
              <a:t>0</a:t>
            </a:r>
            <a:r>
              <a:rPr lang="en-US" altLang="zh-CN" sz="1800" smtClean="0">
                <a:latin typeface="Times New Roman" panose="02020603050405020304" pitchFamily="18" charset="0"/>
              </a:rPr>
              <a:t> */</a:t>
            </a:r>
          </a:p>
          <a:p>
            <a:pPr>
              <a:lnSpc>
                <a:spcPct val="90000"/>
              </a:lnSpc>
              <a:spcBef>
                <a:spcPct val="0"/>
              </a:spcBef>
              <a:buClrTx/>
              <a:buSzTx/>
              <a:buFontTx/>
              <a:buNone/>
            </a:pPr>
            <a:r>
              <a:rPr lang="en-US" altLang="zh-CN" sz="2400" smtClean="0">
                <a:latin typeface="Times New Roman" panose="02020603050405020304" pitchFamily="18" charset="0"/>
                <a:cs typeface="Times New Roman" panose="02020603050405020304" pitchFamily="18" charset="0"/>
              </a:rPr>
              <a:t>}</a:t>
            </a:r>
            <a:r>
              <a:rPr lang="en-US" altLang="zh-CN" sz="1900" smtClean="0">
                <a:latin typeface="Times New Roman" panose="02020603050405020304" pitchFamily="18" charset="0"/>
              </a:rPr>
              <a:t> </a:t>
            </a:r>
            <a:endParaRPr lang="en-US" altLang="zh-CN" sz="3200" smtClean="0">
              <a:latin typeface="Times New Roman" panose="02020603050405020304" pitchFamily="18" charset="0"/>
            </a:endParaRPr>
          </a:p>
          <a:p>
            <a:pPr>
              <a:lnSpc>
                <a:spcPct val="90000"/>
              </a:lnSpc>
              <a:spcBef>
                <a:spcPct val="0"/>
              </a:spcBef>
              <a:buClrTx/>
              <a:buSzTx/>
              <a:buFontTx/>
              <a:buNone/>
            </a:pPr>
            <a:endParaRPr lang="en-US" altLang="zh-CN" smtClean="0">
              <a:latin typeface="Times New Roman" panose="02020603050405020304" pitchFamily="18" charset="0"/>
            </a:endParaRPr>
          </a:p>
        </p:txBody>
      </p:sp>
    </p:spTree>
    <p:extLst>
      <p:ext uri="{BB962C8B-B14F-4D97-AF65-F5344CB8AC3E}">
        <p14:creationId xmlns:p14="http://schemas.microsoft.com/office/powerpoint/2010/main" val="20087409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609600" y="228600"/>
            <a:ext cx="7772400" cy="788988"/>
          </a:xfrm>
        </p:spPr>
        <p:txBody>
          <a:bodyPr/>
          <a:lstStyle/>
          <a:p>
            <a:pPr eaLnBrk="1" hangingPunct="1"/>
            <a:r>
              <a:rPr lang="zh-CN" altLang="en-US" sz="3800" b="1" smtClean="0">
                <a:solidFill>
                  <a:schemeClr val="accent2"/>
                </a:solidFill>
              </a:rPr>
              <a:t>文件系统的安装</a:t>
            </a:r>
            <a:endParaRPr lang="zh-CN" altLang="en-US" sz="3800" b="1" smtClean="0">
              <a:solidFill>
                <a:srgbClr val="FFFF00"/>
              </a:solidFill>
            </a:endParaRPr>
          </a:p>
        </p:txBody>
      </p:sp>
      <p:sp>
        <p:nvSpPr>
          <p:cNvPr id="1220611" name="Rectangle 3"/>
          <p:cNvSpPr>
            <a:spLocks noGrp="1" noChangeArrowheads="1"/>
          </p:cNvSpPr>
          <p:nvPr>
            <p:ph type="body" idx="1"/>
          </p:nvPr>
        </p:nvSpPr>
        <p:spPr>
          <a:xfrm>
            <a:off x="468313" y="1341438"/>
            <a:ext cx="8305800" cy="3886200"/>
          </a:xfrm>
        </p:spPr>
        <p:txBody>
          <a:bodyPr/>
          <a:lstStyle/>
          <a:p>
            <a:pPr algn="just" eaLnBrk="1" hangingPunct="1">
              <a:lnSpc>
                <a:spcPct val="90000"/>
              </a:lnSpc>
            </a:pPr>
            <a:r>
              <a:rPr lang="zh-CN" altLang="en-US" smtClean="0">
                <a:latin typeface="宋体" panose="02010600030101010101" pitchFamily="2" charset="-122"/>
              </a:rPr>
              <a:t>文件系统除在</a:t>
            </a:r>
            <a:r>
              <a:rPr lang="en-US" altLang="zh-CN" smtClean="0">
                <a:latin typeface="宋体" panose="02010600030101010101" pitchFamily="2" charset="-122"/>
              </a:rPr>
              <a:t>VFS</a:t>
            </a:r>
            <a:r>
              <a:rPr lang="zh-CN" altLang="en-US" smtClean="0">
                <a:latin typeface="宋体" panose="02010600030101010101" pitchFamily="2" charset="-122"/>
              </a:rPr>
              <a:t>中注册，还必须</a:t>
            </a:r>
            <a:r>
              <a:rPr lang="zh-CN" altLang="en-US" smtClean="0">
                <a:solidFill>
                  <a:srgbClr val="FF0000"/>
                </a:solidFill>
                <a:latin typeface="宋体" panose="02010600030101010101" pitchFamily="2" charset="-122"/>
              </a:rPr>
              <a:t>安装</a:t>
            </a:r>
            <a:r>
              <a:rPr lang="zh-CN" altLang="en-US" smtClean="0">
                <a:latin typeface="宋体" panose="02010600030101010101" pitchFamily="2" charset="-122"/>
              </a:rPr>
              <a:t>到系统中。</a:t>
            </a:r>
            <a:r>
              <a:rPr kumimoji="1" lang="zh-CN" altLang="en-US" smtClean="0">
                <a:latin typeface="Times New Roman" panose="02020603050405020304" pitchFamily="18" charset="0"/>
              </a:rPr>
              <a:t>因为表示文件系统的超级块还没有建立起来。</a:t>
            </a:r>
            <a:r>
              <a:rPr kumimoji="1" lang="zh-CN" altLang="en-US" smtClean="0">
                <a:solidFill>
                  <a:schemeClr val="accent2"/>
                </a:solidFill>
                <a:latin typeface="Times New Roman" panose="02020603050405020304" pitchFamily="18" charset="0"/>
              </a:rPr>
              <a:t>文件系统的安装用于建立它的</a:t>
            </a:r>
            <a:r>
              <a:rPr kumimoji="1" lang="en-US" altLang="zh-CN" smtClean="0">
                <a:solidFill>
                  <a:schemeClr val="accent2"/>
                </a:solidFill>
                <a:latin typeface="Times New Roman" panose="02020603050405020304" pitchFamily="18" charset="0"/>
              </a:rPr>
              <a:t>VFS</a:t>
            </a:r>
            <a:r>
              <a:rPr kumimoji="1" lang="zh-CN" altLang="en-US" smtClean="0">
                <a:solidFill>
                  <a:schemeClr val="accent2"/>
                </a:solidFill>
                <a:latin typeface="Times New Roman" panose="02020603050405020304" pitchFamily="18" charset="0"/>
              </a:rPr>
              <a:t>超级块。</a:t>
            </a:r>
          </a:p>
          <a:p>
            <a:pPr algn="just" eaLnBrk="1" hangingPunct="1">
              <a:lnSpc>
                <a:spcPct val="90000"/>
              </a:lnSpc>
            </a:pPr>
            <a:r>
              <a:rPr lang="zh-CN" altLang="en-US" smtClean="0">
                <a:latin typeface="宋体" panose="02010600030101010101" pitchFamily="2" charset="-122"/>
              </a:rPr>
              <a:t>要安装的文件系统必须已经存在于外存磁盘空间上，每个文件系统占用一个独立的磁盘分区，并且具有各自的树型层次结构。</a:t>
            </a:r>
          </a:p>
          <a:p>
            <a:pPr algn="just" eaLnBrk="1" hangingPunct="1">
              <a:lnSpc>
                <a:spcPct val="90000"/>
              </a:lnSpc>
            </a:pPr>
            <a:r>
              <a:rPr lang="zh-CN" altLang="en-US" smtClean="0">
                <a:latin typeface="宋体" panose="02010600030101010101" pitchFamily="2" charset="-122"/>
              </a:rPr>
              <a:t>由于</a:t>
            </a:r>
            <a:r>
              <a:rPr lang="en-US" altLang="zh-CN" smtClean="0">
                <a:latin typeface="宋体" panose="02010600030101010101" pitchFamily="2" charset="-122"/>
              </a:rPr>
              <a:t>EXT2</a:t>
            </a:r>
            <a:r>
              <a:rPr lang="zh-CN" altLang="en-US" smtClean="0">
                <a:latin typeface="宋体" panose="02010600030101010101" pitchFamily="2" charset="-122"/>
              </a:rPr>
              <a:t>是</a:t>
            </a:r>
            <a:r>
              <a:rPr lang="en-US" altLang="zh-CN" smtClean="0">
                <a:latin typeface="宋体" panose="02010600030101010101" pitchFamily="2" charset="-122"/>
              </a:rPr>
              <a:t>Linux</a:t>
            </a:r>
            <a:r>
              <a:rPr lang="zh-CN" altLang="en-US" smtClean="0">
                <a:latin typeface="宋体" panose="02010600030101010101" pitchFamily="2" charset="-122"/>
              </a:rPr>
              <a:t>的标准文件系统，所以系统把</a:t>
            </a:r>
            <a:r>
              <a:rPr lang="en-US" altLang="zh-CN" smtClean="0">
                <a:solidFill>
                  <a:srgbClr val="800000"/>
                </a:solidFill>
                <a:latin typeface="宋体" panose="02010600030101010101" pitchFamily="2" charset="-122"/>
              </a:rPr>
              <a:t>EXT2</a:t>
            </a:r>
            <a:r>
              <a:rPr lang="zh-CN" altLang="en-US" smtClean="0">
                <a:solidFill>
                  <a:srgbClr val="800000"/>
                </a:solidFill>
                <a:latin typeface="宋体" panose="02010600030101010101" pitchFamily="2" charset="-122"/>
              </a:rPr>
              <a:t>文件系统</a:t>
            </a:r>
            <a:r>
              <a:rPr lang="zh-CN" altLang="en-US" smtClean="0">
                <a:latin typeface="宋体" panose="02010600030101010101" pitchFamily="2" charset="-122"/>
              </a:rPr>
              <a:t>的磁盘分区做为系统的</a:t>
            </a:r>
            <a:r>
              <a:rPr lang="zh-CN" altLang="en-US" smtClean="0">
                <a:solidFill>
                  <a:srgbClr val="800000"/>
                </a:solidFill>
                <a:latin typeface="宋体" panose="02010600030101010101" pitchFamily="2" charset="-122"/>
              </a:rPr>
              <a:t>根文件系统</a:t>
            </a:r>
            <a:endParaRPr lang="zh-CN" altLang="en-US" smtClean="0">
              <a:latin typeface="宋体" panose="02010600030101010101" pitchFamily="2" charset="-122"/>
            </a:endParaRPr>
          </a:p>
          <a:p>
            <a:pPr algn="just" eaLnBrk="1" hangingPunct="1">
              <a:lnSpc>
                <a:spcPct val="90000"/>
              </a:lnSpc>
            </a:pPr>
            <a:r>
              <a:rPr lang="en-US" altLang="zh-CN" smtClean="0">
                <a:latin typeface="宋体" panose="02010600030101010101" pitchFamily="2" charset="-122"/>
              </a:rPr>
              <a:t>EXT2</a:t>
            </a:r>
            <a:r>
              <a:rPr lang="zh-CN" altLang="en-US" smtClean="0">
                <a:latin typeface="宋体" panose="02010600030101010101" pitchFamily="2" charset="-122"/>
              </a:rPr>
              <a:t>以外的文件系统则安装在根文件系统下的某个目录下，成为系统树型结构中的一个分支。</a:t>
            </a:r>
          </a:p>
        </p:txBody>
      </p:sp>
    </p:spTree>
    <p:extLst>
      <p:ext uri="{BB962C8B-B14F-4D97-AF65-F5344CB8AC3E}">
        <p14:creationId xmlns:p14="http://schemas.microsoft.com/office/powerpoint/2010/main" val="2579012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0611">
                                            <p:txEl>
                                              <p:pRg st="0" end="0"/>
                                            </p:txEl>
                                          </p:spTgt>
                                        </p:tgtEl>
                                        <p:attrNameLst>
                                          <p:attrName>style.visibility</p:attrName>
                                        </p:attrNameLst>
                                      </p:cBhvr>
                                      <p:to>
                                        <p:strVal val="visible"/>
                                      </p:to>
                                    </p:set>
                                    <p:animEffect transition="in" filter="blinds(horizontal)">
                                      <p:cBhvr>
                                        <p:cTn id="7" dur="500"/>
                                        <p:tgtEl>
                                          <p:spTgt spid="12206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0611">
                                            <p:txEl>
                                              <p:pRg st="1" end="1"/>
                                            </p:txEl>
                                          </p:spTgt>
                                        </p:tgtEl>
                                        <p:attrNameLst>
                                          <p:attrName>style.visibility</p:attrName>
                                        </p:attrNameLst>
                                      </p:cBhvr>
                                      <p:to>
                                        <p:strVal val="visible"/>
                                      </p:to>
                                    </p:set>
                                    <p:animEffect transition="in" filter="blinds(horizontal)">
                                      <p:cBhvr>
                                        <p:cTn id="12" dur="500"/>
                                        <p:tgtEl>
                                          <p:spTgt spid="12206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20611">
                                            <p:txEl>
                                              <p:pRg st="2" end="2"/>
                                            </p:txEl>
                                          </p:spTgt>
                                        </p:tgtEl>
                                        <p:attrNameLst>
                                          <p:attrName>style.visibility</p:attrName>
                                        </p:attrNameLst>
                                      </p:cBhvr>
                                      <p:to>
                                        <p:strVal val="visible"/>
                                      </p:to>
                                    </p:set>
                                    <p:animEffect transition="in" filter="blinds(horizontal)">
                                      <p:cBhvr>
                                        <p:cTn id="17" dur="500"/>
                                        <p:tgtEl>
                                          <p:spTgt spid="12206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20611">
                                            <p:txEl>
                                              <p:pRg st="3" end="3"/>
                                            </p:txEl>
                                          </p:spTgt>
                                        </p:tgtEl>
                                        <p:attrNameLst>
                                          <p:attrName>style.visibility</p:attrName>
                                        </p:attrNameLst>
                                      </p:cBhvr>
                                      <p:to>
                                        <p:strVal val="visible"/>
                                      </p:to>
                                    </p:set>
                                    <p:animEffect transition="in" filter="blinds(horizontal)">
                                      <p:cBhvr>
                                        <p:cTn id="22" dur="500"/>
                                        <p:tgtEl>
                                          <p:spTgt spid="12206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0611"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descr="文件系统的安装"/>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268413"/>
            <a:ext cx="6629400" cy="499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Rectangle 3"/>
          <p:cNvSpPr>
            <a:spLocks noChangeArrowheads="1"/>
          </p:cNvSpPr>
          <p:nvPr/>
        </p:nvSpPr>
        <p:spPr bwMode="auto">
          <a:xfrm>
            <a:off x="609600" y="228600"/>
            <a:ext cx="7772400" cy="78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zh-CN" altLang="en-US" sz="3800" b="1">
                <a:solidFill>
                  <a:schemeClr val="accent2"/>
                </a:solidFill>
              </a:rPr>
              <a:t>文件系统的安装</a:t>
            </a:r>
            <a:endParaRPr lang="zh-CN" altLang="en-US" sz="3800" b="1">
              <a:solidFill>
                <a:srgbClr val="FFFF00"/>
              </a:solidFill>
            </a:endParaRPr>
          </a:p>
        </p:txBody>
      </p:sp>
    </p:spTree>
    <p:extLst>
      <p:ext uri="{BB962C8B-B14F-4D97-AF65-F5344CB8AC3E}">
        <p14:creationId xmlns:p14="http://schemas.microsoft.com/office/powerpoint/2010/main" val="249310656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609600" y="228600"/>
            <a:ext cx="7772400" cy="788988"/>
          </a:xfrm>
        </p:spPr>
        <p:txBody>
          <a:bodyPr/>
          <a:lstStyle/>
          <a:p>
            <a:pPr eaLnBrk="1" hangingPunct="1"/>
            <a:r>
              <a:rPr lang="zh-CN" altLang="en-US" sz="3800" b="1" smtClean="0">
                <a:solidFill>
                  <a:schemeClr val="accent2"/>
                </a:solidFill>
              </a:rPr>
              <a:t>文件系统的安装</a:t>
            </a:r>
            <a:endParaRPr lang="zh-CN" altLang="en-US" sz="3800" b="1" smtClean="0">
              <a:solidFill>
                <a:srgbClr val="FFFF00"/>
              </a:solidFill>
            </a:endParaRPr>
          </a:p>
        </p:txBody>
      </p:sp>
      <p:sp>
        <p:nvSpPr>
          <p:cNvPr id="75779" name="Rectangle 3"/>
          <p:cNvSpPr>
            <a:spLocks noGrp="1" noChangeArrowheads="1"/>
          </p:cNvSpPr>
          <p:nvPr>
            <p:ph type="body" idx="1"/>
          </p:nvPr>
        </p:nvSpPr>
        <p:spPr>
          <a:xfrm>
            <a:off x="539750" y="1268413"/>
            <a:ext cx="8305800" cy="3324225"/>
          </a:xfrm>
        </p:spPr>
        <p:txBody>
          <a:bodyPr/>
          <a:lstStyle/>
          <a:p>
            <a:pPr eaLnBrk="1" hangingPunct="1"/>
            <a:r>
              <a:rPr lang="zh-CN" altLang="en-US" sz="3200" smtClean="0"/>
              <a:t>文件系统的安装和卸载一般只能由超级用户</a:t>
            </a:r>
            <a:r>
              <a:rPr lang="en-US" altLang="zh-CN" sz="3200" smtClean="0"/>
              <a:t>root</a:t>
            </a:r>
            <a:r>
              <a:rPr lang="zh-CN" altLang="en-US" sz="3200" smtClean="0"/>
              <a:t>完成。</a:t>
            </a:r>
          </a:p>
          <a:p>
            <a:pPr eaLnBrk="1" hangingPunct="1"/>
            <a:r>
              <a:rPr lang="zh-CN" altLang="en-US" sz="3200" smtClean="0"/>
              <a:t>在安装文件系统时，要指定</a:t>
            </a:r>
            <a:r>
              <a:rPr lang="en-US" altLang="zh-CN" sz="3200" smtClean="0"/>
              <a:t>3</a:t>
            </a:r>
            <a:r>
              <a:rPr lang="zh-CN" altLang="en-US" sz="3200" smtClean="0"/>
              <a:t>种信息：文件系统的名称、包含文件系统的物理块设备和文件系统在已有文件系统中的安装点</a:t>
            </a:r>
          </a:p>
          <a:p>
            <a:pPr eaLnBrk="1" hangingPunct="1"/>
            <a:endParaRPr lang="en-US" altLang="zh-CN" sz="3200" smtClean="0"/>
          </a:p>
        </p:txBody>
      </p:sp>
      <p:sp>
        <p:nvSpPr>
          <p:cNvPr id="75780" name="Rectangle 4"/>
          <p:cNvSpPr>
            <a:spLocks noChangeArrowheads="1"/>
          </p:cNvSpPr>
          <p:nvPr/>
        </p:nvSpPr>
        <p:spPr bwMode="auto">
          <a:xfrm>
            <a:off x="144463" y="4581525"/>
            <a:ext cx="8748712" cy="1524000"/>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en-US" altLang="zh-CN" sz="2800">
                <a:latin typeface="Arial" panose="020B0604020202020204" pitchFamily="34" charset="0"/>
              </a:rPr>
              <a:t>$ mount -t iso9660       /dev/hdc        /mnt/cdrom</a:t>
            </a:r>
          </a:p>
          <a:p>
            <a:pPr algn="ctr" eaLnBrk="1" hangingPunct="1">
              <a:lnSpc>
                <a:spcPct val="80000"/>
              </a:lnSpc>
            </a:pPr>
            <a:r>
              <a:rPr lang="zh-CN" altLang="en-US" sz="2800">
                <a:latin typeface="Arial" panose="020B0604020202020204" pitchFamily="34" charset="0"/>
              </a:rPr>
              <a:t>安装的文件系统类型、文件系统所在设备以及挂装点。</a:t>
            </a:r>
          </a:p>
          <a:p>
            <a:pPr algn="ctr" eaLnBrk="1" hangingPunct="1">
              <a:lnSpc>
                <a:spcPct val="80000"/>
              </a:lnSpc>
              <a:buFont typeface="Wingdings" panose="05000000000000000000" pitchFamily="2" charset="2"/>
              <a:buChar char="n"/>
            </a:pPr>
            <a:endParaRPr lang="en-US" altLang="zh-CN" sz="2800">
              <a:latin typeface="Arial" panose="020B0604020202020204" pitchFamily="34" charset="0"/>
            </a:endParaRPr>
          </a:p>
        </p:txBody>
      </p:sp>
    </p:spTree>
    <p:extLst>
      <p:ext uri="{BB962C8B-B14F-4D97-AF65-F5344CB8AC3E}">
        <p14:creationId xmlns:p14="http://schemas.microsoft.com/office/powerpoint/2010/main" val="197696618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609600" y="228600"/>
            <a:ext cx="7772400" cy="788988"/>
          </a:xfrm>
        </p:spPr>
        <p:txBody>
          <a:bodyPr/>
          <a:lstStyle/>
          <a:p>
            <a:pPr eaLnBrk="1" hangingPunct="1"/>
            <a:r>
              <a:rPr lang="zh-CN" altLang="en-US" sz="3800" b="1" smtClean="0">
                <a:solidFill>
                  <a:schemeClr val="accent2"/>
                </a:solidFill>
              </a:rPr>
              <a:t>文件系统的安装：几种途径</a:t>
            </a:r>
            <a:endParaRPr lang="zh-CN" altLang="en-US" sz="3800" b="1" smtClean="0">
              <a:solidFill>
                <a:srgbClr val="FFFF00"/>
              </a:solidFill>
            </a:endParaRPr>
          </a:p>
        </p:txBody>
      </p:sp>
      <p:sp>
        <p:nvSpPr>
          <p:cNvPr id="76803" name="Rectangle 3"/>
          <p:cNvSpPr>
            <a:spLocks noGrp="1" noChangeArrowheads="1"/>
          </p:cNvSpPr>
          <p:nvPr>
            <p:ph type="body" idx="1"/>
          </p:nvPr>
        </p:nvSpPr>
        <p:spPr>
          <a:xfrm>
            <a:off x="395288" y="1700213"/>
            <a:ext cx="8305800" cy="3886200"/>
          </a:xfrm>
        </p:spPr>
        <p:txBody>
          <a:bodyPr/>
          <a:lstStyle/>
          <a:p>
            <a:pPr eaLnBrk="1" hangingPunct="1">
              <a:lnSpc>
                <a:spcPct val="90000"/>
              </a:lnSpc>
            </a:pPr>
            <a:r>
              <a:rPr lang="zh-CN" altLang="en-US" smtClean="0"/>
              <a:t>如果要在系统启动时自动安装文件系统，在 </a:t>
            </a:r>
            <a:r>
              <a:rPr lang="en-US" altLang="zh-CN" smtClean="0"/>
              <a:t>/etc/fstab </a:t>
            </a:r>
            <a:r>
              <a:rPr lang="zh-CN" altLang="en-US" smtClean="0"/>
              <a:t>文件中为每种文件系统的安装提供有关文件系统的名称、包含该文件系统的物理设备以及该文件系统的安装点的信息。</a:t>
            </a:r>
          </a:p>
          <a:p>
            <a:pPr algn="just" eaLnBrk="1" hangingPunct="1">
              <a:lnSpc>
                <a:spcPct val="90000"/>
              </a:lnSpc>
            </a:pPr>
            <a:r>
              <a:rPr lang="zh-CN" altLang="en-US" smtClean="0"/>
              <a:t>当</a:t>
            </a:r>
            <a:r>
              <a:rPr lang="en-US" altLang="zh-CN" smtClean="0"/>
              <a:t>Linux</a:t>
            </a:r>
            <a:r>
              <a:rPr lang="zh-CN" altLang="en-US" smtClean="0"/>
              <a:t>自举时，首先装入根文件系统，然后根据</a:t>
            </a:r>
            <a:r>
              <a:rPr lang="en-US" altLang="zh-CN" smtClean="0"/>
              <a:t>/etc/fstab</a:t>
            </a:r>
            <a:r>
              <a:rPr lang="zh-CN" altLang="en-US" smtClean="0"/>
              <a:t>中的登记项，使用</a:t>
            </a:r>
            <a:r>
              <a:rPr lang="en-US" altLang="zh-CN" smtClean="0"/>
              <a:t>mount</a:t>
            </a:r>
            <a:r>
              <a:rPr lang="zh-CN" altLang="en-US" smtClean="0"/>
              <a:t>命令自动逐个安装文件系统。</a:t>
            </a:r>
          </a:p>
          <a:p>
            <a:pPr algn="just" eaLnBrk="1" hangingPunct="1">
              <a:lnSpc>
                <a:spcPct val="90000"/>
              </a:lnSpc>
            </a:pPr>
            <a:r>
              <a:rPr lang="zh-CN" altLang="en-US" smtClean="0"/>
              <a:t>此外用户也可以显式地通过</a:t>
            </a:r>
            <a:r>
              <a:rPr lang="en-US" altLang="zh-CN" smtClean="0"/>
              <a:t>mount</a:t>
            </a:r>
            <a:r>
              <a:rPr lang="zh-CN" altLang="en-US" smtClean="0"/>
              <a:t>和</a:t>
            </a:r>
            <a:r>
              <a:rPr lang="en-US" altLang="zh-CN" smtClean="0"/>
              <a:t>umount</a:t>
            </a:r>
            <a:r>
              <a:rPr lang="zh-CN" altLang="en-US" smtClean="0"/>
              <a:t>命令安装和卸装文件系统。</a:t>
            </a:r>
          </a:p>
        </p:txBody>
      </p:sp>
    </p:spTree>
    <p:extLst>
      <p:ext uri="{BB962C8B-B14F-4D97-AF65-F5344CB8AC3E}">
        <p14:creationId xmlns:p14="http://schemas.microsoft.com/office/powerpoint/2010/main" val="48632083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zh-CN" altLang="en-US" smtClean="0"/>
              <a:t>文件系统安装：数据结构</a:t>
            </a:r>
          </a:p>
        </p:txBody>
      </p:sp>
      <p:sp>
        <p:nvSpPr>
          <p:cNvPr id="77827" name="Rectangle 3"/>
          <p:cNvSpPr>
            <a:spLocks noGrp="1" noChangeArrowheads="1"/>
          </p:cNvSpPr>
          <p:nvPr>
            <p:ph type="body" idx="1"/>
          </p:nvPr>
        </p:nvSpPr>
        <p:spPr>
          <a:xfrm>
            <a:off x="684213" y="1700213"/>
            <a:ext cx="7772400" cy="4530725"/>
          </a:xfrm>
        </p:spPr>
        <p:txBody>
          <a:bodyPr/>
          <a:lstStyle/>
          <a:p>
            <a:pPr eaLnBrk="1" hangingPunct="1">
              <a:lnSpc>
                <a:spcPct val="90000"/>
              </a:lnSpc>
            </a:pPr>
            <a:r>
              <a:rPr lang="zh-CN" altLang="en-US" sz="3200" smtClean="0"/>
              <a:t>结构类型为</a:t>
            </a:r>
            <a:r>
              <a:rPr lang="en-US" altLang="zh-CN" sz="3200" smtClean="0"/>
              <a:t>vfsmount</a:t>
            </a:r>
            <a:r>
              <a:rPr lang="zh-CN" altLang="en-US" sz="3200" smtClean="0"/>
              <a:t>的数据结构描述每个已安装文件描述符，内核中是一个双向链表，首指针为</a:t>
            </a:r>
            <a:r>
              <a:rPr lang="en-US" altLang="zh-CN" sz="3200" smtClean="0"/>
              <a:t>mnt_list</a:t>
            </a:r>
          </a:p>
          <a:p>
            <a:pPr eaLnBrk="1" hangingPunct="1">
              <a:lnSpc>
                <a:spcPct val="90000"/>
              </a:lnSpc>
            </a:pPr>
            <a:r>
              <a:rPr lang="zh-CN" altLang="en-US" sz="3200" smtClean="0"/>
              <a:t>可使用的操作</a:t>
            </a:r>
          </a:p>
          <a:p>
            <a:pPr lvl="1" eaLnBrk="1" hangingPunct="1">
              <a:lnSpc>
                <a:spcPct val="90000"/>
              </a:lnSpc>
            </a:pPr>
            <a:r>
              <a:rPr lang="en-US" altLang="zh-CN" sz="3000" smtClean="0"/>
              <a:t>alloc_vfsmnt()</a:t>
            </a:r>
            <a:r>
              <a:rPr lang="zh-CN" altLang="en-US" sz="3000" smtClean="0"/>
              <a:t>：分配并初始化已安装文件系统描述符</a:t>
            </a:r>
          </a:p>
          <a:p>
            <a:pPr lvl="1" eaLnBrk="1" hangingPunct="1">
              <a:lnSpc>
                <a:spcPct val="90000"/>
              </a:lnSpc>
            </a:pPr>
            <a:r>
              <a:rPr lang="en-US" altLang="zh-CN" sz="3000" smtClean="0"/>
              <a:t>free_vfsmnt()</a:t>
            </a:r>
            <a:r>
              <a:rPr lang="zh-CN" altLang="en-US" sz="3000" smtClean="0"/>
              <a:t>：释放指定的已安装文件系统描述符</a:t>
            </a:r>
          </a:p>
          <a:p>
            <a:pPr lvl="1" eaLnBrk="1" hangingPunct="1">
              <a:lnSpc>
                <a:spcPct val="90000"/>
              </a:lnSpc>
            </a:pPr>
            <a:r>
              <a:rPr lang="en-US" altLang="zh-CN" sz="3000" smtClean="0"/>
              <a:t>lookup_mnt()</a:t>
            </a:r>
            <a:r>
              <a:rPr lang="zh-CN" altLang="en-US" sz="3000" smtClean="0"/>
              <a:t>：在散列表中查找描述符并返回它的地址</a:t>
            </a:r>
          </a:p>
        </p:txBody>
      </p:sp>
    </p:spTree>
    <p:extLst>
      <p:ext uri="{BB962C8B-B14F-4D97-AF65-F5344CB8AC3E}">
        <p14:creationId xmlns:p14="http://schemas.microsoft.com/office/powerpoint/2010/main" val="85463865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body" idx="1"/>
          </p:nvPr>
        </p:nvSpPr>
        <p:spPr>
          <a:xfrm>
            <a:off x="395288" y="908050"/>
            <a:ext cx="8305800" cy="4038600"/>
          </a:xfrm>
          <a:solidFill>
            <a:schemeClr val="accent1"/>
          </a:solidFill>
        </p:spPr>
        <p:txBody>
          <a:bodyPr/>
          <a:lstStyle/>
          <a:p>
            <a:pPr algn="just" eaLnBrk="1" hangingPunct="1">
              <a:buFont typeface="Wingdings" panose="05000000000000000000" pitchFamily="2" charset="2"/>
              <a:buNone/>
            </a:pPr>
            <a:r>
              <a:rPr lang="en-US" altLang="zh-CN" sz="2400" smtClean="0"/>
              <a:t>struct </a:t>
            </a:r>
            <a:r>
              <a:rPr lang="en-US" altLang="zh-CN" sz="2400" smtClean="0">
                <a:solidFill>
                  <a:srgbClr val="FF0000"/>
                </a:solidFill>
              </a:rPr>
              <a:t>vfsmount </a:t>
            </a:r>
            <a:r>
              <a:rPr lang="en-US" altLang="zh-CN" sz="2400" smtClean="0"/>
              <a:t>{</a:t>
            </a:r>
          </a:p>
          <a:p>
            <a:pPr algn="just" eaLnBrk="1" hangingPunct="1">
              <a:buFont typeface="Wingdings" panose="05000000000000000000" pitchFamily="2" charset="2"/>
              <a:buNone/>
            </a:pPr>
            <a:r>
              <a:rPr lang="en-US" altLang="zh-CN" sz="2400" smtClean="0"/>
              <a:t>  kdev_t  mnt_dev;	/* </a:t>
            </a:r>
            <a:r>
              <a:rPr lang="zh-CN" altLang="en-US" sz="2400" smtClean="0">
                <a:latin typeface="Times New Roman" panose="02020603050405020304" pitchFamily="18" charset="0"/>
              </a:rPr>
              <a:t>文件系统所在的主次设备号</a:t>
            </a:r>
            <a:r>
              <a:rPr lang="zh-CN" altLang="en-US" sz="2400" smtClean="0"/>
              <a:t> *</a:t>
            </a:r>
            <a:r>
              <a:rPr lang="en-US" altLang="zh-CN" sz="2400" smtClean="0"/>
              <a:t>/</a:t>
            </a:r>
          </a:p>
          <a:p>
            <a:pPr algn="just" eaLnBrk="1" hangingPunct="1">
              <a:buFont typeface="Wingdings" panose="05000000000000000000" pitchFamily="2" charset="2"/>
              <a:buNone/>
            </a:pPr>
            <a:r>
              <a:rPr lang="en-US" altLang="zh-CN" sz="2400" smtClean="0"/>
              <a:t>  char*  mnt_devname;/*</a:t>
            </a:r>
            <a:r>
              <a:rPr lang="zh-CN" altLang="en-US" sz="2400" smtClean="0">
                <a:latin typeface="Times New Roman" panose="02020603050405020304" pitchFamily="18" charset="0"/>
              </a:rPr>
              <a:t>文件系统所在的设备名，</a:t>
            </a:r>
            <a:r>
              <a:rPr lang="zh-CN" altLang="en-US" sz="2400" smtClean="0"/>
              <a:t>*</a:t>
            </a:r>
            <a:r>
              <a:rPr lang="en-US" altLang="zh-CN" sz="2400" smtClean="0"/>
              <a:t>/</a:t>
            </a:r>
          </a:p>
          <a:p>
            <a:pPr algn="just" eaLnBrk="1" hangingPunct="1">
              <a:buFont typeface="Wingdings" panose="05000000000000000000" pitchFamily="2" charset="2"/>
              <a:buNone/>
            </a:pPr>
            <a:r>
              <a:rPr lang="en-US" altLang="zh-CN" sz="2400" smtClean="0"/>
              <a:t>  char*  mnt_dirname;/* </a:t>
            </a:r>
            <a:r>
              <a:rPr lang="zh-CN" altLang="en-US" sz="2400" smtClean="0">
                <a:latin typeface="Times New Roman" panose="02020603050405020304" pitchFamily="18" charset="0"/>
              </a:rPr>
              <a:t>安装目录名</a:t>
            </a:r>
            <a:r>
              <a:rPr lang="zh-CN" altLang="en-US" sz="2400" smtClean="0"/>
              <a:t> *</a:t>
            </a:r>
            <a:r>
              <a:rPr lang="en-US" altLang="zh-CN" sz="2400" smtClean="0"/>
              <a:t>/</a:t>
            </a:r>
          </a:p>
          <a:p>
            <a:pPr algn="just" eaLnBrk="1" hangingPunct="1">
              <a:buFont typeface="Wingdings" panose="05000000000000000000" pitchFamily="2" charset="2"/>
              <a:buNone/>
            </a:pPr>
            <a:r>
              <a:rPr lang="en-US" altLang="zh-CN" sz="2400" smtClean="0"/>
              <a:t>  unsigned int  mnt_flags;/* </a:t>
            </a:r>
            <a:r>
              <a:rPr lang="zh-CN" altLang="en-US" sz="2400" smtClean="0">
                <a:latin typeface="Times New Roman" panose="02020603050405020304" pitchFamily="18" charset="0"/>
              </a:rPr>
              <a:t>设备标志</a:t>
            </a:r>
            <a:r>
              <a:rPr lang="zh-CN" altLang="en-US" sz="2400" smtClean="0"/>
              <a:t> *</a:t>
            </a:r>
            <a:r>
              <a:rPr lang="en-US" altLang="zh-CN" sz="2400" smtClean="0"/>
              <a:t>/</a:t>
            </a:r>
          </a:p>
          <a:p>
            <a:pPr algn="just" eaLnBrk="1" hangingPunct="1">
              <a:buFont typeface="Wingdings" panose="05000000000000000000" pitchFamily="2" charset="2"/>
              <a:buNone/>
            </a:pPr>
            <a:r>
              <a:rPr lang="en-US" altLang="zh-CN" sz="2400" smtClean="0"/>
              <a:t>  struct semaphore  mnt_sem;/* </a:t>
            </a:r>
            <a:r>
              <a:rPr lang="zh-CN" altLang="en-US" sz="2400" smtClean="0">
                <a:latin typeface="Times New Roman" panose="02020603050405020304" pitchFamily="18" charset="0"/>
              </a:rPr>
              <a:t>设备有关的信号量</a:t>
            </a:r>
            <a:r>
              <a:rPr lang="zh-CN" altLang="en-US" sz="2400" smtClean="0"/>
              <a:t> *</a:t>
            </a:r>
            <a:r>
              <a:rPr lang="en-US" altLang="zh-CN" sz="2400" smtClean="0"/>
              <a:t>/</a:t>
            </a:r>
          </a:p>
          <a:p>
            <a:pPr algn="just" eaLnBrk="1" hangingPunct="1">
              <a:buFont typeface="Wingdings" panose="05000000000000000000" pitchFamily="2" charset="2"/>
              <a:buNone/>
            </a:pPr>
            <a:r>
              <a:rPr lang="en-US" altLang="zh-CN" sz="2400" smtClean="0"/>
              <a:t>  struct super_block*  mnt_sb;/* </a:t>
            </a:r>
            <a:r>
              <a:rPr lang="zh-CN" altLang="en-US" sz="2400" smtClean="0">
                <a:latin typeface="Times New Roman" panose="02020603050405020304" pitchFamily="18" charset="0"/>
              </a:rPr>
              <a:t>指向超级块</a:t>
            </a:r>
            <a:r>
              <a:rPr lang="zh-CN" altLang="en-US" sz="2400" smtClean="0"/>
              <a:t> *</a:t>
            </a:r>
            <a:r>
              <a:rPr lang="en-US" altLang="zh-CN" sz="2400" smtClean="0"/>
              <a:t>/</a:t>
            </a:r>
          </a:p>
          <a:p>
            <a:pPr algn="just" eaLnBrk="1" hangingPunct="1">
              <a:buFont typeface="Wingdings" panose="05000000000000000000" pitchFamily="2" charset="2"/>
              <a:buNone/>
            </a:pPr>
            <a:r>
              <a:rPr lang="en-US" altLang="zh-CN" sz="2400" smtClean="0"/>
              <a:t>  struct vfsmount* mnt_next; /* </a:t>
            </a:r>
            <a:r>
              <a:rPr lang="zh-CN" altLang="en-US" sz="2400" smtClean="0">
                <a:latin typeface="Times New Roman" panose="02020603050405020304" pitchFamily="18" charset="0"/>
              </a:rPr>
              <a:t>后继指针</a:t>
            </a:r>
            <a:r>
              <a:rPr lang="zh-CN" altLang="en-US" sz="2400" smtClean="0"/>
              <a:t> *</a:t>
            </a:r>
            <a:r>
              <a:rPr lang="en-US" altLang="zh-CN" sz="2400" smtClean="0"/>
              <a:t>/</a:t>
            </a:r>
          </a:p>
          <a:p>
            <a:pPr algn="just" eaLnBrk="1" hangingPunct="1">
              <a:buFont typeface="Wingdings" panose="05000000000000000000" pitchFamily="2" charset="2"/>
              <a:buNone/>
            </a:pPr>
            <a:r>
              <a:rPr lang="en-US" altLang="zh-CN" sz="2400" smtClean="0"/>
              <a:t>}; </a:t>
            </a:r>
          </a:p>
        </p:txBody>
      </p:sp>
      <p:sp>
        <p:nvSpPr>
          <p:cNvPr id="78851" name="Rectangle 3"/>
          <p:cNvSpPr>
            <a:spLocks noChangeArrowheads="1"/>
          </p:cNvSpPr>
          <p:nvPr/>
        </p:nvSpPr>
        <p:spPr bwMode="auto">
          <a:xfrm>
            <a:off x="179388" y="333375"/>
            <a:ext cx="8736012"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80000"/>
              </a:lnSpc>
            </a:pPr>
            <a:r>
              <a:rPr lang="zh-CN" altLang="en-US" sz="3400">
                <a:solidFill>
                  <a:schemeClr val="tx2"/>
                </a:solidFill>
              </a:rPr>
              <a:t>已安装文件系统的描述：</a:t>
            </a:r>
            <a:r>
              <a:rPr lang="en-US" altLang="zh-CN" sz="3400">
                <a:solidFill>
                  <a:srgbClr val="FF0000"/>
                </a:solidFill>
                <a:latin typeface="Arial" panose="020B0604020202020204" pitchFamily="34" charset="0"/>
              </a:rPr>
              <a:t>vfsmount</a:t>
            </a:r>
            <a:r>
              <a:rPr lang="zh-CN" altLang="en-US" sz="3400">
                <a:solidFill>
                  <a:srgbClr val="FF0000"/>
                </a:solidFill>
                <a:latin typeface="Arial" panose="020B0604020202020204" pitchFamily="34" charset="0"/>
              </a:rPr>
              <a:t>结构</a:t>
            </a:r>
          </a:p>
        </p:txBody>
      </p:sp>
      <p:sp>
        <p:nvSpPr>
          <p:cNvPr id="78852" name="Rectangle 4"/>
          <p:cNvSpPr>
            <a:spLocks noChangeArrowheads="1"/>
          </p:cNvSpPr>
          <p:nvPr/>
        </p:nvSpPr>
        <p:spPr bwMode="auto">
          <a:xfrm>
            <a:off x="827088" y="4868863"/>
            <a:ext cx="7315200" cy="198913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80000"/>
              </a:lnSpc>
              <a:buFont typeface="Wingdings" panose="05000000000000000000" pitchFamily="2" charset="2"/>
              <a:buChar char="n"/>
            </a:pPr>
            <a:r>
              <a:rPr lang="zh-CN" altLang="en-US">
                <a:latin typeface="Arial" panose="020B0604020202020204" pitchFamily="34" charset="0"/>
              </a:rPr>
              <a:t>每个已安装的文件系统由 </a:t>
            </a:r>
            <a:r>
              <a:rPr lang="en-US" altLang="zh-CN">
                <a:latin typeface="Arial" panose="020B0604020202020204" pitchFamily="34" charset="0"/>
              </a:rPr>
              <a:t>vfsmount </a:t>
            </a:r>
            <a:r>
              <a:rPr lang="zh-CN" altLang="en-US">
                <a:latin typeface="Arial" panose="020B0604020202020204" pitchFamily="34" charset="0"/>
              </a:rPr>
              <a:t>结构描述，所有的 </a:t>
            </a:r>
            <a:r>
              <a:rPr lang="en-US" altLang="zh-CN">
                <a:latin typeface="Arial" panose="020B0604020202020204" pitchFamily="34" charset="0"/>
              </a:rPr>
              <a:t>vfsmount </a:t>
            </a:r>
            <a:r>
              <a:rPr lang="zh-CN" altLang="en-US">
                <a:latin typeface="Arial" panose="020B0604020202020204" pitchFamily="34" charset="0"/>
              </a:rPr>
              <a:t>结构形成了一个链表，该链表头由 </a:t>
            </a:r>
            <a:r>
              <a:rPr lang="en-US" altLang="zh-CN">
                <a:latin typeface="Arial" panose="020B0604020202020204" pitchFamily="34" charset="0"/>
              </a:rPr>
              <a:t>vfsmntlist </a:t>
            </a:r>
            <a:r>
              <a:rPr lang="zh-CN" altLang="en-US">
                <a:latin typeface="Arial" panose="020B0604020202020204" pitchFamily="34" charset="0"/>
              </a:rPr>
              <a:t>指针代表。</a:t>
            </a:r>
          </a:p>
          <a:p>
            <a:pPr algn="l" eaLnBrk="1" hangingPunct="1">
              <a:lnSpc>
                <a:spcPct val="80000"/>
              </a:lnSpc>
              <a:buFont typeface="Wingdings" panose="05000000000000000000" pitchFamily="2" charset="2"/>
              <a:buChar char="n"/>
            </a:pPr>
            <a:r>
              <a:rPr lang="zh-CN" altLang="en-US">
                <a:latin typeface="Arial" panose="020B0604020202020204" pitchFamily="34" charset="0"/>
              </a:rPr>
              <a:t>系统中还有两个指针，</a:t>
            </a:r>
            <a:r>
              <a:rPr lang="en-US" altLang="zh-CN">
                <a:latin typeface="Arial" panose="020B0604020202020204" pitchFamily="34" charset="0"/>
              </a:rPr>
              <a:t>vfsmnttail </a:t>
            </a:r>
            <a:r>
              <a:rPr lang="zh-CN" altLang="en-US">
                <a:latin typeface="Arial" panose="020B0604020202020204" pitchFamily="34" charset="0"/>
              </a:rPr>
              <a:t>和 </a:t>
            </a:r>
            <a:r>
              <a:rPr lang="en-US" altLang="zh-CN">
                <a:latin typeface="Arial" panose="020B0604020202020204" pitchFamily="34" charset="0"/>
              </a:rPr>
              <a:t>mru_vfsmnt</a:t>
            </a:r>
            <a:r>
              <a:rPr lang="zh-CN" altLang="en-US">
                <a:latin typeface="Arial" panose="020B0604020202020204" pitchFamily="34" charset="0"/>
              </a:rPr>
              <a:t>，分别指向链表尾和最近使用过的 </a:t>
            </a:r>
            <a:r>
              <a:rPr lang="en-US" altLang="zh-CN">
                <a:latin typeface="Arial" panose="020B0604020202020204" pitchFamily="34" charset="0"/>
              </a:rPr>
              <a:t>vfsmount </a:t>
            </a:r>
            <a:r>
              <a:rPr lang="zh-CN" altLang="en-US">
                <a:latin typeface="Arial" panose="020B0604020202020204" pitchFamily="34" charset="0"/>
              </a:rPr>
              <a:t>结构。</a:t>
            </a:r>
          </a:p>
        </p:txBody>
      </p:sp>
    </p:spTree>
    <p:extLst>
      <p:ext uri="{BB962C8B-B14F-4D97-AF65-F5344CB8AC3E}">
        <p14:creationId xmlns:p14="http://schemas.microsoft.com/office/powerpoint/2010/main" val="243005441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900113" y="0"/>
            <a:ext cx="7772400" cy="788988"/>
          </a:xfrm>
        </p:spPr>
        <p:txBody>
          <a:bodyPr/>
          <a:lstStyle/>
          <a:p>
            <a:pPr eaLnBrk="1" hangingPunct="1"/>
            <a:r>
              <a:rPr lang="zh-CN" altLang="en-US" sz="3400" smtClean="0"/>
              <a:t>已安装文件系统</a:t>
            </a:r>
          </a:p>
        </p:txBody>
      </p:sp>
      <p:sp>
        <p:nvSpPr>
          <p:cNvPr id="79875" name="Rectangle 3"/>
          <p:cNvSpPr>
            <a:spLocks noGrp="1" noChangeArrowheads="1"/>
          </p:cNvSpPr>
          <p:nvPr>
            <p:ph type="body" idx="1"/>
          </p:nvPr>
        </p:nvSpPr>
        <p:spPr>
          <a:xfrm>
            <a:off x="755650" y="1125538"/>
            <a:ext cx="7772400" cy="5221287"/>
          </a:xfrm>
        </p:spPr>
        <p:txBody>
          <a:bodyPr/>
          <a:lstStyle/>
          <a:p>
            <a:pPr eaLnBrk="1" hangingPunct="1">
              <a:lnSpc>
                <a:spcPct val="90000"/>
              </a:lnSpc>
              <a:buFont typeface="Monotype Sorts" pitchFamily="2" charset="2"/>
              <a:buNone/>
            </a:pPr>
            <a:r>
              <a:rPr lang="zh-CN" altLang="en-US" sz="2000" smtClean="0"/>
              <a:t>格式：</a:t>
            </a:r>
            <a:r>
              <a:rPr lang="en-US" altLang="zh-CN" sz="2000" smtClean="0"/>
              <a:t>#mount –t type device mount-point</a:t>
            </a:r>
          </a:p>
          <a:p>
            <a:pPr eaLnBrk="1" hangingPunct="1">
              <a:lnSpc>
                <a:spcPct val="90000"/>
              </a:lnSpc>
              <a:buFont typeface="Monotype Sorts" pitchFamily="2" charset="2"/>
              <a:buNone/>
            </a:pPr>
            <a:r>
              <a:rPr lang="zh-CN" altLang="en-US" sz="2000" smtClean="0"/>
              <a:t>例如：放在软盘</a:t>
            </a:r>
            <a:r>
              <a:rPr lang="en-US" altLang="zh-CN" sz="2000" smtClean="0"/>
              <a:t>/dev/fd0</a:t>
            </a:r>
            <a:r>
              <a:rPr lang="zh-CN" altLang="en-US" sz="2000" smtClean="0"/>
              <a:t>上的</a:t>
            </a:r>
            <a:r>
              <a:rPr lang="en-US" altLang="zh-CN" sz="2000" smtClean="0"/>
              <a:t>ext2</a:t>
            </a:r>
            <a:r>
              <a:rPr lang="zh-CN" altLang="en-US" sz="2000" smtClean="0"/>
              <a:t>文件系统，可通过下列命令安装在</a:t>
            </a:r>
            <a:r>
              <a:rPr lang="en-US" altLang="zh-CN" sz="2000" smtClean="0"/>
              <a:t>/flp</a:t>
            </a:r>
            <a:r>
              <a:rPr lang="zh-CN" altLang="en-US" sz="2000" smtClean="0"/>
              <a:t>上</a:t>
            </a:r>
          </a:p>
          <a:p>
            <a:pPr lvl="1" eaLnBrk="1" hangingPunct="1">
              <a:lnSpc>
                <a:spcPct val="90000"/>
              </a:lnSpc>
              <a:buFont typeface="Wingdings" panose="05000000000000000000" pitchFamily="2" charset="2"/>
              <a:buNone/>
            </a:pPr>
            <a:r>
              <a:rPr lang="en-US" altLang="zh-CN" sz="2200" smtClean="0">
                <a:solidFill>
                  <a:srgbClr val="0000FF"/>
                </a:solidFill>
              </a:rPr>
              <a:t>mount  -t  ext2     /dev/fd0       /flp </a:t>
            </a:r>
          </a:p>
          <a:p>
            <a:pPr eaLnBrk="1" hangingPunct="1">
              <a:lnSpc>
                <a:spcPct val="90000"/>
              </a:lnSpc>
              <a:buFont typeface="Monotype Sorts" pitchFamily="2" charset="2"/>
              <a:buNone/>
            </a:pPr>
            <a:r>
              <a:rPr lang="zh-CN" altLang="en-US" sz="2000" smtClean="0"/>
              <a:t>例如：放在软盘</a:t>
            </a:r>
            <a:r>
              <a:rPr lang="en-US" altLang="zh-CN" sz="2000" smtClean="0"/>
              <a:t>/dev/fd0</a:t>
            </a:r>
            <a:r>
              <a:rPr lang="zh-CN" altLang="en-US" sz="2000" smtClean="0"/>
              <a:t>上的</a:t>
            </a:r>
            <a:r>
              <a:rPr lang="en-US" altLang="zh-CN" sz="2000" smtClean="0"/>
              <a:t>ext2</a:t>
            </a:r>
            <a:r>
              <a:rPr lang="zh-CN" altLang="en-US" sz="2000" smtClean="0"/>
              <a:t>文件系统，可通过下列命令安装在</a:t>
            </a:r>
            <a:r>
              <a:rPr lang="en-US" altLang="zh-CN" sz="2000" smtClean="0"/>
              <a:t>/flp</a:t>
            </a:r>
            <a:r>
              <a:rPr lang="zh-CN" altLang="en-US" sz="2000" smtClean="0"/>
              <a:t>上</a:t>
            </a:r>
            <a:r>
              <a:rPr lang="zh-CN" altLang="en-US" sz="2200" smtClean="0">
                <a:solidFill>
                  <a:srgbClr val="0000FF"/>
                </a:solidFill>
                <a:latin typeface="宋体" panose="02010600030101010101" pitchFamily="2" charset="-122"/>
              </a:rPr>
              <a:t>      </a:t>
            </a:r>
          </a:p>
          <a:p>
            <a:pPr lvl="1" eaLnBrk="1" hangingPunct="1">
              <a:lnSpc>
                <a:spcPct val="90000"/>
              </a:lnSpc>
              <a:buFont typeface="Wingdings" panose="05000000000000000000" pitchFamily="2" charset="2"/>
              <a:buNone/>
            </a:pPr>
            <a:r>
              <a:rPr lang="en-US" altLang="zh-CN" sz="2200" smtClean="0">
                <a:solidFill>
                  <a:srgbClr val="0000FF"/>
                </a:solidFill>
              </a:rPr>
              <a:t>mount –t msdos    /dev/fd0 /mnt</a:t>
            </a:r>
          </a:p>
          <a:p>
            <a:pPr eaLnBrk="1" hangingPunct="1">
              <a:lnSpc>
                <a:spcPct val="105000"/>
              </a:lnSpc>
              <a:buFont typeface="Monotype Sorts" pitchFamily="2" charset="2"/>
              <a:buNone/>
            </a:pPr>
            <a:r>
              <a:rPr lang="zh-CN" altLang="en-US" sz="2000" smtClean="0">
                <a:latin typeface="宋体" panose="02010600030101010101" pitchFamily="2" charset="-122"/>
              </a:rPr>
              <a:t>使用拆卸的命令卸下软盘文件系统</a:t>
            </a:r>
            <a:r>
              <a:rPr lang="en-US" altLang="zh-CN" sz="2000" smtClean="0">
                <a:latin typeface="宋体" panose="02010600030101010101" pitchFamily="2" charset="-122"/>
              </a:rPr>
              <a:t>:</a:t>
            </a:r>
            <a:r>
              <a:rPr lang="zh-CN" altLang="en-US" sz="2000" smtClean="0">
                <a:latin typeface="Times New Roman" panose="02020603050405020304" pitchFamily="18" charset="0"/>
              </a:rPr>
              <a:t>格式：</a:t>
            </a:r>
            <a:r>
              <a:rPr lang="en-US" altLang="zh-CN" sz="2000" smtClean="0">
                <a:latin typeface="Times New Roman" panose="02020603050405020304" pitchFamily="18" charset="0"/>
              </a:rPr>
              <a:t>#umount  device</a:t>
            </a:r>
          </a:p>
          <a:p>
            <a:pPr eaLnBrk="1" hangingPunct="1">
              <a:lnSpc>
                <a:spcPct val="105000"/>
              </a:lnSpc>
              <a:buFont typeface="Wingdings" panose="05000000000000000000" pitchFamily="2" charset="2"/>
              <a:buNone/>
            </a:pPr>
            <a:r>
              <a:rPr lang="en-US" altLang="zh-CN" sz="2000" smtClean="0">
                <a:latin typeface="Times New Roman" panose="02020603050405020304" pitchFamily="18" charset="0"/>
              </a:rPr>
              <a:t>    </a:t>
            </a:r>
            <a:r>
              <a:rPr lang="zh-CN" altLang="en-US" sz="2000" smtClean="0">
                <a:latin typeface="Times New Roman" panose="02020603050405020304" pitchFamily="18" charset="0"/>
              </a:rPr>
              <a:t>例：   </a:t>
            </a:r>
            <a:r>
              <a:rPr lang="en-US" altLang="zh-CN" sz="2000" smtClean="0">
                <a:latin typeface="Times New Roman" panose="02020603050405020304" pitchFamily="18" charset="0"/>
              </a:rPr>
              <a:t>#umount   /dev/fd0</a:t>
            </a:r>
          </a:p>
          <a:p>
            <a:pPr lvl="1" eaLnBrk="1" hangingPunct="1">
              <a:lnSpc>
                <a:spcPct val="90000"/>
              </a:lnSpc>
              <a:buFont typeface="Wingdings" panose="05000000000000000000" pitchFamily="2" charset="2"/>
              <a:buNone/>
            </a:pPr>
            <a:endParaRPr lang="en-US" altLang="zh-CN" sz="2200" smtClean="0"/>
          </a:p>
          <a:p>
            <a:pPr eaLnBrk="1" hangingPunct="1">
              <a:lnSpc>
                <a:spcPct val="90000"/>
              </a:lnSpc>
            </a:pPr>
            <a:r>
              <a:rPr lang="zh-CN" altLang="en-US" sz="2000" smtClean="0"/>
              <a:t>一般情况下，只允许挂载一次</a:t>
            </a:r>
            <a:br>
              <a:rPr lang="zh-CN" altLang="en-US" sz="2000" smtClean="0"/>
            </a:br>
            <a:r>
              <a:rPr lang="zh-CN" altLang="en-US" sz="2000" smtClean="0"/>
              <a:t>在</a:t>
            </a:r>
            <a:r>
              <a:rPr lang="en-US" altLang="zh-CN" sz="2000" smtClean="0"/>
              <a:t>umount</a:t>
            </a:r>
            <a:r>
              <a:rPr lang="zh-CN" altLang="en-US" sz="2000" smtClean="0"/>
              <a:t>之前，其他对</a:t>
            </a:r>
            <a:r>
              <a:rPr lang="en-US" altLang="zh-CN" sz="2000" smtClean="0"/>
              <a:t>/dev/fd0</a:t>
            </a:r>
            <a:r>
              <a:rPr lang="zh-CN" altLang="en-US" sz="2000" smtClean="0"/>
              <a:t>的挂载命令会失败</a:t>
            </a:r>
          </a:p>
          <a:p>
            <a:pPr eaLnBrk="1" hangingPunct="1">
              <a:lnSpc>
                <a:spcPct val="90000"/>
              </a:lnSpc>
            </a:pPr>
            <a:r>
              <a:rPr lang="zh-CN" altLang="en-US" sz="2000" smtClean="0"/>
              <a:t>在</a:t>
            </a:r>
            <a:r>
              <a:rPr lang="en-US" altLang="zh-CN" sz="2000" smtClean="0"/>
              <a:t>2.4</a:t>
            </a:r>
            <a:r>
              <a:rPr lang="zh-CN" altLang="en-US" sz="2000" smtClean="0"/>
              <a:t>中，可以挂载多次</a:t>
            </a:r>
          </a:p>
          <a:p>
            <a:pPr lvl="1" eaLnBrk="1" hangingPunct="1">
              <a:lnSpc>
                <a:spcPct val="90000"/>
              </a:lnSpc>
            </a:pPr>
            <a:r>
              <a:rPr lang="zh-CN" altLang="en-US" sz="2200" smtClean="0"/>
              <a:t>不管被挂载多少次，只有一个真实的文件系统，因此只有一个超级块对象</a:t>
            </a:r>
          </a:p>
        </p:txBody>
      </p:sp>
    </p:spTree>
    <p:extLst>
      <p:ext uri="{BB962C8B-B14F-4D97-AF65-F5344CB8AC3E}">
        <p14:creationId xmlns:p14="http://schemas.microsoft.com/office/powerpoint/2010/main" val="37218247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smtClean="0"/>
              <a:t>已安装的文件系统数据结构</a:t>
            </a:r>
            <a:r>
              <a:rPr lang="en-US" altLang="zh-CN" smtClean="0"/>
              <a:t>(1)</a:t>
            </a:r>
          </a:p>
        </p:txBody>
      </p:sp>
      <p:sp>
        <p:nvSpPr>
          <p:cNvPr id="80899"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0900" name="Object 4"/>
          <p:cNvGraphicFramePr>
            <a:graphicFrameLocks noChangeAspect="1"/>
          </p:cNvGraphicFramePr>
          <p:nvPr/>
        </p:nvGraphicFramePr>
        <p:xfrm>
          <a:off x="381000" y="1828800"/>
          <a:ext cx="7848600" cy="3444875"/>
        </p:xfrm>
        <a:graphic>
          <a:graphicData uri="http://schemas.openxmlformats.org/presentationml/2006/ole">
            <mc:AlternateContent xmlns:mc="http://schemas.openxmlformats.org/markup-compatibility/2006">
              <mc:Choice xmlns:v="urn:schemas-microsoft-com:vml" Requires="v">
                <p:oleObj spid="_x0000_s27650" name="图片" r:id="rId4" imgW="5026918" imgH="2102664" progId="Word.Picture.8">
                  <p:embed/>
                </p:oleObj>
              </mc:Choice>
              <mc:Fallback>
                <p:oleObj name="图片" r:id="rId4" imgW="5026918" imgH="2102664" progId="Word.Picture.8">
                  <p:embed/>
                  <p:pic>
                    <p:nvPicPr>
                      <p:cNvPr id="8090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828800"/>
                        <a:ext cx="7848600" cy="34448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2280603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zh-CN" altLang="en-US" smtClean="0"/>
              <a:t>已安装的文件系统数据结构</a:t>
            </a:r>
            <a:r>
              <a:rPr lang="en-US" altLang="zh-CN" smtClean="0"/>
              <a:t>(2)</a:t>
            </a:r>
          </a:p>
        </p:txBody>
      </p:sp>
      <p:sp>
        <p:nvSpPr>
          <p:cNvPr id="81923"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81924" name="Picture 4" descr="已安装文件系统结构示意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81200"/>
            <a:ext cx="6781800"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699917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endParaRPr lang="zh-CN" altLang="zh-CN" smtClean="0"/>
          </a:p>
        </p:txBody>
      </p:sp>
      <p:pic>
        <p:nvPicPr>
          <p:cNvPr id="82947" name="Picture 5" descr="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1341438"/>
            <a:ext cx="5305425"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19670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304800" y="304800"/>
            <a:ext cx="8421688" cy="1241425"/>
          </a:xfrm>
        </p:spPr>
        <p:txBody>
          <a:bodyPr/>
          <a:lstStyle/>
          <a:p>
            <a:pPr eaLnBrk="1" hangingPunct="1"/>
            <a:r>
              <a:rPr lang="en-US" altLang="zh-CN" sz="3800" smtClean="0"/>
              <a:t>  </a:t>
            </a:r>
            <a:r>
              <a:rPr lang="zh-CN" altLang="en-US" sz="3800" smtClean="0"/>
              <a:t>文件系统的注册、安装</a:t>
            </a:r>
            <a:r>
              <a:rPr lang="zh-CN" altLang="en-US" sz="3800" smtClean="0">
                <a:solidFill>
                  <a:schemeClr val="accent2"/>
                </a:solidFill>
              </a:rPr>
              <a:t>过程</a:t>
            </a:r>
          </a:p>
        </p:txBody>
      </p:sp>
      <p:sp>
        <p:nvSpPr>
          <p:cNvPr id="83971" name="Rectangle 3"/>
          <p:cNvSpPr>
            <a:spLocks noGrp="1" noChangeArrowheads="1"/>
          </p:cNvSpPr>
          <p:nvPr>
            <p:ph type="body" idx="1"/>
          </p:nvPr>
        </p:nvSpPr>
        <p:spPr>
          <a:xfrm>
            <a:off x="468313" y="1268413"/>
            <a:ext cx="8351837" cy="4608512"/>
          </a:xfrm>
        </p:spPr>
        <p:txBody>
          <a:bodyPr/>
          <a:lstStyle/>
          <a:p>
            <a:pPr eaLnBrk="1" hangingPunct="1">
              <a:lnSpc>
                <a:spcPct val="105000"/>
              </a:lnSpc>
            </a:pPr>
            <a:r>
              <a:rPr lang="en-US" altLang="zh-CN" sz="2400" smtClean="0"/>
              <a:t>(1)</a:t>
            </a:r>
            <a:r>
              <a:rPr lang="zh-CN" altLang="en-US" sz="2400" smtClean="0"/>
              <a:t>寻找对应的文件系统信息。</a:t>
            </a:r>
            <a:r>
              <a:rPr lang="en-US" altLang="zh-CN" sz="2400" smtClean="0"/>
              <a:t>VFS </a:t>
            </a:r>
            <a:r>
              <a:rPr lang="zh-CN" altLang="en-US" sz="2400" smtClean="0"/>
              <a:t>通过 </a:t>
            </a:r>
            <a:r>
              <a:rPr lang="en-US" altLang="zh-CN" sz="2400" smtClean="0"/>
              <a:t>file_systems </a:t>
            </a:r>
            <a:r>
              <a:rPr lang="zh-CN" altLang="en-US" sz="2400" smtClean="0"/>
              <a:t>在 </a:t>
            </a:r>
            <a:r>
              <a:rPr lang="en-US" altLang="zh-CN" sz="2400" smtClean="0"/>
              <a:t>file_system_type </a:t>
            </a:r>
            <a:r>
              <a:rPr lang="zh-CN" altLang="en-US" sz="2400" smtClean="0"/>
              <a:t>组成的链表中根据指定的文件系统名称搜索文件系统类型信息。见 </a:t>
            </a:r>
            <a:r>
              <a:rPr lang="en-US" altLang="zh-CN" sz="2400" smtClean="0"/>
              <a:t>fs/super.c</a:t>
            </a:r>
            <a:r>
              <a:rPr lang="zh-CN" altLang="en-US" sz="2400" smtClean="0"/>
              <a:t>中的</a:t>
            </a:r>
            <a:r>
              <a:rPr lang="en-US" altLang="zh-CN" sz="2400" smtClean="0"/>
              <a:t>get_fs_type() </a:t>
            </a:r>
            <a:r>
              <a:rPr lang="zh-CN" altLang="en-US" sz="2400" smtClean="0"/>
              <a:t>函数。</a:t>
            </a:r>
          </a:p>
          <a:p>
            <a:pPr eaLnBrk="1" hangingPunct="1">
              <a:lnSpc>
                <a:spcPct val="105000"/>
              </a:lnSpc>
            </a:pPr>
            <a:r>
              <a:rPr lang="en-US" altLang="zh-CN" sz="2400" smtClean="0"/>
              <a:t>(2) </a:t>
            </a:r>
            <a:r>
              <a:rPr lang="zh-CN" altLang="en-US" sz="2400" smtClean="0"/>
              <a:t>如果在上述链表中找到匹配的文件系统，则说明内核具有对该文件系统的内建支持。否则，说明该文件系统可能由可装载模块支持，</a:t>
            </a:r>
            <a:r>
              <a:rPr lang="en-US" altLang="zh-CN" sz="2400" smtClean="0"/>
              <a:t>VFS </a:t>
            </a:r>
            <a:r>
              <a:rPr lang="zh-CN" altLang="en-US" sz="2400" smtClean="0"/>
              <a:t>会请求内核装入相应的文件系统模块，此时，该文件系统在 </a:t>
            </a:r>
            <a:r>
              <a:rPr lang="en-US" altLang="zh-CN" sz="2400" smtClean="0"/>
              <a:t>VFS </a:t>
            </a:r>
            <a:r>
              <a:rPr lang="zh-CN" altLang="en-US" sz="2400" smtClean="0"/>
              <a:t>中注册并初始化。</a:t>
            </a:r>
          </a:p>
          <a:p>
            <a:pPr eaLnBrk="1" hangingPunct="1">
              <a:lnSpc>
                <a:spcPct val="105000"/>
              </a:lnSpc>
            </a:pPr>
            <a:r>
              <a:rPr lang="en-US" altLang="zh-CN" sz="2400" smtClean="0"/>
              <a:t>(3) </a:t>
            </a:r>
            <a:r>
              <a:rPr lang="zh-CN" altLang="en-US" sz="2400" smtClean="0"/>
              <a:t>不管是哪种情况，如果 </a:t>
            </a:r>
            <a:r>
              <a:rPr lang="en-US" altLang="zh-CN" sz="2400" smtClean="0"/>
              <a:t>VFS </a:t>
            </a:r>
            <a:r>
              <a:rPr lang="zh-CN" altLang="en-US" sz="2400" smtClean="0"/>
              <a:t>无法找到指定的文件系统，则返回错误。</a:t>
            </a:r>
          </a:p>
          <a:p>
            <a:pPr eaLnBrk="1" hangingPunct="1">
              <a:lnSpc>
                <a:spcPct val="105000"/>
              </a:lnSpc>
            </a:pPr>
            <a:r>
              <a:rPr lang="en-US" altLang="zh-CN" sz="2400" smtClean="0"/>
              <a:t>(4) VFS </a:t>
            </a:r>
            <a:r>
              <a:rPr lang="zh-CN" altLang="en-US" sz="2400" smtClean="0"/>
              <a:t>检验给定的物理块设备是否已经安装。如果指定的块设备已被安装，则返回错误。</a:t>
            </a:r>
          </a:p>
        </p:txBody>
      </p:sp>
    </p:spTree>
    <p:extLst>
      <p:ext uri="{BB962C8B-B14F-4D97-AF65-F5344CB8AC3E}">
        <p14:creationId xmlns:p14="http://schemas.microsoft.com/office/powerpoint/2010/main" val="69263565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81000" y="0"/>
            <a:ext cx="8421688" cy="1241425"/>
          </a:xfrm>
        </p:spPr>
        <p:txBody>
          <a:bodyPr/>
          <a:lstStyle/>
          <a:p>
            <a:pPr eaLnBrk="1" hangingPunct="1"/>
            <a:r>
              <a:rPr lang="zh-CN" altLang="en-US" sz="3800" smtClean="0"/>
              <a:t>文件系统的注册、安装</a:t>
            </a:r>
            <a:r>
              <a:rPr lang="zh-CN" altLang="en-US" sz="3800" smtClean="0">
                <a:solidFill>
                  <a:schemeClr val="accent2"/>
                </a:solidFill>
              </a:rPr>
              <a:t>过程</a:t>
            </a:r>
          </a:p>
        </p:txBody>
      </p:sp>
      <p:sp>
        <p:nvSpPr>
          <p:cNvPr id="84995" name="Rectangle 3"/>
          <p:cNvSpPr>
            <a:spLocks noGrp="1" noChangeArrowheads="1"/>
          </p:cNvSpPr>
          <p:nvPr>
            <p:ph type="body" idx="1"/>
          </p:nvPr>
        </p:nvSpPr>
        <p:spPr>
          <a:xfrm>
            <a:off x="539750" y="1268413"/>
            <a:ext cx="8077200" cy="5181600"/>
          </a:xfrm>
        </p:spPr>
        <p:txBody>
          <a:bodyPr/>
          <a:lstStyle/>
          <a:p>
            <a:pPr eaLnBrk="1" hangingPunct="1">
              <a:lnSpc>
                <a:spcPct val="105000"/>
              </a:lnSpc>
            </a:pPr>
            <a:r>
              <a:rPr lang="en-US" altLang="zh-CN" smtClean="0"/>
              <a:t>(5) VFS </a:t>
            </a:r>
            <a:r>
              <a:rPr lang="zh-CN" altLang="en-US" smtClean="0"/>
              <a:t>查找作为新文件系统安装点的目录的 </a:t>
            </a:r>
            <a:r>
              <a:rPr lang="en-US" altLang="zh-CN" smtClean="0"/>
              <a:t>VFS </a:t>
            </a:r>
            <a:r>
              <a:rPr lang="zh-CN" altLang="en-US" smtClean="0"/>
              <a:t>索引节点。该 </a:t>
            </a:r>
            <a:r>
              <a:rPr lang="en-US" altLang="zh-CN" smtClean="0"/>
              <a:t>VFS </a:t>
            </a:r>
            <a:r>
              <a:rPr lang="zh-CN" altLang="en-US" smtClean="0"/>
              <a:t>索引节点可能在索引节点高速缓存中，也有可能需要从安装点所在的块设备中读取。</a:t>
            </a:r>
          </a:p>
          <a:p>
            <a:pPr eaLnBrk="1" hangingPunct="1">
              <a:lnSpc>
                <a:spcPct val="105000"/>
              </a:lnSpc>
            </a:pPr>
            <a:r>
              <a:rPr lang="en-US" altLang="zh-CN" smtClean="0"/>
              <a:t>(6) </a:t>
            </a:r>
            <a:r>
              <a:rPr lang="zh-CN" altLang="en-US" smtClean="0"/>
              <a:t>如果该安装点已经安装有其他文件系统，则返回错误。因为同一目录只能同时安装一个文件系统。</a:t>
            </a:r>
          </a:p>
          <a:p>
            <a:pPr eaLnBrk="1" hangingPunct="1">
              <a:lnSpc>
                <a:spcPct val="105000"/>
              </a:lnSpc>
            </a:pPr>
            <a:r>
              <a:rPr lang="en-US" altLang="zh-CN" smtClean="0"/>
              <a:t>(7) </a:t>
            </a:r>
            <a:r>
              <a:rPr lang="zh-CN" altLang="en-US" smtClean="0"/>
              <a:t>为新的文件系统分配超块，并将安装信息传递给该文件系统的超块读取例程。该例程将对应文件系统的信息映射到 </a:t>
            </a:r>
            <a:r>
              <a:rPr lang="en-US" altLang="zh-CN" smtClean="0"/>
              <a:t>VFS </a:t>
            </a:r>
            <a:r>
              <a:rPr lang="zh-CN" altLang="en-US" smtClean="0"/>
              <a:t>超块中。如果在此过程中发生错误，则返回错误。</a:t>
            </a:r>
          </a:p>
        </p:txBody>
      </p:sp>
    </p:spTree>
    <p:extLst>
      <p:ext uri="{BB962C8B-B14F-4D97-AF65-F5344CB8AC3E}">
        <p14:creationId xmlns:p14="http://schemas.microsoft.com/office/powerpoint/2010/main" val="400003040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CN" altLang="en-US" smtClean="0"/>
              <a:t>已安装文件系统</a:t>
            </a:r>
          </a:p>
        </p:txBody>
      </p:sp>
      <p:sp>
        <p:nvSpPr>
          <p:cNvPr id="86019" name="Rectangle 3"/>
          <p:cNvSpPr>
            <a:spLocks noGrp="1" noChangeArrowheads="1"/>
          </p:cNvSpPr>
          <p:nvPr>
            <p:ph type="body" idx="1"/>
          </p:nvPr>
        </p:nvSpPr>
        <p:spPr>
          <a:xfrm>
            <a:off x="827088" y="1341438"/>
            <a:ext cx="7772400" cy="4530725"/>
          </a:xfrm>
        </p:spPr>
        <p:txBody>
          <a:bodyPr/>
          <a:lstStyle/>
          <a:p>
            <a:pPr eaLnBrk="1" hangingPunct="1"/>
            <a:r>
              <a:rPr lang="zh-CN" altLang="en-US" smtClean="0"/>
              <a:t>已挂载文件系统描述符  </a:t>
            </a:r>
            <a:r>
              <a:rPr lang="en-US" altLang="zh-CN" smtClean="0">
                <a:hlinkClick r:id="rId2" action="ppaction://hlinkfile"/>
              </a:rPr>
              <a:t>vfsmount</a:t>
            </a:r>
            <a:endParaRPr lang="en-US" altLang="zh-CN" smtClean="0"/>
          </a:p>
          <a:p>
            <a:pPr eaLnBrk="1" hangingPunct="1"/>
            <a:endParaRPr lang="en-US" altLang="zh-CN" smtClean="0"/>
          </a:p>
          <a:p>
            <a:pPr eaLnBrk="1" hangingPunct="1"/>
            <a:r>
              <a:rPr lang="zh-CN" altLang="en-US" smtClean="0"/>
              <a:t>挂载根文件系统</a:t>
            </a:r>
          </a:p>
          <a:p>
            <a:pPr lvl="1" eaLnBrk="1" hangingPunct="1"/>
            <a:r>
              <a:rPr lang="zh-CN" altLang="en-US" smtClean="0"/>
              <a:t>第一阶段：安装一个特殊的文件系统，该文件系统仅提供一个作为初始安装点的空目录：   </a:t>
            </a:r>
            <a:r>
              <a:rPr lang="en-US" altLang="zh-CN" smtClean="0">
                <a:hlinkClick r:id="rId3" action="ppaction://hlinkfile"/>
              </a:rPr>
              <a:t>init_mount_tree</a:t>
            </a:r>
            <a:endParaRPr lang="en-US" altLang="zh-CN" smtClean="0"/>
          </a:p>
          <a:p>
            <a:pPr lvl="1" eaLnBrk="1" hangingPunct="1"/>
            <a:r>
              <a:rPr lang="zh-CN" altLang="en-US" smtClean="0"/>
              <a:t>第二阶段：</a:t>
            </a:r>
            <a:r>
              <a:rPr lang="en-US" altLang="zh-CN" smtClean="0">
                <a:hlinkClick r:id="rId4" action="ppaction://hlinkfile"/>
              </a:rPr>
              <a:t>mount_root</a:t>
            </a:r>
            <a:endParaRPr lang="en-US" altLang="zh-CN" smtClean="0"/>
          </a:p>
          <a:p>
            <a:pPr eaLnBrk="1" hangingPunct="1"/>
            <a:r>
              <a:rPr lang="zh-CN" altLang="en-US" smtClean="0"/>
              <a:t>挂载一个文件系统</a:t>
            </a:r>
          </a:p>
          <a:p>
            <a:pPr lvl="1" eaLnBrk="1" hangingPunct="1"/>
            <a:r>
              <a:rPr lang="zh-CN" altLang="en-US" smtClean="0">
                <a:hlinkClick r:id="rId5" action="ppaction://hlinkfile"/>
              </a:rPr>
              <a:t> </a:t>
            </a:r>
            <a:r>
              <a:rPr lang="zh-CN" altLang="en-US" smtClean="0"/>
              <a:t> </a:t>
            </a:r>
            <a:r>
              <a:rPr lang="en-US" altLang="zh-CN" smtClean="0">
                <a:hlinkClick r:id="rId6" action="ppaction://hlinkfile"/>
              </a:rPr>
              <a:t>sys_mount</a:t>
            </a:r>
            <a:endParaRPr lang="en-US" altLang="zh-CN" smtClean="0"/>
          </a:p>
          <a:p>
            <a:pPr eaLnBrk="1" hangingPunct="1"/>
            <a:r>
              <a:rPr lang="zh-CN" altLang="en-US" smtClean="0"/>
              <a:t>卸载一个文件系统</a:t>
            </a:r>
          </a:p>
          <a:p>
            <a:pPr lvl="1" eaLnBrk="1" hangingPunct="1"/>
            <a:r>
              <a:rPr lang="zh-CN" altLang="en-US" smtClean="0"/>
              <a:t>  </a:t>
            </a:r>
            <a:r>
              <a:rPr lang="en-US" altLang="zh-CN" smtClean="0">
                <a:hlinkClick r:id="rId7" action="ppaction://hlinkfile"/>
              </a:rPr>
              <a:t>sys_umount</a:t>
            </a:r>
            <a:endParaRPr lang="en-US" altLang="zh-CN" smtClean="0"/>
          </a:p>
        </p:txBody>
      </p:sp>
    </p:spTree>
    <p:extLst>
      <p:ext uri="{BB962C8B-B14F-4D97-AF65-F5344CB8AC3E}">
        <p14:creationId xmlns:p14="http://schemas.microsoft.com/office/powerpoint/2010/main" val="136722229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smtClean="0"/>
              <a:t>文件系统安装（续）</a:t>
            </a:r>
          </a:p>
        </p:txBody>
      </p:sp>
      <p:sp>
        <p:nvSpPr>
          <p:cNvPr id="87043" name="Rectangle 3"/>
          <p:cNvSpPr>
            <a:spLocks noGrp="1" noChangeArrowheads="1"/>
          </p:cNvSpPr>
          <p:nvPr>
            <p:ph type="body" idx="1"/>
          </p:nvPr>
        </p:nvSpPr>
        <p:spPr>
          <a:xfrm>
            <a:off x="250825" y="1268413"/>
            <a:ext cx="8447088" cy="5183187"/>
          </a:xfrm>
        </p:spPr>
        <p:txBody>
          <a:bodyPr/>
          <a:lstStyle/>
          <a:p>
            <a:pPr eaLnBrk="1" hangingPunct="1">
              <a:lnSpc>
                <a:spcPct val="90000"/>
              </a:lnSpc>
            </a:pPr>
            <a:r>
              <a:rPr lang="zh-CN" altLang="en-US" smtClean="0"/>
              <a:t>根文件系统的安装：</a:t>
            </a:r>
          </a:p>
          <a:p>
            <a:pPr eaLnBrk="1" hangingPunct="1">
              <a:lnSpc>
                <a:spcPct val="90000"/>
              </a:lnSpc>
              <a:buFont typeface="Wingdings" panose="05000000000000000000" pitchFamily="2" charset="2"/>
              <a:buNone/>
            </a:pPr>
            <a:r>
              <a:rPr lang="zh-CN" altLang="en-US" smtClean="0"/>
              <a:t>	</a:t>
            </a:r>
            <a:r>
              <a:rPr lang="en-US" altLang="zh-CN" smtClean="0"/>
              <a:t>1</a:t>
            </a:r>
            <a:r>
              <a:rPr lang="zh-CN" altLang="en-US" smtClean="0"/>
              <a:t>、安装特殊文件系统</a:t>
            </a:r>
            <a:r>
              <a:rPr lang="en-US" altLang="zh-CN" smtClean="0"/>
              <a:t>rootfs</a:t>
            </a:r>
            <a:r>
              <a:rPr lang="zh-CN" altLang="en-US" smtClean="0"/>
              <a:t>，用来提供作为初始安装点的空目录，主要由函数</a:t>
            </a:r>
            <a:r>
              <a:rPr lang="en-US" altLang="zh-CN" smtClean="0"/>
              <a:t>init_mount_tree()</a:t>
            </a:r>
            <a:r>
              <a:rPr lang="zh-CN" altLang="en-US" smtClean="0"/>
              <a:t>完成</a:t>
            </a:r>
          </a:p>
          <a:p>
            <a:pPr eaLnBrk="1" hangingPunct="1">
              <a:lnSpc>
                <a:spcPct val="90000"/>
              </a:lnSpc>
              <a:buFont typeface="Wingdings" panose="05000000000000000000" pitchFamily="2" charset="2"/>
              <a:buNone/>
            </a:pPr>
            <a:r>
              <a:rPr lang="zh-CN" altLang="en-US" smtClean="0"/>
              <a:t>	</a:t>
            </a:r>
            <a:r>
              <a:rPr lang="en-US" altLang="zh-CN" smtClean="0"/>
              <a:t>2</a:t>
            </a:r>
            <a:r>
              <a:rPr lang="zh-CN" altLang="en-US" smtClean="0"/>
              <a:t>、在空目录上安装一个真正的根目录，由函数</a:t>
            </a:r>
            <a:r>
              <a:rPr lang="en-US" altLang="zh-CN" smtClean="0"/>
              <a:t>mount_root()</a:t>
            </a:r>
            <a:r>
              <a:rPr lang="zh-CN" altLang="en-US" smtClean="0"/>
              <a:t>完成</a:t>
            </a:r>
          </a:p>
          <a:p>
            <a:pPr eaLnBrk="1" hangingPunct="1">
              <a:lnSpc>
                <a:spcPct val="90000"/>
              </a:lnSpc>
              <a:buFont typeface="Wingdings" panose="05000000000000000000" pitchFamily="2" charset="2"/>
              <a:buNone/>
            </a:pPr>
            <a:endParaRPr lang="zh-CN" altLang="en-US" smtClean="0"/>
          </a:p>
          <a:p>
            <a:pPr eaLnBrk="1" hangingPunct="1">
              <a:lnSpc>
                <a:spcPct val="90000"/>
              </a:lnSpc>
              <a:buFont typeface="Wingdings" panose="05000000000000000000" pitchFamily="2" charset="2"/>
              <a:buNone/>
            </a:pPr>
            <a:r>
              <a:rPr lang="en-US" altLang="zh-CN" smtClean="0"/>
              <a:t>why rootfs?</a:t>
            </a:r>
          </a:p>
          <a:p>
            <a:pPr eaLnBrk="1" hangingPunct="1">
              <a:lnSpc>
                <a:spcPct val="90000"/>
              </a:lnSpc>
              <a:buFont typeface="Wingdings" panose="05000000000000000000" pitchFamily="2" charset="2"/>
              <a:buNone/>
            </a:pPr>
            <a:r>
              <a:rPr lang="en-US" altLang="zh-CN" smtClean="0"/>
              <a:t>	Linux</a:t>
            </a:r>
            <a:r>
              <a:rPr lang="zh-CN" altLang="en-US" smtClean="0"/>
              <a:t>允许根文件系统存放在很多不同的地方，因此内核在启动时可能会安装和卸载多个根文件系统，使用</a:t>
            </a:r>
            <a:r>
              <a:rPr lang="en-US" altLang="zh-CN" smtClean="0"/>
              <a:t>rootfs</a:t>
            </a:r>
            <a:r>
              <a:rPr lang="zh-CN" altLang="en-US" smtClean="0"/>
              <a:t>可以很容易改变实际的根目录</a:t>
            </a:r>
          </a:p>
        </p:txBody>
      </p:sp>
    </p:spTree>
    <p:extLst>
      <p:ext uri="{BB962C8B-B14F-4D97-AF65-F5344CB8AC3E}">
        <p14:creationId xmlns:p14="http://schemas.microsoft.com/office/powerpoint/2010/main" val="45480504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CN" altLang="en-US" smtClean="0"/>
              <a:t>文件系统安装（续）</a:t>
            </a:r>
          </a:p>
        </p:txBody>
      </p:sp>
      <p:sp>
        <p:nvSpPr>
          <p:cNvPr id="88067" name="Rectangle 3"/>
          <p:cNvSpPr>
            <a:spLocks noGrp="1" noChangeArrowheads="1"/>
          </p:cNvSpPr>
          <p:nvPr>
            <p:ph type="body" idx="1"/>
          </p:nvPr>
        </p:nvSpPr>
        <p:spPr>
          <a:xfrm>
            <a:off x="827088" y="1412875"/>
            <a:ext cx="7772400" cy="4530725"/>
          </a:xfrm>
        </p:spPr>
        <p:txBody>
          <a:bodyPr/>
          <a:lstStyle/>
          <a:p>
            <a:pPr eaLnBrk="1" hangingPunct="1">
              <a:lnSpc>
                <a:spcPct val="90000"/>
              </a:lnSpc>
            </a:pPr>
            <a:r>
              <a:rPr lang="zh-CN" altLang="en-US" smtClean="0"/>
              <a:t>安装一般文件系统，系统调用</a:t>
            </a:r>
            <a:r>
              <a:rPr lang="en-US" altLang="zh-CN" smtClean="0"/>
              <a:t>mount()-&gt;sys_mount()-&gt;do_mount()</a:t>
            </a:r>
            <a:r>
              <a:rPr lang="zh-CN" altLang="en-US" smtClean="0"/>
              <a:t>：</a:t>
            </a:r>
          </a:p>
          <a:p>
            <a:pPr lvl="1" eaLnBrk="1" hangingPunct="1">
              <a:lnSpc>
                <a:spcPct val="90000"/>
              </a:lnSpc>
              <a:buFont typeface="Wingdings" panose="05000000000000000000" pitchFamily="2" charset="2"/>
              <a:buNone/>
            </a:pPr>
            <a:r>
              <a:rPr lang="en-US" altLang="zh-CN" smtClean="0"/>
              <a:t>1</a:t>
            </a:r>
            <a:r>
              <a:rPr lang="zh-CN" altLang="en-US" smtClean="0"/>
              <a:t>、查找要安装到的目录的目录项</a:t>
            </a:r>
          </a:p>
          <a:p>
            <a:pPr lvl="1" eaLnBrk="1" hangingPunct="1">
              <a:lnSpc>
                <a:spcPct val="90000"/>
              </a:lnSpc>
              <a:buFont typeface="Wingdings" panose="05000000000000000000" pitchFamily="2" charset="2"/>
              <a:buNone/>
            </a:pPr>
            <a:r>
              <a:rPr lang="en-US" altLang="zh-CN" smtClean="0"/>
              <a:t>2</a:t>
            </a:r>
            <a:r>
              <a:rPr lang="zh-CN" altLang="en-US" smtClean="0"/>
              <a:t>、优先针对三种安装标志参数值执行相应的操作</a:t>
            </a:r>
          </a:p>
          <a:p>
            <a:pPr lvl="1" eaLnBrk="1" hangingPunct="1">
              <a:lnSpc>
                <a:spcPct val="90000"/>
              </a:lnSpc>
              <a:buFont typeface="Wingdings" panose="05000000000000000000" pitchFamily="2" charset="2"/>
              <a:buNone/>
            </a:pPr>
            <a:r>
              <a:rPr lang="zh-CN" altLang="en-US" smtClean="0"/>
              <a:t>	</a:t>
            </a:r>
            <a:r>
              <a:rPr lang="en-US" altLang="zh-CN" smtClean="0"/>
              <a:t>MS_REMOUNT</a:t>
            </a:r>
            <a:r>
              <a:rPr lang="zh-CN" altLang="en-US" smtClean="0"/>
              <a:t>：</a:t>
            </a:r>
            <a:r>
              <a:rPr lang="en-US" altLang="zh-CN" smtClean="0"/>
              <a:t>do_remount()</a:t>
            </a:r>
            <a:r>
              <a:rPr lang="zh-CN" altLang="en-US" smtClean="0"/>
              <a:t>重新安装改变了安装标志的文件系统</a:t>
            </a:r>
          </a:p>
          <a:p>
            <a:pPr lvl="1" eaLnBrk="1" hangingPunct="1">
              <a:lnSpc>
                <a:spcPct val="90000"/>
              </a:lnSpc>
              <a:buFont typeface="Wingdings" panose="05000000000000000000" pitchFamily="2" charset="2"/>
              <a:buNone/>
            </a:pPr>
            <a:r>
              <a:rPr lang="zh-CN" altLang="en-US" smtClean="0"/>
              <a:t>	</a:t>
            </a:r>
            <a:r>
              <a:rPr lang="en-US" altLang="zh-CN" smtClean="0"/>
              <a:t>MS_BIND</a:t>
            </a:r>
            <a:r>
              <a:rPr lang="zh-CN" altLang="en-US" smtClean="0"/>
              <a:t>：调用</a:t>
            </a:r>
            <a:r>
              <a:rPr lang="en-US" altLang="zh-CN" smtClean="0"/>
              <a:t>do_loopback()</a:t>
            </a:r>
            <a:r>
              <a:rPr lang="zh-CN" altLang="en-US" smtClean="0"/>
              <a:t>完成“绑定安装”，使系统目录树中的另一个目录能看见</a:t>
            </a:r>
          </a:p>
          <a:p>
            <a:pPr lvl="1" eaLnBrk="1" hangingPunct="1">
              <a:lnSpc>
                <a:spcPct val="90000"/>
              </a:lnSpc>
              <a:buFont typeface="Wingdings" panose="05000000000000000000" pitchFamily="2" charset="2"/>
              <a:buNone/>
            </a:pPr>
            <a:r>
              <a:rPr lang="zh-CN" altLang="en-US" smtClean="0"/>
              <a:t>	</a:t>
            </a:r>
            <a:r>
              <a:rPr lang="en-US" altLang="zh-CN" smtClean="0"/>
              <a:t>MS_MOVE</a:t>
            </a:r>
            <a:r>
              <a:rPr lang="zh-CN" altLang="en-US" smtClean="0"/>
              <a:t>：调用</a:t>
            </a:r>
            <a:r>
              <a:rPr lang="en-US" altLang="zh-CN" smtClean="0"/>
              <a:t>do_move_mount()</a:t>
            </a:r>
            <a:r>
              <a:rPr lang="zh-CN" altLang="en-US" smtClean="0"/>
              <a:t>改变已安装文件系统的目录</a:t>
            </a:r>
          </a:p>
          <a:p>
            <a:pPr lvl="1" eaLnBrk="1" hangingPunct="1">
              <a:lnSpc>
                <a:spcPct val="90000"/>
              </a:lnSpc>
              <a:buFont typeface="Wingdings" panose="05000000000000000000" pitchFamily="2" charset="2"/>
              <a:buNone/>
            </a:pPr>
            <a:r>
              <a:rPr lang="en-US" altLang="zh-CN" smtClean="0"/>
              <a:t>3</a:t>
            </a:r>
            <a:r>
              <a:rPr lang="zh-CN" altLang="en-US" smtClean="0"/>
              <a:t>、否则，调用</a:t>
            </a:r>
            <a:r>
              <a:rPr lang="en-US" altLang="zh-CN" smtClean="0"/>
              <a:t>do_add_mount()</a:t>
            </a:r>
            <a:r>
              <a:rPr lang="zh-CN" altLang="en-US" smtClean="0"/>
              <a:t>安装普通系统</a:t>
            </a:r>
          </a:p>
        </p:txBody>
      </p:sp>
    </p:spTree>
    <p:extLst>
      <p:ext uri="{BB962C8B-B14F-4D97-AF65-F5344CB8AC3E}">
        <p14:creationId xmlns:p14="http://schemas.microsoft.com/office/powerpoint/2010/main" val="77573272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CN" altLang="en-US" smtClean="0"/>
              <a:t>文件系统安装（续）</a:t>
            </a:r>
          </a:p>
        </p:txBody>
      </p:sp>
      <p:sp>
        <p:nvSpPr>
          <p:cNvPr id="89091" name="Rectangle 3"/>
          <p:cNvSpPr>
            <a:spLocks noGrp="1" noChangeArrowheads="1"/>
          </p:cNvSpPr>
          <p:nvPr>
            <p:ph type="body" idx="1"/>
          </p:nvPr>
        </p:nvSpPr>
        <p:spPr/>
        <p:txBody>
          <a:bodyPr/>
          <a:lstStyle/>
          <a:p>
            <a:pPr eaLnBrk="1" hangingPunct="1"/>
            <a:r>
              <a:rPr lang="zh-CN" altLang="en-US" smtClean="0"/>
              <a:t>卸载文件系统，系统调用</a:t>
            </a:r>
            <a:r>
              <a:rPr lang="en-US" altLang="zh-CN" smtClean="0"/>
              <a:t>umount()-&gt;sys_umount()</a:t>
            </a:r>
            <a:r>
              <a:rPr lang="zh-CN" altLang="en-US" smtClean="0"/>
              <a:t>：</a:t>
            </a:r>
          </a:p>
          <a:p>
            <a:pPr lvl="1" eaLnBrk="1" hangingPunct="1">
              <a:buFont typeface="Wingdings" panose="05000000000000000000" pitchFamily="2" charset="2"/>
              <a:buNone/>
            </a:pPr>
            <a:r>
              <a:rPr lang="en-US" altLang="zh-CN" smtClean="0"/>
              <a:t>1</a:t>
            </a:r>
            <a:r>
              <a:rPr lang="zh-CN" altLang="en-US" smtClean="0"/>
              <a:t>、查找文件系统目录的目录项对象</a:t>
            </a:r>
          </a:p>
          <a:p>
            <a:pPr lvl="1" eaLnBrk="1" hangingPunct="1">
              <a:buFont typeface="Wingdings" panose="05000000000000000000" pitchFamily="2" charset="2"/>
              <a:buNone/>
            </a:pPr>
            <a:r>
              <a:rPr lang="en-US" altLang="zh-CN" smtClean="0"/>
              <a:t>2</a:t>
            </a:r>
            <a:r>
              <a:rPr lang="zh-CN" altLang="en-US" smtClean="0"/>
              <a:t>、以下情况返回出错：</a:t>
            </a:r>
          </a:p>
          <a:p>
            <a:pPr lvl="1" eaLnBrk="1" hangingPunct="1"/>
            <a:r>
              <a:rPr lang="zh-CN" altLang="en-US" smtClean="0"/>
              <a:t>	传入的目录参数不是文件系统的目录</a:t>
            </a:r>
          </a:p>
          <a:p>
            <a:pPr lvl="1" eaLnBrk="1" hangingPunct="1"/>
            <a:r>
              <a:rPr lang="zh-CN" altLang="en-US" smtClean="0"/>
              <a:t>	文件系统没有安装在目录下</a:t>
            </a:r>
          </a:p>
          <a:p>
            <a:pPr lvl="1" eaLnBrk="1" hangingPunct="1"/>
            <a:r>
              <a:rPr lang="zh-CN" altLang="en-US" smtClean="0"/>
              <a:t>	用户不具有卸载文件系统的特权</a:t>
            </a:r>
          </a:p>
          <a:p>
            <a:pPr lvl="1" eaLnBrk="1" hangingPunct="1">
              <a:buFont typeface="Wingdings" panose="05000000000000000000" pitchFamily="2" charset="2"/>
              <a:buNone/>
            </a:pPr>
            <a:r>
              <a:rPr lang="en-US" altLang="zh-CN" smtClean="0"/>
              <a:t>3</a:t>
            </a:r>
            <a:r>
              <a:rPr lang="zh-CN" altLang="en-US" smtClean="0"/>
              <a:t>、调用</a:t>
            </a:r>
            <a:r>
              <a:rPr lang="en-US" altLang="zh-CN" smtClean="0"/>
              <a:t>do_umount()</a:t>
            </a:r>
            <a:r>
              <a:rPr lang="zh-CN" altLang="en-US" smtClean="0"/>
              <a:t>卸载文件系统</a:t>
            </a:r>
          </a:p>
        </p:txBody>
      </p:sp>
    </p:spTree>
    <p:extLst>
      <p:ext uri="{BB962C8B-B14F-4D97-AF65-F5344CB8AC3E}">
        <p14:creationId xmlns:p14="http://schemas.microsoft.com/office/powerpoint/2010/main" val="243077645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altLang="zh-CN" dirty="0" smtClean="0"/>
              <a:t>7.5 </a:t>
            </a:r>
            <a:r>
              <a:rPr lang="zh-CN" altLang="en-US" dirty="0" smtClean="0"/>
              <a:t>路径名查找</a:t>
            </a:r>
          </a:p>
        </p:txBody>
      </p:sp>
      <p:sp>
        <p:nvSpPr>
          <p:cNvPr id="90115" name="Rectangle 3"/>
          <p:cNvSpPr>
            <a:spLocks noGrp="1" noChangeArrowheads="1"/>
          </p:cNvSpPr>
          <p:nvPr>
            <p:ph type="body" idx="1"/>
          </p:nvPr>
        </p:nvSpPr>
        <p:spPr/>
        <p:txBody>
          <a:bodyPr/>
          <a:lstStyle/>
          <a:p>
            <a:pPr eaLnBrk="1" hangingPunct="1"/>
            <a:r>
              <a:rPr lang="en-US" altLang="zh-CN" dirty="0" smtClean="0"/>
              <a:t>VFS</a:t>
            </a:r>
            <a:r>
              <a:rPr lang="zh-CN" altLang="en-US" dirty="0" smtClean="0"/>
              <a:t>是如何从文件路径名找到相应的索引节点的？</a:t>
            </a:r>
          </a:p>
          <a:p>
            <a:pPr lvl="1" eaLnBrk="1" hangingPunct="1"/>
            <a:r>
              <a:rPr lang="zh-CN" altLang="en-US" dirty="0" smtClean="0"/>
              <a:t>分析路径名，将它拆分成一个文件名序列</a:t>
            </a:r>
          </a:p>
          <a:p>
            <a:pPr lvl="1" eaLnBrk="1" hangingPunct="1"/>
            <a:r>
              <a:rPr lang="zh-CN" altLang="en-US" dirty="0" smtClean="0"/>
              <a:t>除了最后一个文件名之外，其他所有文件名必定都是目录名</a:t>
            </a:r>
          </a:p>
          <a:p>
            <a:pPr lvl="1" eaLnBrk="1" hangingPunct="1"/>
            <a:endParaRPr lang="zh-CN" altLang="en-US" dirty="0" smtClean="0"/>
          </a:p>
          <a:p>
            <a:pPr eaLnBrk="1" hangingPunct="1"/>
            <a:r>
              <a:rPr lang="zh-CN" altLang="en-US" dirty="0" smtClean="0"/>
              <a:t>搜索的起点：</a:t>
            </a:r>
          </a:p>
          <a:p>
            <a:pPr lvl="1" eaLnBrk="1" hangingPunct="1"/>
            <a:r>
              <a:rPr lang="zh-CN" altLang="en-US" dirty="0" smtClean="0"/>
              <a:t>绝对路径：</a:t>
            </a:r>
            <a:r>
              <a:rPr lang="en-US" altLang="zh-CN" dirty="0" err="1" smtClean="0"/>
              <a:t>current</a:t>
            </a:r>
            <a:r>
              <a:rPr lang="en-US" altLang="zh-CN" dirty="0" err="1" smtClean="0">
                <a:sym typeface="Wingdings" panose="05000000000000000000" pitchFamily="2" charset="2"/>
              </a:rPr>
              <a:t>fsroot</a:t>
            </a:r>
            <a:r>
              <a:rPr lang="zh-CN" altLang="en-US" dirty="0" smtClean="0">
                <a:sym typeface="Wingdings" panose="05000000000000000000" pitchFamily="2" charset="2"/>
                <a:hlinkClick r:id="rId2" action="ppaction://hlinkfile"/>
              </a:rPr>
              <a:t>初始化</a:t>
            </a:r>
            <a:r>
              <a:rPr lang="zh-CN" altLang="en-US" dirty="0" smtClean="0">
                <a:sym typeface="Wingdings" panose="05000000000000000000" pitchFamily="2" charset="2"/>
              </a:rPr>
              <a:t>	</a:t>
            </a:r>
            <a:r>
              <a:rPr lang="zh-CN" altLang="en-US" dirty="0" smtClean="0">
                <a:sym typeface="Wingdings" panose="05000000000000000000" pitchFamily="2" charset="2"/>
                <a:hlinkClick r:id="rId3" action="ppaction://hlinkfile"/>
              </a:rPr>
              <a:t>更改</a:t>
            </a:r>
            <a:endParaRPr lang="zh-CN" altLang="en-US" dirty="0" smtClean="0">
              <a:sym typeface="Wingdings" panose="05000000000000000000" pitchFamily="2" charset="2"/>
            </a:endParaRPr>
          </a:p>
          <a:p>
            <a:pPr lvl="1" eaLnBrk="1" hangingPunct="1"/>
            <a:r>
              <a:rPr lang="zh-CN" altLang="en-US" dirty="0" smtClean="0"/>
              <a:t>相对路径：</a:t>
            </a:r>
            <a:r>
              <a:rPr lang="en-US" altLang="zh-CN" dirty="0" err="1" smtClean="0"/>
              <a:t>current</a:t>
            </a:r>
            <a:r>
              <a:rPr lang="en-US" altLang="zh-CN" dirty="0" err="1" smtClean="0">
                <a:sym typeface="Wingdings" panose="05000000000000000000" pitchFamily="2" charset="2"/>
              </a:rPr>
              <a:t>fspwd</a:t>
            </a:r>
            <a:r>
              <a:rPr lang="en-US" altLang="zh-CN" dirty="0" smtClean="0">
                <a:sym typeface="Wingdings" panose="05000000000000000000" pitchFamily="2" charset="2"/>
              </a:rPr>
              <a:t> </a:t>
            </a:r>
            <a:r>
              <a:rPr lang="zh-CN" altLang="en-US" dirty="0" smtClean="0">
                <a:sym typeface="Wingdings" panose="05000000000000000000" pitchFamily="2" charset="2"/>
                <a:hlinkClick r:id="rId4" action="ppaction://hlinkfile"/>
              </a:rPr>
              <a:t>更改</a:t>
            </a:r>
            <a:endParaRPr lang="zh-CN" altLang="en-US" dirty="0" smtClean="0">
              <a:sym typeface="Wingdings" panose="05000000000000000000" pitchFamily="2" charset="2"/>
            </a:endParaRPr>
          </a:p>
        </p:txBody>
      </p:sp>
    </p:spTree>
    <p:extLst>
      <p:ext uri="{BB962C8B-B14F-4D97-AF65-F5344CB8AC3E}">
        <p14:creationId xmlns:p14="http://schemas.microsoft.com/office/powerpoint/2010/main" val="259348840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smtClean="0"/>
              <a:t>路径名查找</a:t>
            </a:r>
          </a:p>
        </p:txBody>
      </p:sp>
      <p:sp>
        <p:nvSpPr>
          <p:cNvPr id="91139" name="Rectangle 3"/>
          <p:cNvSpPr>
            <a:spLocks noGrp="1" noChangeArrowheads="1"/>
          </p:cNvSpPr>
          <p:nvPr>
            <p:ph type="body" idx="1"/>
          </p:nvPr>
        </p:nvSpPr>
        <p:spPr/>
        <p:txBody>
          <a:bodyPr/>
          <a:lstStyle/>
          <a:p>
            <a:pPr eaLnBrk="1" hangingPunct="1"/>
            <a:r>
              <a:rPr lang="zh-CN" altLang="en-US" smtClean="0"/>
              <a:t>首先找到起点目录的索引节点</a:t>
            </a:r>
          </a:p>
          <a:p>
            <a:pPr eaLnBrk="1" hangingPunct="1"/>
            <a:r>
              <a:rPr lang="zh-CN" altLang="en-US" smtClean="0"/>
              <a:t>在这个索引节点的目录文件中，找到第一个目录名（文件名）所对应的索引节点</a:t>
            </a:r>
          </a:p>
          <a:p>
            <a:pPr eaLnBrk="1" hangingPunct="1"/>
            <a:r>
              <a:rPr lang="zh-CN" altLang="en-US" smtClean="0"/>
              <a:t>在第一个目录名的索引节点的目录文件中找到第二个目录名（文件名）所对应的索引节点</a:t>
            </a:r>
          </a:p>
          <a:p>
            <a:pPr eaLnBrk="1" hangingPunct="1"/>
            <a:r>
              <a:rPr lang="en-US" altLang="zh-CN" smtClean="0"/>
              <a:t>…</a:t>
            </a:r>
            <a:r>
              <a:rPr lang="zh-CN" altLang="en-US" smtClean="0"/>
              <a:t>反复，直到文件名序列的最后一项</a:t>
            </a:r>
          </a:p>
        </p:txBody>
      </p:sp>
    </p:spTree>
    <p:extLst>
      <p:ext uri="{BB962C8B-B14F-4D97-AF65-F5344CB8AC3E}">
        <p14:creationId xmlns:p14="http://schemas.microsoft.com/office/powerpoint/2010/main" val="13535562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p:cNvSpPr>
            <a:spLocks noGrp="1" noChangeArrowheads="1"/>
          </p:cNvSpPr>
          <p:nvPr>
            <p:ph type="title"/>
          </p:nvPr>
        </p:nvSpPr>
        <p:spPr/>
        <p:txBody>
          <a:bodyPr/>
          <a:lstStyle/>
          <a:p>
            <a:pPr eaLnBrk="1" hangingPunct="1"/>
            <a:r>
              <a:rPr lang="zh-CN" altLang="en-US" smtClean="0"/>
              <a:t>路径名查找</a:t>
            </a:r>
          </a:p>
        </p:txBody>
      </p:sp>
      <p:sp>
        <p:nvSpPr>
          <p:cNvPr id="92163" name="Rectangle 4"/>
          <p:cNvSpPr>
            <a:spLocks noGrp="1" noChangeArrowheads="1"/>
          </p:cNvSpPr>
          <p:nvPr>
            <p:ph type="body" idx="1"/>
          </p:nvPr>
        </p:nvSpPr>
        <p:spPr>
          <a:xfrm>
            <a:off x="468313" y="1557338"/>
            <a:ext cx="7772400" cy="4530725"/>
          </a:xfrm>
        </p:spPr>
        <p:txBody>
          <a:bodyPr/>
          <a:lstStyle/>
          <a:p>
            <a:pPr eaLnBrk="1" hangingPunct="1">
              <a:lnSpc>
                <a:spcPct val="90000"/>
              </a:lnSpc>
            </a:pPr>
            <a:r>
              <a:rPr lang="zh-CN" altLang="en-US" smtClean="0"/>
              <a:t>在上述查找过程中要处理的其他问题：</a:t>
            </a:r>
          </a:p>
          <a:p>
            <a:pPr lvl="1" eaLnBrk="1" hangingPunct="1">
              <a:lnSpc>
                <a:spcPct val="90000"/>
              </a:lnSpc>
            </a:pPr>
            <a:r>
              <a:rPr lang="zh-CN" altLang="en-US" smtClean="0"/>
              <a:t>对每个目录的访问权限必须进行检查</a:t>
            </a:r>
          </a:p>
          <a:p>
            <a:pPr lvl="1" eaLnBrk="1" hangingPunct="1">
              <a:lnSpc>
                <a:spcPct val="90000"/>
              </a:lnSpc>
            </a:pPr>
            <a:r>
              <a:rPr lang="zh-CN" altLang="en-US" smtClean="0"/>
              <a:t>若是符号链接，需要进行扩展</a:t>
            </a:r>
          </a:p>
          <a:p>
            <a:pPr lvl="1" eaLnBrk="1" hangingPunct="1">
              <a:lnSpc>
                <a:spcPct val="90000"/>
              </a:lnSpc>
            </a:pPr>
            <a:r>
              <a:rPr lang="zh-CN" altLang="en-US" smtClean="0"/>
              <a:t>要考虑符号链接的循环引用（进行处理）</a:t>
            </a:r>
          </a:p>
          <a:p>
            <a:pPr lvl="1" eaLnBrk="1" hangingPunct="1">
              <a:lnSpc>
                <a:spcPct val="90000"/>
              </a:lnSpc>
            </a:pPr>
            <a:r>
              <a:rPr lang="zh-CN" altLang="en-US" smtClean="0"/>
              <a:t>目录名可能是一个文件系统的安装点，必须扩展到一个新的文件系统中</a:t>
            </a:r>
          </a:p>
          <a:p>
            <a:pPr lvl="2" eaLnBrk="1" hangingPunct="1">
              <a:lnSpc>
                <a:spcPct val="90000"/>
              </a:lnSpc>
            </a:pPr>
            <a:endParaRPr lang="en-US" altLang="zh-CN" smtClean="0"/>
          </a:p>
        </p:txBody>
      </p:sp>
    </p:spTree>
    <p:extLst>
      <p:ext uri="{BB962C8B-B14F-4D97-AF65-F5344CB8AC3E}">
        <p14:creationId xmlns:p14="http://schemas.microsoft.com/office/powerpoint/2010/main" val="275949877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zh-CN" altLang="en-US" smtClean="0"/>
              <a:t>路径名查找</a:t>
            </a:r>
          </a:p>
        </p:txBody>
      </p:sp>
      <p:sp>
        <p:nvSpPr>
          <p:cNvPr id="93187" name="Rectangle 3"/>
          <p:cNvSpPr>
            <a:spLocks noGrp="1" noChangeArrowheads="1"/>
          </p:cNvSpPr>
          <p:nvPr>
            <p:ph type="body" idx="1"/>
          </p:nvPr>
        </p:nvSpPr>
        <p:spPr>
          <a:xfrm>
            <a:off x="914400" y="1196975"/>
            <a:ext cx="7772400" cy="4933950"/>
          </a:xfrm>
        </p:spPr>
        <p:txBody>
          <a:bodyPr/>
          <a:lstStyle/>
          <a:p>
            <a:pPr eaLnBrk="1" hangingPunct="1">
              <a:lnSpc>
                <a:spcPct val="80000"/>
              </a:lnSpc>
            </a:pPr>
            <a:r>
              <a:rPr lang="zh-CN" altLang="en-US" sz="2000" smtClean="0"/>
              <a:t>数据结构：</a:t>
            </a:r>
            <a:r>
              <a:rPr lang="en-US" altLang="zh-CN" sz="2000" smtClean="0"/>
              <a:t>struct nameidata</a:t>
            </a:r>
          </a:p>
          <a:p>
            <a:pPr eaLnBrk="1" hangingPunct="1">
              <a:lnSpc>
                <a:spcPct val="80000"/>
              </a:lnSpc>
              <a:buFont typeface="Wingdings" panose="05000000000000000000" pitchFamily="2" charset="2"/>
              <a:buNone/>
            </a:pPr>
            <a:r>
              <a:rPr lang="en-US" altLang="zh-CN" sz="2000" smtClean="0"/>
              <a:t>struct </a:t>
            </a:r>
            <a:r>
              <a:rPr lang="en-US" altLang="zh-CN" sz="2000" smtClean="0">
                <a:solidFill>
                  <a:schemeClr val="accent2"/>
                </a:solidFill>
              </a:rPr>
              <a:t>nameidata</a:t>
            </a:r>
            <a:r>
              <a:rPr lang="en-US" altLang="zh-CN" sz="2000" smtClean="0"/>
              <a:t> { </a:t>
            </a:r>
          </a:p>
          <a:p>
            <a:pPr eaLnBrk="1" hangingPunct="1">
              <a:lnSpc>
                <a:spcPct val="80000"/>
              </a:lnSpc>
              <a:buFont typeface="Wingdings" panose="05000000000000000000" pitchFamily="2" charset="2"/>
              <a:buNone/>
            </a:pPr>
            <a:r>
              <a:rPr lang="en-US" altLang="zh-CN" sz="2000" smtClean="0"/>
              <a:t>struct dentry *dentry; /*</a:t>
            </a:r>
            <a:r>
              <a:rPr lang="zh-CN" altLang="en-US" sz="2000" smtClean="0"/>
              <a:t>目录项对象的地址*</a:t>
            </a:r>
            <a:r>
              <a:rPr lang="en-US" altLang="zh-CN" sz="2000" smtClean="0"/>
              <a:t>/ </a:t>
            </a:r>
          </a:p>
          <a:p>
            <a:pPr eaLnBrk="1" hangingPunct="1">
              <a:lnSpc>
                <a:spcPct val="80000"/>
              </a:lnSpc>
              <a:buFont typeface="Wingdings" panose="05000000000000000000" pitchFamily="2" charset="2"/>
              <a:buNone/>
            </a:pPr>
            <a:r>
              <a:rPr lang="en-US" altLang="zh-CN" sz="2000" smtClean="0"/>
              <a:t>struct vfsmount *mnt; /*</a:t>
            </a:r>
            <a:r>
              <a:rPr lang="zh-CN" altLang="en-US" sz="2000" smtClean="0"/>
              <a:t>安装点的数据*</a:t>
            </a:r>
            <a:r>
              <a:rPr lang="en-US" altLang="zh-CN" sz="2000" smtClean="0"/>
              <a:t>/ </a:t>
            </a:r>
          </a:p>
          <a:p>
            <a:pPr eaLnBrk="1" hangingPunct="1">
              <a:lnSpc>
                <a:spcPct val="80000"/>
              </a:lnSpc>
              <a:buFont typeface="Wingdings" panose="05000000000000000000" pitchFamily="2" charset="2"/>
              <a:buNone/>
            </a:pPr>
            <a:r>
              <a:rPr lang="en-US" altLang="zh-CN" sz="2000" smtClean="0"/>
              <a:t>struct qstr last; /*</a:t>
            </a:r>
            <a:r>
              <a:rPr lang="zh-CN" altLang="en-US" sz="2000" smtClean="0"/>
              <a:t>路径中的最后一个</a:t>
            </a:r>
            <a:r>
              <a:rPr lang="en-US" altLang="zh-CN" sz="2000" smtClean="0"/>
              <a:t>component*/ </a:t>
            </a:r>
          </a:p>
          <a:p>
            <a:pPr eaLnBrk="1" hangingPunct="1">
              <a:lnSpc>
                <a:spcPct val="80000"/>
              </a:lnSpc>
              <a:buFont typeface="Wingdings" panose="05000000000000000000" pitchFamily="2" charset="2"/>
              <a:buNone/>
            </a:pPr>
            <a:r>
              <a:rPr lang="en-US" altLang="zh-CN" sz="2000" smtClean="0"/>
              <a:t>unsigned int flags; /*</a:t>
            </a:r>
            <a:r>
              <a:rPr lang="zh-CN" altLang="en-US" sz="2000" smtClean="0"/>
              <a:t>查找标识*</a:t>
            </a:r>
            <a:r>
              <a:rPr lang="en-US" altLang="zh-CN" sz="2000" smtClean="0"/>
              <a:t>/ </a:t>
            </a:r>
          </a:p>
          <a:p>
            <a:pPr eaLnBrk="1" hangingPunct="1">
              <a:lnSpc>
                <a:spcPct val="80000"/>
              </a:lnSpc>
              <a:buFont typeface="Wingdings" panose="05000000000000000000" pitchFamily="2" charset="2"/>
              <a:buNone/>
            </a:pPr>
            <a:r>
              <a:rPr lang="en-US" altLang="zh-CN" sz="2000" smtClean="0"/>
              <a:t>int last_type; /*</a:t>
            </a:r>
            <a:r>
              <a:rPr lang="zh-CN" altLang="en-US" sz="2000" smtClean="0"/>
              <a:t>路径中的最后一个</a:t>
            </a:r>
            <a:r>
              <a:rPr lang="en-US" altLang="zh-CN" sz="2000" smtClean="0"/>
              <a:t>component</a:t>
            </a:r>
            <a:r>
              <a:rPr lang="zh-CN" altLang="en-US" sz="2000" smtClean="0"/>
              <a:t>的类型*</a:t>
            </a:r>
            <a:r>
              <a:rPr lang="en-US" altLang="zh-CN" sz="2000" smtClean="0"/>
              <a:t>/ </a:t>
            </a:r>
          </a:p>
          <a:p>
            <a:pPr eaLnBrk="1" hangingPunct="1">
              <a:lnSpc>
                <a:spcPct val="80000"/>
              </a:lnSpc>
              <a:buFont typeface="Wingdings" panose="05000000000000000000" pitchFamily="2" charset="2"/>
              <a:buNone/>
            </a:pPr>
            <a:r>
              <a:rPr lang="en-US" altLang="zh-CN" sz="2000" smtClean="0"/>
              <a:t>unsigned depth; /*</a:t>
            </a:r>
            <a:r>
              <a:rPr lang="zh-CN" altLang="en-US" sz="2000" smtClean="0"/>
              <a:t>当前</a:t>
            </a:r>
            <a:r>
              <a:rPr lang="en-US" altLang="zh-CN" sz="2000" smtClean="0"/>
              <a:t>symbolic link</a:t>
            </a:r>
            <a:r>
              <a:rPr lang="zh-CN" altLang="en-US" sz="2000" smtClean="0"/>
              <a:t>的嵌套深度，不能大于</a:t>
            </a:r>
            <a:r>
              <a:rPr lang="en-US" altLang="zh-CN" sz="2000" smtClean="0"/>
              <a:t>6*/ </a:t>
            </a:r>
          </a:p>
          <a:p>
            <a:pPr eaLnBrk="1" hangingPunct="1">
              <a:lnSpc>
                <a:spcPct val="80000"/>
              </a:lnSpc>
              <a:buFont typeface="Wingdings" panose="05000000000000000000" pitchFamily="2" charset="2"/>
              <a:buNone/>
            </a:pPr>
            <a:r>
              <a:rPr lang="en-US" altLang="zh-CN" sz="2000" smtClean="0"/>
              <a:t>char *saved_names[MAX_NESTED_LINKS + 1]; </a:t>
            </a:r>
          </a:p>
          <a:p>
            <a:pPr eaLnBrk="1" hangingPunct="1">
              <a:lnSpc>
                <a:spcPct val="80000"/>
              </a:lnSpc>
              <a:buFont typeface="Wingdings" panose="05000000000000000000" pitchFamily="2" charset="2"/>
              <a:buNone/>
            </a:pPr>
            <a:r>
              <a:rPr lang="en-US" altLang="zh-CN" sz="2000" smtClean="0"/>
              <a:t>                  /*</a:t>
            </a:r>
            <a:r>
              <a:rPr lang="zh-CN" altLang="en-US" sz="2000" smtClean="0"/>
              <a:t>和嵌套</a:t>
            </a:r>
            <a:r>
              <a:rPr lang="en-US" altLang="zh-CN" sz="2000" smtClean="0"/>
              <a:t>symbolic link </a:t>
            </a:r>
            <a:r>
              <a:rPr lang="zh-CN" altLang="en-US" sz="2000" smtClean="0"/>
              <a:t>相关的</a:t>
            </a:r>
            <a:r>
              <a:rPr lang="en-US" altLang="zh-CN" sz="2000" smtClean="0"/>
              <a:t>pathname*/ </a:t>
            </a:r>
          </a:p>
          <a:p>
            <a:pPr eaLnBrk="1" hangingPunct="1">
              <a:lnSpc>
                <a:spcPct val="80000"/>
              </a:lnSpc>
              <a:buFont typeface="Wingdings" panose="05000000000000000000" pitchFamily="2" charset="2"/>
              <a:buNone/>
            </a:pPr>
            <a:r>
              <a:rPr lang="en-US" altLang="zh-CN" sz="2000" smtClean="0"/>
              <a:t>union { </a:t>
            </a:r>
          </a:p>
          <a:p>
            <a:pPr eaLnBrk="1" hangingPunct="1">
              <a:lnSpc>
                <a:spcPct val="80000"/>
              </a:lnSpc>
              <a:buFont typeface="Wingdings" panose="05000000000000000000" pitchFamily="2" charset="2"/>
              <a:buNone/>
            </a:pPr>
            <a:r>
              <a:rPr lang="en-US" altLang="zh-CN" sz="2000" smtClean="0"/>
              <a:t>struct open_intent open; /*</a:t>
            </a:r>
            <a:r>
              <a:rPr lang="zh-CN" altLang="en-US" sz="2000" smtClean="0"/>
              <a:t>说明文件该如何访问*</a:t>
            </a:r>
            <a:r>
              <a:rPr lang="en-US" altLang="zh-CN" sz="2000" smtClean="0"/>
              <a:t>/ </a:t>
            </a:r>
          </a:p>
          <a:p>
            <a:pPr eaLnBrk="1" hangingPunct="1">
              <a:lnSpc>
                <a:spcPct val="80000"/>
              </a:lnSpc>
              <a:buFont typeface="Wingdings" panose="05000000000000000000" pitchFamily="2" charset="2"/>
              <a:buNone/>
            </a:pPr>
            <a:r>
              <a:rPr lang="en-US" altLang="zh-CN" sz="2000" smtClean="0"/>
              <a:t>} intent; /*</a:t>
            </a:r>
            <a:r>
              <a:rPr lang="zh-CN" altLang="en-US" sz="2000" smtClean="0"/>
              <a:t>专用数据*</a:t>
            </a:r>
            <a:r>
              <a:rPr lang="en-US" altLang="zh-CN" sz="2000" smtClean="0"/>
              <a:t>/ }; </a:t>
            </a:r>
          </a:p>
          <a:p>
            <a:pPr eaLnBrk="1" hangingPunct="1">
              <a:lnSpc>
                <a:spcPct val="80000"/>
              </a:lnSpc>
            </a:pPr>
            <a:r>
              <a:rPr lang="zh-CN" altLang="en-US" sz="2000" smtClean="0"/>
              <a:t>在需要进行路径名查找的时候，依此调用如下函数：</a:t>
            </a:r>
            <a:r>
              <a:rPr lang="en-US" altLang="zh-CN" sz="2000" smtClean="0">
                <a:hlinkClick r:id="rId2" action="ppaction://hlinkfile"/>
              </a:rPr>
              <a:t>path_init</a:t>
            </a:r>
            <a:r>
              <a:rPr lang="en-US" altLang="zh-CN" sz="2000" smtClean="0"/>
              <a:t>,   </a:t>
            </a:r>
            <a:r>
              <a:rPr lang="en-US" altLang="zh-CN" sz="2000" smtClean="0">
                <a:hlinkClick r:id="rId3" action="ppaction://hlinkfile"/>
              </a:rPr>
              <a:t>path_walk</a:t>
            </a:r>
            <a:r>
              <a:rPr lang="en-US" altLang="zh-CN" sz="2000" smtClean="0"/>
              <a:t>,   </a:t>
            </a:r>
            <a:r>
              <a:rPr lang="en-US" altLang="zh-CN" sz="2000" smtClean="0">
                <a:hlinkClick r:id="rId4" action="ppaction://hlinkfile"/>
              </a:rPr>
              <a:t>path_release</a:t>
            </a:r>
            <a:endParaRPr lang="en-US" altLang="zh-CN" sz="2000" smtClean="0"/>
          </a:p>
          <a:p>
            <a:pPr lvl="1" eaLnBrk="1" hangingPunct="1">
              <a:lnSpc>
                <a:spcPct val="80000"/>
              </a:lnSpc>
            </a:pPr>
            <a:endParaRPr lang="en-US" altLang="zh-CN" sz="2000" smtClean="0"/>
          </a:p>
        </p:txBody>
      </p:sp>
    </p:spTree>
    <p:extLst>
      <p:ext uri="{BB962C8B-B14F-4D97-AF65-F5344CB8AC3E}">
        <p14:creationId xmlns:p14="http://schemas.microsoft.com/office/powerpoint/2010/main" val="26513745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4" descr="fs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0"/>
            <a:ext cx="6515100" cy="928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59361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zh-CN" altLang="en-US" smtClean="0"/>
              <a:t>路径名查找：跨文件系统</a:t>
            </a:r>
          </a:p>
        </p:txBody>
      </p:sp>
      <p:sp>
        <p:nvSpPr>
          <p:cNvPr id="95235" name="Rectangle 3"/>
          <p:cNvSpPr>
            <a:spLocks noGrp="1" noChangeArrowheads="1"/>
          </p:cNvSpPr>
          <p:nvPr>
            <p:ph type="body" idx="1"/>
          </p:nvPr>
        </p:nvSpPr>
        <p:spPr>
          <a:xfrm>
            <a:off x="323850" y="1196975"/>
            <a:ext cx="8820150" cy="5661025"/>
          </a:xfrm>
        </p:spPr>
        <p:txBody>
          <a:bodyPr/>
          <a:lstStyle/>
          <a:p>
            <a:pPr lvl="1" eaLnBrk="1" hangingPunct="1"/>
            <a:r>
              <a:rPr lang="zh-CN" altLang="en-US" sz="2200" smtClean="0"/>
              <a:t>例如</a:t>
            </a:r>
            <a:r>
              <a:rPr lang="en-US" altLang="zh-CN" sz="2200" smtClean="0"/>
              <a:t>:</a:t>
            </a:r>
            <a:r>
              <a:rPr lang="zh-CN" altLang="en-US" sz="2200" smtClean="0"/>
              <a:t>要打开 </a:t>
            </a:r>
            <a:r>
              <a:rPr lang="en-US" altLang="zh-CN" sz="2200" smtClean="0"/>
              <a:t>/mnt/win/dir1/abc </a:t>
            </a:r>
            <a:r>
              <a:rPr lang="zh-CN" altLang="en-US" sz="2200" smtClean="0"/>
              <a:t>这个文件：</a:t>
            </a:r>
          </a:p>
          <a:p>
            <a:pPr lvl="1" eaLnBrk="1" hangingPunct="1">
              <a:buFont typeface="Wingdings" panose="05000000000000000000" pitchFamily="2" charset="2"/>
              <a:buNone/>
            </a:pPr>
            <a:r>
              <a:rPr lang="zh-CN" altLang="en-US" sz="2200" smtClean="0"/>
              <a:t>    </a:t>
            </a:r>
            <a:r>
              <a:rPr lang="en-US" altLang="zh-CN" sz="2200" smtClean="0"/>
              <a:t>1</a:t>
            </a:r>
            <a:r>
              <a:rPr lang="zh-CN" altLang="en-US" sz="2200" smtClean="0"/>
              <a:t>、  首先找到</a:t>
            </a:r>
            <a:r>
              <a:rPr lang="zh-CN" altLang="en-US" sz="2200" smtClean="0">
                <a:solidFill>
                  <a:schemeClr val="accent2"/>
                </a:solidFill>
              </a:rPr>
              <a:t>根文件系统</a:t>
            </a:r>
            <a:r>
              <a:rPr lang="zh-CN" altLang="en-US" sz="2200" smtClean="0"/>
              <a:t>的根目录节点 </a:t>
            </a:r>
            <a:r>
              <a:rPr lang="en-US" altLang="zh-CN" sz="2200" smtClean="0"/>
              <a:t>dentry </a:t>
            </a:r>
            <a:r>
              <a:rPr lang="zh-CN" altLang="en-US" sz="2200" smtClean="0"/>
              <a:t>和 </a:t>
            </a:r>
            <a:r>
              <a:rPr lang="en-US" altLang="zh-CN" sz="2200" smtClean="0"/>
              <a:t>inode</a:t>
            </a:r>
            <a:br>
              <a:rPr lang="en-US" altLang="zh-CN" sz="2200" smtClean="0"/>
            </a:br>
            <a:r>
              <a:rPr lang="en-US" altLang="zh-CN" sz="2200" smtClean="0"/>
              <a:t> 2</a:t>
            </a:r>
            <a:r>
              <a:rPr lang="zh-CN" altLang="en-US" sz="2200" smtClean="0"/>
              <a:t>、  由这个 </a:t>
            </a:r>
            <a:r>
              <a:rPr lang="en-US" altLang="zh-CN" sz="2200" smtClean="0"/>
              <a:t>inode </a:t>
            </a:r>
            <a:r>
              <a:rPr lang="zh-CN" altLang="en-US" sz="2200" smtClean="0"/>
              <a:t>提供的操作接口 </a:t>
            </a:r>
            <a:r>
              <a:rPr lang="en-US" altLang="zh-CN" sz="2200" smtClean="0"/>
              <a:t>i_op-&gt;lookup()</a:t>
            </a:r>
            <a:r>
              <a:rPr lang="zh-CN" altLang="en-US" sz="2200" smtClean="0"/>
              <a:t>，找到下一层节点 ‘</a:t>
            </a:r>
            <a:r>
              <a:rPr lang="en-US" altLang="zh-CN" sz="2200" smtClean="0"/>
              <a:t>mnt’ </a:t>
            </a:r>
            <a:r>
              <a:rPr lang="zh-CN" altLang="en-US" sz="2200" smtClean="0"/>
              <a:t>的 </a:t>
            </a:r>
            <a:r>
              <a:rPr lang="en-US" altLang="zh-CN" sz="2200" smtClean="0"/>
              <a:t>dentry </a:t>
            </a:r>
            <a:r>
              <a:rPr lang="zh-CN" altLang="en-US" sz="2200" smtClean="0"/>
              <a:t>和 </a:t>
            </a:r>
            <a:r>
              <a:rPr lang="en-US" altLang="zh-CN" sz="2200" smtClean="0"/>
              <a:t>inode</a:t>
            </a:r>
            <a:br>
              <a:rPr lang="en-US" altLang="zh-CN" sz="2200" smtClean="0"/>
            </a:br>
            <a:r>
              <a:rPr lang="en-US" altLang="zh-CN" sz="2200" smtClean="0"/>
              <a:t>3</a:t>
            </a:r>
            <a:r>
              <a:rPr lang="zh-CN" altLang="en-US" sz="2200" smtClean="0"/>
              <a:t>、  由 ‘</a:t>
            </a:r>
            <a:r>
              <a:rPr lang="en-US" altLang="zh-CN" sz="2200" smtClean="0"/>
              <a:t>mnt’ </a:t>
            </a:r>
            <a:r>
              <a:rPr lang="zh-CN" altLang="en-US" sz="2200" smtClean="0"/>
              <a:t>的 </a:t>
            </a:r>
            <a:r>
              <a:rPr lang="en-US" altLang="zh-CN" sz="2200" smtClean="0"/>
              <a:t>inode </a:t>
            </a:r>
            <a:r>
              <a:rPr lang="zh-CN" altLang="en-US" sz="2200" smtClean="0"/>
              <a:t>找到 ‘</a:t>
            </a:r>
            <a:r>
              <a:rPr lang="en-US" altLang="zh-CN" sz="2200" smtClean="0"/>
              <a:t>win’ </a:t>
            </a:r>
            <a:r>
              <a:rPr lang="zh-CN" altLang="en-US" sz="2200" smtClean="0"/>
              <a:t>的 </a:t>
            </a:r>
            <a:r>
              <a:rPr lang="en-US" altLang="zh-CN" sz="2200" smtClean="0"/>
              <a:t>dentry </a:t>
            </a:r>
            <a:r>
              <a:rPr lang="zh-CN" altLang="en-US" sz="2200" smtClean="0"/>
              <a:t>和 </a:t>
            </a:r>
            <a:r>
              <a:rPr lang="en-US" altLang="zh-CN" sz="2200" smtClean="0"/>
              <a:t>inode</a:t>
            </a:r>
          </a:p>
          <a:p>
            <a:pPr lvl="1" eaLnBrk="1" hangingPunct="1">
              <a:buFont typeface="Wingdings" panose="05000000000000000000" pitchFamily="2" charset="2"/>
              <a:buNone/>
            </a:pPr>
            <a:r>
              <a:rPr lang="en-US" altLang="zh-CN" sz="2200" smtClean="0"/>
              <a:t>    4</a:t>
            </a:r>
            <a:r>
              <a:rPr lang="zh-CN" altLang="en-US" sz="2200" smtClean="0"/>
              <a:t>、  </a:t>
            </a:r>
            <a:r>
              <a:rPr lang="zh-CN" altLang="en-US" sz="2200" smtClean="0">
                <a:solidFill>
                  <a:schemeClr val="accent2"/>
                </a:solidFill>
              </a:rPr>
              <a:t>由于 ‘</a:t>
            </a:r>
            <a:r>
              <a:rPr lang="en-US" altLang="zh-CN" sz="2200" smtClean="0">
                <a:solidFill>
                  <a:schemeClr val="accent2"/>
                </a:solidFill>
              </a:rPr>
              <a:t>win’ </a:t>
            </a:r>
            <a:r>
              <a:rPr lang="zh-CN" altLang="en-US" sz="2200" smtClean="0">
                <a:solidFill>
                  <a:schemeClr val="accent2"/>
                </a:solidFill>
              </a:rPr>
              <a:t>是个“安装点”</a:t>
            </a:r>
            <a:r>
              <a:rPr lang="zh-CN" altLang="en-US" sz="2200" smtClean="0"/>
              <a:t>，因此需要找到“被安装设备”</a:t>
            </a:r>
            <a:r>
              <a:rPr lang="en-US" altLang="zh-CN" sz="2200" smtClean="0"/>
              <a:t>/dev/sda1 </a:t>
            </a:r>
            <a:r>
              <a:rPr lang="zh-CN" altLang="en-US" sz="2200" smtClean="0"/>
              <a:t>根目录节点的 </a:t>
            </a:r>
            <a:r>
              <a:rPr lang="en-US" altLang="zh-CN" sz="2200" smtClean="0"/>
              <a:t>dentry </a:t>
            </a:r>
            <a:r>
              <a:rPr lang="zh-CN" altLang="en-US" sz="2200" smtClean="0"/>
              <a:t>和 </a:t>
            </a:r>
            <a:r>
              <a:rPr lang="en-US" altLang="zh-CN" sz="2200" smtClean="0"/>
              <a:t>inode</a:t>
            </a:r>
            <a:r>
              <a:rPr lang="zh-CN" altLang="en-US" sz="2200" smtClean="0"/>
              <a:t>，只要找到 其</a:t>
            </a:r>
            <a:r>
              <a:rPr lang="en-US" altLang="zh-CN" sz="2200" smtClean="0"/>
              <a:t>vfsmount</a:t>
            </a:r>
            <a:r>
              <a:rPr lang="zh-CN" altLang="en-US" sz="2200" smtClean="0"/>
              <a:t>，就可以完成这个任务。</a:t>
            </a:r>
            <a:br>
              <a:rPr lang="zh-CN" altLang="en-US" sz="2200" smtClean="0"/>
            </a:br>
            <a:r>
              <a:rPr lang="en-US" altLang="zh-CN" sz="2200" smtClean="0"/>
              <a:t>5</a:t>
            </a:r>
            <a:r>
              <a:rPr lang="zh-CN" altLang="en-US" sz="2200" smtClean="0"/>
              <a:t>、  然后由 </a:t>
            </a:r>
            <a:r>
              <a:rPr lang="en-US" altLang="zh-CN" sz="2200" smtClean="0"/>
              <a:t>/dev/sda1 </a:t>
            </a:r>
            <a:r>
              <a:rPr lang="zh-CN" altLang="en-US" sz="2200" smtClean="0"/>
              <a:t>根目录节点的 </a:t>
            </a:r>
            <a:r>
              <a:rPr lang="en-US" altLang="zh-CN" sz="2200" smtClean="0"/>
              <a:t>inode </a:t>
            </a:r>
            <a:r>
              <a:rPr lang="zh-CN" altLang="en-US" sz="2200" smtClean="0"/>
              <a:t>负责找到下一层节点 ‘</a:t>
            </a:r>
            <a:r>
              <a:rPr lang="en-US" altLang="zh-CN" sz="2200" smtClean="0"/>
              <a:t>dir1’ </a:t>
            </a:r>
            <a:r>
              <a:rPr lang="zh-CN" altLang="en-US" sz="2200" smtClean="0"/>
              <a:t>的 </a:t>
            </a:r>
            <a:r>
              <a:rPr lang="en-US" altLang="zh-CN" sz="2200" smtClean="0"/>
              <a:t>dentry </a:t>
            </a:r>
            <a:r>
              <a:rPr lang="zh-CN" altLang="en-US" sz="2200" smtClean="0"/>
              <a:t>和 </a:t>
            </a:r>
            <a:r>
              <a:rPr lang="en-US" altLang="zh-CN" sz="2200" smtClean="0"/>
              <a:t>inode</a:t>
            </a:r>
            <a:br>
              <a:rPr lang="en-US" altLang="zh-CN" sz="2200" smtClean="0"/>
            </a:br>
            <a:r>
              <a:rPr lang="en-US" altLang="zh-CN" sz="2200" smtClean="0"/>
              <a:t>6</a:t>
            </a:r>
            <a:r>
              <a:rPr lang="zh-CN" altLang="en-US" sz="2200" smtClean="0"/>
              <a:t>、  </a:t>
            </a:r>
            <a:r>
              <a:rPr lang="zh-CN" altLang="en-US" sz="2200" smtClean="0">
                <a:solidFill>
                  <a:schemeClr val="accent2"/>
                </a:solidFill>
              </a:rPr>
              <a:t>由于 </a:t>
            </a:r>
            <a:r>
              <a:rPr lang="en-US" altLang="zh-CN" sz="2200" smtClean="0">
                <a:solidFill>
                  <a:schemeClr val="accent2"/>
                </a:solidFill>
              </a:rPr>
              <a:t>dir1 </a:t>
            </a:r>
            <a:r>
              <a:rPr lang="zh-CN" altLang="en-US" sz="2200" smtClean="0">
                <a:solidFill>
                  <a:schemeClr val="accent2"/>
                </a:solidFill>
              </a:rPr>
              <a:t>是个“安装点”</a:t>
            </a:r>
            <a:r>
              <a:rPr lang="zh-CN" altLang="en-US" sz="2200" smtClean="0"/>
              <a:t>，因此需要借助 </a:t>
            </a:r>
            <a:r>
              <a:rPr lang="en-US" altLang="zh-CN" sz="2200" smtClean="0"/>
              <a:t>vfsmount C </a:t>
            </a:r>
            <a:r>
              <a:rPr lang="zh-CN" altLang="en-US" sz="2200" smtClean="0"/>
              <a:t>找到 </a:t>
            </a:r>
            <a:r>
              <a:rPr lang="en-US" altLang="zh-CN" sz="2200" smtClean="0"/>
              <a:t>/dev/sda2 </a:t>
            </a:r>
            <a:r>
              <a:rPr lang="zh-CN" altLang="en-US" sz="2200" smtClean="0"/>
              <a:t>的根目录节点 </a:t>
            </a:r>
            <a:r>
              <a:rPr lang="en-US" altLang="zh-CN" sz="2200" smtClean="0"/>
              <a:t>dentry </a:t>
            </a:r>
            <a:r>
              <a:rPr lang="zh-CN" altLang="en-US" sz="2200" smtClean="0"/>
              <a:t>和 </a:t>
            </a:r>
            <a:r>
              <a:rPr lang="en-US" altLang="zh-CN" sz="2200" smtClean="0"/>
              <a:t>inode</a:t>
            </a:r>
            <a:br>
              <a:rPr lang="en-US" altLang="zh-CN" sz="2200" smtClean="0"/>
            </a:br>
            <a:r>
              <a:rPr lang="en-US" altLang="zh-CN" sz="2200" smtClean="0"/>
              <a:t>7</a:t>
            </a:r>
            <a:r>
              <a:rPr lang="zh-CN" altLang="en-US" sz="2200" smtClean="0"/>
              <a:t>、  最后由这个 </a:t>
            </a:r>
            <a:r>
              <a:rPr lang="en-US" altLang="zh-CN" sz="2200" smtClean="0"/>
              <a:t>inode </a:t>
            </a:r>
            <a:r>
              <a:rPr lang="zh-CN" altLang="en-US" sz="2200" smtClean="0"/>
              <a:t>负责找到 ‘</a:t>
            </a:r>
            <a:r>
              <a:rPr lang="en-US" altLang="zh-CN" sz="2200" smtClean="0"/>
              <a:t>abc’ </a:t>
            </a:r>
            <a:r>
              <a:rPr lang="zh-CN" altLang="en-US" sz="2200" smtClean="0"/>
              <a:t>的 </a:t>
            </a:r>
            <a:r>
              <a:rPr lang="en-US" altLang="zh-CN" sz="2200" smtClean="0"/>
              <a:t>dentry </a:t>
            </a:r>
            <a:r>
              <a:rPr lang="zh-CN" altLang="en-US" sz="2200" smtClean="0"/>
              <a:t>和 </a:t>
            </a:r>
            <a:r>
              <a:rPr lang="en-US" altLang="zh-CN" sz="2200" smtClean="0"/>
              <a:t>inode</a:t>
            </a:r>
            <a:br>
              <a:rPr lang="en-US" altLang="zh-CN" sz="2200" smtClean="0"/>
            </a:br>
            <a:r>
              <a:rPr lang="zh-CN" altLang="en-US" sz="2200" smtClean="0"/>
              <a:t>可以看到，整个寻找过程是一个递归的过程。</a:t>
            </a:r>
            <a:br>
              <a:rPr lang="zh-CN" altLang="en-US" sz="2200" smtClean="0"/>
            </a:br>
            <a:endParaRPr lang="zh-CN" altLang="en-US" sz="2200" smtClean="0"/>
          </a:p>
        </p:txBody>
      </p:sp>
    </p:spTree>
    <p:extLst>
      <p:ext uri="{BB962C8B-B14F-4D97-AF65-F5344CB8AC3E}">
        <p14:creationId xmlns:p14="http://schemas.microsoft.com/office/powerpoint/2010/main" val="189503471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zh-CN" altLang="en-US" smtClean="0"/>
              <a:t>路径名查找：举例</a:t>
            </a:r>
          </a:p>
        </p:txBody>
      </p:sp>
      <p:sp>
        <p:nvSpPr>
          <p:cNvPr id="96259" name="Rectangle 3"/>
          <p:cNvSpPr>
            <a:spLocks noGrp="1" noChangeArrowheads="1"/>
          </p:cNvSpPr>
          <p:nvPr>
            <p:ph type="body" idx="1"/>
          </p:nvPr>
        </p:nvSpPr>
        <p:spPr/>
        <p:txBody>
          <a:bodyPr/>
          <a:lstStyle/>
          <a:p>
            <a:pPr eaLnBrk="1" hangingPunct="1"/>
            <a:r>
              <a:rPr lang="zh-CN" altLang="en-US" smtClean="0"/>
              <a:t>例： </a:t>
            </a:r>
            <a:r>
              <a:rPr lang="en-US" altLang="zh-CN" smtClean="0"/>
              <a:t>/usr/include/stdio.h</a:t>
            </a:r>
          </a:p>
          <a:p>
            <a:pPr eaLnBrk="1" hangingPunct="1"/>
            <a:r>
              <a:rPr lang="zh-CN" altLang="en-US" smtClean="0"/>
              <a:t>从当前进程的根目录项中（</a:t>
            </a:r>
            <a:r>
              <a:rPr lang="en-US" altLang="zh-CN" smtClean="0"/>
              <a:t>current</a:t>
            </a:r>
            <a:r>
              <a:rPr lang="en-US" altLang="zh-CN" smtClean="0">
                <a:cs typeface="Arial" panose="020B0604020202020204" pitchFamily="34" charset="0"/>
              </a:rPr>
              <a:t>→fs → root</a:t>
            </a:r>
            <a:r>
              <a:rPr lang="zh-CN" altLang="en-US" smtClean="0"/>
              <a:t>）找到它的根目录的</a:t>
            </a:r>
            <a:r>
              <a:rPr lang="en-US" altLang="zh-CN" smtClean="0"/>
              <a:t>inode</a:t>
            </a:r>
            <a:r>
              <a:rPr lang="zh-CN" altLang="en-US" smtClean="0"/>
              <a:t>编号，根据该编号和超级块的</a:t>
            </a:r>
            <a:r>
              <a:rPr lang="en-US" altLang="zh-CN" smtClean="0"/>
              <a:t>s_inodes_per_group</a:t>
            </a:r>
            <a:r>
              <a:rPr lang="zh-CN" altLang="en-US" smtClean="0"/>
              <a:t>，计算出该</a:t>
            </a:r>
            <a:r>
              <a:rPr lang="en-US" altLang="zh-CN" smtClean="0"/>
              <a:t>inode</a:t>
            </a:r>
            <a:r>
              <a:rPr lang="zh-CN" altLang="en-US" smtClean="0"/>
              <a:t>所在的块组，查找该块组中的</a:t>
            </a:r>
            <a:r>
              <a:rPr lang="en-US" altLang="zh-CN" smtClean="0"/>
              <a:t>inode </a:t>
            </a:r>
            <a:r>
              <a:rPr lang="zh-CN" altLang="en-US" smtClean="0"/>
              <a:t>表，找到描述根目录文件的</a:t>
            </a:r>
            <a:r>
              <a:rPr lang="en-US" altLang="zh-CN" smtClean="0"/>
              <a:t>inode</a:t>
            </a:r>
            <a:r>
              <a:rPr lang="zh-CN" altLang="en-US" smtClean="0"/>
              <a:t>，根据该</a:t>
            </a:r>
            <a:r>
              <a:rPr lang="en-US" altLang="zh-CN" smtClean="0"/>
              <a:t>inode</a:t>
            </a:r>
            <a:r>
              <a:rPr lang="zh-CN" altLang="en-US" smtClean="0"/>
              <a:t>的描述，读取其数据块（得到目录项列表）</a:t>
            </a:r>
          </a:p>
        </p:txBody>
      </p:sp>
    </p:spTree>
    <p:extLst>
      <p:ext uri="{BB962C8B-B14F-4D97-AF65-F5344CB8AC3E}">
        <p14:creationId xmlns:p14="http://schemas.microsoft.com/office/powerpoint/2010/main" val="310994210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zh-CN" altLang="en-US" smtClean="0"/>
              <a:t>文件查找（续）</a:t>
            </a:r>
          </a:p>
        </p:txBody>
      </p:sp>
      <p:sp>
        <p:nvSpPr>
          <p:cNvPr id="97283" name="Rectangle 3"/>
          <p:cNvSpPr>
            <a:spLocks noGrp="1" noChangeArrowheads="1"/>
          </p:cNvSpPr>
          <p:nvPr>
            <p:ph type="body" idx="1"/>
          </p:nvPr>
        </p:nvSpPr>
        <p:spPr/>
        <p:txBody>
          <a:bodyPr/>
          <a:lstStyle/>
          <a:p>
            <a:pPr eaLnBrk="1" hangingPunct="1">
              <a:lnSpc>
                <a:spcPct val="90000"/>
              </a:lnSpc>
            </a:pPr>
            <a:r>
              <a:rPr lang="en-US" altLang="zh-CN" smtClean="0"/>
              <a:t> </a:t>
            </a:r>
            <a:r>
              <a:rPr lang="zh-CN" altLang="en-US" smtClean="0"/>
              <a:t>搜索名为“</a:t>
            </a:r>
            <a:r>
              <a:rPr lang="en-US" altLang="zh-CN" smtClean="0"/>
              <a:t>usr”</a:t>
            </a:r>
            <a:r>
              <a:rPr lang="zh-CN" altLang="en-US" smtClean="0"/>
              <a:t>的目录项，得到对应的</a:t>
            </a:r>
            <a:r>
              <a:rPr lang="en-US" altLang="zh-CN" smtClean="0"/>
              <a:t>inode</a:t>
            </a:r>
            <a:r>
              <a:rPr lang="zh-CN" altLang="en-US" smtClean="0"/>
              <a:t>编号</a:t>
            </a:r>
          </a:p>
          <a:p>
            <a:pPr eaLnBrk="1" hangingPunct="1">
              <a:lnSpc>
                <a:spcPct val="90000"/>
              </a:lnSpc>
            </a:pPr>
            <a:r>
              <a:rPr lang="zh-CN" altLang="en-US" smtClean="0"/>
              <a:t> 按照该编号，以及超级块的</a:t>
            </a:r>
            <a:r>
              <a:rPr lang="en-US" altLang="zh-CN" smtClean="0"/>
              <a:t>s_inodes_per_group</a:t>
            </a:r>
            <a:r>
              <a:rPr lang="zh-CN" altLang="en-US" smtClean="0"/>
              <a:t>，计算出该</a:t>
            </a:r>
            <a:r>
              <a:rPr lang="en-US" altLang="zh-CN" smtClean="0"/>
              <a:t>inode</a:t>
            </a:r>
            <a:r>
              <a:rPr lang="zh-CN" altLang="en-US" smtClean="0"/>
              <a:t>所在的块组，查找块组的</a:t>
            </a:r>
            <a:r>
              <a:rPr lang="en-US" altLang="zh-CN" smtClean="0"/>
              <a:t>inode</a:t>
            </a:r>
            <a:r>
              <a:rPr lang="zh-CN" altLang="en-US" smtClean="0"/>
              <a:t>表，找到目录</a:t>
            </a:r>
            <a:r>
              <a:rPr lang="en-US" altLang="zh-CN" smtClean="0"/>
              <a:t>/usr</a:t>
            </a:r>
            <a:r>
              <a:rPr lang="zh-CN" altLang="en-US" smtClean="0"/>
              <a:t>对应的</a:t>
            </a:r>
            <a:r>
              <a:rPr lang="en-US" altLang="zh-CN" smtClean="0"/>
              <a:t>inode</a:t>
            </a:r>
            <a:r>
              <a:rPr lang="zh-CN" altLang="en-US" smtClean="0"/>
              <a:t>，根据该</a:t>
            </a:r>
            <a:r>
              <a:rPr lang="en-US" altLang="zh-CN" smtClean="0"/>
              <a:t>inode</a:t>
            </a:r>
            <a:r>
              <a:rPr lang="zh-CN" altLang="en-US" smtClean="0"/>
              <a:t>的描述，读取其数据块（得到目录项列表）</a:t>
            </a:r>
          </a:p>
          <a:p>
            <a:pPr eaLnBrk="1" hangingPunct="1">
              <a:lnSpc>
                <a:spcPct val="90000"/>
              </a:lnSpc>
            </a:pPr>
            <a:r>
              <a:rPr lang="zh-CN" altLang="en-US" smtClean="0"/>
              <a:t>在</a:t>
            </a:r>
            <a:r>
              <a:rPr lang="en-US" altLang="zh-CN" smtClean="0"/>
              <a:t>/usr</a:t>
            </a:r>
            <a:r>
              <a:rPr lang="zh-CN" altLang="en-US" smtClean="0"/>
              <a:t>的目录项列表中找出名为“</a:t>
            </a:r>
            <a:r>
              <a:rPr lang="en-US" altLang="zh-CN" smtClean="0"/>
              <a:t>include”</a:t>
            </a:r>
            <a:r>
              <a:rPr lang="zh-CN" altLang="en-US" smtClean="0"/>
              <a:t>的目录项，得到对应的</a:t>
            </a:r>
            <a:r>
              <a:rPr lang="en-US" altLang="zh-CN" smtClean="0"/>
              <a:t>inode</a:t>
            </a:r>
            <a:r>
              <a:rPr lang="zh-CN" altLang="en-US" smtClean="0"/>
              <a:t>编号</a:t>
            </a:r>
          </a:p>
        </p:txBody>
      </p:sp>
    </p:spTree>
    <p:extLst>
      <p:ext uri="{BB962C8B-B14F-4D97-AF65-F5344CB8AC3E}">
        <p14:creationId xmlns:p14="http://schemas.microsoft.com/office/powerpoint/2010/main" val="306099084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zh-CN" altLang="en-US" smtClean="0"/>
              <a:t>文件查找（续）</a:t>
            </a:r>
          </a:p>
        </p:txBody>
      </p:sp>
      <p:sp>
        <p:nvSpPr>
          <p:cNvPr id="98307" name="Rectangle 3"/>
          <p:cNvSpPr>
            <a:spLocks noGrp="1" noChangeArrowheads="1"/>
          </p:cNvSpPr>
          <p:nvPr>
            <p:ph type="body" idx="1"/>
          </p:nvPr>
        </p:nvSpPr>
        <p:spPr/>
        <p:txBody>
          <a:bodyPr/>
          <a:lstStyle/>
          <a:p>
            <a:pPr eaLnBrk="1" hangingPunct="1"/>
            <a:r>
              <a:rPr lang="zh-CN" altLang="en-US" smtClean="0"/>
              <a:t>按照该编号，以及超级块的</a:t>
            </a:r>
            <a:r>
              <a:rPr lang="en-US" altLang="zh-CN" smtClean="0"/>
              <a:t>s_inodes_per_group</a:t>
            </a:r>
            <a:r>
              <a:rPr lang="zh-CN" altLang="en-US" smtClean="0"/>
              <a:t>，计算出该</a:t>
            </a:r>
            <a:r>
              <a:rPr lang="en-US" altLang="zh-CN" smtClean="0"/>
              <a:t>inode</a:t>
            </a:r>
            <a:r>
              <a:rPr lang="zh-CN" altLang="en-US" smtClean="0"/>
              <a:t>所在的块组，查找块组的</a:t>
            </a:r>
            <a:r>
              <a:rPr lang="en-US" altLang="zh-CN" smtClean="0"/>
              <a:t>inode</a:t>
            </a:r>
            <a:r>
              <a:rPr lang="zh-CN" altLang="en-US" smtClean="0"/>
              <a:t>表，找到目录</a:t>
            </a:r>
            <a:r>
              <a:rPr lang="en-US" altLang="zh-CN" smtClean="0"/>
              <a:t>/usr</a:t>
            </a:r>
            <a:r>
              <a:rPr lang="zh-CN" altLang="en-US" smtClean="0"/>
              <a:t>对应的</a:t>
            </a:r>
            <a:r>
              <a:rPr lang="en-US" altLang="zh-CN" smtClean="0"/>
              <a:t>inode</a:t>
            </a:r>
            <a:r>
              <a:rPr lang="zh-CN" altLang="en-US" smtClean="0"/>
              <a:t>，根据该</a:t>
            </a:r>
            <a:r>
              <a:rPr lang="en-US" altLang="zh-CN" smtClean="0"/>
              <a:t>inode</a:t>
            </a:r>
            <a:r>
              <a:rPr lang="zh-CN" altLang="en-US" smtClean="0"/>
              <a:t>的描述，读取其数据块（又得到目录项列表）</a:t>
            </a:r>
          </a:p>
          <a:p>
            <a:pPr eaLnBrk="1" hangingPunct="1"/>
            <a:r>
              <a:rPr lang="zh-CN" altLang="en-US" smtClean="0"/>
              <a:t>在</a:t>
            </a:r>
            <a:r>
              <a:rPr lang="en-US" altLang="zh-CN" smtClean="0"/>
              <a:t>/usr/include</a:t>
            </a:r>
            <a:r>
              <a:rPr lang="zh-CN" altLang="en-US" smtClean="0"/>
              <a:t>的目录项列表中找出名为“</a:t>
            </a:r>
            <a:r>
              <a:rPr lang="en-US" altLang="zh-CN" smtClean="0"/>
              <a:t>stdio.h”</a:t>
            </a:r>
            <a:r>
              <a:rPr lang="zh-CN" altLang="en-US" smtClean="0"/>
              <a:t>的目录项，得到对应的</a:t>
            </a:r>
            <a:r>
              <a:rPr lang="en-US" altLang="zh-CN" smtClean="0"/>
              <a:t>inode</a:t>
            </a:r>
            <a:r>
              <a:rPr lang="zh-CN" altLang="en-US" smtClean="0"/>
              <a:t>编号</a:t>
            </a:r>
          </a:p>
        </p:txBody>
      </p:sp>
    </p:spTree>
    <p:extLst>
      <p:ext uri="{BB962C8B-B14F-4D97-AF65-F5344CB8AC3E}">
        <p14:creationId xmlns:p14="http://schemas.microsoft.com/office/powerpoint/2010/main" val="401716270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CN" altLang="en-US" smtClean="0"/>
              <a:t>文件查找（续）</a:t>
            </a:r>
          </a:p>
        </p:txBody>
      </p:sp>
      <p:sp>
        <p:nvSpPr>
          <p:cNvPr id="99331" name="Rectangle 3"/>
          <p:cNvSpPr>
            <a:spLocks noGrp="1" noChangeArrowheads="1"/>
          </p:cNvSpPr>
          <p:nvPr>
            <p:ph type="body" idx="1"/>
          </p:nvPr>
        </p:nvSpPr>
        <p:spPr/>
        <p:txBody>
          <a:bodyPr/>
          <a:lstStyle/>
          <a:p>
            <a:pPr eaLnBrk="1" hangingPunct="1"/>
            <a:r>
              <a:rPr lang="zh-CN" altLang="en-US" smtClean="0"/>
              <a:t>按照该编号，以及超级块的</a:t>
            </a:r>
            <a:r>
              <a:rPr lang="en-US" altLang="zh-CN" smtClean="0"/>
              <a:t>s_inodes_per_group</a:t>
            </a:r>
            <a:r>
              <a:rPr lang="zh-CN" altLang="en-US" smtClean="0"/>
              <a:t>，计算出该</a:t>
            </a:r>
            <a:r>
              <a:rPr lang="en-US" altLang="zh-CN" smtClean="0"/>
              <a:t>inode</a:t>
            </a:r>
            <a:r>
              <a:rPr lang="zh-CN" altLang="en-US" smtClean="0"/>
              <a:t>所在的块组，查找块组的</a:t>
            </a:r>
            <a:r>
              <a:rPr lang="en-US" altLang="zh-CN" smtClean="0"/>
              <a:t>inode</a:t>
            </a:r>
            <a:r>
              <a:rPr lang="zh-CN" altLang="en-US" smtClean="0"/>
              <a:t>表，找到文件</a:t>
            </a:r>
            <a:r>
              <a:rPr lang="en-US" altLang="zh-CN" smtClean="0"/>
              <a:t>/usr/include/stdio.h</a:t>
            </a:r>
            <a:r>
              <a:rPr lang="zh-CN" altLang="en-US" smtClean="0"/>
              <a:t>对应的</a:t>
            </a:r>
            <a:r>
              <a:rPr lang="en-US" altLang="zh-CN" smtClean="0"/>
              <a:t>inode</a:t>
            </a:r>
            <a:r>
              <a:rPr lang="zh-CN" altLang="en-US" smtClean="0"/>
              <a:t>，根据该</a:t>
            </a:r>
            <a:r>
              <a:rPr lang="en-US" altLang="zh-CN" smtClean="0"/>
              <a:t>inode</a:t>
            </a:r>
            <a:r>
              <a:rPr lang="zh-CN" altLang="en-US" smtClean="0"/>
              <a:t>的描述，读取其数据块</a:t>
            </a:r>
          </a:p>
        </p:txBody>
      </p:sp>
    </p:spTree>
    <p:extLst>
      <p:ext uri="{BB962C8B-B14F-4D97-AF65-F5344CB8AC3E}">
        <p14:creationId xmlns:p14="http://schemas.microsoft.com/office/powerpoint/2010/main" val="240833495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altLang="zh-CN" sz="3800" dirty="0" smtClean="0">
                <a:solidFill>
                  <a:srgbClr val="800000"/>
                </a:solidFill>
              </a:rPr>
              <a:t>7.6 Linux</a:t>
            </a:r>
            <a:r>
              <a:rPr lang="zh-CN" altLang="en-US" sz="3800" dirty="0" smtClean="0">
                <a:solidFill>
                  <a:srgbClr val="800000"/>
                </a:solidFill>
              </a:rPr>
              <a:t>文件和目录访问</a:t>
            </a:r>
            <a:endParaRPr lang="zh-CN" altLang="en-US" sz="3400" b="1" dirty="0" smtClean="0">
              <a:solidFill>
                <a:schemeClr val="accent2"/>
              </a:solidFill>
            </a:endParaRPr>
          </a:p>
        </p:txBody>
      </p:sp>
      <p:sp>
        <p:nvSpPr>
          <p:cNvPr id="100355" name="Rectangle 3"/>
          <p:cNvSpPr>
            <a:spLocks noGrp="1" noChangeArrowheads="1"/>
          </p:cNvSpPr>
          <p:nvPr>
            <p:ph type="body" idx="1"/>
          </p:nvPr>
        </p:nvSpPr>
        <p:spPr>
          <a:xfrm>
            <a:off x="611188" y="1341438"/>
            <a:ext cx="7772400" cy="4530725"/>
          </a:xfrm>
        </p:spPr>
        <p:txBody>
          <a:bodyPr/>
          <a:lstStyle/>
          <a:p>
            <a:pPr eaLnBrk="1" hangingPunct="1">
              <a:lnSpc>
                <a:spcPct val="105000"/>
              </a:lnSpc>
            </a:pPr>
            <a:r>
              <a:rPr lang="zh-CN" altLang="en-US" smtClean="0"/>
              <a:t>为了在虚拟文件系统中定位给定文件的索引节点，</a:t>
            </a:r>
            <a:r>
              <a:rPr lang="en-US" altLang="zh-CN" smtClean="0"/>
              <a:t>VFS </a:t>
            </a:r>
            <a:r>
              <a:rPr lang="zh-CN" altLang="en-US" smtClean="0"/>
              <a:t>必须每次分解文件路径名中的一个目录名，并依次搜索每个中间目录名的 </a:t>
            </a:r>
            <a:r>
              <a:rPr lang="en-US" altLang="zh-CN" smtClean="0"/>
              <a:t>VFS </a:t>
            </a:r>
            <a:r>
              <a:rPr lang="zh-CN" altLang="en-US" smtClean="0"/>
              <a:t>索引节点。</a:t>
            </a:r>
          </a:p>
          <a:p>
            <a:pPr eaLnBrk="1" hangingPunct="1">
              <a:lnSpc>
                <a:spcPct val="105000"/>
              </a:lnSpc>
            </a:pPr>
            <a:r>
              <a:rPr lang="zh-CN" altLang="en-US" smtClean="0"/>
              <a:t>因为 </a:t>
            </a:r>
            <a:r>
              <a:rPr lang="en-US" altLang="zh-CN" smtClean="0"/>
              <a:t>VFS </a:t>
            </a:r>
            <a:r>
              <a:rPr lang="zh-CN" altLang="en-US" smtClean="0"/>
              <a:t>在 超块中记录了每个文件系统根的 </a:t>
            </a:r>
            <a:r>
              <a:rPr lang="en-US" altLang="zh-CN" smtClean="0"/>
              <a:t>VFS </a:t>
            </a:r>
            <a:r>
              <a:rPr lang="zh-CN" altLang="en-US" smtClean="0"/>
              <a:t>索引节点，因此搜索过程从根索引节点开始。</a:t>
            </a:r>
          </a:p>
          <a:p>
            <a:pPr eaLnBrk="1" hangingPunct="1">
              <a:lnSpc>
                <a:spcPct val="105000"/>
              </a:lnSpc>
            </a:pPr>
            <a:r>
              <a:rPr lang="zh-CN" altLang="en-US" smtClean="0"/>
              <a:t>在搜索目录索引节点时，</a:t>
            </a:r>
            <a:r>
              <a:rPr lang="en-US" altLang="zh-CN" smtClean="0"/>
              <a:t>VFS </a:t>
            </a:r>
            <a:r>
              <a:rPr lang="zh-CN" altLang="en-US" smtClean="0"/>
              <a:t>在目录高速缓存中搜索，如果能够在目录高速缓存中找到对应的</a:t>
            </a:r>
            <a:r>
              <a:rPr lang="en-US" altLang="zh-CN" smtClean="0"/>
              <a:t>inode</a:t>
            </a:r>
            <a:r>
              <a:rPr lang="zh-CN" altLang="en-US" smtClean="0"/>
              <a:t>编号，则在索引节点高速缓存中搜索索引节点，否则从底层文件系统中获取</a:t>
            </a:r>
            <a:r>
              <a:rPr lang="zh-CN" altLang="en-US" sz="1600" smtClean="0"/>
              <a:t>。</a:t>
            </a:r>
          </a:p>
        </p:txBody>
      </p:sp>
    </p:spTree>
    <p:extLst>
      <p:ext uri="{BB962C8B-B14F-4D97-AF65-F5344CB8AC3E}">
        <p14:creationId xmlns:p14="http://schemas.microsoft.com/office/powerpoint/2010/main" val="40537610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4" name="Rectangle 2"/>
          <p:cNvSpPr>
            <a:spLocks noChangeArrowheads="1"/>
          </p:cNvSpPr>
          <p:nvPr/>
        </p:nvSpPr>
        <p:spPr bwMode="auto">
          <a:xfrm>
            <a:off x="395288" y="1125538"/>
            <a:ext cx="8497887"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05000"/>
              </a:lnSpc>
              <a:buFont typeface="Wingdings" panose="05000000000000000000" pitchFamily="2" charset="2"/>
              <a:buChar char="n"/>
            </a:pPr>
            <a:r>
              <a:rPr lang="zh-CN" altLang="en-US" sz="2800">
                <a:latin typeface="Arial" panose="020B0604020202020204" pitchFamily="34" charset="0"/>
              </a:rPr>
              <a:t>当用户给出一个完整的路径名，比如</a:t>
            </a:r>
            <a:r>
              <a:rPr lang="en-US" altLang="zh-CN" sz="2800">
                <a:latin typeface="Arial" panose="020B0604020202020204" pitchFamily="34" charset="0"/>
              </a:rPr>
              <a:t>/home/dy/linux/kernel/sched.c</a:t>
            </a:r>
            <a:r>
              <a:rPr lang="zh-CN" altLang="en-US" sz="2800">
                <a:latin typeface="Arial" panose="020B0604020202020204" pitchFamily="34" charset="0"/>
              </a:rPr>
              <a:t>：</a:t>
            </a:r>
          </a:p>
          <a:p>
            <a:pPr algn="l" eaLnBrk="1" hangingPunct="1">
              <a:lnSpc>
                <a:spcPct val="105000"/>
              </a:lnSpc>
              <a:buFont typeface="Wingdings" panose="05000000000000000000" pitchFamily="2" charset="2"/>
              <a:buChar char="n"/>
            </a:pPr>
            <a:r>
              <a:rPr lang="zh-CN" altLang="en-US" sz="2800">
                <a:latin typeface="Arial" panose="020B0604020202020204" pitchFamily="34" charset="0"/>
              </a:rPr>
              <a:t>首先得到文件系统根目录对应的</a:t>
            </a:r>
            <a:r>
              <a:rPr lang="en-US" altLang="zh-CN" sz="2800">
                <a:latin typeface="Arial" panose="020B0604020202020204" pitchFamily="34" charset="0"/>
              </a:rPr>
              <a:t>inode</a:t>
            </a:r>
            <a:r>
              <a:rPr lang="zh-CN" altLang="en-US" sz="2800">
                <a:latin typeface="Arial" panose="020B0604020202020204" pitchFamily="34" charset="0"/>
              </a:rPr>
              <a:t>，读取其中的信息，根据文件类型判定是一个目录文件，在这个</a:t>
            </a:r>
            <a:r>
              <a:rPr lang="en-US" altLang="zh-CN" sz="2800">
                <a:latin typeface="Arial" panose="020B0604020202020204" pitchFamily="34" charset="0"/>
              </a:rPr>
              <a:t>inode</a:t>
            </a:r>
            <a:r>
              <a:rPr lang="zh-CN" altLang="en-US" sz="2800">
                <a:latin typeface="Arial" panose="020B0604020202020204" pitchFamily="34" charset="0"/>
              </a:rPr>
              <a:t>保存的目录项列表中找到名称为</a:t>
            </a:r>
            <a:r>
              <a:rPr lang="en-US" altLang="zh-CN" sz="2800">
                <a:latin typeface="Arial" panose="020B0604020202020204" pitchFamily="34" charset="0"/>
              </a:rPr>
              <a:t>home</a:t>
            </a:r>
            <a:r>
              <a:rPr lang="zh-CN" altLang="en-US" sz="2800">
                <a:latin typeface="Arial" panose="020B0604020202020204" pitchFamily="34" charset="0"/>
              </a:rPr>
              <a:t>的那一项，查找该目录项就可以得到这个子目录对应的</a:t>
            </a:r>
            <a:r>
              <a:rPr lang="en-US" altLang="zh-CN" sz="2800">
                <a:latin typeface="Arial" panose="020B0604020202020204" pitchFamily="34" charset="0"/>
              </a:rPr>
              <a:t>inode</a:t>
            </a:r>
            <a:r>
              <a:rPr lang="zh-CN" altLang="en-US" sz="2800">
                <a:latin typeface="Arial" panose="020B0604020202020204" pitchFamily="34" charset="0"/>
              </a:rPr>
              <a:t>，然后再读取该</a:t>
            </a:r>
            <a:r>
              <a:rPr lang="en-US" altLang="zh-CN" sz="2800">
                <a:latin typeface="Arial" panose="020B0604020202020204" pitchFamily="34" charset="0"/>
              </a:rPr>
              <a:t>inode</a:t>
            </a:r>
            <a:r>
              <a:rPr lang="zh-CN" altLang="en-US" sz="2800">
                <a:latin typeface="Arial" panose="020B0604020202020204" pitchFamily="34" charset="0"/>
              </a:rPr>
              <a:t>的信息；</a:t>
            </a:r>
          </a:p>
        </p:txBody>
      </p:sp>
      <p:sp>
        <p:nvSpPr>
          <p:cNvPr id="101379" name="Rectangle 3"/>
          <p:cNvSpPr>
            <a:spLocks noChangeArrowheads="1"/>
          </p:cNvSpPr>
          <p:nvPr/>
        </p:nvSpPr>
        <p:spPr bwMode="auto">
          <a:xfrm>
            <a:off x="838200" y="277813"/>
            <a:ext cx="7772400"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en-US" altLang="zh-CN" sz="4400">
                <a:solidFill>
                  <a:srgbClr val="800000"/>
                </a:solidFill>
              </a:rPr>
              <a:t>Linux</a:t>
            </a:r>
            <a:r>
              <a:rPr lang="zh-CN" altLang="en-US" sz="4400">
                <a:solidFill>
                  <a:srgbClr val="800000"/>
                </a:solidFill>
              </a:rPr>
              <a:t>文件和目录访问</a:t>
            </a:r>
          </a:p>
        </p:txBody>
      </p:sp>
      <p:sp>
        <p:nvSpPr>
          <p:cNvPr id="1359876" name="Rectangle 4"/>
          <p:cNvSpPr>
            <a:spLocks noChangeArrowheads="1"/>
          </p:cNvSpPr>
          <p:nvPr/>
        </p:nvSpPr>
        <p:spPr bwMode="auto">
          <a:xfrm>
            <a:off x="395288" y="4630738"/>
            <a:ext cx="8497887" cy="222726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05000"/>
              </a:lnSpc>
              <a:buFont typeface="Wingdings" panose="05000000000000000000" pitchFamily="2" charset="2"/>
              <a:buChar char="n"/>
            </a:pPr>
            <a:r>
              <a:rPr lang="zh-CN" altLang="en-US" sz="2800">
                <a:latin typeface="Arial" panose="020B0604020202020204" pitchFamily="34" charset="0"/>
              </a:rPr>
              <a:t>每一个目录文件中都保存着自己所包含文件和直接子目录的目录项，逐个查找，最终可以找到所需要文件的</a:t>
            </a:r>
            <a:r>
              <a:rPr lang="en-US" altLang="zh-CN" sz="2800">
                <a:latin typeface="Arial" panose="020B0604020202020204" pitchFamily="34" charset="0"/>
              </a:rPr>
              <a:t>inode</a:t>
            </a:r>
            <a:r>
              <a:rPr lang="zh-CN" altLang="en-US" sz="2800">
                <a:latin typeface="Arial" panose="020B0604020202020204" pitchFamily="34" charset="0"/>
              </a:rPr>
              <a:t>号，访问相应的</a:t>
            </a:r>
            <a:r>
              <a:rPr lang="en-US" altLang="zh-CN" sz="2800">
                <a:latin typeface="Arial" panose="020B0604020202020204" pitchFamily="34" charset="0"/>
              </a:rPr>
              <a:t>inode</a:t>
            </a:r>
            <a:r>
              <a:rPr lang="zh-CN" altLang="en-US" sz="2800">
                <a:latin typeface="Arial" panose="020B0604020202020204" pitchFamily="34" charset="0"/>
              </a:rPr>
              <a:t>，通过该</a:t>
            </a:r>
            <a:r>
              <a:rPr lang="en-US" altLang="zh-CN" sz="2800">
                <a:latin typeface="Arial" panose="020B0604020202020204" pitchFamily="34" charset="0"/>
              </a:rPr>
              <a:t>inode</a:t>
            </a:r>
            <a:r>
              <a:rPr lang="zh-CN" altLang="en-US" sz="2800">
                <a:latin typeface="Arial" panose="020B0604020202020204" pitchFamily="34" charset="0"/>
              </a:rPr>
              <a:t>的索引表，得到存储文件内容的物理块，就得到了指定文件的内容。</a:t>
            </a:r>
          </a:p>
        </p:txBody>
      </p:sp>
    </p:spTree>
    <p:extLst>
      <p:ext uri="{BB962C8B-B14F-4D97-AF65-F5344CB8AC3E}">
        <p14:creationId xmlns:p14="http://schemas.microsoft.com/office/powerpoint/2010/main" val="15452776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59874"/>
                                        </p:tgtEl>
                                        <p:attrNameLst>
                                          <p:attrName>style.visibility</p:attrName>
                                        </p:attrNameLst>
                                      </p:cBhvr>
                                      <p:to>
                                        <p:strVal val="visible"/>
                                      </p:to>
                                    </p:set>
                                    <p:animEffect transition="in" filter="blinds(horizontal)">
                                      <p:cBhvr>
                                        <p:cTn id="7" dur="500"/>
                                        <p:tgtEl>
                                          <p:spTgt spid="1359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59876"/>
                                        </p:tgtEl>
                                        <p:attrNameLst>
                                          <p:attrName>style.visibility</p:attrName>
                                        </p:attrNameLst>
                                      </p:cBhvr>
                                      <p:to>
                                        <p:strVal val="visible"/>
                                      </p:to>
                                    </p:set>
                                    <p:animEffect transition="in" filter="blinds(horizontal)">
                                      <p:cBhvr>
                                        <p:cTn id="12" dur="500"/>
                                        <p:tgtEl>
                                          <p:spTgt spid="1359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9874" grpId="0"/>
      <p:bldP spid="1359876"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2" name="Object 2"/>
          <p:cNvGraphicFramePr>
            <a:graphicFrameLocks noChangeAspect="1"/>
          </p:cNvGraphicFramePr>
          <p:nvPr/>
        </p:nvGraphicFramePr>
        <p:xfrm>
          <a:off x="228600" y="304800"/>
          <a:ext cx="5135563" cy="6324600"/>
        </p:xfrm>
        <a:graphic>
          <a:graphicData uri="http://schemas.openxmlformats.org/presentationml/2006/ole">
            <mc:AlternateContent xmlns:mc="http://schemas.openxmlformats.org/markup-compatibility/2006">
              <mc:Choice xmlns:v="urn:schemas-microsoft-com:vml" Requires="v">
                <p:oleObj spid="_x0000_s28674" name="位图图像" r:id="rId3" imgW="3352381" imgH="4476190" progId="Paint.Picture">
                  <p:embed/>
                </p:oleObj>
              </mc:Choice>
              <mc:Fallback>
                <p:oleObj name="位图图像" r:id="rId3" imgW="3352381" imgH="4476190" progId="Paint.Picture">
                  <p:embed/>
                  <p:pic>
                    <p:nvPicPr>
                      <p:cNvPr id="10240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04800"/>
                        <a:ext cx="5135563"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03" name="Text Box 3"/>
          <p:cNvSpPr txBox="1">
            <a:spLocks noChangeArrowheads="1"/>
          </p:cNvSpPr>
          <p:nvPr/>
        </p:nvSpPr>
        <p:spPr bwMode="auto">
          <a:xfrm>
            <a:off x="5562600" y="1905000"/>
            <a:ext cx="3124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80000"/>
              </a:lnSpc>
              <a:spcBef>
                <a:spcPct val="50000"/>
              </a:spcBef>
              <a:buFont typeface="Wingdings" panose="05000000000000000000" pitchFamily="2" charset="2"/>
              <a:buChar char="n"/>
            </a:pPr>
            <a:r>
              <a:rPr lang="zh-CN" altLang="en-US" sz="2800">
                <a:latin typeface="Arial" panose="020B0604020202020204" pitchFamily="34" charset="0"/>
              </a:rPr>
              <a:t>例：要读取文件</a:t>
            </a:r>
            <a:r>
              <a:rPr lang="en-US" altLang="zh-CN" sz="2800">
                <a:latin typeface="Arial" panose="020B0604020202020204" pitchFamily="34" charset="0"/>
              </a:rPr>
              <a:t>/home/nan/m1.c</a:t>
            </a:r>
          </a:p>
        </p:txBody>
      </p:sp>
    </p:spTree>
    <p:extLst>
      <p:ext uri="{BB962C8B-B14F-4D97-AF65-F5344CB8AC3E}">
        <p14:creationId xmlns:p14="http://schemas.microsoft.com/office/powerpoint/2010/main" val="43566816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26" name="Object 2"/>
          <p:cNvGraphicFramePr>
            <a:graphicFrameLocks noChangeAspect="1"/>
          </p:cNvGraphicFramePr>
          <p:nvPr/>
        </p:nvGraphicFramePr>
        <p:xfrm>
          <a:off x="1676400" y="381000"/>
          <a:ext cx="5578475" cy="5943600"/>
        </p:xfrm>
        <a:graphic>
          <a:graphicData uri="http://schemas.openxmlformats.org/presentationml/2006/ole">
            <mc:AlternateContent xmlns:mc="http://schemas.openxmlformats.org/markup-compatibility/2006">
              <mc:Choice xmlns:v="urn:schemas-microsoft-com:vml" Requires="v">
                <p:oleObj spid="_x0000_s29698" name="位图图像" r:id="rId3" imgW="4638095" imgH="4944165" progId="Paint.Picture">
                  <p:embed/>
                </p:oleObj>
              </mc:Choice>
              <mc:Fallback>
                <p:oleObj name="位图图像" r:id="rId3" imgW="4638095" imgH="4944165" progId="Paint.Picture">
                  <p:embed/>
                  <p:pic>
                    <p:nvPicPr>
                      <p:cNvPr id="1034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81000"/>
                        <a:ext cx="5578475"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3924611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en-US" altLang="zh-CN" smtClean="0"/>
              <a:t>VFS</a:t>
            </a:r>
            <a:r>
              <a:rPr lang="zh-CN" altLang="en-US" smtClean="0"/>
              <a:t>系统调用的实现</a:t>
            </a:r>
          </a:p>
        </p:txBody>
      </p:sp>
      <p:sp>
        <p:nvSpPr>
          <p:cNvPr id="104451" name="Rectangle 3"/>
          <p:cNvSpPr>
            <a:spLocks noGrp="1" noChangeArrowheads="1"/>
          </p:cNvSpPr>
          <p:nvPr>
            <p:ph type="body" idx="1"/>
          </p:nvPr>
        </p:nvSpPr>
        <p:spPr/>
        <p:txBody>
          <a:bodyPr/>
          <a:lstStyle/>
          <a:p>
            <a:pPr eaLnBrk="1" hangingPunct="1">
              <a:lnSpc>
                <a:spcPct val="90000"/>
              </a:lnSpc>
            </a:pPr>
            <a:r>
              <a:rPr lang="zh-CN" altLang="en-US" smtClean="0"/>
              <a:t>仍然考虑</a:t>
            </a:r>
          </a:p>
          <a:p>
            <a:pPr lvl="1" eaLnBrk="1" hangingPunct="1">
              <a:lnSpc>
                <a:spcPct val="90000"/>
              </a:lnSpc>
              <a:buFont typeface="Wingdings" panose="05000000000000000000" pitchFamily="2" charset="2"/>
              <a:buNone/>
            </a:pPr>
            <a:r>
              <a:rPr lang="en-US" altLang="zh-CN" smtClean="0"/>
              <a:t>$ cp /floppy/TEST    /tmp/test</a:t>
            </a:r>
          </a:p>
          <a:p>
            <a:pPr eaLnBrk="1" hangingPunct="1">
              <a:lnSpc>
                <a:spcPct val="90000"/>
              </a:lnSpc>
            </a:pPr>
            <a:r>
              <a:rPr lang="zh-CN" altLang="en-US" smtClean="0"/>
              <a:t>假定</a:t>
            </a:r>
            <a:r>
              <a:rPr lang="en-US" altLang="zh-CN" smtClean="0"/>
              <a:t>cp</a:t>
            </a:r>
            <a:r>
              <a:rPr lang="zh-CN" altLang="en-US" smtClean="0"/>
              <a:t>执行下列代码片段（实际要更复杂）</a:t>
            </a:r>
          </a:p>
          <a:p>
            <a:pPr lvl="1" eaLnBrk="1" hangingPunct="1">
              <a:lnSpc>
                <a:spcPct val="90000"/>
              </a:lnSpc>
            </a:pPr>
            <a:r>
              <a:rPr lang="en-US" altLang="zh-CN" smtClean="0"/>
              <a:t>inf = open("/floppy/TEST", O_RDONLY, 0); </a:t>
            </a:r>
            <a:br>
              <a:rPr lang="en-US" altLang="zh-CN" smtClean="0"/>
            </a:br>
            <a:r>
              <a:rPr lang="en-US" altLang="zh-CN" smtClean="0"/>
              <a:t>outf = open("/tmp/test", O_WRONLY | O_CREAT | O_TRUNC, 0600); </a:t>
            </a:r>
            <a:br>
              <a:rPr lang="en-US" altLang="zh-CN" smtClean="0"/>
            </a:br>
            <a:r>
              <a:rPr lang="en-US" altLang="zh-CN" smtClean="0"/>
              <a:t>do { </a:t>
            </a:r>
            <a:br>
              <a:rPr lang="en-US" altLang="zh-CN" smtClean="0"/>
            </a:br>
            <a:r>
              <a:rPr lang="en-US" altLang="zh-CN" smtClean="0"/>
              <a:t>	len = read(inf, buf, 4096); </a:t>
            </a:r>
            <a:br>
              <a:rPr lang="en-US" altLang="zh-CN" smtClean="0"/>
            </a:br>
            <a:r>
              <a:rPr lang="en-US" altLang="zh-CN" smtClean="0"/>
              <a:t>	write(outf, buf, len); </a:t>
            </a:r>
            <a:br>
              <a:rPr lang="en-US" altLang="zh-CN" smtClean="0"/>
            </a:br>
            <a:r>
              <a:rPr lang="en-US" altLang="zh-CN" smtClean="0"/>
              <a:t>} while (len); </a:t>
            </a:r>
            <a:br>
              <a:rPr lang="en-US" altLang="zh-CN" smtClean="0"/>
            </a:br>
            <a:r>
              <a:rPr lang="en-US" altLang="zh-CN" smtClean="0"/>
              <a:t>close(outf); </a:t>
            </a:r>
            <a:br>
              <a:rPr lang="en-US" altLang="zh-CN" smtClean="0"/>
            </a:br>
            <a:r>
              <a:rPr lang="en-US" altLang="zh-CN" smtClean="0"/>
              <a:t>close(inf); </a:t>
            </a:r>
          </a:p>
        </p:txBody>
      </p:sp>
    </p:spTree>
    <p:extLst>
      <p:ext uri="{BB962C8B-B14F-4D97-AF65-F5344CB8AC3E}">
        <p14:creationId xmlns:p14="http://schemas.microsoft.com/office/powerpoint/2010/main" val="90585887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en-US" altLang="zh-CN" smtClean="0"/>
              <a:t>open()</a:t>
            </a:r>
            <a:r>
              <a:rPr lang="zh-CN" altLang="en-US" smtClean="0"/>
              <a:t>系统调用</a:t>
            </a:r>
          </a:p>
        </p:txBody>
      </p:sp>
      <p:sp>
        <p:nvSpPr>
          <p:cNvPr id="105475" name="Rectangle 3"/>
          <p:cNvSpPr>
            <a:spLocks noGrp="1" noChangeArrowheads="1"/>
          </p:cNvSpPr>
          <p:nvPr>
            <p:ph type="body" idx="1"/>
          </p:nvPr>
        </p:nvSpPr>
        <p:spPr/>
        <p:txBody>
          <a:bodyPr/>
          <a:lstStyle/>
          <a:p>
            <a:pPr eaLnBrk="1" hangingPunct="1"/>
            <a:endParaRPr lang="zh-CN" altLang="zh-CN" smtClean="0"/>
          </a:p>
        </p:txBody>
      </p:sp>
      <p:pic>
        <p:nvPicPr>
          <p:cNvPr id="11489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175"/>
            <a:ext cx="9144000" cy="660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8933" name="Text Box 5"/>
          <p:cNvSpPr txBox="1">
            <a:spLocks noChangeArrowheads="1"/>
          </p:cNvSpPr>
          <p:nvPr/>
        </p:nvSpPr>
        <p:spPr bwMode="auto">
          <a:xfrm>
            <a:off x="4264025" y="1647825"/>
            <a:ext cx="4895850" cy="1190625"/>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en-US" altLang="zh-CN" sz="1800">
                <a:solidFill>
                  <a:srgbClr val="FF0000"/>
                </a:solidFill>
                <a:latin typeface="Arial" panose="020B0604020202020204" pitchFamily="34" charset="0"/>
              </a:rPr>
              <a:t>1</a:t>
            </a:r>
            <a:r>
              <a:rPr lang="zh-CN" altLang="en-US" sz="1800">
                <a:solidFill>
                  <a:srgbClr val="FF0000"/>
                </a:solidFill>
                <a:latin typeface="Arial" panose="020B0604020202020204" pitchFamily="34" charset="0"/>
              </a:rPr>
              <a:t>、读取文件名到内核中</a:t>
            </a:r>
          </a:p>
          <a:p>
            <a:pPr algn="l" eaLnBrk="1" hangingPunct="1">
              <a:spcBef>
                <a:spcPct val="0"/>
              </a:spcBef>
              <a:buClrTx/>
              <a:buSzTx/>
              <a:buFontTx/>
              <a:buNone/>
            </a:pPr>
            <a:r>
              <a:rPr lang="en-US" altLang="zh-CN" sz="1800">
                <a:solidFill>
                  <a:srgbClr val="FF0000"/>
                </a:solidFill>
                <a:latin typeface="Arial" panose="020B0604020202020204" pitchFamily="34" charset="0"/>
              </a:rPr>
              <a:t>2</a:t>
            </a:r>
            <a:r>
              <a:rPr lang="zh-CN" altLang="en-US" sz="1800">
                <a:solidFill>
                  <a:srgbClr val="FF0000"/>
                </a:solidFill>
                <a:latin typeface="Arial" panose="020B0604020202020204" pitchFamily="34" charset="0"/>
              </a:rPr>
              <a:t>、分配一个新的文件描述符</a:t>
            </a:r>
            <a:r>
              <a:rPr lang="en-US" altLang="zh-CN" sz="1800">
                <a:solidFill>
                  <a:srgbClr val="FF0000"/>
                </a:solidFill>
                <a:latin typeface="Arial" panose="020B0604020202020204" pitchFamily="34" charset="0"/>
              </a:rPr>
              <a:t>fd</a:t>
            </a:r>
          </a:p>
          <a:p>
            <a:pPr algn="l" eaLnBrk="1" hangingPunct="1">
              <a:spcBef>
                <a:spcPct val="0"/>
              </a:spcBef>
              <a:buClrTx/>
              <a:buSzTx/>
              <a:buFontTx/>
              <a:buNone/>
            </a:pPr>
            <a:r>
              <a:rPr lang="en-US" altLang="zh-CN" sz="1800">
                <a:solidFill>
                  <a:srgbClr val="FF0000"/>
                </a:solidFill>
                <a:latin typeface="Arial" panose="020B0604020202020204" pitchFamily="34" charset="0"/>
              </a:rPr>
              <a:t>3</a:t>
            </a:r>
            <a:r>
              <a:rPr lang="zh-CN" altLang="en-US" sz="1800">
                <a:solidFill>
                  <a:srgbClr val="FF0000"/>
                </a:solidFill>
                <a:latin typeface="Arial" panose="020B0604020202020204" pitchFamily="34" charset="0"/>
              </a:rPr>
              <a:t>、调用</a:t>
            </a:r>
            <a:r>
              <a:rPr lang="en-US" altLang="zh-CN" sz="1800">
                <a:solidFill>
                  <a:srgbClr val="FF0000"/>
                </a:solidFill>
                <a:latin typeface="Arial" panose="020B0604020202020204" pitchFamily="34" charset="0"/>
              </a:rPr>
              <a:t>filp_open</a:t>
            </a:r>
            <a:r>
              <a:rPr lang="zh-CN" altLang="en-US" sz="1800">
                <a:solidFill>
                  <a:srgbClr val="FF0000"/>
                </a:solidFill>
                <a:latin typeface="Arial" panose="020B0604020202020204" pitchFamily="34" charset="0"/>
              </a:rPr>
              <a:t>打开文件，返回文件对象指针</a:t>
            </a:r>
          </a:p>
          <a:p>
            <a:pPr algn="l" eaLnBrk="1" hangingPunct="1">
              <a:spcBef>
                <a:spcPct val="0"/>
              </a:spcBef>
              <a:buClrTx/>
              <a:buSzTx/>
              <a:buFontTx/>
              <a:buNone/>
            </a:pPr>
            <a:r>
              <a:rPr lang="en-US" altLang="zh-CN" sz="1800">
                <a:solidFill>
                  <a:srgbClr val="FF0000"/>
                </a:solidFill>
                <a:latin typeface="Arial" panose="020B0604020202020204" pitchFamily="34" charset="0"/>
              </a:rPr>
              <a:t>4</a:t>
            </a:r>
            <a:r>
              <a:rPr lang="zh-CN" altLang="en-US" sz="1800">
                <a:solidFill>
                  <a:srgbClr val="FF0000"/>
                </a:solidFill>
                <a:latin typeface="Arial" panose="020B0604020202020204" pitchFamily="34" charset="0"/>
              </a:rPr>
              <a:t>、建立</a:t>
            </a:r>
            <a:r>
              <a:rPr lang="en-US" altLang="zh-CN" sz="1800">
                <a:solidFill>
                  <a:srgbClr val="FF0000"/>
                </a:solidFill>
                <a:latin typeface="Arial" panose="020B0604020202020204" pitchFamily="34" charset="0"/>
              </a:rPr>
              <a:t>fd</a:t>
            </a:r>
            <a:r>
              <a:rPr lang="zh-CN" altLang="en-US" sz="1800">
                <a:solidFill>
                  <a:srgbClr val="FF0000"/>
                </a:solidFill>
                <a:latin typeface="Arial" panose="020B0604020202020204" pitchFamily="34" charset="0"/>
              </a:rPr>
              <a:t>与文件对象指针的联系</a:t>
            </a:r>
          </a:p>
        </p:txBody>
      </p:sp>
      <p:sp>
        <p:nvSpPr>
          <p:cNvPr id="1148934" name="Line 6"/>
          <p:cNvSpPr>
            <a:spLocks noChangeShapeType="1"/>
          </p:cNvSpPr>
          <p:nvPr/>
        </p:nvSpPr>
        <p:spPr bwMode="auto">
          <a:xfrm flipH="1">
            <a:off x="3851275" y="1773238"/>
            <a:ext cx="433388" cy="3603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48935" name="Line 7"/>
          <p:cNvSpPr>
            <a:spLocks noChangeShapeType="1"/>
          </p:cNvSpPr>
          <p:nvPr/>
        </p:nvSpPr>
        <p:spPr bwMode="auto">
          <a:xfrm flipH="1">
            <a:off x="3203575" y="2133600"/>
            <a:ext cx="1009650" cy="6477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48936" name="Line 8"/>
          <p:cNvSpPr>
            <a:spLocks noChangeShapeType="1"/>
          </p:cNvSpPr>
          <p:nvPr/>
        </p:nvSpPr>
        <p:spPr bwMode="auto">
          <a:xfrm flipH="1">
            <a:off x="3635375" y="2420938"/>
            <a:ext cx="650875" cy="7921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48937" name="Line 9"/>
          <p:cNvSpPr>
            <a:spLocks noChangeShapeType="1"/>
          </p:cNvSpPr>
          <p:nvPr/>
        </p:nvSpPr>
        <p:spPr bwMode="auto">
          <a:xfrm flipH="1">
            <a:off x="4067175" y="2708275"/>
            <a:ext cx="219075" cy="15843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7209531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489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893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14893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nodeType="clickEffect">
                                  <p:stCondLst>
                                    <p:cond delay="0"/>
                                  </p:stCondLst>
                                  <p:childTnLst>
                                    <p:set>
                                      <p:cBhvr>
                                        <p:cTn id="16" dur="1" fill="hold">
                                          <p:stCondLst>
                                            <p:cond delay="0"/>
                                          </p:stCondLst>
                                        </p:cTn>
                                        <p:tgtEl>
                                          <p:spTgt spid="1148934"/>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4893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nodeType="clickEffect">
                                  <p:stCondLst>
                                    <p:cond delay="0"/>
                                  </p:stCondLst>
                                  <p:childTnLst>
                                    <p:set>
                                      <p:cBhvr>
                                        <p:cTn id="22" dur="1" fill="hold">
                                          <p:stCondLst>
                                            <p:cond delay="0"/>
                                          </p:stCondLst>
                                        </p:cTn>
                                        <p:tgtEl>
                                          <p:spTgt spid="1148935"/>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14893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nodeType="clickEffect">
                                  <p:stCondLst>
                                    <p:cond delay="0"/>
                                  </p:stCondLst>
                                  <p:childTnLst>
                                    <p:set>
                                      <p:cBhvr>
                                        <p:cTn id="28" dur="1" fill="hold">
                                          <p:stCondLst>
                                            <p:cond delay="0"/>
                                          </p:stCondLst>
                                        </p:cTn>
                                        <p:tgtEl>
                                          <p:spTgt spid="114893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1489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933"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endParaRPr lang="zh-CN" altLang="zh-CN" smtClean="0"/>
          </a:p>
        </p:txBody>
      </p:sp>
      <p:sp>
        <p:nvSpPr>
          <p:cNvPr id="106499" name="Rectangle 3"/>
          <p:cNvSpPr>
            <a:spLocks noGrp="1" noChangeArrowheads="1"/>
          </p:cNvSpPr>
          <p:nvPr>
            <p:ph type="body" idx="1"/>
          </p:nvPr>
        </p:nvSpPr>
        <p:spPr/>
        <p:txBody>
          <a:bodyPr/>
          <a:lstStyle/>
          <a:p>
            <a:pPr eaLnBrk="1" hangingPunct="1"/>
            <a:endParaRPr lang="zh-CN" altLang="zh-CN" smtClean="0"/>
          </a:p>
        </p:txBody>
      </p:sp>
      <p:pic>
        <p:nvPicPr>
          <p:cNvPr id="1065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78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1" name="Text Box 5"/>
          <p:cNvSpPr txBox="1">
            <a:spLocks noChangeArrowheads="1"/>
          </p:cNvSpPr>
          <p:nvPr/>
        </p:nvSpPr>
        <p:spPr bwMode="auto">
          <a:xfrm>
            <a:off x="5487988" y="4240213"/>
            <a:ext cx="2368550" cy="915987"/>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en-US" altLang="zh-CN" sz="1800">
                <a:solidFill>
                  <a:srgbClr val="FF0000"/>
                </a:solidFill>
                <a:latin typeface="Arial" panose="020B0604020202020204" pitchFamily="34" charset="0"/>
              </a:rPr>
              <a:t>1</a:t>
            </a:r>
            <a:r>
              <a:rPr lang="zh-CN" altLang="en-US" sz="1800">
                <a:solidFill>
                  <a:srgbClr val="FF0000"/>
                </a:solidFill>
                <a:latin typeface="Arial" panose="020B0604020202020204" pitchFamily="34" charset="0"/>
              </a:rPr>
              <a:t>、设置访问模式标志</a:t>
            </a:r>
          </a:p>
          <a:p>
            <a:pPr algn="l" eaLnBrk="1" hangingPunct="1">
              <a:spcBef>
                <a:spcPct val="0"/>
              </a:spcBef>
              <a:buClrTx/>
              <a:buSzTx/>
              <a:buFontTx/>
              <a:buNone/>
            </a:pPr>
            <a:r>
              <a:rPr lang="en-US" altLang="zh-CN" sz="1800">
                <a:solidFill>
                  <a:srgbClr val="FF0000"/>
                </a:solidFill>
                <a:latin typeface="Arial" panose="020B0604020202020204" pitchFamily="34" charset="0"/>
              </a:rPr>
              <a:t>2</a:t>
            </a:r>
            <a:r>
              <a:rPr lang="zh-CN" altLang="en-US" sz="1800">
                <a:solidFill>
                  <a:srgbClr val="FF0000"/>
                </a:solidFill>
                <a:latin typeface="Arial" panose="020B0604020202020204" pitchFamily="34" charset="0"/>
              </a:rPr>
              <a:t>、调用</a:t>
            </a:r>
            <a:r>
              <a:rPr lang="en-US" altLang="zh-CN" sz="1800">
                <a:solidFill>
                  <a:srgbClr val="FF0000"/>
                </a:solidFill>
                <a:latin typeface="Arial" panose="020B0604020202020204" pitchFamily="34" charset="0"/>
              </a:rPr>
              <a:t>open_namei</a:t>
            </a:r>
          </a:p>
          <a:p>
            <a:pPr algn="l" eaLnBrk="1" hangingPunct="1">
              <a:spcBef>
                <a:spcPct val="0"/>
              </a:spcBef>
              <a:buClrTx/>
              <a:buSzTx/>
              <a:buFontTx/>
              <a:buNone/>
            </a:pPr>
            <a:r>
              <a:rPr lang="en-US" altLang="zh-CN" sz="1800">
                <a:solidFill>
                  <a:srgbClr val="FF0000"/>
                </a:solidFill>
                <a:latin typeface="Arial" panose="020B0604020202020204" pitchFamily="34" charset="0"/>
              </a:rPr>
              <a:t>3</a:t>
            </a:r>
            <a:r>
              <a:rPr lang="zh-CN" altLang="en-US" sz="1800">
                <a:solidFill>
                  <a:srgbClr val="FF0000"/>
                </a:solidFill>
                <a:latin typeface="Arial" panose="020B0604020202020204" pitchFamily="34" charset="0"/>
              </a:rPr>
              <a:t>、调用</a:t>
            </a:r>
            <a:r>
              <a:rPr lang="en-US" altLang="zh-CN" sz="1800">
                <a:solidFill>
                  <a:srgbClr val="FF0000"/>
                </a:solidFill>
                <a:latin typeface="Arial" panose="020B0604020202020204" pitchFamily="34" charset="0"/>
              </a:rPr>
              <a:t>dentry_open</a:t>
            </a:r>
          </a:p>
        </p:txBody>
      </p:sp>
    </p:spTree>
    <p:extLst>
      <p:ext uri="{BB962C8B-B14F-4D97-AF65-F5344CB8AC3E}">
        <p14:creationId xmlns:p14="http://schemas.microsoft.com/office/powerpoint/2010/main" val="154043075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en-US" altLang="zh-CN" smtClean="0"/>
              <a:t>read</a:t>
            </a:r>
            <a:r>
              <a:rPr lang="zh-CN" altLang="en-US" smtClean="0"/>
              <a:t>和</a:t>
            </a:r>
            <a:r>
              <a:rPr lang="en-US" altLang="zh-CN" smtClean="0"/>
              <a:t>write</a:t>
            </a:r>
            <a:r>
              <a:rPr lang="zh-CN" altLang="en-US" smtClean="0"/>
              <a:t>系统调用</a:t>
            </a:r>
          </a:p>
        </p:txBody>
      </p:sp>
      <p:sp>
        <p:nvSpPr>
          <p:cNvPr id="107523" name="Rectangle 3"/>
          <p:cNvSpPr>
            <a:spLocks noGrp="1" noChangeArrowheads="1"/>
          </p:cNvSpPr>
          <p:nvPr>
            <p:ph type="body" idx="1"/>
          </p:nvPr>
        </p:nvSpPr>
        <p:spPr/>
        <p:txBody>
          <a:bodyPr/>
          <a:lstStyle/>
          <a:p>
            <a:pPr eaLnBrk="1" hangingPunct="1"/>
            <a:endParaRPr lang="zh-CN" altLang="zh-CN" smtClean="0"/>
          </a:p>
        </p:txBody>
      </p:sp>
      <p:pic>
        <p:nvPicPr>
          <p:cNvPr id="1075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00213"/>
            <a:ext cx="9144000" cy="462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5" name="Text Box 5"/>
          <p:cNvSpPr txBox="1">
            <a:spLocks noChangeArrowheads="1"/>
          </p:cNvSpPr>
          <p:nvPr/>
        </p:nvSpPr>
        <p:spPr bwMode="auto">
          <a:xfrm>
            <a:off x="5219700" y="1916113"/>
            <a:ext cx="3511550" cy="1465262"/>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en-US" altLang="zh-CN" sz="1800">
                <a:solidFill>
                  <a:srgbClr val="FF0000"/>
                </a:solidFill>
                <a:latin typeface="Arial" panose="020B0604020202020204" pitchFamily="34" charset="0"/>
              </a:rPr>
              <a:t>1</a:t>
            </a:r>
            <a:r>
              <a:rPr lang="zh-CN" altLang="en-US" sz="1800">
                <a:solidFill>
                  <a:srgbClr val="FF0000"/>
                </a:solidFill>
                <a:latin typeface="Arial" panose="020B0604020202020204" pitchFamily="34" charset="0"/>
              </a:rPr>
              <a:t>、获得文件对象指针</a:t>
            </a:r>
          </a:p>
          <a:p>
            <a:pPr algn="l" eaLnBrk="1" hangingPunct="1">
              <a:spcBef>
                <a:spcPct val="0"/>
              </a:spcBef>
              <a:buClrTx/>
              <a:buSzTx/>
              <a:buFontTx/>
              <a:buNone/>
            </a:pPr>
            <a:r>
              <a:rPr lang="en-US" altLang="zh-CN" sz="1800">
                <a:solidFill>
                  <a:srgbClr val="FF0000"/>
                </a:solidFill>
                <a:latin typeface="Arial" panose="020B0604020202020204" pitchFamily="34" charset="0"/>
              </a:rPr>
              <a:t>2</a:t>
            </a:r>
            <a:r>
              <a:rPr lang="zh-CN" altLang="en-US" sz="1800">
                <a:solidFill>
                  <a:srgbClr val="FF0000"/>
                </a:solidFill>
                <a:latin typeface="Arial" panose="020B0604020202020204" pitchFamily="34" charset="0"/>
              </a:rPr>
              <a:t>、判断是否有允许所请求的访问</a:t>
            </a:r>
          </a:p>
          <a:p>
            <a:pPr algn="l" eaLnBrk="1" hangingPunct="1">
              <a:spcBef>
                <a:spcPct val="0"/>
              </a:spcBef>
              <a:buClrTx/>
              <a:buSzTx/>
              <a:buFontTx/>
              <a:buNone/>
            </a:pPr>
            <a:r>
              <a:rPr lang="en-US" altLang="zh-CN" sz="1800">
                <a:solidFill>
                  <a:srgbClr val="FF0000"/>
                </a:solidFill>
                <a:latin typeface="Arial" panose="020B0604020202020204" pitchFamily="34" charset="0"/>
              </a:rPr>
              <a:t>3</a:t>
            </a:r>
            <a:r>
              <a:rPr lang="zh-CN" altLang="en-US" sz="1800">
                <a:solidFill>
                  <a:srgbClr val="FF0000"/>
                </a:solidFill>
                <a:latin typeface="Arial" panose="020B0604020202020204" pitchFamily="34" charset="0"/>
              </a:rPr>
              <a:t>、是否有强制锁</a:t>
            </a:r>
          </a:p>
          <a:p>
            <a:pPr algn="l" eaLnBrk="1" hangingPunct="1">
              <a:spcBef>
                <a:spcPct val="0"/>
              </a:spcBef>
              <a:buClrTx/>
              <a:buSzTx/>
              <a:buFontTx/>
              <a:buNone/>
            </a:pPr>
            <a:r>
              <a:rPr lang="en-US" altLang="zh-CN" sz="1800">
                <a:solidFill>
                  <a:srgbClr val="FF0000"/>
                </a:solidFill>
                <a:latin typeface="Arial" panose="020B0604020202020204" pitchFamily="34" charset="0"/>
              </a:rPr>
              <a:t>4</a:t>
            </a:r>
            <a:r>
              <a:rPr lang="zh-CN" altLang="en-US" sz="1800">
                <a:solidFill>
                  <a:srgbClr val="FF0000"/>
                </a:solidFill>
                <a:latin typeface="Arial" panose="020B0604020202020204" pitchFamily="34" charset="0"/>
              </a:rPr>
              <a:t>、调用具体读操作</a:t>
            </a:r>
          </a:p>
          <a:p>
            <a:pPr algn="l" eaLnBrk="1" hangingPunct="1">
              <a:spcBef>
                <a:spcPct val="0"/>
              </a:spcBef>
              <a:buClrTx/>
              <a:buSzTx/>
              <a:buFontTx/>
              <a:buNone/>
            </a:pPr>
            <a:r>
              <a:rPr lang="en-US" altLang="zh-CN" sz="1800">
                <a:solidFill>
                  <a:srgbClr val="FF0000"/>
                </a:solidFill>
                <a:latin typeface="Arial" panose="020B0604020202020204" pitchFamily="34" charset="0"/>
              </a:rPr>
              <a:t>5</a:t>
            </a:r>
            <a:r>
              <a:rPr lang="zh-CN" altLang="en-US" sz="1800">
                <a:solidFill>
                  <a:srgbClr val="FF0000"/>
                </a:solidFill>
                <a:latin typeface="Arial" panose="020B0604020202020204" pitchFamily="34" charset="0"/>
              </a:rPr>
              <a:t>、释放文件对象指针</a:t>
            </a:r>
          </a:p>
        </p:txBody>
      </p:sp>
      <p:sp>
        <p:nvSpPr>
          <p:cNvPr id="1150982" name="Line 6"/>
          <p:cNvSpPr>
            <a:spLocks noChangeShapeType="1"/>
          </p:cNvSpPr>
          <p:nvPr/>
        </p:nvSpPr>
        <p:spPr bwMode="auto">
          <a:xfrm flipH="1">
            <a:off x="2484438" y="2133600"/>
            <a:ext cx="2735262" cy="79057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0983" name="Line 7"/>
          <p:cNvSpPr>
            <a:spLocks noChangeShapeType="1"/>
          </p:cNvSpPr>
          <p:nvPr/>
        </p:nvSpPr>
        <p:spPr bwMode="auto">
          <a:xfrm flipH="1">
            <a:off x="2987675" y="2349500"/>
            <a:ext cx="2232025" cy="93503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0984" name="Line 8"/>
          <p:cNvSpPr>
            <a:spLocks noChangeShapeType="1"/>
          </p:cNvSpPr>
          <p:nvPr/>
        </p:nvSpPr>
        <p:spPr bwMode="auto">
          <a:xfrm flipH="1">
            <a:off x="3924300" y="2708275"/>
            <a:ext cx="1295400" cy="792163"/>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0985" name="Line 9"/>
          <p:cNvSpPr>
            <a:spLocks noChangeShapeType="1"/>
          </p:cNvSpPr>
          <p:nvPr/>
        </p:nvSpPr>
        <p:spPr bwMode="auto">
          <a:xfrm flipH="1">
            <a:off x="2627313" y="2997200"/>
            <a:ext cx="2592387" cy="1655763"/>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0986" name="Line 10"/>
          <p:cNvSpPr>
            <a:spLocks noChangeShapeType="1"/>
          </p:cNvSpPr>
          <p:nvPr/>
        </p:nvSpPr>
        <p:spPr bwMode="auto">
          <a:xfrm flipH="1">
            <a:off x="2268538" y="3284538"/>
            <a:ext cx="2951162" cy="23050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0987" name="Text Box 11"/>
          <p:cNvSpPr txBox="1">
            <a:spLocks noChangeArrowheads="1"/>
          </p:cNvSpPr>
          <p:nvPr/>
        </p:nvSpPr>
        <p:spPr bwMode="auto">
          <a:xfrm>
            <a:off x="2751138" y="5969000"/>
            <a:ext cx="4641850" cy="366713"/>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en-US" altLang="zh-CN" sz="1800">
                <a:solidFill>
                  <a:srgbClr val="FF0000"/>
                </a:solidFill>
                <a:latin typeface="Arial" panose="020B0604020202020204" pitchFamily="34" charset="0"/>
              </a:rPr>
              <a:t>Read</a:t>
            </a:r>
            <a:r>
              <a:rPr lang="zh-CN" altLang="en-US" sz="1800">
                <a:solidFill>
                  <a:srgbClr val="FF0000"/>
                </a:solidFill>
                <a:latin typeface="Arial" panose="020B0604020202020204" pitchFamily="34" charset="0"/>
              </a:rPr>
              <a:t>和</a:t>
            </a:r>
            <a:r>
              <a:rPr lang="en-US" altLang="zh-CN" sz="1800">
                <a:solidFill>
                  <a:srgbClr val="FF0000"/>
                </a:solidFill>
                <a:latin typeface="Arial" panose="020B0604020202020204" pitchFamily="34" charset="0"/>
              </a:rPr>
              <a:t>write</a:t>
            </a:r>
            <a:r>
              <a:rPr lang="zh-CN" altLang="en-US" sz="1800">
                <a:solidFill>
                  <a:srgbClr val="FF0000"/>
                </a:solidFill>
                <a:latin typeface="Arial" panose="020B0604020202020204" pitchFamily="34" charset="0"/>
              </a:rPr>
              <a:t>几乎相同，区别在于是读还是写</a:t>
            </a:r>
          </a:p>
        </p:txBody>
      </p:sp>
    </p:spTree>
    <p:extLst>
      <p:ext uri="{BB962C8B-B14F-4D97-AF65-F5344CB8AC3E}">
        <p14:creationId xmlns:p14="http://schemas.microsoft.com/office/powerpoint/2010/main" val="17297436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509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115098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15098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nodeType="clickEffect">
                                  <p:stCondLst>
                                    <p:cond delay="0"/>
                                  </p:stCondLst>
                                  <p:childTnLst>
                                    <p:set>
                                      <p:cBhvr>
                                        <p:cTn id="16" dur="1" fill="hold">
                                          <p:stCondLst>
                                            <p:cond delay="0"/>
                                          </p:stCondLst>
                                        </p:cTn>
                                        <p:tgtEl>
                                          <p:spTgt spid="1150983"/>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5098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nodeType="clickEffect">
                                  <p:stCondLst>
                                    <p:cond delay="0"/>
                                  </p:stCondLst>
                                  <p:childTnLst>
                                    <p:set>
                                      <p:cBhvr>
                                        <p:cTn id="22" dur="1" fill="hold">
                                          <p:stCondLst>
                                            <p:cond delay="0"/>
                                          </p:stCondLst>
                                        </p:cTn>
                                        <p:tgtEl>
                                          <p:spTgt spid="115098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15098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nodeType="clickEffect">
                                  <p:stCondLst>
                                    <p:cond delay="0"/>
                                  </p:stCondLst>
                                  <p:childTnLst>
                                    <p:set>
                                      <p:cBhvr>
                                        <p:cTn id="28" dur="1" fill="hold">
                                          <p:stCondLst>
                                            <p:cond delay="0"/>
                                          </p:stCondLst>
                                        </p:cTn>
                                        <p:tgtEl>
                                          <p:spTgt spid="1150985"/>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15098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nodeType="clickEffect">
                                  <p:stCondLst>
                                    <p:cond delay="0"/>
                                  </p:stCondLst>
                                  <p:childTnLst>
                                    <p:set>
                                      <p:cBhvr>
                                        <p:cTn id="34" dur="1" fill="hold">
                                          <p:stCondLst>
                                            <p:cond delay="0"/>
                                          </p:stCondLst>
                                        </p:cTn>
                                        <p:tgtEl>
                                          <p:spTgt spid="1150986"/>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1509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0987"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en-US" altLang="zh-CN" smtClean="0"/>
              <a:t>close</a:t>
            </a:r>
            <a:r>
              <a:rPr lang="zh-CN" altLang="en-US" smtClean="0"/>
              <a:t>系统调用</a:t>
            </a:r>
            <a:br>
              <a:rPr lang="zh-CN" altLang="en-US" smtClean="0"/>
            </a:br>
            <a:endParaRPr lang="zh-CN" altLang="en-US" smtClean="0"/>
          </a:p>
        </p:txBody>
      </p:sp>
      <p:sp>
        <p:nvSpPr>
          <p:cNvPr id="108547" name="Rectangle 3"/>
          <p:cNvSpPr>
            <a:spLocks noGrp="1" noChangeArrowheads="1"/>
          </p:cNvSpPr>
          <p:nvPr>
            <p:ph type="body" idx="1"/>
          </p:nvPr>
        </p:nvSpPr>
        <p:spPr/>
        <p:txBody>
          <a:bodyPr/>
          <a:lstStyle/>
          <a:p>
            <a:pPr eaLnBrk="1" hangingPunct="1"/>
            <a:endParaRPr lang="zh-CN" altLang="zh-CN" smtClean="0"/>
          </a:p>
        </p:txBody>
      </p:sp>
      <p:pic>
        <p:nvPicPr>
          <p:cNvPr id="1085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84213"/>
            <a:ext cx="9144000" cy="617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9" name="Text Box 5"/>
          <p:cNvSpPr txBox="1">
            <a:spLocks noChangeArrowheads="1"/>
          </p:cNvSpPr>
          <p:nvPr/>
        </p:nvSpPr>
        <p:spPr bwMode="auto">
          <a:xfrm>
            <a:off x="5343525" y="3736975"/>
            <a:ext cx="3016250" cy="2014538"/>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en-US" altLang="zh-CN" sz="1800">
                <a:solidFill>
                  <a:srgbClr val="FF0000"/>
                </a:solidFill>
                <a:latin typeface="Arial" panose="020B0604020202020204" pitchFamily="34" charset="0"/>
              </a:rPr>
              <a:t>1</a:t>
            </a:r>
            <a:r>
              <a:rPr lang="zh-CN" altLang="en-US" sz="1800">
                <a:solidFill>
                  <a:srgbClr val="FF0000"/>
                </a:solidFill>
                <a:latin typeface="Arial" panose="020B0604020202020204" pitchFamily="34" charset="0"/>
              </a:rPr>
              <a:t>、检查</a:t>
            </a:r>
            <a:r>
              <a:rPr lang="en-US" altLang="zh-CN" sz="1800">
                <a:solidFill>
                  <a:srgbClr val="FF0000"/>
                </a:solidFill>
                <a:latin typeface="Arial" panose="020B0604020202020204" pitchFamily="34" charset="0"/>
              </a:rPr>
              <a:t>fd</a:t>
            </a:r>
            <a:r>
              <a:rPr lang="zh-CN" altLang="en-US" sz="1800">
                <a:solidFill>
                  <a:srgbClr val="FF0000"/>
                </a:solidFill>
                <a:latin typeface="Arial" panose="020B0604020202020204" pitchFamily="34" charset="0"/>
              </a:rPr>
              <a:t>的正确性和有效性</a:t>
            </a:r>
          </a:p>
          <a:p>
            <a:pPr algn="l" eaLnBrk="1" hangingPunct="1">
              <a:spcBef>
                <a:spcPct val="0"/>
              </a:spcBef>
              <a:buClrTx/>
              <a:buSzTx/>
              <a:buFontTx/>
              <a:buNone/>
            </a:pPr>
            <a:endParaRPr lang="zh-CN" altLang="en-US" sz="1800">
              <a:solidFill>
                <a:srgbClr val="FF0000"/>
              </a:solidFill>
              <a:latin typeface="Arial" panose="020B0604020202020204" pitchFamily="34" charset="0"/>
            </a:endParaRPr>
          </a:p>
          <a:p>
            <a:pPr algn="l" eaLnBrk="1" hangingPunct="1">
              <a:spcBef>
                <a:spcPct val="0"/>
              </a:spcBef>
              <a:buClrTx/>
              <a:buSzTx/>
              <a:buFontTx/>
              <a:buNone/>
            </a:pPr>
            <a:endParaRPr lang="zh-CN" altLang="en-US" sz="1800">
              <a:solidFill>
                <a:srgbClr val="FF0000"/>
              </a:solidFill>
              <a:latin typeface="Arial" panose="020B0604020202020204" pitchFamily="34" charset="0"/>
            </a:endParaRPr>
          </a:p>
          <a:p>
            <a:pPr algn="l" eaLnBrk="1" hangingPunct="1">
              <a:spcBef>
                <a:spcPct val="0"/>
              </a:spcBef>
              <a:buClrTx/>
              <a:buSzTx/>
              <a:buFontTx/>
              <a:buNone/>
            </a:pPr>
            <a:endParaRPr lang="zh-CN" altLang="en-US" sz="1800">
              <a:solidFill>
                <a:srgbClr val="FF0000"/>
              </a:solidFill>
              <a:latin typeface="Arial" panose="020B0604020202020204" pitchFamily="34" charset="0"/>
            </a:endParaRPr>
          </a:p>
          <a:p>
            <a:pPr algn="l" eaLnBrk="1" hangingPunct="1">
              <a:spcBef>
                <a:spcPct val="0"/>
              </a:spcBef>
              <a:buClrTx/>
              <a:buSzTx/>
              <a:buFontTx/>
              <a:buNone/>
            </a:pPr>
            <a:r>
              <a:rPr lang="en-US" altLang="zh-CN" sz="1800">
                <a:solidFill>
                  <a:srgbClr val="FF0000"/>
                </a:solidFill>
                <a:latin typeface="Arial" panose="020B0604020202020204" pitchFamily="34" charset="0"/>
              </a:rPr>
              <a:t>2</a:t>
            </a:r>
            <a:r>
              <a:rPr lang="zh-CN" altLang="en-US" sz="1800">
                <a:solidFill>
                  <a:srgbClr val="FF0000"/>
                </a:solidFill>
                <a:latin typeface="Arial" panose="020B0604020202020204" pitchFamily="34" charset="0"/>
              </a:rPr>
              <a:t>、释放文件描述符</a:t>
            </a:r>
          </a:p>
          <a:p>
            <a:pPr algn="l" eaLnBrk="1" hangingPunct="1">
              <a:spcBef>
                <a:spcPct val="0"/>
              </a:spcBef>
              <a:buClrTx/>
              <a:buSzTx/>
              <a:buFontTx/>
              <a:buNone/>
            </a:pPr>
            <a:endParaRPr lang="zh-CN" altLang="en-US" sz="1800">
              <a:solidFill>
                <a:srgbClr val="FF0000"/>
              </a:solidFill>
              <a:latin typeface="Arial" panose="020B0604020202020204" pitchFamily="34" charset="0"/>
            </a:endParaRPr>
          </a:p>
          <a:p>
            <a:pPr algn="l" eaLnBrk="1" hangingPunct="1">
              <a:spcBef>
                <a:spcPct val="0"/>
              </a:spcBef>
              <a:buClrTx/>
              <a:buSzTx/>
              <a:buFontTx/>
              <a:buNone/>
            </a:pPr>
            <a:r>
              <a:rPr lang="en-US" altLang="zh-CN" sz="1800">
                <a:solidFill>
                  <a:srgbClr val="FF0000"/>
                </a:solidFill>
                <a:latin typeface="Arial" panose="020B0604020202020204" pitchFamily="34" charset="0"/>
              </a:rPr>
              <a:t>3</a:t>
            </a:r>
            <a:r>
              <a:rPr lang="zh-CN" altLang="en-US" sz="1800">
                <a:solidFill>
                  <a:srgbClr val="FF0000"/>
                </a:solidFill>
                <a:latin typeface="Arial" panose="020B0604020202020204" pitchFamily="34" charset="0"/>
              </a:rPr>
              <a:t>、调用</a:t>
            </a:r>
            <a:r>
              <a:rPr lang="en-US" altLang="zh-CN" sz="1800">
                <a:solidFill>
                  <a:srgbClr val="FF0000"/>
                </a:solidFill>
                <a:latin typeface="Arial" panose="020B0604020202020204" pitchFamily="34" charset="0"/>
              </a:rPr>
              <a:t>filp_close</a:t>
            </a:r>
          </a:p>
        </p:txBody>
      </p:sp>
    </p:spTree>
    <p:extLst>
      <p:ext uri="{BB962C8B-B14F-4D97-AF65-F5344CB8AC3E}">
        <p14:creationId xmlns:p14="http://schemas.microsoft.com/office/powerpoint/2010/main" val="3142510070"/>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endParaRPr lang="zh-CN" altLang="zh-CN" smtClean="0"/>
          </a:p>
        </p:txBody>
      </p:sp>
      <p:sp>
        <p:nvSpPr>
          <p:cNvPr id="109571" name="Rectangle 3"/>
          <p:cNvSpPr>
            <a:spLocks noGrp="1" noChangeArrowheads="1"/>
          </p:cNvSpPr>
          <p:nvPr>
            <p:ph type="body" idx="1"/>
          </p:nvPr>
        </p:nvSpPr>
        <p:spPr/>
        <p:txBody>
          <a:bodyPr/>
          <a:lstStyle/>
          <a:p>
            <a:pPr eaLnBrk="1" hangingPunct="1"/>
            <a:endParaRPr lang="zh-CN" altLang="zh-CN" smtClean="0"/>
          </a:p>
        </p:txBody>
      </p:sp>
      <p:pic>
        <p:nvPicPr>
          <p:cNvPr id="1095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908050"/>
            <a:ext cx="7927975" cy="543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3" name="Text Box 5"/>
          <p:cNvSpPr txBox="1">
            <a:spLocks noChangeArrowheads="1"/>
          </p:cNvSpPr>
          <p:nvPr/>
        </p:nvSpPr>
        <p:spPr bwMode="auto">
          <a:xfrm>
            <a:off x="6084888" y="4384675"/>
            <a:ext cx="3079750" cy="1465263"/>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en-US" altLang="zh-CN" sz="1800">
                <a:solidFill>
                  <a:srgbClr val="FF0000"/>
                </a:solidFill>
                <a:latin typeface="Arial" panose="020B0604020202020204" pitchFamily="34" charset="0"/>
              </a:rPr>
              <a:t>1</a:t>
            </a:r>
            <a:r>
              <a:rPr lang="zh-CN" altLang="en-US" sz="1800">
                <a:solidFill>
                  <a:srgbClr val="FF0000"/>
                </a:solidFill>
                <a:latin typeface="Arial" panose="020B0604020202020204" pitchFamily="34" charset="0"/>
              </a:rPr>
              <a:t>、调用文件操作的</a:t>
            </a:r>
            <a:r>
              <a:rPr lang="en-US" altLang="zh-CN" sz="1800">
                <a:solidFill>
                  <a:srgbClr val="FF0000"/>
                </a:solidFill>
                <a:latin typeface="Arial" panose="020B0604020202020204" pitchFamily="34" charset="0"/>
              </a:rPr>
              <a:t>flush</a:t>
            </a:r>
            <a:r>
              <a:rPr lang="zh-CN" altLang="en-US" sz="1800">
                <a:solidFill>
                  <a:srgbClr val="FF0000"/>
                </a:solidFill>
                <a:latin typeface="Arial" panose="020B0604020202020204" pitchFamily="34" charset="0"/>
              </a:rPr>
              <a:t>方法</a:t>
            </a:r>
          </a:p>
          <a:p>
            <a:pPr algn="l" eaLnBrk="1" hangingPunct="1">
              <a:spcBef>
                <a:spcPct val="0"/>
              </a:spcBef>
              <a:buClrTx/>
              <a:buSzTx/>
              <a:buFontTx/>
              <a:buNone/>
            </a:pPr>
            <a:endParaRPr lang="zh-CN" altLang="en-US" sz="1800">
              <a:solidFill>
                <a:srgbClr val="FF0000"/>
              </a:solidFill>
              <a:latin typeface="Arial" panose="020B0604020202020204" pitchFamily="34" charset="0"/>
            </a:endParaRPr>
          </a:p>
          <a:p>
            <a:pPr algn="l" eaLnBrk="1" hangingPunct="1">
              <a:spcBef>
                <a:spcPct val="0"/>
              </a:spcBef>
              <a:buClrTx/>
              <a:buSzTx/>
              <a:buFontTx/>
              <a:buNone/>
            </a:pPr>
            <a:r>
              <a:rPr lang="en-US" altLang="zh-CN" sz="1800">
                <a:solidFill>
                  <a:srgbClr val="FF0000"/>
                </a:solidFill>
                <a:latin typeface="Arial" panose="020B0604020202020204" pitchFamily="34" charset="0"/>
              </a:rPr>
              <a:t>2</a:t>
            </a:r>
            <a:r>
              <a:rPr lang="zh-CN" altLang="en-US" sz="1800">
                <a:solidFill>
                  <a:srgbClr val="FF0000"/>
                </a:solidFill>
                <a:latin typeface="Arial" panose="020B0604020202020204" pitchFamily="34" charset="0"/>
              </a:rPr>
              <a:t>、释放文件上的任何强制锁</a:t>
            </a:r>
          </a:p>
          <a:p>
            <a:pPr algn="l" eaLnBrk="1" hangingPunct="1">
              <a:spcBef>
                <a:spcPct val="0"/>
              </a:spcBef>
              <a:buClrTx/>
              <a:buSzTx/>
              <a:buFontTx/>
              <a:buNone/>
            </a:pPr>
            <a:endParaRPr lang="zh-CN" altLang="en-US" sz="1800">
              <a:solidFill>
                <a:srgbClr val="FF0000"/>
              </a:solidFill>
              <a:latin typeface="Arial" panose="020B0604020202020204" pitchFamily="34" charset="0"/>
            </a:endParaRPr>
          </a:p>
          <a:p>
            <a:pPr algn="l" eaLnBrk="1" hangingPunct="1">
              <a:spcBef>
                <a:spcPct val="0"/>
              </a:spcBef>
              <a:buClrTx/>
              <a:buSzTx/>
              <a:buFontTx/>
              <a:buNone/>
            </a:pPr>
            <a:r>
              <a:rPr lang="en-US" altLang="zh-CN" sz="1800">
                <a:solidFill>
                  <a:srgbClr val="FF0000"/>
                </a:solidFill>
                <a:latin typeface="Arial" panose="020B0604020202020204" pitchFamily="34" charset="0"/>
              </a:rPr>
              <a:t>3</a:t>
            </a:r>
            <a:r>
              <a:rPr lang="zh-CN" altLang="en-US" sz="1800">
                <a:solidFill>
                  <a:srgbClr val="FF0000"/>
                </a:solidFill>
                <a:latin typeface="Arial" panose="020B0604020202020204" pitchFamily="34" charset="0"/>
              </a:rPr>
              <a:t>、调用</a:t>
            </a:r>
            <a:r>
              <a:rPr lang="en-US" altLang="zh-CN" sz="1800">
                <a:solidFill>
                  <a:srgbClr val="FF0000"/>
                </a:solidFill>
                <a:latin typeface="Arial" panose="020B0604020202020204" pitchFamily="34" charset="0"/>
              </a:rPr>
              <a:t>fput</a:t>
            </a:r>
            <a:r>
              <a:rPr lang="zh-CN" altLang="en-US" sz="1800">
                <a:solidFill>
                  <a:srgbClr val="FF0000"/>
                </a:solidFill>
                <a:latin typeface="Arial" panose="020B0604020202020204" pitchFamily="34" charset="0"/>
              </a:rPr>
              <a:t>释放文件对象</a:t>
            </a:r>
          </a:p>
        </p:txBody>
      </p:sp>
    </p:spTree>
    <p:extLst>
      <p:ext uri="{BB962C8B-B14F-4D97-AF65-F5344CB8AC3E}">
        <p14:creationId xmlns:p14="http://schemas.microsoft.com/office/powerpoint/2010/main" val="56375271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900113" y="0"/>
            <a:ext cx="8421687" cy="1241425"/>
          </a:xfrm>
        </p:spPr>
        <p:txBody>
          <a:bodyPr/>
          <a:lstStyle/>
          <a:p>
            <a:pPr eaLnBrk="1" hangingPunct="1"/>
            <a:r>
              <a:rPr lang="en-US" altLang="zh-CN" sz="3800" dirty="0" smtClean="0"/>
              <a:t>7.7 </a:t>
            </a:r>
            <a:r>
              <a:rPr lang="zh-CN" altLang="en-US" sz="3800" dirty="0" smtClean="0"/>
              <a:t>进程与文件系统的联系</a:t>
            </a:r>
          </a:p>
        </p:txBody>
      </p:sp>
      <p:sp>
        <p:nvSpPr>
          <p:cNvPr id="117763" name="Rectangle 3"/>
          <p:cNvSpPr>
            <a:spLocks noGrp="1" noChangeArrowheads="1"/>
          </p:cNvSpPr>
          <p:nvPr>
            <p:ph type="body" idx="1"/>
          </p:nvPr>
        </p:nvSpPr>
        <p:spPr>
          <a:xfrm>
            <a:off x="304800" y="1295400"/>
            <a:ext cx="8153400" cy="5257800"/>
          </a:xfrm>
        </p:spPr>
        <p:txBody>
          <a:bodyPr/>
          <a:lstStyle/>
          <a:p>
            <a:pPr eaLnBrk="1" hangingPunct="1">
              <a:lnSpc>
                <a:spcPct val="90000"/>
              </a:lnSpc>
            </a:pPr>
            <a:r>
              <a:rPr lang="zh-CN" altLang="en-US" sz="2400" dirty="0" smtClean="0">
                <a:solidFill>
                  <a:srgbClr val="0000FF"/>
                </a:solidFill>
              </a:rPr>
              <a:t>三个与进程相关的结构</a:t>
            </a:r>
          </a:p>
          <a:p>
            <a:pPr lvl="1" eaLnBrk="1" hangingPunct="1">
              <a:lnSpc>
                <a:spcPct val="90000"/>
              </a:lnSpc>
            </a:pPr>
            <a:r>
              <a:rPr lang="zh-CN" altLang="en-US" sz="2400" dirty="0" smtClean="0">
                <a:solidFill>
                  <a:schemeClr val="accent2"/>
                </a:solidFill>
                <a:latin typeface="Times New Roman" panose="02020603050405020304" pitchFamily="18" charset="0"/>
              </a:rPr>
              <a:t>  </a:t>
            </a:r>
            <a:r>
              <a:rPr lang="en-US" altLang="zh-CN" sz="2400" dirty="0" err="1" smtClean="0">
                <a:solidFill>
                  <a:schemeClr val="accent2"/>
                </a:solidFill>
                <a:latin typeface="Times New Roman" panose="02020603050405020304" pitchFamily="18" charset="0"/>
                <a:hlinkClick r:id="rId3" action="ppaction://hlinkfile"/>
              </a:rPr>
              <a:t>files_struct</a:t>
            </a:r>
            <a:r>
              <a:rPr lang="zh-CN" altLang="en-US" sz="2400" dirty="0" smtClean="0">
                <a:solidFill>
                  <a:schemeClr val="accent2"/>
                </a:solidFill>
                <a:latin typeface="Times New Roman" panose="02020603050405020304" pitchFamily="18" charset="0"/>
              </a:rPr>
              <a:t>：</a:t>
            </a:r>
            <a:r>
              <a:rPr lang="zh-CN" altLang="en-US" sz="2400" dirty="0" smtClean="0">
                <a:latin typeface="Times New Roman" panose="02020603050405020304" pitchFamily="18" charset="0"/>
              </a:rPr>
              <a:t>描述被进程打开使用的文件信息。</a:t>
            </a:r>
            <a:r>
              <a:rPr lang="en-US" altLang="zh-CN" sz="2400" dirty="0" err="1" smtClean="0">
                <a:latin typeface="Times New Roman" panose="02020603050405020304" pitchFamily="18" charset="0"/>
              </a:rPr>
              <a:t>fd</a:t>
            </a:r>
            <a:r>
              <a:rPr lang="zh-CN" altLang="en-US" sz="2400" dirty="0" smtClean="0">
                <a:latin typeface="Times New Roman" panose="02020603050405020304" pitchFamily="18" charset="0"/>
              </a:rPr>
              <a:t>成员指向一个</a:t>
            </a:r>
            <a:r>
              <a:rPr lang="en-US" altLang="zh-CN" sz="2400" dirty="0" err="1" smtClean="0">
                <a:latin typeface="Times New Roman" panose="02020603050405020304" pitchFamily="18" charset="0"/>
              </a:rPr>
              <a:t>struct</a:t>
            </a:r>
            <a:r>
              <a:rPr lang="en-US" altLang="zh-CN" sz="2400" dirty="0" smtClean="0">
                <a:latin typeface="Times New Roman" panose="02020603050405020304" pitchFamily="18" charset="0"/>
              </a:rPr>
              <a:t> file </a:t>
            </a:r>
            <a:r>
              <a:rPr lang="zh-CN" altLang="en-US" sz="2400" dirty="0" smtClean="0">
                <a:latin typeface="Times New Roman" panose="02020603050405020304" pitchFamily="18" charset="0"/>
              </a:rPr>
              <a:t>数组，数组中的已使用项指向某个正被打开的文件对象，数组中的索引称为文件号，用户程序就是使用文件号对打开的文件进行操作</a:t>
            </a:r>
            <a:r>
              <a:rPr lang="en-US" altLang="zh-CN" sz="2400" dirty="0" smtClean="0">
                <a:latin typeface="Times New Roman" panose="02020603050405020304" pitchFamily="18" charset="0"/>
              </a:rPr>
              <a:t>---</a:t>
            </a:r>
            <a:r>
              <a:rPr lang="zh-CN" altLang="en-US" sz="2400" dirty="0" smtClean="0">
                <a:latin typeface="Times New Roman" panose="02020603050405020304" pitchFamily="18" charset="0"/>
              </a:rPr>
              <a:t>“</a:t>
            </a:r>
            <a:r>
              <a:rPr lang="zh-CN" altLang="en-US" sz="2400" dirty="0" smtClean="0">
                <a:solidFill>
                  <a:srgbClr val="FF0000"/>
                </a:solidFill>
                <a:latin typeface="Times New Roman" panose="02020603050405020304" pitchFamily="18" charset="0"/>
              </a:rPr>
              <a:t>进程打开文件表</a:t>
            </a:r>
            <a:r>
              <a:rPr lang="zh-CN" altLang="en-US" sz="2400" dirty="0" smtClean="0">
                <a:latin typeface="Times New Roman" panose="02020603050405020304" pitchFamily="18" charset="0"/>
              </a:rPr>
              <a:t>”</a:t>
            </a:r>
          </a:p>
          <a:p>
            <a:pPr lvl="1" eaLnBrk="1" hangingPunct="1">
              <a:lnSpc>
                <a:spcPct val="90000"/>
              </a:lnSpc>
            </a:pPr>
            <a:r>
              <a:rPr lang="zh-CN" altLang="en-US" sz="2400" dirty="0" smtClean="0">
                <a:solidFill>
                  <a:schemeClr val="accent2"/>
                </a:solidFill>
                <a:latin typeface="Times New Roman" panose="02020603050405020304" pitchFamily="18" charset="0"/>
              </a:rPr>
              <a:t> </a:t>
            </a:r>
            <a:r>
              <a:rPr lang="en-US" altLang="zh-CN" sz="2400" dirty="0" err="1" smtClean="0">
                <a:solidFill>
                  <a:schemeClr val="accent2"/>
                </a:solidFill>
                <a:latin typeface="Times New Roman" panose="02020603050405020304" pitchFamily="18" charset="0"/>
                <a:hlinkClick r:id="rId4" action="ppaction://hlinkfile"/>
              </a:rPr>
              <a:t>fs_struct</a:t>
            </a:r>
            <a:r>
              <a:rPr lang="zh-CN" altLang="en-US" sz="2400" dirty="0" smtClean="0">
                <a:solidFill>
                  <a:schemeClr val="accent2"/>
                </a:solidFill>
                <a:latin typeface="Times New Roman" panose="02020603050405020304" pitchFamily="18" charset="0"/>
              </a:rPr>
              <a:t>：</a:t>
            </a:r>
            <a:r>
              <a:rPr lang="zh-CN" altLang="en-US" sz="2400" dirty="0" smtClean="0">
                <a:latin typeface="Times New Roman" panose="02020603050405020304" pitchFamily="18" charset="0"/>
              </a:rPr>
              <a:t>主要有两个指向索引节点的指针，</a:t>
            </a:r>
            <a:r>
              <a:rPr lang="en-US" altLang="zh-CN" sz="2400" dirty="0" err="1" smtClean="0">
                <a:latin typeface="Times New Roman" panose="02020603050405020304" pitchFamily="18" charset="0"/>
              </a:rPr>
              <a:t>pwd</a:t>
            </a:r>
            <a:r>
              <a:rPr lang="zh-CN" altLang="en-US" sz="2400" dirty="0" smtClean="0">
                <a:latin typeface="Times New Roman" panose="02020603050405020304" pitchFamily="18" charset="0"/>
              </a:rPr>
              <a:t>指向当前工作目录的索引节点；</a:t>
            </a:r>
            <a:r>
              <a:rPr lang="en-US" altLang="zh-CN" sz="2400" dirty="0" smtClean="0">
                <a:latin typeface="Times New Roman" panose="02020603050405020304" pitchFamily="18" charset="0"/>
              </a:rPr>
              <a:t>root</a:t>
            </a:r>
            <a:r>
              <a:rPr lang="zh-CN" altLang="en-US" sz="2400" dirty="0" smtClean="0">
                <a:latin typeface="Times New Roman" panose="02020603050405020304" pitchFamily="18" charset="0"/>
              </a:rPr>
              <a:t>指向当前工作目录所在文件系统的根目录的索引节点</a:t>
            </a:r>
            <a:r>
              <a:rPr lang="en-US" altLang="zh-CN" sz="2400" dirty="0" smtClean="0">
                <a:latin typeface="Times New Roman" panose="02020603050405020304" pitchFamily="18" charset="0"/>
              </a:rPr>
              <a:t>--</a:t>
            </a:r>
            <a:r>
              <a:rPr lang="zh-CN" altLang="en-US" sz="2400" dirty="0" smtClean="0">
                <a:latin typeface="Times New Roman" panose="02020603050405020304" pitchFamily="18" charset="0"/>
              </a:rPr>
              <a:t>“</a:t>
            </a:r>
            <a:r>
              <a:rPr lang="zh-CN" altLang="en-US" sz="2400" dirty="0" smtClean="0">
                <a:solidFill>
                  <a:srgbClr val="FF0000"/>
                </a:solidFill>
                <a:latin typeface="Times New Roman" panose="02020603050405020304" pitchFamily="18" charset="0"/>
              </a:rPr>
              <a:t>描述进程与文件系统的关系</a:t>
            </a:r>
            <a:r>
              <a:rPr lang="zh-CN" altLang="en-US" dirty="0" smtClean="0"/>
              <a:t> </a:t>
            </a:r>
            <a:r>
              <a:rPr lang="zh-CN" altLang="en-US" sz="2400" dirty="0" smtClean="0">
                <a:latin typeface="Times New Roman" panose="02020603050405020304" pitchFamily="18" charset="0"/>
              </a:rPr>
              <a:t>” </a:t>
            </a:r>
          </a:p>
          <a:p>
            <a:pPr lvl="1" eaLnBrk="1" hangingPunct="1">
              <a:lnSpc>
                <a:spcPct val="90000"/>
              </a:lnSpc>
            </a:pPr>
            <a:r>
              <a:rPr lang="en-US" altLang="zh-CN" sz="2400" dirty="0" smtClean="0">
                <a:solidFill>
                  <a:schemeClr val="accent2"/>
                </a:solidFill>
                <a:latin typeface="Times New Roman" panose="02020603050405020304" pitchFamily="18" charset="0"/>
                <a:hlinkClick r:id="rId5" action="ppaction://hlinkfile"/>
              </a:rPr>
              <a:t>file</a:t>
            </a:r>
            <a:r>
              <a:rPr lang="zh-CN" altLang="en-US" sz="2400" dirty="0" smtClean="0">
                <a:solidFill>
                  <a:schemeClr val="accent2"/>
                </a:solidFill>
                <a:latin typeface="Times New Roman" panose="02020603050405020304" pitchFamily="18" charset="0"/>
                <a:hlinkClick r:id="rId5" action="ppaction://hlinkfile"/>
              </a:rPr>
              <a:t>结构</a:t>
            </a:r>
            <a:r>
              <a:rPr lang="zh-CN" altLang="en-US" sz="2400" dirty="0" smtClean="0">
                <a:solidFill>
                  <a:schemeClr val="accent2"/>
                </a:solidFill>
                <a:latin typeface="Times New Roman" panose="02020603050405020304" pitchFamily="18" charset="0"/>
              </a:rPr>
              <a:t>：</a:t>
            </a:r>
            <a:r>
              <a:rPr lang="zh-CN" altLang="en-US" sz="2400" dirty="0" smtClean="0">
                <a:latin typeface="Times New Roman" panose="02020603050405020304" pitchFamily="18" charset="0"/>
              </a:rPr>
              <a:t>表示文件，其中有一组操作函数，保存在结构“</a:t>
            </a:r>
            <a:r>
              <a:rPr lang="en-US" altLang="zh-CN" sz="2400" dirty="0" err="1" smtClean="0">
                <a:latin typeface="Times New Roman" panose="02020603050405020304" pitchFamily="18" charset="0"/>
              </a:rPr>
              <a:t>struct</a:t>
            </a:r>
            <a:r>
              <a:rPr lang="en-US" altLang="zh-CN" sz="2400" dirty="0" smtClean="0">
                <a:latin typeface="Times New Roman" panose="02020603050405020304" pitchFamily="18" charset="0"/>
              </a:rPr>
              <a:t> </a:t>
            </a:r>
            <a:r>
              <a:rPr lang="en-US" altLang="zh-CN" sz="2400" dirty="0" err="1" smtClean="0">
                <a:latin typeface="Times New Roman" panose="02020603050405020304" pitchFamily="18" charset="0"/>
              </a:rPr>
              <a:t>file_operations</a:t>
            </a:r>
            <a:r>
              <a:rPr lang="en-US" altLang="zh-CN" sz="2400" dirty="0" smtClean="0">
                <a:latin typeface="Times New Roman" panose="02020603050405020304" pitchFamily="18" charset="0"/>
              </a:rPr>
              <a:t>”</a:t>
            </a:r>
            <a:r>
              <a:rPr lang="zh-CN" altLang="en-US" sz="2400" dirty="0" smtClean="0">
                <a:latin typeface="Times New Roman" panose="02020603050405020304" pitchFamily="18" charset="0"/>
              </a:rPr>
              <a:t>中，它在</a:t>
            </a:r>
            <a:r>
              <a:rPr lang="en-US" altLang="zh-CN" sz="2400" dirty="0" err="1" smtClean="0">
                <a:latin typeface="Times New Roman" panose="02020603050405020304" pitchFamily="18" charset="0"/>
              </a:rPr>
              <a:t>linux</a:t>
            </a:r>
            <a:r>
              <a:rPr lang="en-US" altLang="zh-CN" sz="2400" dirty="0" smtClean="0">
                <a:latin typeface="Times New Roman" panose="02020603050405020304" pitchFamily="18" charset="0"/>
              </a:rPr>
              <a:t>/</a:t>
            </a:r>
            <a:r>
              <a:rPr lang="en-US" altLang="zh-CN" sz="2400" dirty="0" err="1" smtClean="0">
                <a:latin typeface="Times New Roman" panose="02020603050405020304" pitchFamily="18" charset="0"/>
              </a:rPr>
              <a:t>fs.h</a:t>
            </a:r>
            <a:r>
              <a:rPr lang="zh-CN" altLang="en-US" sz="2400" dirty="0" smtClean="0">
                <a:latin typeface="Times New Roman" panose="02020603050405020304" pitchFamily="18" charset="0"/>
              </a:rPr>
              <a:t>中被定义。这些操作用来将</a:t>
            </a:r>
            <a:r>
              <a:rPr lang="en-US" altLang="zh-CN" sz="2400" dirty="0" smtClean="0">
                <a:latin typeface="Times New Roman" panose="02020603050405020304" pitchFamily="18" charset="0"/>
              </a:rPr>
              <a:t>VFS</a:t>
            </a:r>
            <a:r>
              <a:rPr lang="zh-CN" altLang="en-US" sz="2400" dirty="0" smtClean="0">
                <a:latin typeface="Times New Roman" panose="02020603050405020304" pitchFamily="18" charset="0"/>
              </a:rPr>
              <a:t>对</a:t>
            </a:r>
            <a:r>
              <a:rPr lang="en-US" altLang="zh-CN" sz="2400" dirty="0" smtClean="0">
                <a:latin typeface="Times New Roman" panose="02020603050405020304" pitchFamily="18" charset="0"/>
              </a:rPr>
              <a:t>file</a:t>
            </a:r>
            <a:r>
              <a:rPr lang="zh-CN" altLang="en-US" sz="2400" dirty="0" smtClean="0">
                <a:latin typeface="Times New Roman" panose="02020603050405020304" pitchFamily="18" charset="0"/>
              </a:rPr>
              <a:t>结构的操作转化为文件系统处理相应操作的函数。</a:t>
            </a:r>
          </a:p>
        </p:txBody>
      </p:sp>
    </p:spTree>
    <p:extLst>
      <p:ext uri="{BB962C8B-B14F-4D97-AF65-F5344CB8AC3E}">
        <p14:creationId xmlns:p14="http://schemas.microsoft.com/office/powerpoint/2010/main" val="127084106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152400" y="0"/>
            <a:ext cx="8421688" cy="1241425"/>
          </a:xfrm>
        </p:spPr>
        <p:txBody>
          <a:bodyPr/>
          <a:lstStyle/>
          <a:p>
            <a:pPr eaLnBrk="1" hangingPunct="1"/>
            <a:r>
              <a:rPr lang="zh-CN" altLang="en-US" sz="3800" smtClean="0"/>
              <a:t>系统打开文件表</a:t>
            </a:r>
          </a:p>
        </p:txBody>
      </p:sp>
      <p:sp>
        <p:nvSpPr>
          <p:cNvPr id="118787" name="Rectangle 3"/>
          <p:cNvSpPr>
            <a:spLocks noGrp="1" noChangeArrowheads="1"/>
          </p:cNvSpPr>
          <p:nvPr>
            <p:ph type="body" idx="1"/>
          </p:nvPr>
        </p:nvSpPr>
        <p:spPr>
          <a:xfrm>
            <a:off x="323850" y="1196975"/>
            <a:ext cx="8569325" cy="5257800"/>
          </a:xfrm>
        </p:spPr>
        <p:txBody>
          <a:bodyPr/>
          <a:lstStyle/>
          <a:p>
            <a:pPr eaLnBrk="1" hangingPunct="1">
              <a:lnSpc>
                <a:spcPct val="115000"/>
              </a:lnSpc>
            </a:pPr>
            <a:r>
              <a:rPr lang="zh-CN" altLang="en-US" smtClean="0">
                <a:solidFill>
                  <a:srgbClr val="0000FF"/>
                </a:solidFill>
              </a:rPr>
              <a:t>系统打开文件表：</a:t>
            </a:r>
            <a:r>
              <a:rPr lang="en-US" altLang="zh-CN" smtClean="0">
                <a:latin typeface="宋体" panose="02010600030101010101" pitchFamily="2" charset="-122"/>
              </a:rPr>
              <a:t>Linux</a:t>
            </a:r>
            <a:r>
              <a:rPr lang="zh-CN" altLang="en-US" smtClean="0">
                <a:latin typeface="宋体" panose="02010600030101010101" pitchFamily="2" charset="-122"/>
              </a:rPr>
              <a:t>系统内核把所有进程打开的文件集中管理， 把它们组成</a:t>
            </a:r>
            <a:r>
              <a:rPr lang="zh-CN" altLang="en-US" smtClean="0"/>
              <a:t>“</a:t>
            </a:r>
            <a:r>
              <a:rPr lang="zh-CN" altLang="en-US" smtClean="0">
                <a:solidFill>
                  <a:srgbClr val="0000FF"/>
                </a:solidFill>
                <a:latin typeface="宋体" panose="02010600030101010101" pitchFamily="2" charset="-122"/>
              </a:rPr>
              <a:t>系统打开文件表</a:t>
            </a:r>
            <a:r>
              <a:rPr lang="zh-CN" altLang="en-US" smtClean="0"/>
              <a:t>”</a:t>
            </a:r>
            <a:r>
              <a:rPr lang="zh-CN" altLang="en-US" smtClean="0">
                <a:latin typeface="宋体" panose="02010600030101010101" pitchFamily="2" charset="-122"/>
              </a:rPr>
              <a:t>。</a:t>
            </a:r>
          </a:p>
          <a:p>
            <a:pPr lvl="1" eaLnBrk="1" hangingPunct="1">
              <a:lnSpc>
                <a:spcPct val="115000"/>
              </a:lnSpc>
            </a:pPr>
            <a:r>
              <a:rPr lang="zh-CN" altLang="en-US" sz="2800" smtClean="0">
                <a:latin typeface="宋体" panose="02010600030101010101" pitchFamily="2" charset="-122"/>
              </a:rPr>
              <a:t> 系统打开文件表是一个</a:t>
            </a:r>
            <a:r>
              <a:rPr lang="zh-CN" altLang="en-US" sz="2800" smtClean="0">
                <a:solidFill>
                  <a:srgbClr val="FF0000"/>
                </a:solidFill>
                <a:latin typeface="宋体" panose="02010600030101010101" pitchFamily="2" charset="-122"/>
              </a:rPr>
              <a:t>双向链表</a:t>
            </a:r>
            <a:r>
              <a:rPr lang="zh-CN" altLang="en-US" sz="2800" smtClean="0">
                <a:latin typeface="宋体" panose="02010600030101010101" pitchFamily="2" charset="-122"/>
              </a:rPr>
              <a:t>，它的每个表项（节点）是一个</a:t>
            </a:r>
            <a:r>
              <a:rPr lang="en-US" altLang="zh-CN" sz="2800" smtClean="0">
                <a:solidFill>
                  <a:srgbClr val="FF0000"/>
                </a:solidFill>
                <a:latin typeface="宋体" panose="02010600030101010101" pitchFamily="2" charset="-122"/>
              </a:rPr>
              <a:t>file</a:t>
            </a:r>
            <a:r>
              <a:rPr lang="zh-CN" altLang="en-US" sz="2800" smtClean="0">
                <a:solidFill>
                  <a:srgbClr val="FF0000"/>
                </a:solidFill>
                <a:latin typeface="宋体" panose="02010600030101010101" pitchFamily="2" charset="-122"/>
              </a:rPr>
              <a:t>结构</a:t>
            </a:r>
            <a:r>
              <a:rPr lang="zh-CN" altLang="en-US" sz="2800" smtClean="0">
                <a:latin typeface="宋体" panose="02010600030101010101" pitchFamily="2" charset="-122"/>
              </a:rPr>
              <a:t>，称为</a:t>
            </a:r>
            <a:r>
              <a:rPr lang="zh-CN" altLang="en-US" sz="2800" smtClean="0">
                <a:solidFill>
                  <a:srgbClr val="FF0000"/>
                </a:solidFill>
                <a:latin typeface="宋体" panose="02010600030101010101" pitchFamily="2" charset="-122"/>
              </a:rPr>
              <a:t>文件描述符</a:t>
            </a:r>
            <a:r>
              <a:rPr lang="zh-CN" altLang="en-US" sz="2800" smtClean="0">
                <a:latin typeface="宋体" panose="02010600030101010101" pitchFamily="2" charset="-122"/>
              </a:rPr>
              <a:t>，其中存放着一个已打开文件的</a:t>
            </a:r>
            <a:r>
              <a:rPr lang="zh-CN" altLang="en-US" sz="2800" smtClean="0">
                <a:solidFill>
                  <a:srgbClr val="FF0000"/>
                </a:solidFill>
                <a:latin typeface="宋体" panose="02010600030101010101" pitchFamily="2" charset="-122"/>
              </a:rPr>
              <a:t>管理控制信息</a:t>
            </a:r>
          </a:p>
          <a:p>
            <a:pPr lvl="1" eaLnBrk="1" hangingPunct="1">
              <a:lnSpc>
                <a:spcPct val="115000"/>
              </a:lnSpc>
            </a:pPr>
            <a:r>
              <a:rPr lang="zh-CN" altLang="en-US" sz="2800" smtClean="0">
                <a:latin typeface="宋体" panose="02010600030101010101" pitchFamily="2" charset="-122"/>
              </a:rPr>
              <a:t> 进程</a:t>
            </a:r>
            <a:r>
              <a:rPr lang="zh-CN" altLang="en-US" sz="2800" smtClean="0">
                <a:solidFill>
                  <a:srgbClr val="FF0000"/>
                </a:solidFill>
                <a:latin typeface="宋体" panose="02010600030101010101" pitchFamily="2" charset="-122"/>
              </a:rPr>
              <a:t>每次打开一个文件</a:t>
            </a:r>
            <a:r>
              <a:rPr lang="zh-CN" altLang="en-US" sz="2800" smtClean="0">
                <a:latin typeface="宋体" panose="02010600030101010101" pitchFamily="2" charset="-122"/>
              </a:rPr>
              <a:t>就</a:t>
            </a:r>
            <a:r>
              <a:rPr lang="zh-CN" altLang="en-US" sz="2800" smtClean="0">
                <a:solidFill>
                  <a:srgbClr val="000080"/>
                </a:solidFill>
                <a:latin typeface="宋体" panose="02010600030101010101" pitchFamily="2" charset="-122"/>
              </a:rPr>
              <a:t>建立一个</a:t>
            </a:r>
            <a:r>
              <a:rPr lang="en-US" altLang="zh-CN" sz="2800" smtClean="0">
                <a:solidFill>
                  <a:srgbClr val="000080"/>
                </a:solidFill>
                <a:latin typeface="宋体" panose="02010600030101010101" pitchFamily="2" charset="-122"/>
              </a:rPr>
              <a:t>file</a:t>
            </a:r>
            <a:r>
              <a:rPr lang="zh-CN" altLang="en-US" sz="2800" smtClean="0">
                <a:solidFill>
                  <a:srgbClr val="000080"/>
                </a:solidFill>
                <a:latin typeface="宋体" panose="02010600030101010101" pitchFamily="2" charset="-122"/>
              </a:rPr>
              <a:t>结构体</a:t>
            </a:r>
            <a:r>
              <a:rPr lang="zh-CN" altLang="en-US" sz="2800" smtClean="0">
                <a:latin typeface="宋体" panose="02010600030101010101" pitchFamily="2" charset="-122"/>
              </a:rPr>
              <a:t>，并把它加入到系统打开文件链表中</a:t>
            </a:r>
          </a:p>
          <a:p>
            <a:pPr lvl="1" eaLnBrk="1" hangingPunct="1">
              <a:lnSpc>
                <a:spcPct val="115000"/>
              </a:lnSpc>
            </a:pPr>
            <a:r>
              <a:rPr lang="zh-CN" altLang="en-US" sz="2800" smtClean="0">
                <a:latin typeface="宋体" panose="02010600030101010101" pitchFamily="2" charset="-122"/>
              </a:rPr>
              <a:t> 全局变量</a:t>
            </a:r>
            <a:r>
              <a:rPr lang="en-US" altLang="zh-CN" sz="2800" smtClean="0">
                <a:solidFill>
                  <a:srgbClr val="FF0000"/>
                </a:solidFill>
                <a:latin typeface="宋体" panose="02010600030101010101" pitchFamily="2" charset="-122"/>
              </a:rPr>
              <a:t>first_file</a:t>
            </a:r>
            <a:r>
              <a:rPr lang="zh-CN" altLang="en-US" sz="2800" smtClean="0">
                <a:latin typeface="宋体" panose="02010600030101010101" pitchFamily="2" charset="-122"/>
              </a:rPr>
              <a:t>指向系统打开文件表的</a:t>
            </a:r>
            <a:r>
              <a:rPr lang="zh-CN" altLang="en-US" sz="2800" smtClean="0">
                <a:solidFill>
                  <a:srgbClr val="FF0000"/>
                </a:solidFill>
                <a:latin typeface="宋体" panose="02010600030101010101" pitchFamily="2" charset="-122"/>
              </a:rPr>
              <a:t>表头</a:t>
            </a:r>
            <a:r>
              <a:rPr lang="zh-CN" altLang="en-US" sz="2800" smtClean="0">
                <a:latin typeface="宋体" panose="02010600030101010101" pitchFamily="2" charset="-122"/>
              </a:rPr>
              <a:t>。</a:t>
            </a:r>
          </a:p>
          <a:p>
            <a:pPr eaLnBrk="1" hangingPunct="1">
              <a:lnSpc>
                <a:spcPct val="80000"/>
              </a:lnSpc>
            </a:pPr>
            <a:endParaRPr lang="zh-CN" altLang="en-US" smtClean="0"/>
          </a:p>
          <a:p>
            <a:pPr eaLnBrk="1" hangingPunct="1">
              <a:lnSpc>
                <a:spcPct val="80000"/>
              </a:lnSpc>
              <a:buFont typeface="Wingdings" panose="05000000000000000000" pitchFamily="2" charset="2"/>
              <a:buNone/>
            </a:pPr>
            <a:endParaRPr lang="en-US" altLang="zh-CN" smtClean="0"/>
          </a:p>
        </p:txBody>
      </p:sp>
    </p:spTree>
    <p:extLst>
      <p:ext uri="{BB962C8B-B14F-4D97-AF65-F5344CB8AC3E}">
        <p14:creationId xmlns:p14="http://schemas.microsoft.com/office/powerpoint/2010/main" val="282111937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r>
              <a:rPr lang="en-US" altLang="zh-CN" smtClean="0"/>
              <a:t>file</a:t>
            </a:r>
            <a:r>
              <a:rPr lang="zh-CN" altLang="en-US" smtClean="0"/>
              <a:t>结构</a:t>
            </a:r>
          </a:p>
        </p:txBody>
      </p:sp>
      <p:sp>
        <p:nvSpPr>
          <p:cNvPr id="119811" name="Rectangle 3"/>
          <p:cNvSpPr>
            <a:spLocks noGrp="1" noChangeArrowheads="1"/>
          </p:cNvSpPr>
          <p:nvPr>
            <p:ph type="body" idx="1"/>
          </p:nvPr>
        </p:nvSpPr>
        <p:spPr>
          <a:xfrm>
            <a:off x="468313" y="1125538"/>
            <a:ext cx="8424862" cy="5148262"/>
          </a:xfrm>
        </p:spPr>
        <p:txBody>
          <a:bodyPr/>
          <a:lstStyle/>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Struct file {</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struct list_head	    f_list;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a:t>
            </a:r>
            <a:r>
              <a:rPr kumimoji="1" lang="en-US" altLang="zh-CN" sz="1800" smtClean="0">
                <a:solidFill>
                  <a:schemeClr val="accent2"/>
                </a:solidFill>
                <a:latin typeface="Times New Roman" panose="02020603050405020304" pitchFamily="18" charset="0"/>
              </a:rPr>
              <a:t>struct dentry	   *f_dentry; /*</a:t>
            </a:r>
            <a:r>
              <a:rPr kumimoji="1" lang="zh-CN" altLang="en-US" sz="1800" smtClean="0">
                <a:solidFill>
                  <a:schemeClr val="accent2"/>
                </a:solidFill>
                <a:latin typeface="Times New Roman" panose="02020603050405020304" pitchFamily="18" charset="0"/>
              </a:rPr>
              <a:t>指向文件所在目录*</a:t>
            </a:r>
            <a:r>
              <a:rPr kumimoji="1" lang="en-US" altLang="zh-CN" sz="1800" smtClean="0">
                <a:solidFill>
                  <a:schemeClr val="accent2"/>
                </a:solidFill>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solidFill>
                  <a:schemeClr val="accent2"/>
                </a:solidFill>
                <a:latin typeface="Times New Roman" panose="02020603050405020304" pitchFamily="18" charset="0"/>
              </a:rPr>
              <a:t>	</a:t>
            </a:r>
            <a:r>
              <a:rPr kumimoji="1" lang="en-US" altLang="zh-CN" sz="1800" smtClean="0">
                <a:latin typeface="Times New Roman" panose="02020603050405020304" pitchFamily="18" charset="0"/>
              </a:rPr>
              <a:t>struct vfsmount         *f_vfsmnt;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atomic_t		f_count; /* </a:t>
            </a:r>
            <a:r>
              <a:rPr kumimoji="1" lang="zh-CN" altLang="en-US" sz="1800" smtClean="0">
                <a:latin typeface="Times New Roman" panose="02020603050405020304" pitchFamily="18" charset="0"/>
              </a:rPr>
              <a:t>共享该结构体的计数值 *</a:t>
            </a:r>
            <a:r>
              <a:rPr kumimoji="1" lang="en-US" altLang="zh-CN" sz="1800" smtClean="0">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unsigned int 		f_flags;	</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mode_t </a:t>
            </a:r>
            <a:r>
              <a:rPr kumimoji="1" lang="en-US" altLang="zh-CN" sz="1800" smtClean="0">
                <a:solidFill>
                  <a:srgbClr val="0000FF"/>
                </a:solidFill>
                <a:latin typeface="Times New Roman" panose="02020603050405020304" pitchFamily="18" charset="0"/>
              </a:rPr>
              <a:t>f_mode;</a:t>
            </a:r>
            <a:r>
              <a:rPr kumimoji="1" lang="en-US" altLang="zh-CN" sz="1800" smtClean="0">
                <a:latin typeface="Times New Roman" panose="02020603050405020304" pitchFamily="18" charset="0"/>
              </a:rPr>
              <a:t>   /* </a:t>
            </a:r>
            <a:r>
              <a:rPr kumimoji="1" lang="zh-CN" altLang="en-US" sz="1800" smtClean="0">
                <a:solidFill>
                  <a:srgbClr val="800080"/>
                </a:solidFill>
                <a:latin typeface="Times New Roman" panose="02020603050405020304" pitchFamily="18" charset="0"/>
              </a:rPr>
              <a:t>文件的打开模式</a:t>
            </a:r>
            <a:r>
              <a:rPr kumimoji="1" lang="zh-CN" altLang="en-US" sz="1800" smtClean="0">
                <a:latin typeface="Times New Roman" panose="02020603050405020304" pitchFamily="18" charset="0"/>
              </a:rPr>
              <a:t> *</a:t>
            </a:r>
            <a:r>
              <a:rPr kumimoji="1" lang="en-US" altLang="zh-CN" sz="1800" smtClean="0">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loff_t </a:t>
            </a:r>
            <a:r>
              <a:rPr kumimoji="1" lang="en-US" altLang="zh-CN" sz="1800" smtClean="0">
                <a:solidFill>
                  <a:srgbClr val="0000FF"/>
                </a:solidFill>
                <a:latin typeface="Times New Roman" panose="02020603050405020304" pitchFamily="18" charset="0"/>
              </a:rPr>
              <a:t>f_pos; </a:t>
            </a:r>
            <a:r>
              <a:rPr kumimoji="1" lang="en-US" altLang="zh-CN" sz="1800" smtClean="0">
                <a:latin typeface="Times New Roman" panose="02020603050405020304" pitchFamily="18" charset="0"/>
              </a:rPr>
              <a:t>   /* </a:t>
            </a:r>
            <a:r>
              <a:rPr kumimoji="1" lang="zh-CN" altLang="en-US" sz="1800" smtClean="0">
                <a:solidFill>
                  <a:srgbClr val="800080"/>
                </a:solidFill>
                <a:latin typeface="Times New Roman" panose="02020603050405020304" pitchFamily="18" charset="0"/>
              </a:rPr>
              <a:t>文件的当前读写位置 </a:t>
            </a:r>
            <a:r>
              <a:rPr kumimoji="1" lang="zh-CN" altLang="en-US" sz="1800" smtClean="0">
                <a:latin typeface="Times New Roman" panose="02020603050405020304" pitchFamily="18" charset="0"/>
              </a:rPr>
              <a:t>*</a:t>
            </a:r>
            <a:r>
              <a:rPr kumimoji="1" lang="en-US" altLang="zh-CN" sz="1800" smtClean="0">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unsigned short </a:t>
            </a:r>
            <a:r>
              <a:rPr kumimoji="1" lang="en-US" altLang="zh-CN" sz="1800" smtClean="0">
                <a:solidFill>
                  <a:srgbClr val="0000FF"/>
                </a:solidFill>
                <a:latin typeface="Times New Roman" panose="02020603050405020304" pitchFamily="18" charset="0"/>
              </a:rPr>
              <a:t>f_flags</a:t>
            </a:r>
            <a:r>
              <a:rPr kumimoji="1" lang="en-US" altLang="zh-CN" sz="1800" smtClean="0">
                <a:latin typeface="Times New Roman" panose="02020603050405020304" pitchFamily="18" charset="0"/>
              </a:rPr>
              <a:t>; /* </a:t>
            </a:r>
            <a:r>
              <a:rPr kumimoji="1" lang="zh-CN" altLang="en-US" sz="1800" smtClean="0">
                <a:solidFill>
                  <a:srgbClr val="800080"/>
                </a:solidFill>
                <a:latin typeface="Times New Roman" panose="02020603050405020304" pitchFamily="18" charset="0"/>
              </a:rPr>
              <a:t>文件操作标志</a:t>
            </a:r>
            <a:r>
              <a:rPr kumimoji="1" lang="zh-CN" altLang="en-US" sz="1800" smtClean="0">
                <a:latin typeface="Times New Roman" panose="02020603050405020304" pitchFamily="18" charset="0"/>
              </a:rPr>
              <a:t> *</a:t>
            </a:r>
            <a:r>
              <a:rPr kumimoji="1" lang="en-US" altLang="zh-CN" sz="1800" smtClean="0">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unsigned long </a:t>
            </a:r>
            <a:r>
              <a:rPr kumimoji="1" lang="en-US" altLang="zh-CN" sz="1800" smtClean="0">
                <a:solidFill>
                  <a:srgbClr val="0000FF"/>
                </a:solidFill>
                <a:latin typeface="Times New Roman" panose="02020603050405020304" pitchFamily="18" charset="0"/>
              </a:rPr>
              <a:t>f_reada, f_ramax, f_raend, f_ralen, f_rawin</a:t>
            </a:r>
            <a:r>
              <a:rPr kumimoji="1" lang="en-US" altLang="zh-CN" sz="1800" smtClean="0">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struct file *f_next, *</a:t>
            </a:r>
            <a:r>
              <a:rPr kumimoji="1" lang="en-US" altLang="zh-CN" sz="1800" smtClean="0">
                <a:solidFill>
                  <a:srgbClr val="0000FF"/>
                </a:solidFill>
                <a:latin typeface="Times New Roman" panose="02020603050405020304" pitchFamily="18" charset="0"/>
              </a:rPr>
              <a:t>f_prev;</a:t>
            </a:r>
            <a:r>
              <a:rPr kumimoji="1" lang="en-US" altLang="zh-CN" sz="1800" smtClean="0">
                <a:latin typeface="Times New Roman" panose="02020603050405020304" pitchFamily="18" charset="0"/>
              </a:rPr>
              <a:t> /* </a:t>
            </a:r>
            <a:r>
              <a:rPr kumimoji="1" lang="zh-CN" altLang="en-US" sz="1800" smtClean="0">
                <a:solidFill>
                  <a:srgbClr val="800080"/>
                </a:solidFill>
                <a:latin typeface="Times New Roman" panose="02020603050405020304" pitchFamily="18" charset="0"/>
              </a:rPr>
              <a:t>链接前后节点的指针</a:t>
            </a:r>
            <a:r>
              <a:rPr kumimoji="1" lang="zh-CN" altLang="en-US" sz="1800" smtClean="0">
                <a:latin typeface="Times New Roman" panose="02020603050405020304" pitchFamily="18" charset="0"/>
              </a:rPr>
              <a:t> *</a:t>
            </a:r>
            <a:r>
              <a:rPr kumimoji="1" lang="en-US" altLang="zh-CN" sz="1800" smtClean="0">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struct fown_struct </a:t>
            </a:r>
            <a:r>
              <a:rPr kumimoji="1" lang="en-US" altLang="zh-CN" sz="1800" smtClean="0">
                <a:solidFill>
                  <a:srgbClr val="0000FF"/>
                </a:solidFill>
                <a:latin typeface="Times New Roman" panose="02020603050405020304" pitchFamily="18" charset="0"/>
              </a:rPr>
              <a:t>f_owner</a:t>
            </a:r>
            <a:r>
              <a:rPr kumimoji="1" lang="en-US" altLang="zh-CN" sz="1800" smtClean="0">
                <a:latin typeface="Times New Roman" panose="02020603050405020304" pitchFamily="18" charset="0"/>
              </a:rPr>
              <a:t>;   /* </a:t>
            </a:r>
            <a:r>
              <a:rPr kumimoji="1" lang="en-US" altLang="zh-CN" sz="1800" smtClean="0">
                <a:solidFill>
                  <a:srgbClr val="800080"/>
                </a:solidFill>
                <a:latin typeface="Times New Roman" panose="02020603050405020304" pitchFamily="18" charset="0"/>
              </a:rPr>
              <a:t>SIGIO</a:t>
            </a:r>
            <a:r>
              <a:rPr kumimoji="1" lang="zh-CN" altLang="en-US" sz="1800" smtClean="0">
                <a:solidFill>
                  <a:srgbClr val="800080"/>
                </a:solidFill>
                <a:latin typeface="Times New Roman" panose="02020603050405020304" pitchFamily="18" charset="0"/>
              </a:rPr>
              <a:t>用</a:t>
            </a:r>
            <a:r>
              <a:rPr kumimoji="1" lang="en-US" altLang="zh-CN" sz="1800" smtClean="0">
                <a:solidFill>
                  <a:srgbClr val="800080"/>
                </a:solidFill>
                <a:latin typeface="Times New Roman" panose="02020603050405020304" pitchFamily="18" charset="0"/>
              </a:rPr>
              <a:t>PID</a:t>
            </a:r>
            <a:r>
              <a:rPr kumimoji="1" lang="en-US" altLang="zh-CN" sz="1800" smtClean="0">
                <a:latin typeface="Times New Roman" panose="02020603050405020304" pitchFamily="18" charset="0"/>
              </a:rPr>
              <a:t> */</a:t>
            </a:r>
          </a:p>
          <a:p>
            <a:pPr eaLnBrk="1" hangingPunct="1">
              <a:lnSpc>
                <a:spcPct val="80000"/>
              </a:lnSpc>
              <a:buFont typeface="Wingdings" panose="05000000000000000000" pitchFamily="2" charset="2"/>
              <a:buNone/>
            </a:pPr>
            <a:r>
              <a:rPr kumimoji="1" lang="en-US" altLang="zh-CN" sz="1800" smtClean="0">
                <a:solidFill>
                  <a:schemeClr val="accent2"/>
                </a:solidFill>
                <a:latin typeface="Times New Roman" panose="02020603050405020304" pitchFamily="18" charset="0"/>
              </a:rPr>
              <a:t>	struct file_operations * f_op;/* </a:t>
            </a:r>
            <a:r>
              <a:rPr kumimoji="1" lang="zh-CN" altLang="en-US" sz="1800" smtClean="0">
                <a:solidFill>
                  <a:schemeClr val="accent2"/>
                </a:solidFill>
                <a:latin typeface="Times New Roman" panose="02020603050405020304" pitchFamily="18" charset="0"/>
              </a:rPr>
              <a:t>指向文件操作结构体的指针 *</a:t>
            </a:r>
            <a:r>
              <a:rPr kumimoji="1" lang="en-US" altLang="zh-CN" sz="1800" smtClean="0">
                <a:solidFill>
                  <a:schemeClr val="accent2"/>
                </a:solidFill>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unsigned long f_version;      /* </a:t>
            </a:r>
            <a:r>
              <a:rPr kumimoji="1" lang="zh-CN" altLang="en-US" sz="1800" smtClean="0">
                <a:solidFill>
                  <a:srgbClr val="800080"/>
                </a:solidFill>
                <a:latin typeface="Times New Roman" panose="02020603050405020304" pitchFamily="18" charset="0"/>
              </a:rPr>
              <a:t>文件版本 </a:t>
            </a:r>
            <a:r>
              <a:rPr kumimoji="1" lang="zh-CN" altLang="en-US" sz="1800" smtClean="0">
                <a:latin typeface="Times New Roman" panose="02020603050405020304" pitchFamily="18" charset="0"/>
              </a:rPr>
              <a:t>*</a:t>
            </a:r>
            <a:r>
              <a:rPr kumimoji="1" lang="en-US" altLang="zh-CN" sz="1800" smtClean="0">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	void *</a:t>
            </a:r>
            <a:r>
              <a:rPr kumimoji="1" lang="en-US" altLang="zh-CN" sz="1800" smtClean="0">
                <a:solidFill>
                  <a:srgbClr val="0000FF"/>
                </a:solidFill>
                <a:latin typeface="Times New Roman" panose="02020603050405020304" pitchFamily="18" charset="0"/>
              </a:rPr>
              <a:t>private_data;</a:t>
            </a:r>
            <a:r>
              <a:rPr kumimoji="1" lang="en-US" altLang="zh-CN" sz="1800" smtClean="0">
                <a:latin typeface="Times New Roman" panose="02020603050405020304" pitchFamily="18" charset="0"/>
              </a:rPr>
              <a:t>	/* </a:t>
            </a:r>
            <a:r>
              <a:rPr kumimoji="1" lang="zh-CN" altLang="en-US" sz="1800" smtClean="0">
                <a:solidFill>
                  <a:srgbClr val="800080"/>
                </a:solidFill>
                <a:latin typeface="Times New Roman" panose="02020603050405020304" pitchFamily="18" charset="0"/>
              </a:rPr>
              <a:t>指向与文件管理模块有关的私有数据的指针</a:t>
            </a:r>
            <a:r>
              <a:rPr kumimoji="1" lang="zh-CN" altLang="en-US" sz="1800" smtClean="0">
                <a:latin typeface="Times New Roman" panose="02020603050405020304" pitchFamily="18" charset="0"/>
              </a:rPr>
              <a:t> *</a:t>
            </a:r>
            <a:r>
              <a:rPr kumimoji="1" lang="en-US" altLang="zh-CN" sz="1800" smtClean="0">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a:t>
            </a:r>
          </a:p>
          <a:p>
            <a:pPr eaLnBrk="1" hangingPunct="1">
              <a:lnSpc>
                <a:spcPct val="80000"/>
              </a:lnSpc>
              <a:buFont typeface="Wingdings" panose="05000000000000000000" pitchFamily="2" charset="2"/>
              <a:buNone/>
            </a:pPr>
            <a:r>
              <a:rPr kumimoji="1" lang="en-US" altLang="zh-CN" sz="1800" smtClean="0">
                <a:latin typeface="Times New Roman" panose="02020603050405020304" pitchFamily="18" charset="0"/>
              </a:rPr>
              <a:t>};</a:t>
            </a:r>
          </a:p>
        </p:txBody>
      </p:sp>
    </p:spTree>
    <p:extLst>
      <p:ext uri="{BB962C8B-B14F-4D97-AF65-F5344CB8AC3E}">
        <p14:creationId xmlns:p14="http://schemas.microsoft.com/office/powerpoint/2010/main" val="241965106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3"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341438"/>
            <a:ext cx="8101012"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992446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eaLnBrk="1" hangingPunct="1"/>
            <a:r>
              <a:rPr lang="en-US" altLang="zh-CN" smtClean="0"/>
              <a:t> </a:t>
            </a:r>
          </a:p>
        </p:txBody>
      </p:sp>
      <p:sp>
        <p:nvSpPr>
          <p:cNvPr id="121859" name="Rectangle 3"/>
          <p:cNvSpPr>
            <a:spLocks noGrp="1" noChangeArrowheads="1"/>
          </p:cNvSpPr>
          <p:nvPr>
            <p:ph type="body" idx="1"/>
          </p:nvPr>
        </p:nvSpPr>
        <p:spPr>
          <a:xfrm>
            <a:off x="684213" y="115888"/>
            <a:ext cx="7772400" cy="2233612"/>
          </a:xfrm>
          <a:solidFill>
            <a:srgbClr val="CCFFFF"/>
          </a:solidFill>
        </p:spPr>
        <p:txBody>
          <a:bodyPr/>
          <a:lstStyle/>
          <a:p>
            <a:pPr eaLnBrk="1" hangingPunct="1">
              <a:lnSpc>
                <a:spcPct val="80000"/>
              </a:lnSpc>
              <a:buFont typeface="Wingdings" panose="05000000000000000000" pitchFamily="2" charset="2"/>
              <a:buNone/>
            </a:pPr>
            <a:r>
              <a:rPr lang="en-US" altLang="zh-CN" sz="1400" b="1" smtClean="0">
                <a:latin typeface="宋体" panose="02010600030101010101" pitchFamily="2" charset="-122"/>
              </a:rPr>
              <a:t>  </a:t>
            </a:r>
            <a:r>
              <a:rPr lang="en-US" altLang="zh-CN" sz="2400" b="1" smtClean="0">
                <a:latin typeface="Times New Roman" panose="02020603050405020304" pitchFamily="18" charset="0"/>
              </a:rPr>
              <a:t>struct </a:t>
            </a:r>
            <a:r>
              <a:rPr lang="en-US" altLang="zh-CN" sz="2400" b="1" smtClean="0">
                <a:solidFill>
                  <a:srgbClr val="0000FF"/>
                </a:solidFill>
                <a:latin typeface="Times New Roman" panose="02020603050405020304" pitchFamily="18" charset="0"/>
              </a:rPr>
              <a:t>files_struct</a:t>
            </a:r>
            <a:r>
              <a:rPr lang="en-US" altLang="zh-CN" sz="2400" smtClean="0">
                <a:solidFill>
                  <a:srgbClr val="0000FF"/>
                </a:solidFill>
                <a:latin typeface="Times New Roman" panose="02020603050405020304" pitchFamily="18" charset="0"/>
              </a:rPr>
              <a:t> </a:t>
            </a:r>
            <a:r>
              <a:rPr lang="en-US" altLang="zh-CN" sz="2400" smtClean="0">
                <a:latin typeface="Times New Roman" panose="02020603050405020304" pitchFamily="18" charset="0"/>
              </a:rPr>
              <a:t>{</a:t>
            </a:r>
          </a:p>
          <a:p>
            <a:pPr algn="just">
              <a:lnSpc>
                <a:spcPct val="80000"/>
              </a:lnSpc>
              <a:spcBef>
                <a:spcPct val="0"/>
              </a:spcBef>
              <a:buFont typeface="Wingdings" panose="05000000000000000000" pitchFamily="2" charset="2"/>
              <a:buNone/>
            </a:pPr>
            <a:r>
              <a:rPr lang="en-US" altLang="zh-CN" sz="2400" smtClean="0">
                <a:latin typeface="Times New Roman" panose="02020603050405020304" pitchFamily="18" charset="0"/>
              </a:rPr>
              <a:t>	int </a:t>
            </a:r>
            <a:r>
              <a:rPr lang="en-US" altLang="zh-CN" sz="2400" smtClean="0">
                <a:solidFill>
                  <a:srgbClr val="800000"/>
                </a:solidFill>
                <a:latin typeface="Times New Roman" panose="02020603050405020304" pitchFamily="18" charset="0"/>
              </a:rPr>
              <a:t>count</a:t>
            </a:r>
            <a:r>
              <a:rPr lang="en-US" altLang="zh-CN" sz="2400" smtClean="0">
                <a:latin typeface="Times New Roman" panose="02020603050405020304" pitchFamily="18" charset="0"/>
              </a:rPr>
              <a:t>;    /* </a:t>
            </a:r>
            <a:r>
              <a:rPr lang="zh-CN" altLang="en-US" sz="2400" smtClean="0">
                <a:latin typeface="Times New Roman" panose="02020603050405020304" pitchFamily="18" charset="0"/>
              </a:rPr>
              <a:t>共享该结构的计数值 *</a:t>
            </a:r>
            <a:r>
              <a:rPr lang="en-US" altLang="zh-CN" sz="2400" smtClean="0">
                <a:latin typeface="Times New Roman" panose="02020603050405020304" pitchFamily="18" charset="0"/>
              </a:rPr>
              <a:t>/</a:t>
            </a:r>
          </a:p>
          <a:p>
            <a:pPr algn="just">
              <a:lnSpc>
                <a:spcPct val="80000"/>
              </a:lnSpc>
              <a:spcBef>
                <a:spcPct val="0"/>
              </a:spcBef>
              <a:buFont typeface="Wingdings" panose="05000000000000000000" pitchFamily="2" charset="2"/>
              <a:buNone/>
            </a:pPr>
            <a:r>
              <a:rPr lang="en-US" altLang="zh-CN" sz="2400" smtClean="0">
                <a:latin typeface="Times New Roman" panose="02020603050405020304" pitchFamily="18" charset="0"/>
              </a:rPr>
              <a:t>	fd_set </a:t>
            </a:r>
            <a:r>
              <a:rPr lang="en-US" altLang="zh-CN" sz="2400" smtClean="0">
                <a:solidFill>
                  <a:srgbClr val="800000"/>
                </a:solidFill>
                <a:latin typeface="Times New Roman" panose="02020603050405020304" pitchFamily="18" charset="0"/>
              </a:rPr>
              <a:t>close_on_exec</a:t>
            </a:r>
            <a:r>
              <a:rPr lang="en-US" altLang="zh-CN" sz="2400" smtClean="0">
                <a:latin typeface="Times New Roman" panose="02020603050405020304" pitchFamily="18" charset="0"/>
              </a:rPr>
              <a:t>; </a:t>
            </a:r>
          </a:p>
          <a:p>
            <a:pPr algn="just">
              <a:lnSpc>
                <a:spcPct val="80000"/>
              </a:lnSpc>
              <a:spcBef>
                <a:spcPct val="0"/>
              </a:spcBef>
              <a:buFont typeface="Wingdings" panose="05000000000000000000" pitchFamily="2" charset="2"/>
              <a:buNone/>
            </a:pPr>
            <a:r>
              <a:rPr lang="en-US" altLang="zh-CN" sz="2400" smtClean="0">
                <a:latin typeface="Times New Roman" panose="02020603050405020304" pitchFamily="18" charset="0"/>
              </a:rPr>
              <a:t>	fd_set </a:t>
            </a:r>
            <a:r>
              <a:rPr lang="en-US" altLang="zh-CN" sz="2400" smtClean="0">
                <a:solidFill>
                  <a:srgbClr val="800000"/>
                </a:solidFill>
                <a:latin typeface="Times New Roman" panose="02020603050405020304" pitchFamily="18" charset="0"/>
              </a:rPr>
              <a:t>open_fds</a:t>
            </a:r>
            <a:r>
              <a:rPr lang="en-US" altLang="zh-CN" sz="2400" smtClean="0">
                <a:latin typeface="Times New Roman" panose="02020603050405020304" pitchFamily="18" charset="0"/>
              </a:rPr>
              <a:t>;</a:t>
            </a:r>
          </a:p>
          <a:p>
            <a:pPr algn="just">
              <a:lnSpc>
                <a:spcPct val="80000"/>
              </a:lnSpc>
              <a:spcBef>
                <a:spcPct val="0"/>
              </a:spcBef>
              <a:buFont typeface="Wingdings" panose="05000000000000000000" pitchFamily="2" charset="2"/>
              <a:buNone/>
            </a:pPr>
            <a:r>
              <a:rPr lang="en-US" altLang="zh-CN" sz="2400" smtClean="0">
                <a:latin typeface="Times New Roman" panose="02020603050405020304" pitchFamily="18" charset="0"/>
              </a:rPr>
              <a:t>	struct file * </a:t>
            </a:r>
            <a:r>
              <a:rPr lang="en-US" altLang="zh-CN" sz="2400" smtClean="0">
                <a:solidFill>
                  <a:srgbClr val="FF0000"/>
                </a:solidFill>
                <a:latin typeface="Times New Roman" panose="02020603050405020304" pitchFamily="18" charset="0"/>
              </a:rPr>
              <a:t>fd[NR_OPEN]</a:t>
            </a:r>
            <a:r>
              <a:rPr lang="en-US" altLang="zh-CN" sz="2400" smtClean="0">
                <a:latin typeface="Times New Roman" panose="02020603050405020304" pitchFamily="18" charset="0"/>
              </a:rPr>
              <a:t>;</a:t>
            </a:r>
          </a:p>
          <a:p>
            <a:pPr algn="just">
              <a:lnSpc>
                <a:spcPct val="80000"/>
              </a:lnSpc>
              <a:spcBef>
                <a:spcPct val="0"/>
              </a:spcBef>
              <a:buFont typeface="Wingdings" panose="05000000000000000000" pitchFamily="2" charset="2"/>
              <a:buNone/>
            </a:pPr>
            <a:r>
              <a:rPr lang="en-US" altLang="zh-CN" sz="2400" smtClean="0">
                <a:latin typeface="Times New Roman" panose="02020603050405020304" pitchFamily="18" charset="0"/>
              </a:rPr>
              <a:t>…..</a:t>
            </a:r>
          </a:p>
          <a:p>
            <a:pPr algn="just">
              <a:lnSpc>
                <a:spcPct val="80000"/>
              </a:lnSpc>
              <a:spcBef>
                <a:spcPct val="0"/>
              </a:spcBef>
              <a:buFont typeface="Wingdings" panose="05000000000000000000" pitchFamily="2" charset="2"/>
              <a:buNone/>
            </a:pPr>
            <a:r>
              <a:rPr lang="en-US" altLang="zh-CN" sz="2400" smtClean="0">
                <a:latin typeface="Times New Roman" panose="02020603050405020304" pitchFamily="18" charset="0"/>
              </a:rPr>
              <a:t>};</a:t>
            </a:r>
          </a:p>
          <a:p>
            <a:pPr algn="just">
              <a:lnSpc>
                <a:spcPct val="80000"/>
              </a:lnSpc>
              <a:spcBef>
                <a:spcPct val="0"/>
              </a:spcBef>
              <a:buFont typeface="Wingdings" panose="05000000000000000000" pitchFamily="2" charset="2"/>
              <a:buNone/>
            </a:pPr>
            <a:r>
              <a:rPr lang="en-US" altLang="zh-CN" sz="1200" smtClean="0">
                <a:latin typeface="Times New Roman" panose="02020603050405020304" pitchFamily="18" charset="0"/>
                <a:cs typeface="Times New Roman" panose="02020603050405020304" pitchFamily="18" charset="0"/>
              </a:rPr>
              <a:t>        </a:t>
            </a:r>
            <a:endParaRPr lang="en-US" altLang="zh-CN" sz="3600" smtClean="0">
              <a:latin typeface="Times New Roman" panose="02020603050405020304" pitchFamily="18" charset="0"/>
            </a:endParaRPr>
          </a:p>
        </p:txBody>
      </p:sp>
      <p:sp>
        <p:nvSpPr>
          <p:cNvPr id="121860" name="Rectangle 4"/>
          <p:cNvSpPr>
            <a:spLocks noChangeArrowheads="1"/>
          </p:cNvSpPr>
          <p:nvPr/>
        </p:nvSpPr>
        <p:spPr bwMode="auto">
          <a:xfrm>
            <a:off x="323850" y="2852738"/>
            <a:ext cx="856932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1800">
                <a:solidFill>
                  <a:srgbClr val="0000FF"/>
                </a:solidFill>
                <a:latin typeface="Arial" panose="020B0604020202020204" pitchFamily="34" charset="0"/>
              </a:rPr>
              <a:t>            </a:t>
            </a:r>
            <a:r>
              <a:rPr lang="en-US" altLang="zh-CN">
                <a:solidFill>
                  <a:srgbClr val="0000FF"/>
                </a:solidFill>
                <a:latin typeface="Arial" panose="020B0604020202020204" pitchFamily="34" charset="0"/>
              </a:rPr>
              <a:t>fd[]</a:t>
            </a:r>
            <a:r>
              <a:rPr lang="zh-CN" altLang="en-US">
                <a:latin typeface="Arial" panose="020B0604020202020204" pitchFamily="34" charset="0"/>
              </a:rPr>
              <a:t>每个元素是一个</a:t>
            </a:r>
            <a:r>
              <a:rPr lang="zh-CN" altLang="en-US">
                <a:solidFill>
                  <a:srgbClr val="FF0000"/>
                </a:solidFill>
                <a:latin typeface="Arial" panose="020B0604020202020204" pitchFamily="34" charset="0"/>
              </a:rPr>
              <a:t>指向</a:t>
            </a:r>
            <a:r>
              <a:rPr lang="en-US" altLang="zh-CN">
                <a:solidFill>
                  <a:srgbClr val="FF0000"/>
                </a:solidFill>
                <a:latin typeface="Arial" panose="020B0604020202020204" pitchFamily="34" charset="0"/>
              </a:rPr>
              <a:t>file</a:t>
            </a:r>
            <a:r>
              <a:rPr lang="zh-CN" altLang="en-US">
                <a:solidFill>
                  <a:srgbClr val="FF0000"/>
                </a:solidFill>
                <a:latin typeface="Arial" panose="020B0604020202020204" pitchFamily="34" charset="0"/>
              </a:rPr>
              <a:t>结构体的指针</a:t>
            </a:r>
            <a:r>
              <a:rPr lang="zh-CN" altLang="en-US">
                <a:latin typeface="Arial" panose="020B0604020202020204" pitchFamily="34" charset="0"/>
              </a:rPr>
              <a:t>，该数组称为</a:t>
            </a:r>
            <a:r>
              <a:rPr lang="zh-CN" altLang="en-US">
                <a:solidFill>
                  <a:srgbClr val="FF0000"/>
                </a:solidFill>
                <a:latin typeface="Arial" panose="020B0604020202020204" pitchFamily="34" charset="0"/>
              </a:rPr>
              <a:t>进程打开文件表</a:t>
            </a:r>
            <a:r>
              <a:rPr lang="zh-CN" altLang="en-US">
                <a:latin typeface="Arial" panose="020B0604020202020204" pitchFamily="34" charset="0"/>
              </a:rPr>
              <a:t>。</a:t>
            </a:r>
            <a:endParaRPr lang="zh-CN" altLang="en-US" sz="3200">
              <a:latin typeface="Arial" panose="020B0604020202020204" pitchFamily="34" charset="0"/>
            </a:endParaRPr>
          </a:p>
          <a:p>
            <a:pPr>
              <a:spcBef>
                <a:spcPct val="0"/>
              </a:spcBef>
            </a:pPr>
            <a:r>
              <a:rPr lang="zh-CN" altLang="en-US">
                <a:latin typeface="Arial" panose="020B0604020202020204" pitchFamily="34" charset="0"/>
              </a:rPr>
              <a:t>           进程每打开一个文件时，建立一个</a:t>
            </a:r>
            <a:r>
              <a:rPr lang="en-US" altLang="zh-CN">
                <a:latin typeface="Arial" panose="020B0604020202020204" pitchFamily="34" charset="0"/>
              </a:rPr>
              <a:t>file</a:t>
            </a:r>
            <a:r>
              <a:rPr lang="zh-CN" altLang="en-US">
                <a:latin typeface="Arial" panose="020B0604020202020204" pitchFamily="34" charset="0"/>
              </a:rPr>
              <a:t>结构体，并加入到系统打开文件表中，然后把该</a:t>
            </a:r>
            <a:r>
              <a:rPr lang="en-US" altLang="zh-CN">
                <a:latin typeface="Arial" panose="020B0604020202020204" pitchFamily="34" charset="0"/>
              </a:rPr>
              <a:t>file</a:t>
            </a:r>
            <a:r>
              <a:rPr lang="zh-CN" altLang="en-US">
                <a:latin typeface="Arial" panose="020B0604020202020204" pitchFamily="34" charset="0"/>
              </a:rPr>
              <a:t>结构体的首地址写入</a:t>
            </a:r>
            <a:r>
              <a:rPr lang="en-US" altLang="zh-CN">
                <a:latin typeface="Arial" panose="020B0604020202020204" pitchFamily="34" charset="0"/>
              </a:rPr>
              <a:t>fd[]</a:t>
            </a:r>
            <a:r>
              <a:rPr lang="zh-CN" altLang="en-US">
                <a:latin typeface="Arial" panose="020B0604020202020204" pitchFamily="34" charset="0"/>
              </a:rPr>
              <a:t>数组的第一个空闲元素中。一个进程所有打开的文件都记载在</a:t>
            </a:r>
            <a:r>
              <a:rPr lang="en-US" altLang="zh-CN">
                <a:latin typeface="Arial" panose="020B0604020202020204" pitchFamily="34" charset="0"/>
              </a:rPr>
              <a:t>fd[]</a:t>
            </a:r>
            <a:r>
              <a:rPr lang="zh-CN" altLang="en-US">
                <a:latin typeface="Arial" panose="020B0604020202020204" pitchFamily="34" charset="0"/>
              </a:rPr>
              <a:t>数组中。</a:t>
            </a:r>
            <a:r>
              <a:rPr lang="zh-CN" altLang="en-US" sz="1600">
                <a:latin typeface="Arial" panose="020B0604020202020204" pitchFamily="34" charset="0"/>
                <a:cs typeface="Times New Roman" panose="02020603050405020304" pitchFamily="18" charset="0"/>
              </a:rPr>
              <a:t> </a:t>
            </a:r>
            <a:r>
              <a:rPr lang="en-US" altLang="zh-CN">
                <a:latin typeface="Arial" panose="020B0604020202020204" pitchFamily="34" charset="0"/>
              </a:rPr>
              <a:t>fd[]</a:t>
            </a:r>
            <a:r>
              <a:rPr lang="zh-CN" altLang="en-US">
                <a:latin typeface="Arial" panose="020B0604020202020204" pitchFamily="34" charset="0"/>
              </a:rPr>
              <a:t>数组的下标称为文件标识号。</a:t>
            </a:r>
            <a:endParaRPr lang="zh-CN" altLang="en-US" sz="3200">
              <a:latin typeface="Arial" panose="020B0604020202020204" pitchFamily="34" charset="0"/>
            </a:endParaRPr>
          </a:p>
          <a:p>
            <a:pPr>
              <a:spcBef>
                <a:spcPct val="0"/>
              </a:spcBef>
            </a:pPr>
            <a:r>
              <a:rPr lang="zh-CN" altLang="en-US">
                <a:latin typeface="Wingdings" panose="05000000000000000000" pitchFamily="2" charset="2"/>
              </a:rPr>
              <a:t>   </a:t>
            </a:r>
            <a:r>
              <a:rPr lang="zh-CN" altLang="en-US">
                <a:latin typeface="Arial" panose="020B0604020202020204" pitchFamily="34" charset="0"/>
              </a:rPr>
              <a:t>在</a:t>
            </a:r>
            <a:r>
              <a:rPr lang="en-US" altLang="zh-CN">
                <a:latin typeface="Arial" panose="020B0604020202020204" pitchFamily="34" charset="0"/>
              </a:rPr>
              <a:t>Linux</a:t>
            </a:r>
            <a:r>
              <a:rPr lang="zh-CN" altLang="en-US">
                <a:latin typeface="Arial" panose="020B0604020202020204" pitchFamily="34" charset="0"/>
              </a:rPr>
              <a:t>中，进程使用文件名打开一个文件。 在此之后对文件的识别就不再使用文件名，而直接使用文件标识号。</a:t>
            </a:r>
            <a:endParaRPr lang="zh-CN" altLang="en-US" sz="3200">
              <a:latin typeface="Arial" panose="020B0604020202020204" pitchFamily="34" charset="0"/>
            </a:endParaRPr>
          </a:p>
          <a:p>
            <a:pPr>
              <a:spcBef>
                <a:spcPct val="0"/>
              </a:spcBef>
            </a:pPr>
            <a:r>
              <a:rPr lang="zh-CN" altLang="en-US">
                <a:latin typeface="Wingdings" panose="05000000000000000000" pitchFamily="2" charset="2"/>
              </a:rPr>
              <a:t>  </a:t>
            </a:r>
            <a:r>
              <a:rPr lang="zh-CN" altLang="en-US">
                <a:latin typeface="Arial" panose="020B0604020202020204" pitchFamily="34" charset="0"/>
              </a:rPr>
              <a:t>在系统启动时文件标识号</a:t>
            </a:r>
            <a:r>
              <a:rPr lang="en-US" altLang="zh-CN">
                <a:latin typeface="Arial" panose="020B0604020202020204" pitchFamily="34" charset="0"/>
              </a:rPr>
              <a:t>0</a:t>
            </a:r>
            <a:r>
              <a:rPr lang="zh-CN" altLang="en-US">
                <a:latin typeface="Arial" panose="020B0604020202020204" pitchFamily="34" charset="0"/>
              </a:rPr>
              <a:t>、</a:t>
            </a:r>
            <a:r>
              <a:rPr lang="en-US" altLang="zh-CN">
                <a:latin typeface="Arial" panose="020B0604020202020204" pitchFamily="34" charset="0"/>
              </a:rPr>
              <a:t>1</a:t>
            </a:r>
            <a:r>
              <a:rPr lang="zh-CN" altLang="en-US">
                <a:latin typeface="Arial" panose="020B0604020202020204" pitchFamily="34" charset="0"/>
              </a:rPr>
              <a:t>、</a:t>
            </a:r>
            <a:r>
              <a:rPr lang="en-US" altLang="zh-CN">
                <a:latin typeface="Arial" panose="020B0604020202020204" pitchFamily="34" charset="0"/>
              </a:rPr>
              <a:t>2</a:t>
            </a:r>
            <a:r>
              <a:rPr lang="zh-CN" altLang="en-US">
                <a:latin typeface="Arial" panose="020B0604020202020204" pitchFamily="34" charset="0"/>
              </a:rPr>
              <a:t>由系统分配</a:t>
            </a:r>
            <a:r>
              <a:rPr lang="en-US" altLang="zh-CN">
                <a:latin typeface="Arial" panose="020B0604020202020204" pitchFamily="34" charset="0"/>
              </a:rPr>
              <a:t>:0</a:t>
            </a:r>
            <a:r>
              <a:rPr lang="zh-CN" altLang="en-US">
                <a:latin typeface="Arial" panose="020B0604020202020204" pitchFamily="34" charset="0"/>
              </a:rPr>
              <a:t>标准输入设备，</a:t>
            </a:r>
            <a:r>
              <a:rPr lang="en-US" altLang="zh-CN">
                <a:latin typeface="Arial" panose="020B0604020202020204" pitchFamily="34" charset="0"/>
              </a:rPr>
              <a:t>1</a:t>
            </a:r>
            <a:r>
              <a:rPr lang="zh-CN" altLang="en-US">
                <a:latin typeface="Arial" panose="020B0604020202020204" pitchFamily="34" charset="0"/>
              </a:rPr>
              <a:t>标准输出设备，</a:t>
            </a:r>
            <a:r>
              <a:rPr lang="en-US" altLang="zh-CN">
                <a:latin typeface="Arial" panose="020B0604020202020204" pitchFamily="34" charset="0"/>
              </a:rPr>
              <a:t>2</a:t>
            </a:r>
            <a:r>
              <a:rPr lang="zh-CN" altLang="en-US">
                <a:latin typeface="Arial" panose="020B0604020202020204" pitchFamily="34" charset="0"/>
              </a:rPr>
              <a:t>标准错误输出设备。</a:t>
            </a:r>
            <a:endParaRPr lang="zh-CN" altLang="en-US" sz="4400">
              <a:latin typeface="Arial" panose="020B0604020202020204" pitchFamily="34" charset="0"/>
            </a:endParaRPr>
          </a:p>
        </p:txBody>
      </p:sp>
      <p:sp>
        <p:nvSpPr>
          <p:cNvPr id="121861" name="Text Box 5"/>
          <p:cNvSpPr txBox="1">
            <a:spLocks noChangeArrowheads="1"/>
          </p:cNvSpPr>
          <p:nvPr/>
        </p:nvSpPr>
        <p:spPr bwMode="auto">
          <a:xfrm>
            <a:off x="2484438" y="2349500"/>
            <a:ext cx="511175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90000"/>
              </a:lnSpc>
              <a:spcBef>
                <a:spcPct val="50000"/>
              </a:spcBef>
            </a:pPr>
            <a:r>
              <a:rPr lang="zh-CN" altLang="en-US">
                <a:solidFill>
                  <a:srgbClr val="0000FF"/>
                </a:solidFill>
              </a:rPr>
              <a:t>进程打开文件表</a:t>
            </a:r>
            <a:r>
              <a:rPr lang="en-US" altLang="zh-CN">
                <a:solidFill>
                  <a:srgbClr val="0000FF"/>
                </a:solidFill>
              </a:rPr>
              <a:t>-</a:t>
            </a:r>
            <a:r>
              <a:rPr lang="en-US" altLang="zh-CN"/>
              <a:t> </a:t>
            </a:r>
            <a:r>
              <a:rPr lang="en-US" altLang="zh-CN">
                <a:solidFill>
                  <a:schemeClr val="accent2"/>
                </a:solidFill>
              </a:rPr>
              <a:t>files_struct</a:t>
            </a:r>
          </a:p>
        </p:txBody>
      </p:sp>
    </p:spTree>
    <p:extLst>
      <p:ext uri="{BB962C8B-B14F-4D97-AF65-F5344CB8AC3E}">
        <p14:creationId xmlns:p14="http://schemas.microsoft.com/office/powerpoint/2010/main" val="354878473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endParaRPr lang="zh-CN" altLang="zh-CN" smtClean="0"/>
          </a:p>
        </p:txBody>
      </p:sp>
      <p:sp>
        <p:nvSpPr>
          <p:cNvPr id="12288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000" smtClean="0"/>
              <a:t>            </a:t>
            </a:r>
            <a:r>
              <a:rPr lang="zh-CN" altLang="en-US" smtClean="0"/>
              <a:t>当一个进程通过</a:t>
            </a:r>
            <a:r>
              <a:rPr lang="en-US" altLang="zh-CN" smtClean="0"/>
              <a:t>fork()</a:t>
            </a:r>
            <a:r>
              <a:rPr lang="zh-CN" altLang="en-US" smtClean="0"/>
              <a:t>创建一个子进程后，子进程共享父进程的打开文件表，两者的打开文件表中下标相同的两个元素指向同一个</a:t>
            </a:r>
            <a:r>
              <a:rPr lang="en-US" altLang="zh-CN" smtClean="0"/>
              <a:t>file</a:t>
            </a:r>
            <a:r>
              <a:rPr lang="zh-CN" altLang="en-US" smtClean="0"/>
              <a:t>结构。 这时</a:t>
            </a:r>
            <a:r>
              <a:rPr lang="en-US" altLang="zh-CN" smtClean="0"/>
              <a:t>file</a:t>
            </a:r>
            <a:r>
              <a:rPr lang="zh-CN" altLang="en-US" smtClean="0"/>
              <a:t>的</a:t>
            </a:r>
            <a:r>
              <a:rPr lang="en-US" altLang="zh-CN" smtClean="0"/>
              <a:t>f_count</a:t>
            </a:r>
            <a:r>
              <a:rPr lang="zh-CN" altLang="en-US" smtClean="0"/>
              <a:t>计数值增</a:t>
            </a:r>
            <a:r>
              <a:rPr lang="en-US" altLang="zh-CN" smtClean="0"/>
              <a:t>1</a:t>
            </a:r>
            <a:r>
              <a:rPr lang="zh-CN" altLang="en-US" smtClean="0"/>
              <a:t>。</a:t>
            </a:r>
            <a:endParaRPr lang="zh-CN" altLang="en-US" sz="3600" smtClean="0"/>
          </a:p>
          <a:p>
            <a:pPr>
              <a:spcBef>
                <a:spcPct val="0"/>
              </a:spcBef>
              <a:buFont typeface="Wingdings" panose="05000000000000000000" pitchFamily="2" charset="2"/>
              <a:buNone/>
            </a:pPr>
            <a:r>
              <a:rPr lang="zh-CN" altLang="en-US" smtClean="0">
                <a:latin typeface="宋体" panose="02010600030101010101" pitchFamily="2" charset="-122"/>
              </a:rPr>
              <a:t>       一个文件可以被某个进程多次打开，每次都分配一个</a:t>
            </a:r>
            <a:r>
              <a:rPr lang="en-US" altLang="zh-CN" smtClean="0">
                <a:latin typeface="宋体" panose="02010600030101010101" pitchFamily="2" charset="-122"/>
              </a:rPr>
              <a:t>file</a:t>
            </a:r>
            <a:r>
              <a:rPr lang="zh-CN" altLang="en-US" smtClean="0">
                <a:latin typeface="宋体" panose="02010600030101010101" pitchFamily="2" charset="-122"/>
              </a:rPr>
              <a:t>结构，并占用该进程打开文件表</a:t>
            </a:r>
            <a:r>
              <a:rPr lang="en-US" altLang="zh-CN" smtClean="0">
                <a:latin typeface="宋体" panose="02010600030101010101" pitchFamily="2" charset="-122"/>
              </a:rPr>
              <a:t>fd[]</a:t>
            </a:r>
            <a:r>
              <a:rPr lang="zh-CN" altLang="en-US" smtClean="0">
                <a:latin typeface="宋体" panose="02010600030101010101" pitchFamily="2" charset="-122"/>
              </a:rPr>
              <a:t>的一项，得到一个文件标识号。但它们的</a:t>
            </a:r>
            <a:r>
              <a:rPr lang="en-US" altLang="zh-CN" smtClean="0">
                <a:latin typeface="宋体" panose="02010600030101010101" pitchFamily="2" charset="-122"/>
              </a:rPr>
              <a:t>file</a:t>
            </a:r>
            <a:r>
              <a:rPr lang="zh-CN" altLang="en-US" smtClean="0">
                <a:latin typeface="宋体" panose="02010600030101010101" pitchFamily="2" charset="-122"/>
              </a:rPr>
              <a:t>中的</a:t>
            </a:r>
            <a:r>
              <a:rPr lang="en-US" altLang="zh-CN" smtClean="0">
                <a:latin typeface="宋体" panose="02010600030101010101" pitchFamily="2" charset="-122"/>
              </a:rPr>
              <a:t>f_inode</a:t>
            </a:r>
            <a:r>
              <a:rPr lang="zh-CN" altLang="en-US" smtClean="0">
                <a:latin typeface="宋体" panose="02010600030101010101" pitchFamily="2" charset="-122"/>
              </a:rPr>
              <a:t>都指向同一个</a:t>
            </a:r>
            <a:r>
              <a:rPr lang="en-US" altLang="zh-CN" smtClean="0">
                <a:latin typeface="宋体" panose="02010600030101010101" pitchFamily="2" charset="-122"/>
              </a:rPr>
              <a:t>inode</a:t>
            </a:r>
            <a:r>
              <a:rPr lang="zh-CN" altLang="en-US" smtClean="0">
                <a:latin typeface="宋体" panose="02010600030101010101" pitchFamily="2" charset="-122"/>
              </a:rPr>
              <a:t>。</a:t>
            </a:r>
            <a:r>
              <a:rPr lang="zh-CN" altLang="en-US" sz="2900" smtClean="0"/>
              <a:t> </a:t>
            </a:r>
            <a:endParaRPr lang="zh-CN" altLang="en-US" sz="5400" smtClean="0"/>
          </a:p>
          <a:p>
            <a:pPr>
              <a:spcBef>
                <a:spcPct val="0"/>
              </a:spcBef>
              <a:buFont typeface="Wingdings" panose="05000000000000000000" pitchFamily="2" charset="2"/>
              <a:buNone/>
            </a:pPr>
            <a:endParaRPr lang="en-US" altLang="zh-CN" sz="4800" smtClean="0"/>
          </a:p>
        </p:txBody>
      </p:sp>
    </p:spTree>
    <p:extLst>
      <p:ext uri="{BB962C8B-B14F-4D97-AF65-F5344CB8AC3E}">
        <p14:creationId xmlns:p14="http://schemas.microsoft.com/office/powerpoint/2010/main" val="135249874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r>
              <a:rPr lang="en-US" altLang="zh-CN" smtClean="0"/>
              <a:t>fs_struct</a:t>
            </a:r>
            <a:r>
              <a:rPr lang="zh-CN" altLang="en-US" smtClean="0"/>
              <a:t>结构</a:t>
            </a:r>
          </a:p>
        </p:txBody>
      </p:sp>
      <p:sp>
        <p:nvSpPr>
          <p:cNvPr id="123907" name="Rectangle 3"/>
          <p:cNvSpPr>
            <a:spLocks noGrp="1" noChangeArrowheads="1"/>
          </p:cNvSpPr>
          <p:nvPr>
            <p:ph type="body" idx="1"/>
          </p:nvPr>
        </p:nvSpPr>
        <p:spPr>
          <a:xfrm>
            <a:off x="827088" y="1484313"/>
            <a:ext cx="7772400" cy="4530725"/>
          </a:xfrm>
        </p:spPr>
        <p:txBody>
          <a:bodyPr/>
          <a:lstStyle/>
          <a:p>
            <a:pPr eaLnBrk="1" hangingPunct="1">
              <a:lnSpc>
                <a:spcPct val="90000"/>
              </a:lnSpc>
              <a:buFont typeface="Wingdings" panose="05000000000000000000" pitchFamily="2" charset="2"/>
              <a:buNone/>
            </a:pPr>
            <a:r>
              <a:rPr lang="en-US" altLang="zh-CN" sz="2000" smtClean="0"/>
              <a:t> fs_struct</a:t>
            </a:r>
            <a:r>
              <a:rPr lang="zh-CN" altLang="en-US" sz="2000" smtClean="0"/>
              <a:t>结构描述进程与文件系统的关系，其定义为：</a:t>
            </a:r>
          </a:p>
          <a:p>
            <a:pPr eaLnBrk="1" hangingPunct="1">
              <a:lnSpc>
                <a:spcPct val="90000"/>
              </a:lnSpc>
              <a:buFont typeface="Wingdings" panose="05000000000000000000" pitchFamily="2" charset="2"/>
              <a:buNone/>
            </a:pPr>
            <a:r>
              <a:rPr lang="en-US" altLang="zh-CN" sz="2000" smtClean="0">
                <a:solidFill>
                  <a:schemeClr val="accent2"/>
                </a:solidFill>
              </a:rPr>
              <a:t>struct fs_struct</a:t>
            </a:r>
            <a:r>
              <a:rPr lang="en-US" altLang="zh-CN" sz="2000" smtClean="0"/>
              <a:t> {</a:t>
            </a:r>
          </a:p>
          <a:p>
            <a:pPr eaLnBrk="1" hangingPunct="1">
              <a:lnSpc>
                <a:spcPct val="90000"/>
              </a:lnSpc>
              <a:buFont typeface="Wingdings" panose="05000000000000000000" pitchFamily="2" charset="2"/>
              <a:buNone/>
            </a:pPr>
            <a:r>
              <a:rPr lang="en-US" altLang="zh-CN" sz="2000" smtClean="0"/>
              <a:t>   atomic_t count;              //</a:t>
            </a:r>
            <a:r>
              <a:rPr lang="zh-CN" altLang="en-US" sz="2000" smtClean="0"/>
              <a:t>共享同一个</a:t>
            </a:r>
            <a:r>
              <a:rPr lang="en-US" altLang="zh-CN" sz="2000" smtClean="0"/>
              <a:t>fs_struct</a:t>
            </a:r>
            <a:r>
              <a:rPr lang="zh-CN" altLang="en-US" sz="2000" smtClean="0"/>
              <a:t>表的进程数</a:t>
            </a:r>
          </a:p>
          <a:p>
            <a:pPr eaLnBrk="1" hangingPunct="1">
              <a:lnSpc>
                <a:spcPct val="90000"/>
              </a:lnSpc>
              <a:buFont typeface="Wingdings" panose="05000000000000000000" pitchFamily="2" charset="2"/>
              <a:buNone/>
            </a:pPr>
            <a:r>
              <a:rPr lang="zh-CN" altLang="en-US" sz="2000" smtClean="0"/>
              <a:t>   </a:t>
            </a:r>
            <a:r>
              <a:rPr lang="en-US" altLang="zh-CN" sz="2000" smtClean="0"/>
              <a:t>rwlock_t lock;               //</a:t>
            </a:r>
            <a:r>
              <a:rPr lang="zh-CN" altLang="en-US" sz="2000" smtClean="0"/>
              <a:t>保护此结构体的锁</a:t>
            </a:r>
          </a:p>
          <a:p>
            <a:pPr eaLnBrk="1" hangingPunct="1">
              <a:lnSpc>
                <a:spcPct val="90000"/>
              </a:lnSpc>
              <a:buFont typeface="Wingdings" panose="05000000000000000000" pitchFamily="2" charset="2"/>
              <a:buNone/>
            </a:pPr>
            <a:r>
              <a:rPr lang="zh-CN" altLang="en-US" sz="2000" smtClean="0"/>
              <a:t>   </a:t>
            </a:r>
            <a:r>
              <a:rPr lang="en-US" altLang="zh-CN" sz="2000" smtClean="0"/>
              <a:t>int umask;                   //</a:t>
            </a:r>
            <a:r>
              <a:rPr lang="zh-CN" altLang="en-US" sz="2000" smtClean="0"/>
              <a:t>默认的文件访问权限</a:t>
            </a:r>
          </a:p>
          <a:p>
            <a:pPr eaLnBrk="1" hangingPunct="1">
              <a:lnSpc>
                <a:spcPct val="90000"/>
              </a:lnSpc>
              <a:buFont typeface="Wingdings" panose="05000000000000000000" pitchFamily="2" charset="2"/>
              <a:buNone/>
            </a:pPr>
            <a:r>
              <a:rPr lang="zh-CN" altLang="en-US" sz="2000" smtClean="0"/>
              <a:t>   </a:t>
            </a:r>
            <a:r>
              <a:rPr lang="en-US" altLang="zh-CN" sz="2000" smtClean="0"/>
              <a:t>struct dentry *</a:t>
            </a:r>
            <a:r>
              <a:rPr lang="en-US" altLang="zh-CN" sz="2000" b="1" smtClean="0"/>
              <a:t>root</a:t>
            </a:r>
            <a:r>
              <a:rPr lang="en-US" altLang="zh-CN" sz="2000" smtClean="0"/>
              <a:t>;         //</a:t>
            </a:r>
            <a:r>
              <a:rPr lang="zh-CN" altLang="en-US" sz="2000" smtClean="0"/>
              <a:t>根目录的目录项对象</a:t>
            </a:r>
          </a:p>
          <a:p>
            <a:pPr eaLnBrk="1" hangingPunct="1">
              <a:lnSpc>
                <a:spcPct val="90000"/>
              </a:lnSpc>
              <a:buFont typeface="Wingdings" panose="05000000000000000000" pitchFamily="2" charset="2"/>
              <a:buNone/>
            </a:pPr>
            <a:r>
              <a:rPr lang="en-US" altLang="zh-CN" sz="2000" smtClean="0"/>
              <a:t>struct dentry </a:t>
            </a:r>
            <a:r>
              <a:rPr lang="en-US" altLang="zh-CN" sz="2000" b="1" smtClean="0"/>
              <a:t>*</a:t>
            </a:r>
            <a:r>
              <a:rPr lang="en-US" altLang="zh-CN" sz="2000" smtClean="0"/>
              <a:t>pwd,;        //</a:t>
            </a:r>
            <a:r>
              <a:rPr lang="zh-CN" altLang="en-US" sz="2000" smtClean="0"/>
              <a:t>当前工作目录的目录项对象</a:t>
            </a:r>
          </a:p>
          <a:p>
            <a:pPr eaLnBrk="1" hangingPunct="1">
              <a:lnSpc>
                <a:spcPct val="90000"/>
              </a:lnSpc>
              <a:buFont typeface="Wingdings" panose="05000000000000000000" pitchFamily="2" charset="2"/>
              <a:buNone/>
            </a:pPr>
            <a:r>
              <a:rPr lang="en-US" altLang="zh-CN" sz="2000" smtClean="0"/>
              <a:t>struct dentry *altroot;     //</a:t>
            </a:r>
            <a:r>
              <a:rPr lang="zh-CN" altLang="en-US" sz="2000" smtClean="0"/>
              <a:t>可替换的根目录的目录项对象</a:t>
            </a:r>
          </a:p>
          <a:p>
            <a:pPr eaLnBrk="1" hangingPunct="1">
              <a:lnSpc>
                <a:spcPct val="90000"/>
              </a:lnSpc>
              <a:buFont typeface="Wingdings" panose="05000000000000000000" pitchFamily="2" charset="2"/>
              <a:buNone/>
            </a:pPr>
            <a:r>
              <a:rPr lang="en-US" altLang="zh-CN" sz="2000" smtClean="0"/>
              <a:t>struct vfsmount *</a:t>
            </a:r>
            <a:r>
              <a:rPr lang="en-US" altLang="zh-CN" sz="2000" b="1" smtClean="0"/>
              <a:t>rootmnt</a:t>
            </a:r>
            <a:r>
              <a:rPr lang="en-US" altLang="zh-CN" sz="2000" smtClean="0"/>
              <a:t>;   //</a:t>
            </a:r>
            <a:r>
              <a:rPr lang="zh-CN" altLang="en-US" sz="2000" smtClean="0"/>
              <a:t>根目录的安装点对象</a:t>
            </a:r>
          </a:p>
          <a:p>
            <a:pPr eaLnBrk="1" hangingPunct="1">
              <a:lnSpc>
                <a:spcPct val="90000"/>
              </a:lnSpc>
              <a:buFont typeface="Wingdings" panose="05000000000000000000" pitchFamily="2" charset="2"/>
              <a:buNone/>
            </a:pPr>
            <a:r>
              <a:rPr lang="en-US" altLang="zh-CN" sz="2000" smtClean="0"/>
              <a:t>struct vfsmount </a:t>
            </a:r>
            <a:r>
              <a:rPr lang="en-US" altLang="zh-CN" sz="2000" b="1" smtClean="0"/>
              <a:t>*</a:t>
            </a:r>
            <a:r>
              <a:rPr lang="en-US" altLang="zh-CN" sz="2000" smtClean="0"/>
              <a:t>pwdmnt;    //</a:t>
            </a:r>
            <a:r>
              <a:rPr lang="zh-CN" altLang="en-US" sz="2000" smtClean="0"/>
              <a:t>当前工作目录的安装点对象</a:t>
            </a:r>
          </a:p>
          <a:p>
            <a:pPr eaLnBrk="1" hangingPunct="1">
              <a:lnSpc>
                <a:spcPct val="90000"/>
              </a:lnSpc>
              <a:buFont typeface="Wingdings" panose="05000000000000000000" pitchFamily="2" charset="2"/>
              <a:buNone/>
            </a:pPr>
            <a:r>
              <a:rPr lang="en-US" altLang="zh-CN" sz="2000" smtClean="0"/>
              <a:t>struct vfsmount *altrootmnt; //</a:t>
            </a:r>
            <a:r>
              <a:rPr lang="zh-CN" altLang="en-US" sz="2000" smtClean="0"/>
              <a:t>可替换的根目录的安装点对象</a:t>
            </a:r>
          </a:p>
          <a:p>
            <a:pPr eaLnBrk="1" hangingPunct="1">
              <a:lnSpc>
                <a:spcPct val="90000"/>
              </a:lnSpc>
              <a:buFont typeface="Wingdings" panose="05000000000000000000" pitchFamily="2" charset="2"/>
              <a:buNone/>
            </a:pPr>
            <a:r>
              <a:rPr lang="zh-CN" altLang="en-US" sz="2000" smtClean="0"/>
              <a:t> </a:t>
            </a:r>
            <a:r>
              <a:rPr lang="en-US" altLang="zh-CN" sz="2000" smtClean="0"/>
              <a:t>};</a:t>
            </a:r>
          </a:p>
        </p:txBody>
      </p:sp>
    </p:spTree>
    <p:extLst>
      <p:ext uri="{BB962C8B-B14F-4D97-AF65-F5344CB8AC3E}">
        <p14:creationId xmlns:p14="http://schemas.microsoft.com/office/powerpoint/2010/main" val="153788346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4930" name="Object 2"/>
          <p:cNvGraphicFramePr>
            <a:graphicFrameLocks noChangeAspect="1"/>
          </p:cNvGraphicFramePr>
          <p:nvPr/>
        </p:nvGraphicFramePr>
        <p:xfrm>
          <a:off x="1143000" y="381000"/>
          <a:ext cx="6248400" cy="5110163"/>
        </p:xfrm>
        <a:graphic>
          <a:graphicData uri="http://schemas.openxmlformats.org/presentationml/2006/ole">
            <mc:AlternateContent xmlns:mc="http://schemas.openxmlformats.org/markup-compatibility/2006">
              <mc:Choice xmlns:v="urn:schemas-microsoft-com:vml" Requires="v">
                <p:oleObj spid="_x0000_s30722" name="VISIO" r:id="rId3" imgW="3930270" imgH="3215027" progId="Visio.Drawing.4">
                  <p:embed/>
                </p:oleObj>
              </mc:Choice>
              <mc:Fallback>
                <p:oleObj name="VISIO" r:id="rId3" imgW="3930270" imgH="3215027" progId="Visio.Drawing.4">
                  <p:embed/>
                  <p:pic>
                    <p:nvPicPr>
                      <p:cNvPr id="12493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81000"/>
                        <a:ext cx="6248400" cy="511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9600024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descr="进程文件管理"/>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052513"/>
            <a:ext cx="6223000" cy="439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631551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body" idx="1"/>
          </p:nvPr>
        </p:nvSpPr>
        <p:spPr>
          <a:xfrm>
            <a:off x="539750" y="1196975"/>
            <a:ext cx="7772400" cy="5486400"/>
          </a:xfrm>
        </p:spPr>
        <p:txBody>
          <a:bodyPr/>
          <a:lstStyle/>
          <a:p>
            <a:pPr algn="just" eaLnBrk="1" hangingPunct="1"/>
            <a:r>
              <a:rPr lang="zh-CN" altLang="en-US" smtClean="0">
                <a:ea typeface="黑体" panose="02010609060101010101" pitchFamily="49" charset="-122"/>
              </a:rPr>
              <a:t>例</a:t>
            </a:r>
            <a:r>
              <a:rPr lang="en-US" altLang="zh-CN" smtClean="0">
                <a:ea typeface="黑体" panose="02010609060101010101" pitchFamily="49" charset="-122"/>
              </a:rPr>
              <a:t>:</a:t>
            </a:r>
            <a:r>
              <a:rPr lang="zh-CN" altLang="en-US" smtClean="0">
                <a:solidFill>
                  <a:srgbClr val="000000"/>
                </a:solidFill>
              </a:rPr>
              <a:t>一个进程执行如下代码：</a:t>
            </a:r>
            <a:endParaRPr lang="zh-CN" altLang="en-US" smtClean="0"/>
          </a:p>
          <a:p>
            <a:pPr algn="just" eaLnBrk="1" hangingPunct="1">
              <a:buFont typeface="Wingdings" panose="05000000000000000000" pitchFamily="2" charset="2"/>
              <a:buNone/>
            </a:pPr>
            <a:r>
              <a:rPr lang="zh-CN" altLang="en-US" smtClean="0">
                <a:solidFill>
                  <a:srgbClr val="000000"/>
                </a:solidFill>
                <a:ea typeface="楷体_GB2312" pitchFamily="49" charset="-122"/>
              </a:rPr>
              <a:t>      </a:t>
            </a:r>
            <a:r>
              <a:rPr lang="en-US" altLang="zh-CN" smtClean="0">
                <a:solidFill>
                  <a:srgbClr val="000000"/>
                </a:solidFill>
                <a:ea typeface="楷体_GB2312" pitchFamily="49" charset="-122"/>
              </a:rPr>
              <a:t>fd1=open(</a:t>
            </a:r>
            <a:r>
              <a:rPr lang="en-US" altLang="zh-CN" smtClean="0">
                <a:ea typeface="楷体_GB2312" pitchFamily="49" charset="-122"/>
              </a:rPr>
              <a:t>"</a:t>
            </a:r>
            <a:r>
              <a:rPr lang="en-US" altLang="zh-CN" smtClean="0">
                <a:solidFill>
                  <a:srgbClr val="000000"/>
                </a:solidFill>
                <a:ea typeface="楷体_GB2312" pitchFamily="49" charset="-122"/>
              </a:rPr>
              <a:t>/etc/passwd</a:t>
            </a:r>
            <a:r>
              <a:rPr lang="en-US" altLang="zh-CN" smtClean="0">
                <a:ea typeface="楷体_GB2312" pitchFamily="49" charset="-122"/>
              </a:rPr>
              <a:t>"</a:t>
            </a:r>
            <a:r>
              <a:rPr lang="en-US" altLang="zh-CN" smtClean="0">
                <a:solidFill>
                  <a:srgbClr val="000000"/>
                </a:solidFill>
                <a:ea typeface="楷体_GB2312" pitchFamily="49" charset="-122"/>
              </a:rPr>
              <a:t>,o_RDONLY);       	</a:t>
            </a:r>
          </a:p>
          <a:p>
            <a:pPr algn="just" eaLnBrk="1" hangingPunct="1">
              <a:buFont typeface="Wingdings" panose="05000000000000000000" pitchFamily="2" charset="2"/>
              <a:buNone/>
            </a:pPr>
            <a:r>
              <a:rPr lang="en-US" altLang="zh-CN" smtClean="0">
                <a:solidFill>
                  <a:srgbClr val="000000"/>
                </a:solidFill>
                <a:ea typeface="楷体_GB2312" pitchFamily="49" charset="-122"/>
              </a:rPr>
              <a:t>                   /*</a:t>
            </a:r>
            <a:r>
              <a:rPr lang="zh-CN" altLang="en-US" smtClean="0">
                <a:solidFill>
                  <a:srgbClr val="000000"/>
                </a:solidFill>
                <a:ea typeface="楷体_GB2312" pitchFamily="49" charset="-122"/>
              </a:rPr>
              <a:t>以只读方式打开文件</a:t>
            </a:r>
            <a:r>
              <a:rPr lang="en-US" altLang="zh-CN" smtClean="0">
                <a:solidFill>
                  <a:srgbClr val="000000"/>
                </a:solidFill>
                <a:ea typeface="楷体_GB2312" pitchFamily="49" charset="-122"/>
              </a:rPr>
              <a:t>/etc/passwd */</a:t>
            </a:r>
            <a:endParaRPr lang="en-US" altLang="zh-CN" smtClean="0"/>
          </a:p>
          <a:p>
            <a:pPr algn="just" eaLnBrk="1" hangingPunct="1">
              <a:buFont typeface="Wingdings" panose="05000000000000000000" pitchFamily="2" charset="2"/>
              <a:buNone/>
            </a:pPr>
            <a:r>
              <a:rPr lang="en-US" altLang="zh-CN" smtClean="0">
                <a:solidFill>
                  <a:srgbClr val="000000"/>
                </a:solidFill>
                <a:ea typeface="楷体_GB2312" pitchFamily="49" charset="-122"/>
              </a:rPr>
              <a:t>      fd2=open(</a:t>
            </a:r>
            <a:r>
              <a:rPr lang="en-US" altLang="zh-CN" smtClean="0">
                <a:ea typeface="楷体_GB2312" pitchFamily="49" charset="-122"/>
              </a:rPr>
              <a:t>"</a:t>
            </a:r>
            <a:r>
              <a:rPr lang="en-US" altLang="zh-CN" smtClean="0">
                <a:solidFill>
                  <a:srgbClr val="000000"/>
                </a:solidFill>
                <a:ea typeface="楷体_GB2312" pitchFamily="49" charset="-122"/>
              </a:rPr>
              <a:t>pocal</a:t>
            </a:r>
            <a:r>
              <a:rPr lang="en-US" altLang="zh-CN" smtClean="0">
                <a:ea typeface="楷体_GB2312" pitchFamily="49" charset="-122"/>
              </a:rPr>
              <a:t>"</a:t>
            </a:r>
            <a:r>
              <a:rPr lang="en-US" altLang="zh-CN" smtClean="0">
                <a:solidFill>
                  <a:srgbClr val="000000"/>
                </a:solidFill>
                <a:ea typeface="楷体_GB2312" pitchFamily="49" charset="-122"/>
              </a:rPr>
              <a:t>,o_WRONLY);              </a:t>
            </a:r>
          </a:p>
          <a:p>
            <a:pPr algn="just" eaLnBrk="1" hangingPunct="1">
              <a:buFont typeface="Wingdings" panose="05000000000000000000" pitchFamily="2" charset="2"/>
              <a:buNone/>
            </a:pPr>
            <a:r>
              <a:rPr lang="en-US" altLang="zh-CN" smtClean="0">
                <a:solidFill>
                  <a:srgbClr val="000000"/>
                </a:solidFill>
                <a:ea typeface="楷体_GB2312" pitchFamily="49" charset="-122"/>
              </a:rPr>
              <a:t>             	/*</a:t>
            </a:r>
            <a:r>
              <a:rPr lang="zh-CN" altLang="en-US" smtClean="0">
                <a:solidFill>
                  <a:srgbClr val="000000"/>
                </a:solidFill>
                <a:ea typeface="楷体_GB2312" pitchFamily="49" charset="-122"/>
              </a:rPr>
              <a:t>以写方式打开文件</a:t>
            </a:r>
            <a:r>
              <a:rPr lang="en-US" altLang="zh-CN" smtClean="0">
                <a:solidFill>
                  <a:srgbClr val="000000"/>
                </a:solidFill>
                <a:ea typeface="楷体_GB2312" pitchFamily="49" charset="-122"/>
              </a:rPr>
              <a:t>pocal */</a:t>
            </a:r>
            <a:endParaRPr lang="en-US" altLang="zh-CN" smtClean="0"/>
          </a:p>
          <a:p>
            <a:pPr algn="just" eaLnBrk="1" hangingPunct="1">
              <a:buFont typeface="Wingdings" panose="05000000000000000000" pitchFamily="2" charset="2"/>
              <a:buNone/>
            </a:pPr>
            <a:r>
              <a:rPr lang="en-US" altLang="zh-CN" smtClean="0">
                <a:solidFill>
                  <a:srgbClr val="000000"/>
                </a:solidFill>
                <a:ea typeface="楷体_GB2312" pitchFamily="49" charset="-122"/>
              </a:rPr>
              <a:t>      fd3=open(</a:t>
            </a:r>
            <a:r>
              <a:rPr lang="en-US" altLang="zh-CN" smtClean="0">
                <a:ea typeface="楷体_GB2312" pitchFamily="49" charset="-122"/>
              </a:rPr>
              <a:t>"</a:t>
            </a:r>
            <a:r>
              <a:rPr lang="en-US" altLang="zh-CN" smtClean="0">
                <a:solidFill>
                  <a:srgbClr val="000000"/>
                </a:solidFill>
                <a:ea typeface="楷体_GB2312" pitchFamily="49" charset="-122"/>
              </a:rPr>
              <a:t>/etc/passwd</a:t>
            </a:r>
            <a:r>
              <a:rPr lang="en-US" altLang="zh-CN" smtClean="0">
                <a:ea typeface="楷体_GB2312" pitchFamily="49" charset="-122"/>
              </a:rPr>
              <a:t>"</a:t>
            </a:r>
            <a:r>
              <a:rPr lang="en-US" altLang="zh-CN" smtClean="0">
                <a:solidFill>
                  <a:srgbClr val="000000"/>
                </a:solidFill>
                <a:ea typeface="楷体_GB2312" pitchFamily="49" charset="-122"/>
              </a:rPr>
              <a:t>,o_RDWR);         	</a:t>
            </a:r>
          </a:p>
          <a:p>
            <a:pPr algn="just" eaLnBrk="1" hangingPunct="1">
              <a:buFont typeface="Wingdings" panose="05000000000000000000" pitchFamily="2" charset="2"/>
              <a:buNone/>
            </a:pPr>
            <a:r>
              <a:rPr lang="en-US" altLang="zh-CN" smtClean="0">
                <a:solidFill>
                  <a:srgbClr val="000000"/>
                </a:solidFill>
                <a:ea typeface="楷体_GB2312" pitchFamily="49" charset="-122"/>
              </a:rPr>
              <a:t>                  /*</a:t>
            </a:r>
            <a:r>
              <a:rPr lang="zh-CN" altLang="en-US" smtClean="0">
                <a:solidFill>
                  <a:srgbClr val="000000"/>
                </a:solidFill>
                <a:ea typeface="楷体_GB2312" pitchFamily="49" charset="-122"/>
              </a:rPr>
              <a:t>以读写方式打开文件</a:t>
            </a:r>
            <a:r>
              <a:rPr lang="en-US" altLang="zh-CN" smtClean="0">
                <a:solidFill>
                  <a:srgbClr val="000000"/>
                </a:solidFill>
                <a:ea typeface="楷体_GB2312" pitchFamily="49" charset="-122"/>
              </a:rPr>
              <a:t>/etc/passwd */</a:t>
            </a:r>
            <a:endParaRPr lang="en-US" altLang="zh-CN" smtClean="0"/>
          </a:p>
        </p:txBody>
      </p:sp>
      <p:sp>
        <p:nvSpPr>
          <p:cNvPr id="126979" name="Rectangle 3"/>
          <p:cNvSpPr>
            <a:spLocks noGrp="1" noChangeArrowheads="1"/>
          </p:cNvSpPr>
          <p:nvPr>
            <p:ph type="title"/>
          </p:nvPr>
        </p:nvSpPr>
        <p:spPr>
          <a:xfrm>
            <a:off x="611188" y="277813"/>
            <a:ext cx="8075612" cy="788987"/>
          </a:xfrm>
          <a:noFill/>
        </p:spPr>
        <p:txBody>
          <a:bodyPr/>
          <a:lstStyle/>
          <a:p>
            <a:pPr eaLnBrk="1" hangingPunct="1"/>
            <a:r>
              <a:rPr lang="zh-CN" altLang="en-US" sz="3000" smtClean="0">
                <a:ea typeface="黑体" panose="02010609060101010101" pitchFamily="49" charset="-122"/>
              </a:rPr>
              <a:t>用户打开文件表与系统打开文件表之间的关系</a:t>
            </a:r>
          </a:p>
        </p:txBody>
      </p:sp>
    </p:spTree>
    <p:extLst>
      <p:ext uri="{BB962C8B-B14F-4D97-AF65-F5344CB8AC3E}">
        <p14:creationId xmlns:p14="http://schemas.microsoft.com/office/powerpoint/2010/main" val="1667835692"/>
      </p:ext>
    </p:extLst>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ChangeArrowheads="1"/>
          </p:cNvSpPr>
          <p:nvPr/>
        </p:nvSpPr>
        <p:spPr bwMode="auto">
          <a:xfrm>
            <a:off x="2473325" y="2335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28003" name="Object 3"/>
          <p:cNvGraphicFramePr>
            <a:graphicFrameLocks noChangeAspect="1"/>
          </p:cNvGraphicFramePr>
          <p:nvPr/>
        </p:nvGraphicFramePr>
        <p:xfrm>
          <a:off x="304800" y="990600"/>
          <a:ext cx="8610600" cy="4486275"/>
        </p:xfrm>
        <a:graphic>
          <a:graphicData uri="http://schemas.openxmlformats.org/presentationml/2006/ole">
            <mc:AlternateContent xmlns:mc="http://schemas.openxmlformats.org/markup-compatibility/2006">
              <mc:Choice xmlns:v="urn:schemas-microsoft-com:vml" Requires="v">
                <p:oleObj spid="_x0000_s31746" name="Visio" r:id="rId3" imgW="4201814" imgH="2183608" progId="Visio.Drawing.11">
                  <p:embed/>
                </p:oleObj>
              </mc:Choice>
              <mc:Fallback>
                <p:oleObj name="Visio" r:id="rId3" imgW="4201814" imgH="2183608" progId="Visio.Drawing.11">
                  <p:embed/>
                  <p:pic>
                    <p:nvPicPr>
                      <p:cNvPr id="12800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990600"/>
                        <a:ext cx="8610600" cy="448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8004" name="Text Box 4"/>
          <p:cNvSpPr txBox="1">
            <a:spLocks noChangeArrowheads="1"/>
          </p:cNvSpPr>
          <p:nvPr/>
        </p:nvSpPr>
        <p:spPr bwMode="auto">
          <a:xfrm>
            <a:off x="1066800" y="5707063"/>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SzTx/>
              <a:buFontTx/>
              <a:buNone/>
            </a:pPr>
            <a:r>
              <a:rPr kumimoji="1" lang="zh-CN" altLang="en-US"/>
              <a:t>用户打开文件表与系统打开文件表间的关系</a:t>
            </a:r>
          </a:p>
        </p:txBody>
      </p:sp>
    </p:spTree>
    <p:extLst>
      <p:ext uri="{BB962C8B-B14F-4D97-AF65-F5344CB8AC3E}">
        <p14:creationId xmlns:p14="http://schemas.microsoft.com/office/powerpoint/2010/main" val="3867318972"/>
      </p:ext>
    </p:extLst>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468313" y="260350"/>
            <a:ext cx="8229600" cy="1143000"/>
          </a:xfrm>
        </p:spPr>
        <p:txBody>
          <a:bodyPr/>
          <a:lstStyle/>
          <a:p>
            <a:pPr eaLnBrk="1" hangingPunct="1"/>
            <a:r>
              <a:rPr lang="en-US" altLang="zh-CN" dirty="0" smtClean="0">
                <a:ea typeface="黑体" panose="02010609060101010101" pitchFamily="49" charset="-122"/>
              </a:rPr>
              <a:t>7.8 EXT2</a:t>
            </a:r>
            <a:r>
              <a:rPr lang="zh-CN" altLang="en-US" dirty="0" smtClean="0">
                <a:ea typeface="黑体" panose="02010609060101010101" pitchFamily="49" charset="-122"/>
              </a:rPr>
              <a:t>文件系统</a:t>
            </a:r>
          </a:p>
        </p:txBody>
      </p:sp>
      <p:sp>
        <p:nvSpPr>
          <p:cNvPr id="129027" name="Rectangle 3"/>
          <p:cNvSpPr>
            <a:spLocks noGrp="1" noChangeArrowheads="1"/>
          </p:cNvSpPr>
          <p:nvPr>
            <p:ph type="body" idx="1"/>
          </p:nvPr>
        </p:nvSpPr>
        <p:spPr>
          <a:xfrm>
            <a:off x="609600" y="1412875"/>
            <a:ext cx="7924800" cy="4987925"/>
          </a:xfrm>
        </p:spPr>
        <p:txBody>
          <a:bodyPr/>
          <a:lstStyle/>
          <a:p>
            <a:pPr algn="just" eaLnBrk="1" hangingPunct="1">
              <a:lnSpc>
                <a:spcPct val="90000"/>
              </a:lnSpc>
            </a:pPr>
            <a:r>
              <a:rPr lang="en-US" altLang="zh-CN" sz="2400" smtClean="0">
                <a:latin typeface="宋体" panose="02010600030101010101" pitchFamily="2" charset="-122"/>
              </a:rPr>
              <a:t>EXT</a:t>
            </a:r>
            <a:r>
              <a:rPr lang="zh-CN" altLang="en-US" sz="2400" smtClean="0">
                <a:latin typeface="宋体" panose="02010600030101010101" pitchFamily="2" charset="-122"/>
              </a:rPr>
              <a:t>（</a:t>
            </a:r>
            <a:r>
              <a:rPr lang="en-US" altLang="zh-CN" sz="2400" smtClean="0">
                <a:latin typeface="宋体" panose="02010600030101010101" pitchFamily="2" charset="-122"/>
              </a:rPr>
              <a:t>1992</a:t>
            </a:r>
            <a:r>
              <a:rPr lang="zh-CN" altLang="en-US" sz="2400" smtClean="0">
                <a:latin typeface="宋体" panose="02010600030101010101" pitchFamily="2" charset="-122"/>
              </a:rPr>
              <a:t>年）和</a:t>
            </a:r>
            <a:r>
              <a:rPr lang="en-US" altLang="zh-CN" sz="2400" smtClean="0">
                <a:latin typeface="宋体" panose="02010600030101010101" pitchFamily="2" charset="-122"/>
              </a:rPr>
              <a:t>EXT2</a:t>
            </a:r>
            <a:r>
              <a:rPr lang="zh-CN" altLang="en-US" sz="2400" smtClean="0">
                <a:latin typeface="宋体" panose="02010600030101010101" pitchFamily="2" charset="-122"/>
              </a:rPr>
              <a:t>（</a:t>
            </a:r>
            <a:r>
              <a:rPr lang="en-US" altLang="zh-CN" sz="2400" smtClean="0">
                <a:latin typeface="宋体" panose="02010600030101010101" pitchFamily="2" charset="-122"/>
              </a:rPr>
              <a:t>1994</a:t>
            </a:r>
            <a:r>
              <a:rPr lang="zh-CN" altLang="en-US" sz="2400" smtClean="0">
                <a:latin typeface="宋体" panose="02010600030101010101" pitchFamily="2" charset="-122"/>
              </a:rPr>
              <a:t>年）是专门为</a:t>
            </a:r>
            <a:r>
              <a:rPr lang="en-US" altLang="zh-CN" sz="2400" smtClean="0">
                <a:latin typeface="宋体" panose="02010600030101010101" pitchFamily="2" charset="-122"/>
              </a:rPr>
              <a:t>Linux</a:t>
            </a:r>
            <a:r>
              <a:rPr lang="zh-CN" altLang="en-US" sz="2400" smtClean="0">
                <a:latin typeface="宋体" panose="02010600030101010101" pitchFamily="2" charset="-122"/>
              </a:rPr>
              <a:t>设计的可扩展的文件系统，在</a:t>
            </a:r>
            <a:r>
              <a:rPr lang="en-US" altLang="zh-CN" sz="2400" smtClean="0">
                <a:latin typeface="宋体" panose="02010600030101010101" pitchFamily="2" charset="-122"/>
              </a:rPr>
              <a:t>Linux</a:t>
            </a:r>
            <a:r>
              <a:rPr lang="zh-CN" altLang="en-US" sz="2400" smtClean="0">
                <a:latin typeface="宋体" panose="02010600030101010101" pitchFamily="2" charset="-122"/>
              </a:rPr>
              <a:t>启动时作为根文件系统自动安装。</a:t>
            </a:r>
          </a:p>
          <a:p>
            <a:pPr algn="just" eaLnBrk="1" hangingPunct="1">
              <a:lnSpc>
                <a:spcPct val="90000"/>
              </a:lnSpc>
            </a:pPr>
            <a:r>
              <a:rPr lang="en-US" altLang="zh-CN" sz="2400" smtClean="0">
                <a:latin typeface="宋体" panose="02010600030101010101" pitchFamily="2" charset="-122"/>
              </a:rPr>
              <a:t>EXT2</a:t>
            </a:r>
            <a:r>
              <a:rPr lang="zh-CN" altLang="en-US" sz="2400" smtClean="0">
                <a:latin typeface="宋体" panose="02010600030101010101" pitchFamily="2" charset="-122"/>
              </a:rPr>
              <a:t>文件系统支持标准</a:t>
            </a:r>
            <a:r>
              <a:rPr lang="en-US" altLang="zh-CN" sz="2400" smtClean="0">
                <a:latin typeface="宋体" panose="02010600030101010101" pitchFamily="2" charset="-122"/>
              </a:rPr>
              <a:t>LINUX</a:t>
            </a:r>
            <a:r>
              <a:rPr lang="zh-CN" altLang="en-US" sz="2400" smtClean="0">
                <a:latin typeface="宋体" panose="02010600030101010101" pitchFamily="2" charset="-122"/>
              </a:rPr>
              <a:t>文件类型： 普通文件、 目录文件、 特别文件和符号链接。</a:t>
            </a:r>
          </a:p>
          <a:p>
            <a:pPr eaLnBrk="1" hangingPunct="1">
              <a:lnSpc>
                <a:spcPct val="90000"/>
              </a:lnSpc>
            </a:pPr>
            <a:r>
              <a:rPr lang="zh-CN" altLang="en-US" sz="2400" smtClean="0">
                <a:solidFill>
                  <a:schemeClr val="accent2"/>
                </a:solidFill>
                <a:latin typeface="宋体" panose="02010600030101010101" pitchFamily="2" charset="-122"/>
              </a:rPr>
              <a:t>管理大分区：</a:t>
            </a:r>
            <a:r>
              <a:rPr lang="zh-CN" altLang="en-US" sz="2400" smtClean="0">
                <a:latin typeface="宋体" panose="02010600030101010101" pitchFamily="2" charset="-122"/>
              </a:rPr>
              <a:t>一个分区的容量最大可达</a:t>
            </a:r>
            <a:r>
              <a:rPr lang="en-US" altLang="zh-CN" sz="2400" smtClean="0">
                <a:latin typeface="宋体" panose="02010600030101010101" pitchFamily="2" charset="-122"/>
              </a:rPr>
              <a:t>4TB</a:t>
            </a:r>
          </a:p>
          <a:p>
            <a:pPr eaLnBrk="1" hangingPunct="1">
              <a:lnSpc>
                <a:spcPct val="90000"/>
              </a:lnSpc>
            </a:pPr>
            <a:r>
              <a:rPr lang="zh-CN" altLang="en-US" sz="2400" smtClean="0">
                <a:solidFill>
                  <a:schemeClr val="accent2"/>
                </a:solidFill>
                <a:latin typeface="宋体" panose="02010600030101010101" pitchFamily="2" charset="-122"/>
              </a:rPr>
              <a:t>支持长文件名：</a:t>
            </a:r>
            <a:r>
              <a:rPr lang="zh-CN" altLang="en-US" sz="2400" smtClean="0">
                <a:latin typeface="宋体" panose="02010600030101010101" pitchFamily="2" charset="-122"/>
              </a:rPr>
              <a:t>最多可达</a:t>
            </a:r>
            <a:r>
              <a:rPr lang="en-US" altLang="zh-CN" sz="2400" smtClean="0">
                <a:latin typeface="宋体" panose="02010600030101010101" pitchFamily="2" charset="-122"/>
              </a:rPr>
              <a:t>255</a:t>
            </a:r>
            <a:r>
              <a:rPr lang="zh-CN" altLang="en-US" sz="2400" smtClean="0">
                <a:latin typeface="宋体" panose="02010600030101010101" pitchFamily="2" charset="-122"/>
              </a:rPr>
              <a:t>个字符，并且可扩展到</a:t>
            </a:r>
            <a:r>
              <a:rPr lang="en-US" altLang="zh-CN" sz="2400" smtClean="0">
                <a:latin typeface="宋体" panose="02010600030101010101" pitchFamily="2" charset="-122"/>
              </a:rPr>
              <a:t>1012</a:t>
            </a:r>
            <a:r>
              <a:rPr lang="zh-CN" altLang="en-US" sz="2400" smtClean="0">
                <a:latin typeface="宋体" panose="02010600030101010101" pitchFamily="2" charset="-122"/>
              </a:rPr>
              <a:t>个字符</a:t>
            </a:r>
          </a:p>
          <a:p>
            <a:pPr eaLnBrk="1" hangingPunct="1">
              <a:lnSpc>
                <a:spcPct val="90000"/>
              </a:lnSpc>
            </a:pPr>
            <a:r>
              <a:rPr lang="zh-CN" altLang="en-US" sz="2400" smtClean="0">
                <a:solidFill>
                  <a:schemeClr val="accent2"/>
                </a:solidFill>
                <a:latin typeface="宋体" panose="02010600030101010101" pitchFamily="2" charset="-122"/>
              </a:rPr>
              <a:t>支持文件系统数据“即时同步”特性：</a:t>
            </a:r>
            <a:r>
              <a:rPr lang="zh-CN" altLang="en-US" sz="2400" smtClean="0">
                <a:latin typeface="宋体" panose="02010600030101010101" pitchFamily="2" charset="-122"/>
              </a:rPr>
              <a:t>即内存中的数据一旦改变，立即更新硬盘上的数据使之一致</a:t>
            </a:r>
          </a:p>
          <a:p>
            <a:pPr eaLnBrk="1" hangingPunct="1">
              <a:lnSpc>
                <a:spcPct val="90000"/>
              </a:lnSpc>
            </a:pPr>
            <a:r>
              <a:rPr lang="zh-CN" altLang="en-US" sz="2400" smtClean="0">
                <a:solidFill>
                  <a:schemeClr val="accent2"/>
                </a:solidFill>
                <a:latin typeface="宋体" panose="02010600030101010101" pitchFamily="2" charset="-122"/>
              </a:rPr>
              <a:t>允许用户定制文件系统的数据单元（</a:t>
            </a:r>
            <a:r>
              <a:rPr lang="en-US" altLang="zh-CN" sz="2400" smtClean="0">
                <a:solidFill>
                  <a:schemeClr val="accent2"/>
                </a:solidFill>
                <a:latin typeface="宋体" panose="02010600030101010101" pitchFamily="2" charset="-122"/>
              </a:rPr>
              <a:t>block</a:t>
            </a:r>
            <a:r>
              <a:rPr lang="zh-CN" altLang="en-US" sz="2400" smtClean="0">
                <a:solidFill>
                  <a:schemeClr val="accent2"/>
                </a:solidFill>
                <a:latin typeface="宋体" panose="02010600030101010101" pitchFamily="2" charset="-122"/>
              </a:rPr>
              <a:t>）的大小：</a:t>
            </a:r>
            <a:r>
              <a:rPr lang="zh-CN" altLang="en-US" sz="2400" smtClean="0">
                <a:latin typeface="宋体" panose="02010600030101010101" pitchFamily="2" charset="-122"/>
              </a:rPr>
              <a:t>可以是 </a:t>
            </a:r>
            <a:r>
              <a:rPr lang="en-US" altLang="zh-CN" sz="2400" smtClean="0">
                <a:latin typeface="宋体" panose="02010600030101010101" pitchFamily="2" charset="-122"/>
              </a:rPr>
              <a:t>1024</a:t>
            </a:r>
            <a:r>
              <a:rPr lang="zh-CN" altLang="en-US" sz="2400" smtClean="0">
                <a:latin typeface="宋体" panose="02010600030101010101" pitchFamily="2" charset="-122"/>
              </a:rPr>
              <a:t>、</a:t>
            </a:r>
            <a:r>
              <a:rPr lang="en-US" altLang="zh-CN" sz="2400" smtClean="0">
                <a:latin typeface="宋体" panose="02010600030101010101" pitchFamily="2" charset="-122"/>
              </a:rPr>
              <a:t>2048 </a:t>
            </a:r>
            <a:r>
              <a:rPr lang="zh-CN" altLang="en-US" sz="2400" smtClean="0">
                <a:latin typeface="宋体" panose="02010600030101010101" pitchFamily="2" charset="-122"/>
              </a:rPr>
              <a:t>或 </a:t>
            </a:r>
            <a:r>
              <a:rPr lang="en-US" altLang="zh-CN" sz="2400" smtClean="0">
                <a:latin typeface="宋体" panose="02010600030101010101" pitchFamily="2" charset="-122"/>
              </a:rPr>
              <a:t>4096 </a:t>
            </a:r>
            <a:r>
              <a:rPr lang="zh-CN" altLang="en-US" sz="2400" smtClean="0">
                <a:latin typeface="宋体" panose="02010600030101010101" pitchFamily="2" charset="-122"/>
              </a:rPr>
              <a:t>个字节，使之适应不同环境的要求</a:t>
            </a:r>
          </a:p>
          <a:p>
            <a:pPr algn="just" eaLnBrk="1" hangingPunct="1">
              <a:lnSpc>
                <a:spcPct val="90000"/>
              </a:lnSpc>
            </a:pPr>
            <a:endParaRPr lang="en-US" altLang="zh-CN" sz="2400" smtClean="0">
              <a:latin typeface="宋体" panose="02010600030101010101" pitchFamily="2" charset="-122"/>
            </a:endParaRPr>
          </a:p>
        </p:txBody>
      </p:sp>
    </p:spTree>
    <p:extLst>
      <p:ext uri="{BB962C8B-B14F-4D97-AF65-F5344CB8AC3E}">
        <p14:creationId xmlns:p14="http://schemas.microsoft.com/office/powerpoint/2010/main" val="9586070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611188" y="0"/>
            <a:ext cx="7772400" cy="1143000"/>
          </a:xfrm>
        </p:spPr>
        <p:txBody>
          <a:bodyPr/>
          <a:lstStyle/>
          <a:p>
            <a:pPr eaLnBrk="1" hangingPunct="1"/>
            <a:r>
              <a:rPr lang="en-US" altLang="zh-CN" sz="3400" smtClean="0"/>
              <a:t>Linux</a:t>
            </a:r>
            <a:r>
              <a:rPr lang="zh-CN" altLang="en-US" sz="3400" smtClean="0"/>
              <a:t>的磁盘组织</a:t>
            </a:r>
          </a:p>
        </p:txBody>
      </p:sp>
      <p:sp>
        <p:nvSpPr>
          <p:cNvPr id="1024003" name="Rectangle 3"/>
          <p:cNvSpPr>
            <a:spLocks noGrp="1" noChangeArrowheads="1"/>
          </p:cNvSpPr>
          <p:nvPr>
            <p:ph type="body" idx="1"/>
          </p:nvPr>
        </p:nvSpPr>
        <p:spPr>
          <a:xfrm>
            <a:off x="609600" y="1066800"/>
            <a:ext cx="8001000" cy="5791200"/>
          </a:xfrm>
        </p:spPr>
        <p:txBody>
          <a:bodyPr/>
          <a:lstStyle/>
          <a:p>
            <a:pPr eaLnBrk="1" hangingPunct="1"/>
            <a:r>
              <a:rPr lang="zh-CN" altLang="en-US" sz="2400" smtClean="0"/>
              <a:t>一个磁盘分区是由一组连续的柱面组成。</a:t>
            </a:r>
          </a:p>
          <a:p>
            <a:pPr eaLnBrk="1" hangingPunct="1"/>
            <a:r>
              <a:rPr lang="zh-CN" altLang="en-US" sz="2400" smtClean="0">
                <a:solidFill>
                  <a:srgbClr val="FF0000"/>
                </a:solidFill>
              </a:rPr>
              <a:t>传统的</a:t>
            </a:r>
            <a:r>
              <a:rPr lang="en-US" altLang="zh-CN" sz="2400" smtClean="0">
                <a:solidFill>
                  <a:srgbClr val="FF0000"/>
                </a:solidFill>
              </a:rPr>
              <a:t>Unix</a:t>
            </a:r>
            <a:r>
              <a:rPr lang="zh-CN" altLang="en-US" sz="2400" smtClean="0">
                <a:solidFill>
                  <a:srgbClr val="FF0000"/>
                </a:solidFill>
              </a:rPr>
              <a:t>文件系统中：</a:t>
            </a:r>
          </a:p>
          <a:p>
            <a:pPr lvl="1" eaLnBrk="1" hangingPunct="1"/>
            <a:r>
              <a:rPr lang="zh-CN" altLang="en-US" sz="2200" smtClean="0"/>
              <a:t>访问文件需</a:t>
            </a:r>
            <a:r>
              <a:rPr lang="zh-CN" altLang="en-US" sz="2200" smtClean="0">
                <a:solidFill>
                  <a:srgbClr val="0000FF"/>
                </a:solidFill>
              </a:rPr>
              <a:t>两次</a:t>
            </a:r>
            <a:r>
              <a:rPr lang="zh-CN" altLang="en-US" sz="2200" smtClean="0"/>
              <a:t>磁盘访问：一次读</a:t>
            </a:r>
            <a:r>
              <a:rPr lang="en-US" altLang="zh-CN" sz="2200" smtClean="0"/>
              <a:t>i</a:t>
            </a:r>
            <a:r>
              <a:rPr lang="zh-CN" altLang="en-US" sz="2200" smtClean="0"/>
              <a:t>节点，然后再读文件</a:t>
            </a:r>
            <a:r>
              <a:rPr lang="en-US" altLang="zh-CN" sz="2200" smtClean="0"/>
              <a:t>;</a:t>
            </a:r>
          </a:p>
          <a:p>
            <a:pPr lvl="1" eaLnBrk="1" hangingPunct="1"/>
            <a:r>
              <a:rPr lang="en-US" altLang="zh-CN" sz="2200" smtClean="0"/>
              <a:t> </a:t>
            </a:r>
            <a:r>
              <a:rPr lang="zh-CN" altLang="en-US" sz="2200" smtClean="0"/>
              <a:t>所有的</a:t>
            </a:r>
            <a:r>
              <a:rPr lang="en-US" altLang="zh-CN" sz="2200" smtClean="0"/>
              <a:t>i</a:t>
            </a:r>
            <a:r>
              <a:rPr lang="zh-CN" altLang="en-US" sz="2200" smtClean="0"/>
              <a:t>节点都集中放在文件系统开始的位置，其余的磁道存放数据块，因而两次磁盘操作需要花费</a:t>
            </a:r>
            <a:r>
              <a:rPr lang="zh-CN" altLang="en-US" sz="2200" smtClean="0">
                <a:solidFill>
                  <a:srgbClr val="0000FF"/>
                </a:solidFill>
              </a:rPr>
              <a:t>较长的寻道时间</a:t>
            </a:r>
            <a:r>
              <a:rPr lang="zh-CN" altLang="en-US" sz="2200" smtClean="0"/>
              <a:t>。</a:t>
            </a:r>
          </a:p>
          <a:p>
            <a:pPr eaLnBrk="1" hangingPunct="1"/>
            <a:r>
              <a:rPr lang="en-US" altLang="zh-CN" sz="2400" smtClean="0">
                <a:solidFill>
                  <a:srgbClr val="FF0000"/>
                </a:solidFill>
              </a:rPr>
              <a:t>Linux</a:t>
            </a:r>
            <a:r>
              <a:rPr lang="zh-CN" altLang="en-US" sz="2400" smtClean="0">
                <a:solidFill>
                  <a:srgbClr val="FF0000"/>
                </a:solidFill>
              </a:rPr>
              <a:t>的改进：</a:t>
            </a:r>
          </a:p>
          <a:p>
            <a:pPr lvl="1" eaLnBrk="1" hangingPunct="1"/>
            <a:r>
              <a:rPr lang="zh-CN" altLang="en-US" sz="2200" smtClean="0"/>
              <a:t>将磁盘分区再分成多个柱面组，每个柱面组有一个或几个连续的柱面组成。</a:t>
            </a:r>
          </a:p>
          <a:p>
            <a:pPr lvl="1" eaLnBrk="1" hangingPunct="1"/>
            <a:r>
              <a:rPr lang="zh-CN" altLang="en-US" sz="2200" smtClean="0"/>
              <a:t>每个柱面组由超级块、</a:t>
            </a:r>
            <a:r>
              <a:rPr lang="en-US" altLang="zh-CN" sz="2200" smtClean="0"/>
              <a:t>i</a:t>
            </a:r>
            <a:r>
              <a:rPr lang="zh-CN" altLang="en-US" sz="2200" smtClean="0"/>
              <a:t>节点表和空闲块表组成。</a:t>
            </a:r>
          </a:p>
          <a:p>
            <a:pPr lvl="1" eaLnBrk="1" hangingPunct="1"/>
            <a:r>
              <a:rPr lang="zh-CN" altLang="en-US" sz="2200" smtClean="0">
                <a:solidFill>
                  <a:srgbClr val="0000FF"/>
                </a:solidFill>
              </a:rPr>
              <a:t>将与</a:t>
            </a:r>
            <a:r>
              <a:rPr lang="en-US" altLang="zh-CN" sz="2200" smtClean="0">
                <a:solidFill>
                  <a:srgbClr val="0000FF"/>
                </a:solidFill>
              </a:rPr>
              <a:t>i</a:t>
            </a:r>
            <a:r>
              <a:rPr lang="zh-CN" altLang="en-US" sz="2200" smtClean="0">
                <a:solidFill>
                  <a:srgbClr val="0000FF"/>
                </a:solidFill>
              </a:rPr>
              <a:t>节点相关的文件数据与该</a:t>
            </a:r>
            <a:r>
              <a:rPr lang="en-US" altLang="zh-CN" sz="2200" smtClean="0">
                <a:solidFill>
                  <a:srgbClr val="0000FF"/>
                </a:solidFill>
              </a:rPr>
              <a:t>i</a:t>
            </a:r>
            <a:r>
              <a:rPr lang="zh-CN" altLang="en-US" sz="2200" smtClean="0">
                <a:solidFill>
                  <a:srgbClr val="0000FF"/>
                </a:solidFill>
              </a:rPr>
              <a:t>节点存放在同一个柱面内</a:t>
            </a:r>
            <a:r>
              <a:rPr lang="zh-CN" altLang="en-US" sz="2200" smtClean="0"/>
              <a:t>，减少寻道时间。</a:t>
            </a:r>
          </a:p>
          <a:p>
            <a:pPr lvl="1" eaLnBrk="1" hangingPunct="1"/>
            <a:r>
              <a:rPr lang="zh-CN" altLang="en-US" sz="2200" smtClean="0"/>
              <a:t> 在文件创建时，任选一个</a:t>
            </a:r>
            <a:r>
              <a:rPr lang="en-US" altLang="zh-CN" sz="2200" smtClean="0"/>
              <a:t>i</a:t>
            </a:r>
            <a:r>
              <a:rPr lang="zh-CN" altLang="en-US" sz="2200" smtClean="0"/>
              <a:t>节点，并优先在该</a:t>
            </a:r>
            <a:r>
              <a:rPr lang="en-US" altLang="zh-CN" sz="2200" smtClean="0"/>
              <a:t>i</a:t>
            </a:r>
            <a:r>
              <a:rPr lang="zh-CN" altLang="en-US" sz="2200" smtClean="0"/>
              <a:t>节点所在的柱面中分配数据块。</a:t>
            </a:r>
          </a:p>
        </p:txBody>
      </p:sp>
    </p:spTree>
    <p:extLst>
      <p:ext uri="{BB962C8B-B14F-4D97-AF65-F5344CB8AC3E}">
        <p14:creationId xmlns:p14="http://schemas.microsoft.com/office/powerpoint/2010/main" val="14003591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003">
                                            <p:txEl>
                                              <p:pRg st="0" end="0"/>
                                            </p:txEl>
                                          </p:spTgt>
                                        </p:tgtEl>
                                        <p:attrNameLst>
                                          <p:attrName>style.visibility</p:attrName>
                                        </p:attrNameLst>
                                      </p:cBhvr>
                                      <p:to>
                                        <p:strVal val="visible"/>
                                      </p:to>
                                    </p:set>
                                    <p:anim calcmode="lin" valueType="num">
                                      <p:cBhvr additive="base">
                                        <p:cTn id="7" dur="500" fill="hold"/>
                                        <p:tgtEl>
                                          <p:spTgt spid="10240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0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003">
                                            <p:txEl>
                                              <p:pRg st="1" end="1"/>
                                            </p:txEl>
                                          </p:spTgt>
                                        </p:tgtEl>
                                        <p:attrNameLst>
                                          <p:attrName>style.visibility</p:attrName>
                                        </p:attrNameLst>
                                      </p:cBhvr>
                                      <p:to>
                                        <p:strVal val="visible"/>
                                      </p:to>
                                    </p:set>
                                    <p:anim calcmode="lin" valueType="num">
                                      <p:cBhvr additive="base">
                                        <p:cTn id="13" dur="500" fill="hold"/>
                                        <p:tgtEl>
                                          <p:spTgt spid="10240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00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024003">
                                            <p:txEl>
                                              <p:pRg st="2" end="2"/>
                                            </p:txEl>
                                          </p:spTgt>
                                        </p:tgtEl>
                                        <p:attrNameLst>
                                          <p:attrName>style.visibility</p:attrName>
                                        </p:attrNameLst>
                                      </p:cBhvr>
                                      <p:to>
                                        <p:strVal val="visible"/>
                                      </p:to>
                                    </p:set>
                                    <p:anim calcmode="lin" valueType="num">
                                      <p:cBhvr additive="base">
                                        <p:cTn id="17" dur="500" fill="hold"/>
                                        <p:tgtEl>
                                          <p:spTgt spid="102400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2400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024003">
                                            <p:txEl>
                                              <p:pRg st="3" end="3"/>
                                            </p:txEl>
                                          </p:spTgt>
                                        </p:tgtEl>
                                        <p:attrNameLst>
                                          <p:attrName>style.visibility</p:attrName>
                                        </p:attrNameLst>
                                      </p:cBhvr>
                                      <p:to>
                                        <p:strVal val="visible"/>
                                      </p:to>
                                    </p:set>
                                    <p:anim calcmode="lin" valueType="num">
                                      <p:cBhvr additive="base">
                                        <p:cTn id="21" dur="500" fill="hold"/>
                                        <p:tgtEl>
                                          <p:spTgt spid="1024003">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0240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024003">
                                            <p:txEl>
                                              <p:pRg st="4" end="4"/>
                                            </p:txEl>
                                          </p:spTgt>
                                        </p:tgtEl>
                                        <p:attrNameLst>
                                          <p:attrName>style.visibility</p:attrName>
                                        </p:attrNameLst>
                                      </p:cBhvr>
                                      <p:to>
                                        <p:strVal val="visible"/>
                                      </p:to>
                                    </p:set>
                                    <p:anim calcmode="lin" valueType="num">
                                      <p:cBhvr additive="base">
                                        <p:cTn id="27" dur="500" fill="hold"/>
                                        <p:tgtEl>
                                          <p:spTgt spid="102400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2400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024003">
                                            <p:txEl>
                                              <p:pRg st="5" end="5"/>
                                            </p:txEl>
                                          </p:spTgt>
                                        </p:tgtEl>
                                        <p:attrNameLst>
                                          <p:attrName>style.visibility</p:attrName>
                                        </p:attrNameLst>
                                      </p:cBhvr>
                                      <p:to>
                                        <p:strVal val="visible"/>
                                      </p:to>
                                    </p:set>
                                    <p:anim calcmode="lin" valueType="num">
                                      <p:cBhvr additive="base">
                                        <p:cTn id="31" dur="500" fill="hold"/>
                                        <p:tgtEl>
                                          <p:spTgt spid="102400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00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024003">
                                            <p:txEl>
                                              <p:pRg st="6" end="6"/>
                                            </p:txEl>
                                          </p:spTgt>
                                        </p:tgtEl>
                                        <p:attrNameLst>
                                          <p:attrName>style.visibility</p:attrName>
                                        </p:attrNameLst>
                                      </p:cBhvr>
                                      <p:to>
                                        <p:strVal val="visible"/>
                                      </p:to>
                                    </p:set>
                                    <p:anim calcmode="lin" valueType="num">
                                      <p:cBhvr additive="base">
                                        <p:cTn id="35" dur="500" fill="hold"/>
                                        <p:tgtEl>
                                          <p:spTgt spid="1024003">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024003">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024003">
                                            <p:txEl>
                                              <p:pRg st="7" end="7"/>
                                            </p:txEl>
                                          </p:spTgt>
                                        </p:tgtEl>
                                        <p:attrNameLst>
                                          <p:attrName>style.visibility</p:attrName>
                                        </p:attrNameLst>
                                      </p:cBhvr>
                                      <p:to>
                                        <p:strVal val="visible"/>
                                      </p:to>
                                    </p:set>
                                    <p:anim calcmode="lin" valueType="num">
                                      <p:cBhvr additive="base">
                                        <p:cTn id="39" dur="500" fill="hold"/>
                                        <p:tgtEl>
                                          <p:spTgt spid="1024003">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024003">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024003">
                                            <p:txEl>
                                              <p:pRg st="8" end="8"/>
                                            </p:txEl>
                                          </p:spTgt>
                                        </p:tgtEl>
                                        <p:attrNameLst>
                                          <p:attrName>style.visibility</p:attrName>
                                        </p:attrNameLst>
                                      </p:cBhvr>
                                      <p:to>
                                        <p:strVal val="visible"/>
                                      </p:to>
                                    </p:set>
                                    <p:anim calcmode="lin" valueType="num">
                                      <p:cBhvr additive="base">
                                        <p:cTn id="43" dur="500" fill="hold"/>
                                        <p:tgtEl>
                                          <p:spTgt spid="1024003">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2400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03" grpId="0" build="p"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1074" name="Object 2"/>
          <p:cNvGraphicFramePr>
            <a:graphicFrameLocks noChangeAspect="1"/>
          </p:cNvGraphicFramePr>
          <p:nvPr/>
        </p:nvGraphicFramePr>
        <p:xfrm>
          <a:off x="304800" y="1752600"/>
          <a:ext cx="8534400" cy="3460750"/>
        </p:xfrm>
        <a:graphic>
          <a:graphicData uri="http://schemas.openxmlformats.org/presentationml/2006/ole">
            <mc:AlternateContent xmlns:mc="http://schemas.openxmlformats.org/markup-compatibility/2006">
              <mc:Choice xmlns:v="urn:schemas-microsoft-com:vml" Requires="v">
                <p:oleObj spid="_x0000_s32770" name="位图图像" r:id="rId3" imgW="5144218" imgH="2085714" progId="Paint.Picture">
                  <p:embed/>
                </p:oleObj>
              </mc:Choice>
              <mc:Fallback>
                <p:oleObj name="位图图像" r:id="rId3" imgW="5144218" imgH="2085714" progId="Paint.Picture">
                  <p:embed/>
                  <p:pic>
                    <p:nvPicPr>
                      <p:cNvPr id="1310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752600"/>
                        <a:ext cx="8534400" cy="346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2892827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body" idx="1"/>
          </p:nvPr>
        </p:nvSpPr>
        <p:spPr>
          <a:xfrm>
            <a:off x="468313" y="1219200"/>
            <a:ext cx="8207375" cy="4114800"/>
          </a:xfrm>
        </p:spPr>
        <p:txBody>
          <a:bodyPr/>
          <a:lstStyle/>
          <a:p>
            <a:pPr eaLnBrk="1" hangingPunct="1"/>
            <a:r>
              <a:rPr lang="zh-CN" altLang="en-US" smtClean="0"/>
              <a:t>一个磁盘块是一次磁盘</a:t>
            </a:r>
            <a:r>
              <a:rPr lang="en-US" altLang="zh-CN" smtClean="0"/>
              <a:t>I/O</a:t>
            </a:r>
            <a:r>
              <a:rPr lang="zh-CN" altLang="en-US" smtClean="0"/>
              <a:t>操作的存取单位。在</a:t>
            </a:r>
            <a:r>
              <a:rPr lang="en-US" altLang="zh-CN" smtClean="0"/>
              <a:t>EXT2</a:t>
            </a:r>
            <a:r>
              <a:rPr lang="zh-CN" altLang="en-US" smtClean="0"/>
              <a:t>文件系统中，磁盘块的大小是</a:t>
            </a:r>
            <a:r>
              <a:rPr lang="en-US" altLang="zh-CN" smtClean="0"/>
              <a:t>2</a:t>
            </a:r>
            <a:r>
              <a:rPr lang="zh-CN" altLang="en-US" smtClean="0"/>
              <a:t>的整数次幂，一般是</a:t>
            </a:r>
            <a:r>
              <a:rPr lang="en-US" altLang="zh-CN" smtClean="0"/>
              <a:t>4K</a:t>
            </a:r>
            <a:r>
              <a:rPr lang="zh-CN" altLang="en-US" smtClean="0"/>
              <a:t>字节。</a:t>
            </a:r>
          </a:p>
          <a:p>
            <a:pPr lvl="1" eaLnBrk="1" hangingPunct="1"/>
            <a:r>
              <a:rPr lang="zh-CN" altLang="en-US" smtClean="0"/>
              <a:t>磁盘块大，每次</a:t>
            </a:r>
            <a:r>
              <a:rPr lang="en-US" altLang="zh-CN" smtClean="0"/>
              <a:t>I/O</a:t>
            </a:r>
            <a:r>
              <a:rPr lang="zh-CN" altLang="en-US" smtClean="0"/>
              <a:t>操作能够传输更多的数据。</a:t>
            </a:r>
          </a:p>
          <a:p>
            <a:pPr lvl="1" eaLnBrk="1" hangingPunct="1"/>
            <a:r>
              <a:rPr lang="zh-CN" altLang="en-US" smtClean="0"/>
              <a:t>但是当文件的大小不是磁盘块的整数倍时，会有</a:t>
            </a:r>
            <a:r>
              <a:rPr lang="zh-CN" altLang="en-US" smtClean="0">
                <a:solidFill>
                  <a:srgbClr val="FF0000"/>
                </a:solidFill>
              </a:rPr>
              <a:t>磁盘碎片</a:t>
            </a:r>
            <a:r>
              <a:rPr lang="zh-CN" altLang="en-US" smtClean="0"/>
              <a:t>。</a:t>
            </a:r>
          </a:p>
          <a:p>
            <a:pPr eaLnBrk="1" hangingPunct="1"/>
            <a:r>
              <a:rPr lang="en-US" altLang="zh-CN" smtClean="0"/>
              <a:t>EXT2</a:t>
            </a:r>
            <a:r>
              <a:rPr lang="zh-CN" altLang="en-US" smtClean="0"/>
              <a:t>将一个磁盘块划分成若干</a:t>
            </a:r>
            <a:r>
              <a:rPr lang="zh-CN" altLang="en-US" smtClean="0">
                <a:solidFill>
                  <a:schemeClr val="accent2"/>
                </a:solidFill>
              </a:rPr>
              <a:t>片</a:t>
            </a:r>
            <a:r>
              <a:rPr lang="en-US" altLang="zh-CN" smtClean="0">
                <a:solidFill>
                  <a:schemeClr val="accent2"/>
                </a:solidFill>
              </a:rPr>
              <a:t>(fragment)</a:t>
            </a:r>
          </a:p>
          <a:p>
            <a:pPr lvl="1" eaLnBrk="1" hangingPunct="1"/>
            <a:r>
              <a:rPr lang="zh-CN" altLang="en-US" smtClean="0"/>
              <a:t>每个片的大小是</a:t>
            </a:r>
            <a:r>
              <a:rPr lang="en-US" altLang="zh-CN" smtClean="0"/>
              <a:t>512B</a:t>
            </a:r>
            <a:r>
              <a:rPr lang="zh-CN" altLang="en-US" smtClean="0"/>
              <a:t>，等于一个扇区的大小。</a:t>
            </a:r>
          </a:p>
          <a:p>
            <a:pPr lvl="1" eaLnBrk="1" hangingPunct="1"/>
            <a:r>
              <a:rPr lang="zh-CN" altLang="en-US" smtClean="0"/>
              <a:t>每个片能够单独分配和寻址。</a:t>
            </a:r>
          </a:p>
          <a:p>
            <a:pPr lvl="1" eaLnBrk="1" hangingPunct="1"/>
            <a:r>
              <a:rPr lang="zh-CN" altLang="en-US" smtClean="0"/>
              <a:t>片的大小在文件系统被创建时确定。</a:t>
            </a:r>
          </a:p>
        </p:txBody>
      </p:sp>
      <p:sp>
        <p:nvSpPr>
          <p:cNvPr id="132099" name="Rectangle 3"/>
          <p:cNvSpPr>
            <a:spLocks noGrp="1" noChangeArrowheads="1"/>
          </p:cNvSpPr>
          <p:nvPr>
            <p:ph type="title"/>
          </p:nvPr>
        </p:nvSpPr>
        <p:spPr>
          <a:xfrm>
            <a:off x="609600" y="0"/>
            <a:ext cx="7772400" cy="1143000"/>
          </a:xfrm>
          <a:noFill/>
        </p:spPr>
        <p:txBody>
          <a:bodyPr/>
          <a:lstStyle/>
          <a:p>
            <a:pPr eaLnBrk="1" hangingPunct="1"/>
            <a:r>
              <a:rPr lang="en-US" altLang="zh-CN" smtClean="0"/>
              <a:t>Linux</a:t>
            </a:r>
            <a:r>
              <a:rPr lang="zh-CN" altLang="en-US" smtClean="0"/>
              <a:t>减少碎片的方案</a:t>
            </a:r>
          </a:p>
        </p:txBody>
      </p:sp>
    </p:spTree>
    <p:extLst>
      <p:ext uri="{BB962C8B-B14F-4D97-AF65-F5344CB8AC3E}">
        <p14:creationId xmlns:p14="http://schemas.microsoft.com/office/powerpoint/2010/main" val="325972083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body" idx="1"/>
          </p:nvPr>
        </p:nvSpPr>
        <p:spPr>
          <a:xfrm>
            <a:off x="533400" y="1219200"/>
            <a:ext cx="7772400" cy="4114800"/>
          </a:xfrm>
        </p:spPr>
        <p:txBody>
          <a:bodyPr/>
          <a:lstStyle/>
          <a:p>
            <a:pPr eaLnBrk="1" hangingPunct="1"/>
            <a:r>
              <a:rPr lang="zh-CN" altLang="en-US" smtClean="0"/>
              <a:t>当文件大小不是</a:t>
            </a:r>
            <a:r>
              <a:rPr lang="en-US" altLang="zh-CN" smtClean="0"/>
              <a:t>2</a:t>
            </a:r>
            <a:r>
              <a:rPr lang="zh-CN" altLang="en-US" smtClean="0"/>
              <a:t>的整数次幂</a:t>
            </a:r>
            <a:r>
              <a:rPr lang="en-US" altLang="zh-CN" smtClean="0"/>
              <a:t>(</a:t>
            </a:r>
            <a:r>
              <a:rPr lang="zh-CN" altLang="en-US" smtClean="0"/>
              <a:t>物理块</a:t>
            </a:r>
            <a:r>
              <a:rPr lang="en-US" altLang="zh-CN" smtClean="0"/>
              <a:t>)</a:t>
            </a:r>
            <a:r>
              <a:rPr lang="zh-CN" altLang="en-US" smtClean="0"/>
              <a:t>时，如在最后一个磁盘块中只占用了一个片，该磁盘块中的其他片也可以分配给别的文件使用。</a:t>
            </a:r>
          </a:p>
          <a:p>
            <a:pPr eaLnBrk="1" hangingPunct="1"/>
            <a:r>
              <a:rPr lang="zh-CN" altLang="en-US" smtClean="0">
                <a:solidFill>
                  <a:srgbClr val="FF0000"/>
                </a:solidFill>
              </a:rPr>
              <a:t>问题：</a:t>
            </a:r>
            <a:r>
              <a:rPr lang="zh-CN" altLang="en-US" smtClean="0"/>
              <a:t>当一个文件的大小不断增长时，需要寻找另外的有若干个连续片的磁盘块来存放增加的文件数据，同时还要将原来片中的内容写到新的片中来。</a:t>
            </a:r>
          </a:p>
        </p:txBody>
      </p:sp>
      <p:sp>
        <p:nvSpPr>
          <p:cNvPr id="133123" name="Rectangle 3"/>
          <p:cNvSpPr>
            <a:spLocks noGrp="1" noChangeArrowheads="1"/>
          </p:cNvSpPr>
          <p:nvPr>
            <p:ph type="title"/>
          </p:nvPr>
        </p:nvSpPr>
        <p:spPr>
          <a:xfrm>
            <a:off x="609600" y="0"/>
            <a:ext cx="7772400" cy="1143000"/>
          </a:xfrm>
          <a:noFill/>
        </p:spPr>
        <p:txBody>
          <a:bodyPr/>
          <a:lstStyle/>
          <a:p>
            <a:pPr eaLnBrk="1" hangingPunct="1"/>
            <a:r>
              <a:rPr lang="en-US" altLang="zh-CN" smtClean="0"/>
              <a:t>Linux</a:t>
            </a:r>
            <a:r>
              <a:rPr lang="zh-CN" altLang="en-US" smtClean="0"/>
              <a:t>减少碎片的方案</a:t>
            </a:r>
          </a:p>
        </p:txBody>
      </p:sp>
    </p:spTree>
    <p:extLst>
      <p:ext uri="{BB962C8B-B14F-4D97-AF65-F5344CB8AC3E}">
        <p14:creationId xmlns:p14="http://schemas.microsoft.com/office/powerpoint/2010/main" val="260358132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468313" y="188913"/>
            <a:ext cx="8229600" cy="1143000"/>
          </a:xfrm>
        </p:spPr>
        <p:txBody>
          <a:bodyPr/>
          <a:lstStyle/>
          <a:p>
            <a:pPr eaLnBrk="1" hangingPunct="1"/>
            <a:r>
              <a:rPr lang="en-US" altLang="zh-CN" smtClean="0"/>
              <a:t>EXT2</a:t>
            </a:r>
            <a:r>
              <a:rPr lang="zh-CN" altLang="en-US" smtClean="0"/>
              <a:t>文件系统的磁盘组织</a:t>
            </a:r>
          </a:p>
        </p:txBody>
      </p:sp>
      <p:sp>
        <p:nvSpPr>
          <p:cNvPr id="134147" name="Rectangle 3"/>
          <p:cNvSpPr>
            <a:spLocks noGrp="1" noChangeArrowheads="1"/>
          </p:cNvSpPr>
          <p:nvPr>
            <p:ph type="body" idx="1"/>
          </p:nvPr>
        </p:nvSpPr>
        <p:spPr>
          <a:xfrm>
            <a:off x="609600" y="1219200"/>
            <a:ext cx="7924800" cy="5181600"/>
          </a:xfrm>
        </p:spPr>
        <p:txBody>
          <a:bodyPr/>
          <a:lstStyle/>
          <a:p>
            <a:pPr eaLnBrk="1" hangingPunct="1">
              <a:lnSpc>
                <a:spcPct val="90000"/>
              </a:lnSpc>
            </a:pPr>
            <a:r>
              <a:rPr lang="en-US" altLang="zh-CN" sz="2400" smtClean="0">
                <a:solidFill>
                  <a:srgbClr val="FF0000"/>
                </a:solidFill>
              </a:rPr>
              <a:t>EXT2</a:t>
            </a:r>
            <a:r>
              <a:rPr lang="zh-CN" altLang="en-US" sz="2400" smtClean="0">
                <a:solidFill>
                  <a:schemeClr val="accent2"/>
                </a:solidFill>
              </a:rPr>
              <a:t>把它所占用的磁盘逻辑分区划分为</a:t>
            </a:r>
            <a:r>
              <a:rPr lang="zh-CN" altLang="en-US" sz="2400" smtClean="0">
                <a:solidFill>
                  <a:srgbClr val="FF0000"/>
                </a:solidFill>
              </a:rPr>
              <a:t>块组</a:t>
            </a:r>
            <a:r>
              <a:rPr lang="zh-CN" altLang="en-US" sz="2400" smtClean="0"/>
              <a:t>，第一个磁盘块用于引导块，其余部分被分成</a:t>
            </a:r>
            <a:r>
              <a:rPr lang="zh-CN" altLang="en-US" sz="2400" smtClean="0">
                <a:solidFill>
                  <a:srgbClr val="FF0000"/>
                </a:solidFill>
              </a:rPr>
              <a:t>块</a:t>
            </a:r>
            <a:r>
              <a:rPr lang="zh-CN" altLang="en-US" sz="2400" smtClean="0"/>
              <a:t>组。</a:t>
            </a:r>
          </a:p>
          <a:p>
            <a:pPr eaLnBrk="1" hangingPunct="1">
              <a:lnSpc>
                <a:spcPct val="90000"/>
              </a:lnSpc>
            </a:pPr>
            <a:r>
              <a:rPr lang="zh-CN" altLang="en-US" sz="2400" smtClean="0"/>
              <a:t>所有的</a:t>
            </a:r>
            <a:r>
              <a:rPr lang="zh-CN" altLang="en-US" sz="2400" smtClean="0">
                <a:solidFill>
                  <a:srgbClr val="FF0000"/>
                </a:solidFill>
              </a:rPr>
              <a:t>组大小相同并且顺序存放</a:t>
            </a:r>
            <a:r>
              <a:rPr lang="zh-CN" altLang="en-US" sz="2400" smtClean="0"/>
              <a:t>，所以由组的序号可以确定组在磁盘上的位置。</a:t>
            </a:r>
          </a:p>
          <a:p>
            <a:pPr eaLnBrk="1" hangingPunct="1">
              <a:lnSpc>
                <a:spcPct val="90000"/>
              </a:lnSpc>
            </a:pPr>
            <a:r>
              <a:rPr lang="zh-CN" altLang="en-US" sz="2400" smtClean="0"/>
              <a:t>每一个块组依次包括超级块、组描述符表、块位示图、</a:t>
            </a:r>
            <a:r>
              <a:rPr lang="en-US" altLang="zh-CN" sz="2400" smtClean="0"/>
              <a:t>inode</a:t>
            </a:r>
            <a:r>
              <a:rPr lang="zh-CN" altLang="en-US" sz="2400" smtClean="0"/>
              <a:t>位示图、</a:t>
            </a:r>
            <a:r>
              <a:rPr lang="en-US" altLang="zh-CN" sz="2400" smtClean="0"/>
              <a:t>inode</a:t>
            </a:r>
            <a:r>
              <a:rPr lang="zh-CN" altLang="en-US" sz="2400" smtClean="0"/>
              <a:t>表以及数据块。</a:t>
            </a:r>
          </a:p>
          <a:p>
            <a:pPr lvl="1" algn="just" eaLnBrk="1" hangingPunct="1">
              <a:lnSpc>
                <a:spcPct val="90000"/>
              </a:lnSpc>
            </a:pPr>
            <a:r>
              <a:rPr lang="zh-CN" altLang="en-US" sz="2200" smtClean="0">
                <a:solidFill>
                  <a:schemeClr val="accent2"/>
                </a:solidFill>
              </a:rPr>
              <a:t>块位示图：</a:t>
            </a:r>
            <a:r>
              <a:rPr lang="zh-CN" altLang="en-US" sz="2200" smtClean="0"/>
              <a:t>记录本组各个数据块的使用情况；</a:t>
            </a:r>
          </a:p>
          <a:p>
            <a:pPr lvl="1" algn="just" eaLnBrk="1" hangingPunct="1">
              <a:lnSpc>
                <a:spcPct val="90000"/>
              </a:lnSpc>
            </a:pPr>
            <a:r>
              <a:rPr lang="en-US" altLang="zh-CN" sz="2200" smtClean="0">
                <a:solidFill>
                  <a:schemeClr val="accent2"/>
                </a:solidFill>
              </a:rPr>
              <a:t>inode</a:t>
            </a:r>
            <a:r>
              <a:rPr lang="zh-CN" altLang="en-US" sz="2200" smtClean="0">
                <a:solidFill>
                  <a:schemeClr val="accent2"/>
                </a:solidFill>
              </a:rPr>
              <a:t>位示图：</a:t>
            </a:r>
            <a:r>
              <a:rPr lang="zh-CN" altLang="en-US" sz="2200" smtClean="0"/>
              <a:t>记录</a:t>
            </a:r>
            <a:r>
              <a:rPr lang="en-US" altLang="zh-CN" sz="2200" smtClean="0"/>
              <a:t>inode</a:t>
            </a:r>
            <a:r>
              <a:rPr lang="zh-CN" altLang="en-US" sz="2200" smtClean="0"/>
              <a:t>表中</a:t>
            </a:r>
            <a:r>
              <a:rPr lang="en-US" altLang="zh-CN" sz="2200" smtClean="0"/>
              <a:t>inode</a:t>
            </a:r>
            <a:r>
              <a:rPr lang="zh-CN" altLang="en-US" sz="2200" smtClean="0"/>
              <a:t>的使用情况。</a:t>
            </a:r>
          </a:p>
          <a:p>
            <a:pPr lvl="1" algn="just" eaLnBrk="1" hangingPunct="1">
              <a:lnSpc>
                <a:spcPct val="90000"/>
              </a:lnSpc>
            </a:pPr>
            <a:r>
              <a:rPr lang="en-US" altLang="zh-CN" sz="2200" smtClean="0">
                <a:solidFill>
                  <a:schemeClr val="accent2"/>
                </a:solidFill>
              </a:rPr>
              <a:t>inode</a:t>
            </a:r>
            <a:r>
              <a:rPr lang="zh-CN" altLang="en-US" sz="2200" smtClean="0">
                <a:solidFill>
                  <a:schemeClr val="accent2"/>
                </a:solidFill>
              </a:rPr>
              <a:t>表：</a:t>
            </a:r>
            <a:r>
              <a:rPr lang="zh-CN" altLang="en-US" sz="2200" smtClean="0"/>
              <a:t>保存了本组所有的</a:t>
            </a:r>
            <a:r>
              <a:rPr lang="en-US" altLang="zh-CN" sz="2200" smtClean="0"/>
              <a:t>inode</a:t>
            </a:r>
          </a:p>
          <a:p>
            <a:pPr lvl="1" algn="just" eaLnBrk="1" hangingPunct="1">
              <a:lnSpc>
                <a:spcPct val="90000"/>
              </a:lnSpc>
            </a:pPr>
            <a:r>
              <a:rPr lang="zh-CN" altLang="en-US" sz="2200" smtClean="0">
                <a:solidFill>
                  <a:schemeClr val="accent2"/>
                </a:solidFill>
              </a:rPr>
              <a:t>数据块：</a:t>
            </a:r>
            <a:r>
              <a:rPr lang="zh-CN" altLang="en-US" sz="2200" smtClean="0"/>
              <a:t>用于存放数据</a:t>
            </a:r>
          </a:p>
          <a:p>
            <a:pPr algn="just" eaLnBrk="1" hangingPunct="1">
              <a:lnSpc>
                <a:spcPct val="90000"/>
              </a:lnSpc>
            </a:pPr>
            <a:r>
              <a:rPr lang="en-US" altLang="zh-CN" sz="2400" smtClean="0"/>
              <a:t>inode</a:t>
            </a:r>
            <a:r>
              <a:rPr lang="zh-CN" altLang="en-US" sz="2400" smtClean="0"/>
              <a:t>用于描述文件。一个</a:t>
            </a:r>
            <a:r>
              <a:rPr lang="en-US" altLang="zh-CN" sz="2400" smtClean="0"/>
              <a:t>inode</a:t>
            </a:r>
            <a:r>
              <a:rPr lang="zh-CN" altLang="en-US" sz="2400" smtClean="0"/>
              <a:t>对应一个文件和子目录，有一个唯一的</a:t>
            </a:r>
            <a:r>
              <a:rPr lang="en-US" altLang="zh-CN" sz="2400" smtClean="0"/>
              <a:t>inode</a:t>
            </a:r>
            <a:r>
              <a:rPr lang="zh-CN" altLang="en-US" sz="2400" smtClean="0"/>
              <a:t>号，并记录了文件在外存的位置、存取权限、修改时间、类型等信息。</a:t>
            </a:r>
          </a:p>
        </p:txBody>
      </p:sp>
    </p:spTree>
    <p:extLst>
      <p:ext uri="{BB962C8B-B14F-4D97-AF65-F5344CB8AC3E}">
        <p14:creationId xmlns:p14="http://schemas.microsoft.com/office/powerpoint/2010/main" val="258248089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body" idx="1"/>
          </p:nvPr>
        </p:nvSpPr>
        <p:spPr>
          <a:xfrm>
            <a:off x="468313" y="1341438"/>
            <a:ext cx="7772400" cy="4648200"/>
          </a:xfrm>
        </p:spPr>
        <p:txBody>
          <a:bodyPr/>
          <a:lstStyle/>
          <a:p>
            <a:pPr algn="just" eaLnBrk="1" hangingPunct="1"/>
            <a:r>
              <a:rPr lang="zh-CN" altLang="en-US" sz="2400" smtClean="0">
                <a:solidFill>
                  <a:srgbClr val="FF0000"/>
                </a:solidFill>
                <a:latin typeface="宋体" panose="02010600030101010101" pitchFamily="2" charset="-122"/>
              </a:rPr>
              <a:t>块组的构造</a:t>
            </a:r>
          </a:p>
          <a:p>
            <a:pPr lvl="1" algn="just" eaLnBrk="1" hangingPunct="1"/>
            <a:r>
              <a:rPr lang="zh-CN" altLang="en-US" smtClean="0">
                <a:latin typeface="宋体" panose="02010600030101010101" pitchFamily="2" charset="-122"/>
              </a:rPr>
              <a:t>每个块组重复保存着一些有关整个文件系统的关键信息，包含超级块、 块组描述结构、 块位示图、 索引节点位示图、 索引节点表和数据块。</a:t>
            </a:r>
          </a:p>
          <a:p>
            <a:pPr eaLnBrk="1" hangingPunct="1"/>
            <a:r>
              <a:rPr lang="zh-CN" altLang="en-US" sz="2400" smtClean="0">
                <a:solidFill>
                  <a:srgbClr val="FF0000"/>
                </a:solidFill>
                <a:latin typeface="宋体" panose="02010600030101010101" pitchFamily="2" charset="-122"/>
              </a:rPr>
              <a:t>使用块组结构</a:t>
            </a:r>
            <a:r>
              <a:rPr lang="zh-CN" altLang="en-US" sz="2400" smtClean="0">
                <a:latin typeface="宋体" panose="02010600030101010101" pitchFamily="2" charset="-122"/>
              </a:rPr>
              <a:t>可以提高文件系统的可靠性： </a:t>
            </a:r>
          </a:p>
          <a:p>
            <a:pPr lvl="1" eaLnBrk="1" hangingPunct="1"/>
            <a:r>
              <a:rPr lang="zh-CN" altLang="en-US" smtClean="0">
                <a:latin typeface="宋体" panose="02010600030101010101" pitchFamily="2" charset="-122"/>
              </a:rPr>
              <a:t>由于文件系统的控制管理信息在每个块组中都有一份拷贝， 从而当文件系统意外出现崩溃时可以很容易地恢复它。</a:t>
            </a:r>
          </a:p>
        </p:txBody>
      </p:sp>
      <p:sp>
        <p:nvSpPr>
          <p:cNvPr id="135171" name="Rectangle 3"/>
          <p:cNvSpPr>
            <a:spLocks noGrp="1" noChangeArrowheads="1"/>
          </p:cNvSpPr>
          <p:nvPr>
            <p:ph type="title"/>
          </p:nvPr>
        </p:nvSpPr>
        <p:spPr>
          <a:xfrm>
            <a:off x="684213" y="260350"/>
            <a:ext cx="7772400" cy="1143000"/>
          </a:xfrm>
          <a:noFill/>
        </p:spPr>
        <p:txBody>
          <a:bodyPr/>
          <a:lstStyle/>
          <a:p>
            <a:pPr eaLnBrk="1" hangingPunct="1"/>
            <a:r>
              <a:rPr lang="en-US" altLang="zh-CN" smtClean="0"/>
              <a:t>EXT2</a:t>
            </a:r>
            <a:r>
              <a:rPr lang="zh-CN" altLang="en-US" smtClean="0"/>
              <a:t>块组</a:t>
            </a:r>
          </a:p>
        </p:txBody>
      </p:sp>
    </p:spTree>
    <p:extLst>
      <p:ext uri="{BB962C8B-B14F-4D97-AF65-F5344CB8AC3E}">
        <p14:creationId xmlns:p14="http://schemas.microsoft.com/office/powerpoint/2010/main" val="2176137507"/>
      </p:ext>
    </p:extLst>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6194" name="Object 2"/>
          <p:cNvGraphicFramePr>
            <a:graphicFrameLocks noChangeAspect="1"/>
          </p:cNvGraphicFramePr>
          <p:nvPr/>
        </p:nvGraphicFramePr>
        <p:xfrm>
          <a:off x="304800" y="2057400"/>
          <a:ext cx="8229600" cy="2378075"/>
        </p:xfrm>
        <a:graphic>
          <a:graphicData uri="http://schemas.openxmlformats.org/presentationml/2006/ole">
            <mc:AlternateContent xmlns:mc="http://schemas.openxmlformats.org/markup-compatibility/2006">
              <mc:Choice xmlns:v="urn:schemas-microsoft-com:vml" Requires="v">
                <p:oleObj spid="_x0000_s33794" name="Visio" r:id="rId3" imgW="3191023" imgH="923026" progId="Visio.Drawing.11">
                  <p:embed/>
                </p:oleObj>
              </mc:Choice>
              <mc:Fallback>
                <p:oleObj name="Visio" r:id="rId3" imgW="3191023" imgH="923026" progId="Visio.Drawing.11">
                  <p:embed/>
                  <p:pic>
                    <p:nvPicPr>
                      <p:cNvPr id="1361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057400"/>
                        <a:ext cx="822960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6195" name="Rectangle 3"/>
          <p:cNvSpPr>
            <a:spLocks noGrp="1" noChangeArrowheads="1"/>
          </p:cNvSpPr>
          <p:nvPr>
            <p:ph type="title"/>
          </p:nvPr>
        </p:nvSpPr>
        <p:spPr>
          <a:noFill/>
        </p:spPr>
        <p:txBody>
          <a:bodyPr/>
          <a:lstStyle/>
          <a:p>
            <a:pPr eaLnBrk="1" hangingPunct="1"/>
            <a:r>
              <a:rPr lang="en-US" altLang="zh-CN" smtClean="0"/>
              <a:t>EXT2</a:t>
            </a:r>
            <a:r>
              <a:rPr lang="zh-CN" altLang="en-US" smtClean="0"/>
              <a:t>文件系统的物理结构</a:t>
            </a:r>
          </a:p>
        </p:txBody>
      </p:sp>
      <p:sp>
        <p:nvSpPr>
          <p:cNvPr id="136196" name="Text Box 4"/>
          <p:cNvSpPr txBox="1">
            <a:spLocks noChangeArrowheads="1"/>
          </p:cNvSpPr>
          <p:nvPr/>
        </p:nvSpPr>
        <p:spPr bwMode="auto">
          <a:xfrm>
            <a:off x="1187450" y="4508500"/>
            <a:ext cx="655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ClrTx/>
              <a:buSzTx/>
              <a:buFontTx/>
              <a:buNone/>
            </a:pPr>
            <a:endParaRPr kumimoji="1" lang="zh-CN" altLang="zh-CN"/>
          </a:p>
        </p:txBody>
      </p:sp>
      <p:sp>
        <p:nvSpPr>
          <p:cNvPr id="136197" name="Text Box 5"/>
          <p:cNvSpPr txBox="1">
            <a:spLocks noChangeArrowheads="1"/>
          </p:cNvSpPr>
          <p:nvPr/>
        </p:nvSpPr>
        <p:spPr bwMode="auto">
          <a:xfrm>
            <a:off x="395288" y="4508500"/>
            <a:ext cx="8137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ClrTx/>
              <a:buSzTx/>
              <a:buFontTx/>
              <a:buNone/>
            </a:pPr>
            <a:r>
              <a:rPr kumimoji="1" lang="en-US" altLang="zh-CN" sz="2000"/>
              <a:t>1</a:t>
            </a:r>
            <a:r>
              <a:rPr kumimoji="1" lang="zh-CN" altLang="en-US" sz="2000"/>
              <a:t>个块             </a:t>
            </a:r>
            <a:r>
              <a:rPr kumimoji="1" lang="en-US" altLang="zh-CN" sz="2000"/>
              <a:t>n</a:t>
            </a:r>
            <a:r>
              <a:rPr kumimoji="1" lang="zh-CN" altLang="en-US" sz="2000"/>
              <a:t>个块          </a:t>
            </a:r>
            <a:r>
              <a:rPr kumimoji="1" lang="en-US" altLang="zh-CN" sz="2000"/>
              <a:t>1</a:t>
            </a:r>
            <a:r>
              <a:rPr kumimoji="1" lang="zh-CN" altLang="en-US" sz="2000"/>
              <a:t>个块       </a:t>
            </a:r>
            <a:r>
              <a:rPr kumimoji="1" lang="en-US" altLang="zh-CN" sz="2000"/>
              <a:t>1</a:t>
            </a:r>
            <a:r>
              <a:rPr kumimoji="1" lang="zh-CN" altLang="en-US" sz="2000"/>
              <a:t>个块               </a:t>
            </a:r>
            <a:r>
              <a:rPr kumimoji="1" lang="en-US" altLang="zh-CN" sz="2000"/>
              <a:t>n</a:t>
            </a:r>
            <a:r>
              <a:rPr kumimoji="1" lang="zh-CN" altLang="en-US" sz="2000"/>
              <a:t>个块            </a:t>
            </a:r>
            <a:r>
              <a:rPr kumimoji="1" lang="en-US" altLang="zh-CN" sz="2000"/>
              <a:t>n</a:t>
            </a:r>
            <a:r>
              <a:rPr kumimoji="1" lang="zh-CN" altLang="en-US" sz="2000"/>
              <a:t>个块</a:t>
            </a:r>
          </a:p>
        </p:txBody>
      </p:sp>
    </p:spTree>
    <p:extLst>
      <p:ext uri="{BB962C8B-B14F-4D97-AF65-F5344CB8AC3E}">
        <p14:creationId xmlns:p14="http://schemas.microsoft.com/office/powerpoint/2010/main" val="2607043690"/>
      </p:ext>
    </p:extLst>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body" idx="1"/>
          </p:nvPr>
        </p:nvSpPr>
        <p:spPr>
          <a:xfrm>
            <a:off x="468313" y="2332038"/>
            <a:ext cx="8229600" cy="4525962"/>
          </a:xfrm>
        </p:spPr>
        <p:txBody>
          <a:bodyPr/>
          <a:lstStyle/>
          <a:p>
            <a:pPr eaLnBrk="1" hangingPunct="1">
              <a:lnSpc>
                <a:spcPct val="80000"/>
              </a:lnSpc>
              <a:buFont typeface="Wingdings" panose="05000000000000000000" pitchFamily="2" charset="2"/>
              <a:buNone/>
            </a:pPr>
            <a:r>
              <a:rPr lang="en-US" altLang="zh-CN" sz="1800" smtClean="0"/>
              <a:t>struct </a:t>
            </a:r>
            <a:r>
              <a:rPr lang="en-US" altLang="zh-CN" sz="1800" smtClean="0">
                <a:solidFill>
                  <a:schemeClr val="accent2"/>
                </a:solidFill>
              </a:rPr>
              <a:t>ext2_super_block </a:t>
            </a:r>
            <a:r>
              <a:rPr lang="en-US" altLang="zh-CN" sz="1800" smtClean="0"/>
              <a:t>{</a:t>
            </a:r>
          </a:p>
          <a:p>
            <a:pPr eaLnBrk="1" hangingPunct="1">
              <a:lnSpc>
                <a:spcPct val="80000"/>
              </a:lnSpc>
              <a:buFont typeface="Wingdings" panose="05000000000000000000" pitchFamily="2" charset="2"/>
              <a:buNone/>
            </a:pPr>
            <a:r>
              <a:rPr lang="en-US" altLang="zh-CN" sz="1800" smtClean="0"/>
              <a:t>		__u32	s_inodes_count;                 /* </a:t>
            </a:r>
            <a:r>
              <a:rPr lang="zh-CN" altLang="en-US" sz="1800" smtClean="0"/>
              <a:t>索引节点总数 *</a:t>
            </a:r>
            <a:r>
              <a:rPr lang="en-US" altLang="zh-CN" sz="1800" smtClean="0"/>
              <a:t>/</a:t>
            </a:r>
          </a:p>
          <a:p>
            <a:pPr eaLnBrk="1" hangingPunct="1">
              <a:lnSpc>
                <a:spcPct val="80000"/>
              </a:lnSpc>
              <a:buFont typeface="Wingdings" panose="05000000000000000000" pitchFamily="2" charset="2"/>
              <a:buNone/>
            </a:pPr>
            <a:r>
              <a:rPr lang="en-US" altLang="zh-CN" sz="1800" smtClean="0"/>
              <a:t>		__u32	s_blocks_count;	              /* </a:t>
            </a:r>
            <a:r>
              <a:rPr lang="zh-CN" altLang="en-US" sz="1800" smtClean="0"/>
              <a:t>文件系统的块数 *</a:t>
            </a:r>
            <a:r>
              <a:rPr lang="en-US" altLang="zh-CN" sz="1800" smtClean="0"/>
              <a:t>/</a:t>
            </a:r>
          </a:p>
          <a:p>
            <a:pPr eaLnBrk="1" hangingPunct="1">
              <a:lnSpc>
                <a:spcPct val="80000"/>
              </a:lnSpc>
              <a:buFont typeface="Wingdings" panose="05000000000000000000" pitchFamily="2" charset="2"/>
              <a:buNone/>
            </a:pPr>
            <a:r>
              <a:rPr lang="en-US" altLang="zh-CN" sz="1800" smtClean="0"/>
              <a:t>		__u32	s_r_blocks_count;	/* </a:t>
            </a:r>
            <a:r>
              <a:rPr lang="zh-CN" altLang="en-US" sz="1800" smtClean="0"/>
              <a:t>保留给内核使用的块数 *</a:t>
            </a:r>
            <a:r>
              <a:rPr lang="en-US" altLang="zh-CN" sz="1800" smtClean="0"/>
              <a:t>/</a:t>
            </a:r>
          </a:p>
          <a:p>
            <a:pPr eaLnBrk="1" hangingPunct="1">
              <a:lnSpc>
                <a:spcPct val="80000"/>
              </a:lnSpc>
              <a:buFont typeface="Wingdings" panose="05000000000000000000" pitchFamily="2" charset="2"/>
              <a:buNone/>
            </a:pPr>
            <a:r>
              <a:rPr lang="en-US" altLang="zh-CN" sz="1800" smtClean="0"/>
              <a:t>		__u32	s_free_blocks_count;	/* </a:t>
            </a:r>
            <a:r>
              <a:rPr lang="zh-CN" altLang="en-US" sz="1800" smtClean="0"/>
              <a:t>空闲块计数器 *</a:t>
            </a:r>
            <a:r>
              <a:rPr lang="en-US" altLang="zh-CN" sz="1800" smtClean="0"/>
              <a:t>/</a:t>
            </a:r>
          </a:p>
          <a:p>
            <a:pPr eaLnBrk="1" hangingPunct="1">
              <a:lnSpc>
                <a:spcPct val="80000"/>
              </a:lnSpc>
              <a:buFont typeface="Wingdings" panose="05000000000000000000" pitchFamily="2" charset="2"/>
              <a:buNone/>
            </a:pPr>
            <a:r>
              <a:rPr lang="en-US" altLang="zh-CN" sz="1800" smtClean="0"/>
              <a:t>		__u32	s_free_inodes_count;	/* </a:t>
            </a:r>
            <a:r>
              <a:rPr lang="zh-CN" altLang="en-US" sz="1800" smtClean="0"/>
              <a:t>空闲索引节点计数器 *</a:t>
            </a:r>
            <a:r>
              <a:rPr lang="en-US" altLang="zh-CN" sz="1800" smtClean="0"/>
              <a:t>/</a:t>
            </a:r>
          </a:p>
          <a:p>
            <a:pPr eaLnBrk="1" hangingPunct="1">
              <a:lnSpc>
                <a:spcPct val="80000"/>
              </a:lnSpc>
              <a:buFont typeface="Wingdings" panose="05000000000000000000" pitchFamily="2" charset="2"/>
              <a:buNone/>
            </a:pPr>
            <a:r>
              <a:rPr lang="en-US" altLang="zh-CN" sz="1800" smtClean="0"/>
              <a:t>		__u32	s_first_data_block;	/* </a:t>
            </a:r>
            <a:r>
              <a:rPr lang="zh-CN" altLang="en-US" sz="1800" smtClean="0"/>
              <a:t>第一个数据块的块号 *</a:t>
            </a:r>
            <a:r>
              <a:rPr lang="en-US" altLang="zh-CN" sz="1800" smtClean="0"/>
              <a:t>/</a:t>
            </a:r>
          </a:p>
          <a:p>
            <a:pPr eaLnBrk="1" hangingPunct="1">
              <a:lnSpc>
                <a:spcPct val="80000"/>
              </a:lnSpc>
              <a:buFont typeface="Wingdings" panose="05000000000000000000" pitchFamily="2" charset="2"/>
              <a:buNone/>
            </a:pPr>
            <a:r>
              <a:rPr lang="en-US" altLang="zh-CN" sz="1800" smtClean="0"/>
              <a:t>		__u32	s_log_block_size; 	/* </a:t>
            </a:r>
            <a:r>
              <a:rPr lang="zh-CN" altLang="en-US" sz="1800" smtClean="0"/>
              <a:t>块大小 *</a:t>
            </a:r>
            <a:r>
              <a:rPr lang="en-US" altLang="zh-CN" sz="1800" smtClean="0"/>
              <a:t>/</a:t>
            </a:r>
          </a:p>
          <a:p>
            <a:pPr eaLnBrk="1" hangingPunct="1">
              <a:lnSpc>
                <a:spcPct val="80000"/>
              </a:lnSpc>
              <a:buFont typeface="Wingdings" panose="05000000000000000000" pitchFamily="2" charset="2"/>
              <a:buNone/>
            </a:pPr>
            <a:r>
              <a:rPr lang="en-US" altLang="zh-CN" sz="1800" smtClean="0"/>
              <a:t>			...</a:t>
            </a:r>
          </a:p>
          <a:p>
            <a:pPr eaLnBrk="1" hangingPunct="1">
              <a:lnSpc>
                <a:spcPct val="80000"/>
              </a:lnSpc>
              <a:buFont typeface="Wingdings" panose="05000000000000000000" pitchFamily="2" charset="2"/>
              <a:buNone/>
            </a:pPr>
            <a:r>
              <a:rPr lang="en-US" altLang="zh-CN" sz="1800" smtClean="0"/>
              <a:t>		__u32	s_blocks_per_group;	/* # </a:t>
            </a:r>
            <a:r>
              <a:rPr lang="zh-CN" altLang="en-US" sz="1800" smtClean="0"/>
              <a:t>每组的块数 *</a:t>
            </a:r>
            <a:r>
              <a:rPr lang="en-US" altLang="zh-CN" sz="1800" smtClean="0"/>
              <a:t>/</a:t>
            </a:r>
          </a:p>
          <a:p>
            <a:pPr eaLnBrk="1" hangingPunct="1">
              <a:lnSpc>
                <a:spcPct val="80000"/>
              </a:lnSpc>
              <a:buFont typeface="Wingdings" panose="05000000000000000000" pitchFamily="2" charset="2"/>
              <a:buNone/>
            </a:pPr>
            <a:r>
              <a:rPr lang="en-US" altLang="zh-CN" sz="1800" smtClean="0"/>
              <a:t>			...</a:t>
            </a:r>
          </a:p>
          <a:p>
            <a:pPr eaLnBrk="1" hangingPunct="1">
              <a:lnSpc>
                <a:spcPct val="80000"/>
              </a:lnSpc>
              <a:buFont typeface="Wingdings" panose="05000000000000000000" pitchFamily="2" charset="2"/>
              <a:buNone/>
            </a:pPr>
            <a:r>
              <a:rPr lang="en-US" altLang="zh-CN" sz="1800" smtClean="0"/>
              <a:t>		__u32	s_inodes_per_group;	/* # </a:t>
            </a:r>
            <a:r>
              <a:rPr lang="zh-CN" altLang="en-US" sz="1800" smtClean="0"/>
              <a:t>每组的节点数 *</a:t>
            </a:r>
            <a:r>
              <a:rPr lang="en-US" altLang="zh-CN" sz="1800" smtClean="0"/>
              <a:t>/</a:t>
            </a:r>
          </a:p>
          <a:p>
            <a:pPr eaLnBrk="1" hangingPunct="1">
              <a:lnSpc>
                <a:spcPct val="80000"/>
              </a:lnSpc>
              <a:buFont typeface="Wingdings" panose="05000000000000000000" pitchFamily="2" charset="2"/>
              <a:buNone/>
            </a:pPr>
            <a:r>
              <a:rPr lang="en-US" altLang="zh-CN" sz="1800" smtClean="0"/>
              <a:t>			...</a:t>
            </a:r>
          </a:p>
          <a:p>
            <a:pPr eaLnBrk="1" hangingPunct="1">
              <a:lnSpc>
                <a:spcPct val="80000"/>
              </a:lnSpc>
              <a:buFont typeface="Wingdings" panose="05000000000000000000" pitchFamily="2" charset="2"/>
              <a:buNone/>
            </a:pPr>
            <a:r>
              <a:rPr lang="en-US" altLang="zh-CN" sz="1800" smtClean="0"/>
              <a:t>};</a:t>
            </a:r>
          </a:p>
        </p:txBody>
      </p:sp>
      <p:grpSp>
        <p:nvGrpSpPr>
          <p:cNvPr id="137219" name="Group 3"/>
          <p:cNvGrpSpPr>
            <a:grpSpLocks/>
          </p:cNvGrpSpPr>
          <p:nvPr/>
        </p:nvGrpSpPr>
        <p:grpSpPr bwMode="auto">
          <a:xfrm>
            <a:off x="755650" y="0"/>
            <a:ext cx="7294563" cy="2087563"/>
            <a:chOff x="867" y="3022"/>
            <a:chExt cx="4595" cy="1315"/>
          </a:xfrm>
        </p:grpSpPr>
        <p:sp>
          <p:nvSpPr>
            <p:cNvPr id="137221" name="Rectangle 4"/>
            <p:cNvSpPr>
              <a:spLocks noChangeArrowheads="1"/>
            </p:cNvSpPr>
            <p:nvPr/>
          </p:nvSpPr>
          <p:spPr bwMode="auto">
            <a:xfrm>
              <a:off x="4211"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3</a:t>
              </a:r>
            </a:p>
          </p:txBody>
        </p:sp>
        <p:sp>
          <p:nvSpPr>
            <p:cNvPr id="137222" name="Rectangle 5"/>
            <p:cNvSpPr>
              <a:spLocks noChangeArrowheads="1"/>
            </p:cNvSpPr>
            <p:nvPr/>
          </p:nvSpPr>
          <p:spPr bwMode="auto">
            <a:xfrm>
              <a:off x="3504"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2</a:t>
              </a:r>
            </a:p>
          </p:txBody>
        </p:sp>
        <p:sp>
          <p:nvSpPr>
            <p:cNvPr id="137223" name="Rectangle 6"/>
            <p:cNvSpPr>
              <a:spLocks noChangeArrowheads="1"/>
            </p:cNvSpPr>
            <p:nvPr/>
          </p:nvSpPr>
          <p:spPr bwMode="auto">
            <a:xfrm>
              <a:off x="2797"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1</a:t>
              </a:r>
            </a:p>
          </p:txBody>
        </p:sp>
        <p:sp>
          <p:nvSpPr>
            <p:cNvPr id="137224" name="Rectangle 7"/>
            <p:cNvSpPr>
              <a:spLocks noChangeArrowheads="1"/>
            </p:cNvSpPr>
            <p:nvPr/>
          </p:nvSpPr>
          <p:spPr bwMode="auto">
            <a:xfrm>
              <a:off x="2090"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0</a:t>
              </a:r>
            </a:p>
          </p:txBody>
        </p:sp>
        <p:sp>
          <p:nvSpPr>
            <p:cNvPr id="137225" name="Rectangle 8"/>
            <p:cNvSpPr>
              <a:spLocks noChangeArrowheads="1"/>
            </p:cNvSpPr>
            <p:nvPr/>
          </p:nvSpPr>
          <p:spPr bwMode="auto">
            <a:xfrm>
              <a:off x="1383"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引导块</a:t>
              </a:r>
            </a:p>
          </p:txBody>
        </p:sp>
        <p:sp>
          <p:nvSpPr>
            <p:cNvPr id="137226" name="Line 9"/>
            <p:cNvSpPr>
              <a:spLocks noChangeShapeType="1"/>
            </p:cNvSpPr>
            <p:nvPr/>
          </p:nvSpPr>
          <p:spPr bwMode="auto">
            <a:xfrm>
              <a:off x="1383" y="3022"/>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7" name="Line 10"/>
            <p:cNvSpPr>
              <a:spLocks noChangeShapeType="1"/>
            </p:cNvSpPr>
            <p:nvPr/>
          </p:nvSpPr>
          <p:spPr bwMode="auto">
            <a:xfrm>
              <a:off x="1383" y="3521"/>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8" name="Line 11"/>
            <p:cNvSpPr>
              <a:spLocks noChangeShapeType="1"/>
            </p:cNvSpPr>
            <p:nvPr/>
          </p:nvSpPr>
          <p:spPr bwMode="auto">
            <a:xfrm>
              <a:off x="1383"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9" name="Line 12"/>
            <p:cNvSpPr>
              <a:spLocks noChangeShapeType="1"/>
            </p:cNvSpPr>
            <p:nvPr/>
          </p:nvSpPr>
          <p:spPr bwMode="auto">
            <a:xfrm>
              <a:off x="4918"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0" name="Line 13"/>
            <p:cNvSpPr>
              <a:spLocks noChangeShapeType="1"/>
            </p:cNvSpPr>
            <p:nvPr/>
          </p:nvSpPr>
          <p:spPr bwMode="auto">
            <a:xfrm>
              <a:off x="2090"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1" name="Line 14"/>
            <p:cNvSpPr>
              <a:spLocks noChangeShapeType="1"/>
            </p:cNvSpPr>
            <p:nvPr/>
          </p:nvSpPr>
          <p:spPr bwMode="auto">
            <a:xfrm>
              <a:off x="2797"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2" name="Line 15"/>
            <p:cNvSpPr>
              <a:spLocks noChangeShapeType="1"/>
            </p:cNvSpPr>
            <p:nvPr/>
          </p:nvSpPr>
          <p:spPr bwMode="auto">
            <a:xfrm>
              <a:off x="3504"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3" name="Line 16"/>
            <p:cNvSpPr>
              <a:spLocks noChangeShapeType="1"/>
            </p:cNvSpPr>
            <p:nvPr/>
          </p:nvSpPr>
          <p:spPr bwMode="auto">
            <a:xfrm>
              <a:off x="4211"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4" name="Rectangle 17"/>
            <p:cNvSpPr>
              <a:spLocks noChangeArrowheads="1"/>
            </p:cNvSpPr>
            <p:nvPr/>
          </p:nvSpPr>
          <p:spPr bwMode="auto">
            <a:xfrm>
              <a:off x="4699"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数据块</a:t>
              </a:r>
            </a:p>
          </p:txBody>
        </p:sp>
        <p:sp>
          <p:nvSpPr>
            <p:cNvPr id="137235" name="Rectangle 18"/>
            <p:cNvSpPr>
              <a:spLocks noChangeArrowheads="1"/>
            </p:cNvSpPr>
            <p:nvPr/>
          </p:nvSpPr>
          <p:spPr bwMode="auto">
            <a:xfrm>
              <a:off x="3936"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索引节点表</a:t>
              </a:r>
            </a:p>
          </p:txBody>
        </p:sp>
        <p:sp>
          <p:nvSpPr>
            <p:cNvPr id="137236" name="Rectangle 19"/>
            <p:cNvSpPr>
              <a:spLocks noChangeArrowheads="1"/>
            </p:cNvSpPr>
            <p:nvPr/>
          </p:nvSpPr>
          <p:spPr bwMode="auto">
            <a:xfrm>
              <a:off x="1647"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组描述符</a:t>
              </a:r>
            </a:p>
          </p:txBody>
        </p:sp>
        <p:sp>
          <p:nvSpPr>
            <p:cNvPr id="137237" name="Rectangle 20"/>
            <p:cNvSpPr>
              <a:spLocks noChangeArrowheads="1"/>
            </p:cNvSpPr>
            <p:nvPr/>
          </p:nvSpPr>
          <p:spPr bwMode="auto">
            <a:xfrm>
              <a:off x="2410"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块位图</a:t>
              </a:r>
            </a:p>
          </p:txBody>
        </p:sp>
        <p:sp>
          <p:nvSpPr>
            <p:cNvPr id="137238" name="Rectangle 21"/>
            <p:cNvSpPr>
              <a:spLocks noChangeArrowheads="1"/>
            </p:cNvSpPr>
            <p:nvPr/>
          </p:nvSpPr>
          <p:spPr bwMode="auto">
            <a:xfrm>
              <a:off x="3173"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索引节点位图</a:t>
              </a:r>
            </a:p>
          </p:txBody>
        </p:sp>
        <p:sp>
          <p:nvSpPr>
            <p:cNvPr id="137239" name="Rectangle 22"/>
            <p:cNvSpPr>
              <a:spLocks noChangeArrowheads="1"/>
            </p:cNvSpPr>
            <p:nvPr/>
          </p:nvSpPr>
          <p:spPr bwMode="auto">
            <a:xfrm>
              <a:off x="884"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超级块</a:t>
              </a:r>
            </a:p>
          </p:txBody>
        </p:sp>
        <p:sp>
          <p:nvSpPr>
            <p:cNvPr id="137240" name="Line 23"/>
            <p:cNvSpPr>
              <a:spLocks noChangeShapeType="1"/>
            </p:cNvSpPr>
            <p:nvPr/>
          </p:nvSpPr>
          <p:spPr bwMode="auto">
            <a:xfrm>
              <a:off x="884" y="3838"/>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1" name="Line 24"/>
            <p:cNvSpPr>
              <a:spLocks noChangeShapeType="1"/>
            </p:cNvSpPr>
            <p:nvPr/>
          </p:nvSpPr>
          <p:spPr bwMode="auto">
            <a:xfrm>
              <a:off x="884" y="4337"/>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2" name="Line 25"/>
            <p:cNvSpPr>
              <a:spLocks noChangeShapeType="1"/>
            </p:cNvSpPr>
            <p:nvPr/>
          </p:nvSpPr>
          <p:spPr bwMode="auto">
            <a:xfrm>
              <a:off x="884"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3" name="Line 26"/>
            <p:cNvSpPr>
              <a:spLocks noChangeShapeType="1"/>
            </p:cNvSpPr>
            <p:nvPr/>
          </p:nvSpPr>
          <p:spPr bwMode="auto">
            <a:xfrm>
              <a:off x="5462"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4" name="Line 27"/>
            <p:cNvSpPr>
              <a:spLocks noChangeShapeType="1"/>
            </p:cNvSpPr>
            <p:nvPr/>
          </p:nvSpPr>
          <p:spPr bwMode="auto">
            <a:xfrm>
              <a:off x="3173"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5" name="Line 28"/>
            <p:cNvSpPr>
              <a:spLocks noChangeShapeType="1"/>
            </p:cNvSpPr>
            <p:nvPr/>
          </p:nvSpPr>
          <p:spPr bwMode="auto">
            <a:xfrm>
              <a:off x="2410"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6" name="Line 29"/>
            <p:cNvSpPr>
              <a:spLocks noChangeShapeType="1"/>
            </p:cNvSpPr>
            <p:nvPr/>
          </p:nvSpPr>
          <p:spPr bwMode="auto">
            <a:xfrm>
              <a:off x="1647"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7" name="Line 30"/>
            <p:cNvSpPr>
              <a:spLocks noChangeShapeType="1"/>
            </p:cNvSpPr>
            <p:nvPr/>
          </p:nvSpPr>
          <p:spPr bwMode="auto">
            <a:xfrm>
              <a:off x="3936"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8" name="Line 31"/>
            <p:cNvSpPr>
              <a:spLocks noChangeShapeType="1"/>
            </p:cNvSpPr>
            <p:nvPr/>
          </p:nvSpPr>
          <p:spPr bwMode="auto">
            <a:xfrm>
              <a:off x="4699"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9" name="Freeform 32"/>
            <p:cNvSpPr>
              <a:spLocks/>
            </p:cNvSpPr>
            <p:nvPr/>
          </p:nvSpPr>
          <p:spPr bwMode="auto">
            <a:xfrm>
              <a:off x="867" y="3526"/>
              <a:ext cx="1219" cy="308"/>
            </a:xfrm>
            <a:custGeom>
              <a:avLst/>
              <a:gdLst>
                <a:gd name="T0" fmla="*/ 1219 w 1219"/>
                <a:gd name="T1" fmla="*/ 0 h 308"/>
                <a:gd name="T2" fmla="*/ 816 w 1219"/>
                <a:gd name="T3" fmla="*/ 58 h 308"/>
                <a:gd name="T4" fmla="*/ 586 w 1219"/>
                <a:gd name="T5" fmla="*/ 99 h 308"/>
                <a:gd name="T6" fmla="*/ 42 w 1219"/>
                <a:gd name="T7" fmla="*/ 239 h 308"/>
                <a:gd name="T8" fmla="*/ 1 w 1219"/>
                <a:gd name="T9" fmla="*/ 305 h 308"/>
                <a:gd name="T10" fmla="*/ 1 w 1219"/>
                <a:gd name="T11" fmla="*/ 296 h 308"/>
                <a:gd name="T12" fmla="*/ 0 60000 65536"/>
                <a:gd name="T13" fmla="*/ 0 60000 65536"/>
                <a:gd name="T14" fmla="*/ 0 60000 65536"/>
                <a:gd name="T15" fmla="*/ 0 60000 65536"/>
                <a:gd name="T16" fmla="*/ 0 60000 65536"/>
                <a:gd name="T17" fmla="*/ 0 60000 65536"/>
                <a:gd name="T18" fmla="*/ 0 w 1219"/>
                <a:gd name="T19" fmla="*/ 0 h 308"/>
                <a:gd name="T20" fmla="*/ 1219 w 1219"/>
                <a:gd name="T21" fmla="*/ 308 h 308"/>
              </a:gdLst>
              <a:ahLst/>
              <a:cxnLst>
                <a:cxn ang="T12">
                  <a:pos x="T0" y="T1"/>
                </a:cxn>
                <a:cxn ang="T13">
                  <a:pos x="T2" y="T3"/>
                </a:cxn>
                <a:cxn ang="T14">
                  <a:pos x="T4" y="T5"/>
                </a:cxn>
                <a:cxn ang="T15">
                  <a:pos x="T6" y="T7"/>
                </a:cxn>
                <a:cxn ang="T16">
                  <a:pos x="T8" y="T9"/>
                </a:cxn>
                <a:cxn ang="T17">
                  <a:pos x="T10" y="T11"/>
                </a:cxn>
              </a:cxnLst>
              <a:rect l="T18" t="T19" r="T20" b="T21"/>
              <a:pathLst>
                <a:path w="1219" h="308">
                  <a:moveTo>
                    <a:pt x="1219" y="0"/>
                  </a:moveTo>
                  <a:cubicBezTo>
                    <a:pt x="1089" y="42"/>
                    <a:pt x="951" y="48"/>
                    <a:pt x="816" y="58"/>
                  </a:cubicBezTo>
                  <a:cubicBezTo>
                    <a:pt x="749" y="90"/>
                    <a:pt x="659" y="93"/>
                    <a:pt x="586" y="99"/>
                  </a:cubicBezTo>
                  <a:cubicBezTo>
                    <a:pt x="402" y="134"/>
                    <a:pt x="220" y="182"/>
                    <a:pt x="42" y="239"/>
                  </a:cubicBezTo>
                  <a:cubicBezTo>
                    <a:pt x="3" y="265"/>
                    <a:pt x="21" y="269"/>
                    <a:pt x="1" y="305"/>
                  </a:cubicBezTo>
                  <a:cubicBezTo>
                    <a:pt x="0" y="308"/>
                    <a:pt x="1" y="299"/>
                    <a:pt x="1" y="29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7250" name="Freeform 33"/>
            <p:cNvSpPr>
              <a:spLocks/>
            </p:cNvSpPr>
            <p:nvPr/>
          </p:nvSpPr>
          <p:spPr bwMode="auto">
            <a:xfrm>
              <a:off x="2802" y="3516"/>
              <a:ext cx="2650" cy="331"/>
            </a:xfrm>
            <a:custGeom>
              <a:avLst/>
              <a:gdLst>
                <a:gd name="T0" fmla="*/ 0 w 2650"/>
                <a:gd name="T1" fmla="*/ 2 h 331"/>
                <a:gd name="T2" fmla="*/ 272 w 2650"/>
                <a:gd name="T3" fmla="*/ 18 h 331"/>
                <a:gd name="T4" fmla="*/ 494 w 2650"/>
                <a:gd name="T5" fmla="*/ 68 h 331"/>
                <a:gd name="T6" fmla="*/ 1498 w 2650"/>
                <a:gd name="T7" fmla="*/ 158 h 331"/>
                <a:gd name="T8" fmla="*/ 2024 w 2650"/>
                <a:gd name="T9" fmla="*/ 183 h 331"/>
                <a:gd name="T10" fmla="*/ 2263 w 2650"/>
                <a:gd name="T11" fmla="*/ 224 h 331"/>
                <a:gd name="T12" fmla="*/ 2477 w 2650"/>
                <a:gd name="T13" fmla="*/ 257 h 331"/>
                <a:gd name="T14" fmla="*/ 2551 w 2650"/>
                <a:gd name="T15" fmla="*/ 273 h 331"/>
                <a:gd name="T16" fmla="*/ 2641 w 2650"/>
                <a:gd name="T17" fmla="*/ 290 h 331"/>
                <a:gd name="T18" fmla="*/ 2650 w 2650"/>
                <a:gd name="T19" fmla="*/ 331 h 3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50"/>
                <a:gd name="T31" fmla="*/ 0 h 331"/>
                <a:gd name="T32" fmla="*/ 2650 w 2650"/>
                <a:gd name="T33" fmla="*/ 331 h 3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50" h="331">
                  <a:moveTo>
                    <a:pt x="0" y="2"/>
                  </a:moveTo>
                  <a:cubicBezTo>
                    <a:pt x="91" y="6"/>
                    <a:pt x="183" y="0"/>
                    <a:pt x="272" y="18"/>
                  </a:cubicBezTo>
                  <a:cubicBezTo>
                    <a:pt x="349" y="33"/>
                    <a:pt x="415" y="59"/>
                    <a:pt x="494" y="68"/>
                  </a:cubicBezTo>
                  <a:cubicBezTo>
                    <a:pt x="815" y="162"/>
                    <a:pt x="1166" y="145"/>
                    <a:pt x="1498" y="158"/>
                  </a:cubicBezTo>
                  <a:cubicBezTo>
                    <a:pt x="1671" y="185"/>
                    <a:pt x="1849" y="174"/>
                    <a:pt x="2024" y="183"/>
                  </a:cubicBezTo>
                  <a:cubicBezTo>
                    <a:pt x="2103" y="202"/>
                    <a:pt x="2182" y="215"/>
                    <a:pt x="2263" y="224"/>
                  </a:cubicBezTo>
                  <a:cubicBezTo>
                    <a:pt x="2334" y="242"/>
                    <a:pt x="2405" y="244"/>
                    <a:pt x="2477" y="257"/>
                  </a:cubicBezTo>
                  <a:cubicBezTo>
                    <a:pt x="2502" y="262"/>
                    <a:pt x="2526" y="268"/>
                    <a:pt x="2551" y="273"/>
                  </a:cubicBezTo>
                  <a:cubicBezTo>
                    <a:pt x="2581" y="279"/>
                    <a:pt x="2641" y="290"/>
                    <a:pt x="2641" y="290"/>
                  </a:cubicBezTo>
                  <a:cubicBezTo>
                    <a:pt x="2644" y="304"/>
                    <a:pt x="2650" y="331"/>
                    <a:pt x="2650" y="331"/>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37220" name="Oval 34"/>
          <p:cNvSpPr>
            <a:spLocks noChangeArrowheads="1"/>
          </p:cNvSpPr>
          <p:nvPr/>
        </p:nvSpPr>
        <p:spPr bwMode="auto">
          <a:xfrm>
            <a:off x="539750" y="1268413"/>
            <a:ext cx="1439863" cy="6477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806686412"/>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body" idx="1"/>
          </p:nvPr>
        </p:nvSpPr>
        <p:spPr>
          <a:xfrm>
            <a:off x="468313" y="2332038"/>
            <a:ext cx="8496300" cy="3833812"/>
          </a:xfrm>
        </p:spPr>
        <p:txBody>
          <a:bodyPr/>
          <a:lstStyle/>
          <a:p>
            <a:pPr eaLnBrk="1" hangingPunct="1">
              <a:lnSpc>
                <a:spcPct val="80000"/>
              </a:lnSpc>
              <a:buFont typeface="Wingdings" panose="05000000000000000000" pitchFamily="2" charset="2"/>
              <a:buNone/>
            </a:pPr>
            <a:r>
              <a:rPr lang="en-US" altLang="zh-CN" sz="1800" smtClean="0"/>
              <a:t>struct </a:t>
            </a:r>
            <a:r>
              <a:rPr lang="en-US" altLang="zh-CN" sz="1800" smtClean="0">
                <a:solidFill>
                  <a:schemeClr val="accent2"/>
                </a:solidFill>
              </a:rPr>
              <a:t>ext2_group_desc</a:t>
            </a:r>
          </a:p>
          <a:p>
            <a:pPr eaLnBrk="1" hangingPunct="1">
              <a:lnSpc>
                <a:spcPct val="80000"/>
              </a:lnSpc>
              <a:buFont typeface="Wingdings" panose="05000000000000000000" pitchFamily="2" charset="2"/>
              <a:buNone/>
            </a:pPr>
            <a:r>
              <a:rPr lang="en-US" altLang="zh-CN" sz="1800" smtClean="0"/>
              <a:t>{</a:t>
            </a:r>
          </a:p>
          <a:p>
            <a:pPr eaLnBrk="1" hangingPunct="1">
              <a:lnSpc>
                <a:spcPct val="80000"/>
              </a:lnSpc>
              <a:buFont typeface="Wingdings" panose="05000000000000000000" pitchFamily="2" charset="2"/>
              <a:buNone/>
            </a:pPr>
            <a:r>
              <a:rPr lang="en-US" altLang="zh-CN" sz="1800" smtClean="0"/>
              <a:t>		__u32	bg_block_bitmap;	                      /* </a:t>
            </a:r>
            <a:r>
              <a:rPr lang="zh-CN" altLang="en-US" sz="1800" smtClean="0"/>
              <a:t>块位图的块号 *</a:t>
            </a:r>
            <a:r>
              <a:rPr lang="en-US" altLang="zh-CN" sz="1800" smtClean="0"/>
              <a:t>/</a:t>
            </a:r>
          </a:p>
          <a:p>
            <a:pPr eaLnBrk="1" hangingPunct="1">
              <a:lnSpc>
                <a:spcPct val="80000"/>
              </a:lnSpc>
              <a:buFont typeface="Wingdings" panose="05000000000000000000" pitchFamily="2" charset="2"/>
              <a:buNone/>
            </a:pPr>
            <a:r>
              <a:rPr lang="en-US" altLang="zh-CN" sz="1800" smtClean="0"/>
              <a:t>		__u32	bg_inode_bitmap;            	/* </a:t>
            </a:r>
            <a:r>
              <a:rPr lang="zh-CN" altLang="en-US" sz="1800" smtClean="0"/>
              <a:t>索引节点位图的块号 *</a:t>
            </a:r>
            <a:r>
              <a:rPr lang="en-US" altLang="zh-CN" sz="1800" smtClean="0"/>
              <a:t>/</a:t>
            </a:r>
          </a:p>
          <a:p>
            <a:pPr eaLnBrk="1" hangingPunct="1">
              <a:lnSpc>
                <a:spcPct val="80000"/>
              </a:lnSpc>
              <a:buFont typeface="Wingdings" panose="05000000000000000000" pitchFamily="2" charset="2"/>
              <a:buNone/>
            </a:pPr>
            <a:r>
              <a:rPr lang="en-US" altLang="zh-CN" sz="1800" smtClean="0"/>
              <a:t>		__u32	bg_inode_table;	           /* </a:t>
            </a:r>
            <a:r>
              <a:rPr lang="zh-CN" altLang="en-US" sz="1800" smtClean="0"/>
              <a:t>第一个索引节点表块的块号 *</a:t>
            </a:r>
            <a:r>
              <a:rPr lang="en-US" altLang="zh-CN" sz="1800" smtClean="0"/>
              <a:t>/</a:t>
            </a:r>
          </a:p>
          <a:p>
            <a:pPr eaLnBrk="1" hangingPunct="1">
              <a:lnSpc>
                <a:spcPct val="80000"/>
              </a:lnSpc>
              <a:buFont typeface="Wingdings" panose="05000000000000000000" pitchFamily="2" charset="2"/>
              <a:buNone/>
            </a:pPr>
            <a:r>
              <a:rPr lang="en-US" altLang="zh-CN" sz="1800" smtClean="0"/>
              <a:t>		__u16	bg_free_blocks_count;      /* </a:t>
            </a:r>
            <a:r>
              <a:rPr lang="zh-CN" altLang="en-US" sz="1800" smtClean="0"/>
              <a:t>组中空闲块的个数 *</a:t>
            </a:r>
            <a:r>
              <a:rPr lang="en-US" altLang="zh-CN" sz="1800" smtClean="0"/>
              <a:t>/</a:t>
            </a:r>
          </a:p>
          <a:p>
            <a:pPr eaLnBrk="1" hangingPunct="1">
              <a:lnSpc>
                <a:spcPct val="80000"/>
              </a:lnSpc>
              <a:buFont typeface="Wingdings" panose="05000000000000000000" pitchFamily="2" charset="2"/>
              <a:buNone/>
            </a:pPr>
            <a:r>
              <a:rPr lang="en-US" altLang="zh-CN" sz="1800" smtClean="0"/>
              <a:t>		__u16	bg_free_inodes_count;     /* </a:t>
            </a:r>
            <a:r>
              <a:rPr lang="zh-CN" altLang="en-US" sz="1800" smtClean="0"/>
              <a:t>组中索引点的个数 *</a:t>
            </a:r>
            <a:r>
              <a:rPr lang="en-US" altLang="zh-CN" sz="1800" smtClean="0"/>
              <a:t>/</a:t>
            </a:r>
          </a:p>
          <a:p>
            <a:pPr eaLnBrk="1" hangingPunct="1">
              <a:lnSpc>
                <a:spcPct val="80000"/>
              </a:lnSpc>
              <a:buFont typeface="Wingdings" panose="05000000000000000000" pitchFamily="2" charset="2"/>
              <a:buNone/>
            </a:pPr>
            <a:r>
              <a:rPr lang="en-US" altLang="zh-CN" sz="1800" smtClean="0"/>
              <a:t>		__u16	bg_used_dirs_count;       /* </a:t>
            </a:r>
            <a:r>
              <a:rPr lang="zh-CN" altLang="en-US" sz="1800" smtClean="0"/>
              <a:t>组中目录的个数 *</a:t>
            </a:r>
            <a:r>
              <a:rPr lang="en-US" altLang="zh-CN" sz="1800" smtClean="0"/>
              <a:t>/</a:t>
            </a:r>
          </a:p>
          <a:p>
            <a:pPr eaLnBrk="1" hangingPunct="1">
              <a:lnSpc>
                <a:spcPct val="80000"/>
              </a:lnSpc>
              <a:buFont typeface="Wingdings" panose="05000000000000000000" pitchFamily="2" charset="2"/>
              <a:buNone/>
            </a:pPr>
            <a:r>
              <a:rPr lang="en-US" altLang="zh-CN" sz="1800" smtClean="0"/>
              <a:t>			…</a:t>
            </a:r>
          </a:p>
          <a:p>
            <a:pPr eaLnBrk="1" hangingPunct="1">
              <a:lnSpc>
                <a:spcPct val="80000"/>
              </a:lnSpc>
              <a:buFont typeface="Wingdings" panose="05000000000000000000" pitchFamily="2" charset="2"/>
              <a:buNone/>
            </a:pPr>
            <a:r>
              <a:rPr lang="en-US" altLang="zh-CN" sz="1800" smtClean="0"/>
              <a:t>};</a:t>
            </a:r>
          </a:p>
          <a:p>
            <a:pPr eaLnBrk="1" hangingPunct="1">
              <a:lnSpc>
                <a:spcPct val="80000"/>
              </a:lnSpc>
              <a:buFont typeface="Wingdings" panose="05000000000000000000" pitchFamily="2" charset="2"/>
              <a:buNone/>
            </a:pPr>
            <a:r>
              <a:rPr lang="zh-CN" altLang="en-US" sz="1800" smtClean="0"/>
              <a:t>注：各位图存放在一个单独的块中</a:t>
            </a:r>
          </a:p>
          <a:p>
            <a:pPr eaLnBrk="1" hangingPunct="1">
              <a:lnSpc>
                <a:spcPct val="80000"/>
              </a:lnSpc>
              <a:buFont typeface="Wingdings" panose="05000000000000000000" pitchFamily="2" charset="2"/>
              <a:buNone/>
            </a:pPr>
            <a:endParaRPr lang="en-US" altLang="zh-CN" sz="1800" smtClean="0"/>
          </a:p>
        </p:txBody>
      </p:sp>
      <p:grpSp>
        <p:nvGrpSpPr>
          <p:cNvPr id="138243" name="Group 3"/>
          <p:cNvGrpSpPr>
            <a:grpSpLocks/>
          </p:cNvGrpSpPr>
          <p:nvPr/>
        </p:nvGrpSpPr>
        <p:grpSpPr bwMode="auto">
          <a:xfrm>
            <a:off x="755650" y="0"/>
            <a:ext cx="7294563" cy="2087563"/>
            <a:chOff x="867" y="3022"/>
            <a:chExt cx="4595" cy="1315"/>
          </a:xfrm>
        </p:grpSpPr>
        <p:sp>
          <p:nvSpPr>
            <p:cNvPr id="138245" name="Rectangle 4"/>
            <p:cNvSpPr>
              <a:spLocks noChangeArrowheads="1"/>
            </p:cNvSpPr>
            <p:nvPr/>
          </p:nvSpPr>
          <p:spPr bwMode="auto">
            <a:xfrm>
              <a:off x="4211"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3</a:t>
              </a:r>
            </a:p>
          </p:txBody>
        </p:sp>
        <p:sp>
          <p:nvSpPr>
            <p:cNvPr id="138246" name="Rectangle 5"/>
            <p:cNvSpPr>
              <a:spLocks noChangeArrowheads="1"/>
            </p:cNvSpPr>
            <p:nvPr/>
          </p:nvSpPr>
          <p:spPr bwMode="auto">
            <a:xfrm>
              <a:off x="3504"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2</a:t>
              </a:r>
            </a:p>
          </p:txBody>
        </p:sp>
        <p:sp>
          <p:nvSpPr>
            <p:cNvPr id="138247" name="Rectangle 6"/>
            <p:cNvSpPr>
              <a:spLocks noChangeArrowheads="1"/>
            </p:cNvSpPr>
            <p:nvPr/>
          </p:nvSpPr>
          <p:spPr bwMode="auto">
            <a:xfrm>
              <a:off x="2797"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1</a:t>
              </a:r>
            </a:p>
          </p:txBody>
        </p:sp>
        <p:sp>
          <p:nvSpPr>
            <p:cNvPr id="138248" name="Rectangle 7"/>
            <p:cNvSpPr>
              <a:spLocks noChangeArrowheads="1"/>
            </p:cNvSpPr>
            <p:nvPr/>
          </p:nvSpPr>
          <p:spPr bwMode="auto">
            <a:xfrm>
              <a:off x="2090"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0</a:t>
              </a:r>
            </a:p>
          </p:txBody>
        </p:sp>
        <p:sp>
          <p:nvSpPr>
            <p:cNvPr id="138249" name="Rectangle 8"/>
            <p:cNvSpPr>
              <a:spLocks noChangeArrowheads="1"/>
            </p:cNvSpPr>
            <p:nvPr/>
          </p:nvSpPr>
          <p:spPr bwMode="auto">
            <a:xfrm>
              <a:off x="1383"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引导块</a:t>
              </a:r>
            </a:p>
          </p:txBody>
        </p:sp>
        <p:sp>
          <p:nvSpPr>
            <p:cNvPr id="138250" name="Line 9"/>
            <p:cNvSpPr>
              <a:spLocks noChangeShapeType="1"/>
            </p:cNvSpPr>
            <p:nvPr/>
          </p:nvSpPr>
          <p:spPr bwMode="auto">
            <a:xfrm>
              <a:off x="1383" y="3022"/>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1" name="Line 10"/>
            <p:cNvSpPr>
              <a:spLocks noChangeShapeType="1"/>
            </p:cNvSpPr>
            <p:nvPr/>
          </p:nvSpPr>
          <p:spPr bwMode="auto">
            <a:xfrm>
              <a:off x="1383" y="3521"/>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2" name="Line 11"/>
            <p:cNvSpPr>
              <a:spLocks noChangeShapeType="1"/>
            </p:cNvSpPr>
            <p:nvPr/>
          </p:nvSpPr>
          <p:spPr bwMode="auto">
            <a:xfrm>
              <a:off x="1383"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3" name="Line 12"/>
            <p:cNvSpPr>
              <a:spLocks noChangeShapeType="1"/>
            </p:cNvSpPr>
            <p:nvPr/>
          </p:nvSpPr>
          <p:spPr bwMode="auto">
            <a:xfrm>
              <a:off x="4918"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4" name="Line 13"/>
            <p:cNvSpPr>
              <a:spLocks noChangeShapeType="1"/>
            </p:cNvSpPr>
            <p:nvPr/>
          </p:nvSpPr>
          <p:spPr bwMode="auto">
            <a:xfrm>
              <a:off x="2090"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5" name="Line 14"/>
            <p:cNvSpPr>
              <a:spLocks noChangeShapeType="1"/>
            </p:cNvSpPr>
            <p:nvPr/>
          </p:nvSpPr>
          <p:spPr bwMode="auto">
            <a:xfrm>
              <a:off x="2797"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6" name="Line 15"/>
            <p:cNvSpPr>
              <a:spLocks noChangeShapeType="1"/>
            </p:cNvSpPr>
            <p:nvPr/>
          </p:nvSpPr>
          <p:spPr bwMode="auto">
            <a:xfrm>
              <a:off x="3504"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7" name="Line 16"/>
            <p:cNvSpPr>
              <a:spLocks noChangeShapeType="1"/>
            </p:cNvSpPr>
            <p:nvPr/>
          </p:nvSpPr>
          <p:spPr bwMode="auto">
            <a:xfrm>
              <a:off x="4211"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58" name="Rectangle 17"/>
            <p:cNvSpPr>
              <a:spLocks noChangeArrowheads="1"/>
            </p:cNvSpPr>
            <p:nvPr/>
          </p:nvSpPr>
          <p:spPr bwMode="auto">
            <a:xfrm>
              <a:off x="4699"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数据块</a:t>
              </a:r>
            </a:p>
          </p:txBody>
        </p:sp>
        <p:sp>
          <p:nvSpPr>
            <p:cNvPr id="138259" name="Rectangle 18"/>
            <p:cNvSpPr>
              <a:spLocks noChangeArrowheads="1"/>
            </p:cNvSpPr>
            <p:nvPr/>
          </p:nvSpPr>
          <p:spPr bwMode="auto">
            <a:xfrm>
              <a:off x="3936"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索引节点表</a:t>
              </a:r>
            </a:p>
          </p:txBody>
        </p:sp>
        <p:sp>
          <p:nvSpPr>
            <p:cNvPr id="138260" name="Rectangle 19"/>
            <p:cNvSpPr>
              <a:spLocks noChangeArrowheads="1"/>
            </p:cNvSpPr>
            <p:nvPr/>
          </p:nvSpPr>
          <p:spPr bwMode="auto">
            <a:xfrm>
              <a:off x="1647"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组描述符</a:t>
              </a:r>
            </a:p>
          </p:txBody>
        </p:sp>
        <p:sp>
          <p:nvSpPr>
            <p:cNvPr id="138261" name="Rectangle 20"/>
            <p:cNvSpPr>
              <a:spLocks noChangeArrowheads="1"/>
            </p:cNvSpPr>
            <p:nvPr/>
          </p:nvSpPr>
          <p:spPr bwMode="auto">
            <a:xfrm>
              <a:off x="2410"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块位图</a:t>
              </a:r>
            </a:p>
          </p:txBody>
        </p:sp>
        <p:sp>
          <p:nvSpPr>
            <p:cNvPr id="138262" name="Rectangle 21"/>
            <p:cNvSpPr>
              <a:spLocks noChangeArrowheads="1"/>
            </p:cNvSpPr>
            <p:nvPr/>
          </p:nvSpPr>
          <p:spPr bwMode="auto">
            <a:xfrm>
              <a:off x="3173"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索引节点位图</a:t>
              </a:r>
            </a:p>
          </p:txBody>
        </p:sp>
        <p:sp>
          <p:nvSpPr>
            <p:cNvPr id="138263" name="Rectangle 22"/>
            <p:cNvSpPr>
              <a:spLocks noChangeArrowheads="1"/>
            </p:cNvSpPr>
            <p:nvPr/>
          </p:nvSpPr>
          <p:spPr bwMode="auto">
            <a:xfrm>
              <a:off x="884"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超级块</a:t>
              </a:r>
            </a:p>
          </p:txBody>
        </p:sp>
        <p:sp>
          <p:nvSpPr>
            <p:cNvPr id="138264" name="Line 23"/>
            <p:cNvSpPr>
              <a:spLocks noChangeShapeType="1"/>
            </p:cNvSpPr>
            <p:nvPr/>
          </p:nvSpPr>
          <p:spPr bwMode="auto">
            <a:xfrm>
              <a:off x="884" y="3838"/>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5" name="Line 24"/>
            <p:cNvSpPr>
              <a:spLocks noChangeShapeType="1"/>
            </p:cNvSpPr>
            <p:nvPr/>
          </p:nvSpPr>
          <p:spPr bwMode="auto">
            <a:xfrm>
              <a:off x="884" y="4337"/>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6" name="Line 25"/>
            <p:cNvSpPr>
              <a:spLocks noChangeShapeType="1"/>
            </p:cNvSpPr>
            <p:nvPr/>
          </p:nvSpPr>
          <p:spPr bwMode="auto">
            <a:xfrm>
              <a:off x="884"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7" name="Line 26"/>
            <p:cNvSpPr>
              <a:spLocks noChangeShapeType="1"/>
            </p:cNvSpPr>
            <p:nvPr/>
          </p:nvSpPr>
          <p:spPr bwMode="auto">
            <a:xfrm>
              <a:off x="5462"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8" name="Line 27"/>
            <p:cNvSpPr>
              <a:spLocks noChangeShapeType="1"/>
            </p:cNvSpPr>
            <p:nvPr/>
          </p:nvSpPr>
          <p:spPr bwMode="auto">
            <a:xfrm>
              <a:off x="3173"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69" name="Line 28"/>
            <p:cNvSpPr>
              <a:spLocks noChangeShapeType="1"/>
            </p:cNvSpPr>
            <p:nvPr/>
          </p:nvSpPr>
          <p:spPr bwMode="auto">
            <a:xfrm>
              <a:off x="2410"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0" name="Line 29"/>
            <p:cNvSpPr>
              <a:spLocks noChangeShapeType="1"/>
            </p:cNvSpPr>
            <p:nvPr/>
          </p:nvSpPr>
          <p:spPr bwMode="auto">
            <a:xfrm>
              <a:off x="1647"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1" name="Line 30"/>
            <p:cNvSpPr>
              <a:spLocks noChangeShapeType="1"/>
            </p:cNvSpPr>
            <p:nvPr/>
          </p:nvSpPr>
          <p:spPr bwMode="auto">
            <a:xfrm>
              <a:off x="3936"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2" name="Line 31"/>
            <p:cNvSpPr>
              <a:spLocks noChangeShapeType="1"/>
            </p:cNvSpPr>
            <p:nvPr/>
          </p:nvSpPr>
          <p:spPr bwMode="auto">
            <a:xfrm>
              <a:off x="4699"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8273" name="Freeform 32"/>
            <p:cNvSpPr>
              <a:spLocks/>
            </p:cNvSpPr>
            <p:nvPr/>
          </p:nvSpPr>
          <p:spPr bwMode="auto">
            <a:xfrm>
              <a:off x="867" y="3526"/>
              <a:ext cx="1219" cy="308"/>
            </a:xfrm>
            <a:custGeom>
              <a:avLst/>
              <a:gdLst>
                <a:gd name="T0" fmla="*/ 1219 w 1219"/>
                <a:gd name="T1" fmla="*/ 0 h 308"/>
                <a:gd name="T2" fmla="*/ 816 w 1219"/>
                <a:gd name="T3" fmla="*/ 58 h 308"/>
                <a:gd name="T4" fmla="*/ 586 w 1219"/>
                <a:gd name="T5" fmla="*/ 99 h 308"/>
                <a:gd name="T6" fmla="*/ 42 w 1219"/>
                <a:gd name="T7" fmla="*/ 239 h 308"/>
                <a:gd name="T8" fmla="*/ 1 w 1219"/>
                <a:gd name="T9" fmla="*/ 305 h 308"/>
                <a:gd name="T10" fmla="*/ 1 w 1219"/>
                <a:gd name="T11" fmla="*/ 296 h 308"/>
                <a:gd name="T12" fmla="*/ 0 60000 65536"/>
                <a:gd name="T13" fmla="*/ 0 60000 65536"/>
                <a:gd name="T14" fmla="*/ 0 60000 65536"/>
                <a:gd name="T15" fmla="*/ 0 60000 65536"/>
                <a:gd name="T16" fmla="*/ 0 60000 65536"/>
                <a:gd name="T17" fmla="*/ 0 60000 65536"/>
                <a:gd name="T18" fmla="*/ 0 w 1219"/>
                <a:gd name="T19" fmla="*/ 0 h 308"/>
                <a:gd name="T20" fmla="*/ 1219 w 1219"/>
                <a:gd name="T21" fmla="*/ 308 h 308"/>
              </a:gdLst>
              <a:ahLst/>
              <a:cxnLst>
                <a:cxn ang="T12">
                  <a:pos x="T0" y="T1"/>
                </a:cxn>
                <a:cxn ang="T13">
                  <a:pos x="T2" y="T3"/>
                </a:cxn>
                <a:cxn ang="T14">
                  <a:pos x="T4" y="T5"/>
                </a:cxn>
                <a:cxn ang="T15">
                  <a:pos x="T6" y="T7"/>
                </a:cxn>
                <a:cxn ang="T16">
                  <a:pos x="T8" y="T9"/>
                </a:cxn>
                <a:cxn ang="T17">
                  <a:pos x="T10" y="T11"/>
                </a:cxn>
              </a:cxnLst>
              <a:rect l="T18" t="T19" r="T20" b="T21"/>
              <a:pathLst>
                <a:path w="1219" h="308">
                  <a:moveTo>
                    <a:pt x="1219" y="0"/>
                  </a:moveTo>
                  <a:cubicBezTo>
                    <a:pt x="1089" y="42"/>
                    <a:pt x="951" y="48"/>
                    <a:pt x="816" y="58"/>
                  </a:cubicBezTo>
                  <a:cubicBezTo>
                    <a:pt x="749" y="90"/>
                    <a:pt x="659" y="93"/>
                    <a:pt x="586" y="99"/>
                  </a:cubicBezTo>
                  <a:cubicBezTo>
                    <a:pt x="402" y="134"/>
                    <a:pt x="220" y="182"/>
                    <a:pt x="42" y="239"/>
                  </a:cubicBezTo>
                  <a:cubicBezTo>
                    <a:pt x="3" y="265"/>
                    <a:pt x="21" y="269"/>
                    <a:pt x="1" y="305"/>
                  </a:cubicBezTo>
                  <a:cubicBezTo>
                    <a:pt x="0" y="308"/>
                    <a:pt x="1" y="299"/>
                    <a:pt x="1" y="29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8274" name="Freeform 33"/>
            <p:cNvSpPr>
              <a:spLocks/>
            </p:cNvSpPr>
            <p:nvPr/>
          </p:nvSpPr>
          <p:spPr bwMode="auto">
            <a:xfrm>
              <a:off x="2802" y="3516"/>
              <a:ext cx="2650" cy="331"/>
            </a:xfrm>
            <a:custGeom>
              <a:avLst/>
              <a:gdLst>
                <a:gd name="T0" fmla="*/ 0 w 2650"/>
                <a:gd name="T1" fmla="*/ 2 h 331"/>
                <a:gd name="T2" fmla="*/ 272 w 2650"/>
                <a:gd name="T3" fmla="*/ 18 h 331"/>
                <a:gd name="T4" fmla="*/ 494 w 2650"/>
                <a:gd name="T5" fmla="*/ 68 h 331"/>
                <a:gd name="T6" fmla="*/ 1498 w 2650"/>
                <a:gd name="T7" fmla="*/ 158 h 331"/>
                <a:gd name="T8" fmla="*/ 2024 w 2650"/>
                <a:gd name="T9" fmla="*/ 183 h 331"/>
                <a:gd name="T10" fmla="*/ 2263 w 2650"/>
                <a:gd name="T11" fmla="*/ 224 h 331"/>
                <a:gd name="T12" fmla="*/ 2477 w 2650"/>
                <a:gd name="T13" fmla="*/ 257 h 331"/>
                <a:gd name="T14" fmla="*/ 2551 w 2650"/>
                <a:gd name="T15" fmla="*/ 273 h 331"/>
                <a:gd name="T16" fmla="*/ 2641 w 2650"/>
                <a:gd name="T17" fmla="*/ 290 h 331"/>
                <a:gd name="T18" fmla="*/ 2650 w 2650"/>
                <a:gd name="T19" fmla="*/ 331 h 3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50"/>
                <a:gd name="T31" fmla="*/ 0 h 331"/>
                <a:gd name="T32" fmla="*/ 2650 w 2650"/>
                <a:gd name="T33" fmla="*/ 331 h 3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50" h="331">
                  <a:moveTo>
                    <a:pt x="0" y="2"/>
                  </a:moveTo>
                  <a:cubicBezTo>
                    <a:pt x="91" y="6"/>
                    <a:pt x="183" y="0"/>
                    <a:pt x="272" y="18"/>
                  </a:cubicBezTo>
                  <a:cubicBezTo>
                    <a:pt x="349" y="33"/>
                    <a:pt x="415" y="59"/>
                    <a:pt x="494" y="68"/>
                  </a:cubicBezTo>
                  <a:cubicBezTo>
                    <a:pt x="815" y="162"/>
                    <a:pt x="1166" y="145"/>
                    <a:pt x="1498" y="158"/>
                  </a:cubicBezTo>
                  <a:cubicBezTo>
                    <a:pt x="1671" y="185"/>
                    <a:pt x="1849" y="174"/>
                    <a:pt x="2024" y="183"/>
                  </a:cubicBezTo>
                  <a:cubicBezTo>
                    <a:pt x="2103" y="202"/>
                    <a:pt x="2182" y="215"/>
                    <a:pt x="2263" y="224"/>
                  </a:cubicBezTo>
                  <a:cubicBezTo>
                    <a:pt x="2334" y="242"/>
                    <a:pt x="2405" y="244"/>
                    <a:pt x="2477" y="257"/>
                  </a:cubicBezTo>
                  <a:cubicBezTo>
                    <a:pt x="2502" y="262"/>
                    <a:pt x="2526" y="268"/>
                    <a:pt x="2551" y="273"/>
                  </a:cubicBezTo>
                  <a:cubicBezTo>
                    <a:pt x="2581" y="279"/>
                    <a:pt x="2641" y="290"/>
                    <a:pt x="2641" y="290"/>
                  </a:cubicBezTo>
                  <a:cubicBezTo>
                    <a:pt x="2644" y="304"/>
                    <a:pt x="2650" y="331"/>
                    <a:pt x="2650" y="331"/>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38244" name="Oval 34"/>
          <p:cNvSpPr>
            <a:spLocks noChangeArrowheads="1"/>
          </p:cNvSpPr>
          <p:nvPr/>
        </p:nvSpPr>
        <p:spPr bwMode="auto">
          <a:xfrm>
            <a:off x="1763713" y="1341438"/>
            <a:ext cx="1439862" cy="6477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2125207254"/>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body" idx="1"/>
          </p:nvPr>
        </p:nvSpPr>
        <p:spPr>
          <a:xfrm>
            <a:off x="468313" y="2332038"/>
            <a:ext cx="8496300" cy="4265612"/>
          </a:xfrm>
        </p:spPr>
        <p:txBody>
          <a:bodyPr/>
          <a:lstStyle/>
          <a:p>
            <a:pPr eaLnBrk="1" hangingPunct="1">
              <a:lnSpc>
                <a:spcPct val="80000"/>
              </a:lnSpc>
              <a:buFont typeface="Wingdings" panose="05000000000000000000" pitchFamily="2" charset="2"/>
              <a:buNone/>
            </a:pPr>
            <a:r>
              <a:rPr lang="en-US" altLang="zh-CN" sz="1600" smtClean="0"/>
              <a:t>1</a:t>
            </a:r>
            <a:r>
              <a:rPr lang="zh-CN" altLang="en-US" sz="1600" smtClean="0"/>
              <a:t>、索引节点表由多个块组成， 每个块存放多个大小相同的索引节点</a:t>
            </a:r>
          </a:p>
          <a:p>
            <a:pPr eaLnBrk="1" hangingPunct="1">
              <a:lnSpc>
                <a:spcPct val="80000"/>
              </a:lnSpc>
              <a:buFont typeface="Wingdings" panose="05000000000000000000" pitchFamily="2" charset="2"/>
              <a:buNone/>
            </a:pPr>
            <a:r>
              <a:rPr lang="en-US" altLang="zh-CN" sz="1600" smtClean="0"/>
              <a:t>2</a:t>
            </a:r>
            <a:r>
              <a:rPr lang="zh-CN" altLang="en-US" sz="1600" smtClean="0"/>
              <a:t>、</a:t>
            </a:r>
            <a:r>
              <a:rPr lang="en-US" altLang="zh-CN" sz="1600" smtClean="0"/>
              <a:t>ext2_super_block. bg_inode_table</a:t>
            </a:r>
            <a:r>
              <a:rPr lang="zh-CN" altLang="en-US" sz="1600" smtClean="0"/>
              <a:t>指向第一个块的块号</a:t>
            </a:r>
          </a:p>
          <a:p>
            <a:pPr eaLnBrk="1" hangingPunct="1">
              <a:lnSpc>
                <a:spcPct val="80000"/>
              </a:lnSpc>
              <a:buFont typeface="Wingdings" panose="05000000000000000000" pitchFamily="2" charset="2"/>
              <a:buNone/>
            </a:pPr>
            <a:r>
              <a:rPr lang="zh-CN" altLang="en-US" sz="1600" smtClean="0"/>
              <a:t>	</a:t>
            </a:r>
            <a:r>
              <a:rPr lang="en-US" altLang="zh-CN" sz="1600" smtClean="0"/>
              <a:t>struct </a:t>
            </a:r>
            <a:r>
              <a:rPr lang="en-US" altLang="zh-CN" sz="1600" smtClean="0">
                <a:solidFill>
                  <a:schemeClr val="accent2"/>
                </a:solidFill>
              </a:rPr>
              <a:t>ext2_inode</a:t>
            </a:r>
            <a:r>
              <a:rPr lang="en-US" altLang="zh-CN" sz="1600" smtClean="0"/>
              <a:t> {</a:t>
            </a:r>
          </a:p>
          <a:p>
            <a:pPr eaLnBrk="1" hangingPunct="1">
              <a:lnSpc>
                <a:spcPct val="80000"/>
              </a:lnSpc>
              <a:buFont typeface="Wingdings" panose="05000000000000000000" pitchFamily="2" charset="2"/>
              <a:buNone/>
            </a:pPr>
            <a:r>
              <a:rPr lang="en-US" altLang="zh-CN" sz="1600" smtClean="0"/>
              <a:t>		__u16	i_mode;		/* </a:t>
            </a:r>
            <a:r>
              <a:rPr lang="zh-CN" altLang="en-US" sz="1600" smtClean="0"/>
              <a:t>描述的是什么及用户应具有的权限 *</a:t>
            </a:r>
            <a:r>
              <a:rPr lang="en-US" altLang="zh-CN" sz="1600" smtClean="0"/>
              <a:t>/</a:t>
            </a:r>
          </a:p>
          <a:p>
            <a:pPr eaLnBrk="1" hangingPunct="1">
              <a:lnSpc>
                <a:spcPct val="80000"/>
              </a:lnSpc>
              <a:buFont typeface="Wingdings" panose="05000000000000000000" pitchFamily="2" charset="2"/>
              <a:buNone/>
            </a:pPr>
            <a:r>
              <a:rPr lang="en-US" altLang="zh-CN" sz="1600" smtClean="0"/>
              <a:t>                             ...</a:t>
            </a:r>
          </a:p>
          <a:p>
            <a:pPr eaLnBrk="1" hangingPunct="1">
              <a:lnSpc>
                <a:spcPct val="80000"/>
              </a:lnSpc>
              <a:buFont typeface="Wingdings" panose="05000000000000000000" pitchFamily="2" charset="2"/>
              <a:buNone/>
            </a:pPr>
            <a:r>
              <a:rPr lang="en-US" altLang="zh-CN" sz="1600" smtClean="0"/>
              <a:t>		__u32	i_size;		/* </a:t>
            </a:r>
            <a:r>
              <a:rPr lang="zh-CN" altLang="en-US" sz="1600" smtClean="0"/>
              <a:t>文件的有效长度 *</a:t>
            </a:r>
            <a:r>
              <a:rPr lang="en-US" altLang="zh-CN" sz="1600" smtClean="0"/>
              <a:t>/</a:t>
            </a:r>
          </a:p>
          <a:p>
            <a:pPr eaLnBrk="1" hangingPunct="1">
              <a:lnSpc>
                <a:spcPct val="80000"/>
              </a:lnSpc>
              <a:buFont typeface="Wingdings" panose="05000000000000000000" pitchFamily="2" charset="2"/>
              <a:buNone/>
            </a:pPr>
            <a:r>
              <a:rPr lang="en-US" altLang="zh-CN" sz="1600" smtClean="0"/>
              <a:t>			...</a:t>
            </a:r>
          </a:p>
          <a:p>
            <a:pPr eaLnBrk="1" hangingPunct="1">
              <a:lnSpc>
                <a:spcPct val="80000"/>
              </a:lnSpc>
              <a:buFont typeface="Wingdings" panose="05000000000000000000" pitchFamily="2" charset="2"/>
              <a:buNone/>
            </a:pPr>
            <a:r>
              <a:rPr lang="en-US" altLang="zh-CN" sz="1600" smtClean="0"/>
              <a:t>		__u32	i_blocks;	/* </a:t>
            </a:r>
            <a:r>
              <a:rPr lang="zh-CN" altLang="en-US" sz="1600" smtClean="0"/>
              <a:t>已分配给文件的数据块数 *</a:t>
            </a:r>
            <a:r>
              <a:rPr lang="en-US" altLang="zh-CN" sz="1600" smtClean="0"/>
              <a:t>/</a:t>
            </a:r>
          </a:p>
          <a:p>
            <a:pPr eaLnBrk="1" hangingPunct="1">
              <a:lnSpc>
                <a:spcPct val="80000"/>
              </a:lnSpc>
              <a:buFont typeface="Wingdings" panose="05000000000000000000" pitchFamily="2" charset="2"/>
              <a:buNone/>
            </a:pPr>
            <a:r>
              <a:rPr lang="en-US" altLang="zh-CN" sz="1600" smtClean="0"/>
              <a:t>			...</a:t>
            </a:r>
          </a:p>
          <a:p>
            <a:pPr eaLnBrk="1" hangingPunct="1">
              <a:lnSpc>
                <a:spcPct val="80000"/>
              </a:lnSpc>
              <a:buFont typeface="Wingdings" panose="05000000000000000000" pitchFamily="2" charset="2"/>
              <a:buNone/>
            </a:pPr>
            <a:r>
              <a:rPr lang="en-US" altLang="zh-CN" sz="1600" smtClean="0"/>
              <a:t>		__u32	i_block[EXT2_N_BLOCKS];</a:t>
            </a:r>
          </a:p>
          <a:p>
            <a:pPr eaLnBrk="1" hangingPunct="1">
              <a:lnSpc>
                <a:spcPct val="80000"/>
              </a:lnSpc>
              <a:buFont typeface="Wingdings" panose="05000000000000000000" pitchFamily="2" charset="2"/>
              <a:buNone/>
            </a:pPr>
            <a:r>
              <a:rPr lang="en-US" altLang="zh-CN" sz="1600" smtClean="0"/>
              <a:t>                           /* </a:t>
            </a:r>
            <a:r>
              <a:rPr lang="zh-CN" altLang="en-US" sz="1600" smtClean="0"/>
              <a:t>指针数组，各元素指向分配给文件的数据块 *</a:t>
            </a:r>
            <a:r>
              <a:rPr lang="en-US" altLang="zh-CN" sz="1600" smtClean="0"/>
              <a:t>/</a:t>
            </a:r>
          </a:p>
          <a:p>
            <a:pPr eaLnBrk="1" hangingPunct="1">
              <a:lnSpc>
                <a:spcPct val="80000"/>
              </a:lnSpc>
              <a:buFont typeface="Wingdings" panose="05000000000000000000" pitchFamily="2" charset="2"/>
              <a:buNone/>
            </a:pPr>
            <a:r>
              <a:rPr lang="en-US" altLang="zh-CN" sz="1600" smtClean="0"/>
              <a:t>			...</a:t>
            </a:r>
          </a:p>
          <a:p>
            <a:pPr eaLnBrk="1" hangingPunct="1">
              <a:lnSpc>
                <a:spcPct val="80000"/>
              </a:lnSpc>
              <a:buFont typeface="Wingdings" panose="05000000000000000000" pitchFamily="2" charset="2"/>
              <a:buNone/>
            </a:pPr>
            <a:r>
              <a:rPr lang="en-US" altLang="zh-CN" sz="1600" smtClean="0"/>
              <a:t>};</a:t>
            </a:r>
          </a:p>
          <a:p>
            <a:pPr eaLnBrk="1" hangingPunct="1">
              <a:lnSpc>
                <a:spcPct val="80000"/>
              </a:lnSpc>
              <a:buFont typeface="Wingdings" panose="05000000000000000000" pitchFamily="2" charset="2"/>
              <a:buNone/>
            </a:pPr>
            <a:r>
              <a:rPr lang="en-US" altLang="zh-CN" sz="1600" smtClean="0"/>
              <a:t>i_size</a:t>
            </a:r>
            <a:r>
              <a:rPr lang="zh-CN" altLang="en-US" sz="1600" smtClean="0"/>
              <a:t>最高位没有使用，因此文件大小限制为</a:t>
            </a:r>
            <a:r>
              <a:rPr lang="en-US" altLang="zh-CN" sz="1600" smtClean="0"/>
              <a:t>2GB</a:t>
            </a:r>
          </a:p>
          <a:p>
            <a:pPr eaLnBrk="1" hangingPunct="1">
              <a:lnSpc>
                <a:spcPct val="80000"/>
              </a:lnSpc>
              <a:buFont typeface="Wingdings" panose="05000000000000000000" pitchFamily="2" charset="2"/>
              <a:buNone/>
            </a:pPr>
            <a:r>
              <a:rPr lang="zh-CN" altLang="en-US" sz="1600" smtClean="0"/>
              <a:t>块组和索引节点表的使用，可以快速得到索引节点的磁盘地址</a:t>
            </a:r>
          </a:p>
        </p:txBody>
      </p:sp>
      <p:grpSp>
        <p:nvGrpSpPr>
          <p:cNvPr id="139267" name="Group 3"/>
          <p:cNvGrpSpPr>
            <a:grpSpLocks/>
          </p:cNvGrpSpPr>
          <p:nvPr/>
        </p:nvGrpSpPr>
        <p:grpSpPr bwMode="auto">
          <a:xfrm>
            <a:off x="755650" y="0"/>
            <a:ext cx="7294563" cy="2087563"/>
            <a:chOff x="867" y="3022"/>
            <a:chExt cx="4595" cy="1315"/>
          </a:xfrm>
        </p:grpSpPr>
        <p:sp>
          <p:nvSpPr>
            <p:cNvPr id="139269" name="Rectangle 4"/>
            <p:cNvSpPr>
              <a:spLocks noChangeArrowheads="1"/>
            </p:cNvSpPr>
            <p:nvPr/>
          </p:nvSpPr>
          <p:spPr bwMode="auto">
            <a:xfrm>
              <a:off x="4211"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3</a:t>
              </a:r>
            </a:p>
          </p:txBody>
        </p:sp>
        <p:sp>
          <p:nvSpPr>
            <p:cNvPr id="139270" name="Rectangle 5"/>
            <p:cNvSpPr>
              <a:spLocks noChangeArrowheads="1"/>
            </p:cNvSpPr>
            <p:nvPr/>
          </p:nvSpPr>
          <p:spPr bwMode="auto">
            <a:xfrm>
              <a:off x="3504"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2</a:t>
              </a:r>
            </a:p>
          </p:txBody>
        </p:sp>
        <p:sp>
          <p:nvSpPr>
            <p:cNvPr id="139271" name="Rectangle 6"/>
            <p:cNvSpPr>
              <a:spLocks noChangeArrowheads="1"/>
            </p:cNvSpPr>
            <p:nvPr/>
          </p:nvSpPr>
          <p:spPr bwMode="auto">
            <a:xfrm>
              <a:off x="2797"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1</a:t>
              </a:r>
            </a:p>
          </p:txBody>
        </p:sp>
        <p:sp>
          <p:nvSpPr>
            <p:cNvPr id="139272" name="Rectangle 7"/>
            <p:cNvSpPr>
              <a:spLocks noChangeArrowheads="1"/>
            </p:cNvSpPr>
            <p:nvPr/>
          </p:nvSpPr>
          <p:spPr bwMode="auto">
            <a:xfrm>
              <a:off x="2090"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0</a:t>
              </a:r>
            </a:p>
          </p:txBody>
        </p:sp>
        <p:sp>
          <p:nvSpPr>
            <p:cNvPr id="139273" name="Rectangle 8"/>
            <p:cNvSpPr>
              <a:spLocks noChangeArrowheads="1"/>
            </p:cNvSpPr>
            <p:nvPr/>
          </p:nvSpPr>
          <p:spPr bwMode="auto">
            <a:xfrm>
              <a:off x="1383"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引导块</a:t>
              </a:r>
            </a:p>
          </p:txBody>
        </p:sp>
        <p:sp>
          <p:nvSpPr>
            <p:cNvPr id="139274" name="Line 9"/>
            <p:cNvSpPr>
              <a:spLocks noChangeShapeType="1"/>
            </p:cNvSpPr>
            <p:nvPr/>
          </p:nvSpPr>
          <p:spPr bwMode="auto">
            <a:xfrm>
              <a:off x="1383" y="3022"/>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5" name="Line 10"/>
            <p:cNvSpPr>
              <a:spLocks noChangeShapeType="1"/>
            </p:cNvSpPr>
            <p:nvPr/>
          </p:nvSpPr>
          <p:spPr bwMode="auto">
            <a:xfrm>
              <a:off x="1383" y="3521"/>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6" name="Line 11"/>
            <p:cNvSpPr>
              <a:spLocks noChangeShapeType="1"/>
            </p:cNvSpPr>
            <p:nvPr/>
          </p:nvSpPr>
          <p:spPr bwMode="auto">
            <a:xfrm>
              <a:off x="1383"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7" name="Line 12"/>
            <p:cNvSpPr>
              <a:spLocks noChangeShapeType="1"/>
            </p:cNvSpPr>
            <p:nvPr/>
          </p:nvSpPr>
          <p:spPr bwMode="auto">
            <a:xfrm>
              <a:off x="4918"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8" name="Line 13"/>
            <p:cNvSpPr>
              <a:spLocks noChangeShapeType="1"/>
            </p:cNvSpPr>
            <p:nvPr/>
          </p:nvSpPr>
          <p:spPr bwMode="auto">
            <a:xfrm>
              <a:off x="2090"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79" name="Line 14"/>
            <p:cNvSpPr>
              <a:spLocks noChangeShapeType="1"/>
            </p:cNvSpPr>
            <p:nvPr/>
          </p:nvSpPr>
          <p:spPr bwMode="auto">
            <a:xfrm>
              <a:off x="2797"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80" name="Line 15"/>
            <p:cNvSpPr>
              <a:spLocks noChangeShapeType="1"/>
            </p:cNvSpPr>
            <p:nvPr/>
          </p:nvSpPr>
          <p:spPr bwMode="auto">
            <a:xfrm>
              <a:off x="3504"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81" name="Line 16"/>
            <p:cNvSpPr>
              <a:spLocks noChangeShapeType="1"/>
            </p:cNvSpPr>
            <p:nvPr/>
          </p:nvSpPr>
          <p:spPr bwMode="auto">
            <a:xfrm>
              <a:off x="4211"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82" name="Rectangle 17"/>
            <p:cNvSpPr>
              <a:spLocks noChangeArrowheads="1"/>
            </p:cNvSpPr>
            <p:nvPr/>
          </p:nvSpPr>
          <p:spPr bwMode="auto">
            <a:xfrm>
              <a:off x="4699"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数据块</a:t>
              </a:r>
            </a:p>
          </p:txBody>
        </p:sp>
        <p:sp>
          <p:nvSpPr>
            <p:cNvPr id="139283" name="Rectangle 18"/>
            <p:cNvSpPr>
              <a:spLocks noChangeArrowheads="1"/>
            </p:cNvSpPr>
            <p:nvPr/>
          </p:nvSpPr>
          <p:spPr bwMode="auto">
            <a:xfrm>
              <a:off x="3936"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索引节点表</a:t>
              </a:r>
            </a:p>
          </p:txBody>
        </p:sp>
        <p:sp>
          <p:nvSpPr>
            <p:cNvPr id="139284" name="Rectangle 19"/>
            <p:cNvSpPr>
              <a:spLocks noChangeArrowheads="1"/>
            </p:cNvSpPr>
            <p:nvPr/>
          </p:nvSpPr>
          <p:spPr bwMode="auto">
            <a:xfrm>
              <a:off x="1647"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组描述符</a:t>
              </a:r>
            </a:p>
          </p:txBody>
        </p:sp>
        <p:sp>
          <p:nvSpPr>
            <p:cNvPr id="139285" name="Rectangle 20"/>
            <p:cNvSpPr>
              <a:spLocks noChangeArrowheads="1"/>
            </p:cNvSpPr>
            <p:nvPr/>
          </p:nvSpPr>
          <p:spPr bwMode="auto">
            <a:xfrm>
              <a:off x="2410"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块位图</a:t>
              </a:r>
            </a:p>
          </p:txBody>
        </p:sp>
        <p:sp>
          <p:nvSpPr>
            <p:cNvPr id="139286" name="Rectangle 21"/>
            <p:cNvSpPr>
              <a:spLocks noChangeArrowheads="1"/>
            </p:cNvSpPr>
            <p:nvPr/>
          </p:nvSpPr>
          <p:spPr bwMode="auto">
            <a:xfrm>
              <a:off x="3173"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索引节点位图</a:t>
              </a:r>
            </a:p>
          </p:txBody>
        </p:sp>
        <p:sp>
          <p:nvSpPr>
            <p:cNvPr id="139287" name="Rectangle 22"/>
            <p:cNvSpPr>
              <a:spLocks noChangeArrowheads="1"/>
            </p:cNvSpPr>
            <p:nvPr/>
          </p:nvSpPr>
          <p:spPr bwMode="auto">
            <a:xfrm>
              <a:off x="884"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超级块</a:t>
              </a:r>
            </a:p>
          </p:txBody>
        </p:sp>
        <p:sp>
          <p:nvSpPr>
            <p:cNvPr id="139288" name="Line 23"/>
            <p:cNvSpPr>
              <a:spLocks noChangeShapeType="1"/>
            </p:cNvSpPr>
            <p:nvPr/>
          </p:nvSpPr>
          <p:spPr bwMode="auto">
            <a:xfrm>
              <a:off x="884" y="3838"/>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89" name="Line 24"/>
            <p:cNvSpPr>
              <a:spLocks noChangeShapeType="1"/>
            </p:cNvSpPr>
            <p:nvPr/>
          </p:nvSpPr>
          <p:spPr bwMode="auto">
            <a:xfrm>
              <a:off x="884" y="4337"/>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90" name="Line 25"/>
            <p:cNvSpPr>
              <a:spLocks noChangeShapeType="1"/>
            </p:cNvSpPr>
            <p:nvPr/>
          </p:nvSpPr>
          <p:spPr bwMode="auto">
            <a:xfrm>
              <a:off x="884"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91" name="Line 26"/>
            <p:cNvSpPr>
              <a:spLocks noChangeShapeType="1"/>
            </p:cNvSpPr>
            <p:nvPr/>
          </p:nvSpPr>
          <p:spPr bwMode="auto">
            <a:xfrm>
              <a:off x="5462"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92" name="Line 27"/>
            <p:cNvSpPr>
              <a:spLocks noChangeShapeType="1"/>
            </p:cNvSpPr>
            <p:nvPr/>
          </p:nvSpPr>
          <p:spPr bwMode="auto">
            <a:xfrm>
              <a:off x="3173"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93" name="Line 28"/>
            <p:cNvSpPr>
              <a:spLocks noChangeShapeType="1"/>
            </p:cNvSpPr>
            <p:nvPr/>
          </p:nvSpPr>
          <p:spPr bwMode="auto">
            <a:xfrm>
              <a:off x="2410"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94" name="Line 29"/>
            <p:cNvSpPr>
              <a:spLocks noChangeShapeType="1"/>
            </p:cNvSpPr>
            <p:nvPr/>
          </p:nvSpPr>
          <p:spPr bwMode="auto">
            <a:xfrm>
              <a:off x="1647"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95" name="Line 30"/>
            <p:cNvSpPr>
              <a:spLocks noChangeShapeType="1"/>
            </p:cNvSpPr>
            <p:nvPr/>
          </p:nvSpPr>
          <p:spPr bwMode="auto">
            <a:xfrm>
              <a:off x="3936"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96" name="Line 31"/>
            <p:cNvSpPr>
              <a:spLocks noChangeShapeType="1"/>
            </p:cNvSpPr>
            <p:nvPr/>
          </p:nvSpPr>
          <p:spPr bwMode="auto">
            <a:xfrm>
              <a:off x="4699"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297" name="Freeform 32"/>
            <p:cNvSpPr>
              <a:spLocks/>
            </p:cNvSpPr>
            <p:nvPr/>
          </p:nvSpPr>
          <p:spPr bwMode="auto">
            <a:xfrm>
              <a:off x="867" y="3526"/>
              <a:ext cx="1219" cy="308"/>
            </a:xfrm>
            <a:custGeom>
              <a:avLst/>
              <a:gdLst>
                <a:gd name="T0" fmla="*/ 1219 w 1219"/>
                <a:gd name="T1" fmla="*/ 0 h 308"/>
                <a:gd name="T2" fmla="*/ 816 w 1219"/>
                <a:gd name="T3" fmla="*/ 58 h 308"/>
                <a:gd name="T4" fmla="*/ 586 w 1219"/>
                <a:gd name="T5" fmla="*/ 99 h 308"/>
                <a:gd name="T6" fmla="*/ 42 w 1219"/>
                <a:gd name="T7" fmla="*/ 239 h 308"/>
                <a:gd name="T8" fmla="*/ 1 w 1219"/>
                <a:gd name="T9" fmla="*/ 305 h 308"/>
                <a:gd name="T10" fmla="*/ 1 w 1219"/>
                <a:gd name="T11" fmla="*/ 296 h 308"/>
                <a:gd name="T12" fmla="*/ 0 60000 65536"/>
                <a:gd name="T13" fmla="*/ 0 60000 65536"/>
                <a:gd name="T14" fmla="*/ 0 60000 65536"/>
                <a:gd name="T15" fmla="*/ 0 60000 65536"/>
                <a:gd name="T16" fmla="*/ 0 60000 65536"/>
                <a:gd name="T17" fmla="*/ 0 60000 65536"/>
                <a:gd name="T18" fmla="*/ 0 w 1219"/>
                <a:gd name="T19" fmla="*/ 0 h 308"/>
                <a:gd name="T20" fmla="*/ 1219 w 1219"/>
                <a:gd name="T21" fmla="*/ 308 h 308"/>
              </a:gdLst>
              <a:ahLst/>
              <a:cxnLst>
                <a:cxn ang="T12">
                  <a:pos x="T0" y="T1"/>
                </a:cxn>
                <a:cxn ang="T13">
                  <a:pos x="T2" y="T3"/>
                </a:cxn>
                <a:cxn ang="T14">
                  <a:pos x="T4" y="T5"/>
                </a:cxn>
                <a:cxn ang="T15">
                  <a:pos x="T6" y="T7"/>
                </a:cxn>
                <a:cxn ang="T16">
                  <a:pos x="T8" y="T9"/>
                </a:cxn>
                <a:cxn ang="T17">
                  <a:pos x="T10" y="T11"/>
                </a:cxn>
              </a:cxnLst>
              <a:rect l="T18" t="T19" r="T20" b="T21"/>
              <a:pathLst>
                <a:path w="1219" h="308">
                  <a:moveTo>
                    <a:pt x="1219" y="0"/>
                  </a:moveTo>
                  <a:cubicBezTo>
                    <a:pt x="1089" y="42"/>
                    <a:pt x="951" y="48"/>
                    <a:pt x="816" y="58"/>
                  </a:cubicBezTo>
                  <a:cubicBezTo>
                    <a:pt x="749" y="90"/>
                    <a:pt x="659" y="93"/>
                    <a:pt x="586" y="99"/>
                  </a:cubicBezTo>
                  <a:cubicBezTo>
                    <a:pt x="402" y="134"/>
                    <a:pt x="220" y="182"/>
                    <a:pt x="42" y="239"/>
                  </a:cubicBezTo>
                  <a:cubicBezTo>
                    <a:pt x="3" y="265"/>
                    <a:pt x="21" y="269"/>
                    <a:pt x="1" y="305"/>
                  </a:cubicBezTo>
                  <a:cubicBezTo>
                    <a:pt x="0" y="308"/>
                    <a:pt x="1" y="299"/>
                    <a:pt x="1" y="29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9298" name="Freeform 33"/>
            <p:cNvSpPr>
              <a:spLocks/>
            </p:cNvSpPr>
            <p:nvPr/>
          </p:nvSpPr>
          <p:spPr bwMode="auto">
            <a:xfrm>
              <a:off x="2802" y="3516"/>
              <a:ext cx="2650" cy="331"/>
            </a:xfrm>
            <a:custGeom>
              <a:avLst/>
              <a:gdLst>
                <a:gd name="T0" fmla="*/ 0 w 2650"/>
                <a:gd name="T1" fmla="*/ 2 h 331"/>
                <a:gd name="T2" fmla="*/ 272 w 2650"/>
                <a:gd name="T3" fmla="*/ 18 h 331"/>
                <a:gd name="T4" fmla="*/ 494 w 2650"/>
                <a:gd name="T5" fmla="*/ 68 h 331"/>
                <a:gd name="T6" fmla="*/ 1498 w 2650"/>
                <a:gd name="T7" fmla="*/ 158 h 331"/>
                <a:gd name="T8" fmla="*/ 2024 w 2650"/>
                <a:gd name="T9" fmla="*/ 183 h 331"/>
                <a:gd name="T10" fmla="*/ 2263 w 2650"/>
                <a:gd name="T11" fmla="*/ 224 h 331"/>
                <a:gd name="T12" fmla="*/ 2477 w 2650"/>
                <a:gd name="T13" fmla="*/ 257 h 331"/>
                <a:gd name="T14" fmla="*/ 2551 w 2650"/>
                <a:gd name="T15" fmla="*/ 273 h 331"/>
                <a:gd name="T16" fmla="*/ 2641 w 2650"/>
                <a:gd name="T17" fmla="*/ 290 h 331"/>
                <a:gd name="T18" fmla="*/ 2650 w 2650"/>
                <a:gd name="T19" fmla="*/ 331 h 3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50"/>
                <a:gd name="T31" fmla="*/ 0 h 331"/>
                <a:gd name="T32" fmla="*/ 2650 w 2650"/>
                <a:gd name="T33" fmla="*/ 331 h 3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50" h="331">
                  <a:moveTo>
                    <a:pt x="0" y="2"/>
                  </a:moveTo>
                  <a:cubicBezTo>
                    <a:pt x="91" y="6"/>
                    <a:pt x="183" y="0"/>
                    <a:pt x="272" y="18"/>
                  </a:cubicBezTo>
                  <a:cubicBezTo>
                    <a:pt x="349" y="33"/>
                    <a:pt x="415" y="59"/>
                    <a:pt x="494" y="68"/>
                  </a:cubicBezTo>
                  <a:cubicBezTo>
                    <a:pt x="815" y="162"/>
                    <a:pt x="1166" y="145"/>
                    <a:pt x="1498" y="158"/>
                  </a:cubicBezTo>
                  <a:cubicBezTo>
                    <a:pt x="1671" y="185"/>
                    <a:pt x="1849" y="174"/>
                    <a:pt x="2024" y="183"/>
                  </a:cubicBezTo>
                  <a:cubicBezTo>
                    <a:pt x="2103" y="202"/>
                    <a:pt x="2182" y="215"/>
                    <a:pt x="2263" y="224"/>
                  </a:cubicBezTo>
                  <a:cubicBezTo>
                    <a:pt x="2334" y="242"/>
                    <a:pt x="2405" y="244"/>
                    <a:pt x="2477" y="257"/>
                  </a:cubicBezTo>
                  <a:cubicBezTo>
                    <a:pt x="2502" y="262"/>
                    <a:pt x="2526" y="268"/>
                    <a:pt x="2551" y="273"/>
                  </a:cubicBezTo>
                  <a:cubicBezTo>
                    <a:pt x="2581" y="279"/>
                    <a:pt x="2641" y="290"/>
                    <a:pt x="2641" y="290"/>
                  </a:cubicBezTo>
                  <a:cubicBezTo>
                    <a:pt x="2644" y="304"/>
                    <a:pt x="2650" y="331"/>
                    <a:pt x="2650" y="331"/>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39268" name="Oval 34"/>
          <p:cNvSpPr>
            <a:spLocks noChangeArrowheads="1"/>
          </p:cNvSpPr>
          <p:nvPr/>
        </p:nvSpPr>
        <p:spPr bwMode="auto">
          <a:xfrm>
            <a:off x="5435600" y="1341438"/>
            <a:ext cx="1439863" cy="6477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987121862"/>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290" name="Group 2"/>
          <p:cNvGrpSpPr>
            <a:grpSpLocks/>
          </p:cNvGrpSpPr>
          <p:nvPr/>
        </p:nvGrpSpPr>
        <p:grpSpPr bwMode="auto">
          <a:xfrm>
            <a:off x="755650" y="0"/>
            <a:ext cx="7294563" cy="2087563"/>
            <a:chOff x="867" y="3022"/>
            <a:chExt cx="4595" cy="1315"/>
          </a:xfrm>
        </p:grpSpPr>
        <p:sp>
          <p:nvSpPr>
            <p:cNvPr id="140318" name="Rectangle 3"/>
            <p:cNvSpPr>
              <a:spLocks noChangeArrowheads="1"/>
            </p:cNvSpPr>
            <p:nvPr/>
          </p:nvSpPr>
          <p:spPr bwMode="auto">
            <a:xfrm>
              <a:off x="4211"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3</a:t>
              </a:r>
            </a:p>
          </p:txBody>
        </p:sp>
        <p:sp>
          <p:nvSpPr>
            <p:cNvPr id="140319" name="Rectangle 4"/>
            <p:cNvSpPr>
              <a:spLocks noChangeArrowheads="1"/>
            </p:cNvSpPr>
            <p:nvPr/>
          </p:nvSpPr>
          <p:spPr bwMode="auto">
            <a:xfrm>
              <a:off x="3504"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2</a:t>
              </a:r>
            </a:p>
          </p:txBody>
        </p:sp>
        <p:sp>
          <p:nvSpPr>
            <p:cNvPr id="140320" name="Rectangle 5"/>
            <p:cNvSpPr>
              <a:spLocks noChangeArrowheads="1"/>
            </p:cNvSpPr>
            <p:nvPr/>
          </p:nvSpPr>
          <p:spPr bwMode="auto">
            <a:xfrm>
              <a:off x="2797"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1</a:t>
              </a:r>
            </a:p>
          </p:txBody>
        </p:sp>
        <p:sp>
          <p:nvSpPr>
            <p:cNvPr id="140321" name="Rectangle 6"/>
            <p:cNvSpPr>
              <a:spLocks noChangeArrowheads="1"/>
            </p:cNvSpPr>
            <p:nvPr/>
          </p:nvSpPr>
          <p:spPr bwMode="auto">
            <a:xfrm>
              <a:off x="2090"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0</a:t>
              </a:r>
            </a:p>
          </p:txBody>
        </p:sp>
        <p:sp>
          <p:nvSpPr>
            <p:cNvPr id="140322" name="Rectangle 7"/>
            <p:cNvSpPr>
              <a:spLocks noChangeArrowheads="1"/>
            </p:cNvSpPr>
            <p:nvPr/>
          </p:nvSpPr>
          <p:spPr bwMode="auto">
            <a:xfrm>
              <a:off x="1383"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引导块</a:t>
              </a:r>
            </a:p>
          </p:txBody>
        </p:sp>
        <p:sp>
          <p:nvSpPr>
            <p:cNvPr id="140323" name="Line 8"/>
            <p:cNvSpPr>
              <a:spLocks noChangeShapeType="1"/>
            </p:cNvSpPr>
            <p:nvPr/>
          </p:nvSpPr>
          <p:spPr bwMode="auto">
            <a:xfrm>
              <a:off x="1383" y="3022"/>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24" name="Line 9"/>
            <p:cNvSpPr>
              <a:spLocks noChangeShapeType="1"/>
            </p:cNvSpPr>
            <p:nvPr/>
          </p:nvSpPr>
          <p:spPr bwMode="auto">
            <a:xfrm>
              <a:off x="1383" y="3521"/>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25" name="Line 10"/>
            <p:cNvSpPr>
              <a:spLocks noChangeShapeType="1"/>
            </p:cNvSpPr>
            <p:nvPr/>
          </p:nvSpPr>
          <p:spPr bwMode="auto">
            <a:xfrm>
              <a:off x="1383"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26" name="Line 11"/>
            <p:cNvSpPr>
              <a:spLocks noChangeShapeType="1"/>
            </p:cNvSpPr>
            <p:nvPr/>
          </p:nvSpPr>
          <p:spPr bwMode="auto">
            <a:xfrm>
              <a:off x="4918"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27" name="Line 12"/>
            <p:cNvSpPr>
              <a:spLocks noChangeShapeType="1"/>
            </p:cNvSpPr>
            <p:nvPr/>
          </p:nvSpPr>
          <p:spPr bwMode="auto">
            <a:xfrm>
              <a:off x="2090"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28" name="Line 13"/>
            <p:cNvSpPr>
              <a:spLocks noChangeShapeType="1"/>
            </p:cNvSpPr>
            <p:nvPr/>
          </p:nvSpPr>
          <p:spPr bwMode="auto">
            <a:xfrm>
              <a:off x="2797"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29" name="Line 14"/>
            <p:cNvSpPr>
              <a:spLocks noChangeShapeType="1"/>
            </p:cNvSpPr>
            <p:nvPr/>
          </p:nvSpPr>
          <p:spPr bwMode="auto">
            <a:xfrm>
              <a:off x="3504"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30" name="Line 15"/>
            <p:cNvSpPr>
              <a:spLocks noChangeShapeType="1"/>
            </p:cNvSpPr>
            <p:nvPr/>
          </p:nvSpPr>
          <p:spPr bwMode="auto">
            <a:xfrm>
              <a:off x="4211"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31" name="Rectangle 16"/>
            <p:cNvSpPr>
              <a:spLocks noChangeArrowheads="1"/>
            </p:cNvSpPr>
            <p:nvPr/>
          </p:nvSpPr>
          <p:spPr bwMode="auto">
            <a:xfrm>
              <a:off x="4699"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数据块</a:t>
              </a:r>
            </a:p>
          </p:txBody>
        </p:sp>
        <p:sp>
          <p:nvSpPr>
            <p:cNvPr id="140332" name="Rectangle 17"/>
            <p:cNvSpPr>
              <a:spLocks noChangeArrowheads="1"/>
            </p:cNvSpPr>
            <p:nvPr/>
          </p:nvSpPr>
          <p:spPr bwMode="auto">
            <a:xfrm>
              <a:off x="3936"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索引节点表</a:t>
              </a:r>
            </a:p>
          </p:txBody>
        </p:sp>
        <p:sp>
          <p:nvSpPr>
            <p:cNvPr id="140333" name="Rectangle 18"/>
            <p:cNvSpPr>
              <a:spLocks noChangeArrowheads="1"/>
            </p:cNvSpPr>
            <p:nvPr/>
          </p:nvSpPr>
          <p:spPr bwMode="auto">
            <a:xfrm>
              <a:off x="1647"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组描述符</a:t>
              </a:r>
            </a:p>
          </p:txBody>
        </p:sp>
        <p:sp>
          <p:nvSpPr>
            <p:cNvPr id="140334" name="Rectangle 19"/>
            <p:cNvSpPr>
              <a:spLocks noChangeArrowheads="1"/>
            </p:cNvSpPr>
            <p:nvPr/>
          </p:nvSpPr>
          <p:spPr bwMode="auto">
            <a:xfrm>
              <a:off x="2410"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块位图</a:t>
              </a:r>
            </a:p>
          </p:txBody>
        </p:sp>
        <p:sp>
          <p:nvSpPr>
            <p:cNvPr id="140335" name="Rectangle 20"/>
            <p:cNvSpPr>
              <a:spLocks noChangeArrowheads="1"/>
            </p:cNvSpPr>
            <p:nvPr/>
          </p:nvSpPr>
          <p:spPr bwMode="auto">
            <a:xfrm>
              <a:off x="3173"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索引节点位图</a:t>
              </a:r>
            </a:p>
          </p:txBody>
        </p:sp>
        <p:sp>
          <p:nvSpPr>
            <p:cNvPr id="140336" name="Rectangle 21"/>
            <p:cNvSpPr>
              <a:spLocks noChangeArrowheads="1"/>
            </p:cNvSpPr>
            <p:nvPr/>
          </p:nvSpPr>
          <p:spPr bwMode="auto">
            <a:xfrm>
              <a:off x="884"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超级块</a:t>
              </a:r>
            </a:p>
          </p:txBody>
        </p:sp>
        <p:sp>
          <p:nvSpPr>
            <p:cNvPr id="140337" name="Line 22"/>
            <p:cNvSpPr>
              <a:spLocks noChangeShapeType="1"/>
            </p:cNvSpPr>
            <p:nvPr/>
          </p:nvSpPr>
          <p:spPr bwMode="auto">
            <a:xfrm>
              <a:off x="884" y="3838"/>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38" name="Line 23"/>
            <p:cNvSpPr>
              <a:spLocks noChangeShapeType="1"/>
            </p:cNvSpPr>
            <p:nvPr/>
          </p:nvSpPr>
          <p:spPr bwMode="auto">
            <a:xfrm>
              <a:off x="884" y="4337"/>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39" name="Line 24"/>
            <p:cNvSpPr>
              <a:spLocks noChangeShapeType="1"/>
            </p:cNvSpPr>
            <p:nvPr/>
          </p:nvSpPr>
          <p:spPr bwMode="auto">
            <a:xfrm>
              <a:off x="884"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40" name="Line 25"/>
            <p:cNvSpPr>
              <a:spLocks noChangeShapeType="1"/>
            </p:cNvSpPr>
            <p:nvPr/>
          </p:nvSpPr>
          <p:spPr bwMode="auto">
            <a:xfrm>
              <a:off x="5462"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41" name="Line 26"/>
            <p:cNvSpPr>
              <a:spLocks noChangeShapeType="1"/>
            </p:cNvSpPr>
            <p:nvPr/>
          </p:nvSpPr>
          <p:spPr bwMode="auto">
            <a:xfrm>
              <a:off x="3173"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42" name="Line 27"/>
            <p:cNvSpPr>
              <a:spLocks noChangeShapeType="1"/>
            </p:cNvSpPr>
            <p:nvPr/>
          </p:nvSpPr>
          <p:spPr bwMode="auto">
            <a:xfrm>
              <a:off x="2410"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43" name="Line 28"/>
            <p:cNvSpPr>
              <a:spLocks noChangeShapeType="1"/>
            </p:cNvSpPr>
            <p:nvPr/>
          </p:nvSpPr>
          <p:spPr bwMode="auto">
            <a:xfrm>
              <a:off x="1647"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44" name="Line 29"/>
            <p:cNvSpPr>
              <a:spLocks noChangeShapeType="1"/>
            </p:cNvSpPr>
            <p:nvPr/>
          </p:nvSpPr>
          <p:spPr bwMode="auto">
            <a:xfrm>
              <a:off x="3936"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45" name="Line 30"/>
            <p:cNvSpPr>
              <a:spLocks noChangeShapeType="1"/>
            </p:cNvSpPr>
            <p:nvPr/>
          </p:nvSpPr>
          <p:spPr bwMode="auto">
            <a:xfrm>
              <a:off x="4699"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46" name="Freeform 31"/>
            <p:cNvSpPr>
              <a:spLocks/>
            </p:cNvSpPr>
            <p:nvPr/>
          </p:nvSpPr>
          <p:spPr bwMode="auto">
            <a:xfrm>
              <a:off x="867" y="3526"/>
              <a:ext cx="1219" cy="308"/>
            </a:xfrm>
            <a:custGeom>
              <a:avLst/>
              <a:gdLst>
                <a:gd name="T0" fmla="*/ 1219 w 1219"/>
                <a:gd name="T1" fmla="*/ 0 h 308"/>
                <a:gd name="T2" fmla="*/ 816 w 1219"/>
                <a:gd name="T3" fmla="*/ 58 h 308"/>
                <a:gd name="T4" fmla="*/ 586 w 1219"/>
                <a:gd name="T5" fmla="*/ 99 h 308"/>
                <a:gd name="T6" fmla="*/ 42 w 1219"/>
                <a:gd name="T7" fmla="*/ 239 h 308"/>
                <a:gd name="T8" fmla="*/ 1 w 1219"/>
                <a:gd name="T9" fmla="*/ 305 h 308"/>
                <a:gd name="T10" fmla="*/ 1 w 1219"/>
                <a:gd name="T11" fmla="*/ 296 h 308"/>
                <a:gd name="T12" fmla="*/ 0 60000 65536"/>
                <a:gd name="T13" fmla="*/ 0 60000 65536"/>
                <a:gd name="T14" fmla="*/ 0 60000 65536"/>
                <a:gd name="T15" fmla="*/ 0 60000 65536"/>
                <a:gd name="T16" fmla="*/ 0 60000 65536"/>
                <a:gd name="T17" fmla="*/ 0 60000 65536"/>
                <a:gd name="T18" fmla="*/ 0 w 1219"/>
                <a:gd name="T19" fmla="*/ 0 h 308"/>
                <a:gd name="T20" fmla="*/ 1219 w 1219"/>
                <a:gd name="T21" fmla="*/ 308 h 308"/>
              </a:gdLst>
              <a:ahLst/>
              <a:cxnLst>
                <a:cxn ang="T12">
                  <a:pos x="T0" y="T1"/>
                </a:cxn>
                <a:cxn ang="T13">
                  <a:pos x="T2" y="T3"/>
                </a:cxn>
                <a:cxn ang="T14">
                  <a:pos x="T4" y="T5"/>
                </a:cxn>
                <a:cxn ang="T15">
                  <a:pos x="T6" y="T7"/>
                </a:cxn>
                <a:cxn ang="T16">
                  <a:pos x="T8" y="T9"/>
                </a:cxn>
                <a:cxn ang="T17">
                  <a:pos x="T10" y="T11"/>
                </a:cxn>
              </a:cxnLst>
              <a:rect l="T18" t="T19" r="T20" b="T21"/>
              <a:pathLst>
                <a:path w="1219" h="308">
                  <a:moveTo>
                    <a:pt x="1219" y="0"/>
                  </a:moveTo>
                  <a:cubicBezTo>
                    <a:pt x="1089" y="42"/>
                    <a:pt x="951" y="48"/>
                    <a:pt x="816" y="58"/>
                  </a:cubicBezTo>
                  <a:cubicBezTo>
                    <a:pt x="749" y="90"/>
                    <a:pt x="659" y="93"/>
                    <a:pt x="586" y="99"/>
                  </a:cubicBezTo>
                  <a:cubicBezTo>
                    <a:pt x="402" y="134"/>
                    <a:pt x="220" y="182"/>
                    <a:pt x="42" y="239"/>
                  </a:cubicBezTo>
                  <a:cubicBezTo>
                    <a:pt x="3" y="265"/>
                    <a:pt x="21" y="269"/>
                    <a:pt x="1" y="305"/>
                  </a:cubicBezTo>
                  <a:cubicBezTo>
                    <a:pt x="0" y="308"/>
                    <a:pt x="1" y="299"/>
                    <a:pt x="1" y="29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0347" name="Freeform 32"/>
            <p:cNvSpPr>
              <a:spLocks/>
            </p:cNvSpPr>
            <p:nvPr/>
          </p:nvSpPr>
          <p:spPr bwMode="auto">
            <a:xfrm>
              <a:off x="2802" y="3516"/>
              <a:ext cx="2650" cy="331"/>
            </a:xfrm>
            <a:custGeom>
              <a:avLst/>
              <a:gdLst>
                <a:gd name="T0" fmla="*/ 0 w 2650"/>
                <a:gd name="T1" fmla="*/ 2 h 331"/>
                <a:gd name="T2" fmla="*/ 272 w 2650"/>
                <a:gd name="T3" fmla="*/ 18 h 331"/>
                <a:gd name="T4" fmla="*/ 494 w 2650"/>
                <a:gd name="T5" fmla="*/ 68 h 331"/>
                <a:gd name="T6" fmla="*/ 1498 w 2650"/>
                <a:gd name="T7" fmla="*/ 158 h 331"/>
                <a:gd name="T8" fmla="*/ 2024 w 2650"/>
                <a:gd name="T9" fmla="*/ 183 h 331"/>
                <a:gd name="T10" fmla="*/ 2263 w 2650"/>
                <a:gd name="T11" fmla="*/ 224 h 331"/>
                <a:gd name="T12" fmla="*/ 2477 w 2650"/>
                <a:gd name="T13" fmla="*/ 257 h 331"/>
                <a:gd name="T14" fmla="*/ 2551 w 2650"/>
                <a:gd name="T15" fmla="*/ 273 h 331"/>
                <a:gd name="T16" fmla="*/ 2641 w 2650"/>
                <a:gd name="T17" fmla="*/ 290 h 331"/>
                <a:gd name="T18" fmla="*/ 2650 w 2650"/>
                <a:gd name="T19" fmla="*/ 331 h 3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50"/>
                <a:gd name="T31" fmla="*/ 0 h 331"/>
                <a:gd name="T32" fmla="*/ 2650 w 2650"/>
                <a:gd name="T33" fmla="*/ 331 h 3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50" h="331">
                  <a:moveTo>
                    <a:pt x="0" y="2"/>
                  </a:moveTo>
                  <a:cubicBezTo>
                    <a:pt x="91" y="6"/>
                    <a:pt x="183" y="0"/>
                    <a:pt x="272" y="18"/>
                  </a:cubicBezTo>
                  <a:cubicBezTo>
                    <a:pt x="349" y="33"/>
                    <a:pt x="415" y="59"/>
                    <a:pt x="494" y="68"/>
                  </a:cubicBezTo>
                  <a:cubicBezTo>
                    <a:pt x="815" y="162"/>
                    <a:pt x="1166" y="145"/>
                    <a:pt x="1498" y="158"/>
                  </a:cubicBezTo>
                  <a:cubicBezTo>
                    <a:pt x="1671" y="185"/>
                    <a:pt x="1849" y="174"/>
                    <a:pt x="2024" y="183"/>
                  </a:cubicBezTo>
                  <a:cubicBezTo>
                    <a:pt x="2103" y="202"/>
                    <a:pt x="2182" y="215"/>
                    <a:pt x="2263" y="224"/>
                  </a:cubicBezTo>
                  <a:cubicBezTo>
                    <a:pt x="2334" y="242"/>
                    <a:pt x="2405" y="244"/>
                    <a:pt x="2477" y="257"/>
                  </a:cubicBezTo>
                  <a:cubicBezTo>
                    <a:pt x="2502" y="262"/>
                    <a:pt x="2526" y="268"/>
                    <a:pt x="2551" y="273"/>
                  </a:cubicBezTo>
                  <a:cubicBezTo>
                    <a:pt x="2581" y="279"/>
                    <a:pt x="2641" y="290"/>
                    <a:pt x="2641" y="290"/>
                  </a:cubicBezTo>
                  <a:cubicBezTo>
                    <a:pt x="2644" y="304"/>
                    <a:pt x="2650" y="331"/>
                    <a:pt x="2650" y="331"/>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40291" name="Oval 33"/>
          <p:cNvSpPr>
            <a:spLocks noChangeArrowheads="1"/>
          </p:cNvSpPr>
          <p:nvPr/>
        </p:nvSpPr>
        <p:spPr bwMode="auto">
          <a:xfrm>
            <a:off x="6659563" y="1268413"/>
            <a:ext cx="1439862" cy="6477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335357" name="Group 61"/>
          <p:cNvGraphicFramePr>
            <a:graphicFrameLocks noGrp="1"/>
          </p:cNvGraphicFramePr>
          <p:nvPr>
            <p:ph idx="1"/>
          </p:nvPr>
        </p:nvGraphicFramePr>
        <p:xfrm>
          <a:off x="468313" y="2420938"/>
          <a:ext cx="8229600" cy="4152900"/>
        </p:xfrm>
        <a:graphic>
          <a:graphicData uri="http://schemas.openxmlformats.org/drawingml/2006/table">
            <a:tbl>
              <a:tblPr/>
              <a:tblGrid>
                <a:gridCol w="1882775">
                  <a:extLst>
                    <a:ext uri="{9D8B030D-6E8A-4147-A177-3AD203B41FA5}">
                      <a16:colId xmlns:a16="http://schemas.microsoft.com/office/drawing/2014/main" val="20000"/>
                    </a:ext>
                  </a:extLst>
                </a:gridCol>
                <a:gridCol w="6346825">
                  <a:extLst>
                    <a:ext uri="{9D8B030D-6E8A-4147-A177-3AD203B41FA5}">
                      <a16:colId xmlns:a16="http://schemas.microsoft.com/office/drawing/2014/main" val="20001"/>
                    </a:ext>
                  </a:extLst>
                </a:gridCol>
              </a:tblGrid>
              <a:tr h="3963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accent2"/>
                          </a:solidFill>
                          <a:effectLst/>
                          <a:latin typeface="Arial" pitchFamily="34" charset="0"/>
                          <a:ea typeface="宋体" pitchFamily="2" charset="-122"/>
                        </a:rPr>
                        <a:t>文件类型</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accent2"/>
                          </a:solidFill>
                          <a:effectLst/>
                          <a:latin typeface="Arial" pitchFamily="34" charset="0"/>
                          <a:ea typeface="宋体" pitchFamily="2" charset="-122"/>
                        </a:rPr>
                        <a:t>数据块的使用方式</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39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普通文件</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有数据时才使用，创建时不需要数据块</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715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目录</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数据块中存放各目录项的数据结构</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557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符号链接</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路径名大于</a:t>
                      </a:r>
                      <a:r>
                        <a:rPr kumimoji="0" lang="en-US" altLang="zh-CN" sz="2000" b="0" i="0" u="none" strike="noStrike" cap="none" normalizeH="0" baseline="0" smtClean="0">
                          <a:ln>
                            <a:noFill/>
                          </a:ln>
                          <a:solidFill>
                            <a:schemeClr val="tx1"/>
                          </a:solidFill>
                          <a:effectLst/>
                          <a:latin typeface="Arial" pitchFamily="34" charset="0"/>
                          <a:ea typeface="宋体" pitchFamily="2" charset="-122"/>
                        </a:rPr>
                        <a:t>60</a:t>
                      </a:r>
                      <a:r>
                        <a:rPr kumimoji="0" lang="zh-CN" altLang="en-US" sz="2000" b="0" i="0" u="none" strike="noStrike" cap="none" normalizeH="0" baseline="0" smtClean="0">
                          <a:ln>
                            <a:noFill/>
                          </a:ln>
                          <a:solidFill>
                            <a:schemeClr val="tx1"/>
                          </a:solidFill>
                          <a:effectLst/>
                          <a:latin typeface="Arial" pitchFamily="34" charset="0"/>
                          <a:ea typeface="宋体" pitchFamily="2" charset="-122"/>
                        </a:rPr>
                        <a:t>个字符时需要使用数据块</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874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设备文件</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不需要数据块</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398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管道</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不需要数据块</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715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套接字</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不需要数据块</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83104928"/>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314" name="Group 2"/>
          <p:cNvGrpSpPr>
            <a:grpSpLocks/>
          </p:cNvGrpSpPr>
          <p:nvPr/>
        </p:nvGrpSpPr>
        <p:grpSpPr bwMode="auto">
          <a:xfrm>
            <a:off x="755650" y="0"/>
            <a:ext cx="7294563" cy="2087563"/>
            <a:chOff x="867" y="3022"/>
            <a:chExt cx="4595" cy="1315"/>
          </a:xfrm>
        </p:grpSpPr>
        <p:sp>
          <p:nvSpPr>
            <p:cNvPr id="141317" name="Rectangle 3"/>
            <p:cNvSpPr>
              <a:spLocks noChangeArrowheads="1"/>
            </p:cNvSpPr>
            <p:nvPr/>
          </p:nvSpPr>
          <p:spPr bwMode="auto">
            <a:xfrm>
              <a:off x="4211"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3</a:t>
              </a:r>
            </a:p>
          </p:txBody>
        </p:sp>
        <p:sp>
          <p:nvSpPr>
            <p:cNvPr id="141318" name="Rectangle 4"/>
            <p:cNvSpPr>
              <a:spLocks noChangeArrowheads="1"/>
            </p:cNvSpPr>
            <p:nvPr/>
          </p:nvSpPr>
          <p:spPr bwMode="auto">
            <a:xfrm>
              <a:off x="3504"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2</a:t>
              </a:r>
            </a:p>
          </p:txBody>
        </p:sp>
        <p:sp>
          <p:nvSpPr>
            <p:cNvPr id="141319" name="Rectangle 5"/>
            <p:cNvSpPr>
              <a:spLocks noChangeArrowheads="1"/>
            </p:cNvSpPr>
            <p:nvPr/>
          </p:nvSpPr>
          <p:spPr bwMode="auto">
            <a:xfrm>
              <a:off x="2797"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1</a:t>
              </a:r>
            </a:p>
          </p:txBody>
        </p:sp>
        <p:sp>
          <p:nvSpPr>
            <p:cNvPr id="141320" name="Rectangle 6"/>
            <p:cNvSpPr>
              <a:spLocks noChangeArrowheads="1"/>
            </p:cNvSpPr>
            <p:nvPr/>
          </p:nvSpPr>
          <p:spPr bwMode="auto">
            <a:xfrm>
              <a:off x="2090"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块组</a:t>
              </a:r>
              <a:r>
                <a:rPr lang="en-US" altLang="zh-CN" sz="2100">
                  <a:latin typeface="Arial" panose="020B0604020202020204" pitchFamily="34" charset="0"/>
                </a:rPr>
                <a:t>0</a:t>
              </a:r>
            </a:p>
          </p:txBody>
        </p:sp>
        <p:sp>
          <p:nvSpPr>
            <p:cNvPr id="141321" name="Rectangle 7"/>
            <p:cNvSpPr>
              <a:spLocks noChangeArrowheads="1"/>
            </p:cNvSpPr>
            <p:nvPr/>
          </p:nvSpPr>
          <p:spPr bwMode="auto">
            <a:xfrm>
              <a:off x="1383" y="3022"/>
              <a:ext cx="707"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引导块</a:t>
              </a:r>
            </a:p>
          </p:txBody>
        </p:sp>
        <p:sp>
          <p:nvSpPr>
            <p:cNvPr id="141322" name="Line 8"/>
            <p:cNvSpPr>
              <a:spLocks noChangeShapeType="1"/>
            </p:cNvSpPr>
            <p:nvPr/>
          </p:nvSpPr>
          <p:spPr bwMode="auto">
            <a:xfrm>
              <a:off x="1383" y="3022"/>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3" name="Line 9"/>
            <p:cNvSpPr>
              <a:spLocks noChangeShapeType="1"/>
            </p:cNvSpPr>
            <p:nvPr/>
          </p:nvSpPr>
          <p:spPr bwMode="auto">
            <a:xfrm>
              <a:off x="1383" y="3521"/>
              <a:ext cx="353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4" name="Line 10"/>
            <p:cNvSpPr>
              <a:spLocks noChangeShapeType="1"/>
            </p:cNvSpPr>
            <p:nvPr/>
          </p:nvSpPr>
          <p:spPr bwMode="auto">
            <a:xfrm>
              <a:off x="1383"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5" name="Line 11"/>
            <p:cNvSpPr>
              <a:spLocks noChangeShapeType="1"/>
            </p:cNvSpPr>
            <p:nvPr/>
          </p:nvSpPr>
          <p:spPr bwMode="auto">
            <a:xfrm>
              <a:off x="4918" y="3022"/>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6" name="Line 12"/>
            <p:cNvSpPr>
              <a:spLocks noChangeShapeType="1"/>
            </p:cNvSpPr>
            <p:nvPr/>
          </p:nvSpPr>
          <p:spPr bwMode="auto">
            <a:xfrm>
              <a:off x="2090"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7" name="Line 13"/>
            <p:cNvSpPr>
              <a:spLocks noChangeShapeType="1"/>
            </p:cNvSpPr>
            <p:nvPr/>
          </p:nvSpPr>
          <p:spPr bwMode="auto">
            <a:xfrm>
              <a:off x="2797"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8" name="Line 14"/>
            <p:cNvSpPr>
              <a:spLocks noChangeShapeType="1"/>
            </p:cNvSpPr>
            <p:nvPr/>
          </p:nvSpPr>
          <p:spPr bwMode="auto">
            <a:xfrm>
              <a:off x="3504"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29" name="Line 15"/>
            <p:cNvSpPr>
              <a:spLocks noChangeShapeType="1"/>
            </p:cNvSpPr>
            <p:nvPr/>
          </p:nvSpPr>
          <p:spPr bwMode="auto">
            <a:xfrm>
              <a:off x="4211" y="3022"/>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0" name="Rectangle 16"/>
            <p:cNvSpPr>
              <a:spLocks noChangeArrowheads="1"/>
            </p:cNvSpPr>
            <p:nvPr/>
          </p:nvSpPr>
          <p:spPr bwMode="auto">
            <a:xfrm>
              <a:off x="4699"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数据块</a:t>
              </a:r>
            </a:p>
          </p:txBody>
        </p:sp>
        <p:sp>
          <p:nvSpPr>
            <p:cNvPr id="141331" name="Rectangle 17"/>
            <p:cNvSpPr>
              <a:spLocks noChangeArrowheads="1"/>
            </p:cNvSpPr>
            <p:nvPr/>
          </p:nvSpPr>
          <p:spPr bwMode="auto">
            <a:xfrm>
              <a:off x="3936"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索引节点表</a:t>
              </a:r>
            </a:p>
          </p:txBody>
        </p:sp>
        <p:sp>
          <p:nvSpPr>
            <p:cNvPr id="141332" name="Rectangle 18"/>
            <p:cNvSpPr>
              <a:spLocks noChangeArrowheads="1"/>
            </p:cNvSpPr>
            <p:nvPr/>
          </p:nvSpPr>
          <p:spPr bwMode="auto">
            <a:xfrm>
              <a:off x="1647"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组描述符</a:t>
              </a:r>
            </a:p>
          </p:txBody>
        </p:sp>
        <p:sp>
          <p:nvSpPr>
            <p:cNvPr id="141333" name="Rectangle 19"/>
            <p:cNvSpPr>
              <a:spLocks noChangeArrowheads="1"/>
            </p:cNvSpPr>
            <p:nvPr/>
          </p:nvSpPr>
          <p:spPr bwMode="auto">
            <a:xfrm>
              <a:off x="2410"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块位图</a:t>
              </a:r>
            </a:p>
          </p:txBody>
        </p:sp>
        <p:sp>
          <p:nvSpPr>
            <p:cNvPr id="141334" name="Rectangle 20"/>
            <p:cNvSpPr>
              <a:spLocks noChangeArrowheads="1"/>
            </p:cNvSpPr>
            <p:nvPr/>
          </p:nvSpPr>
          <p:spPr bwMode="auto">
            <a:xfrm>
              <a:off x="3173"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索引节点位图</a:t>
              </a:r>
            </a:p>
          </p:txBody>
        </p:sp>
        <p:sp>
          <p:nvSpPr>
            <p:cNvPr id="141335" name="Rectangle 21"/>
            <p:cNvSpPr>
              <a:spLocks noChangeArrowheads="1"/>
            </p:cNvSpPr>
            <p:nvPr/>
          </p:nvSpPr>
          <p:spPr bwMode="auto">
            <a:xfrm>
              <a:off x="884" y="3838"/>
              <a:ext cx="76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100">
                  <a:latin typeface="Arial" panose="020B0604020202020204" pitchFamily="34" charset="0"/>
                </a:rPr>
                <a:t>超级块</a:t>
              </a:r>
            </a:p>
          </p:txBody>
        </p:sp>
        <p:sp>
          <p:nvSpPr>
            <p:cNvPr id="141336" name="Line 22"/>
            <p:cNvSpPr>
              <a:spLocks noChangeShapeType="1"/>
            </p:cNvSpPr>
            <p:nvPr/>
          </p:nvSpPr>
          <p:spPr bwMode="auto">
            <a:xfrm>
              <a:off x="884" y="3838"/>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7" name="Line 23"/>
            <p:cNvSpPr>
              <a:spLocks noChangeShapeType="1"/>
            </p:cNvSpPr>
            <p:nvPr/>
          </p:nvSpPr>
          <p:spPr bwMode="auto">
            <a:xfrm>
              <a:off x="884" y="4337"/>
              <a:ext cx="4578"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8" name="Line 24"/>
            <p:cNvSpPr>
              <a:spLocks noChangeShapeType="1"/>
            </p:cNvSpPr>
            <p:nvPr/>
          </p:nvSpPr>
          <p:spPr bwMode="auto">
            <a:xfrm>
              <a:off x="884"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39" name="Line 25"/>
            <p:cNvSpPr>
              <a:spLocks noChangeShapeType="1"/>
            </p:cNvSpPr>
            <p:nvPr/>
          </p:nvSpPr>
          <p:spPr bwMode="auto">
            <a:xfrm>
              <a:off x="5462" y="3838"/>
              <a:ext cx="0" cy="499"/>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40" name="Line 26"/>
            <p:cNvSpPr>
              <a:spLocks noChangeShapeType="1"/>
            </p:cNvSpPr>
            <p:nvPr/>
          </p:nvSpPr>
          <p:spPr bwMode="auto">
            <a:xfrm>
              <a:off x="3173"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41" name="Line 27"/>
            <p:cNvSpPr>
              <a:spLocks noChangeShapeType="1"/>
            </p:cNvSpPr>
            <p:nvPr/>
          </p:nvSpPr>
          <p:spPr bwMode="auto">
            <a:xfrm>
              <a:off x="2410"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42" name="Line 28"/>
            <p:cNvSpPr>
              <a:spLocks noChangeShapeType="1"/>
            </p:cNvSpPr>
            <p:nvPr/>
          </p:nvSpPr>
          <p:spPr bwMode="auto">
            <a:xfrm>
              <a:off x="1647"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43" name="Line 29"/>
            <p:cNvSpPr>
              <a:spLocks noChangeShapeType="1"/>
            </p:cNvSpPr>
            <p:nvPr/>
          </p:nvSpPr>
          <p:spPr bwMode="auto">
            <a:xfrm>
              <a:off x="3936"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44" name="Line 30"/>
            <p:cNvSpPr>
              <a:spLocks noChangeShapeType="1"/>
            </p:cNvSpPr>
            <p:nvPr/>
          </p:nvSpPr>
          <p:spPr bwMode="auto">
            <a:xfrm>
              <a:off x="4699" y="3838"/>
              <a:ext cx="0" cy="4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345" name="Freeform 31"/>
            <p:cNvSpPr>
              <a:spLocks/>
            </p:cNvSpPr>
            <p:nvPr/>
          </p:nvSpPr>
          <p:spPr bwMode="auto">
            <a:xfrm>
              <a:off x="867" y="3526"/>
              <a:ext cx="1219" cy="308"/>
            </a:xfrm>
            <a:custGeom>
              <a:avLst/>
              <a:gdLst>
                <a:gd name="T0" fmla="*/ 1219 w 1219"/>
                <a:gd name="T1" fmla="*/ 0 h 308"/>
                <a:gd name="T2" fmla="*/ 816 w 1219"/>
                <a:gd name="T3" fmla="*/ 58 h 308"/>
                <a:gd name="T4" fmla="*/ 586 w 1219"/>
                <a:gd name="T5" fmla="*/ 99 h 308"/>
                <a:gd name="T6" fmla="*/ 42 w 1219"/>
                <a:gd name="T7" fmla="*/ 239 h 308"/>
                <a:gd name="T8" fmla="*/ 1 w 1219"/>
                <a:gd name="T9" fmla="*/ 305 h 308"/>
                <a:gd name="T10" fmla="*/ 1 w 1219"/>
                <a:gd name="T11" fmla="*/ 296 h 308"/>
                <a:gd name="T12" fmla="*/ 0 60000 65536"/>
                <a:gd name="T13" fmla="*/ 0 60000 65536"/>
                <a:gd name="T14" fmla="*/ 0 60000 65536"/>
                <a:gd name="T15" fmla="*/ 0 60000 65536"/>
                <a:gd name="T16" fmla="*/ 0 60000 65536"/>
                <a:gd name="T17" fmla="*/ 0 60000 65536"/>
                <a:gd name="T18" fmla="*/ 0 w 1219"/>
                <a:gd name="T19" fmla="*/ 0 h 308"/>
                <a:gd name="T20" fmla="*/ 1219 w 1219"/>
                <a:gd name="T21" fmla="*/ 308 h 308"/>
              </a:gdLst>
              <a:ahLst/>
              <a:cxnLst>
                <a:cxn ang="T12">
                  <a:pos x="T0" y="T1"/>
                </a:cxn>
                <a:cxn ang="T13">
                  <a:pos x="T2" y="T3"/>
                </a:cxn>
                <a:cxn ang="T14">
                  <a:pos x="T4" y="T5"/>
                </a:cxn>
                <a:cxn ang="T15">
                  <a:pos x="T6" y="T7"/>
                </a:cxn>
                <a:cxn ang="T16">
                  <a:pos x="T8" y="T9"/>
                </a:cxn>
                <a:cxn ang="T17">
                  <a:pos x="T10" y="T11"/>
                </a:cxn>
              </a:cxnLst>
              <a:rect l="T18" t="T19" r="T20" b="T21"/>
              <a:pathLst>
                <a:path w="1219" h="308">
                  <a:moveTo>
                    <a:pt x="1219" y="0"/>
                  </a:moveTo>
                  <a:cubicBezTo>
                    <a:pt x="1089" y="42"/>
                    <a:pt x="951" y="48"/>
                    <a:pt x="816" y="58"/>
                  </a:cubicBezTo>
                  <a:cubicBezTo>
                    <a:pt x="749" y="90"/>
                    <a:pt x="659" y="93"/>
                    <a:pt x="586" y="99"/>
                  </a:cubicBezTo>
                  <a:cubicBezTo>
                    <a:pt x="402" y="134"/>
                    <a:pt x="220" y="182"/>
                    <a:pt x="42" y="239"/>
                  </a:cubicBezTo>
                  <a:cubicBezTo>
                    <a:pt x="3" y="265"/>
                    <a:pt x="21" y="269"/>
                    <a:pt x="1" y="305"/>
                  </a:cubicBezTo>
                  <a:cubicBezTo>
                    <a:pt x="0" y="308"/>
                    <a:pt x="1" y="299"/>
                    <a:pt x="1" y="29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1346" name="Freeform 32"/>
            <p:cNvSpPr>
              <a:spLocks/>
            </p:cNvSpPr>
            <p:nvPr/>
          </p:nvSpPr>
          <p:spPr bwMode="auto">
            <a:xfrm>
              <a:off x="2802" y="3516"/>
              <a:ext cx="2650" cy="331"/>
            </a:xfrm>
            <a:custGeom>
              <a:avLst/>
              <a:gdLst>
                <a:gd name="T0" fmla="*/ 0 w 2650"/>
                <a:gd name="T1" fmla="*/ 2 h 331"/>
                <a:gd name="T2" fmla="*/ 272 w 2650"/>
                <a:gd name="T3" fmla="*/ 18 h 331"/>
                <a:gd name="T4" fmla="*/ 494 w 2650"/>
                <a:gd name="T5" fmla="*/ 68 h 331"/>
                <a:gd name="T6" fmla="*/ 1498 w 2650"/>
                <a:gd name="T7" fmla="*/ 158 h 331"/>
                <a:gd name="T8" fmla="*/ 2024 w 2650"/>
                <a:gd name="T9" fmla="*/ 183 h 331"/>
                <a:gd name="T10" fmla="*/ 2263 w 2650"/>
                <a:gd name="T11" fmla="*/ 224 h 331"/>
                <a:gd name="T12" fmla="*/ 2477 w 2650"/>
                <a:gd name="T13" fmla="*/ 257 h 331"/>
                <a:gd name="T14" fmla="*/ 2551 w 2650"/>
                <a:gd name="T15" fmla="*/ 273 h 331"/>
                <a:gd name="T16" fmla="*/ 2641 w 2650"/>
                <a:gd name="T17" fmla="*/ 290 h 331"/>
                <a:gd name="T18" fmla="*/ 2650 w 2650"/>
                <a:gd name="T19" fmla="*/ 331 h 3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50"/>
                <a:gd name="T31" fmla="*/ 0 h 331"/>
                <a:gd name="T32" fmla="*/ 2650 w 2650"/>
                <a:gd name="T33" fmla="*/ 331 h 3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50" h="331">
                  <a:moveTo>
                    <a:pt x="0" y="2"/>
                  </a:moveTo>
                  <a:cubicBezTo>
                    <a:pt x="91" y="6"/>
                    <a:pt x="183" y="0"/>
                    <a:pt x="272" y="18"/>
                  </a:cubicBezTo>
                  <a:cubicBezTo>
                    <a:pt x="349" y="33"/>
                    <a:pt x="415" y="59"/>
                    <a:pt x="494" y="68"/>
                  </a:cubicBezTo>
                  <a:cubicBezTo>
                    <a:pt x="815" y="162"/>
                    <a:pt x="1166" y="145"/>
                    <a:pt x="1498" y="158"/>
                  </a:cubicBezTo>
                  <a:cubicBezTo>
                    <a:pt x="1671" y="185"/>
                    <a:pt x="1849" y="174"/>
                    <a:pt x="2024" y="183"/>
                  </a:cubicBezTo>
                  <a:cubicBezTo>
                    <a:pt x="2103" y="202"/>
                    <a:pt x="2182" y="215"/>
                    <a:pt x="2263" y="224"/>
                  </a:cubicBezTo>
                  <a:cubicBezTo>
                    <a:pt x="2334" y="242"/>
                    <a:pt x="2405" y="244"/>
                    <a:pt x="2477" y="257"/>
                  </a:cubicBezTo>
                  <a:cubicBezTo>
                    <a:pt x="2502" y="262"/>
                    <a:pt x="2526" y="268"/>
                    <a:pt x="2551" y="273"/>
                  </a:cubicBezTo>
                  <a:cubicBezTo>
                    <a:pt x="2581" y="279"/>
                    <a:pt x="2641" y="290"/>
                    <a:pt x="2641" y="290"/>
                  </a:cubicBezTo>
                  <a:cubicBezTo>
                    <a:pt x="2644" y="304"/>
                    <a:pt x="2650" y="331"/>
                    <a:pt x="2650" y="331"/>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41315" name="Oval 33"/>
          <p:cNvSpPr>
            <a:spLocks noChangeArrowheads="1"/>
          </p:cNvSpPr>
          <p:nvPr/>
        </p:nvSpPr>
        <p:spPr bwMode="auto">
          <a:xfrm>
            <a:off x="6659563" y="1268413"/>
            <a:ext cx="1439862" cy="647700"/>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1316" name="Text Box 34"/>
          <p:cNvSpPr txBox="1">
            <a:spLocks noChangeArrowheads="1"/>
          </p:cNvSpPr>
          <p:nvPr/>
        </p:nvSpPr>
        <p:spPr bwMode="auto">
          <a:xfrm>
            <a:off x="250825" y="2371725"/>
            <a:ext cx="8424863"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zh-CN" altLang="en-US" b="1">
                <a:latin typeface="Arial" panose="020B0604020202020204" pitchFamily="34" charset="0"/>
              </a:rPr>
              <a:t>文件类型为目录时，数据块存放目录项数据结构：</a:t>
            </a:r>
          </a:p>
          <a:p>
            <a:pPr algn="l" eaLnBrk="1" hangingPunct="1">
              <a:spcBef>
                <a:spcPct val="0"/>
              </a:spcBef>
              <a:buClrTx/>
              <a:buSzTx/>
              <a:buFontTx/>
              <a:buNone/>
            </a:pPr>
            <a:r>
              <a:rPr lang="en-US" altLang="zh-CN" b="1">
                <a:latin typeface="Arial" panose="020B0604020202020204" pitchFamily="34" charset="0"/>
              </a:rPr>
              <a:t>struct </a:t>
            </a:r>
            <a:r>
              <a:rPr lang="en-US" altLang="zh-CN" b="1">
                <a:solidFill>
                  <a:schemeClr val="accent2"/>
                </a:solidFill>
                <a:latin typeface="Arial" panose="020B0604020202020204" pitchFamily="34" charset="0"/>
              </a:rPr>
              <a:t>ext2_dir_entry</a:t>
            </a:r>
            <a:r>
              <a:rPr lang="en-US" altLang="zh-CN" b="1">
                <a:latin typeface="Arial" panose="020B0604020202020204" pitchFamily="34" charset="0"/>
              </a:rPr>
              <a:t> {</a:t>
            </a:r>
          </a:p>
          <a:p>
            <a:pPr algn="l" eaLnBrk="1" hangingPunct="1">
              <a:spcBef>
                <a:spcPct val="0"/>
              </a:spcBef>
              <a:buClrTx/>
              <a:buSzTx/>
              <a:buFontTx/>
              <a:buNone/>
            </a:pPr>
            <a:r>
              <a:rPr lang="en-US" altLang="zh-CN" b="1">
                <a:latin typeface="Arial" panose="020B0604020202020204" pitchFamily="34" charset="0"/>
              </a:rPr>
              <a:t>	__u32	inode;		/* </a:t>
            </a:r>
            <a:r>
              <a:rPr lang="zh-CN" altLang="en-US" b="1">
                <a:latin typeface="Arial" panose="020B0604020202020204" pitchFamily="34" charset="0"/>
              </a:rPr>
              <a:t>索引节点号 *</a:t>
            </a:r>
            <a:r>
              <a:rPr lang="en-US" altLang="zh-CN" b="1">
                <a:latin typeface="Arial" panose="020B0604020202020204" pitchFamily="34" charset="0"/>
              </a:rPr>
              <a:t>/</a:t>
            </a:r>
          </a:p>
          <a:p>
            <a:pPr algn="l" eaLnBrk="1" hangingPunct="1">
              <a:spcBef>
                <a:spcPct val="0"/>
              </a:spcBef>
              <a:buClrTx/>
              <a:buSzTx/>
              <a:buFontTx/>
              <a:buNone/>
            </a:pPr>
            <a:r>
              <a:rPr lang="en-US" altLang="zh-CN" b="1">
                <a:latin typeface="Arial" panose="020B0604020202020204" pitchFamily="34" charset="0"/>
              </a:rPr>
              <a:t>	__u16	rec_len;	/* </a:t>
            </a:r>
            <a:r>
              <a:rPr lang="zh-CN" altLang="en-US" b="1">
                <a:latin typeface="Arial" panose="020B0604020202020204" pitchFamily="34" charset="0"/>
              </a:rPr>
              <a:t>目录项长度 *</a:t>
            </a:r>
            <a:r>
              <a:rPr lang="en-US" altLang="zh-CN" b="1">
                <a:latin typeface="Arial" panose="020B0604020202020204" pitchFamily="34" charset="0"/>
              </a:rPr>
              <a:t>/</a:t>
            </a:r>
          </a:p>
          <a:p>
            <a:pPr algn="l" eaLnBrk="1" hangingPunct="1">
              <a:spcBef>
                <a:spcPct val="0"/>
              </a:spcBef>
              <a:buClrTx/>
              <a:buSzTx/>
              <a:buFontTx/>
              <a:buNone/>
            </a:pPr>
            <a:r>
              <a:rPr lang="en-US" altLang="zh-CN" b="1">
                <a:latin typeface="Arial" panose="020B0604020202020204" pitchFamily="34" charset="0"/>
              </a:rPr>
              <a:t>	__u8	name_len;	/* </a:t>
            </a:r>
            <a:r>
              <a:rPr lang="zh-CN" altLang="en-US" b="1">
                <a:latin typeface="Arial" panose="020B0604020202020204" pitchFamily="34" charset="0"/>
              </a:rPr>
              <a:t>文件名长度 *</a:t>
            </a:r>
            <a:r>
              <a:rPr lang="en-US" altLang="zh-CN" b="1">
                <a:latin typeface="Arial" panose="020B0604020202020204" pitchFamily="34" charset="0"/>
              </a:rPr>
              <a:t>/</a:t>
            </a:r>
          </a:p>
          <a:p>
            <a:pPr algn="l" eaLnBrk="1" hangingPunct="1">
              <a:spcBef>
                <a:spcPct val="0"/>
              </a:spcBef>
              <a:buClrTx/>
              <a:buSzTx/>
              <a:buFontTx/>
              <a:buNone/>
            </a:pPr>
            <a:r>
              <a:rPr lang="en-US" altLang="zh-CN" b="1">
                <a:latin typeface="Arial" panose="020B0604020202020204" pitchFamily="34" charset="0"/>
              </a:rPr>
              <a:t>	__u8	name_type;	/* </a:t>
            </a:r>
            <a:r>
              <a:rPr lang="zh-CN" altLang="en-US" b="1">
                <a:latin typeface="Arial" panose="020B0604020202020204" pitchFamily="34" charset="0"/>
              </a:rPr>
              <a:t>文件名类型 *</a:t>
            </a:r>
            <a:r>
              <a:rPr lang="en-US" altLang="zh-CN" b="1">
                <a:latin typeface="Arial" panose="020B0604020202020204" pitchFamily="34" charset="0"/>
              </a:rPr>
              <a:t>/</a:t>
            </a:r>
          </a:p>
          <a:p>
            <a:pPr algn="l" eaLnBrk="1" hangingPunct="1">
              <a:spcBef>
                <a:spcPct val="0"/>
              </a:spcBef>
              <a:buClrTx/>
              <a:buSzTx/>
              <a:buFontTx/>
              <a:buNone/>
            </a:pPr>
            <a:r>
              <a:rPr lang="en-US" altLang="zh-CN" b="1">
                <a:latin typeface="Arial" panose="020B0604020202020204" pitchFamily="34" charset="0"/>
              </a:rPr>
              <a:t>	char	name[EXT2_NAME_LEN];      /* </a:t>
            </a:r>
            <a:r>
              <a:rPr lang="zh-CN" altLang="en-US" b="1">
                <a:latin typeface="Arial" panose="020B0604020202020204" pitchFamily="34" charset="0"/>
              </a:rPr>
              <a:t>文件名 *</a:t>
            </a:r>
            <a:r>
              <a:rPr lang="en-US" altLang="zh-CN" b="1">
                <a:latin typeface="Arial" panose="020B0604020202020204" pitchFamily="34" charset="0"/>
              </a:rPr>
              <a:t>/</a:t>
            </a:r>
          </a:p>
          <a:p>
            <a:pPr algn="l" eaLnBrk="1" hangingPunct="1">
              <a:spcBef>
                <a:spcPct val="0"/>
              </a:spcBef>
              <a:buClrTx/>
              <a:buSzTx/>
              <a:buFontTx/>
              <a:buNone/>
            </a:pPr>
            <a:r>
              <a:rPr lang="en-US" altLang="zh-CN" b="1">
                <a:latin typeface="Arial" panose="020B0604020202020204" pitchFamily="34" charset="0"/>
              </a:rPr>
              <a:t>};</a:t>
            </a:r>
          </a:p>
          <a:p>
            <a:pPr algn="l" eaLnBrk="1" hangingPunct="1">
              <a:spcBef>
                <a:spcPct val="0"/>
              </a:spcBef>
              <a:buClrTx/>
              <a:buSzTx/>
              <a:buFontTx/>
              <a:buNone/>
            </a:pPr>
            <a:endParaRPr lang="en-US" altLang="zh-CN" b="1">
              <a:latin typeface="Arial" panose="020B0604020202020204" pitchFamily="34" charset="0"/>
            </a:endParaRPr>
          </a:p>
          <a:p>
            <a:pPr algn="l" eaLnBrk="1" hangingPunct="1">
              <a:spcBef>
                <a:spcPct val="0"/>
              </a:spcBef>
              <a:buClrTx/>
              <a:buSzTx/>
              <a:buFontTx/>
              <a:buNone/>
            </a:pPr>
            <a:r>
              <a:rPr lang="zh-CN" altLang="en-US" b="1">
                <a:latin typeface="Arial" panose="020B0604020202020204" pitchFamily="34" charset="0"/>
              </a:rPr>
              <a:t>删除目录项：</a:t>
            </a:r>
            <a:r>
              <a:rPr lang="en-US" altLang="zh-CN" b="1">
                <a:latin typeface="Arial" panose="020B0604020202020204" pitchFamily="34" charset="0"/>
              </a:rPr>
              <a:t>inode</a:t>
            </a:r>
            <a:r>
              <a:rPr lang="zh-CN" altLang="en-US" b="1">
                <a:latin typeface="Arial" panose="020B0604020202020204" pitchFamily="34" charset="0"/>
              </a:rPr>
              <a:t>置</a:t>
            </a:r>
            <a:r>
              <a:rPr lang="en-US" altLang="zh-CN" b="1">
                <a:latin typeface="Arial" panose="020B0604020202020204" pitchFamily="34" charset="0"/>
              </a:rPr>
              <a:t>0</a:t>
            </a:r>
            <a:r>
              <a:rPr lang="zh-CN" altLang="en-US" b="1">
                <a:latin typeface="Arial" panose="020B0604020202020204" pitchFamily="34" charset="0"/>
              </a:rPr>
              <a:t>，并增长前一个有效目录项的</a:t>
            </a:r>
            <a:r>
              <a:rPr lang="en-US" altLang="zh-CN" b="1">
                <a:latin typeface="Arial" panose="020B0604020202020204" pitchFamily="34" charset="0"/>
              </a:rPr>
              <a:t>rec_len</a:t>
            </a:r>
            <a:r>
              <a:rPr lang="zh-CN" altLang="en-US" b="1">
                <a:latin typeface="Arial" panose="020B0604020202020204" pitchFamily="34" charset="0"/>
              </a:rPr>
              <a:t>长度，这样在计算下一个有效目录项时，就可以跳过该已删除的目录项</a:t>
            </a:r>
          </a:p>
        </p:txBody>
      </p:sp>
    </p:spTree>
    <p:extLst>
      <p:ext uri="{BB962C8B-B14F-4D97-AF65-F5344CB8AC3E}">
        <p14:creationId xmlns:p14="http://schemas.microsoft.com/office/powerpoint/2010/main" val="1160528408"/>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body" idx="1"/>
          </p:nvPr>
        </p:nvSpPr>
        <p:spPr>
          <a:xfrm>
            <a:off x="381000" y="1600200"/>
            <a:ext cx="7772400" cy="4648200"/>
          </a:xfrm>
        </p:spPr>
        <p:txBody>
          <a:bodyPr/>
          <a:lstStyle/>
          <a:p>
            <a:pPr eaLnBrk="1" hangingPunct="1"/>
            <a:r>
              <a:rPr lang="zh-CN" altLang="en-US" smtClean="0">
                <a:solidFill>
                  <a:srgbClr val="FF0000"/>
                </a:solidFill>
              </a:rPr>
              <a:t>系统引导块</a:t>
            </a:r>
            <a:r>
              <a:rPr lang="zh-CN" altLang="en-US" smtClean="0"/>
              <a:t>总是磁盘上的第一个数据块， 只有根文件系统才有引导程序放在这里， 其余文件系统都不使用引导块。 </a:t>
            </a:r>
          </a:p>
        </p:txBody>
      </p:sp>
      <p:sp>
        <p:nvSpPr>
          <p:cNvPr id="142339" name="Rectangle 3"/>
          <p:cNvSpPr>
            <a:spLocks noGrp="1" noChangeArrowheads="1"/>
          </p:cNvSpPr>
          <p:nvPr>
            <p:ph type="title"/>
          </p:nvPr>
        </p:nvSpPr>
        <p:spPr>
          <a:xfrm>
            <a:off x="684213" y="333375"/>
            <a:ext cx="7772400" cy="1143000"/>
          </a:xfrm>
          <a:noFill/>
        </p:spPr>
        <p:txBody>
          <a:bodyPr/>
          <a:lstStyle/>
          <a:p>
            <a:pPr eaLnBrk="1" hangingPunct="1"/>
            <a:r>
              <a:rPr lang="en-US" altLang="zh-CN" b="1" smtClean="0"/>
              <a:t>EXT2</a:t>
            </a:r>
            <a:r>
              <a:rPr lang="zh-CN" altLang="en-US" b="1" smtClean="0"/>
              <a:t>的</a:t>
            </a:r>
            <a:r>
              <a:rPr lang="zh-CN" altLang="en-US" smtClean="0">
                <a:solidFill>
                  <a:srgbClr val="FF0000"/>
                </a:solidFill>
              </a:rPr>
              <a:t>系统引导块</a:t>
            </a:r>
          </a:p>
        </p:txBody>
      </p:sp>
    </p:spTree>
    <p:extLst>
      <p:ext uri="{BB962C8B-B14F-4D97-AF65-F5344CB8AC3E}">
        <p14:creationId xmlns:p14="http://schemas.microsoft.com/office/powerpoint/2010/main" val="1343894493"/>
      </p:ext>
    </p:extLst>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755650" y="333375"/>
            <a:ext cx="8001000" cy="603250"/>
          </a:xfrm>
        </p:spPr>
        <p:txBody>
          <a:bodyPr/>
          <a:lstStyle/>
          <a:p>
            <a:pPr eaLnBrk="1" hangingPunct="1"/>
            <a:r>
              <a:rPr lang="en-US" altLang="zh-CN" b="1" smtClean="0">
                <a:cs typeface="Times New Roman" panose="02020603050405020304" pitchFamily="18" charset="0"/>
              </a:rPr>
              <a:t>EXT2</a:t>
            </a:r>
            <a:r>
              <a:rPr lang="zh-CN" altLang="en-US" b="1" smtClean="0">
                <a:latin typeface="宋体" panose="02010600030101010101" pitchFamily="2" charset="-122"/>
              </a:rPr>
              <a:t>的</a:t>
            </a:r>
            <a:r>
              <a:rPr lang="zh-CN" altLang="en-US" b="1" smtClean="0">
                <a:solidFill>
                  <a:srgbClr val="FF0000"/>
                </a:solidFill>
                <a:latin typeface="宋体" panose="02010600030101010101" pitchFamily="2" charset="-122"/>
              </a:rPr>
              <a:t>超级块</a:t>
            </a:r>
            <a:endParaRPr lang="zh-CN" altLang="en-US" b="1" smtClean="0">
              <a:solidFill>
                <a:srgbClr val="FF0000"/>
              </a:solidFill>
              <a:cs typeface="Times New Roman" panose="02020603050405020304" pitchFamily="18" charset="0"/>
            </a:endParaRPr>
          </a:p>
        </p:txBody>
      </p:sp>
      <p:sp>
        <p:nvSpPr>
          <p:cNvPr id="143363" name="Rectangle 3"/>
          <p:cNvSpPr>
            <a:spLocks noGrp="1" noChangeArrowheads="1"/>
          </p:cNvSpPr>
          <p:nvPr>
            <p:ph type="body" idx="1"/>
          </p:nvPr>
        </p:nvSpPr>
        <p:spPr>
          <a:xfrm>
            <a:off x="539750" y="1196975"/>
            <a:ext cx="7848600" cy="5181600"/>
          </a:xfrm>
        </p:spPr>
        <p:txBody>
          <a:bodyPr/>
          <a:lstStyle/>
          <a:p>
            <a:pPr algn="just" eaLnBrk="1" hangingPunct="1"/>
            <a:r>
              <a:rPr lang="zh-CN" altLang="en-US" smtClean="0">
                <a:solidFill>
                  <a:srgbClr val="0000FF"/>
                </a:solidFill>
              </a:rPr>
              <a:t>超级块</a:t>
            </a:r>
            <a:r>
              <a:rPr lang="zh-CN" altLang="en-US" smtClean="0"/>
              <a:t>是用来描述</a:t>
            </a:r>
            <a:r>
              <a:rPr lang="en-US" altLang="zh-CN" smtClean="0"/>
              <a:t>EXT2</a:t>
            </a:r>
            <a:r>
              <a:rPr lang="zh-CN" altLang="en-US" smtClean="0">
                <a:solidFill>
                  <a:srgbClr val="800080"/>
                </a:solidFill>
              </a:rPr>
              <a:t>文件系统整体信息</a:t>
            </a:r>
            <a:r>
              <a:rPr lang="zh-CN" altLang="en-US" smtClean="0"/>
              <a:t>的数据结构。主要描述文件系统的目录和文件的</a:t>
            </a:r>
            <a:r>
              <a:rPr lang="zh-CN" altLang="en-US" smtClean="0">
                <a:solidFill>
                  <a:srgbClr val="FF0000"/>
                </a:solidFill>
              </a:rPr>
              <a:t>静态分布</a:t>
            </a:r>
            <a:r>
              <a:rPr lang="zh-CN" altLang="en-US" smtClean="0"/>
              <a:t>情况，以及描述文件系统的</a:t>
            </a:r>
            <a:r>
              <a:rPr lang="zh-CN" altLang="en-US" smtClean="0">
                <a:solidFill>
                  <a:srgbClr val="808000"/>
                </a:solidFill>
              </a:rPr>
              <a:t>各种组成</a:t>
            </a:r>
            <a:r>
              <a:rPr lang="zh-CN" altLang="en-US" smtClean="0">
                <a:cs typeface="Times New Roman" panose="02020603050405020304" pitchFamily="18" charset="0"/>
              </a:rPr>
              <a:t>   </a:t>
            </a:r>
            <a:endParaRPr lang="zh-CN" altLang="en-US" smtClean="0"/>
          </a:p>
          <a:p>
            <a:pPr lvl="1" algn="just" eaLnBrk="1" hangingPunct="1"/>
            <a:r>
              <a:rPr lang="zh-CN" altLang="en-US" smtClean="0"/>
              <a:t>主要包括</a:t>
            </a:r>
            <a:r>
              <a:rPr lang="en-US" altLang="zh-CN" smtClean="0"/>
              <a:t>inode</a:t>
            </a:r>
            <a:r>
              <a:rPr lang="zh-CN" altLang="en-US" smtClean="0"/>
              <a:t>数量、块数量、保留块数量、空闲块数量、空闲</a:t>
            </a:r>
            <a:r>
              <a:rPr lang="en-US" altLang="zh-CN" smtClean="0"/>
              <a:t>inode</a:t>
            </a:r>
            <a:r>
              <a:rPr lang="zh-CN" altLang="en-US" smtClean="0"/>
              <a:t>数量、第一个数据块位置、块长度、</a:t>
            </a:r>
            <a:r>
              <a:rPr lang="zh-CN" altLang="en-US" smtClean="0">
                <a:solidFill>
                  <a:srgbClr val="FF0000"/>
                </a:solidFill>
              </a:rPr>
              <a:t>片长度</a:t>
            </a:r>
            <a:r>
              <a:rPr lang="zh-CN" altLang="en-US" smtClean="0"/>
              <a:t>、每个块组块数、每个块组片数、每个块组</a:t>
            </a:r>
            <a:r>
              <a:rPr lang="en-US" altLang="zh-CN" smtClean="0"/>
              <a:t>inode</a:t>
            </a:r>
            <a:r>
              <a:rPr lang="zh-CN" altLang="en-US" smtClean="0"/>
              <a:t>数，以及安装时间、最后一次写时间、安装信息、文件系统状态信息、</a:t>
            </a:r>
            <a:r>
              <a:rPr lang="en-US" altLang="zh-CN" smtClean="0"/>
              <a:t>…</a:t>
            </a:r>
            <a:r>
              <a:rPr lang="zh-CN" altLang="en-US" smtClean="0"/>
              <a:t>、</a:t>
            </a:r>
          </a:p>
          <a:p>
            <a:pPr eaLnBrk="1" hangingPunct="1"/>
            <a:r>
              <a:rPr lang="zh-CN" altLang="en-US" smtClean="0"/>
              <a:t>每个块组的第一个磁盘块用来保存超级块</a:t>
            </a:r>
            <a:r>
              <a:rPr lang="en-US" altLang="zh-CN" smtClean="0"/>
              <a:t>ext2_super_block</a:t>
            </a:r>
          </a:p>
        </p:txBody>
      </p:sp>
    </p:spTree>
    <p:extLst>
      <p:ext uri="{BB962C8B-B14F-4D97-AF65-F5344CB8AC3E}">
        <p14:creationId xmlns:p14="http://schemas.microsoft.com/office/powerpoint/2010/main" val="3291731222"/>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marL="609600" indent="-609600" eaLnBrk="1" hangingPunct="1"/>
            <a:r>
              <a:rPr lang="en-US" altLang="zh-CN" b="1" smtClean="0">
                <a:cs typeface="Times New Roman" panose="02020603050405020304" pitchFamily="18" charset="0"/>
              </a:rPr>
              <a:t>EXT2</a:t>
            </a:r>
            <a:r>
              <a:rPr lang="zh-CN" altLang="en-US" b="1" smtClean="0">
                <a:latin typeface="宋体" panose="02010600030101010101" pitchFamily="2" charset="-122"/>
              </a:rPr>
              <a:t>的</a:t>
            </a:r>
            <a:r>
              <a:rPr lang="zh-CN" altLang="en-US" b="1" smtClean="0">
                <a:solidFill>
                  <a:srgbClr val="FF0000"/>
                </a:solidFill>
                <a:latin typeface="宋体" panose="02010600030101010101" pitchFamily="2" charset="-122"/>
              </a:rPr>
              <a:t>超级块</a:t>
            </a:r>
          </a:p>
        </p:txBody>
      </p:sp>
      <p:sp>
        <p:nvSpPr>
          <p:cNvPr id="144387" name="Rectangle 3"/>
          <p:cNvSpPr>
            <a:spLocks noGrp="1" noChangeArrowheads="1"/>
          </p:cNvSpPr>
          <p:nvPr>
            <p:ph type="body" idx="1"/>
          </p:nvPr>
        </p:nvSpPr>
        <p:spPr>
          <a:xfrm>
            <a:off x="914400" y="1341438"/>
            <a:ext cx="7772400" cy="4789487"/>
          </a:xfrm>
        </p:spPr>
        <p:txBody>
          <a:bodyPr/>
          <a:lstStyle/>
          <a:p>
            <a:pPr algn="just" eaLnBrk="1" hangingPunct="1"/>
            <a:r>
              <a:rPr lang="zh-CN" altLang="en-US" smtClean="0"/>
              <a:t>每个块组都有一个超级块，一般来说只有组</a:t>
            </a:r>
            <a:r>
              <a:rPr lang="en-US" altLang="zh-CN" smtClean="0"/>
              <a:t>0</a:t>
            </a:r>
            <a:r>
              <a:rPr lang="zh-CN" altLang="en-US" smtClean="0"/>
              <a:t>的超级块才被读入内存超级块，其它块组的超级块仅仅作为备份。当组</a:t>
            </a:r>
            <a:r>
              <a:rPr lang="en-US" altLang="zh-CN" smtClean="0"/>
              <a:t>0</a:t>
            </a:r>
            <a:r>
              <a:rPr lang="zh-CN" altLang="en-US" smtClean="0"/>
              <a:t>的拷贝遭到损坏时，便可根据其他组的拷贝恢复</a:t>
            </a:r>
          </a:p>
          <a:p>
            <a:pPr eaLnBrk="1" hangingPunct="1"/>
            <a:r>
              <a:rPr lang="zh-CN" altLang="en-US" smtClean="0"/>
              <a:t>多个块组中的超级块形成冗余</a:t>
            </a:r>
          </a:p>
          <a:p>
            <a:pPr lvl="1" eaLnBrk="1" hangingPunct="1"/>
            <a:r>
              <a:rPr lang="zh-CN" altLang="en-US" smtClean="0"/>
              <a:t>在某个或少数几个超级块被破坏时，可用于恢复被破坏的超级块信息。</a:t>
            </a:r>
          </a:p>
        </p:txBody>
      </p:sp>
    </p:spTree>
    <p:extLst>
      <p:ext uri="{BB962C8B-B14F-4D97-AF65-F5344CB8AC3E}">
        <p14:creationId xmlns:p14="http://schemas.microsoft.com/office/powerpoint/2010/main" val="2853020625"/>
      </p:ext>
    </p:extLst>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eaLnBrk="1" hangingPunct="1"/>
            <a:r>
              <a:rPr lang="zh-CN" altLang="en-US" smtClean="0"/>
              <a:t>超级块</a:t>
            </a:r>
          </a:p>
        </p:txBody>
      </p:sp>
      <p:sp>
        <p:nvSpPr>
          <p:cNvPr id="145411" name="Rectangle 3"/>
          <p:cNvSpPr>
            <a:spLocks noGrp="1" noChangeArrowheads="1"/>
          </p:cNvSpPr>
          <p:nvPr>
            <p:ph type="body" idx="1"/>
          </p:nvPr>
        </p:nvSpPr>
        <p:spPr/>
        <p:txBody>
          <a:bodyPr/>
          <a:lstStyle/>
          <a:p>
            <a:pPr eaLnBrk="1" hangingPunct="1"/>
            <a:endParaRPr lang="zh-CN" altLang="zh-CN" smtClean="0"/>
          </a:p>
        </p:txBody>
      </p:sp>
      <p:pic>
        <p:nvPicPr>
          <p:cNvPr id="1454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313" y="352425"/>
            <a:ext cx="7953375" cy="615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4561440"/>
      </p:ext>
    </p:extLst>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eaLnBrk="1" hangingPunct="1"/>
            <a:endParaRPr lang="zh-CN" altLang="zh-CN" smtClean="0"/>
          </a:p>
        </p:txBody>
      </p:sp>
      <p:sp>
        <p:nvSpPr>
          <p:cNvPr id="146435" name="Rectangle 3"/>
          <p:cNvSpPr>
            <a:spLocks noGrp="1" noChangeArrowheads="1"/>
          </p:cNvSpPr>
          <p:nvPr>
            <p:ph type="body" idx="1"/>
          </p:nvPr>
        </p:nvSpPr>
        <p:spPr/>
        <p:txBody>
          <a:bodyPr/>
          <a:lstStyle/>
          <a:p>
            <a:pPr eaLnBrk="1" hangingPunct="1"/>
            <a:endParaRPr lang="zh-CN" altLang="zh-CN" smtClean="0"/>
          </a:p>
        </p:txBody>
      </p:sp>
      <p:pic>
        <p:nvPicPr>
          <p:cNvPr id="1464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
            <a:ext cx="8382000"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5129032"/>
      </p:ext>
    </p:extLst>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eaLnBrk="1" hangingPunct="1"/>
            <a:r>
              <a:rPr lang="en-US" altLang="zh-CN" smtClean="0"/>
              <a:t>Linux 2.4.18</a:t>
            </a:r>
            <a:r>
              <a:rPr lang="zh-CN" altLang="en-US" smtClean="0"/>
              <a:t>中在内存中记录</a:t>
            </a:r>
            <a:r>
              <a:rPr lang="en-US" altLang="zh-CN" smtClean="0"/>
              <a:t>ext2</a:t>
            </a:r>
            <a:r>
              <a:rPr lang="zh-CN" altLang="en-US" smtClean="0"/>
              <a:t>超级块的数据结构</a:t>
            </a:r>
          </a:p>
        </p:txBody>
      </p:sp>
      <p:sp>
        <p:nvSpPr>
          <p:cNvPr id="147459" name="Rectangle 3"/>
          <p:cNvSpPr>
            <a:spLocks noGrp="1" noChangeArrowheads="1"/>
          </p:cNvSpPr>
          <p:nvPr>
            <p:ph type="body" idx="1"/>
          </p:nvPr>
        </p:nvSpPr>
        <p:spPr/>
        <p:txBody>
          <a:bodyPr/>
          <a:lstStyle/>
          <a:p>
            <a:pPr eaLnBrk="1" hangingPunct="1"/>
            <a:endParaRPr lang="zh-CN" altLang="zh-CN" smtClean="0"/>
          </a:p>
        </p:txBody>
      </p:sp>
      <p:pic>
        <p:nvPicPr>
          <p:cNvPr id="147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61913"/>
            <a:ext cx="9086850" cy="698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8857563"/>
      </p:ext>
    </p:extLst>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pPr eaLnBrk="1" hangingPunct="1"/>
            <a:r>
              <a:rPr lang="en-US" altLang="zh-CN" b="1" smtClean="0">
                <a:cs typeface="Times New Roman" panose="02020603050405020304" pitchFamily="18" charset="0"/>
              </a:rPr>
              <a:t>EXT2</a:t>
            </a:r>
            <a:r>
              <a:rPr lang="zh-CN" altLang="en-US" b="1" smtClean="0">
                <a:latin typeface="宋体" panose="02010600030101010101" pitchFamily="2" charset="-122"/>
              </a:rPr>
              <a:t>的</a:t>
            </a:r>
            <a:r>
              <a:rPr lang="zh-CN" altLang="en-US" b="1" smtClean="0">
                <a:solidFill>
                  <a:srgbClr val="FF0000"/>
                </a:solidFill>
                <a:latin typeface="宋体" panose="02010600030101010101" pitchFamily="2" charset="-122"/>
              </a:rPr>
              <a:t>组描述符</a:t>
            </a:r>
          </a:p>
        </p:txBody>
      </p:sp>
      <p:sp>
        <p:nvSpPr>
          <p:cNvPr id="148483" name="Rectangle 3"/>
          <p:cNvSpPr>
            <a:spLocks noGrp="1" noChangeArrowheads="1"/>
          </p:cNvSpPr>
          <p:nvPr>
            <p:ph type="body" idx="1"/>
          </p:nvPr>
        </p:nvSpPr>
        <p:spPr/>
        <p:txBody>
          <a:bodyPr/>
          <a:lstStyle/>
          <a:p>
            <a:pPr eaLnBrk="1" hangingPunct="1"/>
            <a:r>
              <a:rPr lang="zh-CN" altLang="en-US" smtClean="0"/>
              <a:t>每个块组都有一个</a:t>
            </a:r>
            <a:r>
              <a:rPr lang="zh-CN" altLang="en-US" smtClean="0">
                <a:solidFill>
                  <a:schemeClr val="accent2"/>
                </a:solidFill>
              </a:rPr>
              <a:t>组描述符</a:t>
            </a:r>
            <a:r>
              <a:rPr lang="zh-CN" altLang="en-US" smtClean="0"/>
              <a:t>，记录了该块组的块位图位置、</a:t>
            </a:r>
            <a:r>
              <a:rPr lang="en-US" altLang="zh-CN" smtClean="0"/>
              <a:t>inode</a:t>
            </a:r>
            <a:r>
              <a:rPr lang="zh-CN" altLang="en-US" smtClean="0"/>
              <a:t>位图位置、</a:t>
            </a:r>
            <a:r>
              <a:rPr lang="en-US" altLang="zh-CN" smtClean="0"/>
              <a:t>inode</a:t>
            </a:r>
            <a:r>
              <a:rPr lang="zh-CN" altLang="en-US" smtClean="0"/>
              <a:t>节点位置、空闲块数、</a:t>
            </a:r>
            <a:r>
              <a:rPr lang="en-US" altLang="zh-CN" smtClean="0"/>
              <a:t>inode</a:t>
            </a:r>
            <a:r>
              <a:rPr lang="zh-CN" altLang="en-US" smtClean="0"/>
              <a:t>数、目录数等内容</a:t>
            </a:r>
            <a:r>
              <a:rPr lang="en-US" altLang="zh-CN" smtClean="0"/>
              <a:t>(ext2_group_desc)</a:t>
            </a:r>
            <a:r>
              <a:rPr lang="zh-CN" altLang="en-US" smtClean="0"/>
              <a:t>。</a:t>
            </a:r>
          </a:p>
          <a:p>
            <a:pPr algn="just" eaLnBrk="1" hangingPunct="1"/>
            <a:r>
              <a:rPr lang="zh-CN" altLang="en-US" smtClean="0"/>
              <a:t>所有的组描述符一个接一个存放，构成了</a:t>
            </a:r>
            <a:r>
              <a:rPr lang="zh-CN" altLang="en-US" smtClean="0">
                <a:solidFill>
                  <a:srgbClr val="0000FF"/>
                </a:solidFill>
              </a:rPr>
              <a:t>组描述符</a:t>
            </a:r>
            <a:r>
              <a:rPr lang="zh-CN" altLang="en-US" smtClean="0">
                <a:solidFill>
                  <a:srgbClr val="FF0000"/>
                </a:solidFill>
              </a:rPr>
              <a:t>表</a:t>
            </a:r>
            <a:r>
              <a:rPr lang="zh-CN" altLang="en-US" smtClean="0"/>
              <a:t>。</a:t>
            </a:r>
          </a:p>
          <a:p>
            <a:pPr algn="just" eaLnBrk="1" hangingPunct="1"/>
            <a:r>
              <a:rPr lang="zh-CN" altLang="en-US" smtClean="0"/>
              <a:t>同超级块一样，</a:t>
            </a:r>
            <a:r>
              <a:rPr lang="zh-CN" altLang="en-US" smtClean="0">
                <a:solidFill>
                  <a:schemeClr val="accent2"/>
                </a:solidFill>
              </a:rPr>
              <a:t>组描述符表在每个块组中都有备份。</a:t>
            </a:r>
            <a:r>
              <a:rPr lang="zh-CN" altLang="en-US" smtClean="0"/>
              <a:t>这样，当文件系统崩溃时，可以用来恢复文件系统。</a:t>
            </a:r>
          </a:p>
          <a:p>
            <a:pPr eaLnBrk="1" hangingPunct="1"/>
            <a:endParaRPr lang="en-US" altLang="zh-CN" smtClean="0"/>
          </a:p>
        </p:txBody>
      </p:sp>
    </p:spTree>
    <p:extLst>
      <p:ext uri="{BB962C8B-B14F-4D97-AF65-F5344CB8AC3E}">
        <p14:creationId xmlns:p14="http://schemas.microsoft.com/office/powerpoint/2010/main" val="117699225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611188" y="0"/>
            <a:ext cx="7772400" cy="1143000"/>
          </a:xfrm>
        </p:spPr>
        <p:txBody>
          <a:bodyPr/>
          <a:lstStyle/>
          <a:p>
            <a:pPr eaLnBrk="1" hangingPunct="1"/>
            <a:r>
              <a:rPr lang="en-US" altLang="zh-CN" b="1" smtClean="0">
                <a:cs typeface="Times New Roman" panose="02020603050405020304" pitchFamily="18" charset="0"/>
              </a:rPr>
              <a:t>EXT2</a:t>
            </a:r>
            <a:r>
              <a:rPr lang="zh-CN" altLang="en-US" b="1" smtClean="0">
                <a:latin typeface="宋体" panose="02010600030101010101" pitchFamily="2" charset="-122"/>
              </a:rPr>
              <a:t>的</a:t>
            </a:r>
            <a:r>
              <a:rPr lang="zh-CN" altLang="en-US" b="1" smtClean="0">
                <a:solidFill>
                  <a:srgbClr val="FF0000"/>
                </a:solidFill>
              </a:rPr>
              <a:t>组描述符</a:t>
            </a:r>
          </a:p>
        </p:txBody>
      </p:sp>
      <p:pic>
        <p:nvPicPr>
          <p:cNvPr id="149507" name="Picture 3" descr="EXT2组描述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557338"/>
            <a:ext cx="6624637"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7317075"/>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4"/>
          <p:cNvSpPr txBox="1">
            <a:spLocks noChangeArrowheads="1"/>
          </p:cNvSpPr>
          <p:nvPr/>
        </p:nvSpPr>
        <p:spPr bwMode="auto">
          <a:xfrm>
            <a:off x="685800" y="836613"/>
            <a:ext cx="8458200"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1" lang="en-US" altLang="zh-CN" sz="3200" b="1">
                <a:solidFill>
                  <a:srgbClr val="FF0000"/>
                </a:solidFill>
              </a:rPr>
              <a:t>EXT2</a:t>
            </a:r>
            <a:r>
              <a:rPr kumimoji="1" lang="zh-CN" altLang="en-US" sz="3200" b="1">
                <a:ea typeface="黑体" panose="02010609060101010101" pitchFamily="49" charset="-122"/>
              </a:rPr>
              <a:t>组描述符</a:t>
            </a:r>
          </a:p>
          <a:p>
            <a:pPr eaLnBrk="1" hangingPunct="1"/>
            <a:r>
              <a:rPr lang="zh-CN" altLang="en-US"/>
              <a:t>组描述符用来描述一个磁盘块组的相关信息</a:t>
            </a:r>
          </a:p>
          <a:p>
            <a:pPr eaLnBrk="1" hangingPunct="1"/>
            <a:endParaRPr lang="zh-CN" altLang="en-US"/>
          </a:p>
          <a:p>
            <a:pPr eaLnBrk="1" hangingPunct="1">
              <a:spcBef>
                <a:spcPct val="0"/>
              </a:spcBef>
              <a:buClrTx/>
              <a:buSzTx/>
              <a:buFontTx/>
              <a:buNone/>
            </a:pPr>
            <a:r>
              <a:rPr kumimoji="1" lang="zh-CN" altLang="en-US" sz="3200">
                <a:cs typeface="Times New Roman" panose="02020603050405020304" pitchFamily="18" charset="0"/>
              </a:rPr>
              <a:t>  </a:t>
            </a:r>
            <a:r>
              <a:rPr kumimoji="1" lang="en-US" altLang="zh-CN" b="1">
                <a:ea typeface="楷体_GB2312" pitchFamily="49" charset="-122"/>
              </a:rPr>
              <a:t>struct </a:t>
            </a:r>
            <a:r>
              <a:rPr kumimoji="1" lang="en-US" altLang="zh-CN" b="1">
                <a:solidFill>
                  <a:srgbClr val="FF0000"/>
                </a:solidFill>
                <a:ea typeface="楷体_GB2312" pitchFamily="49" charset="-122"/>
              </a:rPr>
              <a:t>ext2_group_desc</a:t>
            </a:r>
          </a:p>
          <a:p>
            <a:pPr eaLnBrk="1" hangingPunct="1">
              <a:spcBef>
                <a:spcPct val="0"/>
              </a:spcBef>
              <a:buClrTx/>
              <a:buSzTx/>
              <a:buFontTx/>
              <a:buNone/>
            </a:pPr>
            <a:r>
              <a:rPr kumimoji="1" lang="en-US" altLang="zh-CN" b="1">
                <a:ea typeface="楷体_GB2312" pitchFamily="49" charset="-122"/>
              </a:rPr>
              <a:t>{</a:t>
            </a:r>
          </a:p>
          <a:p>
            <a:pPr eaLnBrk="1" hangingPunct="1">
              <a:spcBef>
                <a:spcPct val="0"/>
              </a:spcBef>
              <a:buClrTx/>
              <a:buSzTx/>
              <a:buFontTx/>
              <a:buNone/>
            </a:pPr>
            <a:r>
              <a:rPr kumimoji="1" lang="en-US" altLang="zh-CN" b="1">
                <a:ea typeface="楷体_GB2312" pitchFamily="49" charset="-122"/>
              </a:rPr>
              <a:t>  __u32 bg_block_bitmap;/*</a:t>
            </a:r>
            <a:r>
              <a:rPr kumimoji="1" lang="zh-CN" altLang="en-US" b="1">
                <a:ea typeface="楷体_GB2312" pitchFamily="49" charset="-122"/>
              </a:rPr>
              <a:t>本组数据块位图所在块号*</a:t>
            </a:r>
            <a:r>
              <a:rPr kumimoji="1" lang="en-US" altLang="zh-CN" b="1">
                <a:ea typeface="楷体_GB2312" pitchFamily="49" charset="-122"/>
              </a:rPr>
              <a:t>/</a:t>
            </a:r>
          </a:p>
          <a:p>
            <a:pPr eaLnBrk="1" hangingPunct="1">
              <a:spcBef>
                <a:spcPct val="0"/>
              </a:spcBef>
              <a:buClrTx/>
              <a:buSzTx/>
              <a:buFontTx/>
              <a:buNone/>
            </a:pPr>
            <a:r>
              <a:rPr kumimoji="1" lang="en-US" altLang="zh-CN" b="1">
                <a:ea typeface="楷体_GB2312" pitchFamily="49" charset="-122"/>
              </a:rPr>
              <a:t>  __u32 bg_inode_bitmap;/* </a:t>
            </a:r>
            <a:r>
              <a:rPr kumimoji="1" lang="zh-CN" altLang="en-US" b="1">
                <a:ea typeface="楷体_GB2312" pitchFamily="49" charset="-122"/>
              </a:rPr>
              <a:t>本组</a:t>
            </a:r>
            <a:r>
              <a:rPr kumimoji="1" lang="en-US" altLang="zh-CN" b="1">
                <a:ea typeface="楷体_GB2312" pitchFamily="49" charset="-122"/>
              </a:rPr>
              <a:t>inode</a:t>
            </a:r>
            <a:r>
              <a:rPr kumimoji="1" lang="zh-CN" altLang="en-US" b="1">
                <a:ea typeface="楷体_GB2312" pitchFamily="49" charset="-122"/>
              </a:rPr>
              <a:t>位图所在块号 *</a:t>
            </a:r>
            <a:r>
              <a:rPr kumimoji="1" lang="en-US" altLang="zh-CN" b="1">
                <a:ea typeface="楷体_GB2312" pitchFamily="49" charset="-122"/>
              </a:rPr>
              <a:t>/</a:t>
            </a:r>
          </a:p>
          <a:p>
            <a:pPr eaLnBrk="1" hangingPunct="1">
              <a:spcBef>
                <a:spcPct val="0"/>
              </a:spcBef>
              <a:buClrTx/>
              <a:buSzTx/>
              <a:buFontTx/>
              <a:buNone/>
            </a:pPr>
            <a:r>
              <a:rPr kumimoji="1" lang="en-US" altLang="zh-CN" b="1">
                <a:ea typeface="楷体_GB2312" pitchFamily="49" charset="-122"/>
              </a:rPr>
              <a:t>  __u32 bg_inode_table;	/* </a:t>
            </a:r>
            <a:r>
              <a:rPr kumimoji="1" lang="zh-CN" altLang="en-US" b="1">
                <a:ea typeface="楷体_GB2312" pitchFamily="49" charset="-122"/>
              </a:rPr>
              <a:t>本组</a:t>
            </a:r>
            <a:r>
              <a:rPr kumimoji="1" lang="en-US" altLang="zh-CN" b="1">
                <a:ea typeface="楷体_GB2312" pitchFamily="49" charset="-122"/>
              </a:rPr>
              <a:t>inode</a:t>
            </a:r>
            <a:r>
              <a:rPr kumimoji="1" lang="zh-CN" altLang="en-US" b="1">
                <a:ea typeface="楷体_GB2312" pitchFamily="49" charset="-122"/>
              </a:rPr>
              <a:t>表的起始块号 *</a:t>
            </a:r>
            <a:r>
              <a:rPr kumimoji="1" lang="en-US" altLang="zh-CN" b="1">
                <a:ea typeface="楷体_GB2312" pitchFamily="49" charset="-122"/>
              </a:rPr>
              <a:t>/</a:t>
            </a:r>
          </a:p>
          <a:p>
            <a:pPr eaLnBrk="1" hangingPunct="1">
              <a:spcBef>
                <a:spcPct val="0"/>
              </a:spcBef>
              <a:buClrTx/>
              <a:buSzTx/>
              <a:buFontTx/>
              <a:buNone/>
            </a:pPr>
            <a:r>
              <a:rPr kumimoji="1" lang="en-US" altLang="zh-CN" b="1">
                <a:ea typeface="楷体_GB2312" pitchFamily="49" charset="-122"/>
              </a:rPr>
              <a:t>  __u16 bg_free_blocks_count;/* </a:t>
            </a:r>
            <a:r>
              <a:rPr kumimoji="1" lang="zh-CN" altLang="en-US" b="1">
                <a:ea typeface="楷体_GB2312" pitchFamily="49" charset="-122"/>
              </a:rPr>
              <a:t>组中空闲块的数目 *</a:t>
            </a:r>
            <a:r>
              <a:rPr kumimoji="1" lang="en-US" altLang="zh-CN" b="1">
                <a:ea typeface="楷体_GB2312" pitchFamily="49" charset="-122"/>
              </a:rPr>
              <a:t>/</a:t>
            </a:r>
          </a:p>
          <a:p>
            <a:pPr eaLnBrk="1" hangingPunct="1">
              <a:spcBef>
                <a:spcPct val="0"/>
              </a:spcBef>
              <a:buClrTx/>
              <a:buSzTx/>
              <a:buFontTx/>
              <a:buNone/>
            </a:pPr>
            <a:r>
              <a:rPr kumimoji="1" lang="en-US" altLang="zh-CN" b="1">
                <a:ea typeface="楷体_GB2312" pitchFamily="49" charset="-122"/>
              </a:rPr>
              <a:t>  __u16 bg_free_inodes_count;/*</a:t>
            </a:r>
            <a:r>
              <a:rPr kumimoji="1" lang="zh-CN" altLang="en-US" b="1">
                <a:ea typeface="楷体_GB2312" pitchFamily="49" charset="-122"/>
              </a:rPr>
              <a:t>组中空闲</a:t>
            </a:r>
            <a:r>
              <a:rPr kumimoji="1" lang="en-US" altLang="zh-CN" b="1">
                <a:ea typeface="楷体_GB2312" pitchFamily="49" charset="-122"/>
              </a:rPr>
              <a:t>inode</a:t>
            </a:r>
            <a:r>
              <a:rPr kumimoji="1" lang="zh-CN" altLang="en-US" b="1">
                <a:ea typeface="楷体_GB2312" pitchFamily="49" charset="-122"/>
              </a:rPr>
              <a:t>数目 *</a:t>
            </a:r>
            <a:r>
              <a:rPr kumimoji="1" lang="en-US" altLang="zh-CN" b="1">
                <a:ea typeface="楷体_GB2312" pitchFamily="49" charset="-122"/>
              </a:rPr>
              <a:t>/</a:t>
            </a:r>
          </a:p>
          <a:p>
            <a:pPr eaLnBrk="1" hangingPunct="1">
              <a:spcBef>
                <a:spcPct val="0"/>
              </a:spcBef>
              <a:buClrTx/>
              <a:buSzTx/>
              <a:buFontTx/>
              <a:buNone/>
            </a:pPr>
            <a:r>
              <a:rPr kumimoji="1" lang="en-US" altLang="zh-CN" b="1">
                <a:ea typeface="楷体_GB2312" pitchFamily="49" charset="-122"/>
              </a:rPr>
              <a:t>  __u16 bg_used_dirs_count;/* </a:t>
            </a:r>
            <a:r>
              <a:rPr kumimoji="1" lang="zh-CN" altLang="en-US" b="1">
                <a:ea typeface="楷体_GB2312" pitchFamily="49" charset="-122"/>
              </a:rPr>
              <a:t>组中目录的数目 *</a:t>
            </a:r>
            <a:r>
              <a:rPr kumimoji="1" lang="en-US" altLang="zh-CN" b="1">
                <a:ea typeface="楷体_GB2312" pitchFamily="49" charset="-122"/>
              </a:rPr>
              <a:t>/</a:t>
            </a:r>
          </a:p>
          <a:p>
            <a:pPr eaLnBrk="1" hangingPunct="1">
              <a:spcBef>
                <a:spcPct val="0"/>
              </a:spcBef>
              <a:buClrTx/>
              <a:buSzTx/>
              <a:buFontTx/>
              <a:buNone/>
            </a:pPr>
            <a:r>
              <a:rPr kumimoji="1" lang="en-US" altLang="zh-CN" b="1">
                <a:ea typeface="楷体_GB2312" pitchFamily="49" charset="-122"/>
              </a:rPr>
              <a:t>};</a:t>
            </a:r>
            <a:r>
              <a:rPr kumimoji="1" lang="en-US" altLang="zh-CN" sz="3200">
                <a:cs typeface="Times New Roman" panose="02020603050405020304" pitchFamily="18" charset="0"/>
              </a:rPr>
              <a:t> </a:t>
            </a:r>
          </a:p>
          <a:p>
            <a:pPr eaLnBrk="1" hangingPunct="1">
              <a:spcBef>
                <a:spcPct val="0"/>
              </a:spcBef>
              <a:buClrTx/>
              <a:buSzTx/>
              <a:buFontTx/>
              <a:buNone/>
            </a:pPr>
            <a:endParaRPr kumimoji="1" lang="en-US" altLang="zh-CN" sz="3200">
              <a:ea typeface="楷体_GB2312" pitchFamily="49" charset="-122"/>
            </a:endParaRPr>
          </a:p>
        </p:txBody>
      </p:sp>
    </p:spTree>
    <p:extLst>
      <p:ext uri="{BB962C8B-B14F-4D97-AF65-F5344CB8AC3E}">
        <p14:creationId xmlns:p14="http://schemas.microsoft.com/office/powerpoint/2010/main" val="3009745967"/>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pPr eaLnBrk="1" hangingPunct="1"/>
            <a:r>
              <a:rPr lang="en-US" altLang="zh-CN" b="1" smtClean="0">
                <a:cs typeface="Times New Roman" panose="02020603050405020304" pitchFamily="18" charset="0"/>
              </a:rPr>
              <a:t>EXT2</a:t>
            </a:r>
            <a:r>
              <a:rPr lang="zh-CN" altLang="en-US" b="1" smtClean="0">
                <a:latin typeface="宋体" panose="02010600030101010101" pitchFamily="2" charset="-122"/>
              </a:rPr>
              <a:t>的</a:t>
            </a:r>
            <a:r>
              <a:rPr lang="en-US" altLang="zh-CN" smtClean="0">
                <a:solidFill>
                  <a:srgbClr val="FF0000"/>
                </a:solidFill>
              </a:rPr>
              <a:t>Inode</a:t>
            </a:r>
            <a:r>
              <a:rPr lang="zh-CN" altLang="en-US" smtClean="0">
                <a:solidFill>
                  <a:srgbClr val="FF0000"/>
                </a:solidFill>
              </a:rPr>
              <a:t>表和</a:t>
            </a:r>
            <a:r>
              <a:rPr lang="en-US" altLang="zh-CN" smtClean="0">
                <a:solidFill>
                  <a:srgbClr val="FF0000"/>
                </a:solidFill>
              </a:rPr>
              <a:t>Inode</a:t>
            </a:r>
            <a:r>
              <a:rPr lang="zh-CN" altLang="en-US" smtClean="0">
                <a:solidFill>
                  <a:srgbClr val="FF0000"/>
                </a:solidFill>
              </a:rPr>
              <a:t>位图</a:t>
            </a:r>
          </a:p>
        </p:txBody>
      </p:sp>
      <p:sp>
        <p:nvSpPr>
          <p:cNvPr id="151555" name="Rectangle 3"/>
          <p:cNvSpPr>
            <a:spLocks noGrp="1" noChangeArrowheads="1"/>
          </p:cNvSpPr>
          <p:nvPr>
            <p:ph type="body" idx="1"/>
          </p:nvPr>
        </p:nvSpPr>
        <p:spPr>
          <a:xfrm>
            <a:off x="827088" y="1268413"/>
            <a:ext cx="7772400" cy="4530725"/>
          </a:xfrm>
        </p:spPr>
        <p:txBody>
          <a:bodyPr/>
          <a:lstStyle/>
          <a:p>
            <a:pPr eaLnBrk="1" hangingPunct="1">
              <a:lnSpc>
                <a:spcPct val="90000"/>
              </a:lnSpc>
            </a:pPr>
            <a:r>
              <a:rPr lang="en-US" altLang="zh-CN" sz="2400" smtClean="0">
                <a:latin typeface="Times New Roman" panose="02020603050405020304" pitchFamily="18" charset="0"/>
              </a:rPr>
              <a:t>EXT2</a:t>
            </a:r>
            <a:r>
              <a:rPr lang="zh-CN" altLang="en-US" sz="2400" smtClean="0">
                <a:latin typeface="Times New Roman" panose="02020603050405020304" pitchFamily="18" charset="0"/>
              </a:rPr>
              <a:t>的一个磁盘块组中的一个块组中</a:t>
            </a:r>
            <a:r>
              <a:rPr lang="zh-CN" altLang="en-US" sz="2400" smtClean="0">
                <a:solidFill>
                  <a:srgbClr val="800080"/>
                </a:solidFill>
                <a:latin typeface="Times New Roman" panose="02020603050405020304" pitchFamily="18" charset="0"/>
              </a:rPr>
              <a:t>所有文件的</a:t>
            </a:r>
            <a:r>
              <a:rPr lang="en-US" altLang="zh-CN" sz="2400" smtClean="0">
                <a:solidFill>
                  <a:srgbClr val="800080"/>
                </a:solidFill>
                <a:latin typeface="Times New Roman" panose="02020603050405020304" pitchFamily="18" charset="0"/>
              </a:rPr>
              <a:t>inode</a:t>
            </a:r>
            <a:r>
              <a:rPr lang="zh-CN" altLang="en-US" sz="2400" smtClean="0">
                <a:latin typeface="Times New Roman" panose="02020603050405020304" pitchFamily="18" charset="0"/>
              </a:rPr>
              <a:t>形成了</a:t>
            </a:r>
            <a:r>
              <a:rPr lang="en-US" altLang="zh-CN" sz="2400" smtClean="0">
                <a:solidFill>
                  <a:srgbClr val="0000FF"/>
                </a:solidFill>
                <a:latin typeface="Times New Roman" panose="02020603050405020304" pitchFamily="18" charset="0"/>
              </a:rPr>
              <a:t>inode</a:t>
            </a:r>
            <a:r>
              <a:rPr lang="zh-CN" altLang="en-US" sz="2400" smtClean="0">
                <a:solidFill>
                  <a:srgbClr val="0000FF"/>
                </a:solidFill>
                <a:latin typeface="Times New Roman" panose="02020603050405020304" pitchFamily="18" charset="0"/>
              </a:rPr>
              <a:t>表，</a:t>
            </a:r>
            <a:r>
              <a:rPr lang="zh-CN" altLang="en-US" sz="2400" smtClean="0">
                <a:latin typeface="Times New Roman" panose="02020603050405020304" pitchFamily="18" charset="0"/>
              </a:rPr>
              <a:t>存储在一组连续的磁盘块中。表项的序号就是</a:t>
            </a:r>
            <a:r>
              <a:rPr lang="en-US" altLang="zh-CN" sz="2400" smtClean="0">
                <a:latin typeface="Times New Roman" panose="02020603050405020304" pitchFamily="18" charset="0"/>
              </a:rPr>
              <a:t>inode</a:t>
            </a:r>
            <a:r>
              <a:rPr lang="zh-CN" altLang="en-US" sz="2400" smtClean="0">
                <a:latin typeface="Times New Roman" panose="02020603050405020304" pitchFamily="18" charset="0"/>
              </a:rPr>
              <a:t>号。</a:t>
            </a:r>
          </a:p>
          <a:p>
            <a:pPr lvl="1" eaLnBrk="1" hangingPunct="1">
              <a:lnSpc>
                <a:spcPct val="110000"/>
              </a:lnSpc>
            </a:pPr>
            <a:r>
              <a:rPr lang="en-US" altLang="zh-CN" sz="2400" smtClean="0">
                <a:latin typeface="Times New Roman" panose="02020603050405020304" pitchFamily="18" charset="0"/>
              </a:rPr>
              <a:t>inode</a:t>
            </a:r>
            <a:r>
              <a:rPr lang="zh-CN" altLang="en-US" sz="2400" smtClean="0">
                <a:latin typeface="Times New Roman" panose="02020603050405020304" pitchFamily="18" charset="0"/>
              </a:rPr>
              <a:t>表存放</a:t>
            </a:r>
            <a:r>
              <a:rPr lang="zh-CN" altLang="en-US" sz="2400" smtClean="0">
                <a:solidFill>
                  <a:srgbClr val="008000"/>
                </a:solidFill>
                <a:latin typeface="Times New Roman" panose="02020603050405020304" pitchFamily="18" charset="0"/>
              </a:rPr>
              <a:t>在块组中所有数据块之前</a:t>
            </a:r>
            <a:r>
              <a:rPr lang="zh-CN" altLang="en-US" sz="2400" smtClean="0">
                <a:latin typeface="Times New Roman" panose="02020603050405020304" pitchFamily="18" charset="0"/>
              </a:rPr>
              <a:t>。</a:t>
            </a:r>
          </a:p>
          <a:p>
            <a:pPr lvl="1" eaLnBrk="1" hangingPunct="1">
              <a:lnSpc>
                <a:spcPct val="110000"/>
              </a:lnSpc>
            </a:pPr>
            <a:r>
              <a:rPr lang="en-US" altLang="zh-CN" sz="2400" smtClean="0">
                <a:latin typeface="Times New Roman" panose="02020603050405020304" pitchFamily="18" charset="0"/>
              </a:rPr>
              <a:t>inode</a:t>
            </a:r>
            <a:r>
              <a:rPr lang="zh-CN" altLang="en-US" sz="2400" smtClean="0">
                <a:latin typeface="Times New Roman" panose="02020603050405020304" pitchFamily="18" charset="0"/>
              </a:rPr>
              <a:t>表在块组中要占用几个逻辑块由超级块中</a:t>
            </a:r>
            <a:r>
              <a:rPr lang="en-US" altLang="zh-CN" sz="2400" smtClean="0">
                <a:latin typeface="Times New Roman" panose="02020603050405020304" pitchFamily="18" charset="0"/>
              </a:rPr>
              <a:t>s_inodes_per_group</a:t>
            </a:r>
            <a:r>
              <a:rPr lang="zh-CN" altLang="en-US" sz="2400" smtClean="0">
                <a:latin typeface="Times New Roman" panose="02020603050405020304" pitchFamily="18" charset="0"/>
              </a:rPr>
              <a:t>给出。</a:t>
            </a:r>
          </a:p>
          <a:p>
            <a:pPr eaLnBrk="1" hangingPunct="1">
              <a:lnSpc>
                <a:spcPct val="90000"/>
              </a:lnSpc>
            </a:pPr>
            <a:r>
              <a:rPr lang="zh-CN" altLang="en-US" sz="2400" smtClean="0">
                <a:latin typeface="Times New Roman" panose="02020603050405020304" pitchFamily="18" charset="0"/>
              </a:rPr>
              <a:t>这组磁盘块中的第一个磁盘块的块号存储在组描述符中的</a:t>
            </a:r>
            <a:r>
              <a:rPr lang="en-US" altLang="zh-CN" sz="2400" smtClean="0">
                <a:latin typeface="Times New Roman" panose="02020603050405020304" pitchFamily="18" charset="0"/>
              </a:rPr>
              <a:t>bg_inode_table</a:t>
            </a:r>
            <a:r>
              <a:rPr lang="zh-CN" altLang="en-US" sz="2400" smtClean="0">
                <a:latin typeface="Times New Roman" panose="02020603050405020304" pitchFamily="18" charset="0"/>
              </a:rPr>
              <a:t>数据项中。</a:t>
            </a:r>
          </a:p>
          <a:p>
            <a:pPr eaLnBrk="1" hangingPunct="1">
              <a:lnSpc>
                <a:spcPct val="90000"/>
              </a:lnSpc>
            </a:pPr>
            <a:r>
              <a:rPr lang="zh-CN" altLang="en-US" sz="2400" smtClean="0">
                <a:latin typeface="Times New Roman" panose="02020603050405020304" pitchFamily="18" charset="0"/>
              </a:rPr>
              <a:t>根据磁盘块的大小，可以计算出每个磁盘块能容纳多少个索引结点</a:t>
            </a:r>
          </a:p>
          <a:p>
            <a:pPr eaLnBrk="1" hangingPunct="1">
              <a:lnSpc>
                <a:spcPct val="90000"/>
              </a:lnSpc>
            </a:pPr>
            <a:r>
              <a:rPr lang="zh-CN" altLang="en-US" sz="2400" smtClean="0">
                <a:latin typeface="Times New Roman" panose="02020603050405020304" pitchFamily="18" charset="0"/>
              </a:rPr>
              <a:t>根据索引结点的总个数，可以计算出索引结点表所需要占用的磁盘块的个数。  </a:t>
            </a:r>
          </a:p>
        </p:txBody>
      </p:sp>
    </p:spTree>
    <p:extLst>
      <p:ext uri="{BB962C8B-B14F-4D97-AF65-F5344CB8AC3E}">
        <p14:creationId xmlns:p14="http://schemas.microsoft.com/office/powerpoint/2010/main" val="1667394464"/>
      </p:ext>
    </p:extLst>
  </p:cSld>
  <p:clrMapOvr>
    <a:masterClrMapping/>
  </p:clrMapOvr>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685800" y="228600"/>
            <a:ext cx="7772400" cy="1143000"/>
          </a:xfrm>
        </p:spPr>
        <p:txBody>
          <a:bodyPr/>
          <a:lstStyle/>
          <a:p>
            <a:pPr eaLnBrk="1" hangingPunct="1"/>
            <a:r>
              <a:rPr lang="en-US" altLang="zh-CN" b="1" smtClean="0">
                <a:cs typeface="Times New Roman" panose="02020603050405020304" pitchFamily="18" charset="0"/>
              </a:rPr>
              <a:t>EXT2</a:t>
            </a:r>
            <a:r>
              <a:rPr lang="zh-CN" altLang="en-US" b="1" smtClean="0">
                <a:latin typeface="宋体" panose="02010600030101010101" pitchFamily="2" charset="-122"/>
              </a:rPr>
              <a:t>的</a:t>
            </a:r>
            <a:r>
              <a:rPr lang="en-US" altLang="zh-CN" smtClean="0">
                <a:solidFill>
                  <a:srgbClr val="FF0000"/>
                </a:solidFill>
              </a:rPr>
              <a:t>inode</a:t>
            </a:r>
            <a:r>
              <a:rPr lang="zh-CN" altLang="en-US" smtClean="0">
                <a:solidFill>
                  <a:srgbClr val="FF0000"/>
                </a:solidFill>
              </a:rPr>
              <a:t>表和</a:t>
            </a:r>
            <a:r>
              <a:rPr lang="en-US" altLang="zh-CN" smtClean="0">
                <a:solidFill>
                  <a:srgbClr val="FF0000"/>
                </a:solidFill>
              </a:rPr>
              <a:t>inode</a:t>
            </a:r>
            <a:r>
              <a:rPr lang="zh-CN" altLang="en-US" smtClean="0">
                <a:solidFill>
                  <a:srgbClr val="FF0000"/>
                </a:solidFill>
              </a:rPr>
              <a:t>位图</a:t>
            </a:r>
          </a:p>
        </p:txBody>
      </p:sp>
      <p:sp>
        <p:nvSpPr>
          <p:cNvPr id="152579" name="Rectangle 3"/>
          <p:cNvSpPr>
            <a:spLocks noGrp="1" noChangeArrowheads="1"/>
          </p:cNvSpPr>
          <p:nvPr>
            <p:ph type="body" idx="1"/>
          </p:nvPr>
        </p:nvSpPr>
        <p:spPr>
          <a:xfrm>
            <a:off x="685800" y="1676400"/>
            <a:ext cx="7772400" cy="4800600"/>
          </a:xfrm>
        </p:spPr>
        <p:txBody>
          <a:bodyPr/>
          <a:lstStyle/>
          <a:p>
            <a:pPr eaLnBrk="1" hangingPunct="1">
              <a:lnSpc>
                <a:spcPct val="110000"/>
              </a:lnSpc>
            </a:pPr>
            <a:r>
              <a:rPr lang="en-US" altLang="zh-CN" smtClean="0">
                <a:solidFill>
                  <a:srgbClr val="0000FF"/>
                </a:solidFill>
                <a:latin typeface="宋体" panose="02010600030101010101" pitchFamily="2" charset="-122"/>
              </a:rPr>
              <a:t>inode</a:t>
            </a:r>
            <a:r>
              <a:rPr lang="zh-CN" altLang="en-US" smtClean="0">
                <a:solidFill>
                  <a:srgbClr val="0000FF"/>
                </a:solidFill>
                <a:latin typeface="宋体" panose="02010600030101010101" pitchFamily="2" charset="-122"/>
              </a:rPr>
              <a:t>位图</a:t>
            </a:r>
            <a:r>
              <a:rPr lang="zh-CN" altLang="en-US" smtClean="0">
                <a:latin typeface="宋体" panose="02010600030101010101" pitchFamily="2" charset="-122"/>
              </a:rPr>
              <a:t>反映了</a:t>
            </a:r>
            <a:r>
              <a:rPr lang="en-US" altLang="zh-CN" smtClean="0">
                <a:latin typeface="宋体" panose="02010600030101010101" pitchFamily="2" charset="-122"/>
              </a:rPr>
              <a:t>inode</a:t>
            </a:r>
            <a:r>
              <a:rPr lang="zh-CN" altLang="en-US" smtClean="0">
                <a:latin typeface="宋体" panose="02010600030101010101" pitchFamily="2" charset="-122"/>
              </a:rPr>
              <a:t>表中各个表项的使用情况，它的一位</a:t>
            </a:r>
            <a:r>
              <a:rPr lang="en-US" altLang="zh-CN" smtClean="0">
                <a:latin typeface="宋体" panose="02010600030101010101" pitchFamily="2" charset="-122"/>
              </a:rPr>
              <a:t>(bit)</a:t>
            </a:r>
            <a:r>
              <a:rPr lang="zh-CN" altLang="en-US" smtClean="0">
                <a:latin typeface="宋体" panose="02010600030101010101" pitchFamily="2" charset="-122"/>
              </a:rPr>
              <a:t>表示</a:t>
            </a:r>
            <a:r>
              <a:rPr lang="en-US" altLang="zh-CN" smtClean="0">
                <a:latin typeface="宋体" panose="02010600030101010101" pitchFamily="2" charset="-122"/>
              </a:rPr>
              <a:t>inode</a:t>
            </a:r>
            <a:r>
              <a:rPr lang="zh-CN" altLang="en-US" smtClean="0">
                <a:latin typeface="宋体" panose="02010600030101010101" pitchFamily="2" charset="-122"/>
              </a:rPr>
              <a:t>表的一个表项，若某位为</a:t>
            </a:r>
            <a:r>
              <a:rPr lang="en-US" altLang="zh-CN" smtClean="0">
                <a:latin typeface="宋体" panose="02010600030101010101" pitchFamily="2" charset="-122"/>
              </a:rPr>
              <a:t>1</a:t>
            </a:r>
            <a:r>
              <a:rPr lang="zh-CN" altLang="en-US" smtClean="0">
                <a:latin typeface="宋体" panose="02010600030101010101" pitchFamily="2" charset="-122"/>
              </a:rPr>
              <a:t>表示对应的表项已占用，为</a:t>
            </a:r>
            <a:r>
              <a:rPr lang="en-US" altLang="zh-CN" smtClean="0">
                <a:latin typeface="宋体" panose="02010600030101010101" pitchFamily="2" charset="-122"/>
              </a:rPr>
              <a:t>0</a:t>
            </a:r>
            <a:r>
              <a:rPr lang="zh-CN" altLang="en-US" smtClean="0">
                <a:latin typeface="宋体" panose="02010600030101010101" pitchFamily="2" charset="-122"/>
              </a:rPr>
              <a:t>表示表项空闲。</a:t>
            </a:r>
          </a:p>
          <a:p>
            <a:pPr eaLnBrk="1" hangingPunct="1">
              <a:lnSpc>
                <a:spcPct val="110000"/>
              </a:lnSpc>
            </a:pPr>
            <a:r>
              <a:rPr lang="en-US" altLang="zh-CN" smtClean="0">
                <a:latin typeface="宋体" panose="02010600030101010101" pitchFamily="2" charset="-122"/>
              </a:rPr>
              <a:t>inode</a:t>
            </a:r>
            <a:r>
              <a:rPr lang="zh-CN" altLang="en-US" smtClean="0">
                <a:latin typeface="宋体" panose="02010600030101010101" pitchFamily="2" charset="-122"/>
              </a:rPr>
              <a:t>位图装入一个高速缓存中。    </a:t>
            </a:r>
          </a:p>
        </p:txBody>
      </p:sp>
    </p:spTree>
    <p:extLst>
      <p:ext uri="{BB962C8B-B14F-4D97-AF65-F5344CB8AC3E}">
        <p14:creationId xmlns:p14="http://schemas.microsoft.com/office/powerpoint/2010/main" val="1112236257"/>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body" idx="1"/>
          </p:nvPr>
        </p:nvSpPr>
        <p:spPr>
          <a:xfrm>
            <a:off x="755650" y="0"/>
            <a:ext cx="8001000" cy="6858000"/>
          </a:xfrm>
        </p:spPr>
        <p:txBody>
          <a:bodyPr/>
          <a:lstStyle/>
          <a:p>
            <a:pPr algn="just" eaLnBrk="1" hangingPunct="1">
              <a:lnSpc>
                <a:spcPct val="90000"/>
              </a:lnSpc>
              <a:buClr>
                <a:schemeClr val="tx1"/>
              </a:buClr>
              <a:buFontTx/>
              <a:buNone/>
            </a:pPr>
            <a:r>
              <a:rPr lang="en-US" altLang="zh-CN" sz="3200" b="1" smtClean="0">
                <a:solidFill>
                  <a:srgbClr val="FF0000"/>
                </a:solidFill>
                <a:latin typeface="Times New Roman" panose="02020603050405020304" pitchFamily="18" charset="0"/>
              </a:rPr>
              <a:t>EXT2</a:t>
            </a:r>
            <a:r>
              <a:rPr lang="zh-CN" altLang="en-US" sz="3200" b="1" smtClean="0">
                <a:latin typeface="Times New Roman" panose="02020603050405020304" pitchFamily="18" charset="0"/>
                <a:ea typeface="黑体" panose="02010609060101010101" pitchFamily="49" charset="-122"/>
              </a:rPr>
              <a:t>磁盘</a:t>
            </a:r>
            <a:r>
              <a:rPr lang="en-US" altLang="zh-CN" sz="3200" b="1" smtClean="0">
                <a:latin typeface="Times New Roman" panose="02020603050405020304" pitchFamily="18" charset="0"/>
                <a:ea typeface="黑体" panose="02010609060101010101" pitchFamily="49" charset="-122"/>
              </a:rPr>
              <a:t>inode</a:t>
            </a:r>
          </a:p>
          <a:p>
            <a:pPr algn="just" eaLnBrk="1" hangingPunct="1">
              <a:lnSpc>
                <a:spcPct val="90000"/>
              </a:lnSpc>
              <a:buClr>
                <a:schemeClr val="tx1"/>
              </a:buClr>
              <a:buFontTx/>
              <a:buNone/>
            </a:pPr>
            <a:endParaRPr lang="en-US" altLang="zh-CN" sz="2400" b="1" smtClean="0">
              <a:latin typeface="Times New Roman" panose="02020603050405020304" pitchFamily="18" charset="0"/>
              <a:ea typeface="楷体_GB2312" pitchFamily="49" charset="-122"/>
            </a:endParaRP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struct </a:t>
            </a:r>
            <a:r>
              <a:rPr lang="en-US" altLang="zh-CN" sz="2400" b="1" smtClean="0">
                <a:solidFill>
                  <a:srgbClr val="FF0000"/>
                </a:solidFill>
                <a:latin typeface="Times New Roman" panose="02020603050405020304" pitchFamily="18" charset="0"/>
                <a:ea typeface="楷体_GB2312" pitchFamily="49" charset="-122"/>
              </a:rPr>
              <a:t>ext2_inode</a:t>
            </a:r>
            <a:r>
              <a:rPr lang="en-US" altLang="zh-CN" sz="2400" b="1" smtClean="0">
                <a:latin typeface="Times New Roman" panose="02020603050405020304" pitchFamily="18" charset="0"/>
                <a:ea typeface="楷体_GB2312" pitchFamily="49" charset="-122"/>
              </a:rPr>
              <a:t> {</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__u16  i_mode;		</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__u16  i_uid;	/* </a:t>
            </a:r>
            <a:r>
              <a:rPr lang="zh-CN" altLang="en-US" sz="2400" b="1" smtClean="0">
                <a:latin typeface="Times New Roman" panose="02020603050405020304" pitchFamily="18" charset="0"/>
                <a:ea typeface="楷体_GB2312" pitchFamily="49" charset="-122"/>
              </a:rPr>
              <a:t>拥有者的用户</a:t>
            </a:r>
            <a:r>
              <a:rPr lang="en-US" altLang="zh-CN" sz="2400" b="1" smtClean="0">
                <a:latin typeface="Times New Roman" panose="02020603050405020304" pitchFamily="18" charset="0"/>
                <a:ea typeface="楷体_GB2312" pitchFamily="49" charset="-122"/>
              </a:rPr>
              <a:t>ID */</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__u32  i_size;	/* </a:t>
            </a:r>
            <a:r>
              <a:rPr lang="zh-CN" altLang="en-US" sz="2400" b="1" smtClean="0">
                <a:latin typeface="Times New Roman" panose="02020603050405020304" pitchFamily="18" charset="0"/>
                <a:ea typeface="楷体_GB2312" pitchFamily="49" charset="-122"/>
              </a:rPr>
              <a:t>文件大小 *</a:t>
            </a:r>
            <a:r>
              <a:rPr lang="en-US" altLang="zh-CN" sz="2400" b="1" smtClean="0">
                <a:latin typeface="Times New Roman" panose="02020603050405020304" pitchFamily="18" charset="0"/>
                <a:ea typeface="楷体_GB2312" pitchFamily="49" charset="-122"/>
              </a:rPr>
              <a:t>/</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__u32  i_atime;	/* </a:t>
            </a:r>
            <a:r>
              <a:rPr lang="zh-CN" altLang="en-US" sz="2400" b="1" smtClean="0">
                <a:latin typeface="Times New Roman" panose="02020603050405020304" pitchFamily="18" charset="0"/>
                <a:ea typeface="楷体_GB2312" pitchFamily="49" charset="-122"/>
              </a:rPr>
              <a:t>最近一次访问时间 *</a:t>
            </a:r>
            <a:r>
              <a:rPr lang="en-US" altLang="zh-CN" sz="2400" b="1" smtClean="0">
                <a:latin typeface="Times New Roman" panose="02020603050405020304" pitchFamily="18" charset="0"/>
                <a:ea typeface="楷体_GB2312" pitchFamily="49" charset="-122"/>
              </a:rPr>
              <a:t>/</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__u32  i_ctime;	/* </a:t>
            </a:r>
            <a:r>
              <a:rPr lang="zh-CN" altLang="en-US" sz="2400" b="1" smtClean="0">
                <a:latin typeface="Times New Roman" panose="02020603050405020304" pitchFamily="18" charset="0"/>
                <a:ea typeface="楷体_GB2312" pitchFamily="49" charset="-122"/>
              </a:rPr>
              <a:t>创建时间 *</a:t>
            </a:r>
            <a:r>
              <a:rPr lang="en-US" altLang="zh-CN" sz="2400" b="1" smtClean="0">
                <a:latin typeface="Times New Roman" panose="02020603050405020304" pitchFamily="18" charset="0"/>
                <a:ea typeface="楷体_GB2312" pitchFamily="49" charset="-122"/>
              </a:rPr>
              <a:t>/</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__u32  i_mtime;	/* </a:t>
            </a:r>
            <a:r>
              <a:rPr lang="zh-CN" altLang="en-US" sz="2400" b="1" smtClean="0">
                <a:latin typeface="Times New Roman" panose="02020603050405020304" pitchFamily="18" charset="0"/>
                <a:ea typeface="楷体_GB2312" pitchFamily="49" charset="-122"/>
              </a:rPr>
              <a:t>最近一次修改时间 *</a:t>
            </a:r>
            <a:r>
              <a:rPr lang="en-US" altLang="zh-CN" sz="2400" b="1" smtClean="0">
                <a:latin typeface="Times New Roman" panose="02020603050405020304" pitchFamily="18" charset="0"/>
                <a:ea typeface="楷体_GB2312" pitchFamily="49" charset="-122"/>
              </a:rPr>
              <a:t>/</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__u16  i_gid;	/* </a:t>
            </a:r>
            <a:r>
              <a:rPr lang="zh-CN" altLang="en-US" sz="2400" b="1" smtClean="0">
                <a:latin typeface="Times New Roman" panose="02020603050405020304" pitchFamily="18" charset="0"/>
                <a:ea typeface="楷体_GB2312" pitchFamily="49" charset="-122"/>
              </a:rPr>
              <a:t>文件的组</a:t>
            </a:r>
            <a:r>
              <a:rPr lang="en-US" altLang="zh-CN" sz="2400" b="1" smtClean="0">
                <a:latin typeface="Times New Roman" panose="02020603050405020304" pitchFamily="18" charset="0"/>
                <a:ea typeface="楷体_GB2312" pitchFamily="49" charset="-122"/>
              </a:rPr>
              <a:t>ID */</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__u32  i_blocks;/* </a:t>
            </a:r>
            <a:r>
              <a:rPr lang="zh-CN" altLang="en-US" sz="2400" b="1" smtClean="0">
                <a:latin typeface="Times New Roman" panose="02020603050405020304" pitchFamily="18" charset="0"/>
                <a:ea typeface="楷体_GB2312" pitchFamily="49" charset="-122"/>
              </a:rPr>
              <a:t>分配给该文件的磁盘块的数目 *</a:t>
            </a:r>
            <a:r>
              <a:rPr lang="en-US" altLang="zh-CN" sz="2400" b="1" smtClean="0">
                <a:latin typeface="Times New Roman" panose="02020603050405020304" pitchFamily="18" charset="0"/>
                <a:ea typeface="楷体_GB2312" pitchFamily="49" charset="-122"/>
              </a:rPr>
              <a:t>/</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__u32 </a:t>
            </a:r>
            <a:r>
              <a:rPr lang="en-US" altLang="zh-CN" sz="2400" b="1" smtClean="0">
                <a:solidFill>
                  <a:srgbClr val="FF0000"/>
                </a:solidFill>
                <a:latin typeface="Times New Roman" panose="02020603050405020304" pitchFamily="18" charset="0"/>
                <a:ea typeface="楷体_GB2312" pitchFamily="49" charset="-122"/>
              </a:rPr>
              <a:t>i_block[</a:t>
            </a:r>
            <a:r>
              <a:rPr lang="en-US" altLang="zh-CN" sz="2400" b="1" smtClean="0">
                <a:latin typeface="Times New Roman" panose="02020603050405020304" pitchFamily="18" charset="0"/>
                <a:ea typeface="楷体_GB2312" pitchFamily="49" charset="-122"/>
              </a:rPr>
              <a:t>EXT2_N_BLOCKS];/*</a:t>
            </a:r>
            <a:r>
              <a:rPr lang="zh-CN" altLang="en-US" sz="2400" b="1" smtClean="0">
                <a:latin typeface="Times New Roman" panose="02020603050405020304" pitchFamily="18" charset="0"/>
                <a:ea typeface="楷体_GB2312" pitchFamily="49" charset="-122"/>
              </a:rPr>
              <a:t>指向磁盘块的指针 *</a:t>
            </a:r>
            <a:r>
              <a:rPr lang="en-US" altLang="zh-CN" sz="2400" b="1" smtClean="0">
                <a:latin typeface="Times New Roman" panose="02020603050405020304" pitchFamily="18" charset="0"/>
                <a:ea typeface="楷体_GB2312" pitchFamily="49" charset="-122"/>
              </a:rPr>
              <a:t>/</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	......		</a:t>
            </a:r>
          </a:p>
          <a:p>
            <a:pPr algn="just" eaLnBrk="1" hangingPunct="1">
              <a:lnSpc>
                <a:spcPct val="90000"/>
              </a:lnSpc>
              <a:buClr>
                <a:schemeClr val="tx1"/>
              </a:buClr>
              <a:buFontTx/>
              <a:buNone/>
            </a:pPr>
            <a:r>
              <a:rPr lang="en-US" altLang="zh-CN" sz="2400" b="1" smtClean="0">
                <a:latin typeface="Times New Roman" panose="02020603050405020304" pitchFamily="18" charset="0"/>
                <a:ea typeface="楷体_GB2312" pitchFamily="49" charset="-122"/>
              </a:rPr>
              <a:t>};</a:t>
            </a:r>
          </a:p>
          <a:p>
            <a:pPr algn="just" eaLnBrk="1" hangingPunct="1">
              <a:lnSpc>
                <a:spcPct val="90000"/>
              </a:lnSpc>
              <a:buClr>
                <a:schemeClr val="tx1"/>
              </a:buClr>
              <a:buFontTx/>
              <a:buNone/>
            </a:pPr>
            <a:r>
              <a:rPr lang="en-US" altLang="zh-CN" sz="3200" b="1" smtClean="0">
                <a:latin typeface="Times New Roman" panose="02020603050405020304" pitchFamily="18" charset="0"/>
                <a:ea typeface="楷体_GB2312" pitchFamily="49" charset="-122"/>
              </a:rPr>
              <a:t>inode</a:t>
            </a:r>
            <a:r>
              <a:rPr lang="zh-CN" altLang="en-US" sz="3200" b="1" smtClean="0">
                <a:latin typeface="Times New Roman" panose="02020603050405020304" pitchFamily="18" charset="0"/>
                <a:ea typeface="楷体_GB2312" pitchFamily="49" charset="-122"/>
              </a:rPr>
              <a:t>在</a:t>
            </a:r>
            <a:r>
              <a:rPr lang="en-US" altLang="zh-CN" sz="3200" b="1" smtClean="0">
                <a:latin typeface="Times New Roman" panose="02020603050405020304" pitchFamily="18" charset="0"/>
                <a:ea typeface="楷体_GB2312" pitchFamily="49" charset="-122"/>
              </a:rPr>
              <a:t>inode</a:t>
            </a:r>
            <a:r>
              <a:rPr lang="zh-CN" altLang="en-US" sz="3200" b="1" smtClean="0">
                <a:latin typeface="Times New Roman" panose="02020603050405020304" pitchFamily="18" charset="0"/>
                <a:ea typeface="楷体_GB2312" pitchFamily="49" charset="-122"/>
              </a:rPr>
              <a:t>表中依次存放。</a:t>
            </a:r>
            <a:r>
              <a:rPr lang="zh-CN" altLang="en-US" smtClean="0">
                <a:latin typeface="Times New Roman" panose="02020603050405020304" pitchFamily="18" charset="0"/>
                <a:ea typeface="楷体_GB2312" pitchFamily="49" charset="-122"/>
              </a:rPr>
              <a:t> </a:t>
            </a:r>
          </a:p>
        </p:txBody>
      </p:sp>
    </p:spTree>
    <p:extLst>
      <p:ext uri="{BB962C8B-B14F-4D97-AF65-F5344CB8AC3E}">
        <p14:creationId xmlns:p14="http://schemas.microsoft.com/office/powerpoint/2010/main" val="3252542144"/>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idx="1"/>
          </p:nvPr>
        </p:nvSpPr>
        <p:spPr>
          <a:xfrm>
            <a:off x="457200" y="685800"/>
            <a:ext cx="7772400" cy="5486400"/>
          </a:xfrm>
        </p:spPr>
        <p:txBody>
          <a:bodyPr/>
          <a:lstStyle/>
          <a:p>
            <a:pPr algn="just" eaLnBrk="1" hangingPunct="1"/>
            <a:r>
              <a:rPr lang="zh-CN" altLang="en-US" smtClean="0">
                <a:solidFill>
                  <a:srgbClr val="FF0000"/>
                </a:solidFill>
              </a:rPr>
              <a:t>内存索引节点</a:t>
            </a:r>
            <a:r>
              <a:rPr lang="zh-CN" altLang="en-US" smtClean="0"/>
              <a:t>除了具有盘索引节点的主要信息外， 还</a:t>
            </a:r>
            <a:r>
              <a:rPr lang="zh-CN" altLang="en-US" smtClean="0">
                <a:solidFill>
                  <a:schemeClr val="accent2"/>
                </a:solidFill>
              </a:rPr>
              <a:t>增添了反映该文件动态状态的项目</a:t>
            </a:r>
            <a:r>
              <a:rPr lang="zh-CN" altLang="en-US" smtClean="0"/>
              <a:t>，   例如：</a:t>
            </a:r>
          </a:p>
          <a:p>
            <a:pPr algn="just" eaLnBrk="1" hangingPunct="1">
              <a:buFont typeface="Wingdings" panose="05000000000000000000" pitchFamily="2" charset="2"/>
              <a:buNone/>
            </a:pPr>
            <a:r>
              <a:rPr lang="zh-CN" altLang="en-US" smtClean="0"/>
              <a:t> </a:t>
            </a:r>
            <a:r>
              <a:rPr lang="en-US" altLang="zh-CN" smtClean="0"/>
              <a:t>(1) </a:t>
            </a:r>
            <a:r>
              <a:rPr lang="zh-CN" altLang="en-US" smtClean="0"/>
              <a:t>共享访问计数</a:t>
            </a:r>
            <a:r>
              <a:rPr lang="en-US" altLang="zh-CN" smtClean="0"/>
              <a:t>(i_count)</a:t>
            </a:r>
            <a:r>
              <a:rPr lang="zh-CN" altLang="en-US" smtClean="0"/>
              <a:t>， 表示在某一时刻该文件被打开以后进行访问的次数。  </a:t>
            </a:r>
          </a:p>
          <a:p>
            <a:pPr algn="just" eaLnBrk="1" hangingPunct="1">
              <a:buFont typeface="Wingdings" panose="05000000000000000000" pitchFamily="2" charset="2"/>
              <a:buNone/>
            </a:pPr>
            <a:r>
              <a:rPr lang="zh-CN" altLang="en-US" smtClean="0"/>
              <a:t> </a:t>
            </a:r>
            <a:r>
              <a:rPr lang="en-US" altLang="zh-CN" smtClean="0"/>
              <a:t>(2) </a:t>
            </a:r>
            <a:r>
              <a:rPr lang="zh-CN" altLang="en-US" smtClean="0"/>
              <a:t>队列结构。 通过几个</a:t>
            </a:r>
            <a:r>
              <a:rPr lang="en-US" altLang="zh-CN" smtClean="0"/>
              <a:t>list_head</a:t>
            </a:r>
            <a:r>
              <a:rPr lang="zh-CN" altLang="en-US" smtClean="0"/>
              <a:t>结构可以动态地链入到内存中的若干队列中，   可加快检索索引节点的访问速度。 </a:t>
            </a:r>
          </a:p>
          <a:p>
            <a:pPr eaLnBrk="1" hangingPunct="1"/>
            <a:endParaRPr lang="en-US" altLang="zh-CN" smtClean="0"/>
          </a:p>
        </p:txBody>
      </p:sp>
    </p:spTree>
    <p:extLst>
      <p:ext uri="{BB962C8B-B14F-4D97-AF65-F5344CB8AC3E}">
        <p14:creationId xmlns:p14="http://schemas.microsoft.com/office/powerpoint/2010/main" val="3233865183"/>
      </p:ext>
    </p:extLst>
  </p:cSld>
  <p:clrMapOvr>
    <a:masterClrMapping/>
  </p:clrMapOvr>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body" idx="1"/>
          </p:nvPr>
        </p:nvSpPr>
        <p:spPr>
          <a:xfrm>
            <a:off x="533400" y="609600"/>
            <a:ext cx="7772400" cy="5486400"/>
          </a:xfrm>
        </p:spPr>
        <p:txBody>
          <a:bodyPr/>
          <a:lstStyle/>
          <a:p>
            <a:pPr algn="just" eaLnBrk="1" hangingPunct="1">
              <a:buFont typeface="Wingdings" panose="05000000000000000000" pitchFamily="2" charset="2"/>
              <a:buNone/>
            </a:pPr>
            <a:r>
              <a:rPr lang="zh-CN" altLang="en-US" smtClean="0">
                <a:solidFill>
                  <a:srgbClr val="FF0000"/>
                </a:solidFill>
              </a:rPr>
              <a:t>磁盘索引节点</a:t>
            </a:r>
            <a:r>
              <a:rPr lang="zh-CN" altLang="en-US" smtClean="0"/>
              <a:t>包括以下一些主要内容： </a:t>
            </a:r>
          </a:p>
          <a:p>
            <a:pPr algn="just" eaLnBrk="1" hangingPunct="1">
              <a:buFont typeface="Wingdings" panose="05000000000000000000" pitchFamily="2" charset="2"/>
              <a:buNone/>
            </a:pPr>
            <a:r>
              <a:rPr lang="zh-CN" altLang="en-US" smtClean="0"/>
              <a:t>  </a:t>
            </a:r>
            <a:r>
              <a:rPr lang="en-US" altLang="zh-CN" smtClean="0"/>
              <a:t>(1) </a:t>
            </a:r>
            <a:r>
              <a:rPr lang="zh-CN" altLang="en-US" smtClean="0"/>
              <a:t>文件模式， 描述文件属性和类型。 </a:t>
            </a:r>
          </a:p>
          <a:p>
            <a:pPr algn="just" eaLnBrk="1" hangingPunct="1">
              <a:buFont typeface="Wingdings" panose="05000000000000000000" pitchFamily="2" charset="2"/>
              <a:buNone/>
            </a:pPr>
            <a:r>
              <a:rPr lang="zh-CN" altLang="en-US" smtClean="0"/>
              <a:t>  </a:t>
            </a:r>
            <a:r>
              <a:rPr lang="en-US" altLang="zh-CN" smtClean="0"/>
              <a:t>(2) </a:t>
            </a:r>
            <a:r>
              <a:rPr lang="zh-CN" altLang="en-US" smtClean="0"/>
              <a:t>文件属主信息， 包括文件主标识号和同组用户标识号。</a:t>
            </a:r>
          </a:p>
          <a:p>
            <a:pPr algn="just" eaLnBrk="1" hangingPunct="1">
              <a:buFont typeface="Wingdings" panose="05000000000000000000" pitchFamily="2" charset="2"/>
              <a:buNone/>
            </a:pPr>
            <a:r>
              <a:rPr lang="zh-CN" altLang="en-US" smtClean="0"/>
              <a:t>  </a:t>
            </a:r>
            <a:r>
              <a:rPr lang="en-US" altLang="zh-CN" smtClean="0"/>
              <a:t>(3) </a:t>
            </a:r>
            <a:r>
              <a:rPr lang="zh-CN" altLang="en-US" smtClean="0"/>
              <a:t>文件大小， 即文件的字节数。 </a:t>
            </a:r>
          </a:p>
          <a:p>
            <a:pPr algn="just" eaLnBrk="1" hangingPunct="1">
              <a:buFont typeface="Wingdings" panose="05000000000000000000" pitchFamily="2" charset="2"/>
              <a:buNone/>
            </a:pPr>
            <a:r>
              <a:rPr lang="zh-CN" altLang="en-US" smtClean="0"/>
              <a:t>  </a:t>
            </a:r>
            <a:r>
              <a:rPr lang="en-US" altLang="zh-CN" smtClean="0"/>
              <a:t>(4) </a:t>
            </a:r>
            <a:r>
              <a:rPr lang="zh-CN" altLang="en-US" smtClean="0"/>
              <a:t>时间戳， 包括索引节点建立的时间、 最近访问时间、 最后修改时间等。 </a:t>
            </a:r>
          </a:p>
          <a:p>
            <a:pPr algn="just" eaLnBrk="1" hangingPunct="1">
              <a:buFont typeface="Wingdings" panose="05000000000000000000" pitchFamily="2" charset="2"/>
              <a:buNone/>
            </a:pPr>
            <a:r>
              <a:rPr lang="zh-CN" altLang="en-US" smtClean="0"/>
              <a:t>  </a:t>
            </a:r>
            <a:r>
              <a:rPr lang="en-US" altLang="zh-CN" smtClean="0"/>
              <a:t>(5) </a:t>
            </a:r>
            <a:r>
              <a:rPr lang="zh-CN" altLang="en-US" smtClean="0"/>
              <a:t>文件链接计数。 </a:t>
            </a:r>
          </a:p>
          <a:p>
            <a:pPr eaLnBrk="1" hangingPunct="1">
              <a:buFont typeface="Wingdings" panose="05000000000000000000" pitchFamily="2" charset="2"/>
              <a:buNone/>
            </a:pPr>
            <a:r>
              <a:rPr lang="zh-CN" altLang="en-US" smtClean="0"/>
              <a:t>  </a:t>
            </a:r>
            <a:r>
              <a:rPr lang="en-US" altLang="zh-CN" smtClean="0"/>
              <a:t>(6) </a:t>
            </a:r>
            <a:r>
              <a:rPr lang="zh-CN" altLang="en-US" smtClean="0"/>
              <a:t>数据块索引表。 </a:t>
            </a:r>
          </a:p>
        </p:txBody>
      </p:sp>
    </p:spTree>
    <p:extLst>
      <p:ext uri="{BB962C8B-B14F-4D97-AF65-F5344CB8AC3E}">
        <p14:creationId xmlns:p14="http://schemas.microsoft.com/office/powerpoint/2010/main" val="2204334263"/>
      </p:ext>
    </p:extLst>
  </p:cSld>
  <p:clrMapOvr>
    <a:masterClrMapping/>
  </p:clrMapOvr>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eaLnBrk="1" hangingPunct="1"/>
            <a:r>
              <a:rPr lang="zh-CN" altLang="en-US" smtClean="0"/>
              <a:t>关于索引节点中的</a:t>
            </a:r>
            <a:r>
              <a:rPr lang="en-US" altLang="zh-CN" smtClean="0"/>
              <a:t>i_block[]</a:t>
            </a:r>
          </a:p>
        </p:txBody>
      </p:sp>
      <p:sp>
        <p:nvSpPr>
          <p:cNvPr id="156675" name="AutoShape 3"/>
          <p:cNvSpPr>
            <a:spLocks noGrp="1" noChangeAspect="1" noChangeArrowheads="1"/>
          </p:cNvSpPr>
          <p:nvPr>
            <p:ph type="body" idx="1"/>
          </p:nvPr>
        </p:nvSpPr>
        <p:spPr>
          <a:xfrm>
            <a:off x="900113" y="1341438"/>
            <a:ext cx="7772400" cy="4530725"/>
          </a:xfrm>
        </p:spPr>
        <p:txBody>
          <a:bodyPr/>
          <a:lstStyle/>
          <a:p>
            <a:pPr eaLnBrk="1" hangingPunct="1"/>
            <a:r>
              <a:rPr lang="en-US" altLang="zh-CN" smtClean="0"/>
              <a:t>ext2</a:t>
            </a:r>
            <a:r>
              <a:rPr lang="zh-CN" altLang="en-US" smtClean="0"/>
              <a:t>的索引结点中使用了组合索引方式。 </a:t>
            </a:r>
          </a:p>
          <a:p>
            <a:pPr eaLnBrk="1" hangingPunct="1"/>
            <a:endParaRPr lang="zh-CN" altLang="en-US" smtClean="0"/>
          </a:p>
          <a:p>
            <a:pPr eaLnBrk="1" hangingPunct="1"/>
            <a:endParaRPr lang="zh-CN" altLang="en-US" smtClean="0"/>
          </a:p>
          <a:p>
            <a:pPr eaLnBrk="1" hangingPunct="1"/>
            <a:endParaRPr lang="zh-CN" altLang="en-US" smtClean="0"/>
          </a:p>
          <a:p>
            <a:pPr eaLnBrk="1" hangingPunct="1"/>
            <a:endParaRPr lang="zh-CN" altLang="en-US" smtClean="0"/>
          </a:p>
          <a:p>
            <a:pPr eaLnBrk="1" hangingPunct="1"/>
            <a:endParaRPr lang="zh-CN" altLang="en-US" smtClean="0"/>
          </a:p>
          <a:p>
            <a:pPr lvl="1" eaLnBrk="1" hangingPunct="1"/>
            <a:r>
              <a:rPr lang="zh-CN" altLang="en-US" smtClean="0"/>
              <a:t>前</a:t>
            </a:r>
            <a:r>
              <a:rPr lang="en-US" altLang="zh-CN" smtClean="0"/>
              <a:t>12</a:t>
            </a:r>
            <a:r>
              <a:rPr lang="zh-CN" altLang="en-US" smtClean="0"/>
              <a:t>项用作直接索引</a:t>
            </a:r>
          </a:p>
          <a:p>
            <a:pPr lvl="1" eaLnBrk="1" hangingPunct="1"/>
            <a:r>
              <a:rPr lang="zh-CN" altLang="en-US" smtClean="0"/>
              <a:t>第</a:t>
            </a:r>
            <a:r>
              <a:rPr lang="en-US" altLang="zh-CN" smtClean="0"/>
              <a:t>13</a:t>
            </a:r>
            <a:r>
              <a:rPr lang="zh-CN" altLang="en-US" smtClean="0"/>
              <a:t>项用作一次间接索引</a:t>
            </a:r>
          </a:p>
          <a:p>
            <a:pPr lvl="1" eaLnBrk="1" hangingPunct="1"/>
            <a:r>
              <a:rPr lang="zh-CN" altLang="en-US" smtClean="0"/>
              <a:t>第</a:t>
            </a:r>
            <a:r>
              <a:rPr lang="en-US" altLang="zh-CN" smtClean="0"/>
              <a:t>14</a:t>
            </a:r>
            <a:r>
              <a:rPr lang="zh-CN" altLang="en-US" smtClean="0"/>
              <a:t>项用作二次间接索引</a:t>
            </a:r>
          </a:p>
          <a:p>
            <a:pPr lvl="1" eaLnBrk="1" hangingPunct="1"/>
            <a:r>
              <a:rPr lang="zh-CN" altLang="en-US" smtClean="0"/>
              <a:t>第</a:t>
            </a:r>
            <a:r>
              <a:rPr lang="en-US" altLang="zh-CN" smtClean="0"/>
              <a:t>15</a:t>
            </a:r>
            <a:r>
              <a:rPr lang="zh-CN" altLang="en-US" smtClean="0"/>
              <a:t>项用作三次间接索引 </a:t>
            </a:r>
          </a:p>
        </p:txBody>
      </p:sp>
      <p:pic>
        <p:nvPicPr>
          <p:cNvPr id="1566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625725"/>
            <a:ext cx="7343775"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6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916113"/>
            <a:ext cx="79930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249818"/>
      </p:ext>
    </p:extLst>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684213" y="0"/>
            <a:ext cx="7772400" cy="1143000"/>
          </a:xfrm>
        </p:spPr>
        <p:txBody>
          <a:bodyPr/>
          <a:lstStyle/>
          <a:p>
            <a:pPr eaLnBrk="1" hangingPunct="1"/>
            <a:r>
              <a:rPr lang="en-US" altLang="zh-CN" sz="3400" smtClean="0">
                <a:solidFill>
                  <a:srgbClr val="FF0000"/>
                </a:solidFill>
              </a:rPr>
              <a:t>EXT2 </a:t>
            </a:r>
            <a:r>
              <a:rPr lang="zh-CN" altLang="en-US" sz="3400" smtClean="0"/>
              <a:t>内存</a:t>
            </a:r>
            <a:r>
              <a:rPr lang="en-US" altLang="zh-CN" sz="3400" smtClean="0"/>
              <a:t>inode</a:t>
            </a:r>
          </a:p>
        </p:txBody>
      </p:sp>
      <p:sp>
        <p:nvSpPr>
          <p:cNvPr id="157699" name="Rectangle 3"/>
          <p:cNvSpPr>
            <a:spLocks noGrp="1" noChangeArrowheads="1"/>
          </p:cNvSpPr>
          <p:nvPr>
            <p:ph type="body" idx="1"/>
          </p:nvPr>
        </p:nvSpPr>
        <p:spPr>
          <a:xfrm>
            <a:off x="684213" y="1125538"/>
            <a:ext cx="7772400" cy="5475287"/>
          </a:xfrm>
        </p:spPr>
        <p:txBody>
          <a:bodyPr/>
          <a:lstStyle/>
          <a:p>
            <a:pPr eaLnBrk="1" hangingPunct="1">
              <a:lnSpc>
                <a:spcPct val="80000"/>
              </a:lnSpc>
              <a:buFont typeface="Wingdings" panose="05000000000000000000" pitchFamily="2" charset="2"/>
              <a:buNone/>
            </a:pPr>
            <a:r>
              <a:rPr lang="en-US" altLang="zh-CN" sz="2000" smtClean="0"/>
              <a:t>struct </a:t>
            </a:r>
            <a:r>
              <a:rPr lang="en-US" altLang="zh-CN" sz="2000" smtClean="0">
                <a:solidFill>
                  <a:srgbClr val="0000FF"/>
                </a:solidFill>
              </a:rPr>
              <a:t>ext2_inode_info </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a:t>
            </a:r>
            <a:r>
              <a:rPr lang="en-US" altLang="zh-CN" sz="2000" smtClean="0">
                <a:solidFill>
                  <a:srgbClr val="FF0000"/>
                </a:solidFill>
              </a:rPr>
              <a:t>i_data[15]</a:t>
            </a:r>
            <a:r>
              <a:rPr lang="en-US" altLang="zh-CN" sz="2000" smtClean="0">
                <a:solidFill>
                  <a:srgbClr val="000080"/>
                </a:solidFill>
              </a:rPr>
              <a:t>;  </a:t>
            </a:r>
            <a:r>
              <a:rPr lang="en-US" altLang="zh-CN" sz="2000" smtClean="0"/>
              <a:t> /*</a:t>
            </a:r>
            <a:r>
              <a:rPr lang="en-US" altLang="zh-CN" sz="2000" i="1" smtClean="0"/>
              <a:t> </a:t>
            </a:r>
            <a:r>
              <a:rPr lang="zh-CN" altLang="en-US" sz="2000" smtClean="0">
                <a:solidFill>
                  <a:srgbClr val="800000"/>
                </a:solidFill>
              </a:rPr>
              <a:t>数据块指针数组</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i_flags;     </a:t>
            </a:r>
            <a:r>
              <a:rPr lang="en-US" altLang="zh-CN" sz="2000" smtClean="0"/>
              <a:t> /* </a:t>
            </a:r>
            <a:r>
              <a:rPr lang="zh-CN" altLang="en-US" sz="2000" smtClean="0">
                <a:solidFill>
                  <a:srgbClr val="800000"/>
                </a:solidFill>
              </a:rPr>
              <a:t>文件标志（属性</a:t>
            </a:r>
            <a:r>
              <a:rPr lang="zh-CN" altLang="en-US" sz="2000" smtClean="0"/>
              <a:t>）*</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i_faddr;     </a:t>
            </a:r>
            <a:r>
              <a:rPr lang="en-US" altLang="zh-CN" sz="2000" smtClean="0"/>
              <a:t> /* </a:t>
            </a:r>
            <a:r>
              <a:rPr lang="en-US" altLang="zh-CN" sz="2000" smtClean="0">
                <a:solidFill>
                  <a:srgbClr val="800000"/>
                </a:solidFill>
              </a:rPr>
              <a:t>Fragment </a:t>
            </a:r>
            <a:r>
              <a:rPr lang="zh-CN" altLang="en-US" sz="2000" smtClean="0">
                <a:solidFill>
                  <a:srgbClr val="800000"/>
                </a:solidFill>
              </a:rPr>
              <a:t>（片）地址</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__u8	</a:t>
            </a:r>
            <a:r>
              <a:rPr lang="en-US" altLang="zh-CN" sz="2000" smtClean="0">
                <a:solidFill>
                  <a:srgbClr val="000080"/>
                </a:solidFill>
              </a:rPr>
              <a:t>i_frag_no;   </a:t>
            </a:r>
            <a:r>
              <a:rPr lang="en-US" altLang="zh-CN" sz="2000" smtClean="0"/>
              <a:t> /* </a:t>
            </a:r>
            <a:r>
              <a:rPr lang="en-US" altLang="zh-CN" sz="2000" smtClean="0">
                <a:solidFill>
                  <a:srgbClr val="800000"/>
                </a:solidFill>
              </a:rPr>
              <a:t>Fragment </a:t>
            </a:r>
            <a:r>
              <a:rPr lang="zh-CN" altLang="en-US" sz="2000" smtClean="0">
                <a:solidFill>
                  <a:srgbClr val="800000"/>
                </a:solidFill>
              </a:rPr>
              <a:t>（片）号</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__u8	</a:t>
            </a:r>
            <a:r>
              <a:rPr lang="en-US" altLang="zh-CN" sz="2000" smtClean="0">
                <a:solidFill>
                  <a:srgbClr val="000080"/>
                </a:solidFill>
              </a:rPr>
              <a:t>i_frag_size; </a:t>
            </a:r>
            <a:r>
              <a:rPr lang="en-US" altLang="zh-CN" sz="2000" smtClean="0"/>
              <a:t> /* </a:t>
            </a:r>
            <a:r>
              <a:rPr lang="en-US" altLang="zh-CN" sz="2000" smtClean="0">
                <a:solidFill>
                  <a:srgbClr val="800000"/>
                </a:solidFill>
              </a:rPr>
              <a:t>Fragment </a:t>
            </a:r>
            <a:r>
              <a:rPr lang="zh-CN" altLang="en-US" sz="2000" smtClean="0">
                <a:solidFill>
                  <a:srgbClr val="800000"/>
                </a:solidFill>
              </a:rPr>
              <a:t>（片）大小</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__u16</a:t>
            </a:r>
            <a:r>
              <a:rPr lang="en-US" altLang="zh-CN" sz="2000" smtClean="0">
                <a:solidFill>
                  <a:srgbClr val="000080"/>
                </a:solidFill>
              </a:rPr>
              <a:t>	i_osync;     </a:t>
            </a:r>
            <a:r>
              <a:rPr lang="en-US" altLang="zh-CN" sz="2000" smtClean="0"/>
              <a:t> /* </a:t>
            </a:r>
            <a:r>
              <a:rPr lang="zh-CN" altLang="en-US" sz="2000" smtClean="0">
                <a:solidFill>
                  <a:srgbClr val="800000"/>
                </a:solidFill>
              </a:rPr>
              <a:t>同步标志 </a:t>
            </a:r>
            <a:r>
              <a:rPr lang="zh-CN" altLang="en-US" sz="2000" smtClean="0"/>
              <a:t>*</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i_file_acl;  </a:t>
            </a:r>
            <a:r>
              <a:rPr lang="en-US" altLang="zh-CN" sz="2000" smtClean="0"/>
              <a:t> /* </a:t>
            </a:r>
            <a:r>
              <a:rPr lang="zh-CN" altLang="en-US" sz="2000" smtClean="0">
                <a:solidFill>
                  <a:srgbClr val="800000"/>
                </a:solidFill>
              </a:rPr>
              <a:t>文件访问控制链表</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i_dir_acl;   </a:t>
            </a:r>
            <a:r>
              <a:rPr lang="en-US" altLang="zh-CN" sz="2000" smtClean="0"/>
              <a:t> /* </a:t>
            </a:r>
            <a:r>
              <a:rPr lang="zh-CN" altLang="en-US" sz="2000" smtClean="0">
                <a:solidFill>
                  <a:srgbClr val="800000"/>
                </a:solidFill>
              </a:rPr>
              <a:t>目录访问控制链表</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i_dtime;     </a:t>
            </a:r>
            <a:r>
              <a:rPr lang="en-US" altLang="zh-CN" sz="2000" smtClean="0"/>
              <a:t> /* </a:t>
            </a:r>
            <a:r>
              <a:rPr lang="zh-CN" altLang="en-US" sz="2000" smtClean="0">
                <a:solidFill>
                  <a:srgbClr val="800000"/>
                </a:solidFill>
              </a:rPr>
              <a:t>文件删除时间</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i_version;   </a:t>
            </a:r>
            <a:r>
              <a:rPr lang="en-US" altLang="zh-CN" sz="2000" smtClean="0"/>
              <a:t> /* </a:t>
            </a:r>
            <a:r>
              <a:rPr lang="zh-CN" altLang="en-US" sz="2000" smtClean="0">
                <a:solidFill>
                  <a:srgbClr val="800000"/>
                </a:solidFill>
              </a:rPr>
              <a:t>文件版本 </a:t>
            </a:r>
            <a:r>
              <a:rPr lang="zh-CN" altLang="en-US" sz="2000" smtClean="0"/>
              <a:t>*</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i_block_group</a:t>
            </a:r>
            <a:r>
              <a:rPr lang="en-US" altLang="zh-CN" sz="2000" smtClean="0"/>
              <a:t>;/* </a:t>
            </a:r>
            <a:r>
              <a:rPr lang="en-US" altLang="zh-CN" sz="2000" smtClean="0">
                <a:solidFill>
                  <a:srgbClr val="800000"/>
                </a:solidFill>
              </a:rPr>
              <a:t>inode</a:t>
            </a:r>
            <a:r>
              <a:rPr lang="zh-CN" altLang="en-US" sz="2000" smtClean="0">
                <a:solidFill>
                  <a:srgbClr val="800000"/>
                </a:solidFill>
              </a:rPr>
              <a:t>所在块组号 </a:t>
            </a:r>
            <a:r>
              <a:rPr lang="zh-CN" altLang="en-US" sz="2000" smtClean="0"/>
              <a:t>*</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i_next_alloc_block</a:t>
            </a:r>
            <a:r>
              <a:rPr lang="en-US" altLang="zh-CN" sz="2000" smtClean="0"/>
              <a:t>;/* </a:t>
            </a:r>
            <a:r>
              <a:rPr lang="zh-CN" altLang="en-US" sz="2000" smtClean="0">
                <a:solidFill>
                  <a:srgbClr val="800000"/>
                </a:solidFill>
              </a:rPr>
              <a:t>下一个要分配的块</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i_next_alloc_goal;</a:t>
            </a:r>
            <a:r>
              <a:rPr lang="en-US" altLang="zh-CN" sz="2000" smtClean="0"/>
              <a:t> /*</a:t>
            </a:r>
            <a:r>
              <a:rPr lang="zh-CN" altLang="en-US" sz="2000" smtClean="0">
                <a:solidFill>
                  <a:srgbClr val="800000"/>
                </a:solidFill>
              </a:rPr>
              <a:t>下一个要分配的对象</a:t>
            </a:r>
            <a:r>
              <a:rPr lang="zh-CN" altLang="en-US" sz="2000" smtClean="0"/>
              <a:t> *／</a:t>
            </a:r>
          </a:p>
          <a:p>
            <a:pPr eaLnBrk="1" hangingPunct="1">
              <a:lnSpc>
                <a:spcPct val="80000"/>
              </a:lnSpc>
              <a:buFont typeface="Wingdings" panose="05000000000000000000" pitchFamily="2" charset="2"/>
              <a:buNone/>
            </a:pPr>
            <a:r>
              <a:rPr lang="zh-CN" altLang="en-US" sz="2000" smtClean="0"/>
              <a:t>	</a:t>
            </a:r>
            <a:r>
              <a:rPr lang="en-US" altLang="zh-CN" sz="2000" smtClean="0"/>
              <a:t>__u32</a:t>
            </a:r>
            <a:r>
              <a:rPr lang="en-US" altLang="zh-CN" sz="2000" smtClean="0">
                <a:solidFill>
                  <a:srgbClr val="000080"/>
                </a:solidFill>
              </a:rPr>
              <a:t>	i_prealloc_block;</a:t>
            </a:r>
            <a:r>
              <a:rPr lang="zh-CN" altLang="en-US" sz="2000" smtClean="0">
                <a:solidFill>
                  <a:srgbClr val="000080"/>
                </a:solidFill>
              </a:rPr>
              <a:t>　</a:t>
            </a:r>
            <a:r>
              <a:rPr lang="zh-CN" altLang="en-US" sz="2000" smtClean="0"/>
              <a:t>／* </a:t>
            </a:r>
            <a:r>
              <a:rPr lang="zh-CN" altLang="en-US" sz="2000" smtClean="0">
                <a:solidFill>
                  <a:srgbClr val="800000"/>
                </a:solidFill>
              </a:rPr>
              <a:t>预留块首地址</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__u32</a:t>
            </a:r>
            <a:r>
              <a:rPr lang="en-US" altLang="zh-CN" sz="2000" smtClean="0">
                <a:solidFill>
                  <a:srgbClr val="000080"/>
                </a:solidFill>
              </a:rPr>
              <a:t>	i_prealloc_count; </a:t>
            </a:r>
            <a:r>
              <a:rPr lang="en-US" altLang="zh-CN" sz="2000" smtClean="0"/>
              <a:t> /* </a:t>
            </a:r>
            <a:r>
              <a:rPr lang="zh-CN" altLang="en-US" sz="2000" smtClean="0">
                <a:solidFill>
                  <a:srgbClr val="800000"/>
                </a:solidFill>
              </a:rPr>
              <a:t>预留计数</a:t>
            </a:r>
            <a:r>
              <a:rPr lang="zh-CN" altLang="en-US" sz="2000" smtClean="0"/>
              <a:t> *</a:t>
            </a:r>
            <a:r>
              <a:rPr lang="en-US" altLang="zh-CN" sz="2000" smtClean="0"/>
              <a:t>/</a:t>
            </a:r>
          </a:p>
          <a:p>
            <a:pPr eaLnBrk="1" hangingPunct="1">
              <a:lnSpc>
                <a:spcPct val="80000"/>
              </a:lnSpc>
              <a:buFont typeface="Wingdings" panose="05000000000000000000" pitchFamily="2" charset="2"/>
              <a:buNone/>
            </a:pPr>
            <a:r>
              <a:rPr lang="en-US" altLang="zh-CN" sz="2000" smtClean="0"/>
              <a:t>	int	</a:t>
            </a:r>
            <a:r>
              <a:rPr lang="en-US" altLang="zh-CN" sz="2000" smtClean="0">
                <a:solidFill>
                  <a:srgbClr val="000080"/>
                </a:solidFill>
              </a:rPr>
              <a:t>i_new_inode:1;	 </a:t>
            </a:r>
            <a:r>
              <a:rPr lang="en-US" altLang="zh-CN" sz="2000" smtClean="0"/>
              <a:t>/* </a:t>
            </a:r>
            <a:r>
              <a:rPr lang="zh-CN" altLang="en-US" sz="2000" smtClean="0">
                <a:solidFill>
                  <a:srgbClr val="800000"/>
                </a:solidFill>
              </a:rPr>
              <a:t>标志，是否为新分配的</a:t>
            </a:r>
            <a:r>
              <a:rPr lang="en-US" altLang="zh-CN" sz="2000" smtClean="0">
                <a:solidFill>
                  <a:srgbClr val="800000"/>
                </a:solidFill>
              </a:rPr>
              <a:t>inode</a:t>
            </a:r>
            <a:r>
              <a:rPr lang="en-US" altLang="zh-CN" sz="2000" smtClean="0"/>
              <a:t> */</a:t>
            </a:r>
          </a:p>
          <a:p>
            <a:pPr eaLnBrk="1" hangingPunct="1">
              <a:lnSpc>
                <a:spcPct val="80000"/>
              </a:lnSpc>
              <a:buFont typeface="Wingdings" panose="05000000000000000000" pitchFamily="2" charset="2"/>
              <a:buNone/>
            </a:pPr>
            <a:r>
              <a:rPr lang="en-US" altLang="zh-CN" sz="2000" smtClean="0"/>
              <a:t>};</a:t>
            </a:r>
          </a:p>
        </p:txBody>
      </p:sp>
    </p:spTree>
    <p:extLst>
      <p:ext uri="{BB962C8B-B14F-4D97-AF65-F5344CB8AC3E}">
        <p14:creationId xmlns:p14="http://schemas.microsoft.com/office/powerpoint/2010/main" val="3927064100"/>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611188" y="0"/>
            <a:ext cx="7772400" cy="1143000"/>
          </a:xfrm>
        </p:spPr>
        <p:txBody>
          <a:bodyPr/>
          <a:lstStyle/>
          <a:p>
            <a:pPr eaLnBrk="1" hangingPunct="1"/>
            <a:r>
              <a:rPr lang="en-US" altLang="zh-CN" b="1" smtClean="0">
                <a:cs typeface="Times New Roman" panose="02020603050405020304" pitchFamily="18" charset="0"/>
              </a:rPr>
              <a:t>EXT2</a:t>
            </a:r>
            <a:r>
              <a:rPr lang="zh-CN" altLang="en-US" b="1" smtClean="0">
                <a:latin typeface="宋体" panose="02010600030101010101" pitchFamily="2" charset="-122"/>
              </a:rPr>
              <a:t>的</a:t>
            </a:r>
            <a:r>
              <a:rPr lang="zh-CN" altLang="en-US" smtClean="0">
                <a:solidFill>
                  <a:srgbClr val="FF0000"/>
                </a:solidFill>
              </a:rPr>
              <a:t>块位图</a:t>
            </a:r>
          </a:p>
        </p:txBody>
      </p:sp>
      <p:sp>
        <p:nvSpPr>
          <p:cNvPr id="158723" name="Rectangle 3"/>
          <p:cNvSpPr>
            <a:spLocks noGrp="1" noChangeArrowheads="1"/>
          </p:cNvSpPr>
          <p:nvPr>
            <p:ph type="body" idx="1"/>
          </p:nvPr>
        </p:nvSpPr>
        <p:spPr>
          <a:xfrm>
            <a:off x="685800" y="1341438"/>
            <a:ext cx="7772400" cy="5256212"/>
          </a:xfrm>
        </p:spPr>
        <p:txBody>
          <a:bodyPr/>
          <a:lstStyle/>
          <a:p>
            <a:pPr eaLnBrk="1" hangingPunct="1">
              <a:lnSpc>
                <a:spcPct val="115000"/>
              </a:lnSpc>
            </a:pPr>
            <a:r>
              <a:rPr lang="en-US" altLang="zh-CN" sz="2400" smtClean="0"/>
              <a:t>EXT2</a:t>
            </a:r>
            <a:r>
              <a:rPr lang="zh-CN" altLang="en-US" sz="2400" smtClean="0"/>
              <a:t>文件系统中</a:t>
            </a:r>
            <a:r>
              <a:rPr lang="zh-CN" altLang="en-US" sz="2400" smtClean="0">
                <a:solidFill>
                  <a:srgbClr val="800000"/>
                </a:solidFill>
              </a:rPr>
              <a:t>数据块的使用状况</a:t>
            </a:r>
            <a:r>
              <a:rPr lang="zh-CN" altLang="en-US" sz="2400" smtClean="0"/>
              <a:t>由</a:t>
            </a:r>
            <a:r>
              <a:rPr lang="zh-CN" altLang="en-US" sz="2400" smtClean="0">
                <a:solidFill>
                  <a:srgbClr val="0000FF"/>
                </a:solidFill>
              </a:rPr>
              <a:t>块位图</a:t>
            </a:r>
            <a:r>
              <a:rPr lang="zh-CN" altLang="en-US" sz="2400" smtClean="0"/>
              <a:t>来描述。</a:t>
            </a:r>
          </a:p>
          <a:p>
            <a:pPr eaLnBrk="1" hangingPunct="1">
              <a:lnSpc>
                <a:spcPct val="115000"/>
              </a:lnSpc>
            </a:pPr>
            <a:r>
              <a:rPr lang="zh-CN" altLang="en-US" sz="2400" smtClean="0"/>
              <a:t> </a:t>
            </a:r>
            <a:r>
              <a:rPr lang="zh-CN" altLang="en-US" sz="2400" smtClean="0">
                <a:solidFill>
                  <a:srgbClr val="008080"/>
                </a:solidFill>
              </a:rPr>
              <a:t>每个块组</a:t>
            </a:r>
            <a:r>
              <a:rPr lang="zh-CN" altLang="en-US" sz="2400" smtClean="0"/>
              <a:t>都有</a:t>
            </a:r>
            <a:r>
              <a:rPr lang="zh-CN" altLang="en-US" sz="2400" smtClean="0">
                <a:solidFill>
                  <a:srgbClr val="008080"/>
                </a:solidFill>
              </a:rPr>
              <a:t>一个块位图</a:t>
            </a:r>
            <a:r>
              <a:rPr lang="zh-CN" altLang="en-US" sz="2400" smtClean="0"/>
              <a:t>，位于组描述符表之后，用来描述</a:t>
            </a:r>
            <a:r>
              <a:rPr lang="zh-CN" altLang="en-US" sz="2400" smtClean="0">
                <a:solidFill>
                  <a:srgbClr val="FF0000"/>
                </a:solidFill>
              </a:rPr>
              <a:t>本块组中</a:t>
            </a:r>
            <a:r>
              <a:rPr lang="zh-CN" altLang="en-US" sz="2400" smtClean="0"/>
              <a:t>数据块的使用状况。</a:t>
            </a:r>
          </a:p>
          <a:p>
            <a:pPr eaLnBrk="1" hangingPunct="1">
              <a:lnSpc>
                <a:spcPct val="115000"/>
              </a:lnSpc>
            </a:pPr>
            <a:r>
              <a:rPr lang="zh-CN" altLang="en-US" sz="2400" smtClean="0"/>
              <a:t>块位图的每</a:t>
            </a:r>
            <a:r>
              <a:rPr lang="zh-CN" altLang="en-US" sz="2400" smtClean="0">
                <a:solidFill>
                  <a:srgbClr val="000080"/>
                </a:solidFill>
              </a:rPr>
              <a:t>一位</a:t>
            </a:r>
            <a:r>
              <a:rPr lang="en-US" altLang="zh-CN" sz="2400" smtClean="0"/>
              <a:t>(bit)</a:t>
            </a:r>
            <a:r>
              <a:rPr lang="zh-CN" altLang="en-US" sz="2400" smtClean="0"/>
              <a:t>表示</a:t>
            </a:r>
            <a:r>
              <a:rPr lang="zh-CN" altLang="en-US" sz="2400" smtClean="0">
                <a:solidFill>
                  <a:srgbClr val="000080"/>
                </a:solidFill>
              </a:rPr>
              <a:t>一个数据块</a:t>
            </a:r>
            <a:r>
              <a:rPr lang="zh-CN" altLang="en-US" sz="2400" smtClean="0"/>
              <a:t>的使用情况，为</a:t>
            </a:r>
            <a:r>
              <a:rPr lang="en-US" altLang="zh-CN" sz="2400" smtClean="0">
                <a:solidFill>
                  <a:srgbClr val="FF0000"/>
                </a:solidFill>
              </a:rPr>
              <a:t>1</a:t>
            </a:r>
            <a:r>
              <a:rPr lang="zh-CN" altLang="en-US" sz="2400" smtClean="0"/>
              <a:t>表示对应的数据块已</a:t>
            </a:r>
            <a:r>
              <a:rPr lang="zh-CN" altLang="en-US" sz="2400" smtClean="0">
                <a:solidFill>
                  <a:srgbClr val="FF0000"/>
                </a:solidFill>
              </a:rPr>
              <a:t>占用</a:t>
            </a:r>
            <a:r>
              <a:rPr lang="zh-CN" altLang="en-US" sz="2400" smtClean="0"/>
              <a:t>，为</a:t>
            </a:r>
            <a:r>
              <a:rPr lang="en-US" altLang="zh-CN" sz="2400" smtClean="0">
                <a:solidFill>
                  <a:srgbClr val="FF0000"/>
                </a:solidFill>
              </a:rPr>
              <a:t>0</a:t>
            </a:r>
            <a:r>
              <a:rPr lang="zh-CN" altLang="en-US" sz="2400" smtClean="0"/>
              <a:t>表示数据块</a:t>
            </a:r>
            <a:r>
              <a:rPr lang="zh-CN" altLang="en-US" sz="2400" smtClean="0">
                <a:solidFill>
                  <a:srgbClr val="FF0000"/>
                </a:solidFill>
              </a:rPr>
              <a:t>空闲</a:t>
            </a:r>
            <a:r>
              <a:rPr lang="zh-CN" altLang="en-US" sz="2400" smtClean="0"/>
              <a:t>。</a:t>
            </a:r>
          </a:p>
          <a:p>
            <a:pPr eaLnBrk="1" hangingPunct="1">
              <a:lnSpc>
                <a:spcPct val="115000"/>
              </a:lnSpc>
            </a:pPr>
            <a:r>
              <a:rPr lang="zh-CN" altLang="en-US" sz="2400" smtClean="0"/>
              <a:t>各位</a:t>
            </a:r>
            <a:r>
              <a:rPr lang="en-US" altLang="zh-CN" sz="2400" smtClean="0"/>
              <a:t>(bit)</a:t>
            </a:r>
            <a:r>
              <a:rPr lang="zh-CN" altLang="en-US" sz="2400" smtClean="0"/>
              <a:t>的顺序与块组中数据块的顺序一致。</a:t>
            </a:r>
          </a:p>
          <a:p>
            <a:pPr eaLnBrk="1" hangingPunct="1">
              <a:lnSpc>
                <a:spcPct val="115000"/>
              </a:lnSpc>
            </a:pPr>
            <a:r>
              <a:rPr lang="en-US" altLang="zh-CN" sz="2400" smtClean="0"/>
              <a:t>EXT2</a:t>
            </a:r>
            <a:r>
              <a:rPr lang="zh-CN" altLang="en-US" sz="2400" smtClean="0">
                <a:solidFill>
                  <a:srgbClr val="008000"/>
                </a:solidFill>
              </a:rPr>
              <a:t>块位图</a:t>
            </a:r>
            <a:r>
              <a:rPr lang="zh-CN" altLang="en-US" sz="2400" smtClean="0"/>
              <a:t>装入一个</a:t>
            </a:r>
            <a:r>
              <a:rPr lang="zh-CN" altLang="en-US" sz="2400" smtClean="0">
                <a:solidFill>
                  <a:srgbClr val="800000"/>
                </a:solidFill>
              </a:rPr>
              <a:t>高速缓存</a:t>
            </a:r>
            <a:r>
              <a:rPr lang="zh-CN" altLang="en-US" sz="2400" smtClean="0"/>
              <a:t>中，系统采用类似</a:t>
            </a:r>
            <a:r>
              <a:rPr lang="en-US" altLang="zh-CN" sz="2400" smtClean="0"/>
              <a:t>LRU</a:t>
            </a:r>
            <a:r>
              <a:rPr lang="zh-CN" altLang="en-US" sz="2400" smtClean="0"/>
              <a:t>的算法管理高速缓存。</a:t>
            </a:r>
          </a:p>
        </p:txBody>
      </p:sp>
    </p:spTree>
    <p:extLst>
      <p:ext uri="{BB962C8B-B14F-4D97-AF65-F5344CB8AC3E}">
        <p14:creationId xmlns:p14="http://schemas.microsoft.com/office/powerpoint/2010/main" val="1748757793"/>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pPr eaLnBrk="1" hangingPunct="1"/>
            <a:r>
              <a:rPr lang="en-US" altLang="zh-CN" sz="3800" smtClean="0"/>
              <a:t>EXT2</a:t>
            </a:r>
            <a:r>
              <a:rPr lang="zh-CN" altLang="en-US" sz="3800" smtClean="0"/>
              <a:t>中的目录项和文件类型</a:t>
            </a:r>
            <a:r>
              <a:rPr lang="zh-CN" altLang="en-US" smtClean="0"/>
              <a:t> </a:t>
            </a:r>
          </a:p>
        </p:txBody>
      </p:sp>
      <p:sp>
        <p:nvSpPr>
          <p:cNvPr id="159747" name="Rectangle 3"/>
          <p:cNvSpPr>
            <a:spLocks noGrp="1" noChangeArrowheads="1"/>
          </p:cNvSpPr>
          <p:nvPr>
            <p:ph type="body" idx="1"/>
          </p:nvPr>
        </p:nvSpPr>
        <p:spPr/>
        <p:txBody>
          <a:bodyPr/>
          <a:lstStyle/>
          <a:p>
            <a:pPr eaLnBrk="1" hangingPunct="1"/>
            <a:r>
              <a:rPr lang="zh-CN" altLang="en-US" smtClean="0"/>
              <a:t>在</a:t>
            </a:r>
            <a:r>
              <a:rPr lang="en-US" altLang="zh-CN" smtClean="0"/>
              <a:t>EXT2</a:t>
            </a:r>
            <a:r>
              <a:rPr lang="zh-CN" altLang="en-US" smtClean="0"/>
              <a:t>中，目录是一种特殊的文件，这种文件的数据块中存放了该目录下的所有目录项 </a:t>
            </a:r>
          </a:p>
        </p:txBody>
      </p:sp>
      <p:pic>
        <p:nvPicPr>
          <p:cNvPr id="1597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3213100"/>
            <a:ext cx="6172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743819"/>
      </p:ext>
    </p:extLst>
  </p:cSld>
  <p:clrMapOvr>
    <a:masterClrMapping/>
  </p:clrMapOvr>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eaLnBrk="1" hangingPunct="1"/>
            <a:endParaRPr lang="zh-CN" altLang="zh-CN" smtClean="0"/>
          </a:p>
        </p:txBody>
      </p:sp>
      <p:sp>
        <p:nvSpPr>
          <p:cNvPr id="160771" name="Rectangle 3"/>
          <p:cNvSpPr>
            <a:spLocks noGrp="1" noChangeArrowheads="1"/>
          </p:cNvSpPr>
          <p:nvPr>
            <p:ph type="body" idx="1"/>
          </p:nvPr>
        </p:nvSpPr>
        <p:spPr/>
        <p:txBody>
          <a:bodyPr/>
          <a:lstStyle/>
          <a:p>
            <a:pPr eaLnBrk="1" hangingPunct="1"/>
            <a:r>
              <a:rPr lang="zh-CN" altLang="en-US" smtClean="0"/>
              <a:t>新版的目录项结构</a:t>
            </a:r>
          </a:p>
        </p:txBody>
      </p:sp>
      <p:pic>
        <p:nvPicPr>
          <p:cNvPr id="1607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492375"/>
            <a:ext cx="714375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3" name="Rectangle 5"/>
          <p:cNvSpPr>
            <a:spLocks noChangeArrowheads="1"/>
          </p:cNvSpPr>
          <p:nvPr/>
        </p:nvSpPr>
        <p:spPr bwMode="auto">
          <a:xfrm>
            <a:off x="2051050" y="4652963"/>
            <a:ext cx="2305050" cy="2159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707385712"/>
      </p:ext>
    </p:extLst>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300" y="3473450"/>
            <a:ext cx="5219700"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5" name="Rectangle 3"/>
          <p:cNvSpPr>
            <a:spLocks noGrp="1" noChangeArrowheads="1"/>
          </p:cNvSpPr>
          <p:nvPr>
            <p:ph type="title"/>
          </p:nvPr>
        </p:nvSpPr>
        <p:spPr/>
        <p:txBody>
          <a:bodyPr/>
          <a:lstStyle/>
          <a:p>
            <a:pPr eaLnBrk="1" hangingPunct="1"/>
            <a:r>
              <a:rPr lang="en-US" altLang="zh-CN" smtClean="0"/>
              <a:t>EXT2</a:t>
            </a:r>
            <a:r>
              <a:rPr lang="zh-CN" altLang="en-US" smtClean="0"/>
              <a:t>支持的文件类型 </a:t>
            </a:r>
          </a:p>
        </p:txBody>
      </p:sp>
      <p:sp>
        <p:nvSpPr>
          <p:cNvPr id="161796" name="Rectangle 4"/>
          <p:cNvSpPr>
            <a:spLocks noGrp="1" noChangeArrowheads="1"/>
          </p:cNvSpPr>
          <p:nvPr>
            <p:ph type="body" idx="1"/>
          </p:nvPr>
        </p:nvSpPr>
        <p:spPr>
          <a:xfrm>
            <a:off x="539750" y="1268413"/>
            <a:ext cx="7772400" cy="4530725"/>
          </a:xfrm>
        </p:spPr>
        <p:txBody>
          <a:bodyPr/>
          <a:lstStyle/>
          <a:p>
            <a:pPr eaLnBrk="1" hangingPunct="1"/>
            <a:r>
              <a:rPr lang="en-US" altLang="zh-CN" smtClean="0"/>
              <a:t>EXT2</a:t>
            </a:r>
            <a:r>
              <a:rPr lang="zh-CN" altLang="en-US" smtClean="0"/>
              <a:t>在目录项中存放了文件的类型信息。文件类型可以是</a:t>
            </a:r>
            <a:r>
              <a:rPr lang="en-US" altLang="zh-CN" smtClean="0"/>
              <a:t>0</a:t>
            </a:r>
            <a:r>
              <a:rPr lang="zh-CN" altLang="en-US" smtClean="0"/>
              <a:t>～</a:t>
            </a:r>
            <a:r>
              <a:rPr lang="en-US" altLang="zh-CN" smtClean="0"/>
              <a:t>7</a:t>
            </a:r>
            <a:r>
              <a:rPr lang="zh-CN" altLang="en-US" smtClean="0"/>
              <a:t>中的任意一个整数。它们分别代表如下含义：</a:t>
            </a:r>
          </a:p>
          <a:p>
            <a:pPr lvl="1" eaLnBrk="1" hangingPunct="1"/>
            <a:r>
              <a:rPr lang="en-US" altLang="zh-CN" smtClean="0"/>
              <a:t>0</a:t>
            </a:r>
            <a:r>
              <a:rPr lang="zh-CN" altLang="en-US" smtClean="0"/>
              <a:t>：文件类型未知；</a:t>
            </a:r>
          </a:p>
          <a:p>
            <a:pPr lvl="1" eaLnBrk="1" hangingPunct="1"/>
            <a:r>
              <a:rPr lang="en-US" altLang="zh-CN" smtClean="0"/>
              <a:t>1</a:t>
            </a:r>
            <a:r>
              <a:rPr lang="zh-CN" altLang="en-US" smtClean="0"/>
              <a:t>：普通文件类型；</a:t>
            </a:r>
          </a:p>
          <a:p>
            <a:pPr lvl="1" eaLnBrk="1" hangingPunct="1"/>
            <a:r>
              <a:rPr lang="en-US" altLang="zh-CN" smtClean="0"/>
              <a:t>2</a:t>
            </a:r>
            <a:r>
              <a:rPr lang="zh-CN" altLang="en-US" smtClean="0"/>
              <a:t>：目录；</a:t>
            </a:r>
          </a:p>
          <a:p>
            <a:pPr lvl="1" eaLnBrk="1" hangingPunct="1"/>
            <a:r>
              <a:rPr lang="en-US" altLang="zh-CN" smtClean="0"/>
              <a:t>3</a:t>
            </a:r>
            <a:r>
              <a:rPr lang="zh-CN" altLang="en-US" smtClean="0"/>
              <a:t>：字符设备；</a:t>
            </a:r>
          </a:p>
          <a:p>
            <a:pPr lvl="1" eaLnBrk="1" hangingPunct="1"/>
            <a:r>
              <a:rPr lang="en-US" altLang="zh-CN" smtClean="0"/>
              <a:t>4</a:t>
            </a:r>
            <a:r>
              <a:rPr lang="zh-CN" altLang="en-US" smtClean="0"/>
              <a:t>：块设备；</a:t>
            </a:r>
          </a:p>
          <a:p>
            <a:pPr lvl="1" eaLnBrk="1" hangingPunct="1"/>
            <a:r>
              <a:rPr lang="en-US" altLang="zh-CN" smtClean="0"/>
              <a:t>5</a:t>
            </a:r>
            <a:r>
              <a:rPr lang="zh-CN" altLang="en-US" smtClean="0"/>
              <a:t>：有名管道</a:t>
            </a:r>
            <a:r>
              <a:rPr lang="en-US" altLang="zh-CN" smtClean="0"/>
              <a:t>FIFO</a:t>
            </a:r>
            <a:r>
              <a:rPr lang="zh-CN" altLang="en-US" smtClean="0"/>
              <a:t>；</a:t>
            </a:r>
          </a:p>
          <a:p>
            <a:pPr lvl="1" eaLnBrk="1" hangingPunct="1"/>
            <a:r>
              <a:rPr lang="en-US" altLang="zh-CN" smtClean="0"/>
              <a:t>6</a:t>
            </a:r>
            <a:r>
              <a:rPr lang="zh-CN" altLang="en-US" smtClean="0"/>
              <a:t>：套接字；</a:t>
            </a:r>
          </a:p>
          <a:p>
            <a:pPr lvl="1" eaLnBrk="1" hangingPunct="1"/>
            <a:r>
              <a:rPr lang="en-US" altLang="zh-CN" smtClean="0"/>
              <a:t>7</a:t>
            </a:r>
            <a:r>
              <a:rPr lang="zh-CN" altLang="en-US" smtClean="0"/>
              <a:t>：符号链接。</a:t>
            </a:r>
          </a:p>
        </p:txBody>
      </p:sp>
    </p:spTree>
    <p:extLst>
      <p:ext uri="{BB962C8B-B14F-4D97-AF65-F5344CB8AC3E}">
        <p14:creationId xmlns:p14="http://schemas.microsoft.com/office/powerpoint/2010/main" val="922954744"/>
      </p:ext>
    </p:extLst>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eaLnBrk="1" hangingPunct="1"/>
            <a:r>
              <a:rPr lang="zh-CN" altLang="en-US" smtClean="0"/>
              <a:t>注意：</a:t>
            </a:r>
          </a:p>
        </p:txBody>
      </p:sp>
      <p:sp>
        <p:nvSpPr>
          <p:cNvPr id="162819" name="Rectangle 3"/>
          <p:cNvSpPr>
            <a:spLocks noGrp="1" noChangeArrowheads="1"/>
          </p:cNvSpPr>
          <p:nvPr>
            <p:ph type="body" idx="1"/>
          </p:nvPr>
        </p:nvSpPr>
        <p:spPr/>
        <p:txBody>
          <a:bodyPr/>
          <a:lstStyle/>
          <a:p>
            <a:pPr eaLnBrk="1" hangingPunct="1"/>
            <a:endParaRPr lang="zh-CN" altLang="zh-CN" smtClean="0"/>
          </a:p>
        </p:txBody>
      </p:sp>
      <p:pic>
        <p:nvPicPr>
          <p:cNvPr id="1628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1838325"/>
            <a:ext cx="836295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793674"/>
      </p:ext>
    </p:extLst>
  </p:cSld>
  <p:clrMapOvr>
    <a:masterClrMapping/>
  </p:clrMapOvr>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eaLnBrk="1" hangingPunct="1">
              <a:buFont typeface="Wingdings" panose="05000000000000000000" pitchFamily="2" charset="2"/>
              <a:buNone/>
            </a:pPr>
            <a:r>
              <a:rPr lang="en-US" altLang="zh-CN" smtClean="0"/>
              <a:t>Ext2</a:t>
            </a:r>
            <a:r>
              <a:rPr lang="zh-CN" altLang="en-US" smtClean="0"/>
              <a:t>提供的各种对象方法</a:t>
            </a:r>
          </a:p>
        </p:txBody>
      </p:sp>
      <p:sp>
        <p:nvSpPr>
          <p:cNvPr id="163843" name="Rectangle 3"/>
          <p:cNvSpPr>
            <a:spLocks noGrp="1" noChangeArrowheads="1"/>
          </p:cNvSpPr>
          <p:nvPr>
            <p:ph type="body" idx="1"/>
          </p:nvPr>
        </p:nvSpPr>
        <p:spPr/>
        <p:txBody>
          <a:bodyPr/>
          <a:lstStyle/>
          <a:p>
            <a:pPr eaLnBrk="1" hangingPunct="1"/>
            <a:r>
              <a:rPr lang="zh-CN" altLang="en-US" smtClean="0"/>
              <a:t>超级块对象方法</a:t>
            </a:r>
          </a:p>
        </p:txBody>
      </p:sp>
      <p:pic>
        <p:nvPicPr>
          <p:cNvPr id="163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2708275"/>
            <a:ext cx="5153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1203456"/>
      </p:ext>
    </p:extLst>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eaLnBrk="1" hangingPunct="1"/>
            <a:endParaRPr lang="zh-CN" altLang="zh-CN" smtClean="0"/>
          </a:p>
        </p:txBody>
      </p:sp>
      <p:sp>
        <p:nvSpPr>
          <p:cNvPr id="164867" name="Rectangle 3"/>
          <p:cNvSpPr>
            <a:spLocks noGrp="1" noChangeArrowheads="1"/>
          </p:cNvSpPr>
          <p:nvPr>
            <p:ph type="body" idx="1"/>
          </p:nvPr>
        </p:nvSpPr>
        <p:spPr>
          <a:xfrm>
            <a:off x="900113" y="1196975"/>
            <a:ext cx="7772400" cy="4530725"/>
          </a:xfrm>
        </p:spPr>
        <p:txBody>
          <a:bodyPr/>
          <a:lstStyle/>
          <a:p>
            <a:pPr eaLnBrk="1" hangingPunct="1"/>
            <a:r>
              <a:rPr lang="zh-CN" altLang="en-US" smtClean="0"/>
              <a:t>索引节点对象方法</a:t>
            </a:r>
          </a:p>
          <a:p>
            <a:pPr eaLnBrk="1" hangingPunct="1"/>
            <a:endParaRPr lang="en-US" altLang="zh-CN" smtClean="0"/>
          </a:p>
        </p:txBody>
      </p:sp>
      <p:pic>
        <p:nvPicPr>
          <p:cNvPr id="1648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916113"/>
            <a:ext cx="65532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852738"/>
            <a:ext cx="6353175"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7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5373688"/>
            <a:ext cx="73342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5438115"/>
      </p:ext>
    </p:extLst>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pPr eaLnBrk="1" hangingPunct="1"/>
            <a:endParaRPr lang="zh-CN" altLang="zh-CN" smtClean="0"/>
          </a:p>
        </p:txBody>
      </p:sp>
      <p:sp>
        <p:nvSpPr>
          <p:cNvPr id="165891" name="Rectangle 3"/>
          <p:cNvSpPr>
            <a:spLocks noGrp="1" noChangeArrowheads="1"/>
          </p:cNvSpPr>
          <p:nvPr>
            <p:ph type="body" idx="1"/>
          </p:nvPr>
        </p:nvSpPr>
        <p:spPr>
          <a:xfrm>
            <a:off x="900113" y="1341438"/>
            <a:ext cx="7772400" cy="4530725"/>
          </a:xfrm>
        </p:spPr>
        <p:txBody>
          <a:bodyPr/>
          <a:lstStyle/>
          <a:p>
            <a:pPr eaLnBrk="1" hangingPunct="1"/>
            <a:r>
              <a:rPr lang="zh-CN" altLang="en-US" smtClean="0"/>
              <a:t>文件对象方法</a:t>
            </a:r>
          </a:p>
        </p:txBody>
      </p:sp>
      <p:pic>
        <p:nvPicPr>
          <p:cNvPr id="1658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844675"/>
            <a:ext cx="671512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58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5229225"/>
            <a:ext cx="539115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4136589"/>
      </p:ext>
    </p:extLst>
  </p:cSld>
  <p:clrMapOvr>
    <a:masterClrMapping/>
  </p:clrMapOvr>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482" name="Rectangle 2"/>
          <p:cNvSpPr>
            <a:spLocks noGrp="1" noChangeArrowheads="1"/>
          </p:cNvSpPr>
          <p:nvPr>
            <p:ph type="body" idx="1"/>
          </p:nvPr>
        </p:nvSpPr>
        <p:spPr>
          <a:xfrm>
            <a:off x="1219200" y="304800"/>
            <a:ext cx="7924800" cy="3124200"/>
          </a:xfrm>
        </p:spPr>
        <p:txBody>
          <a:bodyPr/>
          <a:lstStyle/>
          <a:p>
            <a:pPr algn="just" eaLnBrk="1" hangingPunct="1">
              <a:buFont typeface="Wingdings" panose="05000000000000000000" pitchFamily="2" charset="2"/>
              <a:buNone/>
            </a:pPr>
            <a:r>
              <a:rPr lang="en-US" altLang="zh-CN" sz="3200" smtClean="0">
                <a:latin typeface="楷体_GB2312" pitchFamily="49" charset="-122"/>
                <a:ea typeface="楷体_GB2312" pitchFamily="49" charset="-122"/>
              </a:rPr>
              <a:t>  </a:t>
            </a:r>
            <a:endParaRPr lang="en-US" altLang="zh-CN" sz="3200" b="1" smtClean="0">
              <a:latin typeface="楷体_GB2312" pitchFamily="49" charset="-122"/>
              <a:ea typeface="楷体_GB2312" pitchFamily="49" charset="-122"/>
            </a:endParaRPr>
          </a:p>
        </p:txBody>
      </p:sp>
      <p:sp>
        <p:nvSpPr>
          <p:cNvPr id="1044483" name="Text Box 3"/>
          <p:cNvSpPr txBox="1">
            <a:spLocks noChangeArrowheads="1"/>
          </p:cNvSpPr>
          <p:nvPr/>
        </p:nvSpPr>
        <p:spPr bwMode="auto">
          <a:xfrm>
            <a:off x="827088" y="1557338"/>
            <a:ext cx="7270750" cy="325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buClr>
                <a:schemeClr val="tx2"/>
              </a:buClr>
              <a:buFont typeface="Symbol" panose="05050102010706020507" pitchFamily="18" charset="2"/>
              <a:buChar char="¨"/>
            </a:pPr>
            <a:r>
              <a:rPr kumimoji="1" lang="zh-CN" altLang="en-US" sz="2800">
                <a:latin typeface="宋体" panose="02010600030101010101" pitchFamily="2" charset="-122"/>
              </a:rPr>
              <a:t>数据在磁盘上并不一定连续</a:t>
            </a:r>
            <a:r>
              <a:rPr kumimoji="1" lang="en-US" altLang="zh-CN" sz="2800">
                <a:latin typeface="宋体" panose="02010600030101010101" pitchFamily="2" charset="-122"/>
              </a:rPr>
              <a:t>,</a:t>
            </a:r>
            <a:r>
              <a:rPr kumimoji="1" lang="zh-CN" altLang="en-US" sz="2800">
                <a:latin typeface="宋体" panose="02010600030101010101" pitchFamily="2" charset="-122"/>
              </a:rPr>
              <a:t>需要保存各个  磁盘块号。</a:t>
            </a:r>
          </a:p>
          <a:p>
            <a:pPr eaLnBrk="1" hangingPunct="1">
              <a:buClr>
                <a:schemeClr val="tx2"/>
              </a:buClr>
              <a:buFont typeface="Symbol" panose="05050102010706020507" pitchFamily="18" charset="2"/>
              <a:buChar char="¨"/>
            </a:pPr>
            <a:r>
              <a:rPr kumimoji="1" lang="en-US" altLang="zh-CN"/>
              <a:t>EXT2</a:t>
            </a:r>
            <a:r>
              <a:rPr kumimoji="1" lang="zh-CN" altLang="en-US"/>
              <a:t>文件系统采用了</a:t>
            </a:r>
            <a:r>
              <a:rPr kumimoji="1" lang="zh-CN" altLang="en-US">
                <a:solidFill>
                  <a:srgbClr val="FF0000"/>
                </a:solidFill>
              </a:rPr>
              <a:t>多重索引方式</a:t>
            </a:r>
            <a:r>
              <a:rPr kumimoji="1" lang="zh-CN" altLang="en-US" sz="2800"/>
              <a:t>。</a:t>
            </a:r>
          </a:p>
          <a:p>
            <a:pPr eaLnBrk="1" hangingPunct="1">
              <a:buClr>
                <a:schemeClr val="tx2"/>
              </a:buClr>
              <a:buFont typeface="Symbol" panose="05050102010706020507" pitchFamily="18" charset="2"/>
              <a:buChar char="¨"/>
            </a:pPr>
            <a:r>
              <a:rPr kumimoji="1" lang="en-US" altLang="zh-CN" sz="2800">
                <a:latin typeface="宋体" panose="02010600030101010101" pitchFamily="2" charset="-122"/>
              </a:rPr>
              <a:t>i_data[]</a:t>
            </a:r>
            <a:r>
              <a:rPr kumimoji="1" lang="zh-CN" altLang="en-US" sz="2800">
                <a:latin typeface="宋体" panose="02010600030101010101" pitchFamily="2" charset="-122"/>
              </a:rPr>
              <a:t>的前</a:t>
            </a:r>
            <a:r>
              <a:rPr kumimoji="1" lang="en-US" altLang="zh-CN" sz="2800">
                <a:latin typeface="宋体" panose="02010600030101010101" pitchFamily="2" charset="-122"/>
              </a:rPr>
              <a:t>12</a:t>
            </a:r>
            <a:r>
              <a:rPr kumimoji="1" lang="zh-CN" altLang="en-US" sz="2800">
                <a:latin typeface="宋体" panose="02010600030101010101" pitchFamily="2" charset="-122"/>
              </a:rPr>
              <a:t>项可看成直接指针</a:t>
            </a:r>
            <a:r>
              <a:rPr kumimoji="1" lang="en-US" altLang="zh-CN" sz="2800">
                <a:latin typeface="宋体" panose="02010600030101010101" pitchFamily="2" charset="-122"/>
              </a:rPr>
              <a:t>,</a:t>
            </a:r>
            <a:r>
              <a:rPr kumimoji="1" lang="zh-CN" altLang="en-US" sz="2800">
                <a:latin typeface="宋体" panose="02010600030101010101" pitchFamily="2" charset="-122"/>
              </a:rPr>
              <a:t>直接存放文件数据所在的磁盘块号。 第</a:t>
            </a:r>
            <a:r>
              <a:rPr kumimoji="1" lang="en-US" altLang="zh-CN" sz="2800">
                <a:latin typeface="宋体" panose="02010600030101010101" pitchFamily="2" charset="-122"/>
              </a:rPr>
              <a:t>13</a:t>
            </a:r>
            <a:r>
              <a:rPr kumimoji="1" lang="zh-CN" altLang="en-US" sz="2800">
                <a:latin typeface="宋体" panose="02010600030101010101" pitchFamily="2" charset="-122"/>
              </a:rPr>
              <a:t>项是个一级指针，第</a:t>
            </a:r>
            <a:r>
              <a:rPr kumimoji="1" lang="en-US" altLang="zh-CN" sz="2800">
                <a:latin typeface="宋体" panose="02010600030101010101" pitchFamily="2" charset="-122"/>
              </a:rPr>
              <a:t>14,15</a:t>
            </a:r>
            <a:r>
              <a:rPr kumimoji="1" lang="zh-CN" altLang="en-US" sz="2800">
                <a:latin typeface="宋体" panose="02010600030101010101" pitchFamily="2" charset="-122"/>
              </a:rPr>
              <a:t>项分别是二级指针和三级指针。</a:t>
            </a:r>
          </a:p>
        </p:txBody>
      </p:sp>
      <p:sp>
        <p:nvSpPr>
          <p:cNvPr id="166916" name="Rectangle 4"/>
          <p:cNvSpPr>
            <a:spLocks noGrp="1" noChangeArrowheads="1"/>
          </p:cNvSpPr>
          <p:nvPr>
            <p:ph type="title"/>
          </p:nvPr>
        </p:nvSpPr>
        <p:spPr>
          <a:xfrm>
            <a:off x="468313" y="188913"/>
            <a:ext cx="8229600" cy="1143000"/>
          </a:xfrm>
          <a:noFill/>
        </p:spPr>
        <p:txBody>
          <a:bodyPr/>
          <a:lstStyle/>
          <a:p>
            <a:pPr eaLnBrk="1" hangingPunct="1"/>
            <a:r>
              <a:rPr lang="zh-CN" altLang="en-US" sz="3400" smtClean="0">
                <a:solidFill>
                  <a:schemeClr val="tx1"/>
                </a:solidFill>
                <a:latin typeface="黑体" panose="02010609060101010101" pitchFamily="49" charset="-122"/>
                <a:ea typeface="黑体" panose="02010609060101010101" pitchFamily="49" charset="-122"/>
              </a:rPr>
              <a:t>文件数据在磁盘上的组织</a:t>
            </a:r>
            <a:endParaRPr lang="zh-CN" altLang="en-US" sz="5000" b="1" smtClean="0"/>
          </a:p>
        </p:txBody>
      </p:sp>
    </p:spTree>
    <p:extLst>
      <p:ext uri="{BB962C8B-B14F-4D97-AF65-F5344CB8AC3E}">
        <p14:creationId xmlns:p14="http://schemas.microsoft.com/office/powerpoint/2010/main" val="36040973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482"/>
                                        </p:tgtEl>
                                        <p:attrNameLst>
                                          <p:attrName>style.visibility</p:attrName>
                                        </p:attrNameLst>
                                      </p:cBhvr>
                                      <p:to>
                                        <p:strVal val="visible"/>
                                      </p:to>
                                    </p:set>
                                    <p:anim calcmode="lin" valueType="num">
                                      <p:cBhvr additive="base">
                                        <p:cTn id="7" dur="500" fill="hold"/>
                                        <p:tgtEl>
                                          <p:spTgt spid="1044482"/>
                                        </p:tgtEl>
                                        <p:attrNameLst>
                                          <p:attrName>ppt_x</p:attrName>
                                        </p:attrNameLst>
                                      </p:cBhvr>
                                      <p:tavLst>
                                        <p:tav tm="0">
                                          <p:val>
                                            <p:strVal val="#ppt_x"/>
                                          </p:val>
                                        </p:tav>
                                        <p:tav tm="100000">
                                          <p:val>
                                            <p:strVal val="#ppt_x"/>
                                          </p:val>
                                        </p:tav>
                                      </p:tavLst>
                                    </p:anim>
                                    <p:anim calcmode="lin" valueType="num">
                                      <p:cBhvr additive="base">
                                        <p:cTn id="8" dur="500" fill="hold"/>
                                        <p:tgtEl>
                                          <p:spTgt spid="104448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4483">
                                            <p:txEl>
                                              <p:pRg st="0" end="0"/>
                                            </p:txEl>
                                          </p:spTgt>
                                        </p:tgtEl>
                                        <p:attrNameLst>
                                          <p:attrName>style.visibility</p:attrName>
                                        </p:attrNameLst>
                                      </p:cBhvr>
                                      <p:to>
                                        <p:strVal val="visible"/>
                                      </p:to>
                                    </p:set>
                                    <p:anim calcmode="lin" valueType="num">
                                      <p:cBhvr additive="base">
                                        <p:cTn id="13" dur="500" fill="hold"/>
                                        <p:tgtEl>
                                          <p:spTgt spid="104448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44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44483">
                                            <p:txEl>
                                              <p:pRg st="1" end="1"/>
                                            </p:txEl>
                                          </p:spTgt>
                                        </p:tgtEl>
                                        <p:attrNameLst>
                                          <p:attrName>style.visibility</p:attrName>
                                        </p:attrNameLst>
                                      </p:cBhvr>
                                      <p:to>
                                        <p:strVal val="visible"/>
                                      </p:to>
                                    </p:set>
                                    <p:anim calcmode="lin" valueType="num">
                                      <p:cBhvr additive="base">
                                        <p:cTn id="19" dur="500" fill="hold"/>
                                        <p:tgtEl>
                                          <p:spTgt spid="104448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44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44483">
                                            <p:txEl>
                                              <p:pRg st="2" end="2"/>
                                            </p:txEl>
                                          </p:spTgt>
                                        </p:tgtEl>
                                        <p:attrNameLst>
                                          <p:attrName>style.visibility</p:attrName>
                                        </p:attrNameLst>
                                      </p:cBhvr>
                                      <p:to>
                                        <p:strVal val="visible"/>
                                      </p:to>
                                    </p:set>
                                    <p:anim calcmode="lin" valueType="num">
                                      <p:cBhvr additive="base">
                                        <p:cTn id="25" dur="500" fill="hold"/>
                                        <p:tgtEl>
                                          <p:spTgt spid="104448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444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482" grpId="0" autoUpdateAnimBg="0"/>
      <p:bldP spid="1044483" grpId="0" build="p" autoUpdateAnimBg="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2"/>
          <p:cNvSpPr txBox="1">
            <a:spLocks noChangeArrowheads="1"/>
          </p:cNvSpPr>
          <p:nvPr/>
        </p:nvSpPr>
        <p:spPr bwMode="auto">
          <a:xfrm>
            <a:off x="3124200" y="60198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ClrTx/>
              <a:buSzTx/>
              <a:buFontTx/>
              <a:buNone/>
            </a:pPr>
            <a:r>
              <a:rPr kumimoji="1" lang="zh-CN" altLang="en-US"/>
              <a:t>多重索引结构  </a:t>
            </a:r>
          </a:p>
        </p:txBody>
      </p:sp>
      <p:graphicFrame>
        <p:nvGraphicFramePr>
          <p:cNvPr id="167939" name="Object 3"/>
          <p:cNvGraphicFramePr>
            <a:graphicFrameLocks noChangeAspect="1"/>
          </p:cNvGraphicFramePr>
          <p:nvPr/>
        </p:nvGraphicFramePr>
        <p:xfrm>
          <a:off x="2514600" y="685800"/>
          <a:ext cx="5029200" cy="4876800"/>
        </p:xfrm>
        <a:graphic>
          <a:graphicData uri="http://schemas.openxmlformats.org/presentationml/2006/ole">
            <mc:AlternateContent xmlns:mc="http://schemas.openxmlformats.org/markup-compatibility/2006">
              <mc:Choice xmlns:v="urn:schemas-microsoft-com:vml" Requires="v">
                <p:oleObj spid="_x0000_s34818" name="VISIO" r:id="rId3" imgW="2617929" imgH="2538791" progId="Visio.Drawing.4">
                  <p:embed/>
                </p:oleObj>
              </mc:Choice>
              <mc:Fallback>
                <p:oleObj name="VISIO" r:id="rId3" imgW="2617929" imgH="2538791" progId="Visio.Drawing.4">
                  <p:embed/>
                  <p:pic>
                    <p:nvPicPr>
                      <p:cNvPr id="16793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685800"/>
                        <a:ext cx="50292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7940" name="Rectangle 4"/>
          <p:cNvSpPr>
            <a:spLocks noGrp="1" noChangeArrowheads="1"/>
          </p:cNvSpPr>
          <p:nvPr>
            <p:ph type="body" idx="1"/>
          </p:nvPr>
        </p:nvSpPr>
        <p:spPr>
          <a:xfrm>
            <a:off x="533400" y="609600"/>
            <a:ext cx="2514600" cy="5486400"/>
          </a:xfrm>
          <a:noFill/>
        </p:spPr>
        <p:txBody>
          <a:bodyPr/>
          <a:lstStyle/>
          <a:p>
            <a:pPr algn="just" eaLnBrk="1" hangingPunct="1"/>
            <a:endParaRPr lang="en-US" altLang="zh-CN" smtClean="0"/>
          </a:p>
          <a:p>
            <a:pPr eaLnBrk="1" hangingPunct="1"/>
            <a:endParaRPr lang="en-US" altLang="zh-CN" smtClean="0"/>
          </a:p>
        </p:txBody>
      </p:sp>
    </p:spTree>
    <p:extLst>
      <p:ext uri="{BB962C8B-B14F-4D97-AF65-F5344CB8AC3E}">
        <p14:creationId xmlns:p14="http://schemas.microsoft.com/office/powerpoint/2010/main" val="4168147788"/>
      </p:ext>
    </p:extLst>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684213" y="260350"/>
            <a:ext cx="7772400" cy="1143000"/>
          </a:xfrm>
        </p:spPr>
        <p:txBody>
          <a:bodyPr/>
          <a:lstStyle/>
          <a:p>
            <a:pPr eaLnBrk="1" hangingPunct="1"/>
            <a:endParaRPr lang="zh-CN" altLang="zh-CN" smtClean="0"/>
          </a:p>
        </p:txBody>
      </p:sp>
      <p:sp>
        <p:nvSpPr>
          <p:cNvPr id="168963" name="Rectangle 3"/>
          <p:cNvSpPr>
            <a:spLocks noChangeArrowheads="1"/>
          </p:cNvSpPr>
          <p:nvPr/>
        </p:nvSpPr>
        <p:spPr bwMode="auto">
          <a:xfrm>
            <a:off x="1938338" y="2090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68964" name="Object 4"/>
          <p:cNvGraphicFramePr>
            <a:graphicFrameLocks noChangeAspect="1"/>
          </p:cNvGraphicFramePr>
          <p:nvPr/>
        </p:nvGraphicFramePr>
        <p:xfrm>
          <a:off x="179388" y="1557338"/>
          <a:ext cx="8410575" cy="4503737"/>
        </p:xfrm>
        <a:graphic>
          <a:graphicData uri="http://schemas.openxmlformats.org/presentationml/2006/ole">
            <mc:AlternateContent xmlns:mc="http://schemas.openxmlformats.org/markup-compatibility/2006">
              <mc:Choice xmlns:v="urn:schemas-microsoft-com:vml" Requires="v">
                <p:oleObj spid="_x0000_s35842" name="Visio" r:id="rId3" imgW="6852939" imgH="3478769" progId="Visio.Drawing.6">
                  <p:embed/>
                </p:oleObj>
              </mc:Choice>
              <mc:Fallback>
                <p:oleObj name="Visio" r:id="rId3" imgW="6852939" imgH="3478769" progId="Visio.Drawing.6">
                  <p:embed/>
                  <p:pic>
                    <p:nvPicPr>
                      <p:cNvPr id="16896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557338"/>
                        <a:ext cx="8410575" cy="450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84019329"/>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ChangeArrowheads="1"/>
          </p:cNvSpPr>
          <p:nvPr/>
        </p:nvSpPr>
        <p:spPr bwMode="auto">
          <a:xfrm>
            <a:off x="685800" y="228600"/>
            <a:ext cx="7924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1" lang="en-US" altLang="zh-CN" sz="4800">
                <a:solidFill>
                  <a:schemeClr val="tx2"/>
                </a:solidFill>
                <a:latin typeface="宋体" panose="02010600030101010101" pitchFamily="2" charset="-122"/>
              </a:rPr>
              <a:t>Linux</a:t>
            </a:r>
            <a:r>
              <a:rPr kumimoji="1" lang="zh-CN" altLang="en-US" sz="4800">
                <a:solidFill>
                  <a:schemeClr val="tx2"/>
                </a:solidFill>
                <a:latin typeface="宋体" panose="02010600030101010101" pitchFamily="2" charset="-122"/>
              </a:rPr>
              <a:t>数据块分配策略</a:t>
            </a:r>
            <a:endParaRPr kumimoji="1" lang="zh-CN" altLang="en-US" sz="4400">
              <a:solidFill>
                <a:schemeClr val="tx2"/>
              </a:solidFill>
              <a:latin typeface="宋体" panose="02010600030101010101" pitchFamily="2" charset="-122"/>
            </a:endParaRPr>
          </a:p>
        </p:txBody>
      </p:sp>
      <p:sp>
        <p:nvSpPr>
          <p:cNvPr id="169987" name="Rectangle 3"/>
          <p:cNvSpPr>
            <a:spLocks noChangeArrowheads="1"/>
          </p:cNvSpPr>
          <p:nvPr/>
        </p:nvSpPr>
        <p:spPr bwMode="auto">
          <a:xfrm>
            <a:off x="609600" y="1066800"/>
            <a:ext cx="8077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lr>
                <a:schemeClr val="folHlink"/>
              </a:buClr>
              <a:buSzPct val="90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9pPr>
          </a:lstStyle>
          <a:p>
            <a:pPr algn="l" eaLnBrk="1" hangingPunct="1">
              <a:buClrTx/>
              <a:buSzTx/>
              <a:buFontTx/>
              <a:buNone/>
            </a:pPr>
            <a:r>
              <a:rPr kumimoji="1" lang="en-US" altLang="zh-CN" sz="2800" b="1">
                <a:ea typeface="华文中宋" panose="02010600040101010101" pitchFamily="2" charset="-122"/>
              </a:rPr>
              <a:t>   </a:t>
            </a:r>
            <a:r>
              <a:rPr kumimoji="1" lang="en-US" altLang="zh-CN" sz="2800">
                <a:solidFill>
                  <a:srgbClr val="0000CC"/>
                </a:solidFill>
                <a:latin typeface="宋体" panose="02010600030101010101" pitchFamily="2" charset="-122"/>
              </a:rPr>
              <a:t>EXT2</a:t>
            </a:r>
            <a:r>
              <a:rPr kumimoji="1" lang="zh-CN" altLang="en-US" sz="2800">
                <a:solidFill>
                  <a:srgbClr val="0000CC"/>
                </a:solidFill>
                <a:latin typeface="宋体" panose="02010600030101010101" pitchFamily="2" charset="-122"/>
              </a:rPr>
              <a:t>采用两个策略减少文件碎片</a:t>
            </a:r>
          </a:p>
          <a:p>
            <a:pPr algn="l" eaLnBrk="1" hangingPunct="1">
              <a:buClrTx/>
              <a:buSzTx/>
              <a:buFontTx/>
              <a:buChar char="•"/>
            </a:pPr>
            <a:r>
              <a:rPr kumimoji="1" lang="zh-CN" altLang="en-US" sz="2800">
                <a:solidFill>
                  <a:srgbClr val="FF0066"/>
                </a:solidFill>
                <a:latin typeface="宋体" panose="02010600030101010101" pitchFamily="2" charset="-122"/>
              </a:rPr>
              <a:t>    原地先查找策略：</a:t>
            </a:r>
            <a:r>
              <a:rPr kumimoji="1" lang="zh-CN" altLang="en-US" sz="2800">
                <a:latin typeface="宋体" panose="02010600030101010101" pitchFamily="2" charset="-122"/>
              </a:rPr>
              <a:t>为文件分配数据块时，尽量在文件原有数据块附近查找。先试探紧跟文件末尾的数据块，然后试探位于同一个块组相邻的数据块，接着在同一个块组中寻找其他空闲数据块；实在不得己才搜索其他块组，且首先考虑</a:t>
            </a:r>
            <a:r>
              <a:rPr kumimoji="1" lang="en-US" altLang="zh-CN" sz="2800">
                <a:latin typeface="宋体" panose="02010600030101010101" pitchFamily="2" charset="-122"/>
              </a:rPr>
              <a:t>8</a:t>
            </a:r>
            <a:r>
              <a:rPr kumimoji="1" lang="zh-CN" altLang="en-US" sz="2800">
                <a:latin typeface="宋体" panose="02010600030101010101" pitchFamily="2" charset="-122"/>
              </a:rPr>
              <a:t>个一簇的连续的块。</a:t>
            </a:r>
            <a:endParaRPr kumimoji="1" lang="zh-CN" altLang="en-US" sz="2800">
              <a:solidFill>
                <a:srgbClr val="FF0000"/>
              </a:solidFill>
              <a:latin typeface="宋体" panose="02010600030101010101" pitchFamily="2" charset="-122"/>
            </a:endParaRPr>
          </a:p>
          <a:p>
            <a:pPr algn="l" eaLnBrk="1" hangingPunct="1">
              <a:buClrTx/>
              <a:buSzTx/>
              <a:buFontTx/>
              <a:buChar char="•"/>
            </a:pPr>
            <a:r>
              <a:rPr kumimoji="1" lang="zh-CN" altLang="en-US" sz="2800">
                <a:solidFill>
                  <a:srgbClr val="FF0066"/>
                </a:solidFill>
                <a:latin typeface="宋体" panose="02010600030101010101" pitchFamily="2" charset="-122"/>
              </a:rPr>
              <a:t>  预分配策略：</a:t>
            </a:r>
            <a:r>
              <a:rPr kumimoji="1" lang="zh-CN" altLang="en-US" sz="2800">
                <a:latin typeface="宋体" panose="02010600030101010101" pitchFamily="2" charset="-122"/>
              </a:rPr>
              <a:t>就是从预分配的数据块取一块来用，紧跟该块后的若干个数据块空闲的话，也被保留，保证尽可能多的数据块被集中成一簇。</a:t>
            </a:r>
          </a:p>
        </p:txBody>
      </p:sp>
    </p:spTree>
    <p:extLst>
      <p:ext uri="{BB962C8B-B14F-4D97-AF65-F5344CB8AC3E}">
        <p14:creationId xmlns:p14="http://schemas.microsoft.com/office/powerpoint/2010/main" val="3538057172"/>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r>
              <a:rPr lang="en-US" altLang="zh-CN" smtClean="0"/>
              <a:t>Ext2</a:t>
            </a:r>
            <a:r>
              <a:rPr lang="zh-CN" altLang="en-US" smtClean="0"/>
              <a:t>的内存数据结构</a:t>
            </a:r>
          </a:p>
        </p:txBody>
      </p:sp>
      <p:sp>
        <p:nvSpPr>
          <p:cNvPr id="171011" name="Rectangle 3"/>
          <p:cNvSpPr>
            <a:spLocks noGrp="1" noChangeArrowheads="1"/>
          </p:cNvSpPr>
          <p:nvPr>
            <p:ph type="body" idx="1"/>
          </p:nvPr>
        </p:nvSpPr>
        <p:spPr/>
        <p:txBody>
          <a:bodyPr/>
          <a:lstStyle/>
          <a:p>
            <a:pPr eaLnBrk="1" hangingPunct="1"/>
            <a:r>
              <a:rPr lang="zh-CN" altLang="en-US" sz="2400" smtClean="0"/>
              <a:t>为提高效率，尽量减少访外次数，在安装</a:t>
            </a:r>
            <a:r>
              <a:rPr lang="en-US" altLang="zh-CN" sz="2400" smtClean="0"/>
              <a:t>Ext2</a:t>
            </a:r>
            <a:r>
              <a:rPr lang="zh-CN" altLang="en-US" sz="2400" smtClean="0"/>
              <a:t>分区时，内存中存放大部分磁盘数据结构，并使用缓存技术保持磁盘数据结构更新</a:t>
            </a:r>
          </a:p>
          <a:p>
            <a:pPr eaLnBrk="1" hangingPunct="1"/>
            <a:r>
              <a:rPr lang="zh-CN" altLang="en-US" sz="2400" smtClean="0"/>
              <a:t>缓存模式共有</a:t>
            </a:r>
            <a:r>
              <a:rPr lang="en-US" altLang="zh-CN" sz="2400" smtClean="0"/>
              <a:t>4</a:t>
            </a:r>
            <a:r>
              <a:rPr lang="zh-CN" altLang="en-US" sz="2400" smtClean="0"/>
              <a:t>种</a:t>
            </a:r>
          </a:p>
          <a:p>
            <a:pPr lvl="1" eaLnBrk="1" hangingPunct="1"/>
            <a:r>
              <a:rPr lang="da-DK" altLang="zh-CN" sz="2200" smtClean="0"/>
              <a:t>Always cached</a:t>
            </a:r>
            <a:r>
              <a:rPr lang="zh-CN" altLang="da-DK" sz="2200" smtClean="0"/>
              <a:t>：一直缓存</a:t>
            </a:r>
          </a:p>
          <a:p>
            <a:pPr lvl="1" eaLnBrk="1" hangingPunct="1"/>
            <a:r>
              <a:rPr lang="da-DK" altLang="zh-CN" sz="2200" smtClean="0"/>
              <a:t>Fixed limit</a:t>
            </a:r>
            <a:r>
              <a:rPr lang="zh-CN" altLang="da-DK" sz="2200" smtClean="0"/>
              <a:t>：固定数量的数据结构保存在缓存中</a:t>
            </a:r>
          </a:p>
          <a:p>
            <a:pPr lvl="1" eaLnBrk="1" hangingPunct="1"/>
            <a:r>
              <a:rPr lang="da-DK" altLang="zh-CN" sz="2200" smtClean="0"/>
              <a:t>Dynamic</a:t>
            </a:r>
            <a:r>
              <a:rPr lang="zh-CN" altLang="da-DK" sz="2200" smtClean="0"/>
              <a:t>：只要索引节点或块使用，相关数据就保存在缓存中</a:t>
            </a:r>
          </a:p>
          <a:p>
            <a:pPr lvl="1" eaLnBrk="1" hangingPunct="1"/>
            <a:r>
              <a:rPr lang="da-DK" altLang="zh-CN" sz="2200" smtClean="0"/>
              <a:t>Never</a:t>
            </a:r>
            <a:r>
              <a:rPr lang="zh-CN" altLang="da-DK" sz="2200" smtClean="0"/>
              <a:t>：任何高速缓存中都不保存</a:t>
            </a:r>
            <a:endParaRPr lang="zh-CN" altLang="en-US" sz="2200" smtClean="0"/>
          </a:p>
        </p:txBody>
      </p:sp>
    </p:spTree>
    <p:extLst>
      <p:ext uri="{BB962C8B-B14F-4D97-AF65-F5344CB8AC3E}">
        <p14:creationId xmlns:p14="http://schemas.microsoft.com/office/powerpoint/2010/main" val="729103518"/>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eaLnBrk="1" hangingPunct="1"/>
            <a:r>
              <a:rPr lang="en-US" altLang="zh-CN" smtClean="0"/>
              <a:t>Ext2</a:t>
            </a:r>
            <a:r>
              <a:rPr lang="zh-CN" altLang="en-US" smtClean="0"/>
              <a:t>的内存数据结构（续）</a:t>
            </a:r>
          </a:p>
        </p:txBody>
      </p:sp>
      <p:graphicFrame>
        <p:nvGraphicFramePr>
          <p:cNvPr id="1342467" name="Group 3"/>
          <p:cNvGraphicFramePr>
            <a:graphicFrameLocks noGrp="1"/>
          </p:cNvGraphicFramePr>
          <p:nvPr>
            <p:ph idx="1"/>
          </p:nvPr>
        </p:nvGraphicFramePr>
        <p:xfrm>
          <a:off x="457200" y="1600200"/>
          <a:ext cx="8229600" cy="4516473"/>
        </p:xfrm>
        <a:graphic>
          <a:graphicData uri="http://schemas.openxmlformats.org/drawingml/2006/table">
            <a:tbl>
              <a:tblPr/>
              <a:tblGrid>
                <a:gridCol w="1738313">
                  <a:extLst>
                    <a:ext uri="{9D8B030D-6E8A-4147-A177-3AD203B41FA5}">
                      <a16:colId xmlns:a16="http://schemas.microsoft.com/office/drawing/2014/main" val="20000"/>
                    </a:ext>
                  </a:extLst>
                </a:gridCol>
                <a:gridCol w="2447925">
                  <a:extLst>
                    <a:ext uri="{9D8B030D-6E8A-4147-A177-3AD203B41FA5}">
                      <a16:colId xmlns:a16="http://schemas.microsoft.com/office/drawing/2014/main" val="20001"/>
                    </a:ext>
                  </a:extLst>
                </a:gridCol>
                <a:gridCol w="2449512">
                  <a:extLst>
                    <a:ext uri="{9D8B030D-6E8A-4147-A177-3AD203B41FA5}">
                      <a16:colId xmlns:a16="http://schemas.microsoft.com/office/drawing/2014/main" val="20002"/>
                    </a:ext>
                  </a:extLst>
                </a:gridCol>
                <a:gridCol w="1593850">
                  <a:extLst>
                    <a:ext uri="{9D8B030D-6E8A-4147-A177-3AD203B41FA5}">
                      <a16:colId xmlns:a16="http://schemas.microsoft.com/office/drawing/2014/main" val="20003"/>
                    </a:ext>
                  </a:extLst>
                </a:gridCol>
              </a:tblGrid>
              <a:tr h="51426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类型</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磁盘数据结构</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内存数据结构</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缓存模式</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004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超级块</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ext2_super_block</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ext2_sb_info</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da-DK" altLang="zh-CN" sz="1800" b="0" i="0" u="none" strike="noStrike" cap="none" normalizeH="0" baseline="0" smtClean="0">
                          <a:ln>
                            <a:noFill/>
                          </a:ln>
                          <a:solidFill>
                            <a:schemeClr val="tx1"/>
                          </a:solidFill>
                          <a:effectLst/>
                          <a:latin typeface="Arial" pitchFamily="34" charset="0"/>
                          <a:ea typeface="宋体" pitchFamily="2" charset="-122"/>
                        </a:rPr>
                        <a:t>Always cached</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004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组描述符</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ext2_group_desc</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ext2_group_desc</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da-DK" altLang="zh-CN" sz="1800" b="0" i="0" u="none" strike="noStrike" cap="none" normalizeH="0" baseline="0" smtClean="0">
                          <a:ln>
                            <a:noFill/>
                          </a:ln>
                          <a:solidFill>
                            <a:schemeClr val="tx1"/>
                          </a:solidFill>
                          <a:effectLst/>
                          <a:latin typeface="Arial" pitchFamily="34" charset="0"/>
                          <a:ea typeface="宋体" pitchFamily="2" charset="-122"/>
                        </a:rPr>
                        <a:t>Always cached</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235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块位图</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块中的位数组</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缓冲区中的位数组</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da-DK" altLang="zh-CN" sz="1800" b="0" i="0" u="none" strike="noStrike" cap="none" normalizeH="0" baseline="0" smtClean="0">
                          <a:ln>
                            <a:noFill/>
                          </a:ln>
                          <a:solidFill>
                            <a:schemeClr val="tx1"/>
                          </a:solidFill>
                          <a:effectLst/>
                          <a:latin typeface="Arial" pitchFamily="34" charset="0"/>
                          <a:ea typeface="宋体" pitchFamily="2" charset="-122"/>
                        </a:rPr>
                        <a:t>Fixed limit</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077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索引节点位图</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块中的位数组</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缓冲区中的位数组</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da-DK" altLang="zh-CN" sz="1800" b="0" i="0" u="none" strike="noStrike" cap="none" normalizeH="0" baseline="0" smtClean="0">
                          <a:ln>
                            <a:noFill/>
                          </a:ln>
                          <a:solidFill>
                            <a:schemeClr val="tx1"/>
                          </a:solidFill>
                          <a:effectLst/>
                          <a:latin typeface="Arial" pitchFamily="34" charset="0"/>
                          <a:ea typeface="宋体" pitchFamily="2" charset="-122"/>
                        </a:rPr>
                        <a:t>Fixed limit</a:t>
                      </a:r>
                      <a:endParaRPr kumimoji="0" lang="en-US" altLang="zh-CN" sz="1800" b="0" i="0" u="none" strike="noStrike" cap="none" normalizeH="0" baseline="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235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索引节点</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Ext2_inode</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ext2_inode_info</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Dynamic</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077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数据块</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未指定</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缓冲区页</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Dynamic</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235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空闲索引节点</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ext2_inode</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无</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Never</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346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空闲块</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未指定</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rPr>
                        <a:t>无</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Never</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62948135"/>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eaLnBrk="1" hangingPunct="1"/>
            <a:r>
              <a:rPr lang="en-US" altLang="zh-CN" smtClean="0"/>
              <a:t>ext2</a:t>
            </a:r>
            <a:r>
              <a:rPr lang="zh-CN" altLang="en-US" smtClean="0"/>
              <a:t>方法</a:t>
            </a:r>
          </a:p>
        </p:txBody>
      </p:sp>
      <p:sp>
        <p:nvSpPr>
          <p:cNvPr id="173059" name="Rectangle 3"/>
          <p:cNvSpPr>
            <a:spLocks noGrp="1" noChangeArrowheads="1"/>
          </p:cNvSpPr>
          <p:nvPr>
            <p:ph type="body" sz="half" idx="1"/>
          </p:nvPr>
        </p:nvSpPr>
        <p:spPr>
          <a:xfrm>
            <a:off x="457200" y="1341438"/>
            <a:ext cx="8002588" cy="4525962"/>
          </a:xfrm>
        </p:spPr>
        <p:txBody>
          <a:bodyPr/>
          <a:lstStyle/>
          <a:p>
            <a:pPr eaLnBrk="1" hangingPunct="1"/>
            <a:r>
              <a:rPr lang="en-US" altLang="zh-CN" sz="2400" smtClean="0"/>
              <a:t>VFS</a:t>
            </a:r>
            <a:r>
              <a:rPr lang="zh-CN" altLang="en-US" sz="2400" smtClean="0"/>
              <a:t>很多方法在</a:t>
            </a:r>
            <a:r>
              <a:rPr lang="en-US" altLang="zh-CN" sz="2400" smtClean="0"/>
              <a:t>Ext2</a:t>
            </a:r>
            <a:r>
              <a:rPr lang="zh-CN" altLang="en-US" sz="2400" smtClean="0"/>
              <a:t>中有对应的具体实现</a:t>
            </a:r>
          </a:p>
          <a:p>
            <a:pPr eaLnBrk="1" hangingPunct="1"/>
            <a:r>
              <a:rPr lang="zh-CN" altLang="en-US" sz="2400" smtClean="0"/>
              <a:t>比如，</a:t>
            </a:r>
            <a:r>
              <a:rPr lang="en-US" altLang="zh-CN" sz="2400" smtClean="0"/>
              <a:t>VFS</a:t>
            </a:r>
            <a:r>
              <a:rPr lang="zh-CN" altLang="en-US" sz="2400" smtClean="0"/>
              <a:t>中文件对象的操作与</a:t>
            </a:r>
            <a:r>
              <a:rPr lang="en-US" altLang="zh-CN" sz="2400" smtClean="0"/>
              <a:t>Ext2</a:t>
            </a:r>
            <a:r>
              <a:rPr lang="zh-CN" altLang="en-US" sz="2400" smtClean="0"/>
              <a:t>的文件操作映射如下：</a:t>
            </a:r>
          </a:p>
          <a:p>
            <a:pPr eaLnBrk="1" hangingPunct="1">
              <a:buFont typeface="Wingdings" panose="05000000000000000000" pitchFamily="2" charset="2"/>
              <a:buNone/>
            </a:pPr>
            <a:endParaRPr lang="en-US" altLang="zh-CN" sz="2400" smtClean="0"/>
          </a:p>
        </p:txBody>
      </p:sp>
      <p:graphicFrame>
        <p:nvGraphicFramePr>
          <p:cNvPr id="1344516" name="Group 4"/>
          <p:cNvGraphicFramePr>
            <a:graphicFrameLocks noGrp="1"/>
          </p:cNvGraphicFramePr>
          <p:nvPr>
            <p:ph sz="half" idx="2"/>
          </p:nvPr>
        </p:nvGraphicFramePr>
        <p:xfrm>
          <a:off x="900113" y="2852738"/>
          <a:ext cx="7786687" cy="3292479"/>
        </p:xfrm>
        <a:graphic>
          <a:graphicData uri="http://schemas.openxmlformats.org/drawingml/2006/table">
            <a:tbl>
              <a:tblPr/>
              <a:tblGrid>
                <a:gridCol w="3894137">
                  <a:extLst>
                    <a:ext uri="{9D8B030D-6E8A-4147-A177-3AD203B41FA5}">
                      <a16:colId xmlns:a16="http://schemas.microsoft.com/office/drawing/2014/main" val="20000"/>
                    </a:ext>
                  </a:extLst>
                </a:gridCol>
                <a:gridCol w="3892550">
                  <a:extLst>
                    <a:ext uri="{9D8B030D-6E8A-4147-A177-3AD203B41FA5}">
                      <a16:colId xmlns:a16="http://schemas.microsoft.com/office/drawing/2014/main" val="20001"/>
                    </a:ext>
                  </a:extLst>
                </a:gridCol>
              </a:tblGrid>
              <a:tr h="3658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VFS</a:t>
                      </a:r>
                      <a:r>
                        <a:rPr kumimoji="0" lang="zh-CN" altLang="en-US" sz="1800" b="0" i="0" u="none" strike="noStrike" cap="none" normalizeH="0" baseline="0" smtClean="0">
                          <a:ln>
                            <a:noFill/>
                          </a:ln>
                          <a:solidFill>
                            <a:schemeClr val="tx1"/>
                          </a:solidFill>
                          <a:effectLst/>
                          <a:latin typeface="Arial" pitchFamily="34" charset="0"/>
                          <a:ea typeface="宋体" pitchFamily="2" charset="-122"/>
                        </a:rPr>
                        <a:t>的文件操作</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a:t>
                      </a:r>
                      <a:r>
                        <a:rPr kumimoji="0" lang="zh-CN" altLang="en-US" sz="1800" b="0" i="0" u="none" strike="noStrike" cap="none" normalizeH="0" baseline="0" smtClean="0">
                          <a:ln>
                            <a:noFill/>
                          </a:ln>
                          <a:solidFill>
                            <a:schemeClr val="tx1"/>
                          </a:solidFill>
                          <a:effectLst/>
                          <a:latin typeface="Arial" pitchFamily="34" charset="0"/>
                          <a:ea typeface="宋体" pitchFamily="2" charset="-122"/>
                        </a:rPr>
                        <a:t>的方法</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8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llseek</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ext2_file_llseek()</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8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read</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generic_file_read()</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8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write</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ext2_file_write()</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8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ioctl</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ext2_ioctl()</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8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mmap</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generic_file_mmap()</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8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open</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ext2_file_open()</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58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release</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ext2_release_file()</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3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fsync</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rPr>
                        <a:t>ext2_sync_file()</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98879036"/>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5538" name="Group 2"/>
          <p:cNvGraphicFramePr>
            <a:graphicFrameLocks noGrp="1"/>
          </p:cNvGraphicFramePr>
          <p:nvPr>
            <p:ph sz="half" idx="2"/>
          </p:nvPr>
        </p:nvGraphicFramePr>
        <p:xfrm>
          <a:off x="539750" y="898525"/>
          <a:ext cx="8243888" cy="4397383"/>
        </p:xfrm>
        <a:graphic>
          <a:graphicData uri="http://schemas.openxmlformats.org/drawingml/2006/table">
            <a:tbl>
              <a:tblPr/>
              <a:tblGrid>
                <a:gridCol w="3092450">
                  <a:extLst>
                    <a:ext uri="{9D8B030D-6E8A-4147-A177-3AD203B41FA5}">
                      <a16:colId xmlns:a16="http://schemas.microsoft.com/office/drawing/2014/main" val="20000"/>
                    </a:ext>
                  </a:extLst>
                </a:gridCol>
                <a:gridCol w="5151438">
                  <a:extLst>
                    <a:ext uri="{9D8B030D-6E8A-4147-A177-3AD203B41FA5}">
                      <a16:colId xmlns:a16="http://schemas.microsoft.com/office/drawing/2014/main" val="20001"/>
                    </a:ext>
                  </a:extLst>
                </a:gridCol>
              </a:tblGrid>
              <a:tr h="43017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VFS</a:t>
                      </a:r>
                      <a:r>
                        <a:rPr kumimoji="0" lang="zh-CN" altLang="en-US" sz="2000" b="0" i="0" u="none" strike="noStrike" cap="none" normalizeH="0" baseline="0" smtClean="0">
                          <a:ln>
                            <a:noFill/>
                          </a:ln>
                          <a:solidFill>
                            <a:schemeClr val="tx1"/>
                          </a:solidFill>
                          <a:effectLst/>
                          <a:latin typeface="Arial" pitchFamily="34" charset="0"/>
                          <a:ea typeface="宋体" pitchFamily="2" charset="-122"/>
                        </a:rPr>
                        <a:t>操作</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Ext2</a:t>
                      </a:r>
                      <a:r>
                        <a:rPr kumimoji="0" lang="zh-CN" altLang="en-US" sz="2000" b="0" i="0" u="none" strike="noStrike" cap="none" normalizeH="0" baseline="0" smtClean="0">
                          <a:ln>
                            <a:noFill/>
                          </a:ln>
                          <a:solidFill>
                            <a:schemeClr val="tx1"/>
                          </a:solidFill>
                          <a:effectLst/>
                          <a:latin typeface="Arial" pitchFamily="34" charset="0"/>
                          <a:ea typeface="宋体" pitchFamily="2" charset="-122"/>
                        </a:rPr>
                        <a:t>中对应的具体的操作表</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859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超级块操作</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ext2_sops</a:t>
                      </a:r>
                      <a:r>
                        <a:rPr kumimoji="0" lang="zh-CN" altLang="en-US" sz="2000" b="0" i="0" u="none" strike="noStrike" cap="none" normalizeH="0" baseline="0" smtClean="0">
                          <a:ln>
                            <a:noFill/>
                          </a:ln>
                          <a:solidFill>
                            <a:schemeClr val="tx1"/>
                          </a:solidFill>
                          <a:effectLst/>
                          <a:latin typeface="Arial" pitchFamily="34" charset="0"/>
                          <a:ea typeface="宋体" pitchFamily="2" charset="-122"/>
                        </a:rPr>
                        <a:t>指针数组</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3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普通文件的索引节点操作</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Ext2_file_inode_operations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287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目录文件的索引节点操作</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Ext2_dir_inode_operations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9209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链接文件的索引节点操作</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Ext2_symlink_operations/</a:t>
                      </a:r>
                    </a:p>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Page_symlink_operations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113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字符设备文件</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Chrdev_inode_operations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3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块设备文件</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Blkdev_inode_operations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827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命名管道</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Fifo_inode_operations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176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0" i="0" u="none" strike="noStrike" cap="none" normalizeH="0" baseline="0" smtClean="0">
                          <a:ln>
                            <a:noFill/>
                          </a:ln>
                          <a:solidFill>
                            <a:schemeClr val="tx1"/>
                          </a:solidFill>
                          <a:effectLst/>
                          <a:latin typeface="Arial" pitchFamily="34" charset="0"/>
                          <a:ea typeface="宋体" pitchFamily="2" charset="-122"/>
                        </a:rPr>
                        <a:t>文件操作</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tx1"/>
                          </a:solidFill>
                          <a:effectLst/>
                          <a:latin typeface="Arial" pitchFamily="34" charset="0"/>
                          <a:ea typeface="宋体" pitchFamily="2" charset="-122"/>
                        </a:rPr>
                        <a:t>ext2_file_operations</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024431708"/>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r>
              <a:rPr lang="en-US" altLang="zh-CN" smtClean="0"/>
              <a:t>EXT2</a:t>
            </a:r>
            <a:r>
              <a:rPr lang="zh-CN" altLang="en-US" smtClean="0"/>
              <a:t>文件系统的不足</a:t>
            </a:r>
          </a:p>
        </p:txBody>
      </p:sp>
      <p:sp>
        <p:nvSpPr>
          <p:cNvPr id="175107" name="Rectangle 3"/>
          <p:cNvSpPr>
            <a:spLocks noGrp="1" noChangeArrowheads="1"/>
          </p:cNvSpPr>
          <p:nvPr>
            <p:ph type="body" idx="1"/>
          </p:nvPr>
        </p:nvSpPr>
        <p:spPr/>
        <p:txBody>
          <a:bodyPr/>
          <a:lstStyle/>
          <a:p>
            <a:pPr eaLnBrk="1" hangingPunct="1"/>
            <a:r>
              <a:rPr lang="en-US" altLang="zh-CN" smtClean="0"/>
              <a:t>Linux</a:t>
            </a:r>
            <a:r>
              <a:rPr lang="zh-CN" altLang="en-US" smtClean="0"/>
              <a:t>的</a:t>
            </a:r>
            <a:r>
              <a:rPr lang="en-US" altLang="zh-CN" smtClean="0"/>
              <a:t>EXT2</a:t>
            </a:r>
            <a:r>
              <a:rPr lang="zh-CN" altLang="en-US" smtClean="0"/>
              <a:t>文件系统会先写入文件的内容，空闲时再写入文件的元数据。</a:t>
            </a:r>
          </a:p>
          <a:p>
            <a:pPr lvl="1" eaLnBrk="1" hangingPunct="1"/>
            <a:r>
              <a:rPr lang="zh-CN" altLang="en-US" smtClean="0"/>
              <a:t>元数据：文件的大小、存储位置、权限等等。</a:t>
            </a:r>
          </a:p>
          <a:p>
            <a:pPr lvl="1" eaLnBrk="1" hangingPunct="1"/>
            <a:r>
              <a:rPr lang="zh-CN" altLang="en-US" smtClean="0"/>
              <a:t>突然断电，文件系统就会处于不一致的状态。</a:t>
            </a:r>
          </a:p>
          <a:p>
            <a:pPr eaLnBrk="1" hangingPunct="1"/>
            <a:r>
              <a:rPr lang="zh-CN" altLang="en-US" smtClean="0"/>
              <a:t>日志文件的工作原理</a:t>
            </a:r>
          </a:p>
          <a:p>
            <a:pPr lvl="1" eaLnBrk="1" hangingPunct="1"/>
            <a:r>
              <a:rPr lang="zh-CN" altLang="en-US" smtClean="0"/>
              <a:t>在分区中保存一个日志记录文件，文件系统写操作首先是对该日志记录文件进行操作，若写操作中断时，下次系统启动时就会读日志记录文件的内容而恢复没有写完的操作，所用时间很短。</a:t>
            </a:r>
          </a:p>
        </p:txBody>
      </p:sp>
    </p:spTree>
    <p:extLst>
      <p:ext uri="{BB962C8B-B14F-4D97-AF65-F5344CB8AC3E}">
        <p14:creationId xmlns:p14="http://schemas.microsoft.com/office/powerpoint/2010/main" val="2496012869"/>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noFill/>
        </p:spPr>
        <p:txBody>
          <a:bodyPr/>
          <a:lstStyle/>
          <a:p>
            <a:pPr eaLnBrk="1" hangingPunct="1"/>
            <a:r>
              <a:rPr lang="en-US" altLang="zh-CN" smtClean="0"/>
              <a:t>EXT3</a:t>
            </a:r>
            <a:r>
              <a:rPr lang="zh-CN" altLang="en-US" smtClean="0"/>
              <a:t>文件系统</a:t>
            </a:r>
          </a:p>
        </p:txBody>
      </p:sp>
      <p:sp>
        <p:nvSpPr>
          <p:cNvPr id="176131" name="Rectangle 3"/>
          <p:cNvSpPr>
            <a:spLocks noGrp="1" noChangeArrowheads="1"/>
          </p:cNvSpPr>
          <p:nvPr>
            <p:ph type="body" idx="1"/>
          </p:nvPr>
        </p:nvSpPr>
        <p:spPr>
          <a:noFill/>
        </p:spPr>
        <p:txBody>
          <a:bodyPr/>
          <a:lstStyle/>
          <a:p>
            <a:pPr eaLnBrk="1" hangingPunct="1"/>
            <a:r>
              <a:rPr lang="zh-CN" altLang="en-US" sz="2200" smtClean="0"/>
              <a:t>日志文件系统</a:t>
            </a:r>
            <a:r>
              <a:rPr lang="en-US" altLang="zh-CN" sz="2200" smtClean="0"/>
              <a:t>(Journaling file system)</a:t>
            </a:r>
          </a:p>
          <a:p>
            <a:pPr eaLnBrk="1" hangingPunct="1"/>
            <a:r>
              <a:rPr lang="zh-CN" altLang="en-US" sz="2200" smtClean="0"/>
              <a:t>利用数据库的日志技术（</a:t>
            </a:r>
            <a:r>
              <a:rPr lang="en-US" altLang="zh-CN" sz="2200" smtClean="0"/>
              <a:t>log, checkpoint</a:t>
            </a:r>
            <a:r>
              <a:rPr lang="zh-CN" altLang="en-US" sz="2200" smtClean="0"/>
              <a:t>）</a:t>
            </a:r>
          </a:p>
        </p:txBody>
      </p:sp>
    </p:spTree>
    <p:extLst>
      <p:ext uri="{BB962C8B-B14F-4D97-AF65-F5344CB8AC3E}">
        <p14:creationId xmlns:p14="http://schemas.microsoft.com/office/powerpoint/2010/main" val="3950542711"/>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a:xfrm>
            <a:off x="1979613" y="333375"/>
            <a:ext cx="5843587" cy="788988"/>
          </a:xfrm>
        </p:spPr>
        <p:txBody>
          <a:bodyPr/>
          <a:lstStyle/>
          <a:p>
            <a:pPr eaLnBrk="1" hangingPunct="1"/>
            <a:r>
              <a:rPr lang="zh-CN" altLang="en-US" smtClean="0"/>
              <a:t>作业</a:t>
            </a:r>
            <a:r>
              <a:rPr lang="en-US" altLang="zh-CN" smtClean="0"/>
              <a:t>(1)</a:t>
            </a:r>
          </a:p>
        </p:txBody>
      </p:sp>
      <p:sp>
        <p:nvSpPr>
          <p:cNvPr id="177155" name="Rectangle 3"/>
          <p:cNvSpPr>
            <a:spLocks noGrp="1" noChangeArrowheads="1"/>
          </p:cNvSpPr>
          <p:nvPr>
            <p:ph type="body" idx="1"/>
          </p:nvPr>
        </p:nvSpPr>
        <p:spPr>
          <a:xfrm>
            <a:off x="468313" y="1196975"/>
            <a:ext cx="8353425" cy="5184775"/>
          </a:xfrm>
        </p:spPr>
        <p:txBody>
          <a:bodyPr/>
          <a:lstStyle/>
          <a:p>
            <a:pPr eaLnBrk="1" hangingPunct="1"/>
            <a:r>
              <a:rPr lang="en-US" altLang="zh-CN" sz="2400" smtClean="0"/>
              <a:t>Linux</a:t>
            </a:r>
            <a:r>
              <a:rPr lang="zh-CN" altLang="en-US" sz="2400" smtClean="0"/>
              <a:t>文件系统的特点是什么？</a:t>
            </a:r>
          </a:p>
          <a:p>
            <a:pPr eaLnBrk="1" hangingPunct="1"/>
            <a:r>
              <a:rPr lang="en-US" altLang="zh-CN" sz="2400" smtClean="0"/>
              <a:t>Linux</a:t>
            </a:r>
            <a:r>
              <a:rPr lang="zh-CN" altLang="en-US" sz="2400" smtClean="0"/>
              <a:t>文件系统的类型有几中，分别是什么？</a:t>
            </a:r>
          </a:p>
          <a:p>
            <a:pPr eaLnBrk="1" hangingPunct="1"/>
            <a:r>
              <a:rPr lang="zh-CN" altLang="en-US" sz="2400" smtClean="0"/>
              <a:t>什么是</a:t>
            </a:r>
            <a:r>
              <a:rPr lang="en-US" altLang="zh-CN" sz="2400" smtClean="0"/>
              <a:t>VFS</a:t>
            </a:r>
            <a:r>
              <a:rPr lang="zh-CN" altLang="en-US" sz="2400" smtClean="0"/>
              <a:t>？它有什么作用？它采用了什么思想？</a:t>
            </a:r>
          </a:p>
          <a:p>
            <a:pPr eaLnBrk="1" hangingPunct="1"/>
            <a:r>
              <a:rPr lang="zh-CN" altLang="en-US" sz="2400" smtClean="0"/>
              <a:t>为什么说</a:t>
            </a:r>
            <a:r>
              <a:rPr lang="en-US" altLang="zh-CN" sz="2400" smtClean="0"/>
              <a:t>U</a:t>
            </a:r>
            <a:r>
              <a:rPr lang="zh-CN" altLang="en-US" sz="2400" smtClean="0"/>
              <a:t>域是实现多种文件系统的关键？为什么要将</a:t>
            </a:r>
            <a:r>
              <a:rPr lang="en-US" altLang="zh-CN" sz="2400" smtClean="0"/>
              <a:t>U</a:t>
            </a:r>
            <a:r>
              <a:rPr lang="zh-CN" altLang="en-US" sz="2400" smtClean="0"/>
              <a:t>域复制到内存，如何解决它与磁盘内容不一致的问题？</a:t>
            </a:r>
          </a:p>
          <a:p>
            <a:pPr eaLnBrk="1" hangingPunct="1"/>
            <a:r>
              <a:rPr lang="en-US" altLang="zh-CN" sz="2400" smtClean="0"/>
              <a:t>Linux</a:t>
            </a:r>
            <a:r>
              <a:rPr lang="zh-CN" altLang="en-US" sz="2400" smtClean="0"/>
              <a:t>的</a:t>
            </a:r>
            <a:r>
              <a:rPr lang="en-US" altLang="zh-CN" sz="2400" smtClean="0"/>
              <a:t>VFS</a:t>
            </a:r>
            <a:r>
              <a:rPr lang="zh-CN" altLang="en-US" sz="2400" smtClean="0"/>
              <a:t>的相关数据结构有哪些？作用分别是什么？</a:t>
            </a:r>
          </a:p>
          <a:p>
            <a:pPr eaLnBrk="1" hangingPunct="1"/>
            <a:r>
              <a:rPr lang="zh-CN" altLang="en-US" sz="2400" smtClean="0"/>
              <a:t>设一个</a:t>
            </a:r>
            <a:r>
              <a:rPr lang="en-US" altLang="zh-CN" sz="2400" smtClean="0"/>
              <a:t>linux</a:t>
            </a:r>
            <a:r>
              <a:rPr lang="zh-CN" altLang="en-US" sz="2400" smtClean="0"/>
              <a:t>用户的当前工作目录是</a:t>
            </a:r>
            <a:r>
              <a:rPr lang="en-US" altLang="zh-CN" sz="2400" smtClean="0"/>
              <a:t>usr/mnt/dao1,</a:t>
            </a:r>
            <a:r>
              <a:rPr lang="zh-CN" altLang="en-US" sz="2400" smtClean="0"/>
              <a:t>如果系统管理员在</a:t>
            </a:r>
            <a:r>
              <a:rPr lang="en-US" altLang="zh-CN" sz="2400" smtClean="0"/>
              <a:t>usr/mnt/</a:t>
            </a:r>
            <a:r>
              <a:rPr lang="zh-CN" altLang="en-US" sz="2400" smtClean="0"/>
              <a:t>目录上安装了一个新的文件系统，这对用户会有什么影响？该用户是否能够继续看到</a:t>
            </a:r>
            <a:r>
              <a:rPr lang="en-US" altLang="zh-CN" sz="2400" smtClean="0"/>
              <a:t>/dao1</a:t>
            </a:r>
            <a:r>
              <a:rPr lang="zh-CN" altLang="en-US" sz="2400" smtClean="0"/>
              <a:t>目录下的文件？</a:t>
            </a:r>
          </a:p>
          <a:p>
            <a:pPr eaLnBrk="1" hangingPunct="1"/>
            <a:r>
              <a:rPr lang="zh-CN" altLang="en-US" sz="2400" smtClean="0"/>
              <a:t>为什么在超级块中设备</a:t>
            </a:r>
            <a:r>
              <a:rPr lang="en-US" altLang="zh-CN" sz="2400" smtClean="0"/>
              <a:t>dirty</a:t>
            </a:r>
            <a:r>
              <a:rPr lang="zh-CN" altLang="en-US" sz="2400" smtClean="0"/>
              <a:t>域？</a:t>
            </a:r>
          </a:p>
          <a:p>
            <a:pPr eaLnBrk="1" hangingPunct="1"/>
            <a:r>
              <a:rPr lang="en-US" altLang="zh-CN" sz="2400" smtClean="0"/>
              <a:t>Inode</a:t>
            </a:r>
            <a:r>
              <a:rPr lang="zh-CN" altLang="en-US" sz="2400" smtClean="0"/>
              <a:t>高速缓存与目录高速缓存的作用什么？</a:t>
            </a:r>
          </a:p>
          <a:p>
            <a:pPr eaLnBrk="1" hangingPunct="1">
              <a:buFont typeface="Wingdings" panose="05000000000000000000" pitchFamily="2" charset="2"/>
              <a:buNone/>
            </a:pPr>
            <a:endParaRPr lang="en-US" altLang="zh-CN" sz="2400" smtClean="0"/>
          </a:p>
        </p:txBody>
      </p:sp>
    </p:spTree>
    <p:extLst>
      <p:ext uri="{BB962C8B-B14F-4D97-AF65-F5344CB8AC3E}">
        <p14:creationId xmlns:p14="http://schemas.microsoft.com/office/powerpoint/2010/main" val="2032048667"/>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eaLnBrk="1" hangingPunct="1"/>
            <a:r>
              <a:rPr lang="zh-CN" altLang="en-US" smtClean="0"/>
              <a:t>作业</a:t>
            </a:r>
            <a:r>
              <a:rPr lang="en-US" altLang="zh-CN" smtClean="0"/>
              <a:t>(2)</a:t>
            </a:r>
          </a:p>
        </p:txBody>
      </p:sp>
      <p:sp>
        <p:nvSpPr>
          <p:cNvPr id="178179" name="Rectangle 3"/>
          <p:cNvSpPr>
            <a:spLocks noGrp="1" noChangeArrowheads="1"/>
          </p:cNvSpPr>
          <p:nvPr>
            <p:ph type="body" idx="1"/>
          </p:nvPr>
        </p:nvSpPr>
        <p:spPr/>
        <p:txBody>
          <a:bodyPr/>
          <a:lstStyle/>
          <a:p>
            <a:pPr marL="533400" indent="-533400" eaLnBrk="1" hangingPunct="1"/>
            <a:r>
              <a:rPr lang="zh-CN" altLang="en-US" sz="2400" smtClean="0"/>
              <a:t>假定进程以读方式打开一个文件后，再执行</a:t>
            </a:r>
            <a:r>
              <a:rPr lang="en-US" altLang="zh-CN" sz="2400" smtClean="0"/>
              <a:t>fork</a:t>
            </a:r>
            <a:r>
              <a:rPr lang="zh-CN" altLang="en-US" sz="2400" smtClean="0"/>
              <a:t>，父进程和子进程将都可以读这个文件。这两个进程的读操作和写操作各有何关系 </a:t>
            </a:r>
            <a:r>
              <a:rPr lang="en-US" altLang="zh-CN" sz="2400" smtClean="0"/>
              <a:t>?</a:t>
            </a:r>
          </a:p>
          <a:p>
            <a:pPr marL="533400" indent="-533400" eaLnBrk="1" hangingPunct="1"/>
            <a:r>
              <a:rPr lang="en-US" altLang="zh-CN" sz="2400" smtClean="0"/>
              <a:t>EXT2</a:t>
            </a:r>
            <a:r>
              <a:rPr lang="zh-CN" altLang="en-US" sz="2400" smtClean="0"/>
              <a:t>文件系统是如何减少磁盘碎片的？</a:t>
            </a:r>
          </a:p>
          <a:p>
            <a:pPr marL="533400" indent="-533400" eaLnBrk="1" hangingPunct="1"/>
            <a:r>
              <a:rPr lang="en-US" altLang="zh-CN" sz="2400" smtClean="0"/>
              <a:t>Linux</a:t>
            </a:r>
            <a:r>
              <a:rPr lang="zh-CN" altLang="en-US" sz="2400" smtClean="0"/>
              <a:t>文件系统为什么设计了一个磁盘</a:t>
            </a:r>
            <a:r>
              <a:rPr lang="en-US" altLang="zh-CN" sz="2400" smtClean="0"/>
              <a:t>i</a:t>
            </a:r>
            <a:r>
              <a:rPr lang="zh-CN" altLang="en-US" sz="2400" smtClean="0"/>
              <a:t>节点又设计了一个内存</a:t>
            </a:r>
            <a:r>
              <a:rPr lang="en-US" altLang="zh-CN" sz="2400" smtClean="0"/>
              <a:t>i</a:t>
            </a:r>
            <a:r>
              <a:rPr lang="zh-CN" altLang="en-US" sz="2400" smtClean="0"/>
              <a:t>节点，为什么内存</a:t>
            </a:r>
            <a:r>
              <a:rPr lang="en-US" altLang="zh-CN" sz="2400" smtClean="0"/>
              <a:t>i</a:t>
            </a:r>
            <a:r>
              <a:rPr lang="zh-CN" altLang="en-US" sz="2400" smtClean="0"/>
              <a:t>节点的内容和磁盘</a:t>
            </a:r>
            <a:r>
              <a:rPr lang="en-US" altLang="zh-CN" sz="2400" smtClean="0"/>
              <a:t>i</a:t>
            </a:r>
            <a:r>
              <a:rPr lang="zh-CN" altLang="en-US" sz="2400" smtClean="0"/>
              <a:t>节点内容不完全相同？</a:t>
            </a:r>
            <a:r>
              <a:rPr lang="zh-CN" altLang="en-US" sz="2200" smtClean="0"/>
              <a:t> </a:t>
            </a:r>
          </a:p>
          <a:p>
            <a:pPr marL="533400" indent="-533400" eaLnBrk="1" hangingPunct="1"/>
            <a:r>
              <a:rPr lang="zh-CN" altLang="en-US" sz="2400" smtClean="0"/>
              <a:t>为什么用户在第一次访问任何文件之前，都必须先调用</a:t>
            </a:r>
            <a:r>
              <a:rPr lang="en-US" altLang="zh-CN" sz="2400" smtClean="0"/>
              <a:t>open()</a:t>
            </a:r>
            <a:r>
              <a:rPr lang="zh-CN" altLang="en-US" sz="2400" smtClean="0"/>
              <a:t>系统调用来打开指定的文件，然后才能对该文件执行读、写以及修改操作</a:t>
            </a:r>
            <a:r>
              <a:rPr lang="en-US" altLang="zh-CN" sz="2400" smtClean="0"/>
              <a:t>,</a:t>
            </a:r>
            <a:r>
              <a:rPr lang="zh-CN" altLang="en-US" sz="2400" smtClean="0"/>
              <a:t>在对文件操作结束必须关闭文件。</a:t>
            </a:r>
          </a:p>
        </p:txBody>
      </p:sp>
    </p:spTree>
    <p:extLst>
      <p:ext uri="{BB962C8B-B14F-4D97-AF65-F5344CB8AC3E}">
        <p14:creationId xmlns:p14="http://schemas.microsoft.com/office/powerpoint/2010/main" val="3975136945"/>
      </p:ext>
    </p:extLst>
  </p:cSld>
  <p:clrMapOvr>
    <a:masterClrMapping/>
  </p:clrMapOvr>
  <p:timing>
    <p:tnLst>
      <p:par>
        <p:cTn id="1" dur="indefinite" restart="never" nodeType="tmRoot"/>
      </p:par>
    </p:tnLst>
  </p:timing>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kumimoji="0"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just"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kumimoji="0"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Layers</Template>
  <TotalTime>4591</TotalTime>
  <Words>10700</Words>
  <Application>Microsoft Office PowerPoint</Application>
  <PresentationFormat>全屏显示(4:3)</PresentationFormat>
  <Paragraphs>1211</Paragraphs>
  <Slides>160</Slides>
  <Notes>24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6</vt:i4>
      </vt:variant>
      <vt:variant>
        <vt:lpstr>幻灯片标题</vt:lpstr>
      </vt:variant>
      <vt:variant>
        <vt:i4>160</vt:i4>
      </vt:variant>
    </vt:vector>
  </HeadingPairs>
  <TitlesOfParts>
    <vt:vector size="178" baseType="lpstr">
      <vt:lpstr>Monotype Sorts</vt:lpstr>
      <vt:lpstr>song</vt:lpstr>
      <vt:lpstr>黑体</vt:lpstr>
      <vt:lpstr>华文中宋</vt:lpstr>
      <vt:lpstr>楷体_GB2312</vt:lpstr>
      <vt:lpstr>宋体</vt:lpstr>
      <vt:lpstr>Arial</vt:lpstr>
      <vt:lpstr>Helvetica</vt:lpstr>
      <vt:lpstr>Symbol</vt:lpstr>
      <vt:lpstr>Times New Roman</vt:lpstr>
      <vt:lpstr>Wingdings</vt:lpstr>
      <vt:lpstr>Layers</vt:lpstr>
      <vt:lpstr>BMP 图象</vt:lpstr>
      <vt:lpstr>位图图像</vt:lpstr>
      <vt:lpstr>Picture2</vt:lpstr>
      <vt:lpstr>Visio</vt:lpstr>
      <vt:lpstr>图片</vt:lpstr>
      <vt:lpstr>VISIO</vt:lpstr>
      <vt:lpstr>第7章  Linux文件系统</vt:lpstr>
      <vt:lpstr>7.1  Linux文件系统概述</vt:lpstr>
      <vt:lpstr>文件系统的类型</vt:lpstr>
      <vt:lpstr>文件系统的类型</vt:lpstr>
      <vt:lpstr>文件系统的类型</vt:lpstr>
      <vt:lpstr>Linux的文件系统树</vt:lpstr>
      <vt:lpstr>Linux的文件系统树</vt:lpstr>
      <vt:lpstr>Linux文件系统的特征</vt:lpstr>
      <vt:lpstr>安装点</vt:lpstr>
      <vt:lpstr> 7.2 虚拟文件系统VFS－引入</vt:lpstr>
      <vt:lpstr>7.2 虚拟文件系统VFS－引入</vt:lpstr>
      <vt:lpstr>7.2 虚拟文件系统VFS－引入</vt:lpstr>
      <vt:lpstr> Linux的虚拟文件系统接口-VFS接口</vt:lpstr>
      <vt:lpstr>7.2 虚拟文件系统VFS－引入</vt:lpstr>
      <vt:lpstr>举 例</vt:lpstr>
      <vt:lpstr>举例</vt:lpstr>
      <vt:lpstr>Linux文件系统的基本组成</vt:lpstr>
      <vt:lpstr>7.2 虚拟文件系统VFS</vt:lpstr>
      <vt:lpstr>7.2 虚拟文件系统VFS</vt:lpstr>
      <vt:lpstr>PowerPoint 演示文稿</vt:lpstr>
      <vt:lpstr>7.2 虚拟文件系统VFS</vt:lpstr>
      <vt:lpstr>PowerPoint 演示文稿</vt:lpstr>
      <vt:lpstr>VFS支持的文件系统类型</vt:lpstr>
      <vt:lpstr>VFS支持的文件系统类型</vt:lpstr>
      <vt:lpstr>VFS所处理的系统调用</vt:lpstr>
      <vt:lpstr>Linux通用文件模型</vt:lpstr>
      <vt:lpstr>7.3 VFS的数据结构</vt:lpstr>
      <vt:lpstr>与进程相关的文件</vt:lpstr>
      <vt:lpstr> 超级块 superblock：作用</vt:lpstr>
      <vt:lpstr> 超级块superblock</vt:lpstr>
      <vt:lpstr> 超级块</vt:lpstr>
      <vt:lpstr> 超级块superblock</vt:lpstr>
      <vt:lpstr>超级块superblock：操作</vt:lpstr>
      <vt:lpstr>超级块的U域</vt:lpstr>
      <vt:lpstr>Super block中的文件系统特有信息</vt:lpstr>
      <vt:lpstr>U域</vt:lpstr>
      <vt:lpstr>超级块的操作</vt:lpstr>
      <vt:lpstr>PowerPoint 演示文稿</vt:lpstr>
      <vt:lpstr>PowerPoint 演示文稿</vt:lpstr>
      <vt:lpstr>PowerPoint 演示文稿</vt:lpstr>
      <vt:lpstr>PowerPoint 演示文稿</vt:lpstr>
      <vt:lpstr>PowerPoint 演示文稿</vt:lpstr>
      <vt:lpstr>PowerPoint 演示文稿</vt:lpstr>
      <vt:lpstr>抽象与具体</vt:lpstr>
      <vt:lpstr>VFS索引节点 VFS Inode</vt:lpstr>
      <vt:lpstr>VFS  inode结构</vt:lpstr>
      <vt:lpstr>VFS  Inode结构</vt:lpstr>
      <vt:lpstr>U域:存放各种文件系统特有的Inode信息</vt:lpstr>
      <vt:lpstr>inode.U</vt:lpstr>
      <vt:lpstr>PowerPoint 演示文稿</vt:lpstr>
      <vt:lpstr>VFS的目录项（ dentry）</vt:lpstr>
      <vt:lpstr>VFS的目录项(dentry)</vt:lpstr>
      <vt:lpstr>dentry</vt:lpstr>
      <vt:lpstr>dentry</vt:lpstr>
      <vt:lpstr>dentry</vt:lpstr>
      <vt:lpstr>PowerPoint 演示文稿</vt:lpstr>
      <vt:lpstr>PowerPoint 演示文稿</vt:lpstr>
      <vt:lpstr>7.4 文件系统的注册与安装</vt:lpstr>
      <vt:lpstr>file_system_type结构 </vt:lpstr>
      <vt:lpstr>文件系统的注册</vt:lpstr>
      <vt:lpstr>文件系统类型的注册</vt:lpstr>
      <vt:lpstr>  文件系统的注册</vt:lpstr>
      <vt:lpstr>文件系统的初始化函数</vt:lpstr>
      <vt:lpstr> EXT2文件系统的初始化函数</vt:lpstr>
      <vt:lpstr>文件系统的安装</vt:lpstr>
      <vt:lpstr>PowerPoint 演示文稿</vt:lpstr>
      <vt:lpstr>文件系统的安装</vt:lpstr>
      <vt:lpstr>文件系统的安装：几种途径</vt:lpstr>
      <vt:lpstr>文件系统安装：数据结构</vt:lpstr>
      <vt:lpstr>PowerPoint 演示文稿</vt:lpstr>
      <vt:lpstr>已安装文件系统</vt:lpstr>
      <vt:lpstr>已安装的文件系统数据结构(1)</vt:lpstr>
      <vt:lpstr>已安装的文件系统数据结构(2)</vt:lpstr>
      <vt:lpstr>PowerPoint 演示文稿</vt:lpstr>
      <vt:lpstr>  文件系统的注册、安装过程</vt:lpstr>
      <vt:lpstr>文件系统的注册、安装过程</vt:lpstr>
      <vt:lpstr>已安装文件系统</vt:lpstr>
      <vt:lpstr>文件系统安装（续）</vt:lpstr>
      <vt:lpstr>文件系统安装（续）</vt:lpstr>
      <vt:lpstr>文件系统安装（续）</vt:lpstr>
      <vt:lpstr>7.5 路径名查找</vt:lpstr>
      <vt:lpstr>路径名查找</vt:lpstr>
      <vt:lpstr>路径名查找</vt:lpstr>
      <vt:lpstr>路径名查找</vt:lpstr>
      <vt:lpstr>PowerPoint 演示文稿</vt:lpstr>
      <vt:lpstr>路径名查找：跨文件系统</vt:lpstr>
      <vt:lpstr>路径名查找：举例</vt:lpstr>
      <vt:lpstr>文件查找（续）</vt:lpstr>
      <vt:lpstr>文件查找（续）</vt:lpstr>
      <vt:lpstr>文件查找（续）</vt:lpstr>
      <vt:lpstr>7.6 Linux文件和目录访问</vt:lpstr>
      <vt:lpstr>PowerPoint 演示文稿</vt:lpstr>
      <vt:lpstr>PowerPoint 演示文稿</vt:lpstr>
      <vt:lpstr>PowerPoint 演示文稿</vt:lpstr>
      <vt:lpstr>VFS系统调用的实现</vt:lpstr>
      <vt:lpstr>open()系统调用</vt:lpstr>
      <vt:lpstr>PowerPoint 演示文稿</vt:lpstr>
      <vt:lpstr>read和write系统调用</vt:lpstr>
      <vt:lpstr>close系统调用 </vt:lpstr>
      <vt:lpstr>PowerPoint 演示文稿</vt:lpstr>
      <vt:lpstr>7.7 进程与文件系统的联系</vt:lpstr>
      <vt:lpstr>系统打开文件表</vt:lpstr>
      <vt:lpstr>file结构</vt:lpstr>
      <vt:lpstr>PowerPoint 演示文稿</vt:lpstr>
      <vt:lpstr> </vt:lpstr>
      <vt:lpstr>PowerPoint 演示文稿</vt:lpstr>
      <vt:lpstr>fs_struct结构</vt:lpstr>
      <vt:lpstr>PowerPoint 演示文稿</vt:lpstr>
      <vt:lpstr>PowerPoint 演示文稿</vt:lpstr>
      <vt:lpstr>用户打开文件表与系统打开文件表之间的关系</vt:lpstr>
      <vt:lpstr>PowerPoint 演示文稿</vt:lpstr>
      <vt:lpstr>7.8 EXT2文件系统</vt:lpstr>
      <vt:lpstr>Linux的磁盘组织</vt:lpstr>
      <vt:lpstr>PowerPoint 演示文稿</vt:lpstr>
      <vt:lpstr>Linux减少碎片的方案</vt:lpstr>
      <vt:lpstr>Linux减少碎片的方案</vt:lpstr>
      <vt:lpstr>EXT2文件系统的磁盘组织</vt:lpstr>
      <vt:lpstr>EXT2块组</vt:lpstr>
      <vt:lpstr>EXT2文件系统的物理结构</vt:lpstr>
      <vt:lpstr>PowerPoint 演示文稿</vt:lpstr>
      <vt:lpstr>PowerPoint 演示文稿</vt:lpstr>
      <vt:lpstr>PowerPoint 演示文稿</vt:lpstr>
      <vt:lpstr>PowerPoint 演示文稿</vt:lpstr>
      <vt:lpstr>PowerPoint 演示文稿</vt:lpstr>
      <vt:lpstr>EXT2的系统引导块</vt:lpstr>
      <vt:lpstr>EXT2的超级块</vt:lpstr>
      <vt:lpstr>EXT2的超级块</vt:lpstr>
      <vt:lpstr>超级块</vt:lpstr>
      <vt:lpstr>PowerPoint 演示文稿</vt:lpstr>
      <vt:lpstr>Linux 2.4.18中在内存中记录ext2超级块的数据结构</vt:lpstr>
      <vt:lpstr>EXT2的组描述符</vt:lpstr>
      <vt:lpstr>EXT2的组描述符</vt:lpstr>
      <vt:lpstr>PowerPoint 演示文稿</vt:lpstr>
      <vt:lpstr>EXT2的Inode表和Inode位图</vt:lpstr>
      <vt:lpstr>EXT2的inode表和inode位图</vt:lpstr>
      <vt:lpstr>PowerPoint 演示文稿</vt:lpstr>
      <vt:lpstr>PowerPoint 演示文稿</vt:lpstr>
      <vt:lpstr>PowerPoint 演示文稿</vt:lpstr>
      <vt:lpstr>关于索引节点中的i_block[]</vt:lpstr>
      <vt:lpstr>EXT2 内存inode</vt:lpstr>
      <vt:lpstr>EXT2的块位图</vt:lpstr>
      <vt:lpstr>EXT2中的目录项和文件类型 </vt:lpstr>
      <vt:lpstr>PowerPoint 演示文稿</vt:lpstr>
      <vt:lpstr>EXT2支持的文件类型 </vt:lpstr>
      <vt:lpstr>注意：</vt:lpstr>
      <vt:lpstr>Ext2提供的各种对象方法</vt:lpstr>
      <vt:lpstr>PowerPoint 演示文稿</vt:lpstr>
      <vt:lpstr>PowerPoint 演示文稿</vt:lpstr>
      <vt:lpstr>文件数据在磁盘上的组织</vt:lpstr>
      <vt:lpstr>PowerPoint 演示文稿</vt:lpstr>
      <vt:lpstr>PowerPoint 演示文稿</vt:lpstr>
      <vt:lpstr>PowerPoint 演示文稿</vt:lpstr>
      <vt:lpstr>Ext2的内存数据结构</vt:lpstr>
      <vt:lpstr>Ext2的内存数据结构（续）</vt:lpstr>
      <vt:lpstr>ext2方法</vt:lpstr>
      <vt:lpstr>PowerPoint 演示文稿</vt:lpstr>
      <vt:lpstr>EXT2文件系统的不足</vt:lpstr>
      <vt:lpstr>EXT3文件系统</vt:lpstr>
      <vt:lpstr>作业(1)</vt:lpstr>
      <vt:lpstr>作业(2)</vt:lpstr>
    </vt:vector>
  </TitlesOfParts>
  <Company>浙江大学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wang</cp:lastModifiedBy>
  <cp:revision>1004</cp:revision>
  <dcterms:created xsi:type="dcterms:W3CDTF">2004-05-27T03:33:25Z</dcterms:created>
  <dcterms:modified xsi:type="dcterms:W3CDTF">2020-02-12T06:01:57Z</dcterms:modified>
</cp:coreProperties>
</file>