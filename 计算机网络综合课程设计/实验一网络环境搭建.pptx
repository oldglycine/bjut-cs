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29"/>
  </p:notesMasterIdLst>
  <p:handoutMasterIdLst>
    <p:handoutMasterId r:id="rId30"/>
  </p:handoutMasterIdLst>
  <p:sldIdLst>
    <p:sldId id="359" r:id="rId2"/>
    <p:sldId id="366" r:id="rId3"/>
    <p:sldId id="367" r:id="rId4"/>
    <p:sldId id="319" r:id="rId5"/>
    <p:sldId id="320" r:id="rId6"/>
    <p:sldId id="321" r:id="rId7"/>
    <p:sldId id="322" r:id="rId8"/>
    <p:sldId id="368" r:id="rId9"/>
    <p:sldId id="379" r:id="rId10"/>
    <p:sldId id="380" r:id="rId11"/>
    <p:sldId id="281" r:id="rId12"/>
    <p:sldId id="283" r:id="rId13"/>
    <p:sldId id="285" r:id="rId14"/>
    <p:sldId id="362" r:id="rId15"/>
    <p:sldId id="363" r:id="rId16"/>
    <p:sldId id="364" r:id="rId17"/>
    <p:sldId id="330" r:id="rId18"/>
    <p:sldId id="331" r:id="rId19"/>
    <p:sldId id="361" r:id="rId20"/>
    <p:sldId id="373" r:id="rId21"/>
    <p:sldId id="376" r:id="rId22"/>
    <p:sldId id="375" r:id="rId23"/>
    <p:sldId id="369" r:id="rId24"/>
    <p:sldId id="370" r:id="rId25"/>
    <p:sldId id="374" r:id="rId26"/>
    <p:sldId id="377" r:id="rId27"/>
    <p:sldId id="378" r:id="rId28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749B"/>
    <a:srgbClr val="2C59E0"/>
    <a:srgbClr val="6A6A6A"/>
    <a:srgbClr val="0AA37C"/>
    <a:srgbClr val="0ED6A2"/>
    <a:srgbClr val="5A5A5A"/>
    <a:srgbClr val="C19B01"/>
    <a:srgbClr val="26269B"/>
    <a:srgbClr val="4E4E4E"/>
    <a:srgbClr val="264D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41" autoAdjust="0"/>
    <p:restoredTop sz="77963" autoAdjust="0"/>
  </p:normalViewPr>
  <p:slideViewPr>
    <p:cSldViewPr>
      <p:cViewPr varScale="1">
        <p:scale>
          <a:sx n="87" d="100"/>
          <a:sy n="87" d="100"/>
        </p:scale>
        <p:origin x="230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-1692" y="-10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99" tIns="49500" rIns="98999" bIns="49500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99" tIns="49500" rIns="98999" bIns="49500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4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99" tIns="49500" rIns="98999" bIns="49500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4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99" tIns="49500" rIns="98999" bIns="49500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fld id="{42AEF961-42EF-42F7-A1BA-7F012881C49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6075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99" tIns="49500" rIns="98999" bIns="49500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99" tIns="49500" rIns="98999" bIns="49500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93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99" tIns="49500" rIns="98999" bIns="495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93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99" tIns="49500" rIns="98999" bIns="49500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93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99" tIns="49500" rIns="98999" bIns="49500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fld id="{C1B32B8F-4826-497E-A386-3790A6D1C89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39350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B32B8F-4826-497E-A386-3790A6D1C899}" type="slidenum">
              <a:rPr lang="zh-CN" altLang="en-US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5994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B32B8F-4826-497E-A386-3790A6D1C899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3835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="" xmlns:a16="http://schemas.microsoft.com/office/drawing/2014/main" id="{E3421EBE-2884-EF3E-15C3-E45009835A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fld id="{78D994F8-46D0-F746-A27F-CF0391C840A7}" type="slidenum">
              <a:rPr lang="en-US" altLang="zh-CN" sz="1200" smtClean="0">
                <a:latin typeface="Arial" panose="020B0604020202020204" pitchFamily="34" charset="0"/>
              </a:rPr>
              <a:pPr/>
              <a:t>4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="" xmlns:a16="http://schemas.microsoft.com/office/drawing/2014/main" id="{12AEF8A7-A0F9-4BBC-4137-1B90BE8725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1747" name="Rectangle 3">
            <a:extLst>
              <a:ext uri="{FF2B5EF4-FFF2-40B4-BE49-F238E27FC236}">
                <a16:creationId xmlns="" xmlns:a16="http://schemas.microsoft.com/office/drawing/2014/main" id="{F878BF91-C1BE-B7B6-546A-24D1F16294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是神州</a:t>
            </a:r>
            <a:r>
              <a:rPr lang="zh-CN" altLang="en-US" dirty="0"/>
              <a:t>数码的路由器交换机机柜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92842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="" xmlns:a16="http://schemas.microsoft.com/office/drawing/2014/main" id="{FAC96B0C-1ACC-B60E-7236-2CFC37ACC6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fld id="{1C751B8B-3EB3-1643-ADD6-CC8099551C1D}" type="slidenum">
              <a:rPr lang="en-US" altLang="zh-CN" sz="1200" smtClean="0">
                <a:latin typeface="Arial" panose="020B0604020202020204" pitchFamily="34" charset="0"/>
              </a:rPr>
              <a:pPr/>
              <a:t>5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="" xmlns:a16="http://schemas.microsoft.com/office/drawing/2014/main" id="{7831ADEC-C887-FFF8-D73B-F174FFD367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3795" name="Rectangle 3">
            <a:extLst>
              <a:ext uri="{FF2B5EF4-FFF2-40B4-BE49-F238E27FC236}">
                <a16:creationId xmlns="" xmlns:a16="http://schemas.microsoft.com/office/drawing/2014/main" id="{8DA8981B-AD1A-D2BD-09F2-D113793AE5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路由器由两个以太网口</a:t>
            </a:r>
            <a:r>
              <a:rPr lang="en-US" altLang="zh-CN" dirty="0"/>
              <a:t>TP0</a:t>
            </a:r>
            <a:r>
              <a:rPr lang="zh-CN" altLang="en-US" dirty="0"/>
              <a:t>、</a:t>
            </a:r>
            <a:r>
              <a:rPr lang="en-US" altLang="zh-CN" dirty="0"/>
              <a:t>TP3</a:t>
            </a:r>
            <a:r>
              <a:rPr lang="zh-CN" altLang="en-US" dirty="0"/>
              <a:t>，两个串口</a:t>
            </a:r>
            <a:r>
              <a:rPr lang="en-US" altLang="zh-CN" dirty="0"/>
              <a:t>Seral1</a:t>
            </a:r>
            <a:r>
              <a:rPr lang="zh-CN" altLang="en-US" dirty="0"/>
              <a:t>、 </a:t>
            </a:r>
            <a:r>
              <a:rPr lang="en-US" altLang="zh-CN" dirty="0"/>
              <a:t>Seral2</a:t>
            </a:r>
            <a:r>
              <a:rPr lang="zh-CN" altLang="en-US" dirty="0"/>
              <a:t>，和一个</a:t>
            </a:r>
            <a:r>
              <a:rPr lang="en-US" altLang="zh-CN" dirty="0"/>
              <a:t>Console</a:t>
            </a:r>
            <a:r>
              <a:rPr lang="zh-CN" altLang="en-US" dirty="0"/>
              <a:t>口</a:t>
            </a:r>
            <a:r>
              <a:rPr lang="en-US" altLang="zh-CN" dirty="0"/>
              <a:t>(</a:t>
            </a:r>
            <a:r>
              <a:rPr lang="zh-CN" altLang="en-US" dirty="0"/>
              <a:t>配置路由器</a:t>
            </a:r>
            <a:r>
              <a:rPr lang="en-US" altLang="zh-CN" dirty="0"/>
              <a:t>)</a:t>
            </a:r>
            <a:r>
              <a:rPr lang="zh-CN" altLang="en-US" dirty="0"/>
              <a:t>组成。每组两台路由器，串口一一对应</a:t>
            </a:r>
            <a:r>
              <a:rPr lang="en-US" altLang="zh-CN" dirty="0"/>
              <a:t>S1-S1</a:t>
            </a:r>
            <a:r>
              <a:rPr lang="zh-CN" altLang="en-US" dirty="0"/>
              <a:t>，</a:t>
            </a:r>
            <a:r>
              <a:rPr lang="en-US" altLang="zh-CN" dirty="0"/>
              <a:t>S2-S2;</a:t>
            </a:r>
          </a:p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61790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="" xmlns:a16="http://schemas.microsoft.com/office/drawing/2014/main" id="{2FB29243-F3D6-2DFD-2539-E32A00A273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fld id="{40441E7E-B45D-E442-867F-D3C33D328E39}" type="slidenum">
              <a:rPr lang="en-US" altLang="zh-CN" sz="1200" smtClean="0">
                <a:latin typeface="Arial" panose="020B0604020202020204" pitchFamily="34" charset="0"/>
              </a:rPr>
              <a:pPr/>
              <a:t>6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="" xmlns:a16="http://schemas.microsoft.com/office/drawing/2014/main" id="{BCEC10B0-DC6E-DC05-01F1-A0797DD09B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="" xmlns:a16="http://schemas.microsoft.com/office/drawing/2014/main" id="{6D77E99A-7885-8D1F-6A49-C6FA304652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一组两个路由器，</a:t>
            </a:r>
            <a:r>
              <a:rPr lang="en-US" altLang="zh-CN"/>
              <a:t>A</a:t>
            </a:r>
            <a:r>
              <a:rPr lang="zh-CN" altLang="en-US"/>
              <a:t>为上面的路由器，</a:t>
            </a:r>
            <a:r>
              <a:rPr lang="en-US" altLang="zh-CN"/>
              <a:t>B</a:t>
            </a:r>
            <a:r>
              <a:rPr lang="zh-CN" altLang="en-US"/>
              <a:t>为下面的路由器</a:t>
            </a:r>
          </a:p>
        </p:txBody>
      </p:sp>
    </p:spTree>
    <p:extLst>
      <p:ext uri="{BB962C8B-B14F-4D97-AF65-F5344CB8AC3E}">
        <p14:creationId xmlns:p14="http://schemas.microsoft.com/office/powerpoint/2010/main" val="962461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B32B8F-4826-497E-A386-3790A6D1C899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4043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路由器后端有一个</a:t>
            </a:r>
            <a:r>
              <a:rPr lang="en-US" altLang="zh-CN" dirty="0"/>
              <a:t>RJ-45</a:t>
            </a:r>
            <a:r>
              <a:rPr lang="zh-CN" altLang="en-US" dirty="0"/>
              <a:t>的控制端口，是路由器进行配置时的接口。</a:t>
            </a:r>
          </a:p>
          <a:p>
            <a:pPr eaLnBrk="1" hangingPunct="1"/>
            <a:r>
              <a:rPr lang="zh-CN" altLang="en-US" dirty="0"/>
              <a:t>将专用配置线的一端连接到路由器的</a:t>
            </a:r>
            <a:r>
              <a:rPr lang="en-US" altLang="zh-CN" dirty="0"/>
              <a:t>Console</a:t>
            </a:r>
            <a:r>
              <a:rPr lang="zh-CN" altLang="en-US" dirty="0"/>
              <a:t>口，另一端连接到</a:t>
            </a:r>
            <a:r>
              <a:rPr lang="en-US" altLang="zh-CN" dirty="0"/>
              <a:t>PC</a:t>
            </a:r>
            <a:r>
              <a:rPr lang="zh-CN" altLang="en-US" dirty="0"/>
              <a:t>机串口</a:t>
            </a:r>
            <a:r>
              <a:rPr lang="en-US" altLang="zh-CN" dirty="0"/>
              <a:t>(</a:t>
            </a:r>
            <a:r>
              <a:rPr lang="zh-CN" altLang="en-US" dirty="0"/>
              <a:t>或</a:t>
            </a:r>
            <a:r>
              <a:rPr lang="en-US" altLang="zh-CN" dirty="0"/>
              <a:t>RJ-45</a:t>
            </a:r>
            <a:r>
              <a:rPr lang="zh-CN" altLang="en-US" dirty="0"/>
              <a:t>到</a:t>
            </a:r>
            <a:r>
              <a:rPr lang="en-US" altLang="zh-CN" dirty="0"/>
              <a:t>DB-9</a:t>
            </a:r>
            <a:r>
              <a:rPr lang="zh-CN" altLang="en-US" dirty="0"/>
              <a:t>的接口转换器</a:t>
            </a:r>
            <a:r>
              <a:rPr lang="en-US" altLang="zh-CN" dirty="0"/>
              <a:t>)</a:t>
            </a:r>
            <a:r>
              <a:rPr lang="zh-CN" altLang="en-US" dirty="0"/>
              <a:t>上。 通过</a:t>
            </a:r>
            <a:r>
              <a:rPr lang="en-US" altLang="zh-CN" dirty="0"/>
              <a:t>PC</a:t>
            </a:r>
            <a:r>
              <a:rPr lang="zh-CN" altLang="en-US" dirty="0"/>
              <a:t>对路由器进行配置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B32B8F-4826-497E-A386-3790A6D1C899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52365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有的</a:t>
            </a:r>
            <a:r>
              <a:rPr lang="en-US" altLang="zh-CN" dirty="0" err="1" smtClean="0"/>
              <a:t>puTTY</a:t>
            </a:r>
            <a:r>
              <a:rPr lang="zh-CN" altLang="en-US" dirty="0" smtClean="0"/>
              <a:t>里，用 </a:t>
            </a:r>
            <a:r>
              <a:rPr lang="en-US" altLang="zh-CN" dirty="0" err="1" smtClean="0"/>
              <a:t>shift+backspace</a:t>
            </a:r>
            <a:r>
              <a:rPr lang="en-US" altLang="zh-CN" dirty="0" smtClean="0"/>
              <a:t> </a:t>
            </a:r>
            <a:r>
              <a:rPr lang="zh-CN" altLang="en-US" dirty="0" smtClean="0"/>
              <a:t>删除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检查</a:t>
            </a:r>
            <a:r>
              <a:rPr lang="en-US" altLang="zh-CN" dirty="0" smtClean="0"/>
              <a:t>ping</a:t>
            </a:r>
            <a:r>
              <a:rPr lang="zh-CN" altLang="en-US" dirty="0" smtClean="0"/>
              <a:t>通时，建议用 </a:t>
            </a:r>
            <a:r>
              <a:rPr lang="en-US" altLang="zh-CN" dirty="0" err="1" smtClean="0"/>
              <a:t>tracert</a:t>
            </a:r>
            <a:r>
              <a:rPr lang="zh-CN" altLang="en-US" smtClean="0"/>
              <a:t> 检查路由过程。</a:t>
            </a:r>
            <a:endParaRPr lang="en-US" altLang="zh-CN" smtClean="0"/>
          </a:p>
          <a:p>
            <a:r>
              <a:rPr lang="zh-CN" altLang="en-US" dirty="0" smtClean="0"/>
              <a:t>路由表正确的话，</a:t>
            </a:r>
            <a:r>
              <a:rPr lang="en-US" altLang="zh-CN" dirty="0" err="1" smtClean="0"/>
              <a:t>tracert</a:t>
            </a:r>
            <a:r>
              <a:rPr lang="zh-CN" altLang="en-US" dirty="0" smtClean="0"/>
              <a:t>快；如果很慢，路由表估计有多余项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B32B8F-4826-497E-A386-3790A6D1C899}" type="slidenum">
              <a:rPr lang="zh-CN" altLang="en-US" smtClean="0"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804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有的</a:t>
            </a:r>
            <a:r>
              <a:rPr lang="en-US" altLang="zh-CN" dirty="0" err="1" smtClean="0"/>
              <a:t>puTTY</a:t>
            </a:r>
            <a:r>
              <a:rPr lang="zh-CN" altLang="en-US" dirty="0" smtClean="0"/>
              <a:t>里，用 </a:t>
            </a:r>
            <a:r>
              <a:rPr lang="en-US" altLang="zh-CN" dirty="0" err="1" smtClean="0"/>
              <a:t>shift+backspace</a:t>
            </a:r>
            <a:r>
              <a:rPr lang="en-US" altLang="zh-CN" dirty="0" smtClean="0"/>
              <a:t> </a:t>
            </a:r>
            <a:r>
              <a:rPr lang="zh-CN" altLang="en-US" dirty="0" smtClean="0"/>
              <a:t>删除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检查</a:t>
            </a:r>
            <a:r>
              <a:rPr lang="en-US" altLang="zh-CN" dirty="0" smtClean="0"/>
              <a:t>ping</a:t>
            </a:r>
            <a:r>
              <a:rPr lang="zh-CN" altLang="en-US" dirty="0" smtClean="0"/>
              <a:t>通时，建议用 </a:t>
            </a:r>
            <a:r>
              <a:rPr lang="en-US" altLang="zh-CN" dirty="0" err="1" smtClean="0"/>
              <a:t>tracert</a:t>
            </a:r>
            <a:r>
              <a:rPr lang="zh-CN" altLang="en-US" smtClean="0"/>
              <a:t> 检查路由过程。</a:t>
            </a:r>
            <a:endParaRPr lang="en-US" altLang="zh-CN" smtClean="0"/>
          </a:p>
          <a:p>
            <a:r>
              <a:rPr lang="zh-CN" altLang="en-US" dirty="0" smtClean="0"/>
              <a:t>路由表正确的话，</a:t>
            </a:r>
            <a:r>
              <a:rPr lang="en-US" altLang="zh-CN" dirty="0" err="1" smtClean="0"/>
              <a:t>tracert</a:t>
            </a:r>
            <a:r>
              <a:rPr lang="zh-CN" altLang="en-US" dirty="0" smtClean="0"/>
              <a:t>快；如果很慢，路由表估计有多余项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B32B8F-4826-497E-A386-3790A6D1C899}" type="slidenum">
              <a:rPr lang="zh-CN" altLang="en-US" smtClean="0"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08330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 dirty="0" err="1"/>
              <a:t>Router_config#router</a:t>
            </a:r>
            <a:r>
              <a:rPr kumimoji="1" lang="en" altLang="zh-CN" dirty="0"/>
              <a:t> rip  </a:t>
            </a:r>
            <a:r>
              <a:rPr kumimoji="1" lang="zh-CN" altLang="en-US" dirty="0"/>
              <a:t>   </a:t>
            </a:r>
            <a:r>
              <a:rPr kumimoji="1" lang="en" altLang="zh-CN" dirty="0"/>
              <a:t>// </a:t>
            </a:r>
            <a:r>
              <a:rPr kumimoji="1" lang="zh-CN" altLang="en-US" dirty="0"/>
              <a:t>配置</a:t>
            </a:r>
            <a:r>
              <a:rPr kumimoji="1" lang="en" altLang="zh-CN" dirty="0"/>
              <a:t>RIP</a:t>
            </a:r>
            <a:r>
              <a:rPr kumimoji="1" lang="zh-CN" altLang="en-US" dirty="0"/>
              <a:t>动态路由</a:t>
            </a:r>
          </a:p>
          <a:p>
            <a:r>
              <a:rPr kumimoji="1" lang="en" altLang="zh-CN" dirty="0" err="1"/>
              <a:t>Router_config_</a:t>
            </a:r>
            <a:r>
              <a:rPr kumimoji="1" lang="en" altLang="zh-CN" i="1" dirty="0" err="1"/>
              <a:t>router</a:t>
            </a:r>
            <a:r>
              <a:rPr kumimoji="1" lang="en" altLang="zh-CN" dirty="0"/>
              <a:t># network </a:t>
            </a:r>
            <a:r>
              <a:rPr kumimoji="1" lang="en" altLang="zh-CN" i="1" dirty="0"/>
              <a:t>network</a:t>
            </a:r>
            <a:r>
              <a:rPr kumimoji="1" lang="en" altLang="zh-CN" dirty="0"/>
              <a:t> </a:t>
            </a:r>
            <a:r>
              <a:rPr kumimoji="1" lang="en" altLang="zh-CN" i="1" dirty="0" err="1"/>
              <a:t>subnet_mask</a:t>
            </a:r>
            <a:r>
              <a:rPr kumimoji="1" lang="zh-CN" altLang="en-US" i="1" dirty="0"/>
              <a:t> </a:t>
            </a:r>
            <a:r>
              <a:rPr kumimoji="1" lang="en-US" altLang="zh-CN" i="0" dirty="0"/>
              <a:t>//</a:t>
            </a:r>
            <a:r>
              <a:rPr kumimoji="1" lang="zh-CN" altLang="en-US" i="0" dirty="0"/>
              <a:t> 配置加入</a:t>
            </a:r>
            <a:r>
              <a:rPr kumimoji="1" lang="en-US" altLang="zh-CN" i="0" dirty="0"/>
              <a:t>RIP</a:t>
            </a:r>
            <a:r>
              <a:rPr kumimoji="1" lang="zh-CN" altLang="en-US" i="0" dirty="0"/>
              <a:t>的网络地址</a:t>
            </a:r>
          </a:p>
          <a:p>
            <a:r>
              <a:rPr kumimoji="1" lang="en" altLang="zh-CN" dirty="0" err="1"/>
              <a:t>Router_config_</a:t>
            </a:r>
            <a:r>
              <a:rPr kumimoji="1" lang="en" altLang="zh-CN" i="1" dirty="0" err="1"/>
              <a:t>route</a:t>
            </a:r>
            <a:r>
              <a:rPr kumimoji="1" lang="en" altLang="zh-CN" dirty="0" err="1"/>
              <a:t>r</a:t>
            </a:r>
            <a:r>
              <a:rPr kumimoji="1" lang="en" altLang="zh-CN" dirty="0"/>
              <a:t># redistribute connect</a:t>
            </a:r>
            <a:r>
              <a:rPr kumimoji="1" lang="zh-CN" altLang="en-US" dirty="0"/>
              <a:t>        </a:t>
            </a:r>
            <a:r>
              <a:rPr kumimoji="1" lang="en-US" altLang="zh-CN" dirty="0"/>
              <a:t>//</a:t>
            </a:r>
            <a:r>
              <a:rPr kumimoji="1" lang="zh-CN" altLang="en-US" dirty="0"/>
              <a:t> 配置路由转发  </a:t>
            </a:r>
            <a:endParaRPr kumimoji="1" lang="en" altLang="zh-CN" dirty="0"/>
          </a:p>
          <a:p>
            <a:r>
              <a:rPr kumimoji="1" lang="en" altLang="zh-CN" dirty="0" err="1"/>
              <a:t>Router_config_</a:t>
            </a:r>
            <a:r>
              <a:rPr kumimoji="1" lang="en" altLang="zh-CN" i="1" dirty="0" err="1"/>
              <a:t>router</a:t>
            </a:r>
            <a:r>
              <a:rPr kumimoji="1" lang="en" altLang="zh-CN" dirty="0"/>
              <a:t># version 2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B32B8F-4826-497E-A386-3790A6D1C899}" type="slidenum">
              <a:rPr lang="zh-CN" altLang="en-US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00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宋体" panose="02010600030101010101" pitchFamily="2" charset="-122"/>
              </a:rPr>
              <a:t>Serial Interface (DCE) (no clock for DTE)</a:t>
            </a:r>
          </a:p>
          <a:p>
            <a:pPr eaLnBrk="1" hangingPunct="1"/>
            <a:r>
              <a:rPr lang="en-US" altLang="zh-CN" dirty="0">
                <a:latin typeface="宋体" panose="02010600030101010101" pitchFamily="2" charset="-122"/>
              </a:rPr>
              <a:t>Router0(config)#interface serial 0/2</a:t>
            </a:r>
          </a:p>
          <a:p>
            <a:pPr eaLnBrk="1" hangingPunct="1"/>
            <a:r>
              <a:rPr lang="en-US" altLang="zh-CN" dirty="0">
                <a:latin typeface="宋体" panose="02010600030101010101" pitchFamily="2" charset="-122"/>
              </a:rPr>
              <a:t>Router0(config-if)#clock rate 64000  //</a:t>
            </a:r>
            <a:r>
              <a:rPr lang="zh-CN" altLang="en-US" dirty="0">
                <a:latin typeface="宋体" panose="02010600030101010101" pitchFamily="2" charset="-122"/>
              </a:rPr>
              <a:t>锐捷路由器设置时钟</a:t>
            </a:r>
          </a:p>
          <a:p>
            <a:pPr eaLnBrk="1" hangingPunct="1"/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配置静态路由的命令：</a:t>
            </a:r>
            <a:r>
              <a:rPr lang="en-US" altLang="zh-CN" dirty="0" err="1">
                <a:latin typeface="宋体" panose="02010600030101010101" pitchFamily="2" charset="-122"/>
              </a:rPr>
              <a:t>ip</a:t>
            </a:r>
            <a:r>
              <a:rPr lang="en-US" altLang="zh-CN" dirty="0">
                <a:latin typeface="宋体" panose="02010600030101010101" pitchFamily="2" charset="-122"/>
              </a:rPr>
              <a:t> route </a:t>
            </a:r>
            <a:r>
              <a:rPr lang="en-US" altLang="zh-CN" dirty="0" err="1">
                <a:latin typeface="宋体" panose="02010600030101010101" pitchFamily="2" charset="-122"/>
              </a:rPr>
              <a:t>x.x.x.x</a:t>
            </a:r>
            <a:r>
              <a:rPr lang="en-US" altLang="zh-CN" dirty="0">
                <a:latin typeface="宋体" panose="02010600030101010101" pitchFamily="2" charset="-122"/>
              </a:rPr>
              <a:t>  </a:t>
            </a:r>
            <a:r>
              <a:rPr lang="en-US" altLang="zh-CN" dirty="0" err="1">
                <a:latin typeface="宋体" panose="02010600030101010101" pitchFamily="2" charset="-122"/>
              </a:rPr>
              <a:t>y.y.y.y</a:t>
            </a:r>
            <a:r>
              <a:rPr lang="en-US" altLang="zh-CN" dirty="0">
                <a:latin typeface="宋体" panose="02010600030101010101" pitchFamily="2" charset="-122"/>
              </a:rPr>
              <a:t>  </a:t>
            </a:r>
            <a:r>
              <a:rPr lang="en-US" altLang="zh-CN" dirty="0" err="1">
                <a:latin typeface="宋体" panose="02010600030101010101" pitchFamily="2" charset="-122"/>
              </a:rPr>
              <a:t>z.z.z.z</a:t>
            </a:r>
            <a:r>
              <a:rPr lang="en-US" altLang="zh-CN" dirty="0">
                <a:latin typeface="宋体" panose="02010600030101010101" pitchFamily="2" charset="-122"/>
              </a:rPr>
              <a:t>   </a:t>
            </a:r>
          </a:p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其中</a:t>
            </a:r>
            <a:r>
              <a:rPr lang="en-US" altLang="zh-CN" dirty="0" err="1">
                <a:latin typeface="宋体" panose="02010600030101010101" pitchFamily="2" charset="-122"/>
              </a:rPr>
              <a:t>x.x.x.x</a:t>
            </a:r>
            <a:r>
              <a:rPr lang="en-US" altLang="zh-CN" dirty="0">
                <a:latin typeface="宋体" panose="02010600030101010101" pitchFamily="2" charset="-122"/>
              </a:rPr>
              <a:t>----</a:t>
            </a:r>
            <a:r>
              <a:rPr lang="zh-CN" altLang="en-US" dirty="0">
                <a:latin typeface="宋体" panose="02010600030101010101" pitchFamily="2" charset="-122"/>
              </a:rPr>
              <a:t>目的网络的网络地址，</a:t>
            </a:r>
            <a:r>
              <a:rPr lang="en-US" altLang="zh-CN" dirty="0" err="1">
                <a:latin typeface="宋体" panose="02010600030101010101" pitchFamily="2" charset="-122"/>
              </a:rPr>
              <a:t>y.y.y.y</a:t>
            </a:r>
            <a:r>
              <a:rPr lang="en-US" altLang="zh-CN" dirty="0">
                <a:latin typeface="宋体" panose="02010600030101010101" pitchFamily="2" charset="-122"/>
              </a:rPr>
              <a:t>----</a:t>
            </a:r>
            <a:r>
              <a:rPr lang="zh-CN" altLang="en-US" dirty="0">
                <a:latin typeface="宋体" panose="02010600030101010101" pitchFamily="2" charset="-122"/>
              </a:rPr>
              <a:t>目的网络的子网掩码，</a:t>
            </a:r>
            <a:r>
              <a:rPr lang="en-US" altLang="zh-CN" dirty="0" err="1">
                <a:latin typeface="宋体" panose="02010600030101010101" pitchFamily="2" charset="-122"/>
              </a:rPr>
              <a:t>z.z.z.z</a:t>
            </a:r>
            <a:r>
              <a:rPr lang="en-US" altLang="zh-CN" dirty="0">
                <a:latin typeface="宋体" panose="02010600030101010101" pitchFamily="2" charset="-122"/>
              </a:rPr>
              <a:t>----</a:t>
            </a:r>
            <a:r>
              <a:rPr lang="zh-CN" altLang="en-US" dirty="0">
                <a:latin typeface="宋体" panose="02010600030101010101" pitchFamily="2" charset="-122"/>
              </a:rPr>
              <a:t>去目的网络的下一跳路由器的入口</a:t>
            </a:r>
            <a:r>
              <a:rPr lang="en-US" altLang="zh-CN" dirty="0">
                <a:latin typeface="宋体" panose="02010600030101010101" pitchFamily="2" charset="-122"/>
              </a:rPr>
              <a:t>IP</a:t>
            </a:r>
            <a:r>
              <a:rPr lang="zh-CN" altLang="en-US" dirty="0">
                <a:latin typeface="宋体" panose="02010600030101010101" pitchFamily="2" charset="-122"/>
              </a:rPr>
              <a:t>地址（与本路由器直接邻接的接口</a:t>
            </a:r>
            <a:r>
              <a:rPr lang="en-US" altLang="zh-CN" dirty="0">
                <a:latin typeface="宋体" panose="02010600030101010101" pitchFamily="2" charset="-122"/>
              </a:rPr>
              <a:t>IP</a:t>
            </a:r>
            <a:r>
              <a:rPr lang="zh-CN" altLang="en-US" dirty="0">
                <a:latin typeface="宋体" panose="02010600030101010101" pitchFamily="2" charset="-122"/>
              </a:rPr>
              <a:t>地址）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B32B8F-4826-497E-A386-3790A6D1C899}" type="slidenum">
              <a:rPr lang="zh-CN" altLang="en-US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6422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B32B8F-4826-497E-A386-3790A6D1C899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80765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zh-CN" sz="1200" b="1" dirty="0">
                <a:latin typeface="+mj-ea"/>
                <a:ea typeface="+mj-ea"/>
              </a:rPr>
              <a:t>Serial Interface (DCE) (no clock for DTE)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AU" altLang="zh-CN" sz="1200" b="1" dirty="0">
                <a:latin typeface="+mj-ea"/>
                <a:ea typeface="+mj-ea"/>
              </a:rPr>
              <a:t>Router0(config)#interface serial</a:t>
            </a:r>
            <a:r>
              <a:rPr lang="en-AU" altLang="zh-CN" sz="1200" b="1" dirty="0">
                <a:solidFill>
                  <a:srgbClr val="FF0000"/>
                </a:solidFill>
                <a:latin typeface="+mj-ea"/>
                <a:ea typeface="+mj-ea"/>
              </a:rPr>
              <a:t> 0/0</a:t>
            </a:r>
            <a:endParaRPr lang="en-AU" altLang="zh-CN" sz="1200" b="1" dirty="0">
              <a:latin typeface="+mj-ea"/>
              <a:ea typeface="+mj-ea"/>
            </a:endParaRPr>
          </a:p>
          <a:p>
            <a:pPr eaLnBrk="1" hangingPunct="1"/>
            <a:r>
              <a:rPr lang="en-AU" altLang="zh-CN" sz="1200" b="1" dirty="0">
                <a:latin typeface="+mj-ea"/>
                <a:ea typeface="+mj-ea"/>
              </a:rPr>
              <a:t>Router0(config-if)#clock</a:t>
            </a:r>
            <a:r>
              <a:rPr lang="zh-CN" altLang="en-US" sz="1200" b="1" dirty="0">
                <a:latin typeface="+mj-ea"/>
                <a:ea typeface="+mj-ea"/>
              </a:rPr>
              <a:t> </a:t>
            </a:r>
            <a:r>
              <a:rPr lang="en-US" altLang="zh-CN" sz="1200" b="1" dirty="0">
                <a:latin typeface="+mj-ea"/>
                <a:ea typeface="+mj-ea"/>
              </a:rPr>
              <a:t>rate</a:t>
            </a:r>
            <a:r>
              <a:rPr lang="zh-CN" altLang="en-US" sz="1200" b="1" dirty="0">
                <a:latin typeface="+mj-ea"/>
                <a:ea typeface="+mj-ea"/>
              </a:rPr>
              <a:t> </a:t>
            </a:r>
            <a:r>
              <a:rPr lang="en-US" altLang="zh-CN" sz="1200" b="1" dirty="0">
                <a:latin typeface="+mj-ea"/>
                <a:ea typeface="+mj-ea"/>
              </a:rPr>
              <a:t>64000  //</a:t>
            </a:r>
            <a:r>
              <a:rPr lang="zh-CN" altLang="en-US" sz="1200" b="1" dirty="0">
                <a:latin typeface="+mj-ea"/>
                <a:ea typeface="+mj-ea"/>
              </a:rPr>
              <a:t>锐捷</a:t>
            </a:r>
            <a:endParaRPr lang="en-AU" altLang="zh-CN" sz="1200" b="1" dirty="0">
              <a:latin typeface="+mj-ea"/>
              <a:ea typeface="+mj-ea"/>
            </a:endParaRPr>
          </a:p>
          <a:p>
            <a:pPr eaLnBrk="1" hangingPunct="1"/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/>
            <a:r>
              <a:rPr lang="en-US" altLang="zh-CN" dirty="0" err="1">
                <a:latin typeface="宋体" panose="02010600030101010101" pitchFamily="2" charset="-122"/>
              </a:rPr>
              <a:t>ip</a:t>
            </a:r>
            <a:r>
              <a:rPr lang="en-US" altLang="zh-CN" dirty="0">
                <a:latin typeface="宋体" panose="02010600030101010101" pitchFamily="2" charset="-122"/>
              </a:rPr>
              <a:t> route</a:t>
            </a:r>
            <a:r>
              <a:rPr lang="zh-CN" altLang="en-US" dirty="0">
                <a:latin typeface="宋体" panose="02010600030101010101" pitchFamily="2" charset="-122"/>
              </a:rPr>
              <a:t>命令格式：</a:t>
            </a:r>
            <a:r>
              <a:rPr lang="en-US" altLang="zh-CN" dirty="0" err="1">
                <a:latin typeface="宋体" panose="02010600030101010101" pitchFamily="2" charset="-122"/>
              </a:rPr>
              <a:t>ip</a:t>
            </a:r>
            <a:r>
              <a:rPr lang="en-US" altLang="zh-CN" dirty="0">
                <a:latin typeface="宋体" panose="02010600030101010101" pitchFamily="2" charset="-122"/>
              </a:rPr>
              <a:t> route </a:t>
            </a:r>
            <a:r>
              <a:rPr lang="en-US" altLang="zh-CN" dirty="0" err="1">
                <a:latin typeface="宋体" panose="02010600030101010101" pitchFamily="2" charset="-122"/>
              </a:rPr>
              <a:t>x.x.x.x</a:t>
            </a:r>
            <a:r>
              <a:rPr lang="en-US" altLang="zh-CN" dirty="0">
                <a:latin typeface="宋体" panose="02010600030101010101" pitchFamily="2" charset="-122"/>
              </a:rPr>
              <a:t>   </a:t>
            </a:r>
            <a:r>
              <a:rPr lang="en-US" altLang="zh-CN" dirty="0" err="1">
                <a:latin typeface="宋体" panose="02010600030101010101" pitchFamily="2" charset="-122"/>
              </a:rPr>
              <a:t>y.y.y.y</a:t>
            </a:r>
            <a:r>
              <a:rPr lang="en-US" altLang="zh-CN" dirty="0">
                <a:latin typeface="宋体" panose="02010600030101010101" pitchFamily="2" charset="-122"/>
              </a:rPr>
              <a:t>  </a:t>
            </a:r>
            <a:r>
              <a:rPr lang="en-US" altLang="zh-CN" dirty="0" err="1">
                <a:latin typeface="宋体" panose="02010600030101010101" pitchFamily="2" charset="-122"/>
              </a:rPr>
              <a:t>z.z.z.z</a:t>
            </a:r>
            <a:r>
              <a:rPr lang="en-US" altLang="zh-CN" dirty="0">
                <a:latin typeface="宋体" panose="02010600030101010101" pitchFamily="2" charset="-122"/>
              </a:rPr>
              <a:t>   </a:t>
            </a:r>
          </a:p>
          <a:p>
            <a:pPr eaLnBrk="1" hangingPunct="1"/>
            <a:r>
              <a:rPr lang="en-US" altLang="zh-CN" dirty="0" err="1">
                <a:latin typeface="宋体" panose="02010600030101010101" pitchFamily="2" charset="-122"/>
              </a:rPr>
              <a:t>x.x.x.x</a:t>
            </a:r>
            <a:r>
              <a:rPr lang="en-US" altLang="zh-CN" dirty="0">
                <a:latin typeface="宋体" panose="02010600030101010101" pitchFamily="2" charset="-122"/>
              </a:rPr>
              <a:t>----</a:t>
            </a:r>
            <a:r>
              <a:rPr lang="zh-CN" altLang="en-US" dirty="0">
                <a:latin typeface="宋体" panose="02010600030101010101" pitchFamily="2" charset="-122"/>
              </a:rPr>
              <a:t>目标网络的网络地址   </a:t>
            </a:r>
            <a:r>
              <a:rPr lang="en-US" altLang="zh-CN" dirty="0" err="1">
                <a:latin typeface="宋体" panose="02010600030101010101" pitchFamily="2" charset="-122"/>
              </a:rPr>
              <a:t>y.y.y.y</a:t>
            </a:r>
            <a:r>
              <a:rPr lang="en-US" altLang="zh-CN" dirty="0">
                <a:latin typeface="宋体" panose="02010600030101010101" pitchFamily="2" charset="-122"/>
              </a:rPr>
              <a:t>----</a:t>
            </a:r>
            <a:r>
              <a:rPr lang="zh-CN" altLang="en-US" dirty="0">
                <a:latin typeface="宋体" panose="02010600030101010101" pitchFamily="2" charset="-122"/>
              </a:rPr>
              <a:t>目标网络子网掩码</a:t>
            </a:r>
          </a:p>
          <a:p>
            <a:pPr eaLnBrk="1" hangingPunct="1"/>
            <a:r>
              <a:rPr lang="en-US" altLang="zh-CN" dirty="0" err="1">
                <a:latin typeface="宋体" panose="02010600030101010101" pitchFamily="2" charset="-122"/>
              </a:rPr>
              <a:t>z.z.z.z</a:t>
            </a:r>
            <a:r>
              <a:rPr lang="en-US" altLang="zh-CN" dirty="0">
                <a:latin typeface="宋体" panose="02010600030101010101" pitchFamily="2" charset="-122"/>
              </a:rPr>
              <a:t>----</a:t>
            </a:r>
            <a:r>
              <a:rPr lang="zh-CN" altLang="en-US" dirty="0">
                <a:latin typeface="宋体" panose="02010600030101010101" pitchFamily="2" charset="-122"/>
              </a:rPr>
              <a:t>去目标网络的下一个邻居路由器</a:t>
            </a:r>
            <a:r>
              <a:rPr lang="en-US" altLang="zh-CN" dirty="0">
                <a:latin typeface="宋体" panose="02010600030101010101" pitchFamily="2" charset="-122"/>
              </a:rPr>
              <a:t>IP</a:t>
            </a:r>
            <a:r>
              <a:rPr lang="zh-CN" altLang="en-US" dirty="0">
                <a:latin typeface="宋体" panose="02010600030101010101" pitchFamily="2" charset="-122"/>
              </a:rPr>
              <a:t>地址（与本路由器直接邻接的接口</a:t>
            </a:r>
            <a:r>
              <a:rPr lang="en-US" altLang="zh-CN" dirty="0">
                <a:latin typeface="宋体" panose="02010600030101010101" pitchFamily="2" charset="-122"/>
              </a:rPr>
              <a:t>IP</a:t>
            </a:r>
            <a:r>
              <a:rPr lang="zh-CN" altLang="en-US" dirty="0">
                <a:latin typeface="宋体" panose="02010600030101010101" pitchFamily="2" charset="-122"/>
              </a:rPr>
              <a:t>地址）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B32B8F-4826-497E-A386-3790A6D1C899}" type="slidenum">
              <a:rPr lang="zh-CN" altLang="en-US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8012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522</a:t>
            </a:r>
            <a:r>
              <a:rPr kumimoji="1" lang="zh-CN" altLang="en-US" dirty="0"/>
              <a:t>教室接线说明：</a:t>
            </a:r>
          </a:p>
          <a:p>
            <a:r>
              <a:rPr kumimoji="1" lang="zh-CN" altLang="en-US" dirty="0"/>
              <a:t>左边</a:t>
            </a:r>
            <a:r>
              <a:rPr kumimoji="1" lang="en" altLang="zh-CN" dirty="0"/>
              <a:t>PC</a:t>
            </a:r>
            <a:r>
              <a:rPr kumimoji="1" lang="zh-CN" altLang="en-US" dirty="0"/>
              <a:t>机编号：</a:t>
            </a:r>
            <a:r>
              <a:rPr kumimoji="1" lang="en-US" altLang="zh-CN" dirty="0"/>
              <a:t>8</a:t>
            </a:r>
            <a:r>
              <a:rPr kumimoji="1" lang="zh-CN" altLang="en-US" dirty="0"/>
              <a:t>、</a:t>
            </a:r>
            <a:r>
              <a:rPr kumimoji="1" lang="en-US" altLang="zh-CN" dirty="0"/>
              <a:t>7</a:t>
            </a:r>
            <a:r>
              <a:rPr kumimoji="1" lang="zh-CN" altLang="en-US" dirty="0"/>
              <a:t>、</a:t>
            </a:r>
            <a:r>
              <a:rPr kumimoji="1" lang="en-US" altLang="zh-CN" dirty="0"/>
              <a:t>6</a:t>
            </a:r>
            <a:r>
              <a:rPr kumimoji="1" lang="zh-CN" altLang="en-US" dirty="0"/>
              <a:t>、</a:t>
            </a:r>
            <a:r>
              <a:rPr kumimoji="1" lang="en-US" altLang="zh-CN" dirty="0"/>
              <a:t>5</a:t>
            </a:r>
          </a:p>
          <a:p>
            <a:r>
              <a:rPr kumimoji="1" lang="zh-CN" altLang="en-US" dirty="0"/>
              <a:t>每台</a:t>
            </a:r>
            <a:r>
              <a:rPr kumimoji="1" lang="en" altLang="zh-CN" dirty="0"/>
              <a:t>PC</a:t>
            </a:r>
            <a:r>
              <a:rPr kumimoji="1" lang="zh-CN" altLang="en-US" dirty="0"/>
              <a:t>连接出来</a:t>
            </a:r>
            <a:r>
              <a:rPr kumimoji="1" lang="en-US" altLang="zh-CN" dirty="0"/>
              <a:t>2</a:t>
            </a:r>
            <a:r>
              <a:rPr kumimoji="1" lang="zh-CN" altLang="en-US" dirty="0"/>
              <a:t>根线，一根为</a:t>
            </a:r>
            <a:r>
              <a:rPr kumimoji="1" lang="en" altLang="zh-CN" dirty="0"/>
              <a:t>console</a:t>
            </a:r>
            <a:r>
              <a:rPr kumimoji="1" lang="zh-CN" altLang="en-US" dirty="0"/>
              <a:t>线，另一根为普通网线。比如</a:t>
            </a:r>
            <a:r>
              <a:rPr kumimoji="1" lang="en-US" altLang="zh-CN" dirty="0"/>
              <a:t>5</a:t>
            </a:r>
            <a:r>
              <a:rPr kumimoji="1" lang="zh-CN" altLang="en-US" dirty="0"/>
              <a:t>号机器的</a:t>
            </a:r>
            <a:r>
              <a:rPr kumimoji="1" lang="en-US" altLang="zh-CN" dirty="0"/>
              <a:t>50</a:t>
            </a:r>
            <a:r>
              <a:rPr kumimoji="1" lang="zh-CN" altLang="en-US" dirty="0"/>
              <a:t>线为</a:t>
            </a:r>
            <a:r>
              <a:rPr kumimoji="1" lang="en" altLang="zh-CN" dirty="0"/>
              <a:t>console</a:t>
            </a:r>
            <a:r>
              <a:rPr kumimoji="1" lang="zh-CN" altLang="en-US" dirty="0"/>
              <a:t>线、</a:t>
            </a:r>
            <a:r>
              <a:rPr kumimoji="1" lang="en-US" altLang="zh-CN" dirty="0"/>
              <a:t>59</a:t>
            </a:r>
            <a:r>
              <a:rPr kumimoji="1" lang="zh-CN" altLang="en-US" dirty="0"/>
              <a:t>线为普通</a:t>
            </a:r>
            <a:r>
              <a:rPr kumimoji="1" lang="zh-CN" altLang="en-US"/>
              <a:t>网线；</a:t>
            </a:r>
            <a:r>
              <a:rPr kumimoji="1" lang="en-US" altLang="zh-CN"/>
              <a:t>50</a:t>
            </a:r>
            <a:r>
              <a:rPr kumimoji="1" lang="zh-CN" altLang="en-US" dirty="0"/>
              <a:t>、</a:t>
            </a:r>
            <a:r>
              <a:rPr kumimoji="1" lang="en-US" altLang="zh-CN" dirty="0"/>
              <a:t>70</a:t>
            </a:r>
            <a:r>
              <a:rPr kumimoji="1" lang="zh-CN" altLang="en-US" dirty="0"/>
              <a:t>线是路由器的</a:t>
            </a:r>
            <a:r>
              <a:rPr kumimoji="1" lang="en" altLang="zh-CN" dirty="0"/>
              <a:t>console</a:t>
            </a:r>
            <a:r>
              <a:rPr kumimoji="1" lang="zh-CN" altLang="en-US" dirty="0"/>
              <a:t>线；</a:t>
            </a:r>
            <a:r>
              <a:rPr kumimoji="1" lang="en-US" altLang="zh-CN" dirty="0"/>
              <a:t>60</a:t>
            </a:r>
            <a:r>
              <a:rPr kumimoji="1" lang="zh-CN" altLang="en-US" dirty="0"/>
              <a:t>线是交换机的</a:t>
            </a:r>
            <a:r>
              <a:rPr kumimoji="1" lang="en" altLang="zh-CN" dirty="0"/>
              <a:t>console</a:t>
            </a:r>
            <a:r>
              <a:rPr kumimoji="1" lang="zh-CN" altLang="en-US" dirty="0"/>
              <a:t>线；</a:t>
            </a:r>
            <a:r>
              <a:rPr kumimoji="1" lang="en-US" altLang="zh-CN" dirty="0"/>
              <a:t>8</a:t>
            </a:r>
            <a:r>
              <a:rPr kumimoji="1" lang="zh-CN" altLang="en-US" dirty="0"/>
              <a:t>号机器只有普通网线</a:t>
            </a:r>
            <a:r>
              <a:rPr kumimoji="1" lang="en-US" altLang="zh-CN" dirty="0"/>
              <a:t>(89</a:t>
            </a:r>
            <a:r>
              <a:rPr kumimoji="1" lang="zh-CN" altLang="en-US" dirty="0"/>
              <a:t>线</a:t>
            </a:r>
            <a:r>
              <a:rPr kumimoji="1" lang="en-US" altLang="zh-CN" dirty="0"/>
              <a:t>)</a:t>
            </a:r>
            <a:r>
              <a:rPr kumimoji="1" lang="zh-CN" altLang="en-US" dirty="0"/>
              <a:t>。</a:t>
            </a:r>
          </a:p>
          <a:p>
            <a:r>
              <a:rPr kumimoji="1" lang="zh-CN" altLang="en-US" dirty="0"/>
              <a:t>每组有</a:t>
            </a:r>
            <a:r>
              <a:rPr kumimoji="1" lang="en-US" altLang="zh-CN" dirty="0"/>
              <a:t>2</a:t>
            </a:r>
            <a:r>
              <a:rPr kumimoji="1" lang="zh-CN" altLang="en-US" dirty="0"/>
              <a:t>台路由器，一台交换机，做</a:t>
            </a:r>
            <a:r>
              <a:rPr kumimoji="1" lang="en" altLang="zh-CN" dirty="0"/>
              <a:t>VLAN</a:t>
            </a:r>
            <a:r>
              <a:rPr kumimoji="1" lang="zh-CN" altLang="en-US" dirty="0"/>
              <a:t>实验时，两组需合作。</a:t>
            </a:r>
          </a:p>
          <a:p>
            <a:r>
              <a:rPr kumimoji="1" lang="en" altLang="zh-CN" dirty="0"/>
              <a:t>TPO</a:t>
            </a:r>
            <a:r>
              <a:rPr kumimoji="1" lang="zh-CN" altLang="en" dirty="0"/>
              <a:t>、</a:t>
            </a:r>
            <a:r>
              <a:rPr kumimoji="1" lang="en" altLang="zh-CN" dirty="0"/>
              <a:t>TP3</a:t>
            </a:r>
            <a:r>
              <a:rPr kumimoji="1" lang="zh-CN" altLang="en-US" dirty="0"/>
              <a:t>分别连到路由器的</a:t>
            </a:r>
            <a:r>
              <a:rPr kumimoji="1" lang="en" altLang="zh-CN" dirty="0"/>
              <a:t>f0/0</a:t>
            </a:r>
            <a:r>
              <a:rPr kumimoji="1" lang="zh-CN" altLang="en-US" dirty="0"/>
              <a:t>和</a:t>
            </a:r>
            <a:r>
              <a:rPr kumimoji="1" lang="en" altLang="zh-CN" dirty="0"/>
              <a:t>f0/3</a:t>
            </a:r>
            <a:r>
              <a:rPr kumimoji="1" lang="zh-CN" altLang="en-US" dirty="0"/>
              <a:t>口，广域网接口是</a:t>
            </a:r>
            <a:r>
              <a:rPr kumimoji="1" lang="en" altLang="zh-CN" dirty="0"/>
              <a:t>s0/1(</a:t>
            </a:r>
            <a:r>
              <a:rPr kumimoji="1" lang="zh-CN" altLang="en-US" dirty="0"/>
              <a:t>或</a:t>
            </a:r>
            <a:r>
              <a:rPr kumimoji="1" lang="en" altLang="zh-CN" dirty="0"/>
              <a:t>s0/2)</a:t>
            </a:r>
            <a:r>
              <a:rPr kumimoji="1" lang="zh-CN" altLang="en-US" dirty="0"/>
              <a:t>相连。</a:t>
            </a:r>
          </a:p>
          <a:p>
            <a:r>
              <a:rPr kumimoji="1" lang="zh-CN" altLang="en-US" dirty="0"/>
              <a:t>每组第一台路由器是</a:t>
            </a:r>
            <a:r>
              <a:rPr kumimoji="1" lang="en" altLang="zh-CN" dirty="0"/>
              <a:t>DCE</a:t>
            </a:r>
            <a:r>
              <a:rPr kumimoji="1" lang="zh-CN" altLang="en" dirty="0"/>
              <a:t>。</a:t>
            </a:r>
          </a:p>
          <a:p>
            <a:r>
              <a:rPr kumimoji="1" lang="en" altLang="zh-CN" dirty="0"/>
              <a:t>F*</a:t>
            </a:r>
            <a:r>
              <a:rPr kumimoji="1" lang="zh-CN" altLang="en-US" dirty="0"/>
              <a:t>已连到交换机的</a:t>
            </a:r>
            <a:r>
              <a:rPr kumimoji="1" lang="en" altLang="zh-CN" dirty="0"/>
              <a:t>E0/0/*</a:t>
            </a:r>
            <a:r>
              <a:rPr kumimoji="1" lang="zh-CN" altLang="en-US" dirty="0"/>
              <a:t>口，例如</a:t>
            </a:r>
            <a:r>
              <a:rPr kumimoji="1" lang="en" altLang="zh-CN" dirty="0"/>
              <a:t>F3</a:t>
            </a:r>
            <a:r>
              <a:rPr kumimoji="1" lang="zh-CN" altLang="en-US" dirty="0"/>
              <a:t>连到交换机的</a:t>
            </a:r>
            <a:r>
              <a:rPr kumimoji="1" lang="en" altLang="zh-CN" dirty="0"/>
              <a:t>E0/0/3</a:t>
            </a:r>
            <a:r>
              <a:rPr kumimoji="1" lang="zh-CN" altLang="en" dirty="0"/>
              <a:t>。 </a:t>
            </a:r>
          </a:p>
          <a:p>
            <a:r>
              <a:rPr kumimoji="1" lang="en" altLang="zh-CN" dirty="0"/>
              <a:t>E0/0/24</a:t>
            </a:r>
            <a:r>
              <a:rPr kumimoji="1" lang="zh-CN" altLang="en-US" dirty="0"/>
              <a:t>是两台交换机相连的口。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B32B8F-4826-497E-A386-3790A6D1C899}" type="slidenum">
              <a:rPr lang="zh-CN" altLang="en-US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5815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E3AD820C-B0AB-4FA2-9666-52E84298B77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3786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AA4A51-37E5-40D7-B1D1-A6AA598B106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3643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35D682-CF8D-4A96-B2B5-E4CCC5C2D6D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5724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1188" y="1341438"/>
            <a:ext cx="4095750" cy="4895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9338" y="1341438"/>
            <a:ext cx="4095750" cy="4895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9C2B67-FBC4-4DD7-95C3-E9F313F214F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1663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0BCFE6-FF1F-4F0E-8BFF-9940BD0869A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117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F224BD-EDB0-41DF-9046-EFE08631A91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0892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6ADB65-F799-4E81-A85E-7ACC1022CF5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6713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22F4E1-F2CF-4846-B418-026402D76E4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1261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98B6ED-CF9C-4B29-9F6B-7B5BBB26599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5356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E04B78-4171-4490-9070-AF51EC7FD28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2876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69113" y="115888"/>
            <a:ext cx="2085975" cy="6121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1188" y="115888"/>
            <a:ext cx="6105525" cy="6121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9B63E6-2281-41A8-A851-8714D4DC036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899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115888"/>
            <a:ext cx="7793037" cy="9366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11188" y="1341438"/>
            <a:ext cx="4095750" cy="489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59338" y="1341438"/>
            <a:ext cx="4095750" cy="2371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859338" y="3865563"/>
            <a:ext cx="4095750" cy="2371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47A78D-A9DC-4247-ADF1-BD395284512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9406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115888"/>
            <a:ext cx="7793037" cy="9366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11188" y="1341438"/>
            <a:ext cx="4095750" cy="489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9338" y="1341438"/>
            <a:ext cx="4095750" cy="489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9801D8-2272-4EF8-BB2F-7D90CA5D8A3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822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51276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51276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93503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93503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86201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40481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19538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115888"/>
            <a:ext cx="7793037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341438"/>
            <a:ext cx="8343900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pPr>
              <a:defRPr/>
            </a:pPr>
            <a:fld id="{E0D8BDE4-5A54-482F-823F-FEF86ECBBE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6">
            <a:extLst>
              <a:ext uri="{FF2B5EF4-FFF2-40B4-BE49-F238E27FC236}">
                <a16:creationId xmlns="" xmlns:a16="http://schemas.microsoft.com/office/drawing/2014/main" id="{AE81D9D6-DEF8-DE4F-821C-5DC217601A7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  <a:ea typeface="+mj-ea"/>
              </a:rPr>
              <a:t> 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95234" name="Rectangle 2">
            <a:extLst>
              <a:ext uri="{FF2B5EF4-FFF2-40B4-BE49-F238E27FC236}">
                <a16:creationId xmlns="" xmlns:a16="http://schemas.microsoft.com/office/drawing/2014/main" id="{928AFE69-8864-C646-81B5-8F554E41BA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sz="5400" b="1" dirty="0">
                <a:latin typeface="+mj-ea"/>
              </a:rPr>
              <a:t>实验一 网络环境搭建</a:t>
            </a:r>
          </a:p>
        </p:txBody>
      </p:sp>
      <p:sp>
        <p:nvSpPr>
          <p:cNvPr id="2" name="副标题 1">
            <a:extLst>
              <a:ext uri="{FF2B5EF4-FFF2-40B4-BE49-F238E27FC236}">
                <a16:creationId xmlns="" xmlns:a16="http://schemas.microsoft.com/office/drawing/2014/main" id="{9C6F3D61-BACC-330B-F379-597118B2AF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4258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BDA2F205-0050-17A8-02F0-4861F3070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实验内容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A2C12DE-DAF6-2C60-7388-809740B0D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b="1" dirty="0">
                <a:latin typeface="+mj-ea"/>
                <a:ea typeface="+mj-ea"/>
              </a:rPr>
              <a:t>每</a:t>
            </a:r>
            <a:r>
              <a:rPr lang="zh-CN" altLang="en-US" sz="2800" b="1" dirty="0" smtClean="0">
                <a:latin typeface="+mj-ea"/>
                <a:ea typeface="+mj-ea"/>
              </a:rPr>
              <a:t>组</a:t>
            </a:r>
            <a:r>
              <a:rPr lang="en-US" altLang="zh-CN" sz="2800" b="1" dirty="0" smtClean="0">
                <a:latin typeface="+mj-ea"/>
                <a:ea typeface="+mj-ea"/>
              </a:rPr>
              <a:t>3-4</a:t>
            </a:r>
            <a:r>
              <a:rPr lang="zh-CN" altLang="en-US" sz="2800" b="1" dirty="0">
                <a:latin typeface="+mj-ea"/>
                <a:ea typeface="+mj-ea"/>
              </a:rPr>
              <a:t>人</a:t>
            </a:r>
            <a:r>
              <a:rPr kumimoji="1" lang="zh-CN" altLang="en-US" sz="2800" b="1" dirty="0">
                <a:latin typeface="+mj-ea"/>
                <a:ea typeface="+mj-ea"/>
              </a:rPr>
              <a:t>，自由组合</a:t>
            </a:r>
          </a:p>
          <a:p>
            <a:r>
              <a:rPr kumimoji="1" lang="zh-CN" altLang="en-US" sz="2800" b="1" dirty="0">
                <a:latin typeface="+mj-ea"/>
                <a:ea typeface="+mj-ea"/>
              </a:rPr>
              <a:t>两台路由器通过</a:t>
            </a:r>
            <a:r>
              <a:rPr kumimoji="1" lang="en" altLang="zh-CN" sz="2800" b="1" dirty="0">
                <a:latin typeface="+mj-ea"/>
                <a:ea typeface="+mj-ea"/>
              </a:rPr>
              <a:t>Serial</a:t>
            </a:r>
            <a:r>
              <a:rPr kumimoji="1" lang="zh-CN" altLang="en-US" sz="2800" b="1" dirty="0">
                <a:latin typeface="+mj-ea"/>
                <a:ea typeface="+mj-ea"/>
              </a:rPr>
              <a:t>口串联起来；配置每个路由器</a:t>
            </a:r>
            <a:r>
              <a:rPr kumimoji="1" lang="en" altLang="zh-CN" sz="2800" b="1" dirty="0">
                <a:latin typeface="+mj-ea"/>
                <a:ea typeface="+mj-ea"/>
              </a:rPr>
              <a:t>Ethernet</a:t>
            </a:r>
            <a:r>
              <a:rPr kumimoji="1" lang="zh-CN" altLang="en-US" sz="2800" b="1" dirty="0">
                <a:latin typeface="+mj-ea"/>
                <a:ea typeface="+mj-ea"/>
              </a:rPr>
              <a:t>口和</a:t>
            </a:r>
            <a:r>
              <a:rPr kumimoji="1" lang="en" altLang="zh-CN" sz="2800" b="1" dirty="0">
                <a:latin typeface="+mj-ea"/>
                <a:ea typeface="+mj-ea"/>
              </a:rPr>
              <a:t>Serial</a:t>
            </a:r>
            <a:r>
              <a:rPr kumimoji="1" lang="zh-CN" altLang="en-US" sz="2800" b="1" dirty="0">
                <a:latin typeface="+mj-ea"/>
                <a:ea typeface="+mj-ea"/>
              </a:rPr>
              <a:t>口的</a:t>
            </a:r>
            <a:r>
              <a:rPr kumimoji="1" lang="en" altLang="zh-CN" sz="2800" b="1" dirty="0">
                <a:latin typeface="+mj-ea"/>
                <a:ea typeface="+mj-ea"/>
              </a:rPr>
              <a:t>IP</a:t>
            </a:r>
            <a:r>
              <a:rPr kumimoji="1" lang="zh-CN" altLang="en-US" sz="2800" b="1" dirty="0">
                <a:latin typeface="+mj-ea"/>
                <a:ea typeface="+mj-ea"/>
              </a:rPr>
              <a:t>地址</a:t>
            </a:r>
            <a:endParaRPr kumimoji="1" lang="en-US" altLang="zh-CN" sz="2800" b="1" dirty="0">
              <a:latin typeface="+mj-ea"/>
              <a:ea typeface="+mj-ea"/>
            </a:endParaRPr>
          </a:p>
          <a:p>
            <a:r>
              <a:rPr kumimoji="1" lang="zh-CN" altLang="en-US" sz="2800" b="1" dirty="0">
                <a:latin typeface="+mj-ea"/>
                <a:ea typeface="+mj-ea"/>
              </a:rPr>
              <a:t>两台路由器的</a:t>
            </a:r>
            <a:r>
              <a:rPr kumimoji="1" lang="en" altLang="zh-CN" sz="2800" b="1" dirty="0">
                <a:latin typeface="+mj-ea"/>
                <a:ea typeface="+mj-ea"/>
              </a:rPr>
              <a:t>Serial</a:t>
            </a:r>
            <a:r>
              <a:rPr kumimoji="1" lang="zh-CN" altLang="en-US" sz="2800" b="1" dirty="0">
                <a:latin typeface="+mj-ea"/>
                <a:ea typeface="+mj-ea"/>
              </a:rPr>
              <a:t>口之间采用</a:t>
            </a:r>
            <a:r>
              <a:rPr kumimoji="1" lang="en" altLang="zh-CN" sz="2800" b="1" dirty="0">
                <a:latin typeface="+mj-ea"/>
                <a:ea typeface="+mj-ea"/>
              </a:rPr>
              <a:t>PPP</a:t>
            </a:r>
            <a:r>
              <a:rPr lang="zh-CN" altLang="en-US" sz="2800" b="1" dirty="0">
                <a:latin typeface="+mj-ea"/>
                <a:ea typeface="+mj-ea"/>
              </a:rPr>
              <a:t>帧格式</a:t>
            </a:r>
            <a:r>
              <a:rPr kumimoji="1" lang="zh-CN" altLang="en-US" sz="2800" b="1" dirty="0">
                <a:latin typeface="+mj-ea"/>
                <a:ea typeface="+mj-ea"/>
              </a:rPr>
              <a:t>封装</a:t>
            </a:r>
          </a:p>
          <a:p>
            <a:r>
              <a:rPr kumimoji="1" lang="zh-CN" altLang="en-US" sz="2800" b="1" dirty="0">
                <a:latin typeface="+mj-ea"/>
                <a:ea typeface="+mj-ea"/>
              </a:rPr>
              <a:t>每台路由器可配置静态路由或动态路由，使得各子</a:t>
            </a:r>
            <a:r>
              <a:rPr lang="zh-CN" altLang="zh-CN" sz="2800" b="1" kern="100" dirty="0">
                <a:effectLst/>
                <a:latin typeface="+mj-ea"/>
                <a:ea typeface="+mj-ea"/>
              </a:rPr>
              <a:t>网能相互通信</a:t>
            </a:r>
            <a:endParaRPr kumimoji="1" lang="en-US" altLang="zh-CN" sz="2800" b="1" dirty="0">
              <a:latin typeface="+mj-ea"/>
              <a:ea typeface="+mj-ea"/>
            </a:endParaRPr>
          </a:p>
          <a:p>
            <a:r>
              <a:rPr kumimoji="1" lang="zh-CN" altLang="en-US" sz="2800" b="1" dirty="0">
                <a:latin typeface="+mj-ea"/>
                <a:ea typeface="+mj-ea"/>
              </a:rPr>
              <a:t>每台</a:t>
            </a:r>
            <a:r>
              <a:rPr kumimoji="1" lang="en" altLang="zh-CN" sz="2800" b="1" dirty="0">
                <a:latin typeface="+mj-ea"/>
                <a:ea typeface="+mj-ea"/>
              </a:rPr>
              <a:t>PC</a:t>
            </a:r>
            <a:r>
              <a:rPr kumimoji="1" lang="zh-CN" altLang="en-US" sz="2800" b="1" dirty="0">
                <a:latin typeface="+mj-ea"/>
                <a:ea typeface="+mj-ea"/>
              </a:rPr>
              <a:t>通过交换机连接到路由器</a:t>
            </a:r>
            <a:r>
              <a:rPr kumimoji="1" lang="en" altLang="zh-CN" sz="2800" b="1" dirty="0">
                <a:latin typeface="+mj-ea"/>
                <a:ea typeface="+mj-ea"/>
              </a:rPr>
              <a:t>Ethernet</a:t>
            </a:r>
            <a:r>
              <a:rPr kumimoji="1" lang="zh-CN" altLang="en-US" sz="2800" b="1" dirty="0">
                <a:latin typeface="+mj-ea"/>
                <a:ea typeface="+mj-ea"/>
              </a:rPr>
              <a:t>口，配置每台</a:t>
            </a:r>
            <a:r>
              <a:rPr kumimoji="1" lang="en" altLang="zh-CN" sz="2800" b="1" dirty="0">
                <a:latin typeface="+mj-ea"/>
                <a:ea typeface="+mj-ea"/>
              </a:rPr>
              <a:t>PC</a:t>
            </a:r>
            <a:r>
              <a:rPr kumimoji="1" lang="zh-CN" altLang="en-US" sz="2800" b="1" dirty="0">
                <a:latin typeface="+mj-ea"/>
                <a:ea typeface="+mj-ea"/>
              </a:rPr>
              <a:t>的</a:t>
            </a:r>
            <a:r>
              <a:rPr kumimoji="1" lang="en" altLang="zh-CN" sz="2800" b="1" dirty="0">
                <a:latin typeface="+mj-ea"/>
                <a:ea typeface="+mj-ea"/>
              </a:rPr>
              <a:t>IP</a:t>
            </a:r>
            <a:r>
              <a:rPr kumimoji="1" lang="zh-CN" altLang="en-US" sz="2800" b="1" dirty="0">
                <a:latin typeface="+mj-ea"/>
                <a:ea typeface="+mj-ea"/>
              </a:rPr>
              <a:t>地址，使得各</a:t>
            </a:r>
            <a:r>
              <a:rPr kumimoji="1" lang="en-US" altLang="zh-CN" sz="2800" b="1" dirty="0">
                <a:latin typeface="+mj-ea"/>
                <a:ea typeface="+mj-ea"/>
              </a:rPr>
              <a:t>PC</a:t>
            </a:r>
            <a:r>
              <a:rPr lang="zh-CN" altLang="zh-CN" sz="2800" b="1" kern="100" dirty="0">
                <a:effectLst/>
                <a:latin typeface="+mj-ea"/>
                <a:ea typeface="+mj-ea"/>
              </a:rPr>
              <a:t>能相互通信</a:t>
            </a:r>
            <a:endParaRPr kumimoji="1" lang="zh-CN" altLang="en-US" sz="2800" b="1" dirty="0">
              <a:latin typeface="+mj-ea"/>
              <a:ea typeface="+mj-ea"/>
            </a:endParaRPr>
          </a:p>
          <a:p>
            <a:r>
              <a:rPr kumimoji="1" lang="zh-CN" altLang="en-US" sz="2800" b="1" dirty="0">
                <a:latin typeface="+mj-ea"/>
                <a:ea typeface="+mj-ea"/>
              </a:rPr>
              <a:t>测试网络连通性</a:t>
            </a:r>
          </a:p>
          <a:p>
            <a:endParaRPr kumimoji="1" lang="zh-CN" altLang="en-US" sz="2800" b="1" dirty="0">
              <a:latin typeface="+mj-ea"/>
              <a:ea typeface="+mj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633E792A-3EFF-F6F3-EF5C-7F36B9C86D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4AA4A51-37E5-40D7-B1D1-A6AA598B1069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2428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7B6DFE0-88E2-DFDA-FBE3-153A6B05C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实验设备</a:t>
            </a:r>
            <a:endParaRPr kumimoji="1"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8B2363C7-9DE3-A387-5E01-0C25CA045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  <a:ea typeface="+mj-ea"/>
              </a:rPr>
              <a:t>PC</a:t>
            </a:r>
            <a:r>
              <a:rPr lang="zh-CN" altLang="en-US" b="1" dirty="0">
                <a:latin typeface="+mj-ea"/>
                <a:ea typeface="+mj-ea"/>
              </a:rPr>
              <a:t>机、路由器</a:t>
            </a:r>
            <a:r>
              <a:rPr lang="en-US" altLang="zh-CN" b="1" dirty="0">
                <a:latin typeface="+mj-ea"/>
                <a:ea typeface="+mj-ea"/>
              </a:rPr>
              <a:t>DCR-2626</a:t>
            </a:r>
            <a:r>
              <a:rPr lang="zh-CN" altLang="en-US" b="1" dirty="0">
                <a:latin typeface="+mj-ea"/>
                <a:ea typeface="+mj-ea"/>
              </a:rPr>
              <a:t>、交换机、用于</a:t>
            </a:r>
            <a:r>
              <a:rPr lang="en-US" altLang="zh-CN" b="1" dirty="0">
                <a:latin typeface="+mj-ea"/>
                <a:ea typeface="+mj-ea"/>
              </a:rPr>
              <a:t>PC</a:t>
            </a:r>
            <a:r>
              <a:rPr lang="zh-CN" altLang="en-US" b="1" dirty="0">
                <a:latin typeface="+mj-ea"/>
                <a:ea typeface="+mj-ea"/>
              </a:rPr>
              <a:t>机串口的</a:t>
            </a:r>
            <a:r>
              <a:rPr lang="en-US" altLang="zh-CN" b="1" dirty="0">
                <a:latin typeface="+mj-ea"/>
                <a:ea typeface="+mj-ea"/>
              </a:rPr>
              <a:t>RJ-45</a:t>
            </a:r>
            <a:r>
              <a:rPr lang="zh-CN" altLang="en-US" b="1" dirty="0">
                <a:latin typeface="+mj-ea"/>
                <a:ea typeface="+mj-ea"/>
              </a:rPr>
              <a:t>到</a:t>
            </a:r>
            <a:r>
              <a:rPr lang="en-US" altLang="zh-CN" b="1" dirty="0">
                <a:latin typeface="+mj-ea"/>
                <a:ea typeface="+mj-ea"/>
              </a:rPr>
              <a:t>DB-9</a:t>
            </a:r>
            <a:r>
              <a:rPr lang="zh-CN" altLang="en-US" b="1" dirty="0">
                <a:latin typeface="+mj-ea"/>
                <a:ea typeface="+mj-ea"/>
              </a:rPr>
              <a:t>的接口转换器、</a:t>
            </a:r>
            <a:r>
              <a:rPr lang="en-US" altLang="zh-CN" b="1" dirty="0">
                <a:latin typeface="+mj-ea"/>
                <a:ea typeface="+mj-ea"/>
              </a:rPr>
              <a:t>Console</a:t>
            </a:r>
            <a:r>
              <a:rPr lang="zh-CN" altLang="en-US" b="1" dirty="0">
                <a:latin typeface="+mj-ea"/>
                <a:ea typeface="+mj-ea"/>
              </a:rPr>
              <a:t>专用电缆线（或反序电缆）、路由器</a:t>
            </a:r>
            <a:r>
              <a:rPr lang="en-US" altLang="zh-CN" b="1" dirty="0">
                <a:latin typeface="+mj-ea"/>
                <a:ea typeface="+mj-ea"/>
              </a:rPr>
              <a:t>DTE-DCE</a:t>
            </a:r>
            <a:r>
              <a:rPr lang="zh-CN" altLang="en-US" b="1" dirty="0">
                <a:latin typeface="+mj-ea"/>
                <a:ea typeface="+mj-ea"/>
              </a:rPr>
              <a:t>线缆（</a:t>
            </a:r>
            <a:r>
              <a:rPr lang="en-US" altLang="zh-CN" b="1" dirty="0">
                <a:latin typeface="+mj-ea"/>
                <a:ea typeface="+mj-ea"/>
              </a:rPr>
              <a:t>V.35</a:t>
            </a:r>
            <a:r>
              <a:rPr lang="zh-CN" altLang="en-US" b="1" dirty="0">
                <a:latin typeface="+mj-ea"/>
                <a:ea typeface="+mj-ea"/>
              </a:rPr>
              <a:t>电缆）、双绞线等</a:t>
            </a:r>
            <a:endParaRPr kumimoji="1" lang="zh-CN" altLang="en-US" b="1" dirty="0">
              <a:latin typeface="+mj-ea"/>
              <a:ea typeface="+mj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934B336E-928C-C0D3-EBB0-DB6115EF67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4AA4A51-37E5-40D7-B1D1-A6AA598B1069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3821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="" xmlns:a16="http://schemas.microsoft.com/office/drawing/2014/main" id="{D9413CB8-6983-7ECF-29DA-D0BED2288C3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神州数码路由器交换机机柜</a:t>
            </a:r>
          </a:p>
        </p:txBody>
      </p:sp>
      <p:pic>
        <p:nvPicPr>
          <p:cNvPr id="30722" name="Picture 3">
            <a:extLst>
              <a:ext uri="{FF2B5EF4-FFF2-40B4-BE49-F238E27FC236}">
                <a16:creationId xmlns="" xmlns:a16="http://schemas.microsoft.com/office/drawing/2014/main" id="{A3D9FDEB-B464-33F4-1A7F-53DA9789E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990600"/>
            <a:ext cx="4065588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5956" name="Picture 4">
            <a:extLst>
              <a:ext uri="{FF2B5EF4-FFF2-40B4-BE49-F238E27FC236}">
                <a16:creationId xmlns="" xmlns:a16="http://schemas.microsoft.com/office/drawing/2014/main" id="{99DB7161-19B5-C92C-E85A-D2129BDD8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066800"/>
            <a:ext cx="6858000" cy="521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5957" name="Rectangle 5">
            <a:extLst>
              <a:ext uri="{FF2B5EF4-FFF2-40B4-BE49-F238E27FC236}">
                <a16:creationId xmlns="" xmlns:a16="http://schemas.microsoft.com/office/drawing/2014/main" id="{0E8A79EF-2E02-35C3-AE49-6FFB7F6B3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1524000"/>
            <a:ext cx="3200400" cy="2209800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78"/>
    </mc:Choice>
    <mc:Fallback xmlns="">
      <p:transition spd="slow" advTm="400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30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="" xmlns:a16="http://schemas.microsoft.com/office/drawing/2014/main" id="{E0095641-30A2-00F7-BEE4-1C32FE60418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神州数码路由器正面版图</a:t>
            </a:r>
          </a:p>
        </p:txBody>
      </p:sp>
      <p:sp>
        <p:nvSpPr>
          <p:cNvPr id="32770" name="灯片编号占位符 5">
            <a:extLst>
              <a:ext uri="{FF2B5EF4-FFF2-40B4-BE49-F238E27FC236}">
                <a16:creationId xmlns="" xmlns:a16="http://schemas.microsoft.com/office/drawing/2014/main" id="{C5F03091-3FDD-D696-2D8D-85729DC74FAE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723531A-7B95-714D-8484-C144C751C63D}" type="slidenum">
              <a:rPr lang="en-US" altLang="zh-CN" sz="140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32771" name="Picture 25" descr="IMG_3385">
            <a:extLst>
              <a:ext uri="{FF2B5EF4-FFF2-40B4-BE49-F238E27FC236}">
                <a16:creationId xmlns="" xmlns:a16="http://schemas.microsoft.com/office/drawing/2014/main" id="{974414D4-E5AB-2A30-0CE5-DE6C62E2B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90600"/>
            <a:ext cx="8064500" cy="542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AutoShape 27">
            <a:extLst>
              <a:ext uri="{FF2B5EF4-FFF2-40B4-BE49-F238E27FC236}">
                <a16:creationId xmlns="" xmlns:a16="http://schemas.microsoft.com/office/drawing/2014/main" id="{2D0092D0-B4C6-F5D0-F665-AAADB50EF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3176588"/>
            <a:ext cx="1403350" cy="431800"/>
          </a:xfrm>
          <a:prstGeom prst="wedgeRoundRectCallout">
            <a:avLst>
              <a:gd name="adj1" fmla="val -56333"/>
              <a:gd name="adj2" fmla="val 155884"/>
              <a:gd name="adj3" fmla="val 16667"/>
            </a:avLst>
          </a:prstGeom>
          <a:solidFill>
            <a:srgbClr val="FFFF00"/>
          </a:solidFill>
          <a:ln w="28575" algn="ctr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Arial" panose="020B0604020202020204" pitchFamily="34" charset="0"/>
              </a:rPr>
              <a:t>电源开关</a:t>
            </a:r>
          </a:p>
        </p:txBody>
      </p:sp>
      <p:sp>
        <p:nvSpPr>
          <p:cNvPr id="32773" name="AutoShape 28">
            <a:extLst>
              <a:ext uri="{FF2B5EF4-FFF2-40B4-BE49-F238E27FC236}">
                <a16:creationId xmlns="" xmlns:a16="http://schemas.microsoft.com/office/drawing/2014/main" id="{13B7B6B4-A39E-238C-CA50-AE7FA972A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425" y="1447800"/>
            <a:ext cx="1439863" cy="431800"/>
          </a:xfrm>
          <a:prstGeom prst="wedgeRoundRectCallout">
            <a:avLst>
              <a:gd name="adj1" fmla="val -32028"/>
              <a:gd name="adj2" fmla="val 568750"/>
              <a:gd name="adj3" fmla="val 16667"/>
            </a:avLst>
          </a:prstGeom>
          <a:solidFill>
            <a:srgbClr val="FFFF00"/>
          </a:solidFill>
          <a:ln w="28575" algn="ctr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latin typeface="Arial" panose="020B0604020202020204" pitchFamily="34" charset="0"/>
              </a:rPr>
              <a:t>配置口</a:t>
            </a:r>
          </a:p>
        </p:txBody>
      </p:sp>
      <p:sp>
        <p:nvSpPr>
          <p:cNvPr id="32774" name="AutoShape 29">
            <a:extLst>
              <a:ext uri="{FF2B5EF4-FFF2-40B4-BE49-F238E27FC236}">
                <a16:creationId xmlns="" xmlns:a16="http://schemas.microsoft.com/office/drawing/2014/main" id="{D5B6400C-2853-8BF5-15E8-41F943A30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109" y="1447800"/>
            <a:ext cx="1296987" cy="431800"/>
          </a:xfrm>
          <a:prstGeom prst="wedgeRoundRectCallout">
            <a:avLst>
              <a:gd name="adj1" fmla="val -26500"/>
              <a:gd name="adj2" fmla="val 565440"/>
              <a:gd name="adj3" fmla="val 16667"/>
            </a:avLst>
          </a:prstGeom>
          <a:solidFill>
            <a:srgbClr val="FFFF00"/>
          </a:solidFill>
          <a:ln w="28575" algn="ctr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latin typeface="Arial" panose="020B0604020202020204" pitchFamily="34" charset="0"/>
              </a:rPr>
              <a:t>以太口</a:t>
            </a:r>
          </a:p>
        </p:txBody>
      </p:sp>
      <p:sp>
        <p:nvSpPr>
          <p:cNvPr id="32775" name="AutoShape 30">
            <a:extLst>
              <a:ext uri="{FF2B5EF4-FFF2-40B4-BE49-F238E27FC236}">
                <a16:creationId xmlns="" xmlns:a16="http://schemas.microsoft.com/office/drawing/2014/main" id="{E5D6B0F3-8768-4C28-16E8-20830DBD0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736" y="1447800"/>
            <a:ext cx="1008954" cy="431800"/>
          </a:xfrm>
          <a:prstGeom prst="wedgeRoundRectCallout">
            <a:avLst>
              <a:gd name="adj1" fmla="val 16019"/>
              <a:gd name="adj2" fmla="val 566546"/>
              <a:gd name="adj3" fmla="val 16667"/>
            </a:avLst>
          </a:prstGeom>
          <a:solidFill>
            <a:srgbClr val="FFFF00"/>
          </a:solidFill>
          <a:ln w="28575" algn="ctr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Arial" panose="020B0604020202020204" pitchFamily="34" charset="0"/>
              </a:rPr>
              <a:t>串口</a:t>
            </a:r>
          </a:p>
        </p:txBody>
      </p:sp>
      <p:sp>
        <p:nvSpPr>
          <p:cNvPr id="32776" name="AutoShape 31">
            <a:extLst>
              <a:ext uri="{FF2B5EF4-FFF2-40B4-BE49-F238E27FC236}">
                <a16:creationId xmlns="" xmlns:a16="http://schemas.microsoft.com/office/drawing/2014/main" id="{50F79DFF-0A2E-846D-2DC0-360736EF3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725" y="1447800"/>
            <a:ext cx="1296987" cy="431800"/>
          </a:xfrm>
          <a:prstGeom prst="wedgeRoundRectCallout">
            <a:avLst>
              <a:gd name="adj1" fmla="val 21847"/>
              <a:gd name="adj2" fmla="val 575000"/>
              <a:gd name="adj3" fmla="val 16667"/>
            </a:avLst>
          </a:prstGeom>
          <a:solidFill>
            <a:srgbClr val="FFFF00"/>
          </a:solidFill>
          <a:ln w="28575" algn="ctr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Arial" panose="020B0604020202020204" pitchFamily="34" charset="0"/>
              </a:rPr>
              <a:t>以太口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813"/>
    </mc:Choice>
    <mc:Fallback xmlns="">
      <p:transition spd="slow" advTm="2481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="" xmlns:a16="http://schemas.microsoft.com/office/drawing/2014/main" id="{281BF0B1-8853-E914-66F2-629AE39DB7B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827584" y="115888"/>
            <a:ext cx="8116391" cy="936625"/>
          </a:xfrm>
        </p:spPr>
        <p:txBody>
          <a:bodyPr/>
          <a:lstStyle/>
          <a:p>
            <a:pPr eaLnBrk="1" hangingPunct="1"/>
            <a:r>
              <a:rPr lang="zh-CN" altLang="en-US" b="1" dirty="0"/>
              <a:t>路由器交换机机柜背面配线架图</a:t>
            </a:r>
          </a:p>
        </p:txBody>
      </p:sp>
      <p:pic>
        <p:nvPicPr>
          <p:cNvPr id="34818" name="Picture 3">
            <a:extLst>
              <a:ext uri="{FF2B5EF4-FFF2-40B4-BE49-F238E27FC236}">
                <a16:creationId xmlns="" xmlns:a16="http://schemas.microsoft.com/office/drawing/2014/main" id="{A19D860F-E59B-E095-CA61-ED5CD4050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9144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203"/>
    </mc:Choice>
    <mc:Fallback xmlns="">
      <p:transition spd="slow" advTm="2920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="" xmlns:a16="http://schemas.microsoft.com/office/drawing/2014/main" id="{978B3AC9-9099-896C-9F58-5390038343B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+mj-ea"/>
              </a:rPr>
              <a:t>路由器</a:t>
            </a:r>
            <a:r>
              <a:rPr lang="en-US" altLang="zh-CN" b="1" dirty="0">
                <a:latin typeface="+mj-ea"/>
              </a:rPr>
              <a:t>A</a:t>
            </a:r>
            <a:r>
              <a:rPr lang="zh-CN" altLang="en-US" b="1" dirty="0">
                <a:latin typeface="+mj-ea"/>
              </a:rPr>
              <a:t>、配线架接口对照图</a:t>
            </a:r>
          </a:p>
        </p:txBody>
      </p:sp>
      <p:pic>
        <p:nvPicPr>
          <p:cNvPr id="36866" name="Picture 3">
            <a:extLst>
              <a:ext uri="{FF2B5EF4-FFF2-40B4-BE49-F238E27FC236}">
                <a16:creationId xmlns="" xmlns:a16="http://schemas.microsoft.com/office/drawing/2014/main" id="{A16098F4-A07B-23BD-6EEB-6659C4787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8204200" cy="285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67" name="Picture 4">
            <a:extLst>
              <a:ext uri="{FF2B5EF4-FFF2-40B4-BE49-F238E27FC236}">
                <a16:creationId xmlns="" xmlns:a16="http://schemas.microsoft.com/office/drawing/2014/main" id="{5636B826-BE0F-5798-D155-8CA310CA9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886200"/>
            <a:ext cx="7127875" cy="264953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868" name="AutoShape 5">
            <a:extLst>
              <a:ext uri="{FF2B5EF4-FFF2-40B4-BE49-F238E27FC236}">
                <a16:creationId xmlns="" xmlns:a16="http://schemas.microsoft.com/office/drawing/2014/main" id="{A84A3FD6-D716-867D-BF45-A43DE2A11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419600"/>
            <a:ext cx="1600200" cy="685800"/>
          </a:xfrm>
          <a:prstGeom prst="rightArrow">
            <a:avLst>
              <a:gd name="adj1" fmla="val 50000"/>
              <a:gd name="adj2" fmla="val 58333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32102" name="AutoShape 6">
            <a:extLst>
              <a:ext uri="{FF2B5EF4-FFF2-40B4-BE49-F238E27FC236}">
                <a16:creationId xmlns="" xmlns:a16="http://schemas.microsoft.com/office/drawing/2014/main" id="{894A5720-E97B-846D-0AEC-220781BBB666}"/>
              </a:ext>
            </a:extLst>
          </p:cNvPr>
          <p:cNvSpPr>
            <a:spLocks noChangeArrowheads="1"/>
          </p:cNvSpPr>
          <p:nvPr/>
        </p:nvSpPr>
        <p:spPr bwMode="auto">
          <a:xfrm rot="-4050018">
            <a:off x="3540125" y="1878013"/>
            <a:ext cx="381000" cy="4724400"/>
          </a:xfrm>
          <a:prstGeom prst="upDownArrow">
            <a:avLst>
              <a:gd name="adj1" fmla="val 50000"/>
              <a:gd name="adj2" fmla="val 248000"/>
            </a:avLst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32103" name="AutoShape 7">
            <a:extLst>
              <a:ext uri="{FF2B5EF4-FFF2-40B4-BE49-F238E27FC236}">
                <a16:creationId xmlns="" xmlns:a16="http://schemas.microsoft.com/office/drawing/2014/main" id="{DAD5B38E-0C9D-7EAE-35C4-95DA904392F2}"/>
              </a:ext>
            </a:extLst>
          </p:cNvPr>
          <p:cNvSpPr>
            <a:spLocks noChangeArrowheads="1"/>
          </p:cNvSpPr>
          <p:nvPr/>
        </p:nvSpPr>
        <p:spPr bwMode="auto">
          <a:xfrm rot="20759261">
            <a:off x="3679679" y="3191007"/>
            <a:ext cx="351209" cy="2133600"/>
          </a:xfrm>
          <a:prstGeom prst="upDownArrow">
            <a:avLst>
              <a:gd name="adj1" fmla="val 50000"/>
              <a:gd name="adj2" fmla="val 93333"/>
            </a:avLst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32104" name="AutoShape 8">
            <a:extLst>
              <a:ext uri="{FF2B5EF4-FFF2-40B4-BE49-F238E27FC236}">
                <a16:creationId xmlns="" xmlns:a16="http://schemas.microsoft.com/office/drawing/2014/main" id="{CC587D6F-1568-1494-1369-3609525584CF}"/>
              </a:ext>
            </a:extLst>
          </p:cNvPr>
          <p:cNvSpPr>
            <a:spLocks noChangeArrowheads="1"/>
          </p:cNvSpPr>
          <p:nvPr/>
        </p:nvSpPr>
        <p:spPr bwMode="auto">
          <a:xfrm rot="3139736">
            <a:off x="3245680" y="2506066"/>
            <a:ext cx="318722" cy="3173413"/>
          </a:xfrm>
          <a:prstGeom prst="upDownArrow">
            <a:avLst>
              <a:gd name="adj1" fmla="val 50000"/>
              <a:gd name="adj2" fmla="val 166583"/>
            </a:avLst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华文新魏" panose="0201080004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297"/>
    </mc:Choice>
    <mc:Fallback xmlns="">
      <p:transition spd="slow" advTm="362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132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132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C7AFFB0E-D7F6-1D1A-7B58-78AD38B76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</a:rPr>
              <a:t>Console</a:t>
            </a:r>
            <a:r>
              <a:rPr lang="zh-CN" altLang="en-US" b="1" dirty="0">
                <a:latin typeface="+mj-ea"/>
              </a:rPr>
              <a:t>口配置路由器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E0F173FC-6BCE-EE85-4759-738A7DFED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29AEFEBD-8DD0-0FC1-BF38-C18152054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4AA4A51-37E5-40D7-B1D1-A6AA598B1069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  <p:pic>
        <p:nvPicPr>
          <p:cNvPr id="5" name="Picture 6">
            <a:extLst>
              <a:ext uri="{FF2B5EF4-FFF2-40B4-BE49-F238E27FC236}">
                <a16:creationId xmlns="" xmlns:a16="http://schemas.microsoft.com/office/drawing/2014/main" id="{CC8C5A4B-7EC0-DDE3-55BA-758250D55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823293"/>
            <a:ext cx="7391400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7005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FAQ</a:t>
            </a:r>
            <a:endParaRPr kumimoji="1"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b="1" dirty="0" smtClean="0">
                <a:latin typeface="+mj-ea"/>
                <a:ea typeface="+mj-ea"/>
                <a:sym typeface="+mn-ea"/>
              </a:rPr>
              <a:t>串口</a:t>
            </a:r>
            <a:r>
              <a:rPr lang="zh-CN" altLang="en-US" sz="2400" b="1" dirty="0" smtClean="0">
                <a:latin typeface="+mj-ea"/>
                <a:ea typeface="+mj-ea"/>
                <a:sym typeface="+mn-ea"/>
              </a:rPr>
              <a:t>通信工具：超级终端</a:t>
            </a:r>
            <a:r>
              <a:rPr lang="en-US" altLang="zh-CN" sz="2400" b="1" dirty="0" smtClean="0">
                <a:latin typeface="+mj-ea"/>
                <a:ea typeface="+mj-ea"/>
                <a:sym typeface="+mn-ea"/>
              </a:rPr>
              <a:t>(521</a:t>
            </a:r>
            <a:r>
              <a:rPr lang="zh-CN" altLang="en-US" sz="2400" b="1" dirty="0" smtClean="0">
                <a:latin typeface="+mj-ea"/>
                <a:ea typeface="+mj-ea"/>
                <a:sym typeface="+mn-ea"/>
              </a:rPr>
              <a:t>室</a:t>
            </a:r>
            <a:r>
              <a:rPr lang="en-US" altLang="zh-CN" sz="2400" b="1" dirty="0" smtClean="0">
                <a:latin typeface="+mj-ea"/>
                <a:ea typeface="+mj-ea"/>
                <a:sym typeface="+mn-ea"/>
              </a:rPr>
              <a:t>)</a:t>
            </a:r>
            <a:r>
              <a:rPr lang="zh-CN" altLang="en-US" sz="2400" b="1" dirty="0" smtClean="0">
                <a:latin typeface="+mj-ea"/>
                <a:ea typeface="+mj-ea"/>
                <a:sym typeface="+mn-ea"/>
              </a:rPr>
              <a:t>、</a:t>
            </a:r>
            <a:endParaRPr lang="en-US" altLang="zh-CN" sz="2400" b="1" dirty="0" smtClean="0">
              <a:latin typeface="+mj-ea"/>
              <a:ea typeface="+mj-ea"/>
              <a:sym typeface="+mn-ea"/>
            </a:endParaRPr>
          </a:p>
          <a:p>
            <a:pPr marL="0" indent="0">
              <a:buNone/>
            </a:pPr>
            <a:r>
              <a:rPr lang="zh-CN" altLang="en-US" sz="2400" b="1" dirty="0">
                <a:latin typeface="+mj-ea"/>
                <a:ea typeface="+mj-ea"/>
                <a:sym typeface="+mn-ea"/>
              </a:rPr>
              <a:t> </a:t>
            </a:r>
            <a:r>
              <a:rPr lang="zh-CN" altLang="en-US" sz="2400" b="1" dirty="0" smtClean="0">
                <a:latin typeface="+mj-ea"/>
                <a:ea typeface="+mj-ea"/>
                <a:sym typeface="+mn-ea"/>
              </a:rPr>
              <a:t>               或</a:t>
            </a:r>
            <a:r>
              <a:rPr lang="en-US" altLang="zh-CN" sz="2400" b="1" dirty="0" err="1" smtClean="0">
                <a:latin typeface="+mj-ea"/>
                <a:ea typeface="+mj-ea"/>
                <a:sym typeface="+mn-ea"/>
              </a:rPr>
              <a:t>puTTY</a:t>
            </a:r>
            <a:r>
              <a:rPr lang="zh-CN" altLang="en-US" sz="2400" b="1" dirty="0" smtClean="0">
                <a:latin typeface="+mj-ea"/>
                <a:ea typeface="+mj-ea"/>
                <a:sym typeface="+mn-ea"/>
              </a:rPr>
              <a:t>（</a:t>
            </a:r>
            <a:r>
              <a:rPr lang="en-US" altLang="zh-CN" sz="2400" b="1" dirty="0" smtClean="0">
                <a:latin typeface="+mj-ea"/>
                <a:ea typeface="+mj-ea"/>
                <a:sym typeface="+mn-ea"/>
              </a:rPr>
              <a:t>519</a:t>
            </a:r>
            <a:r>
              <a:rPr lang="zh-CN" altLang="en-US" sz="2400" b="1" dirty="0" smtClean="0">
                <a:latin typeface="+mj-ea"/>
                <a:ea typeface="+mj-ea"/>
                <a:sym typeface="+mn-ea"/>
              </a:rPr>
              <a:t>室）</a:t>
            </a:r>
            <a:endParaRPr lang="zh-CN" altLang="en-US" sz="2400" b="1" dirty="0">
              <a:latin typeface="+mj-ea"/>
              <a:ea typeface="+mj-ea"/>
            </a:endParaRPr>
          </a:p>
          <a:p>
            <a:r>
              <a:rPr lang="zh-CN" altLang="en-US" sz="2400" b="1" dirty="0" smtClean="0">
                <a:latin typeface="+mj-ea"/>
                <a:ea typeface="+mj-ea"/>
              </a:rPr>
              <a:t>每台</a:t>
            </a:r>
            <a:r>
              <a:rPr lang="en-US" altLang="zh-CN" sz="2400" b="1" dirty="0" smtClean="0">
                <a:latin typeface="+mj-ea"/>
                <a:ea typeface="+mj-ea"/>
              </a:rPr>
              <a:t>PC</a:t>
            </a:r>
            <a:r>
              <a:rPr lang="zh-CN" altLang="en-US" sz="2400" b="1" dirty="0" smtClean="0">
                <a:latin typeface="+mj-ea"/>
                <a:ea typeface="+mj-ea"/>
              </a:rPr>
              <a:t>机有</a:t>
            </a:r>
            <a:r>
              <a:rPr lang="en-US" altLang="zh-CN" sz="2400" b="1" dirty="0" smtClean="0">
                <a:latin typeface="+mj-ea"/>
                <a:ea typeface="+mj-ea"/>
              </a:rPr>
              <a:t>2</a:t>
            </a:r>
            <a:r>
              <a:rPr lang="zh-CN" altLang="en-US" sz="2400" b="1" dirty="0" smtClean="0">
                <a:latin typeface="+mj-ea"/>
                <a:ea typeface="+mj-ea"/>
              </a:rPr>
              <a:t>块网卡：一个专用，一个用于课设实验</a:t>
            </a:r>
            <a:endParaRPr lang="en-US" altLang="zh-CN" sz="2400" b="1" dirty="0" smtClean="0">
              <a:latin typeface="+mj-ea"/>
              <a:ea typeface="+mj-ea"/>
            </a:endParaRPr>
          </a:p>
          <a:p>
            <a:pPr lvl="1"/>
            <a:r>
              <a:rPr lang="en-US" altLang="zh-CN" sz="2000" b="1" dirty="0" smtClean="0">
                <a:latin typeface="+mj-ea"/>
              </a:rPr>
              <a:t>521</a:t>
            </a:r>
            <a:r>
              <a:rPr lang="zh-CN" altLang="en-US" sz="2000" b="1" dirty="0" smtClean="0">
                <a:latin typeface="+mj-ea"/>
              </a:rPr>
              <a:t>室采用主板网卡；</a:t>
            </a:r>
            <a:endParaRPr lang="en-US" altLang="zh-CN" sz="2000" b="1" dirty="0" smtClean="0">
              <a:latin typeface="+mj-ea"/>
            </a:endParaRPr>
          </a:p>
          <a:p>
            <a:pPr lvl="1"/>
            <a:r>
              <a:rPr lang="en-US" altLang="zh-CN" sz="2000" b="1" dirty="0" smtClean="0">
                <a:latin typeface="+mj-ea"/>
              </a:rPr>
              <a:t>519</a:t>
            </a:r>
            <a:r>
              <a:rPr lang="zh-CN" altLang="en-US" sz="2000" b="1" dirty="0" smtClean="0">
                <a:latin typeface="+mj-ea"/>
              </a:rPr>
              <a:t>室采用</a:t>
            </a:r>
            <a:r>
              <a:rPr lang="en-US" altLang="zh-CN" sz="2000" b="1" dirty="0" smtClean="0">
                <a:latin typeface="+mj-ea"/>
              </a:rPr>
              <a:t>USB</a:t>
            </a:r>
            <a:r>
              <a:rPr lang="zh-CN" altLang="en-US" sz="2000" b="1" dirty="0">
                <a:latin typeface="+mj-ea"/>
              </a:rPr>
              <a:t>扩展</a:t>
            </a:r>
            <a:r>
              <a:rPr lang="zh-CN" altLang="en-US" sz="2000" b="1" dirty="0" smtClean="0">
                <a:latin typeface="+mj-ea"/>
              </a:rPr>
              <a:t>网卡</a:t>
            </a:r>
            <a:r>
              <a:rPr lang="zh-CN" altLang="en-US" sz="2000" b="1" dirty="0">
                <a:latin typeface="+mj-ea"/>
              </a:rPr>
              <a:t>（</a:t>
            </a:r>
            <a:r>
              <a:rPr lang="zh-CN" altLang="en-US" sz="2000" b="1" dirty="0" smtClean="0">
                <a:latin typeface="+mj-ea"/>
              </a:rPr>
              <a:t>需安装驱动，开机自动安装或手动安装）</a:t>
            </a:r>
            <a:endParaRPr lang="zh-CN" altLang="en-US" sz="2000" b="1" dirty="0">
              <a:latin typeface="+mj-ea"/>
              <a:ea typeface="+mj-ea"/>
            </a:endParaRPr>
          </a:p>
          <a:p>
            <a:r>
              <a:rPr kumimoji="1" lang="zh-CN" altLang="en-US" sz="2400" b="1" dirty="0" smtClean="0">
                <a:latin typeface="+mj-ea"/>
                <a:ea typeface="+mj-ea"/>
              </a:rPr>
              <a:t>机柜里，两个路由器串口之间，</a:t>
            </a:r>
            <a:r>
              <a:rPr kumimoji="1" lang="en-US" altLang="zh-CN" sz="2400" b="1" dirty="0" smtClean="0">
                <a:latin typeface="+mj-ea"/>
                <a:ea typeface="+mj-ea"/>
              </a:rPr>
              <a:t>s0/1</a:t>
            </a:r>
            <a:r>
              <a:rPr kumimoji="1" lang="zh-CN" altLang="en-US" sz="2400" b="1" dirty="0" smtClean="0">
                <a:latin typeface="+mj-ea"/>
                <a:ea typeface="+mj-ea"/>
              </a:rPr>
              <a:t>互连，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en-US" altLang="zh-CN" sz="2400" b="1" dirty="0" smtClean="0">
                <a:latin typeface="+mj-ea"/>
              </a:rPr>
              <a:t>s0/2</a:t>
            </a:r>
            <a:r>
              <a:rPr lang="zh-CN" altLang="en-US" sz="2400" b="1" dirty="0" smtClean="0">
                <a:latin typeface="+mj-ea"/>
              </a:rPr>
              <a:t>互连</a:t>
            </a:r>
            <a:endParaRPr kumimoji="1" lang="en-US" altLang="zh-CN" sz="2400" b="1" dirty="0" smtClean="0">
              <a:latin typeface="+mj-ea"/>
              <a:ea typeface="+mj-ea"/>
            </a:endParaRPr>
          </a:p>
          <a:p>
            <a:r>
              <a:rPr kumimoji="1" lang="zh-CN" altLang="en-US" sz="2400" b="1" dirty="0" smtClean="0">
                <a:latin typeface="+mj-ea"/>
                <a:ea typeface="+mj-ea"/>
              </a:rPr>
              <a:t>机柜里，路由器到交换机没连线，学生自己连线</a:t>
            </a:r>
            <a:endParaRPr kumimoji="1" lang="en-US" altLang="zh-CN" sz="2400" b="1" dirty="0" smtClean="0">
              <a:latin typeface="+mj-ea"/>
              <a:ea typeface="+mj-ea"/>
            </a:endParaRPr>
          </a:p>
          <a:p>
            <a:r>
              <a:rPr lang="zh-CN" altLang="en-US" sz="2400" b="1" dirty="0" smtClean="0">
                <a:latin typeface="+mj-ea"/>
                <a:ea typeface="+mj-ea"/>
              </a:rPr>
              <a:t>机柜里，两个交换机之间，有些没</a:t>
            </a:r>
            <a:r>
              <a:rPr lang="zh-CN" altLang="en-US" sz="2400" b="1" dirty="0">
                <a:latin typeface="+mj-ea"/>
                <a:ea typeface="+mj-ea"/>
              </a:rPr>
              <a:t>连</a:t>
            </a:r>
            <a:r>
              <a:rPr lang="zh-CN" altLang="en-US" sz="2400" b="1" dirty="0" smtClean="0">
                <a:latin typeface="+mj-ea"/>
                <a:ea typeface="+mj-ea"/>
              </a:rPr>
              <a:t>线，有些通过</a:t>
            </a:r>
            <a:r>
              <a:rPr lang="en-US" altLang="zh-CN" sz="2400" b="1" dirty="0" smtClean="0">
                <a:latin typeface="+mj-ea"/>
                <a:ea typeface="+mj-ea"/>
              </a:rPr>
              <a:t>24</a:t>
            </a:r>
            <a:r>
              <a:rPr lang="zh-CN" altLang="en-US" sz="2400" b="1" dirty="0" smtClean="0">
                <a:latin typeface="+mj-ea"/>
                <a:ea typeface="+mj-ea"/>
              </a:rPr>
              <a:t>口互连</a:t>
            </a:r>
            <a:r>
              <a:rPr lang="zh-CN" altLang="en-US" sz="2400" b="1" dirty="0">
                <a:latin typeface="+mj-ea"/>
                <a:ea typeface="+mj-ea"/>
              </a:rPr>
              <a:t>。</a:t>
            </a:r>
            <a:endParaRPr kumimoji="1" lang="zh-CN" altLang="en-US" sz="2400" b="1" dirty="0">
              <a:latin typeface="+mj-ea"/>
              <a:ea typeface="+mj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4AA4A51-37E5-40D7-B1D1-A6AA598B1069}" type="slidenum">
              <a:rPr lang="zh-CN" altLang="en-US" smtClean="0"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7584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 smtClean="0"/>
              <a:t>puTTY</a:t>
            </a:r>
            <a:endParaRPr kumimoji="1"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4AA4A51-37E5-40D7-B1D1-A6AA598B1069}" type="slidenum">
              <a:rPr lang="zh-CN" altLang="en-US" smtClean="0"/>
              <a:t>10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238338"/>
            <a:ext cx="7092280" cy="5319210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 bwMode="auto">
          <a:xfrm>
            <a:off x="1403648" y="2060848"/>
            <a:ext cx="936104" cy="108012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6012160" y="3140968"/>
            <a:ext cx="50405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" name="直接连接符 9"/>
          <p:cNvCxnSpPr/>
          <p:nvPr/>
        </p:nvCxnSpPr>
        <p:spPr bwMode="auto">
          <a:xfrm>
            <a:off x="6529772" y="3501008"/>
            <a:ext cx="50405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818309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3">
            <a:extLst>
              <a:ext uri="{FF2B5EF4-FFF2-40B4-BE49-F238E27FC236}">
                <a16:creationId xmlns="" xmlns:a16="http://schemas.microsoft.com/office/drawing/2014/main" id="{E3F788FB-34A4-3000-A1CB-9EC2EDFEB2D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295400"/>
            <a:ext cx="7924800" cy="1651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latin typeface="+mj-ea"/>
                <a:ea typeface="+mj-ea"/>
              </a:rPr>
              <a:t>  Windows</a:t>
            </a:r>
            <a:r>
              <a:rPr lang="zh-CN" altLang="en-US" sz="2800" dirty="0">
                <a:latin typeface="+mj-ea"/>
                <a:ea typeface="+mj-ea"/>
              </a:rPr>
              <a:t>中，“开始”</a:t>
            </a:r>
            <a:r>
              <a:rPr lang="en-US" altLang="zh-CN" sz="2800" dirty="0">
                <a:latin typeface="+mj-ea"/>
                <a:ea typeface="+mj-ea"/>
              </a:rPr>
              <a:t>&gt;</a:t>
            </a:r>
            <a:r>
              <a:rPr lang="zh-CN" altLang="en-US" sz="2800" dirty="0">
                <a:latin typeface="+mj-ea"/>
                <a:ea typeface="+mj-ea"/>
              </a:rPr>
              <a:t>“程序”</a:t>
            </a:r>
            <a:r>
              <a:rPr lang="en-US" altLang="zh-CN" sz="2800" dirty="0">
                <a:latin typeface="+mj-ea"/>
                <a:ea typeface="+mj-ea"/>
              </a:rPr>
              <a:t>&gt;</a:t>
            </a:r>
            <a:r>
              <a:rPr lang="zh-CN" altLang="en-US" sz="2800" dirty="0">
                <a:latin typeface="+mj-ea"/>
                <a:ea typeface="+mj-ea"/>
              </a:rPr>
              <a:t>“附件”</a:t>
            </a:r>
            <a:r>
              <a:rPr lang="en-US" altLang="zh-CN" sz="2800" dirty="0">
                <a:latin typeface="+mj-ea"/>
                <a:ea typeface="+mj-ea"/>
              </a:rPr>
              <a:t>&gt;</a:t>
            </a:r>
            <a:r>
              <a:rPr lang="zh-CN" altLang="en-US" sz="2800" dirty="0">
                <a:latin typeface="+mj-ea"/>
                <a:ea typeface="+mj-ea"/>
              </a:rPr>
              <a:t> “通信”</a:t>
            </a:r>
            <a:r>
              <a:rPr lang="en-US" altLang="zh-CN" sz="2800" dirty="0">
                <a:latin typeface="+mj-ea"/>
                <a:ea typeface="+mj-ea"/>
              </a:rPr>
              <a:t>&gt;</a:t>
            </a:r>
            <a:r>
              <a:rPr lang="zh-CN" altLang="en-US" sz="2800" dirty="0">
                <a:latin typeface="+mj-ea"/>
                <a:ea typeface="+mj-ea"/>
              </a:rPr>
              <a:t>“超级终端”。“超级终端”对话框中建立新的连接</a:t>
            </a:r>
          </a:p>
        </p:txBody>
      </p:sp>
      <p:sp>
        <p:nvSpPr>
          <p:cNvPr id="26630" name="Rectangle 9">
            <a:extLst>
              <a:ext uri="{FF2B5EF4-FFF2-40B4-BE49-F238E27FC236}">
                <a16:creationId xmlns="" xmlns:a16="http://schemas.microsoft.com/office/drawing/2014/main" id="{B2DA48FC-4DF6-EEB6-4807-8E0AF3DD570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graphicFrame>
        <p:nvGraphicFramePr>
          <p:cNvPr id="26631" name="Object 10">
            <a:extLst>
              <a:ext uri="{FF2B5EF4-FFF2-40B4-BE49-F238E27FC236}">
                <a16:creationId xmlns="" xmlns:a16="http://schemas.microsoft.com/office/drawing/2014/main" id="{348C8B25-7C3E-06F8-D107-74BCAC6215C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3276600" y="3048000"/>
          <a:ext cx="1828800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Visio" r:id="rId3" imgW="1435100" imgH="3187700" progId="Visio.Drawing.11">
                  <p:embed/>
                </p:oleObj>
              </mc:Choice>
              <mc:Fallback>
                <p:oleObj name="Visio" r:id="rId3" imgW="1435100" imgH="3187700" progId="Visio.Drawing.11">
                  <p:embed/>
                  <p:pic>
                    <p:nvPicPr>
                      <p:cNvPr id="26631" name="Object 10">
                        <a:extLst>
                          <a:ext uri="{FF2B5EF4-FFF2-40B4-BE49-F238E27FC236}">
                            <a16:creationId xmlns="" xmlns:a16="http://schemas.microsoft.com/office/drawing/2014/main" id="{348C8B25-7C3E-06F8-D107-74BCAC6215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048000"/>
                        <a:ext cx="1828800" cy="335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003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" name="Picture 3">
            <a:extLst>
              <a:ext uri="{FF2B5EF4-FFF2-40B4-BE49-F238E27FC236}">
                <a16:creationId xmlns="" xmlns:a16="http://schemas.microsoft.com/office/drawing/2014/main" id="{650D1216-7A7A-805F-FF12-13598F32F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268760"/>
            <a:ext cx="6705600" cy="520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0" name="Rectangle 4">
            <a:extLst>
              <a:ext uri="{FF2B5EF4-FFF2-40B4-BE49-F238E27FC236}">
                <a16:creationId xmlns="" xmlns:a16="http://schemas.microsoft.com/office/drawing/2014/main" id="{B9CE8CE9-5C7F-E7B9-89BA-DAF98CDEE9A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77638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="" xmlns:a16="http://schemas.microsoft.com/office/drawing/2014/main" id="{8FDDF062-5179-8A4E-E1EB-68D764E81F3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pic>
        <p:nvPicPr>
          <p:cNvPr id="28674" name="Picture 3">
            <a:extLst>
              <a:ext uri="{FF2B5EF4-FFF2-40B4-BE49-F238E27FC236}">
                <a16:creationId xmlns="" xmlns:a16="http://schemas.microsoft.com/office/drawing/2014/main" id="{942697D0-14A4-052E-1E82-32887D964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1268760"/>
            <a:ext cx="6781800" cy="528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7296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82DB7981-FBD5-3E1E-6578-1C6C4A2F3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常用路由器命令</a:t>
            </a:r>
            <a:endParaRPr kumimoji="1" lang="zh-CN" altLang="en-US" b="1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10F7E98A-973A-B3D5-3B0B-FA85C9493454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11187" y="1341438"/>
            <a:ext cx="8332787" cy="4895850"/>
          </a:xfrm>
        </p:spPr>
        <p:txBody>
          <a:bodyPr/>
          <a:lstStyle/>
          <a:p>
            <a:r>
              <a:rPr lang="zh-CN" altLang="zh-CN" sz="2800" b="1" dirty="0">
                <a:latin typeface="+mj-ea"/>
                <a:ea typeface="+mj-ea"/>
              </a:rPr>
              <a:t>无论何种状态和位置，键入？</a:t>
            </a:r>
            <a:r>
              <a:rPr lang="zh-CN" altLang="en-US" sz="2800" b="1" dirty="0">
                <a:latin typeface="+mj-ea"/>
                <a:ea typeface="+mj-ea"/>
              </a:rPr>
              <a:t>可</a:t>
            </a:r>
            <a:r>
              <a:rPr lang="zh-CN" altLang="zh-CN" sz="2800" b="1" dirty="0">
                <a:latin typeface="+mj-ea"/>
                <a:ea typeface="+mj-ea"/>
              </a:rPr>
              <a:t>得到系统的帮助</a:t>
            </a:r>
            <a:endParaRPr lang="en-US" altLang="zh-CN" sz="2800" b="1" dirty="0">
              <a:latin typeface="+mj-ea"/>
              <a:ea typeface="+mj-ea"/>
            </a:endParaRPr>
          </a:p>
          <a:p>
            <a:r>
              <a:rPr kumimoji="1" lang="zh-CN" altLang="en-US" sz="2800" b="1" dirty="0">
                <a:latin typeface="+mj-ea"/>
                <a:ea typeface="+mj-ea"/>
              </a:rPr>
              <a:t>用户模式</a:t>
            </a:r>
            <a:endParaRPr kumimoji="1" lang="en-US" altLang="zh-CN" sz="2800" b="1" dirty="0">
              <a:latin typeface="+mj-ea"/>
              <a:ea typeface="+mj-ea"/>
            </a:endParaRPr>
          </a:p>
          <a:p>
            <a:pPr lvl="1"/>
            <a:r>
              <a:rPr lang="en-US" altLang="zh-CN" sz="2400" b="1" dirty="0">
                <a:latin typeface="+mj-ea"/>
                <a:ea typeface="+mj-ea"/>
              </a:rPr>
              <a:t>Router</a:t>
            </a:r>
            <a:r>
              <a:rPr kumimoji="1"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&gt;</a:t>
            </a:r>
            <a:r>
              <a:rPr kumimoji="1" lang="zh-CN" altLang="en-US" sz="2400" b="1" dirty="0">
                <a:latin typeface="+mj-ea"/>
                <a:ea typeface="+mj-ea"/>
              </a:rPr>
              <a:t>                   </a:t>
            </a:r>
            <a:r>
              <a:rPr kumimoji="1" lang="en-US" altLang="zh-CN" sz="2400" b="1" dirty="0">
                <a:latin typeface="+mj-ea"/>
                <a:ea typeface="+mj-ea"/>
              </a:rPr>
              <a:t>//</a:t>
            </a:r>
            <a:r>
              <a:rPr kumimoji="1" lang="zh-CN" altLang="en-US" sz="2400" b="1" dirty="0">
                <a:latin typeface="+mj-ea"/>
                <a:ea typeface="+mj-ea"/>
              </a:rPr>
              <a:t> 用户模式</a:t>
            </a:r>
            <a:endParaRPr kumimoji="1" lang="en-US" altLang="zh-CN" sz="2400" b="1" dirty="0">
              <a:latin typeface="+mj-ea"/>
              <a:ea typeface="+mj-ea"/>
            </a:endParaRPr>
          </a:p>
          <a:p>
            <a:pPr lvl="1"/>
            <a:r>
              <a:rPr kumimoji="1" lang="en-US" altLang="zh-CN" sz="2400" b="1" dirty="0">
                <a:latin typeface="+mj-ea"/>
                <a:ea typeface="+mj-ea"/>
              </a:rPr>
              <a:t>Router&gt;</a:t>
            </a:r>
            <a:r>
              <a:rPr kumimoji="1" lang="en-US" altLang="zh-CN" sz="2400" b="1" dirty="0" err="1">
                <a:latin typeface="+mj-ea"/>
                <a:ea typeface="+mj-ea"/>
              </a:rPr>
              <a:t>sh</a:t>
            </a:r>
            <a:r>
              <a:rPr kumimoji="1" lang="en-US" altLang="zh-CN" sz="2400" b="1" dirty="0">
                <a:latin typeface="+mj-ea"/>
                <a:ea typeface="+mj-ea"/>
              </a:rPr>
              <a:t> interface      </a:t>
            </a:r>
            <a:r>
              <a:rPr kumimoji="1" lang="zh-CN" altLang="en-US" sz="2400" b="1" dirty="0">
                <a:latin typeface="+mj-ea"/>
                <a:ea typeface="+mj-ea"/>
              </a:rPr>
              <a:t> </a:t>
            </a:r>
            <a:r>
              <a:rPr kumimoji="1" lang="en-US" altLang="zh-CN" sz="2400" b="1" dirty="0">
                <a:latin typeface="+mj-ea"/>
                <a:ea typeface="+mj-ea"/>
              </a:rPr>
              <a:t>// </a:t>
            </a:r>
            <a:r>
              <a:rPr kumimoji="1" lang="zh-CN" altLang="en-US" sz="2400" b="1" dirty="0">
                <a:latin typeface="+mj-ea"/>
                <a:ea typeface="+mj-ea"/>
              </a:rPr>
              <a:t>查看接口信息</a:t>
            </a:r>
          </a:p>
          <a:p>
            <a:pPr lvl="1"/>
            <a:r>
              <a:rPr kumimoji="1" lang="en-US" altLang="zh-CN" sz="2400" b="1" dirty="0">
                <a:latin typeface="+mj-ea"/>
                <a:ea typeface="+mj-ea"/>
              </a:rPr>
              <a:t>Router&gt;</a:t>
            </a:r>
            <a:r>
              <a:rPr kumimoji="1" lang="en-US" altLang="zh-CN" sz="2400" b="1" dirty="0" err="1">
                <a:latin typeface="+mj-ea"/>
                <a:ea typeface="+mj-ea"/>
              </a:rPr>
              <a:t>sh</a:t>
            </a:r>
            <a:r>
              <a:rPr kumimoji="1" lang="en-US" altLang="zh-CN" sz="2400" b="1" dirty="0">
                <a:latin typeface="+mj-ea"/>
                <a:ea typeface="+mj-ea"/>
              </a:rPr>
              <a:t> </a:t>
            </a:r>
            <a:r>
              <a:rPr kumimoji="1" lang="en-US" altLang="zh-CN" sz="2400" b="1" dirty="0" err="1">
                <a:latin typeface="+mj-ea"/>
                <a:ea typeface="+mj-ea"/>
              </a:rPr>
              <a:t>ip</a:t>
            </a:r>
            <a:r>
              <a:rPr kumimoji="1" lang="en-US" altLang="zh-CN" sz="2400" b="1" dirty="0">
                <a:latin typeface="+mj-ea"/>
                <a:ea typeface="+mj-ea"/>
              </a:rPr>
              <a:t> route</a:t>
            </a:r>
            <a:r>
              <a:rPr kumimoji="1" lang="zh-CN" altLang="en-US" sz="2400" b="1" dirty="0">
                <a:latin typeface="+mj-ea"/>
                <a:ea typeface="+mj-ea"/>
              </a:rPr>
              <a:t> </a:t>
            </a:r>
            <a:r>
              <a:rPr kumimoji="1" lang="en-US" altLang="zh-CN" sz="2400" b="1" dirty="0">
                <a:latin typeface="+mj-ea"/>
                <a:ea typeface="+mj-ea"/>
              </a:rPr>
              <a:t>      </a:t>
            </a:r>
            <a:r>
              <a:rPr kumimoji="1" lang="zh-CN" altLang="en-US" sz="2400" b="1" dirty="0">
                <a:latin typeface="+mj-ea"/>
                <a:ea typeface="+mj-ea"/>
              </a:rPr>
              <a:t> </a:t>
            </a:r>
            <a:r>
              <a:rPr kumimoji="1" lang="en-US" altLang="zh-CN" sz="2400" b="1" dirty="0">
                <a:latin typeface="+mj-ea"/>
                <a:ea typeface="+mj-ea"/>
              </a:rPr>
              <a:t>// </a:t>
            </a:r>
            <a:r>
              <a:rPr kumimoji="1" lang="zh-CN" altLang="en-US" sz="2400" b="1" dirty="0">
                <a:latin typeface="+mj-ea"/>
                <a:ea typeface="+mj-ea"/>
              </a:rPr>
              <a:t>查看路由表信息</a:t>
            </a:r>
            <a:endParaRPr kumimoji="1" lang="en-US" altLang="zh-CN" sz="2400" b="1" dirty="0">
              <a:latin typeface="+mj-ea"/>
              <a:ea typeface="+mj-ea"/>
            </a:endParaRPr>
          </a:p>
          <a:p>
            <a:r>
              <a:rPr kumimoji="1" lang="zh-CN" altLang="en-US" sz="2800" b="1" dirty="0">
                <a:latin typeface="+mj-ea"/>
                <a:ea typeface="+mj-ea"/>
              </a:rPr>
              <a:t>特权模式</a:t>
            </a:r>
            <a:endParaRPr kumimoji="1" lang="en-US" altLang="zh-CN" sz="2800" b="1" dirty="0">
              <a:latin typeface="+mj-ea"/>
              <a:ea typeface="+mj-ea"/>
            </a:endParaRPr>
          </a:p>
          <a:p>
            <a:pPr lvl="1"/>
            <a:r>
              <a:rPr lang="en-US" altLang="zh-CN" sz="2400" b="1" dirty="0">
                <a:latin typeface="+mj-ea"/>
                <a:ea typeface="+mj-ea"/>
              </a:rPr>
              <a:t>Router</a:t>
            </a:r>
            <a:r>
              <a:rPr kumimoji="1" lang="en-US" altLang="zh-CN" sz="2400" b="1" dirty="0">
                <a:latin typeface="+mj-ea"/>
                <a:ea typeface="+mj-ea"/>
              </a:rPr>
              <a:t>&gt;</a:t>
            </a:r>
            <a:r>
              <a:rPr kumimoji="1" lang="en" altLang="zh-CN" sz="2400" b="1" dirty="0">
                <a:latin typeface="+mj-ea"/>
                <a:ea typeface="+mj-ea"/>
              </a:rPr>
              <a:t>enable</a:t>
            </a:r>
            <a:r>
              <a:rPr kumimoji="1" lang="zh-CN" altLang="en-US" sz="2400" b="1" dirty="0">
                <a:latin typeface="+mj-ea"/>
                <a:ea typeface="+mj-ea"/>
              </a:rPr>
              <a:t>             </a:t>
            </a:r>
            <a:r>
              <a:rPr kumimoji="1" lang="en-US" altLang="zh-CN" sz="2400" b="1" dirty="0">
                <a:latin typeface="+mj-ea"/>
                <a:ea typeface="+mj-ea"/>
              </a:rPr>
              <a:t>//</a:t>
            </a:r>
            <a:r>
              <a:rPr kumimoji="1" lang="en" altLang="zh-CN" sz="2400" b="1" dirty="0">
                <a:latin typeface="+mj-ea"/>
                <a:ea typeface="+mj-ea"/>
              </a:rPr>
              <a:t> </a:t>
            </a:r>
            <a:r>
              <a:rPr kumimoji="1" lang="zh-CN" altLang="en" sz="2400" b="1" dirty="0">
                <a:latin typeface="+mj-ea"/>
                <a:ea typeface="+mj-ea"/>
              </a:rPr>
              <a:t>进入</a:t>
            </a:r>
            <a:r>
              <a:rPr kumimoji="1" lang="zh-CN" altLang="en-US" sz="2400" b="1" dirty="0">
                <a:latin typeface="+mj-ea"/>
                <a:ea typeface="+mj-ea"/>
              </a:rPr>
              <a:t>特权模式</a:t>
            </a:r>
            <a:endParaRPr lang="en-US" altLang="zh-CN" sz="2400" b="1" dirty="0">
              <a:latin typeface="+mj-ea"/>
              <a:ea typeface="+mj-ea"/>
            </a:endParaRPr>
          </a:p>
          <a:p>
            <a:pPr lvl="1"/>
            <a:r>
              <a:rPr lang="en-US" altLang="zh-CN" sz="2400" b="1" dirty="0">
                <a:latin typeface="+mj-ea"/>
                <a:ea typeface="+mj-ea"/>
              </a:rPr>
              <a:t>Router</a:t>
            </a:r>
            <a:r>
              <a:rPr kumimoji="1"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#</a:t>
            </a:r>
            <a:r>
              <a:rPr kumimoji="1" lang="zh-CN" altLang="en-US" sz="2400" b="1" dirty="0">
                <a:latin typeface="+mj-ea"/>
                <a:ea typeface="+mj-ea"/>
              </a:rPr>
              <a:t>                   </a:t>
            </a:r>
            <a:r>
              <a:rPr kumimoji="1" lang="en-US" altLang="zh-CN" sz="2400" b="1" dirty="0">
                <a:latin typeface="+mj-ea"/>
                <a:ea typeface="+mj-ea"/>
              </a:rPr>
              <a:t>//</a:t>
            </a:r>
            <a:r>
              <a:rPr kumimoji="1" lang="zh-CN" altLang="en-US" sz="2400" b="1" dirty="0">
                <a:latin typeface="+mj-ea"/>
                <a:ea typeface="+mj-ea"/>
              </a:rPr>
              <a:t> 特权模式</a:t>
            </a:r>
            <a:endParaRPr kumimoji="1" lang="en-US" altLang="zh-CN" sz="2400" b="1" dirty="0">
              <a:latin typeface="+mj-ea"/>
              <a:ea typeface="+mj-ea"/>
            </a:endParaRPr>
          </a:p>
          <a:p>
            <a:pPr lvl="1"/>
            <a:r>
              <a:rPr lang="en-US" altLang="zh-CN" sz="2400" b="1" dirty="0" err="1">
                <a:latin typeface="+mj-ea"/>
                <a:ea typeface="+mj-ea"/>
              </a:rPr>
              <a:t>Router#sh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dirty="0" err="1">
                <a:latin typeface="+mj-ea"/>
                <a:ea typeface="+mj-ea"/>
              </a:rPr>
              <a:t>ip</a:t>
            </a:r>
            <a:r>
              <a:rPr lang="en-US" altLang="zh-CN" sz="2400" b="1" dirty="0">
                <a:latin typeface="+mj-ea"/>
                <a:ea typeface="+mj-ea"/>
              </a:rPr>
              <a:t> route</a:t>
            </a:r>
            <a:r>
              <a:rPr lang="zh-CN" altLang="en-US" sz="2400" b="1" dirty="0">
                <a:latin typeface="+mj-ea"/>
                <a:ea typeface="+mj-ea"/>
              </a:rPr>
              <a:t>      </a:t>
            </a:r>
            <a:r>
              <a:rPr lang="en-US" altLang="zh-CN" sz="2400" b="1" dirty="0">
                <a:latin typeface="+mj-ea"/>
                <a:ea typeface="+mj-ea"/>
              </a:rPr>
              <a:t>  //</a:t>
            </a:r>
            <a:r>
              <a:rPr lang="zh-CN" altLang="en-US" sz="2400" b="1" dirty="0">
                <a:latin typeface="+mj-ea"/>
                <a:ea typeface="+mj-ea"/>
              </a:rPr>
              <a:t> 显示路由表</a:t>
            </a:r>
            <a:r>
              <a:rPr kumimoji="1" lang="zh-CN" altLang="en-US" sz="2400" b="1" dirty="0">
                <a:latin typeface="+mj-ea"/>
                <a:ea typeface="+mj-ea"/>
              </a:rPr>
              <a:t>信息</a:t>
            </a:r>
            <a:endParaRPr kumimoji="1" lang="en-US" altLang="zh-CN" sz="2400" b="1" dirty="0">
              <a:latin typeface="+mj-ea"/>
              <a:ea typeface="+mj-ea"/>
            </a:endParaRPr>
          </a:p>
          <a:p>
            <a:pPr lvl="1"/>
            <a:r>
              <a:rPr lang="en-US" altLang="zh-CN" sz="2400" b="1" dirty="0" err="1">
                <a:latin typeface="+mj-ea"/>
                <a:ea typeface="+mj-ea"/>
              </a:rPr>
              <a:t>Router#sh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kumimoji="1" lang="en-US" altLang="zh-CN" sz="2400" b="1" dirty="0">
                <a:latin typeface="+mj-ea"/>
                <a:ea typeface="+mj-ea"/>
              </a:rPr>
              <a:t>interface </a:t>
            </a:r>
            <a:r>
              <a:rPr kumimoji="1" lang="zh-CN" altLang="en-US" sz="2400" b="1" dirty="0">
                <a:latin typeface="+mj-ea"/>
                <a:ea typeface="+mj-ea"/>
              </a:rPr>
              <a:t>      </a:t>
            </a:r>
            <a:r>
              <a:rPr lang="en-US" altLang="zh-CN" sz="2400" b="1" dirty="0">
                <a:latin typeface="+mj-ea"/>
                <a:ea typeface="+mj-ea"/>
              </a:rPr>
              <a:t>//</a:t>
            </a:r>
            <a:r>
              <a:rPr lang="zh-CN" altLang="en-US" sz="2400" b="1" dirty="0">
                <a:latin typeface="+mj-ea"/>
                <a:ea typeface="+mj-ea"/>
              </a:rPr>
              <a:t> 显示接口</a:t>
            </a:r>
            <a:r>
              <a:rPr kumimoji="1" lang="zh-CN" altLang="en-US" sz="2400" b="1" dirty="0">
                <a:latin typeface="+mj-ea"/>
                <a:ea typeface="+mj-ea"/>
              </a:rPr>
              <a:t>信息</a:t>
            </a:r>
            <a:endParaRPr kumimoji="1" lang="en-US" altLang="zh-CN" sz="2400" b="1" dirty="0">
              <a:latin typeface="+mj-ea"/>
              <a:ea typeface="+mj-ea"/>
            </a:endParaRPr>
          </a:p>
          <a:p>
            <a:pPr lvl="1"/>
            <a:r>
              <a:rPr lang="en-US" altLang="zh-CN" sz="2400" b="1" dirty="0" err="1">
                <a:latin typeface="+mj-ea"/>
                <a:ea typeface="+mj-ea"/>
              </a:rPr>
              <a:t>Router</a:t>
            </a:r>
            <a:r>
              <a:rPr kumimoji="1" lang="en-US" altLang="zh-CN" sz="2400" b="1" dirty="0" err="1">
                <a:latin typeface="+mj-ea"/>
                <a:ea typeface="+mj-ea"/>
              </a:rPr>
              <a:t>#disable</a:t>
            </a:r>
            <a:r>
              <a:rPr kumimoji="1" lang="zh-CN" altLang="en-US" sz="2400" b="1" dirty="0">
                <a:latin typeface="+mj-ea"/>
                <a:ea typeface="+mj-ea"/>
              </a:rPr>
              <a:t>            </a:t>
            </a:r>
            <a:r>
              <a:rPr kumimoji="1" lang="en-US" altLang="zh-CN" sz="2400" b="1" dirty="0">
                <a:latin typeface="+mj-ea"/>
                <a:ea typeface="+mj-ea"/>
              </a:rPr>
              <a:t>//</a:t>
            </a:r>
            <a:r>
              <a:rPr kumimoji="1" lang="zh-CN" altLang="en-US" sz="2400" b="1" dirty="0">
                <a:latin typeface="+mj-ea"/>
                <a:ea typeface="+mj-ea"/>
              </a:rPr>
              <a:t> 退出特权模式</a:t>
            </a:r>
            <a:endParaRPr kumimoji="1" lang="en-US" altLang="zh-CN" sz="2400" b="1" dirty="0">
              <a:latin typeface="+mj-ea"/>
              <a:ea typeface="+mj-ea"/>
            </a:endParaRPr>
          </a:p>
          <a:p>
            <a:pPr lvl="1"/>
            <a:endParaRPr kumimoji="1" lang="en-US" altLang="zh-CN" sz="2400" b="1" dirty="0">
              <a:latin typeface="+mj-ea"/>
              <a:ea typeface="+mj-ea"/>
            </a:endParaRPr>
          </a:p>
          <a:p>
            <a:endParaRPr kumimoji="1" lang="en" altLang="zh-CN" sz="2800" b="1" dirty="0">
              <a:latin typeface="+mj-ea"/>
              <a:ea typeface="+mj-ea"/>
            </a:endParaRPr>
          </a:p>
          <a:p>
            <a:endParaRPr kumimoji="1" lang="zh-CN" altLang="en-US" sz="2800" b="1" dirty="0">
              <a:latin typeface="+mj-ea"/>
              <a:ea typeface="+mj-ea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5BE97824-D6CE-E7E9-08C5-B4661E1B4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801D8-2272-4EF8-BB2F-7D90CA5D8A33}" type="slidenum">
              <a:rPr lang="zh-CN" altLang="en-US" smtClean="0"/>
              <a:pPr>
                <a:defRPr/>
              </a:pPr>
              <a:t>14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99859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82DB7981-FBD5-3E1E-6578-1C6C4A2F3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常用路由器命令</a:t>
            </a:r>
            <a:endParaRPr kumimoji="1" lang="zh-CN" altLang="en-US" b="1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10F7E98A-973A-B3D5-3B0B-FA85C9493454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512" y="1341438"/>
            <a:ext cx="8764463" cy="4895850"/>
          </a:xfrm>
        </p:spPr>
        <p:txBody>
          <a:bodyPr/>
          <a:lstStyle/>
          <a:p>
            <a:r>
              <a:rPr kumimoji="1" lang="zh-CN" altLang="en-US" sz="2800" b="1" dirty="0">
                <a:latin typeface="+mj-ea"/>
                <a:ea typeface="+mj-ea"/>
              </a:rPr>
              <a:t>全局配置模式</a:t>
            </a:r>
            <a:endParaRPr kumimoji="1" lang="en-US" altLang="zh-CN" sz="2800" b="1" dirty="0">
              <a:latin typeface="+mj-ea"/>
              <a:ea typeface="+mj-ea"/>
            </a:endParaRPr>
          </a:p>
          <a:p>
            <a:pPr lvl="1"/>
            <a:r>
              <a:rPr lang="en-US" altLang="zh-CN" sz="2400" b="1" dirty="0" err="1">
                <a:latin typeface="+mj-ea"/>
                <a:ea typeface="+mj-ea"/>
              </a:rPr>
              <a:t>Rouer#config</a:t>
            </a:r>
            <a:r>
              <a:rPr lang="en-US" altLang="zh-CN" sz="2400" b="1" dirty="0">
                <a:latin typeface="+mj-ea"/>
                <a:ea typeface="+mj-ea"/>
              </a:rPr>
              <a:t>         </a:t>
            </a:r>
            <a:r>
              <a:rPr lang="zh-CN" altLang="en-US" sz="2400" b="1" dirty="0">
                <a:latin typeface="+mj-ea"/>
                <a:ea typeface="+mj-ea"/>
              </a:rPr>
              <a:t>    </a:t>
            </a:r>
            <a:r>
              <a:rPr lang="en-US" altLang="zh-CN" sz="2400" b="1" dirty="0">
                <a:latin typeface="+mj-ea"/>
                <a:ea typeface="+mj-ea"/>
              </a:rPr>
              <a:t>// </a:t>
            </a:r>
            <a:r>
              <a:rPr lang="zh-CN" altLang="en-US" sz="2400" b="1" dirty="0">
                <a:latin typeface="+mj-ea"/>
                <a:ea typeface="+mj-ea"/>
              </a:rPr>
              <a:t>进入全局配置模式</a:t>
            </a:r>
            <a:endParaRPr lang="en-US" altLang="zh-CN" sz="2400" b="1" dirty="0">
              <a:latin typeface="+mj-ea"/>
              <a:ea typeface="+mj-ea"/>
            </a:endParaRPr>
          </a:p>
          <a:p>
            <a:pPr lvl="1"/>
            <a:r>
              <a:rPr lang="en-US" altLang="zh-CN" sz="2400" b="1" dirty="0" err="1">
                <a:latin typeface="+mj-ea"/>
                <a:ea typeface="+mj-ea"/>
              </a:rPr>
              <a:t>Router</a:t>
            </a:r>
            <a:r>
              <a:rPr lang="en-US" altLang="zh-CN" sz="2400" b="1" dirty="0" err="1">
                <a:solidFill>
                  <a:srgbClr val="FF0000"/>
                </a:solidFill>
                <a:latin typeface="+mj-ea"/>
                <a:ea typeface="+mj-ea"/>
              </a:rPr>
              <a:t>_config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#</a:t>
            </a:r>
            <a:r>
              <a:rPr lang="en-US" altLang="zh-CN" sz="2400" b="1" dirty="0">
                <a:latin typeface="+mj-ea"/>
                <a:ea typeface="+mj-ea"/>
              </a:rPr>
              <a:t>           // </a:t>
            </a:r>
            <a:r>
              <a:rPr lang="zh-CN" altLang="en-US" sz="2400" b="1" dirty="0">
                <a:latin typeface="+mj-ea"/>
                <a:ea typeface="+mj-ea"/>
              </a:rPr>
              <a:t>全局配置模式</a:t>
            </a:r>
            <a:endParaRPr lang="en-US" altLang="zh-CN" sz="2400" b="1" dirty="0">
              <a:latin typeface="+mj-ea"/>
              <a:ea typeface="+mj-ea"/>
            </a:endParaRPr>
          </a:p>
          <a:p>
            <a:pPr lvl="1"/>
            <a:r>
              <a:rPr lang="en-US" altLang="zh-CN" sz="2400" b="1" dirty="0" err="1">
                <a:latin typeface="+mj-ea"/>
                <a:ea typeface="+mj-ea"/>
              </a:rPr>
              <a:t>Router_config#ip</a:t>
            </a:r>
            <a:r>
              <a:rPr lang="en-US" altLang="zh-CN" sz="2400" b="1" dirty="0">
                <a:latin typeface="+mj-ea"/>
                <a:ea typeface="+mj-ea"/>
              </a:rPr>
              <a:t> route </a:t>
            </a:r>
            <a:r>
              <a:rPr lang="en-US" altLang="zh-CN" sz="2400" b="1" i="1" dirty="0">
                <a:latin typeface="+mj-ea"/>
                <a:ea typeface="+mj-ea"/>
              </a:rPr>
              <a:t>destination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i="1" dirty="0">
                <a:latin typeface="+mj-ea"/>
                <a:ea typeface="+mj-ea"/>
              </a:rPr>
              <a:t>subnet-mask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i="1" dirty="0">
                <a:latin typeface="+mj-ea"/>
                <a:ea typeface="+mj-ea"/>
              </a:rPr>
              <a:t>next-hop</a:t>
            </a:r>
            <a:r>
              <a:rPr lang="zh-CN" altLang="en-US" sz="2400" b="1" i="1" dirty="0">
                <a:latin typeface="+mj-ea"/>
                <a:ea typeface="+mj-ea"/>
              </a:rPr>
              <a:t>                  </a:t>
            </a:r>
            <a:r>
              <a:rPr lang="en-US" altLang="zh-CN" sz="2400" b="1" dirty="0">
                <a:latin typeface="+mj-ea"/>
                <a:ea typeface="+mj-ea"/>
              </a:rPr>
              <a:t>// </a:t>
            </a:r>
            <a:r>
              <a:rPr lang="zh-CN" altLang="en-US" sz="2400" b="1" dirty="0">
                <a:latin typeface="+mj-ea"/>
                <a:ea typeface="+mj-ea"/>
              </a:rPr>
              <a:t>配置静态路由</a:t>
            </a:r>
            <a:endParaRPr lang="en-US" altLang="zh-CN" sz="2400" b="1" i="1" dirty="0">
              <a:latin typeface="+mj-ea"/>
              <a:ea typeface="+mj-ea"/>
            </a:endParaRPr>
          </a:p>
          <a:p>
            <a:r>
              <a:rPr kumimoji="1" lang="zh-CN" altLang="en-US" sz="2800" b="1" dirty="0">
                <a:latin typeface="+mj-ea"/>
                <a:ea typeface="+mj-ea"/>
              </a:rPr>
              <a:t>接口配置模式</a:t>
            </a:r>
            <a:endParaRPr kumimoji="1" lang="en-US" altLang="zh-CN" sz="2800" b="1" dirty="0">
              <a:latin typeface="+mj-ea"/>
              <a:ea typeface="+mj-ea"/>
            </a:endParaRPr>
          </a:p>
          <a:p>
            <a:pPr lvl="1"/>
            <a:r>
              <a:rPr lang="en-US" altLang="zh-CN" sz="2400" b="1" dirty="0" err="1">
                <a:latin typeface="+mj-ea"/>
                <a:ea typeface="+mj-ea"/>
              </a:rPr>
              <a:t>Router_config#interface</a:t>
            </a:r>
            <a:r>
              <a:rPr lang="en-US" altLang="zh-CN" sz="2400" b="1" dirty="0">
                <a:latin typeface="+mj-ea"/>
                <a:ea typeface="+mj-ea"/>
              </a:rPr>
              <a:t> f0/0</a:t>
            </a:r>
            <a:r>
              <a:rPr lang="zh-CN" altLang="en-US" sz="2400" b="1" dirty="0">
                <a:latin typeface="+mj-ea"/>
                <a:ea typeface="+mj-ea"/>
              </a:rPr>
              <a:t> </a:t>
            </a:r>
            <a:r>
              <a:rPr lang="en-US" altLang="zh-CN" sz="2400" b="1" dirty="0">
                <a:latin typeface="+mj-ea"/>
                <a:ea typeface="+mj-ea"/>
              </a:rPr>
              <a:t>  // </a:t>
            </a:r>
            <a:r>
              <a:rPr lang="zh-CN" altLang="en-US" sz="2400" b="1" dirty="0">
                <a:latin typeface="+mj-ea"/>
                <a:ea typeface="+mj-ea"/>
              </a:rPr>
              <a:t>进入接口配置模式</a:t>
            </a:r>
            <a:endParaRPr lang="zh-CN" altLang="zh-CN" sz="2400" b="1" dirty="0">
              <a:latin typeface="+mj-ea"/>
              <a:ea typeface="+mj-ea"/>
            </a:endParaRPr>
          </a:p>
          <a:p>
            <a:pPr lvl="1"/>
            <a:r>
              <a:rPr kumimoji="1" lang="en-US" altLang="zh-CN" sz="2400" b="1" dirty="0">
                <a:latin typeface="+mj-ea"/>
                <a:ea typeface="+mj-ea"/>
              </a:rPr>
              <a:t>Router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_</a:t>
            </a:r>
            <a:r>
              <a:rPr kumimoji="1"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config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_f0/0</a:t>
            </a:r>
            <a:r>
              <a:rPr kumimoji="1"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#         </a:t>
            </a:r>
            <a:r>
              <a:rPr kumimoji="1"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   </a:t>
            </a:r>
            <a:r>
              <a:rPr kumimoji="1" lang="en-US" altLang="zh-CN" sz="2400" b="1" dirty="0">
                <a:latin typeface="+mj-ea"/>
                <a:ea typeface="+mj-ea"/>
              </a:rPr>
              <a:t>// </a:t>
            </a:r>
            <a:r>
              <a:rPr kumimoji="1" lang="zh-CN" altLang="en-US" sz="2400" b="1" dirty="0">
                <a:latin typeface="+mj-ea"/>
                <a:ea typeface="+mj-ea"/>
              </a:rPr>
              <a:t>接口配置子模式</a:t>
            </a:r>
          </a:p>
          <a:p>
            <a:pPr lvl="1"/>
            <a:r>
              <a:rPr kumimoji="1" lang="en-US" altLang="zh-CN" sz="2400" b="1" dirty="0">
                <a:latin typeface="+mj-ea"/>
                <a:ea typeface="+mj-ea"/>
              </a:rPr>
              <a:t>Router_config_</a:t>
            </a:r>
            <a:r>
              <a:rPr lang="en-US" altLang="zh-CN" sz="2400" b="1" dirty="0">
                <a:latin typeface="+mj-ea"/>
                <a:ea typeface="+mj-ea"/>
              </a:rPr>
              <a:t>f0/0</a:t>
            </a:r>
            <a:r>
              <a:rPr kumimoji="1" lang="en-US" altLang="zh-CN" sz="2400" b="1" dirty="0">
                <a:latin typeface="+mj-ea"/>
                <a:ea typeface="+mj-ea"/>
              </a:rPr>
              <a:t>#ip address </a:t>
            </a:r>
            <a:r>
              <a:rPr kumimoji="1" lang="en-US" altLang="zh-CN" sz="2400" b="1" i="1" dirty="0">
                <a:latin typeface="+mj-ea"/>
                <a:ea typeface="+mj-ea"/>
              </a:rPr>
              <a:t>address</a:t>
            </a:r>
            <a:r>
              <a:rPr kumimoji="1" lang="en-US" altLang="zh-CN" sz="2400" b="1" dirty="0">
                <a:latin typeface="+mj-ea"/>
                <a:ea typeface="+mj-ea"/>
              </a:rPr>
              <a:t> </a:t>
            </a:r>
            <a:r>
              <a:rPr kumimoji="1" lang="en-US" altLang="zh-CN" sz="2400" b="1" i="1" dirty="0">
                <a:latin typeface="+mj-ea"/>
                <a:ea typeface="+mj-ea"/>
              </a:rPr>
              <a:t>subnet-mask</a:t>
            </a:r>
          </a:p>
          <a:p>
            <a:pPr marL="457200" lvl="1" indent="0">
              <a:buNone/>
            </a:pPr>
            <a:r>
              <a:rPr kumimoji="1" lang="zh-CN" altLang="en-US" sz="2400" b="1" i="1" dirty="0">
                <a:latin typeface="+mj-ea"/>
                <a:ea typeface="+mj-ea"/>
              </a:rPr>
              <a:t>                                </a:t>
            </a:r>
            <a:r>
              <a:rPr kumimoji="1" lang="en-US" altLang="zh-CN" sz="2400" b="1" dirty="0">
                <a:latin typeface="+mj-ea"/>
                <a:ea typeface="+mj-ea"/>
              </a:rPr>
              <a:t>//</a:t>
            </a:r>
            <a:r>
              <a:rPr kumimoji="1" lang="zh-CN" altLang="en-US" sz="2400" b="1" dirty="0">
                <a:latin typeface="+mj-ea"/>
                <a:ea typeface="+mj-ea"/>
              </a:rPr>
              <a:t> 陪置</a:t>
            </a:r>
            <a:r>
              <a:rPr kumimoji="1" lang="en-US" altLang="zh-CN" sz="2400" b="1" dirty="0">
                <a:latin typeface="+mj-ea"/>
                <a:ea typeface="+mj-ea"/>
              </a:rPr>
              <a:t>IP</a:t>
            </a:r>
            <a:r>
              <a:rPr kumimoji="1" lang="zh-CN" altLang="en-US" sz="2400" b="1" dirty="0">
                <a:latin typeface="+mj-ea"/>
                <a:ea typeface="+mj-ea"/>
              </a:rPr>
              <a:t>和子网掩码</a:t>
            </a:r>
            <a:endParaRPr kumimoji="1" lang="en-US" altLang="zh-CN" sz="2400" b="1" i="1" dirty="0">
              <a:latin typeface="+mj-ea"/>
              <a:ea typeface="+mj-ea"/>
            </a:endParaRPr>
          </a:p>
          <a:p>
            <a:pPr lvl="1"/>
            <a:r>
              <a:rPr kumimoji="1" lang="en-US" altLang="zh-CN" sz="2400" b="1" dirty="0">
                <a:latin typeface="+mj-ea"/>
                <a:ea typeface="+mj-ea"/>
              </a:rPr>
              <a:t>Router_config_f0/0#no shutdown</a:t>
            </a:r>
            <a:r>
              <a:rPr kumimoji="1" lang="zh-CN" altLang="en-US" sz="2400" b="1" dirty="0">
                <a:latin typeface="+mj-ea"/>
                <a:ea typeface="+mj-ea"/>
              </a:rPr>
              <a:t> </a:t>
            </a:r>
            <a:r>
              <a:rPr kumimoji="1" lang="en-US" altLang="zh-CN" sz="2400" b="1" dirty="0">
                <a:latin typeface="+mj-ea"/>
                <a:ea typeface="+mj-ea"/>
              </a:rPr>
              <a:t>// </a:t>
            </a:r>
            <a:r>
              <a:rPr kumimoji="1" lang="zh-CN" altLang="en-US" sz="2400" b="1" dirty="0">
                <a:latin typeface="+mj-ea"/>
                <a:ea typeface="+mj-ea"/>
              </a:rPr>
              <a:t>激活接口</a:t>
            </a:r>
          </a:p>
          <a:p>
            <a:pPr lvl="1"/>
            <a:r>
              <a:rPr kumimoji="1" lang="en-US" altLang="zh-CN" sz="2400" b="1" dirty="0">
                <a:latin typeface="+mj-ea"/>
                <a:ea typeface="+mj-ea"/>
              </a:rPr>
              <a:t>Router_config_</a:t>
            </a:r>
            <a:r>
              <a:rPr lang="en-US" altLang="zh-CN" sz="2400" b="1" dirty="0">
                <a:latin typeface="+mj-ea"/>
                <a:ea typeface="+mj-ea"/>
              </a:rPr>
              <a:t>f0/0</a:t>
            </a:r>
            <a:r>
              <a:rPr kumimoji="1" lang="en-US" altLang="zh-CN" sz="2400" b="1" dirty="0">
                <a:latin typeface="+mj-ea"/>
                <a:ea typeface="+mj-ea"/>
              </a:rPr>
              <a:t>#exit</a:t>
            </a:r>
            <a:r>
              <a:rPr kumimoji="1" lang="zh-CN" altLang="en-US" sz="2400" b="1" dirty="0">
                <a:latin typeface="+mj-ea"/>
                <a:ea typeface="+mj-ea"/>
              </a:rPr>
              <a:t>        </a:t>
            </a:r>
            <a:r>
              <a:rPr kumimoji="1" lang="en-US" altLang="zh-CN" sz="2400" b="1" dirty="0">
                <a:latin typeface="+mj-ea"/>
                <a:ea typeface="+mj-ea"/>
              </a:rPr>
              <a:t>//</a:t>
            </a:r>
            <a:r>
              <a:rPr kumimoji="1" lang="zh-CN" altLang="en-US" sz="2400" b="1" dirty="0">
                <a:latin typeface="+mj-ea"/>
                <a:ea typeface="+mj-ea"/>
              </a:rPr>
              <a:t> 退回上一级</a:t>
            </a:r>
            <a:endParaRPr kumimoji="1" lang="en" altLang="zh-CN" b="1" dirty="0">
              <a:latin typeface="+mj-ea"/>
              <a:ea typeface="+mj-ea"/>
            </a:endParaRPr>
          </a:p>
          <a:p>
            <a:endParaRPr kumimoji="1" lang="zh-CN" altLang="en-US" b="1" dirty="0">
              <a:latin typeface="+mj-ea"/>
              <a:ea typeface="+mj-ea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5BE97824-D6CE-E7E9-08C5-B4661E1B4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801D8-2272-4EF8-BB2F-7D90CA5D8A33}" type="slidenum">
              <a:rPr lang="zh-CN" altLang="en-US" smtClean="0"/>
              <a:pPr>
                <a:defRPr/>
              </a:pPr>
              <a:t>15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71928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82DB7981-FBD5-3E1E-6578-1C6C4A2F3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常用路由器命令</a:t>
            </a:r>
            <a:endParaRPr kumimoji="1" lang="zh-CN" altLang="en-US" b="1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10F7E98A-973A-B3D5-3B0B-FA85C9493454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95537" y="1341438"/>
            <a:ext cx="8548438" cy="4895850"/>
          </a:xfrm>
        </p:spPr>
        <p:txBody>
          <a:bodyPr/>
          <a:lstStyle/>
          <a:p>
            <a:r>
              <a:rPr kumimoji="1" lang="zh-CN" altLang="en-US" sz="2800" b="1" dirty="0">
                <a:latin typeface="+mj-ea"/>
                <a:ea typeface="+mj-ea"/>
              </a:rPr>
              <a:t>路由协议配置模式</a:t>
            </a:r>
          </a:p>
          <a:p>
            <a:pPr lvl="1"/>
            <a:r>
              <a:rPr lang="en-US" altLang="zh-CN" sz="2400" b="1" dirty="0" err="1">
                <a:latin typeface="+mj-ea"/>
                <a:ea typeface="+mj-ea"/>
              </a:rPr>
              <a:t>Router_config#router</a:t>
            </a:r>
            <a:r>
              <a:rPr lang="en-US" altLang="zh-CN" sz="2400" b="1" dirty="0">
                <a:latin typeface="+mj-ea"/>
                <a:ea typeface="+mj-ea"/>
              </a:rPr>
              <a:t> rip  // </a:t>
            </a:r>
            <a:r>
              <a:rPr lang="zh-CN" altLang="en-US" sz="2400" b="1" dirty="0">
                <a:latin typeface="+mj-ea"/>
                <a:ea typeface="+mj-ea"/>
              </a:rPr>
              <a:t>进入</a:t>
            </a:r>
            <a:r>
              <a:rPr lang="en-US" altLang="zh-CN" sz="2400" b="1" dirty="0">
                <a:latin typeface="+mj-ea"/>
                <a:ea typeface="+mj-ea"/>
              </a:rPr>
              <a:t>RIP</a:t>
            </a:r>
            <a:r>
              <a:rPr lang="zh-CN" altLang="en-US" sz="2400" b="1" dirty="0">
                <a:latin typeface="+mj-ea"/>
                <a:ea typeface="+mj-ea"/>
              </a:rPr>
              <a:t>动态路由</a:t>
            </a:r>
            <a:endParaRPr lang="en-US" altLang="zh-CN" sz="2400" b="1" dirty="0">
              <a:latin typeface="+mj-ea"/>
              <a:ea typeface="+mj-ea"/>
            </a:endParaRPr>
          </a:p>
          <a:p>
            <a:pPr lvl="1"/>
            <a:r>
              <a:rPr lang="en-US" altLang="zh-CN" sz="2400" b="1" dirty="0" err="1">
                <a:latin typeface="+mj-ea"/>
                <a:ea typeface="+mj-ea"/>
              </a:rPr>
              <a:t>Router_</a:t>
            </a:r>
            <a:r>
              <a:rPr lang="en-US" altLang="zh-CN" sz="2400" b="1" dirty="0" err="1">
                <a:solidFill>
                  <a:srgbClr val="FF0000"/>
                </a:solidFill>
                <a:latin typeface="+mj-ea"/>
                <a:ea typeface="+mj-ea"/>
              </a:rPr>
              <a:t>config_</a:t>
            </a:r>
            <a:r>
              <a:rPr lang="en-US" altLang="zh-CN" sz="2400" b="1" i="1" dirty="0" err="1">
                <a:solidFill>
                  <a:srgbClr val="FF0000"/>
                </a:solidFill>
                <a:latin typeface="+mj-ea"/>
                <a:ea typeface="+mj-ea"/>
              </a:rPr>
              <a:t>router</a:t>
            </a:r>
            <a:r>
              <a:rPr lang="en-US" altLang="zh-CN" sz="2400" b="1" dirty="0">
                <a:latin typeface="+mj-ea"/>
                <a:ea typeface="+mj-ea"/>
              </a:rPr>
              <a:t>#</a:t>
            </a:r>
            <a:r>
              <a:rPr lang="zh-CN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dirty="0">
                <a:latin typeface="+mj-ea"/>
                <a:ea typeface="+mj-ea"/>
              </a:rPr>
              <a:t>   </a:t>
            </a:r>
            <a:r>
              <a:rPr lang="zh-CN" altLang="en-US" sz="2400" b="1" dirty="0">
                <a:latin typeface="+mj-ea"/>
                <a:ea typeface="+mj-ea"/>
              </a:rPr>
              <a:t> </a:t>
            </a:r>
            <a:r>
              <a:rPr lang="en-US" altLang="zh-CN" sz="2400" b="1" dirty="0">
                <a:latin typeface="+mj-ea"/>
                <a:ea typeface="+mj-ea"/>
              </a:rPr>
              <a:t>// </a:t>
            </a:r>
            <a:r>
              <a:rPr kumimoji="1" lang="zh-CN" altLang="en-US" sz="2400" b="1" dirty="0">
                <a:latin typeface="+mj-ea"/>
                <a:ea typeface="+mj-ea"/>
              </a:rPr>
              <a:t>路由协议配置模式</a:t>
            </a:r>
          </a:p>
          <a:p>
            <a:pPr lvl="1"/>
            <a:endParaRPr lang="zh-CN" altLang="en-US" sz="2400" b="1" dirty="0">
              <a:latin typeface="+mj-ea"/>
              <a:ea typeface="+mj-ea"/>
            </a:endParaRPr>
          </a:p>
          <a:p>
            <a:pPr lvl="1"/>
            <a:endParaRPr lang="en-US" altLang="zh-CN" sz="2400" b="1" dirty="0">
              <a:latin typeface="+mj-ea"/>
              <a:ea typeface="+mj-ea"/>
            </a:endParaRPr>
          </a:p>
          <a:p>
            <a:pPr lvl="1"/>
            <a:endParaRPr lang="en-US" altLang="zh-CN" sz="2400" b="1" dirty="0">
              <a:latin typeface="+mj-ea"/>
              <a:ea typeface="+mj-ea"/>
            </a:endParaRPr>
          </a:p>
          <a:p>
            <a:endParaRPr kumimoji="1" lang="zh-CN" altLang="en-US" b="1" dirty="0">
              <a:latin typeface="+mj-ea"/>
              <a:ea typeface="+mj-ea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5BE97824-D6CE-E7E9-08C5-B4661E1B4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801D8-2272-4EF8-BB2F-7D90CA5D8A33}" type="slidenum">
              <a:rPr lang="zh-CN" altLang="en-US" smtClean="0"/>
              <a:pPr>
                <a:defRPr/>
              </a:pPr>
              <a:t>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05258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59E3809-AFD1-7FAF-369E-AB85E4240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网络</a:t>
            </a:r>
            <a:r>
              <a:rPr lang="zh-CN" altLang="zh-CN" b="1" dirty="0"/>
              <a:t>拓扑图</a:t>
            </a:r>
            <a:endParaRPr lang="zh-CN" altLang="en-US" b="1" dirty="0"/>
          </a:p>
        </p:txBody>
      </p:sp>
      <p:pic>
        <p:nvPicPr>
          <p:cNvPr id="5" name="Picture 34">
            <a:extLst>
              <a:ext uri="{FF2B5EF4-FFF2-40B4-BE49-F238E27FC236}">
                <a16:creationId xmlns="" xmlns:a16="http://schemas.microsoft.com/office/drawing/2014/main" id="{CC8D7916-F01B-0B43-A24A-3F458891BCBC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2243" y="3102084"/>
            <a:ext cx="926418" cy="490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2">
            <a:extLst>
              <a:ext uri="{FF2B5EF4-FFF2-40B4-BE49-F238E27FC236}">
                <a16:creationId xmlns="" xmlns:a16="http://schemas.microsoft.com/office/drawing/2014/main" id="{CA94166C-B1C6-F62B-7854-584770A6633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510" y="1856102"/>
            <a:ext cx="854076" cy="490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32">
            <a:extLst>
              <a:ext uri="{FF2B5EF4-FFF2-40B4-BE49-F238E27FC236}">
                <a16:creationId xmlns="" xmlns:a16="http://schemas.microsoft.com/office/drawing/2014/main" id="{FC2A46BA-F22F-0C2D-64D4-7FCBFE0F739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8105" y="1847851"/>
            <a:ext cx="854076" cy="490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Line 111">
            <a:extLst>
              <a:ext uri="{FF2B5EF4-FFF2-40B4-BE49-F238E27FC236}">
                <a16:creationId xmlns="" xmlns:a16="http://schemas.microsoft.com/office/drawing/2014/main" id="{9FAE49B1-4619-BE8B-473A-FD9FEB7BA8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5426" y="2092953"/>
            <a:ext cx="3257398" cy="149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 dirty="0"/>
          </a:p>
        </p:txBody>
      </p:sp>
      <p:sp>
        <p:nvSpPr>
          <p:cNvPr id="3" name="Line 111">
            <a:extLst>
              <a:ext uri="{FF2B5EF4-FFF2-40B4-BE49-F238E27FC236}">
                <a16:creationId xmlns="" xmlns:a16="http://schemas.microsoft.com/office/drawing/2014/main" id="{61EF7EE5-509B-D942-ED2E-4EC833972EF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3893" y="2331860"/>
            <a:ext cx="2041" cy="77022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 dirty="0"/>
          </a:p>
        </p:txBody>
      </p:sp>
      <p:sp>
        <p:nvSpPr>
          <p:cNvPr id="30" name="Line 111">
            <a:extLst>
              <a:ext uri="{FF2B5EF4-FFF2-40B4-BE49-F238E27FC236}">
                <a16:creationId xmlns="" xmlns:a16="http://schemas.microsoft.com/office/drawing/2014/main" id="{BB9DB6FD-D29C-4E84-9EA5-139F514AC5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0544" y="3580859"/>
            <a:ext cx="682438" cy="66714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 dirty="0"/>
          </a:p>
        </p:txBody>
      </p:sp>
      <p:sp>
        <p:nvSpPr>
          <p:cNvPr id="31" name="Line 111">
            <a:extLst>
              <a:ext uri="{FF2B5EF4-FFF2-40B4-BE49-F238E27FC236}">
                <a16:creationId xmlns="" xmlns:a16="http://schemas.microsoft.com/office/drawing/2014/main" id="{A5EA9A1C-0E45-91B9-5427-9B99D0EBED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57922" y="3577970"/>
            <a:ext cx="583950" cy="68267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 dirty="0"/>
          </a:p>
        </p:txBody>
      </p:sp>
      <p:sp>
        <p:nvSpPr>
          <p:cNvPr id="37" name="文本框 36">
            <a:extLst>
              <a:ext uri="{FF2B5EF4-FFF2-40B4-BE49-F238E27FC236}">
                <a16:creationId xmlns="" xmlns:a16="http://schemas.microsoft.com/office/drawing/2014/main" id="{D7F317B1-33ED-9F24-17F0-093B3A3D8BDD}"/>
              </a:ext>
            </a:extLst>
          </p:cNvPr>
          <p:cNvSpPr txBox="1"/>
          <p:nvPr/>
        </p:nvSpPr>
        <p:spPr>
          <a:xfrm>
            <a:off x="3131840" y="1558602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SimSun" panose="02010600030101010101" pitchFamily="2" charset="-122"/>
                <a:ea typeface="SimSun" panose="02010600030101010101" pitchFamily="2" charset="-122"/>
              </a:rPr>
              <a:t>S0/2</a:t>
            </a:r>
          </a:p>
          <a:p>
            <a:pPr algn="ctr"/>
            <a:r>
              <a:rPr lang="en-US" altLang="zh-CN" sz="1400" b="1" dirty="0">
                <a:latin typeface="SimSun" panose="02010600030101010101" pitchFamily="2" charset="-122"/>
                <a:ea typeface="SimSun" panose="02010600030101010101" pitchFamily="2" charset="-122"/>
              </a:rPr>
              <a:t>192.168.0.x/24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="" xmlns:a16="http://schemas.microsoft.com/office/drawing/2014/main" id="{C56EBA81-33FA-C7DB-FC8D-6D8735807FEC}"/>
              </a:ext>
            </a:extLst>
          </p:cNvPr>
          <p:cNvSpPr txBox="1"/>
          <p:nvPr/>
        </p:nvSpPr>
        <p:spPr>
          <a:xfrm>
            <a:off x="5028200" y="1556792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SimSun" panose="02010600030101010101" pitchFamily="2" charset="-122"/>
                <a:ea typeface="SimSun" panose="02010600030101010101" pitchFamily="2" charset="-122"/>
              </a:rPr>
              <a:t>S0/2</a:t>
            </a:r>
          </a:p>
          <a:p>
            <a:pPr algn="ctr"/>
            <a:r>
              <a:rPr lang="en-US" altLang="zh-CN" sz="1400" b="1" dirty="0">
                <a:latin typeface="SimSun" panose="02010600030101010101" pitchFamily="2" charset="-122"/>
                <a:ea typeface="SimSun" panose="02010600030101010101" pitchFamily="2" charset="-122"/>
              </a:rPr>
              <a:t>192.168.0.y/24</a:t>
            </a:r>
          </a:p>
        </p:txBody>
      </p:sp>
      <p:sp>
        <p:nvSpPr>
          <p:cNvPr id="39" name="Rectangle 2">
            <a:extLst>
              <a:ext uri="{FF2B5EF4-FFF2-40B4-BE49-F238E27FC236}">
                <a16:creationId xmlns="" xmlns:a16="http://schemas.microsoft.com/office/drawing/2014/main" id="{4FA28D87-2A19-3934-0C0E-0B713CA1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0104" y="-413304"/>
            <a:ext cx="138564" cy="284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 sz="1400"/>
          </a:p>
        </p:txBody>
      </p:sp>
      <p:sp>
        <p:nvSpPr>
          <p:cNvPr id="41" name="文本框 40">
            <a:extLst>
              <a:ext uri="{FF2B5EF4-FFF2-40B4-BE49-F238E27FC236}">
                <a16:creationId xmlns="" xmlns:a16="http://schemas.microsoft.com/office/drawing/2014/main" id="{7364F274-A234-A989-A429-15595047F080}"/>
              </a:ext>
            </a:extLst>
          </p:cNvPr>
          <p:cNvSpPr txBox="1"/>
          <p:nvPr/>
        </p:nvSpPr>
        <p:spPr>
          <a:xfrm>
            <a:off x="1115616" y="5028743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SimSun" panose="02010600030101010101" pitchFamily="2" charset="-122"/>
                <a:ea typeface="SimSun" panose="02010600030101010101" pitchFamily="2" charset="-122"/>
              </a:rPr>
              <a:t>PC0</a:t>
            </a:r>
          </a:p>
          <a:p>
            <a:pPr algn="ctr"/>
            <a:r>
              <a:rPr lang="en-US" altLang="zh-CN" sz="1400" b="1" dirty="0">
                <a:latin typeface="SimSun" panose="02010600030101010101" pitchFamily="2" charset="-122"/>
                <a:ea typeface="SimSun" panose="02010600030101010101" pitchFamily="2" charset="-122"/>
              </a:rPr>
              <a:t>192.168.x.2/24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="" xmlns:a16="http://schemas.microsoft.com/office/drawing/2014/main" id="{4D2F35EE-ABB4-EBD9-E63B-31E0A9D9ECF2}"/>
              </a:ext>
            </a:extLst>
          </p:cNvPr>
          <p:cNvSpPr txBox="1"/>
          <p:nvPr/>
        </p:nvSpPr>
        <p:spPr>
          <a:xfrm>
            <a:off x="1331640" y="2160112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SimSun" panose="02010600030101010101" pitchFamily="2" charset="-122"/>
                <a:ea typeface="SimSun" panose="02010600030101010101" pitchFamily="2" charset="-122"/>
              </a:rPr>
              <a:t>f0/0</a:t>
            </a:r>
          </a:p>
          <a:p>
            <a:pPr algn="ctr"/>
            <a:r>
              <a:rPr lang="en-US" altLang="zh-CN" sz="1400" b="1" dirty="0">
                <a:latin typeface="SimSun" panose="02010600030101010101" pitchFamily="2" charset="-122"/>
                <a:ea typeface="SimSun" panose="02010600030101010101" pitchFamily="2" charset="-122"/>
              </a:rPr>
              <a:t>192.168.x.1/24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="" xmlns:a16="http://schemas.microsoft.com/office/drawing/2014/main" id="{6E19D7B9-0C28-33BB-EE25-FF581E5C6520}"/>
              </a:ext>
            </a:extLst>
          </p:cNvPr>
          <p:cNvSpPr txBox="1"/>
          <p:nvPr/>
        </p:nvSpPr>
        <p:spPr>
          <a:xfrm>
            <a:off x="6874996" y="2189647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SimSun" panose="02010600030101010101" pitchFamily="2" charset="-122"/>
                <a:ea typeface="SimSun" panose="02010600030101010101" pitchFamily="2" charset="-122"/>
              </a:rPr>
              <a:t>f0/0</a:t>
            </a:r>
          </a:p>
          <a:p>
            <a:pPr algn="ctr"/>
            <a:r>
              <a:rPr lang="en-US" altLang="zh-CN" sz="1400" b="1" dirty="0">
                <a:latin typeface="SimSun" panose="02010600030101010101" pitchFamily="2" charset="-122"/>
                <a:ea typeface="SimSun" panose="02010600030101010101" pitchFamily="2" charset="-122"/>
              </a:rPr>
              <a:t>192.168.y.1/24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="" xmlns:a16="http://schemas.microsoft.com/office/drawing/2014/main" id="{D71A0F22-418F-4EF7-70E6-5B99B527D758}"/>
              </a:ext>
            </a:extLst>
          </p:cNvPr>
          <p:cNvSpPr txBox="1"/>
          <p:nvPr/>
        </p:nvSpPr>
        <p:spPr>
          <a:xfrm>
            <a:off x="2986564" y="5027310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SimSun" panose="02010600030101010101" pitchFamily="2" charset="-122"/>
                <a:ea typeface="SimSun" panose="02010600030101010101" pitchFamily="2" charset="-122"/>
              </a:rPr>
              <a:t>PC1</a:t>
            </a:r>
          </a:p>
          <a:p>
            <a:pPr algn="ctr"/>
            <a:r>
              <a:rPr lang="en-US" altLang="zh-CN" sz="1400" b="1" dirty="0">
                <a:latin typeface="SimSun" panose="02010600030101010101" pitchFamily="2" charset="-122"/>
                <a:ea typeface="SimSun" panose="02010600030101010101" pitchFamily="2" charset="-122"/>
              </a:rPr>
              <a:t>192.168.x.3/24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="" xmlns:a16="http://schemas.microsoft.com/office/drawing/2014/main" id="{351BCCD4-196C-1448-3180-81CD018CEDA5}"/>
              </a:ext>
            </a:extLst>
          </p:cNvPr>
          <p:cNvSpPr txBox="1"/>
          <p:nvPr/>
        </p:nvSpPr>
        <p:spPr>
          <a:xfrm>
            <a:off x="5364088" y="5027310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SimSun" panose="02010600030101010101" pitchFamily="2" charset="-122"/>
                <a:ea typeface="SimSun" panose="02010600030101010101" pitchFamily="2" charset="-122"/>
              </a:rPr>
              <a:t>PC2</a:t>
            </a:r>
          </a:p>
          <a:p>
            <a:pPr algn="ctr"/>
            <a:r>
              <a:rPr lang="en-US" altLang="zh-CN" sz="1400" b="1" dirty="0">
                <a:latin typeface="SimSun" panose="02010600030101010101" pitchFamily="2" charset="-122"/>
                <a:ea typeface="SimSun" panose="02010600030101010101" pitchFamily="2" charset="-122"/>
              </a:rPr>
              <a:t>192.168.y.2/24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="" xmlns:a16="http://schemas.microsoft.com/office/drawing/2014/main" id="{EB0BC1CC-2BBF-B299-956A-CBCCA467518B}"/>
              </a:ext>
            </a:extLst>
          </p:cNvPr>
          <p:cNvSpPr txBox="1"/>
          <p:nvPr/>
        </p:nvSpPr>
        <p:spPr>
          <a:xfrm>
            <a:off x="7130938" y="5045205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SimSun" panose="02010600030101010101" pitchFamily="2" charset="-122"/>
                <a:ea typeface="SimSun" panose="02010600030101010101" pitchFamily="2" charset="-122"/>
              </a:rPr>
              <a:t>PC3</a:t>
            </a:r>
          </a:p>
          <a:p>
            <a:pPr algn="ctr"/>
            <a:r>
              <a:rPr lang="en-US" altLang="zh-CN" sz="1400" b="1" dirty="0">
                <a:latin typeface="SimSun" panose="02010600030101010101" pitchFamily="2" charset="-122"/>
                <a:ea typeface="SimSun" panose="02010600030101010101" pitchFamily="2" charset="-122"/>
              </a:rPr>
              <a:t>192.168.y.3/24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="" xmlns:a16="http://schemas.microsoft.com/office/drawing/2014/main" id="{481DCB55-4875-B7BA-CF19-24513AFDDE71}"/>
              </a:ext>
            </a:extLst>
          </p:cNvPr>
          <p:cNvSpPr txBox="1"/>
          <p:nvPr/>
        </p:nvSpPr>
        <p:spPr>
          <a:xfrm>
            <a:off x="2361994" y="2060848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SimSun" panose="02010600030101010101" pitchFamily="2" charset="-122"/>
                <a:ea typeface="SimSun" panose="02010600030101010101" pitchFamily="2" charset="-122"/>
              </a:rPr>
              <a:t>Router0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="" xmlns:a16="http://schemas.microsoft.com/office/drawing/2014/main" id="{BECDD302-1FC6-213E-365E-E303AF636F37}"/>
              </a:ext>
            </a:extLst>
          </p:cNvPr>
          <p:cNvSpPr txBox="1"/>
          <p:nvPr/>
        </p:nvSpPr>
        <p:spPr>
          <a:xfrm>
            <a:off x="6516216" y="2041103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SimSun" panose="02010600030101010101" pitchFamily="2" charset="-122"/>
                <a:ea typeface="SimSun" panose="02010600030101010101" pitchFamily="2" charset="-122"/>
              </a:rPr>
              <a:t>Router1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="" xmlns:a16="http://schemas.microsoft.com/office/drawing/2014/main" id="{C2DB241F-B817-1EA8-3B0E-3D2A6D760912}"/>
              </a:ext>
            </a:extLst>
          </p:cNvPr>
          <p:cNvSpPr txBox="1"/>
          <p:nvPr/>
        </p:nvSpPr>
        <p:spPr>
          <a:xfrm>
            <a:off x="6385660" y="3337247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SimSun" panose="02010600030101010101" pitchFamily="2" charset="-122"/>
                <a:ea typeface="SimSun" panose="02010600030101010101" pitchFamily="2" charset="-122"/>
              </a:rPr>
              <a:t>Switch1</a:t>
            </a:r>
          </a:p>
        </p:txBody>
      </p:sp>
      <p:pic>
        <p:nvPicPr>
          <p:cNvPr id="50" name="图片 49">
            <a:extLst>
              <a:ext uri="{FF2B5EF4-FFF2-40B4-BE49-F238E27FC236}">
                <a16:creationId xmlns="" xmlns:a16="http://schemas.microsoft.com/office/drawing/2014/main" id="{EFFA7D47-3496-AB85-F83E-94CDF50E0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035" y="4231286"/>
            <a:ext cx="854708" cy="854708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="" xmlns:a16="http://schemas.microsoft.com/office/drawing/2014/main" id="{19DF98C5-A61F-19B8-F672-506816DBD2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448" y="4248003"/>
            <a:ext cx="854708" cy="854708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="" xmlns:a16="http://schemas.microsoft.com/office/drawing/2014/main" id="{852F4D0F-0FF2-8DC0-799A-24FD616994F1}"/>
              </a:ext>
            </a:extLst>
          </p:cNvPr>
          <p:cNvSpPr txBox="1"/>
          <p:nvPr/>
        </p:nvSpPr>
        <p:spPr>
          <a:xfrm>
            <a:off x="1646110" y="5745961"/>
            <a:ext cx="62055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2000" kern="100" dirty="0">
                <a:latin typeface="Times New Roman" panose="02020603050405020304" pitchFamily="18" charset="0"/>
              </a:rPr>
              <a:t>（注：图中</a:t>
            </a:r>
            <a:r>
              <a:rPr lang="en-US" altLang="zh-CN" sz="2000" kern="100" dirty="0">
                <a:latin typeface="Times New Roman" panose="02020603050405020304" pitchFamily="18" charset="0"/>
              </a:rPr>
              <a:t>x</a:t>
            </a:r>
            <a:r>
              <a:rPr lang="zh-CN" altLang="zh-CN" sz="2000" kern="100" dirty="0">
                <a:latin typeface="Times New Roman" panose="02020603050405020304" pitchFamily="18" charset="0"/>
              </a:rPr>
              <a:t>为组号</a:t>
            </a:r>
            <a:r>
              <a:rPr lang="zh-CN" altLang="en-US" sz="2000" kern="100" dirty="0">
                <a:latin typeface="Times New Roman" panose="02020603050405020304" pitchFamily="18" charset="0"/>
              </a:rPr>
              <a:t>，</a:t>
            </a:r>
            <a:r>
              <a:rPr lang="en-US" altLang="zh-CN" sz="2000" kern="100" dirty="0">
                <a:latin typeface="Times New Roman" panose="02020603050405020304" pitchFamily="18" charset="0"/>
              </a:rPr>
              <a:t>y=100+x</a:t>
            </a:r>
            <a:r>
              <a:rPr lang="zh-CN" altLang="zh-CN" sz="2000" kern="100" dirty="0">
                <a:latin typeface="Times New Roman" panose="02020603050405020304" pitchFamily="18" charset="0"/>
              </a:rPr>
              <a:t>）</a:t>
            </a:r>
          </a:p>
        </p:txBody>
      </p:sp>
      <p:pic>
        <p:nvPicPr>
          <p:cNvPr id="11" name="Picture 34">
            <a:extLst>
              <a:ext uri="{FF2B5EF4-FFF2-40B4-BE49-F238E27FC236}">
                <a16:creationId xmlns="" xmlns:a16="http://schemas.microsoft.com/office/drawing/2014/main" id="{79AB8D53-D7D2-04D4-DA17-8EE198AD5668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436" y="3119104"/>
            <a:ext cx="926418" cy="490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Line 111">
            <a:extLst>
              <a:ext uri="{FF2B5EF4-FFF2-40B4-BE49-F238E27FC236}">
                <a16:creationId xmlns="" xmlns:a16="http://schemas.microsoft.com/office/drawing/2014/main" id="{FAEED9BC-CD2B-1549-D61A-DB494C46F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5127" y="2346306"/>
            <a:ext cx="0" cy="77279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 dirty="0"/>
          </a:p>
        </p:txBody>
      </p:sp>
      <p:sp>
        <p:nvSpPr>
          <p:cNvPr id="13" name="Line 111">
            <a:extLst>
              <a:ext uri="{FF2B5EF4-FFF2-40B4-BE49-F238E27FC236}">
                <a16:creationId xmlns="" xmlns:a16="http://schemas.microsoft.com/office/drawing/2014/main" id="{07376292-1E9C-725B-7847-7A9D531C0C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9737" y="3597879"/>
            <a:ext cx="682438" cy="66714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 dirty="0"/>
          </a:p>
        </p:txBody>
      </p:sp>
      <p:sp>
        <p:nvSpPr>
          <p:cNvPr id="18" name="Line 111">
            <a:extLst>
              <a:ext uri="{FF2B5EF4-FFF2-40B4-BE49-F238E27FC236}">
                <a16:creationId xmlns="" xmlns:a16="http://schemas.microsoft.com/office/drawing/2014/main" id="{BD568995-D9DB-16CC-8A88-8B7D33BBDA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45297" y="3594990"/>
            <a:ext cx="535768" cy="66714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="" xmlns:a16="http://schemas.microsoft.com/office/drawing/2014/main" id="{1C88B26A-4F47-21CF-54BD-06D4499FA3A1}"/>
              </a:ext>
            </a:extLst>
          </p:cNvPr>
          <p:cNvSpPr txBox="1"/>
          <p:nvPr/>
        </p:nvSpPr>
        <p:spPr>
          <a:xfrm>
            <a:off x="2224853" y="3354267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SimSun" panose="02010600030101010101" pitchFamily="2" charset="-122"/>
                <a:ea typeface="SimSun" panose="02010600030101010101" pitchFamily="2" charset="-122"/>
              </a:rPr>
              <a:t>Switch0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="" xmlns:a16="http://schemas.microsoft.com/office/drawing/2014/main" id="{39FA1A83-9566-A1AC-A583-C4CD27278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1228" y="4248306"/>
            <a:ext cx="854708" cy="85470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="" xmlns:a16="http://schemas.microsoft.com/office/drawing/2014/main" id="{600F71F8-63C2-0D1D-C177-484EB1CDB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972" y="4265023"/>
            <a:ext cx="854708" cy="85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659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8539C41-1AA3-0E4B-7115-8C24F9D6A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Router0</a:t>
            </a:r>
            <a:r>
              <a:rPr kumimoji="1"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上配置静态路由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9C47A4F1-DBE9-5C3A-C1F5-4873C1B8294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23528" y="1412776"/>
            <a:ext cx="8712968" cy="5112568"/>
          </a:xfrm>
        </p:spPr>
        <p:txBody>
          <a:bodyPr>
            <a:normAutofit fontScale="25000" lnSpcReduction="20000"/>
          </a:bodyPr>
          <a:lstStyle/>
          <a:p>
            <a:r>
              <a:rPr lang="zh-CN" altLang="zh-CN" sz="9600" b="1" kern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假设</a:t>
            </a:r>
            <a:r>
              <a:rPr lang="en-US" altLang="zh-CN" sz="9600" b="1" dirty="0">
                <a:solidFill>
                  <a:srgbClr val="000000"/>
                </a:solidFill>
                <a:latin typeface="+mj-ea"/>
                <a:ea typeface="+mj-ea"/>
              </a:rPr>
              <a:t>x</a:t>
            </a:r>
            <a:r>
              <a:rPr lang="zh-CN" altLang="zh-CN" sz="9600" b="1" kern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为</a:t>
            </a:r>
            <a:r>
              <a:rPr lang="en-US" altLang="zh-CN" sz="9600" b="1" kern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1</a:t>
            </a:r>
            <a:r>
              <a:rPr lang="zh-CN" altLang="zh-CN" sz="9600" b="1" kern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组，</a:t>
            </a:r>
            <a:r>
              <a:rPr lang="en-US" altLang="zh-CN" sz="9600" b="1" dirty="0">
                <a:solidFill>
                  <a:srgbClr val="000000"/>
                </a:solidFill>
                <a:latin typeface="+mj-ea"/>
                <a:ea typeface="+mj-ea"/>
              </a:rPr>
              <a:t>y</a:t>
            </a:r>
            <a:r>
              <a:rPr lang="zh-CN" altLang="zh-CN" sz="9600" b="1" kern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为</a:t>
            </a:r>
            <a:r>
              <a:rPr lang="en-US" altLang="zh-CN" sz="9600" b="1" dirty="0">
                <a:solidFill>
                  <a:srgbClr val="000000"/>
                </a:solidFill>
                <a:latin typeface="+mj-ea"/>
                <a:ea typeface="+mj-ea"/>
              </a:rPr>
              <a:t>101</a:t>
            </a:r>
            <a:r>
              <a:rPr lang="zh-CN" altLang="en-US" sz="9600" b="1" kern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。</a:t>
            </a:r>
            <a:r>
              <a:rPr lang="zh-CN" altLang="zh-CN" sz="9600" b="1" kern="100" dirty="0">
                <a:effectLst/>
                <a:latin typeface="+mj-ea"/>
                <a:ea typeface="+mj-ea"/>
              </a:rPr>
              <a:t>根据</a:t>
            </a:r>
            <a:r>
              <a:rPr lang="zh-CN" altLang="en-US" sz="9600" b="1" kern="100" dirty="0">
                <a:latin typeface="+mj-ea"/>
                <a:ea typeface="+mj-ea"/>
              </a:rPr>
              <a:t>网络</a:t>
            </a:r>
            <a:r>
              <a:rPr lang="zh-CN" altLang="zh-CN" sz="9600" b="1" kern="100" dirty="0">
                <a:effectLst/>
                <a:latin typeface="+mj-ea"/>
                <a:ea typeface="+mj-ea"/>
              </a:rPr>
              <a:t>图连接设备，配置路由器的静态路由，使</a:t>
            </a:r>
            <a:r>
              <a:rPr lang="en-US" altLang="zh-CN" sz="9600" b="1" kern="100" dirty="0">
                <a:effectLst/>
                <a:latin typeface="+mj-ea"/>
                <a:ea typeface="+mj-ea"/>
              </a:rPr>
              <a:t>192.168.0.0/24</a:t>
            </a:r>
            <a:r>
              <a:rPr lang="zh-CN" altLang="zh-CN" sz="9600" b="1" kern="100" dirty="0">
                <a:effectLst/>
                <a:latin typeface="+mj-ea"/>
                <a:ea typeface="+mj-ea"/>
              </a:rPr>
              <a:t>网络、</a:t>
            </a:r>
            <a:r>
              <a:rPr lang="en-US" altLang="zh-CN" sz="9600" b="1" kern="100" dirty="0">
                <a:effectLst/>
                <a:latin typeface="+mj-ea"/>
                <a:ea typeface="+mj-ea"/>
              </a:rPr>
              <a:t>192.168.1.0/24</a:t>
            </a:r>
            <a:r>
              <a:rPr lang="zh-CN" altLang="zh-CN" sz="9600" b="1" kern="100" dirty="0">
                <a:effectLst/>
                <a:latin typeface="+mj-ea"/>
                <a:ea typeface="+mj-ea"/>
              </a:rPr>
              <a:t>网络和</a:t>
            </a:r>
            <a:r>
              <a:rPr lang="en-US" altLang="zh-CN" sz="9600" b="1" kern="100" dirty="0">
                <a:effectLst/>
                <a:latin typeface="+mj-ea"/>
                <a:ea typeface="+mj-ea"/>
              </a:rPr>
              <a:t>192.168.101.0/24</a:t>
            </a:r>
            <a:r>
              <a:rPr lang="zh-CN" altLang="zh-CN" sz="9600" b="1" kern="100" dirty="0">
                <a:effectLst/>
                <a:latin typeface="+mj-ea"/>
                <a:ea typeface="+mj-ea"/>
              </a:rPr>
              <a:t>网络能相互通信</a:t>
            </a:r>
            <a:endParaRPr lang="en-US" altLang="zh-CN" sz="9600" b="1" kern="100" dirty="0">
              <a:effectLst/>
              <a:latin typeface="+mj-ea"/>
              <a:ea typeface="+mj-ea"/>
            </a:endParaRPr>
          </a:p>
          <a:p>
            <a:r>
              <a:rPr lang="en" altLang="zh-CN" sz="9600" b="1" kern="100" dirty="0">
                <a:effectLst/>
                <a:latin typeface="+mj-ea"/>
                <a:ea typeface="+mj-ea"/>
              </a:rPr>
              <a:t>Router0</a:t>
            </a:r>
            <a:r>
              <a:rPr lang="zh-CN" altLang="en-US" sz="9600" b="1" kern="100" dirty="0">
                <a:effectLst/>
                <a:latin typeface="+mj-ea"/>
                <a:ea typeface="+mj-ea"/>
              </a:rPr>
              <a:t>上配置静态路由</a:t>
            </a:r>
          </a:p>
          <a:p>
            <a:pPr marL="342900" lvl="1" indent="0">
              <a:buNone/>
            </a:pPr>
            <a:r>
              <a:rPr lang="en" altLang="zh-CN" sz="8000" b="1" kern="100" dirty="0">
                <a:effectLst/>
                <a:latin typeface="+mj-ea"/>
                <a:ea typeface="+mj-ea"/>
              </a:rPr>
              <a:t>Router&gt;</a:t>
            </a:r>
          </a:p>
          <a:p>
            <a:pPr marL="342900" lvl="1" indent="0">
              <a:buNone/>
            </a:pPr>
            <a:r>
              <a:rPr lang="en" altLang="zh-CN" sz="8000" b="1" kern="100" dirty="0">
                <a:effectLst/>
                <a:latin typeface="+mj-ea"/>
                <a:ea typeface="+mj-ea"/>
              </a:rPr>
              <a:t>Router&gt;enable</a:t>
            </a:r>
          </a:p>
          <a:p>
            <a:pPr marL="342900" lvl="1" indent="0">
              <a:buNone/>
            </a:pPr>
            <a:r>
              <a:rPr lang="en" altLang="zh-CN" sz="8000" b="1" kern="100" dirty="0" err="1">
                <a:effectLst/>
                <a:latin typeface="+mj-ea"/>
                <a:ea typeface="+mj-ea"/>
              </a:rPr>
              <a:t>Router#config</a:t>
            </a:r>
            <a:endParaRPr lang="en" altLang="zh-CN" sz="8000" b="1" kern="100" dirty="0">
              <a:effectLst/>
              <a:latin typeface="+mj-ea"/>
              <a:ea typeface="+mj-ea"/>
            </a:endParaRPr>
          </a:p>
          <a:p>
            <a:pPr marL="342900" lvl="1" indent="0">
              <a:buNone/>
            </a:pPr>
            <a:r>
              <a:rPr lang="en" altLang="zh-CN" sz="8000" b="1" kern="100" dirty="0">
                <a:effectLst/>
                <a:latin typeface="+mj-ea"/>
                <a:ea typeface="+mj-ea"/>
              </a:rPr>
              <a:t>Router</a:t>
            </a:r>
            <a:r>
              <a:rPr lang="en-US" altLang="zh-CN" sz="8000" b="1" kern="100" dirty="0">
                <a:latin typeface="+mj-ea"/>
                <a:ea typeface="+mj-ea"/>
              </a:rPr>
              <a:t>_</a:t>
            </a:r>
            <a:r>
              <a:rPr lang="en" altLang="zh-CN" sz="8000" b="1" kern="100" dirty="0" err="1">
                <a:effectLst/>
                <a:latin typeface="+mj-ea"/>
                <a:ea typeface="+mj-ea"/>
              </a:rPr>
              <a:t>config#hostname</a:t>
            </a:r>
            <a:r>
              <a:rPr lang="en" altLang="zh-CN" sz="8000" b="1" kern="100" dirty="0">
                <a:effectLst/>
                <a:latin typeface="+mj-ea"/>
                <a:ea typeface="+mj-ea"/>
              </a:rPr>
              <a:t> Router0</a:t>
            </a:r>
          </a:p>
          <a:p>
            <a:pPr marL="342900" lvl="1" indent="0">
              <a:buNone/>
            </a:pPr>
            <a:r>
              <a:rPr lang="en" altLang="zh-CN" sz="8000" b="1" kern="100" dirty="0">
                <a:effectLst/>
                <a:latin typeface="+mj-ea"/>
                <a:ea typeface="+mj-ea"/>
              </a:rPr>
              <a:t>// </a:t>
            </a:r>
            <a:r>
              <a:rPr lang="zh-CN" altLang="en-US" sz="8000" b="1" kern="100" dirty="0">
                <a:effectLst/>
                <a:latin typeface="+mj-ea"/>
                <a:ea typeface="+mj-ea"/>
              </a:rPr>
              <a:t>配置路由器</a:t>
            </a:r>
            <a:r>
              <a:rPr lang="en" altLang="zh-CN" sz="8000" b="1" kern="100" dirty="0">
                <a:effectLst/>
                <a:latin typeface="+mj-ea"/>
                <a:ea typeface="+mj-ea"/>
              </a:rPr>
              <a:t>f0/</a:t>
            </a:r>
            <a:r>
              <a:rPr lang="en-US" altLang="zh-CN" sz="8000" b="1" kern="100" dirty="0">
                <a:effectLst/>
                <a:latin typeface="+mj-ea"/>
                <a:ea typeface="+mj-ea"/>
              </a:rPr>
              <a:t>0</a:t>
            </a:r>
            <a:r>
              <a:rPr lang="zh-CN" altLang="en" sz="8000" b="1" kern="100" dirty="0">
                <a:effectLst/>
                <a:latin typeface="+mj-ea"/>
                <a:ea typeface="+mj-ea"/>
              </a:rPr>
              <a:t>快速</a:t>
            </a:r>
            <a:r>
              <a:rPr lang="zh-CN" altLang="en-US" sz="8000" b="1" kern="100" dirty="0">
                <a:effectLst/>
                <a:latin typeface="+mj-ea"/>
                <a:ea typeface="+mj-ea"/>
              </a:rPr>
              <a:t>以太网接口</a:t>
            </a:r>
            <a:r>
              <a:rPr lang="en-US" altLang="zh-CN" sz="8000" b="1" kern="100" dirty="0">
                <a:effectLst/>
                <a:latin typeface="+mj-ea"/>
                <a:ea typeface="+mj-ea"/>
              </a:rPr>
              <a:t>(</a:t>
            </a:r>
            <a:r>
              <a:rPr lang="zh-CN" altLang="en-US" sz="8000" b="1" kern="100" dirty="0">
                <a:effectLst/>
                <a:latin typeface="+mj-ea"/>
                <a:ea typeface="+mj-ea"/>
              </a:rPr>
              <a:t>连接到</a:t>
            </a:r>
            <a:r>
              <a:rPr lang="zh-CN" altLang="en-US" sz="8000" b="1" kern="100" dirty="0">
                <a:latin typeface="+mj-ea"/>
                <a:ea typeface="+mj-ea"/>
              </a:rPr>
              <a:t>配线架</a:t>
            </a:r>
            <a:r>
              <a:rPr lang="en-US" altLang="zh-CN" sz="8000" b="1" kern="100" dirty="0">
                <a:effectLst/>
                <a:latin typeface="+mj-ea"/>
                <a:ea typeface="+mj-ea"/>
              </a:rPr>
              <a:t>TP0)</a:t>
            </a:r>
          </a:p>
          <a:p>
            <a:pPr marL="342900" lvl="1" indent="0">
              <a:buNone/>
            </a:pPr>
            <a:r>
              <a:rPr lang="en" altLang="zh-CN" sz="8000" b="1" kern="100" dirty="0">
                <a:effectLst/>
                <a:latin typeface="+mj-ea"/>
                <a:ea typeface="+mj-ea"/>
              </a:rPr>
              <a:t>Router0</a:t>
            </a:r>
            <a:r>
              <a:rPr lang="en-US" altLang="zh-CN" sz="8000" b="1" kern="100" dirty="0">
                <a:latin typeface="+mj-ea"/>
                <a:ea typeface="+mj-ea"/>
              </a:rPr>
              <a:t>_</a:t>
            </a:r>
            <a:r>
              <a:rPr lang="en" altLang="zh-CN" sz="8000" b="1" kern="100" dirty="0" err="1">
                <a:effectLst/>
                <a:latin typeface="+mj-ea"/>
                <a:ea typeface="+mj-ea"/>
              </a:rPr>
              <a:t>config#interface</a:t>
            </a:r>
            <a:r>
              <a:rPr lang="en" altLang="zh-CN" sz="8000" b="1" kern="100" dirty="0">
                <a:effectLst/>
                <a:latin typeface="+mj-ea"/>
                <a:ea typeface="+mj-ea"/>
              </a:rPr>
              <a:t> </a:t>
            </a:r>
            <a:r>
              <a:rPr lang="en" altLang="zh-CN" sz="8000" b="1" kern="100" dirty="0">
                <a:solidFill>
                  <a:srgbClr val="FF0000"/>
                </a:solidFill>
                <a:effectLst/>
                <a:latin typeface="+mj-ea"/>
                <a:ea typeface="+mj-ea"/>
              </a:rPr>
              <a:t>f</a:t>
            </a:r>
            <a:r>
              <a:rPr lang="en-US" altLang="zh-CN" sz="8000" b="1" kern="100" dirty="0">
                <a:solidFill>
                  <a:srgbClr val="FF0000"/>
                </a:solidFill>
                <a:effectLst/>
                <a:latin typeface="+mj-ea"/>
                <a:ea typeface="+mj-ea"/>
              </a:rPr>
              <a:t>0</a:t>
            </a:r>
            <a:r>
              <a:rPr lang="en" altLang="zh-CN" sz="8000" b="1" kern="100" dirty="0">
                <a:solidFill>
                  <a:srgbClr val="FF0000"/>
                </a:solidFill>
                <a:effectLst/>
                <a:latin typeface="+mj-ea"/>
                <a:ea typeface="+mj-ea"/>
              </a:rPr>
              <a:t>/</a:t>
            </a:r>
            <a:r>
              <a:rPr lang="en-US" altLang="zh-CN" sz="8000" b="1" kern="100" dirty="0">
                <a:solidFill>
                  <a:srgbClr val="FF0000"/>
                </a:solidFill>
                <a:latin typeface="+mj-ea"/>
                <a:ea typeface="+mj-ea"/>
              </a:rPr>
              <a:t>0</a:t>
            </a:r>
            <a:endParaRPr lang="en" altLang="zh-CN" sz="8000" b="1" kern="100" dirty="0">
              <a:solidFill>
                <a:srgbClr val="FF0000"/>
              </a:solidFill>
              <a:effectLst/>
              <a:latin typeface="+mj-ea"/>
              <a:ea typeface="+mj-ea"/>
            </a:endParaRPr>
          </a:p>
          <a:p>
            <a:pPr marL="342900" lvl="1" indent="0">
              <a:buNone/>
            </a:pPr>
            <a:r>
              <a:rPr lang="en" altLang="zh-CN" sz="8000" b="1" kern="100" dirty="0">
                <a:effectLst/>
                <a:latin typeface="+mj-ea"/>
                <a:ea typeface="+mj-ea"/>
              </a:rPr>
              <a:t>// </a:t>
            </a:r>
            <a:r>
              <a:rPr lang="zh-CN" altLang="en-US" sz="8000" b="1" kern="100" dirty="0">
                <a:effectLst/>
                <a:latin typeface="+mj-ea"/>
                <a:ea typeface="+mj-ea"/>
              </a:rPr>
              <a:t>配置</a:t>
            </a:r>
            <a:r>
              <a:rPr lang="en" altLang="zh-CN" sz="8000" b="1" kern="100" dirty="0">
                <a:effectLst/>
                <a:latin typeface="+mj-ea"/>
                <a:ea typeface="+mj-ea"/>
              </a:rPr>
              <a:t>f0/</a:t>
            </a:r>
            <a:r>
              <a:rPr lang="en-US" altLang="zh-CN" sz="8000" b="1" kern="100" dirty="0">
                <a:effectLst/>
                <a:latin typeface="+mj-ea"/>
                <a:ea typeface="+mj-ea"/>
              </a:rPr>
              <a:t>0</a:t>
            </a:r>
            <a:r>
              <a:rPr lang="zh-CN" altLang="en-US" sz="8000" b="1" kern="100" dirty="0">
                <a:effectLst/>
                <a:latin typeface="+mj-ea"/>
                <a:ea typeface="+mj-ea"/>
              </a:rPr>
              <a:t>接口的</a:t>
            </a:r>
            <a:r>
              <a:rPr lang="en-US" altLang="zh-CN" sz="8000" b="1" kern="100" dirty="0">
                <a:effectLst/>
                <a:latin typeface="+mj-ea"/>
                <a:ea typeface="+mj-ea"/>
              </a:rPr>
              <a:t>IP</a:t>
            </a:r>
            <a:r>
              <a:rPr lang="zh-CN" altLang="en-US" sz="8000" b="1" kern="100" dirty="0">
                <a:latin typeface="+mj-ea"/>
                <a:ea typeface="+mj-ea"/>
              </a:rPr>
              <a:t>地址</a:t>
            </a:r>
            <a:r>
              <a:rPr lang="en-US" altLang="zh-CN" sz="8000" b="1" kern="100" dirty="0">
                <a:effectLst/>
                <a:latin typeface="+mj-ea"/>
                <a:ea typeface="+mj-ea"/>
              </a:rPr>
              <a:t>192.168.1.1</a:t>
            </a:r>
            <a:r>
              <a:rPr lang="zh-CN" altLang="en-US" sz="8000" b="1" kern="100" dirty="0">
                <a:effectLst/>
                <a:latin typeface="+mj-ea"/>
                <a:ea typeface="+mj-ea"/>
              </a:rPr>
              <a:t>和子网掩码</a:t>
            </a:r>
            <a:r>
              <a:rPr lang="en-US" altLang="zh-CN" sz="8000" b="1" kern="100" dirty="0">
                <a:latin typeface="+mj-ea"/>
                <a:ea typeface="+mj-ea"/>
              </a:rPr>
              <a:t>255.255.255.0</a:t>
            </a:r>
            <a:endParaRPr lang="en-US" altLang="zh-CN" sz="8000" b="1" kern="100" dirty="0">
              <a:effectLst/>
              <a:latin typeface="+mj-ea"/>
              <a:ea typeface="+mj-ea"/>
            </a:endParaRPr>
          </a:p>
          <a:p>
            <a:pPr marL="342900" lvl="1" indent="0">
              <a:buNone/>
            </a:pPr>
            <a:r>
              <a:rPr lang="en" altLang="zh-CN" sz="8000" b="1" kern="100" dirty="0">
                <a:effectLst/>
                <a:latin typeface="+mj-ea"/>
                <a:ea typeface="+mj-ea"/>
              </a:rPr>
              <a:t>Router0_config_f</a:t>
            </a:r>
            <a:r>
              <a:rPr lang="en" altLang="zh-CN" sz="8000" b="1" kern="100" dirty="0">
                <a:latin typeface="+mj-ea"/>
                <a:ea typeface="+mj-ea"/>
              </a:rPr>
              <a:t>0/0</a:t>
            </a:r>
            <a:r>
              <a:rPr lang="en" altLang="zh-CN" sz="8000" b="1" kern="100" dirty="0">
                <a:effectLst/>
                <a:latin typeface="+mj-ea"/>
                <a:ea typeface="+mj-ea"/>
              </a:rPr>
              <a:t>#ip address </a:t>
            </a:r>
            <a:r>
              <a:rPr lang="en" altLang="zh-CN" sz="8000" b="1" kern="100" dirty="0">
                <a:solidFill>
                  <a:srgbClr val="FF0000"/>
                </a:solidFill>
                <a:effectLst/>
                <a:latin typeface="+mj-ea"/>
                <a:ea typeface="+mj-ea"/>
              </a:rPr>
              <a:t>192.168.1.1</a:t>
            </a:r>
            <a:r>
              <a:rPr lang="en" altLang="zh-CN" sz="8000" b="1" kern="100" dirty="0">
                <a:effectLst/>
                <a:latin typeface="+mj-ea"/>
                <a:ea typeface="+mj-ea"/>
              </a:rPr>
              <a:t> </a:t>
            </a:r>
            <a:r>
              <a:rPr lang="en" altLang="zh-CN" sz="8000" b="1" kern="100" dirty="0">
                <a:solidFill>
                  <a:srgbClr val="FF0000"/>
                </a:solidFill>
                <a:effectLst/>
                <a:latin typeface="+mj-ea"/>
                <a:ea typeface="+mj-ea"/>
              </a:rPr>
              <a:t>255.255.255.0</a:t>
            </a:r>
          </a:p>
          <a:p>
            <a:pPr marL="342900" lvl="1" indent="0">
              <a:buNone/>
            </a:pPr>
            <a:r>
              <a:rPr lang="en" altLang="zh-CN" sz="8000" b="1" kern="100" dirty="0">
                <a:effectLst/>
                <a:latin typeface="+mj-ea"/>
                <a:ea typeface="+mj-ea"/>
              </a:rPr>
              <a:t>// </a:t>
            </a:r>
            <a:r>
              <a:rPr lang="zh-CN" altLang="en-US" sz="8000" b="1" kern="100" dirty="0">
                <a:effectLst/>
                <a:latin typeface="+mj-ea"/>
                <a:ea typeface="+mj-ea"/>
              </a:rPr>
              <a:t>激活接口</a:t>
            </a:r>
            <a:endParaRPr lang="en-US" altLang="zh-CN" sz="8000" b="1" kern="100" dirty="0">
              <a:effectLst/>
              <a:latin typeface="+mj-ea"/>
              <a:ea typeface="+mj-ea"/>
            </a:endParaRPr>
          </a:p>
          <a:p>
            <a:pPr marL="342900" lvl="1" indent="0">
              <a:buNone/>
            </a:pPr>
            <a:r>
              <a:rPr lang="en" altLang="zh-CN" sz="8000" b="1" kern="100" dirty="0">
                <a:effectLst/>
                <a:latin typeface="+mj-ea"/>
                <a:ea typeface="+mj-ea"/>
              </a:rPr>
              <a:t>Router0_config_f</a:t>
            </a:r>
            <a:r>
              <a:rPr lang="en" altLang="zh-CN" sz="8000" b="1" kern="100" dirty="0">
                <a:latin typeface="+mj-ea"/>
                <a:ea typeface="+mj-ea"/>
              </a:rPr>
              <a:t>0/0</a:t>
            </a:r>
            <a:r>
              <a:rPr lang="en" altLang="zh-CN" sz="8000" b="1" kern="100" dirty="0">
                <a:effectLst/>
                <a:latin typeface="+mj-ea"/>
                <a:ea typeface="+mj-ea"/>
              </a:rPr>
              <a:t>#no shutdown</a:t>
            </a:r>
          </a:p>
          <a:p>
            <a:pPr marL="342900" lvl="1" indent="0">
              <a:buNone/>
            </a:pPr>
            <a:r>
              <a:rPr lang="en-US" altLang="zh-CN" sz="8000" b="1" kern="100" dirty="0">
                <a:latin typeface="+mj-ea"/>
                <a:ea typeface="+mj-ea"/>
              </a:rPr>
              <a:t>//</a:t>
            </a:r>
            <a:r>
              <a:rPr lang="zh-CN" altLang="en-US" sz="8000" b="1" kern="100" dirty="0">
                <a:latin typeface="+mj-ea"/>
                <a:ea typeface="+mj-ea"/>
              </a:rPr>
              <a:t> </a:t>
            </a:r>
            <a:r>
              <a:rPr lang="zh-CN" altLang="en" sz="8000" b="1" kern="100" dirty="0">
                <a:latin typeface="+mj-ea"/>
                <a:ea typeface="+mj-ea"/>
              </a:rPr>
              <a:t>退出</a:t>
            </a:r>
            <a:r>
              <a:rPr lang="zh-CN" altLang="en-US" sz="8000" b="1" kern="100" dirty="0">
                <a:latin typeface="+mj-ea"/>
                <a:ea typeface="+mj-ea"/>
              </a:rPr>
              <a:t>接口配置模式</a:t>
            </a:r>
            <a:endParaRPr lang="en" altLang="zh-CN" sz="8000" b="1" kern="100" dirty="0">
              <a:effectLst/>
              <a:latin typeface="+mj-ea"/>
              <a:ea typeface="+mj-ea"/>
            </a:endParaRPr>
          </a:p>
          <a:p>
            <a:pPr marL="342900" lvl="1" indent="0">
              <a:buNone/>
            </a:pPr>
            <a:r>
              <a:rPr lang="en" altLang="zh-CN" sz="8000" b="1" kern="100" dirty="0">
                <a:effectLst/>
                <a:latin typeface="+mj-ea"/>
                <a:ea typeface="+mj-ea"/>
              </a:rPr>
              <a:t>Router0_config_f</a:t>
            </a:r>
            <a:r>
              <a:rPr lang="en" altLang="zh-CN" sz="8000" b="1" kern="100" dirty="0">
                <a:latin typeface="+mj-ea"/>
                <a:ea typeface="+mj-ea"/>
              </a:rPr>
              <a:t>0/0</a:t>
            </a:r>
            <a:r>
              <a:rPr lang="en" altLang="zh-CN" sz="8000" b="1" kern="100" dirty="0">
                <a:effectLst/>
                <a:latin typeface="+mj-ea"/>
                <a:ea typeface="+mj-ea"/>
              </a:rPr>
              <a:t>#exit</a:t>
            </a:r>
          </a:p>
        </p:txBody>
      </p:sp>
    </p:spTree>
    <p:extLst>
      <p:ext uri="{BB962C8B-B14F-4D97-AF65-F5344CB8AC3E}">
        <p14:creationId xmlns:p14="http://schemas.microsoft.com/office/powerpoint/2010/main" val="1214251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4AA7A62-7987-0087-37FE-220B0782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Router0</a:t>
            </a:r>
            <a:r>
              <a:rPr kumimoji="1"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上配置静态路由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46949230-B490-9490-905B-43054872F08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23528" y="1340768"/>
            <a:ext cx="8620447" cy="547260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AU" altLang="zh-CN" sz="2000" b="1" dirty="0">
                <a:latin typeface="+mj-ea"/>
                <a:ea typeface="+mj-ea"/>
              </a:rPr>
              <a:t>// </a:t>
            </a:r>
            <a:r>
              <a:rPr lang="zh-CN" altLang="en-AU" sz="2000" b="1" dirty="0">
                <a:latin typeface="+mj-ea"/>
                <a:ea typeface="+mj-ea"/>
              </a:rPr>
              <a:t>配置</a:t>
            </a:r>
            <a:r>
              <a:rPr lang="zh-CN" altLang="en-US" sz="2000" b="1" kern="100" dirty="0">
                <a:effectLst/>
                <a:latin typeface="+mj-ea"/>
                <a:ea typeface="+mj-ea"/>
              </a:rPr>
              <a:t>路由器</a:t>
            </a:r>
            <a:r>
              <a:rPr lang="en-US" altLang="zh-CN" sz="2000" b="1" dirty="0">
                <a:latin typeface="+mj-ea"/>
                <a:ea typeface="+mj-ea"/>
              </a:rPr>
              <a:t>s0/2</a:t>
            </a:r>
            <a:r>
              <a:rPr lang="zh-CN" altLang="en-US" sz="2000" b="1" dirty="0">
                <a:latin typeface="+mj-ea"/>
                <a:ea typeface="+mj-ea"/>
              </a:rPr>
              <a:t>口（或</a:t>
            </a:r>
            <a:r>
              <a:rPr lang="en-US" altLang="zh-CN" sz="2000" b="1" dirty="0">
                <a:latin typeface="+mj-ea"/>
                <a:ea typeface="+mj-ea"/>
              </a:rPr>
              <a:t>s0/1</a:t>
            </a:r>
            <a:r>
              <a:rPr lang="zh-CN" altLang="en-US" sz="2000" b="1" dirty="0">
                <a:latin typeface="+mj-ea"/>
                <a:ea typeface="+mj-ea"/>
              </a:rPr>
              <a:t>）。该口做为串口线</a:t>
            </a:r>
            <a:r>
              <a:rPr lang="en-US" altLang="zh-CN" sz="2000" b="1" dirty="0">
                <a:latin typeface="+mj-ea"/>
                <a:ea typeface="+mj-ea"/>
              </a:rPr>
              <a:t>DCE</a:t>
            </a:r>
            <a:r>
              <a:rPr lang="zh-CN" altLang="en-US" sz="2000" b="1" dirty="0">
                <a:latin typeface="+mj-ea"/>
                <a:ea typeface="+mj-ea"/>
              </a:rPr>
              <a:t>端，配置时钟</a:t>
            </a:r>
            <a:endParaRPr lang="en-AU" altLang="zh-CN" sz="2000" b="1" dirty="0">
              <a:latin typeface="+mj-ea"/>
              <a:ea typeface="+mj-ea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AU" altLang="zh-CN" sz="2000" b="1" dirty="0">
                <a:latin typeface="+mj-ea"/>
                <a:ea typeface="+mj-ea"/>
              </a:rPr>
              <a:t>Router0_config#interface </a:t>
            </a:r>
            <a:r>
              <a:rPr lang="en-AU" altLang="zh-CN" sz="2000" b="1" dirty="0">
                <a:solidFill>
                  <a:srgbClr val="FF0000"/>
                </a:solidFill>
                <a:latin typeface="+mj-ea"/>
                <a:ea typeface="+mj-ea"/>
              </a:rPr>
              <a:t>s0/2</a:t>
            </a:r>
            <a:endParaRPr lang="en-US" altLang="zh-CN" sz="2000" dirty="0">
              <a:latin typeface="+mj-ea"/>
              <a:ea typeface="+mj-ea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b="1" dirty="0">
                <a:latin typeface="+mj-ea"/>
                <a:ea typeface="+mj-ea"/>
              </a:rPr>
              <a:t>//</a:t>
            </a:r>
            <a:r>
              <a:rPr lang="zh-CN" altLang="en-US" sz="2000" b="1" dirty="0">
                <a:latin typeface="+mj-ea"/>
                <a:ea typeface="+mj-ea"/>
              </a:rPr>
              <a:t> 配置</a:t>
            </a:r>
            <a:r>
              <a:rPr lang="en-US" altLang="zh-CN" sz="2000" b="1" dirty="0">
                <a:latin typeface="+mj-ea"/>
                <a:ea typeface="+mj-ea"/>
              </a:rPr>
              <a:t>s0/2</a:t>
            </a:r>
            <a:r>
              <a:rPr lang="zh-CN" altLang="en-US" sz="2000" b="1" dirty="0">
                <a:latin typeface="+mj-ea"/>
                <a:ea typeface="+mj-ea"/>
              </a:rPr>
              <a:t>口的</a:t>
            </a:r>
            <a:r>
              <a:rPr lang="en-US" altLang="zh-CN" sz="2000" b="1" dirty="0">
                <a:latin typeface="+mj-ea"/>
                <a:ea typeface="+mj-ea"/>
              </a:rPr>
              <a:t>IP</a:t>
            </a:r>
            <a:r>
              <a:rPr lang="zh-CN" altLang="en-US" sz="2000" b="1" dirty="0">
                <a:latin typeface="+mj-ea"/>
                <a:ea typeface="+mj-ea"/>
              </a:rPr>
              <a:t>地址和子网掩码</a:t>
            </a:r>
            <a:endParaRPr lang="en-AU" altLang="zh-CN" sz="2000" b="1" dirty="0">
              <a:latin typeface="+mj-ea"/>
              <a:ea typeface="+mj-ea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AU" altLang="zh-CN" sz="2000" b="1" dirty="0">
                <a:latin typeface="+mj-ea"/>
                <a:ea typeface="+mj-ea"/>
              </a:rPr>
              <a:t>Router0_config_s0/2#ip address </a:t>
            </a:r>
            <a:r>
              <a:rPr lang="en-AU" altLang="zh-CN" sz="2000" b="1" dirty="0">
                <a:solidFill>
                  <a:srgbClr val="FF0000"/>
                </a:solidFill>
                <a:latin typeface="+mj-ea"/>
                <a:ea typeface="+mj-ea"/>
              </a:rPr>
              <a:t>192.168.0.1 255.255.255.0</a:t>
            </a:r>
            <a:r>
              <a:rPr lang="en-AU" altLang="zh-CN" sz="2000" b="1" dirty="0">
                <a:latin typeface="+mj-ea"/>
                <a:ea typeface="+mj-ea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b="1" dirty="0">
                <a:latin typeface="+mj-ea"/>
                <a:ea typeface="+mj-ea"/>
              </a:rPr>
              <a:t>//</a:t>
            </a:r>
            <a:r>
              <a:rPr lang="zh-CN" altLang="en-US" sz="2000" b="1" dirty="0">
                <a:latin typeface="+mj-ea"/>
                <a:ea typeface="+mj-ea"/>
              </a:rPr>
              <a:t> </a:t>
            </a:r>
            <a:r>
              <a:rPr lang="zh-CN" altLang="en-AU" sz="2000" b="1" dirty="0">
                <a:latin typeface="+mj-ea"/>
                <a:ea typeface="+mj-ea"/>
              </a:rPr>
              <a:t>定义</a:t>
            </a:r>
            <a:r>
              <a:rPr lang="zh-CN" altLang="en-US" sz="2000" b="1" dirty="0">
                <a:latin typeface="+mj-ea"/>
                <a:ea typeface="+mj-ea"/>
              </a:rPr>
              <a:t>封装类型为</a:t>
            </a:r>
            <a:r>
              <a:rPr lang="en-US" altLang="zh-CN" sz="2000" b="1" dirty="0">
                <a:latin typeface="+mj-ea"/>
                <a:ea typeface="+mj-ea"/>
              </a:rPr>
              <a:t>PPP</a:t>
            </a:r>
            <a:endParaRPr lang="en-AU" altLang="zh-CN" sz="2000" b="1" dirty="0">
              <a:latin typeface="+mj-ea"/>
              <a:ea typeface="+mj-ea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AU" altLang="zh-CN" sz="2000" b="1" dirty="0">
                <a:latin typeface="+mj-ea"/>
                <a:ea typeface="+mj-ea"/>
              </a:rPr>
              <a:t>Router0_config_s0/2#</a:t>
            </a:r>
            <a:r>
              <a:rPr lang="en-AU" altLang="zh-CN" sz="2000" b="1" dirty="0">
                <a:solidFill>
                  <a:srgbClr val="FF0000"/>
                </a:solidFill>
                <a:latin typeface="+mj-ea"/>
                <a:ea typeface="+mj-ea"/>
              </a:rPr>
              <a:t>encapsulation PPP </a:t>
            </a:r>
          </a:p>
          <a:p>
            <a:pPr eaLnBrk="1" hangingPunct="1">
              <a:buFont typeface="Wingdings" pitchFamily="2" charset="2"/>
              <a:buNone/>
            </a:pPr>
            <a:r>
              <a:rPr lang="en-AU" altLang="zh-CN" sz="2000" b="1" dirty="0">
                <a:latin typeface="+mj-ea"/>
                <a:ea typeface="+mj-ea"/>
              </a:rPr>
              <a:t>// </a:t>
            </a:r>
            <a:r>
              <a:rPr lang="zh-CN" altLang="en-AU" sz="2000" b="1" dirty="0">
                <a:latin typeface="+mj-ea"/>
                <a:ea typeface="+mj-ea"/>
              </a:rPr>
              <a:t>配置</a:t>
            </a:r>
            <a:r>
              <a:rPr lang="zh-CN" altLang="en-US" sz="2000" b="1" dirty="0">
                <a:latin typeface="+mj-ea"/>
                <a:ea typeface="+mj-ea"/>
              </a:rPr>
              <a:t>时钟频率</a:t>
            </a:r>
            <a:endParaRPr lang="en-AU" altLang="zh-CN" sz="2000" b="1" dirty="0">
              <a:latin typeface="+mj-ea"/>
              <a:ea typeface="+mj-ea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AU" altLang="zh-CN" sz="2000" b="1" dirty="0">
                <a:latin typeface="+mj-ea"/>
                <a:ea typeface="+mj-ea"/>
              </a:rPr>
              <a:t>Router0_config_s0/2#</a:t>
            </a:r>
            <a:r>
              <a:rPr lang="en-AU" altLang="zh-CN" sz="2000" b="1" dirty="0">
                <a:solidFill>
                  <a:srgbClr val="FF0000"/>
                </a:solidFill>
                <a:latin typeface="+mj-ea"/>
                <a:ea typeface="+mj-ea"/>
              </a:rPr>
              <a:t>physical-layer speed 64000</a:t>
            </a:r>
            <a:r>
              <a:rPr lang="en-AU" altLang="zh-CN" sz="2000" b="1" dirty="0">
                <a:latin typeface="+mj-ea"/>
                <a:ea typeface="+mj-ea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AU" altLang="zh-CN" sz="2000" b="1" dirty="0">
                <a:latin typeface="+mj-ea"/>
                <a:ea typeface="+mj-ea"/>
              </a:rPr>
              <a:t>Router0_config_s0/2#no shutdown</a:t>
            </a:r>
          </a:p>
          <a:p>
            <a:pPr eaLnBrk="1" hangingPunct="1">
              <a:buNone/>
            </a:pPr>
            <a:r>
              <a:rPr lang="en" altLang="zh-CN" sz="2000" b="1" kern="100" dirty="0">
                <a:effectLst/>
                <a:latin typeface="+mj-ea"/>
                <a:ea typeface="+mj-ea"/>
              </a:rPr>
              <a:t>Router0</a:t>
            </a:r>
            <a:r>
              <a:rPr lang="en-AU" altLang="zh-CN" sz="2000" b="1" dirty="0">
                <a:latin typeface="+mj-ea"/>
                <a:ea typeface="+mj-ea"/>
              </a:rPr>
              <a:t>_config_s0/2</a:t>
            </a:r>
            <a:r>
              <a:rPr lang="en" altLang="zh-CN" sz="2000" b="1" kern="100" dirty="0">
                <a:effectLst/>
                <a:latin typeface="+mj-ea"/>
                <a:ea typeface="+mj-ea"/>
              </a:rPr>
              <a:t>#exit</a:t>
            </a:r>
            <a:endParaRPr lang="en-US" altLang="zh-CN" sz="2000" b="1" dirty="0">
              <a:latin typeface="+mj-ea"/>
              <a:ea typeface="+mj-ea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000" b="1" dirty="0">
              <a:latin typeface="+mj-ea"/>
              <a:ea typeface="+mj-ea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b="1" dirty="0">
                <a:latin typeface="+mj-ea"/>
                <a:ea typeface="+mj-ea"/>
              </a:rPr>
              <a:t>// </a:t>
            </a:r>
            <a:r>
              <a:rPr lang="zh-CN" altLang="en-US" sz="2000" b="1" dirty="0">
                <a:latin typeface="+mj-ea"/>
                <a:ea typeface="+mj-ea"/>
              </a:rPr>
              <a:t>配置静态路由。目的网络</a:t>
            </a:r>
            <a:r>
              <a:rPr lang="en-US" altLang="zh-CN" sz="2000" b="1" dirty="0">
                <a:latin typeface="+mj-ea"/>
                <a:ea typeface="+mj-ea"/>
              </a:rPr>
              <a:t>192.168.101.0/24</a:t>
            </a:r>
            <a:r>
              <a:rPr lang="zh-CN" altLang="en-US" sz="2000" b="1" dirty="0">
                <a:latin typeface="+mj-ea"/>
                <a:ea typeface="+mj-ea"/>
              </a:rPr>
              <a:t>和下一跳</a:t>
            </a:r>
            <a:r>
              <a:rPr lang="en-US" altLang="zh-CN" sz="2000" b="1" dirty="0">
                <a:latin typeface="+mj-ea"/>
                <a:ea typeface="+mj-ea"/>
              </a:rPr>
              <a:t>192.168.0.101</a:t>
            </a:r>
          </a:p>
          <a:p>
            <a:pPr eaLnBrk="1" hangingPunct="1">
              <a:buFont typeface="Wingdings" pitchFamily="2" charset="2"/>
              <a:buNone/>
            </a:pPr>
            <a:r>
              <a:rPr lang="en-AU" altLang="zh-CN" sz="2000" b="1" dirty="0">
                <a:latin typeface="+mj-ea"/>
                <a:ea typeface="+mj-ea"/>
              </a:rPr>
              <a:t>Router0_config#ip route </a:t>
            </a:r>
            <a:r>
              <a:rPr lang="en-AU" altLang="zh-CN" sz="2000" b="1" dirty="0">
                <a:solidFill>
                  <a:srgbClr val="FF0000"/>
                </a:solidFill>
                <a:latin typeface="+mj-ea"/>
                <a:ea typeface="+mj-ea"/>
              </a:rPr>
              <a:t>192.168.101.0 255.255.255.0 192.168.0.101</a:t>
            </a:r>
          </a:p>
          <a:p>
            <a:pPr eaLnBrk="1" hangingPunct="1">
              <a:buFont typeface="Wingdings" pitchFamily="2" charset="2"/>
              <a:buNone/>
            </a:pPr>
            <a:r>
              <a:rPr lang="en-AU" altLang="zh-CN" sz="2000" b="1" dirty="0">
                <a:latin typeface="+mj-ea"/>
                <a:ea typeface="+mj-ea"/>
              </a:rPr>
              <a:t>Router0_config#exit</a:t>
            </a:r>
          </a:p>
          <a:p>
            <a:pPr eaLnBrk="1" hangingPunct="1">
              <a:buNone/>
            </a:pPr>
            <a:r>
              <a:rPr lang="en-AU" altLang="zh-CN" sz="2000" b="1" dirty="0">
                <a:latin typeface="+mj-ea"/>
                <a:ea typeface="+mj-ea"/>
              </a:rPr>
              <a:t>Router</a:t>
            </a:r>
            <a:r>
              <a:rPr lang="en-US" altLang="zh-CN" sz="2000" b="1" dirty="0">
                <a:latin typeface="+mj-ea"/>
                <a:ea typeface="+mj-ea"/>
              </a:rPr>
              <a:t>0</a:t>
            </a:r>
            <a:r>
              <a:rPr lang="en-AU" altLang="zh-CN" sz="2000" b="1" dirty="0">
                <a:latin typeface="+mj-ea"/>
                <a:ea typeface="+mj-ea"/>
              </a:rPr>
              <a:t>#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F3524E00-3640-6419-B137-C0120EFE36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801D8-2272-4EF8-BB2F-7D90CA5D8A33}" type="slidenum">
              <a:rPr lang="zh-CN" altLang="en-US" smtClean="0"/>
              <a:pPr>
                <a:defRPr/>
              </a:pPr>
              <a:t>19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015716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248422B1-1BFA-E046-B33A-2E3B13682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Router0</a:t>
            </a:r>
            <a:r>
              <a:rPr kumimoji="1"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上配置静态路由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8C3864BC-EF23-247D-4AEF-721BBE7DD43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11188" y="1196752"/>
            <a:ext cx="8075612" cy="5040536"/>
          </a:xfrm>
        </p:spPr>
        <p:txBody>
          <a:bodyPr/>
          <a:lstStyle/>
          <a:p>
            <a:pPr marL="457200" lvl="1" indent="0">
              <a:buNone/>
            </a:pPr>
            <a:r>
              <a:rPr kumimoji="1" lang="en-US" altLang="zh-CN" sz="2000" b="1" dirty="0">
                <a:latin typeface="+mj-ea"/>
                <a:ea typeface="+mj-ea"/>
              </a:rPr>
              <a:t>//</a:t>
            </a:r>
            <a:r>
              <a:rPr kumimoji="1" lang="zh-CN" altLang="en-US" sz="2000" b="1" dirty="0">
                <a:latin typeface="+mj-ea"/>
                <a:ea typeface="+mj-ea"/>
              </a:rPr>
              <a:t> 显示</a:t>
            </a:r>
            <a:r>
              <a:rPr kumimoji="1" lang="en" altLang="zh-CN" sz="2000" b="1" dirty="0">
                <a:latin typeface="+mj-ea"/>
                <a:ea typeface="+mj-ea"/>
              </a:rPr>
              <a:t>f0/0</a:t>
            </a:r>
            <a:r>
              <a:rPr kumimoji="1" lang="zh-CN" altLang="en-US" sz="2000" b="1" dirty="0">
                <a:latin typeface="+mj-ea"/>
                <a:ea typeface="+mj-ea"/>
              </a:rPr>
              <a:t>接口信息</a:t>
            </a:r>
            <a:endParaRPr kumimoji="1" lang="en-US" altLang="zh-CN" sz="2000" b="1" dirty="0">
              <a:latin typeface="+mj-ea"/>
              <a:ea typeface="+mj-ea"/>
            </a:endParaRPr>
          </a:p>
          <a:p>
            <a:pPr marL="457200" lvl="1" indent="0">
              <a:buNone/>
            </a:pPr>
            <a:endParaRPr kumimoji="1" lang="zh-CN" altLang="en-US" sz="2000" b="1" dirty="0">
              <a:latin typeface="+mj-ea"/>
              <a:ea typeface="+mj-ea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5552EF46-9844-987E-1320-E8CA921267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801D8-2272-4EF8-BB2F-7D90CA5D8A33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658121CE-7D77-C4C5-A5B4-B5B91E069927}"/>
              </a:ext>
            </a:extLst>
          </p:cNvPr>
          <p:cNvSpPr txBox="1"/>
          <p:nvPr/>
        </p:nvSpPr>
        <p:spPr>
          <a:xfrm>
            <a:off x="961256" y="1628800"/>
            <a:ext cx="8003232" cy="4770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" altLang="zh-CN" sz="1600" b="1" dirty="0">
                <a:latin typeface="+mj-ea"/>
                <a:ea typeface="+mj-ea"/>
              </a:rPr>
              <a:t>Router0#sh interface f0/0</a:t>
            </a:r>
          </a:p>
          <a:p>
            <a:r>
              <a:rPr kumimoji="1" lang="en" altLang="zh-CN" sz="1600" b="1" dirty="0">
                <a:solidFill>
                  <a:srgbClr val="FF0000"/>
                </a:solidFill>
                <a:latin typeface="+mj-ea"/>
                <a:ea typeface="+mj-ea"/>
              </a:rPr>
              <a:t>FastEthernet0/0</a:t>
            </a:r>
            <a:r>
              <a:rPr kumimoji="1" lang="en" altLang="zh-CN" sz="1600" b="1" dirty="0">
                <a:latin typeface="+mj-ea"/>
                <a:ea typeface="+mj-ea"/>
              </a:rPr>
              <a:t> is </a:t>
            </a:r>
            <a:r>
              <a:rPr kumimoji="1" lang="en" altLang="zh-CN" sz="1600" b="1" dirty="0">
                <a:solidFill>
                  <a:srgbClr val="FF0000"/>
                </a:solidFill>
                <a:latin typeface="+mj-ea"/>
                <a:ea typeface="+mj-ea"/>
              </a:rPr>
              <a:t>up</a:t>
            </a:r>
            <a:r>
              <a:rPr kumimoji="1" lang="en" altLang="zh-CN" sz="1600" b="1" dirty="0">
                <a:latin typeface="+mj-ea"/>
                <a:ea typeface="+mj-ea"/>
              </a:rPr>
              <a:t>, </a:t>
            </a:r>
            <a:r>
              <a:rPr kumimoji="1" lang="en" altLang="zh-CN" sz="1600" b="1" dirty="0">
                <a:solidFill>
                  <a:srgbClr val="FF0000"/>
                </a:solidFill>
                <a:latin typeface="+mj-ea"/>
                <a:ea typeface="+mj-ea"/>
              </a:rPr>
              <a:t>line protocol </a:t>
            </a:r>
            <a:r>
              <a:rPr kumimoji="1" lang="en" altLang="zh-CN" sz="1600" b="1" dirty="0">
                <a:latin typeface="+mj-ea"/>
                <a:ea typeface="+mj-ea"/>
              </a:rPr>
              <a:t>is </a:t>
            </a:r>
            <a:r>
              <a:rPr kumimoji="1" lang="en" altLang="zh-CN" sz="1600" b="1" dirty="0">
                <a:solidFill>
                  <a:srgbClr val="FF0000"/>
                </a:solidFill>
                <a:latin typeface="+mj-ea"/>
                <a:ea typeface="+mj-ea"/>
              </a:rPr>
              <a:t>up</a:t>
            </a:r>
            <a:r>
              <a:rPr kumimoji="1" lang="en" altLang="zh-CN" sz="1600" b="1" dirty="0">
                <a:latin typeface="+mj-ea"/>
                <a:ea typeface="+mj-ea"/>
              </a:rPr>
              <a:t> 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address is 00e0.0f9c.9409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MTU 1500 bytes, BW 100000 kbit, DLY 10 </a:t>
            </a:r>
            <a:r>
              <a:rPr kumimoji="1" lang="en" altLang="zh-CN" sz="1600" b="1" dirty="0" err="1">
                <a:latin typeface="+mj-ea"/>
                <a:ea typeface="+mj-ea"/>
              </a:rPr>
              <a:t>usec</a:t>
            </a:r>
            <a:endParaRPr kumimoji="1" lang="en" altLang="zh-CN" sz="1600" b="1" dirty="0">
              <a:latin typeface="+mj-ea"/>
              <a:ea typeface="+mj-ea"/>
            </a:endParaRPr>
          </a:p>
          <a:p>
            <a:r>
              <a:rPr kumimoji="1" lang="en" altLang="zh-CN" sz="1600" b="1" dirty="0">
                <a:latin typeface="+mj-ea"/>
                <a:ea typeface="+mj-ea"/>
              </a:rPr>
              <a:t>  Interface address is 192.168.1.1/24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Encapsulation ARPA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ARP type: ARPA, ARP timeout 00: 03: 00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60 second input rate 0 bits/sec, 0 packets/sec!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60 second output rate 0 bits/sec, 0 packets/sec!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Full-duplex, 100Mb/s, 100BaseTX, 181 ii, 23 oi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  192 packets input, 27136 bytes, 200 </a:t>
            </a:r>
            <a:r>
              <a:rPr kumimoji="1" lang="en" altLang="zh-CN" sz="1600" b="1" dirty="0" err="1">
                <a:latin typeface="+mj-ea"/>
                <a:ea typeface="+mj-ea"/>
              </a:rPr>
              <a:t>rx</a:t>
            </a:r>
            <a:r>
              <a:rPr lang="en-US" altLang="zh-CN" sz="1600" b="1" dirty="0">
                <a:latin typeface="+mj-ea"/>
                <a:ea typeface="+mj-ea"/>
              </a:rPr>
              <a:t>_</a:t>
            </a:r>
            <a:r>
              <a:rPr kumimoji="1" lang="en" altLang="zh-CN" sz="1600" b="1" dirty="0" err="1">
                <a:latin typeface="+mj-ea"/>
                <a:ea typeface="+mj-ea"/>
              </a:rPr>
              <a:t>freebuf</a:t>
            </a:r>
            <a:endParaRPr kumimoji="1" lang="en" altLang="zh-CN" sz="1600" b="1" dirty="0">
              <a:latin typeface="+mj-ea"/>
              <a:ea typeface="+mj-ea"/>
            </a:endParaRPr>
          </a:p>
          <a:p>
            <a:r>
              <a:rPr kumimoji="1" lang="en" altLang="zh-CN" sz="1600" b="1" dirty="0">
                <a:latin typeface="+mj-ea"/>
                <a:ea typeface="+mj-ea"/>
              </a:rPr>
              <a:t>    Received 17 unicasts, 0 </a:t>
            </a:r>
            <a:r>
              <a:rPr kumimoji="1" lang="en" altLang="zh-CN" sz="1600" b="1" dirty="0" err="1">
                <a:latin typeface="+mj-ea"/>
                <a:ea typeface="+mj-ea"/>
              </a:rPr>
              <a:t>lowmark</a:t>
            </a:r>
            <a:r>
              <a:rPr kumimoji="1" lang="en" altLang="zh-CN" sz="1600" b="1" dirty="0">
                <a:latin typeface="+mj-ea"/>
                <a:ea typeface="+mj-ea"/>
              </a:rPr>
              <a:t>, 181 </a:t>
            </a:r>
            <a:r>
              <a:rPr kumimoji="1" lang="en" altLang="zh-CN" sz="1600" b="1" dirty="0" err="1">
                <a:latin typeface="+mj-ea"/>
                <a:ea typeface="+mj-ea"/>
              </a:rPr>
              <a:t>ri</a:t>
            </a:r>
            <a:r>
              <a:rPr kumimoji="1" lang="en" altLang="zh-CN" sz="1600" b="1" dirty="0">
                <a:latin typeface="+mj-ea"/>
                <a:ea typeface="+mj-ea"/>
              </a:rPr>
              <a:t>, 0 input errors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  0 overrun, 0 CRC, 0 framing, 0 busy, 0 long, 0 discard, 0 throttles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  23 packets output, 1674 bytes, 210 </a:t>
            </a:r>
            <a:r>
              <a:rPr kumimoji="1" lang="en" altLang="zh-CN" sz="1600" b="1" dirty="0" err="1">
                <a:latin typeface="+mj-ea"/>
                <a:ea typeface="+mj-ea"/>
              </a:rPr>
              <a:t>tx_freebd</a:t>
            </a:r>
            <a:r>
              <a:rPr kumimoji="1" lang="en" altLang="zh-CN" sz="1600" b="1" dirty="0">
                <a:latin typeface="+mj-ea"/>
                <a:ea typeface="+mj-ea"/>
              </a:rPr>
              <a:t>, 0 output errors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  0 underrun, 0 collisions, 0 late collisions, 0 deferred, 0 </a:t>
            </a:r>
            <a:r>
              <a:rPr kumimoji="1" lang="en" altLang="zh-CN" sz="1600" b="1" dirty="0" err="1">
                <a:latin typeface="+mj-ea"/>
                <a:ea typeface="+mj-ea"/>
              </a:rPr>
              <a:t>reTx</a:t>
            </a:r>
            <a:r>
              <a:rPr kumimoji="1" lang="en" altLang="zh-CN" sz="1600" b="1" dirty="0">
                <a:latin typeface="+mj-ea"/>
                <a:ea typeface="+mj-ea"/>
              </a:rPr>
              <a:t> expired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  0 resets, 0 lost carrier, 0 no carrier 0 grace stop 0 bus error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  0 output buffer failures, 0 output buffers swapped out 0 </a:t>
            </a:r>
            <a:r>
              <a:rPr kumimoji="1" lang="en" altLang="zh-CN" sz="1600" b="1" dirty="0" err="1">
                <a:latin typeface="+mj-ea"/>
                <a:ea typeface="+mj-ea"/>
              </a:rPr>
              <a:t>tx</a:t>
            </a:r>
            <a:r>
              <a:rPr kumimoji="1" lang="en" altLang="zh-CN" sz="1600" b="1" dirty="0">
                <a:latin typeface="+mj-ea"/>
                <a:ea typeface="+mj-ea"/>
              </a:rPr>
              <a:t> errors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  0 packets fast-switch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Router0#</a:t>
            </a:r>
          </a:p>
        </p:txBody>
      </p:sp>
    </p:spTree>
    <p:extLst>
      <p:ext uri="{BB962C8B-B14F-4D97-AF65-F5344CB8AC3E}">
        <p14:creationId xmlns:p14="http://schemas.microsoft.com/office/powerpoint/2010/main" val="616512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248422B1-1BFA-E046-B33A-2E3B1368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296640"/>
            <a:ext cx="7793037" cy="936625"/>
          </a:xfrm>
        </p:spPr>
        <p:txBody>
          <a:bodyPr/>
          <a:lstStyle/>
          <a:p>
            <a:r>
              <a:rPr kumimoji="1"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Router0</a:t>
            </a:r>
            <a:r>
              <a:rPr kumimoji="1"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上配置静态路由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8C3864BC-EF23-247D-4AEF-721BBE7DD43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11188" y="1196752"/>
            <a:ext cx="8075612" cy="5040536"/>
          </a:xfrm>
        </p:spPr>
        <p:txBody>
          <a:bodyPr/>
          <a:lstStyle/>
          <a:p>
            <a:pPr marL="457200" lvl="1" indent="0">
              <a:buNone/>
            </a:pPr>
            <a:r>
              <a:rPr kumimoji="1" lang="en-US" altLang="zh-CN" sz="2000" b="1" dirty="0">
                <a:latin typeface="+mj-ea"/>
                <a:ea typeface="+mj-ea"/>
              </a:rPr>
              <a:t>//</a:t>
            </a:r>
            <a:r>
              <a:rPr kumimoji="1" lang="zh-CN" altLang="en-US" sz="2000" b="1" dirty="0">
                <a:latin typeface="+mj-ea"/>
                <a:ea typeface="+mj-ea"/>
              </a:rPr>
              <a:t> 显示</a:t>
            </a:r>
            <a:r>
              <a:rPr kumimoji="1" lang="en-US" altLang="zh-CN" sz="2000" b="1" dirty="0">
                <a:latin typeface="+mj-ea"/>
                <a:ea typeface="+mj-ea"/>
              </a:rPr>
              <a:t>s0/2</a:t>
            </a:r>
            <a:r>
              <a:rPr kumimoji="1" lang="zh-CN" altLang="en-US" sz="2000" b="1" dirty="0">
                <a:latin typeface="+mj-ea"/>
                <a:ea typeface="+mj-ea"/>
              </a:rPr>
              <a:t>接口信息</a:t>
            </a:r>
            <a:endParaRPr kumimoji="1" lang="en-US" altLang="zh-CN" sz="2000" b="1" dirty="0">
              <a:latin typeface="+mj-ea"/>
              <a:ea typeface="+mj-ea"/>
            </a:endParaRPr>
          </a:p>
          <a:p>
            <a:pPr marL="457200" lvl="1" indent="0">
              <a:buNone/>
            </a:pPr>
            <a:endParaRPr kumimoji="1" lang="zh-CN" altLang="en-US" sz="2000" b="1" dirty="0">
              <a:latin typeface="+mj-ea"/>
              <a:ea typeface="+mj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658121CE-7D77-C4C5-A5B4-B5B91E069927}"/>
              </a:ext>
            </a:extLst>
          </p:cNvPr>
          <p:cNvSpPr txBox="1"/>
          <p:nvPr/>
        </p:nvSpPr>
        <p:spPr>
          <a:xfrm>
            <a:off x="1136128" y="1556792"/>
            <a:ext cx="7828360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" altLang="zh-CN" sz="1600" b="1" dirty="0">
                <a:latin typeface="+mj-ea"/>
                <a:ea typeface="+mj-ea"/>
              </a:rPr>
              <a:t>Router</a:t>
            </a:r>
            <a:r>
              <a:rPr kumimoji="1" lang="en-US" altLang="zh-CN" sz="1600" b="1" dirty="0">
                <a:latin typeface="+mj-ea"/>
                <a:ea typeface="+mj-ea"/>
              </a:rPr>
              <a:t>0</a:t>
            </a:r>
            <a:r>
              <a:rPr kumimoji="1" lang="en" altLang="zh-CN" sz="1600" b="1" dirty="0">
                <a:latin typeface="+mj-ea"/>
                <a:ea typeface="+mj-ea"/>
              </a:rPr>
              <a:t>#</a:t>
            </a:r>
            <a:r>
              <a:rPr kumimoji="1" lang="en" altLang="zh-CN" sz="1600" b="1" dirty="0" err="1">
                <a:latin typeface="+mj-ea"/>
                <a:ea typeface="+mj-ea"/>
              </a:rPr>
              <a:t>sh</a:t>
            </a:r>
            <a:r>
              <a:rPr kumimoji="1" lang="en" altLang="zh-CN" sz="1600" b="1" dirty="0">
                <a:latin typeface="+mj-ea"/>
                <a:ea typeface="+mj-ea"/>
              </a:rPr>
              <a:t> interface s0/2</a:t>
            </a:r>
          </a:p>
          <a:p>
            <a:r>
              <a:rPr kumimoji="1" lang="en" altLang="zh-CN" sz="1600" b="1" dirty="0">
                <a:solidFill>
                  <a:srgbClr val="FF0000"/>
                </a:solidFill>
                <a:latin typeface="+mj-ea"/>
                <a:ea typeface="+mj-ea"/>
              </a:rPr>
              <a:t>Serial0/2</a:t>
            </a:r>
            <a:r>
              <a:rPr kumimoji="1" lang="zh-CN" altLang="en-US" sz="16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kumimoji="1" lang="en" altLang="zh-CN" sz="1600" b="1" dirty="0">
                <a:latin typeface="+mj-ea"/>
                <a:ea typeface="+mj-ea"/>
              </a:rPr>
              <a:t>is</a:t>
            </a:r>
            <a:r>
              <a:rPr kumimoji="1" lang="en" altLang="zh-CN" sz="1600" b="1" dirty="0">
                <a:solidFill>
                  <a:srgbClr val="FF0000"/>
                </a:solidFill>
                <a:latin typeface="+mj-ea"/>
                <a:ea typeface="+mj-ea"/>
              </a:rPr>
              <a:t> up, line protocol </a:t>
            </a:r>
            <a:r>
              <a:rPr kumimoji="1" lang="en" altLang="zh-CN" sz="1600" b="1" dirty="0">
                <a:latin typeface="+mj-ea"/>
                <a:ea typeface="+mj-ea"/>
              </a:rPr>
              <a:t>is</a:t>
            </a:r>
            <a:r>
              <a:rPr kumimoji="1" lang="en" altLang="zh-CN" sz="1600" b="1" dirty="0">
                <a:solidFill>
                  <a:srgbClr val="FF0000"/>
                </a:solidFill>
                <a:latin typeface="+mj-ea"/>
                <a:ea typeface="+mj-ea"/>
              </a:rPr>
              <a:t> up</a:t>
            </a:r>
            <a:r>
              <a:rPr kumimoji="1" lang="en" altLang="zh-CN" sz="1600" b="1" dirty="0">
                <a:latin typeface="+mj-ea"/>
                <a:ea typeface="+mj-ea"/>
              </a:rPr>
              <a:t> 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Mode=</a:t>
            </a:r>
            <a:r>
              <a:rPr kumimoji="1" lang="en" altLang="zh-CN" sz="1600" b="1" dirty="0" err="1">
                <a:latin typeface="+mj-ea"/>
                <a:ea typeface="+mj-ea"/>
              </a:rPr>
              <a:t>Sync_DCE_Speed</a:t>
            </a:r>
            <a:r>
              <a:rPr kumimoji="1" lang="en" altLang="zh-CN" sz="1600" b="1" dirty="0">
                <a:latin typeface="+mj-ea"/>
                <a:ea typeface="+mj-ea"/>
              </a:rPr>
              <a:t>=64000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DTR=UP, DSR=UP, RTS=UP, CTS=UP, DCD=UP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MTU 1500 bytes, BW 64 kbit, DLY 2000 </a:t>
            </a:r>
            <a:r>
              <a:rPr kumimoji="1" lang="en" altLang="zh-CN" sz="1600" b="1" dirty="0" err="1">
                <a:latin typeface="+mj-ea"/>
                <a:ea typeface="+mj-ea"/>
              </a:rPr>
              <a:t>usec</a:t>
            </a:r>
            <a:r>
              <a:rPr kumimoji="1" lang="en" altLang="zh-CN" sz="1600" b="1" dirty="0">
                <a:latin typeface="+mj-ea"/>
                <a:ea typeface="+mj-ea"/>
              </a:rPr>
              <a:t> 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Interface address is 192.168.0.</a:t>
            </a:r>
            <a:r>
              <a:rPr kumimoji="1" lang="en-US" altLang="zh-CN" sz="1600" b="1" dirty="0">
                <a:latin typeface="+mj-ea"/>
                <a:ea typeface="+mj-ea"/>
              </a:rPr>
              <a:t>1</a:t>
            </a:r>
            <a:r>
              <a:rPr kumimoji="1" lang="en" altLang="zh-CN" sz="1600" b="1" dirty="0">
                <a:latin typeface="+mj-ea"/>
                <a:ea typeface="+mj-ea"/>
              </a:rPr>
              <a:t>/24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Encapsulation PPP, loopback not set 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Keepalive set (10 sec) 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LCP Opened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IPCP Opened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     local IP address: 192.168.</a:t>
            </a:r>
            <a:r>
              <a:rPr kumimoji="1" lang="en-US" altLang="zh-CN" sz="1600" b="1" dirty="0">
                <a:latin typeface="+mj-ea"/>
                <a:ea typeface="+mj-ea"/>
              </a:rPr>
              <a:t>0</a:t>
            </a:r>
            <a:r>
              <a:rPr kumimoji="1" lang="en" altLang="zh-CN" sz="1600" b="1" dirty="0">
                <a:latin typeface="+mj-ea"/>
                <a:ea typeface="+mj-ea"/>
              </a:rPr>
              <a:t>.</a:t>
            </a:r>
            <a:r>
              <a:rPr kumimoji="1" lang="en-US" altLang="zh-CN" sz="1600" b="1" dirty="0">
                <a:latin typeface="+mj-ea"/>
                <a:ea typeface="+mj-ea"/>
              </a:rPr>
              <a:t>1</a:t>
            </a:r>
            <a:r>
              <a:rPr kumimoji="1" lang="en" altLang="zh-CN" sz="1600" b="1" dirty="0">
                <a:latin typeface="+mj-ea"/>
                <a:ea typeface="+mj-ea"/>
              </a:rPr>
              <a:t> remote IP address: 192.168.168.0.101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60 second input rate 44 bits/sec, 0 packets/sec!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60 second output rate 44 bits/sec, 0 packets/sec!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  414 packets input, 13475 bytes, 8 unused_rx, 0 no buffer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  0 input errors, O CRC, O frame, O overrun, 0 ignored, 0 </a:t>
            </a:r>
            <a:r>
              <a:rPr kumimoji="1" lang="en" altLang="zh-CN" sz="1600" b="1" dirty="0" err="1">
                <a:latin typeface="+mj-ea"/>
                <a:ea typeface="+mj-ea"/>
              </a:rPr>
              <a:t>abor</a:t>
            </a:r>
            <a:endParaRPr kumimoji="1" lang="en" altLang="zh-CN" sz="1600" b="1" dirty="0">
              <a:latin typeface="+mj-ea"/>
              <a:ea typeface="+mj-ea"/>
            </a:endParaRPr>
          </a:p>
          <a:p>
            <a:r>
              <a:rPr kumimoji="1" lang="en" altLang="zh-CN" sz="1600" b="1" dirty="0">
                <a:latin typeface="+mj-ea"/>
                <a:ea typeface="+mj-ea"/>
              </a:rPr>
              <a:t>    414 packets output, 13583 bytes. 8 </a:t>
            </a:r>
            <a:r>
              <a:rPr kumimoji="1" lang="en" altLang="zh-CN" sz="1600" b="1" dirty="0" err="1">
                <a:latin typeface="+mj-ea"/>
                <a:ea typeface="+mj-ea"/>
              </a:rPr>
              <a:t>unused_tx</a:t>
            </a:r>
            <a:r>
              <a:rPr kumimoji="1" lang="en" altLang="zh-CN" sz="1600" b="1" dirty="0">
                <a:latin typeface="+mj-ea"/>
                <a:ea typeface="+mj-ea"/>
              </a:rPr>
              <a:t>. 0 underruns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error: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  0 clock, 0 grace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</a:t>
            </a:r>
            <a:r>
              <a:rPr kumimoji="1" lang="en" altLang="zh-CN" sz="1600" b="1" dirty="0" err="1">
                <a:latin typeface="+mj-ea"/>
                <a:ea typeface="+mj-ea"/>
              </a:rPr>
              <a:t>PowerQUICC</a:t>
            </a:r>
            <a:r>
              <a:rPr kumimoji="1" lang="en" altLang="zh-CN" sz="1600" b="1" dirty="0">
                <a:latin typeface="+mj-ea"/>
                <a:ea typeface="+mj-ea"/>
              </a:rPr>
              <a:t> SCC specific errors: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  0 </a:t>
            </a:r>
            <a:r>
              <a:rPr kumimoji="1" lang="en" altLang="zh-CN" sz="1600" b="1" dirty="0" err="1">
                <a:latin typeface="+mj-ea"/>
                <a:ea typeface="+mj-ea"/>
              </a:rPr>
              <a:t>recv</a:t>
            </a:r>
            <a:r>
              <a:rPr kumimoji="1" lang="en" altLang="zh-CN" sz="1600" b="1" dirty="0">
                <a:latin typeface="+mj-ea"/>
                <a:ea typeface="+mj-ea"/>
              </a:rPr>
              <a:t> </a:t>
            </a:r>
            <a:r>
              <a:rPr kumimoji="1" lang="en" altLang="zh-CN" sz="1600" b="1" dirty="0" err="1">
                <a:latin typeface="+mj-ea"/>
                <a:ea typeface="+mj-ea"/>
              </a:rPr>
              <a:t>allocb</a:t>
            </a:r>
            <a:r>
              <a:rPr kumimoji="1" lang="en" altLang="zh-CN" sz="1600" b="1" dirty="0">
                <a:latin typeface="+mj-ea"/>
                <a:ea typeface="+mj-ea"/>
              </a:rPr>
              <a:t> </a:t>
            </a:r>
            <a:r>
              <a:rPr kumimoji="1" lang="en" altLang="zh-CN" sz="1600" b="1" dirty="0" err="1">
                <a:latin typeface="+mj-ea"/>
                <a:ea typeface="+mj-ea"/>
              </a:rPr>
              <a:t>mblk</a:t>
            </a:r>
            <a:r>
              <a:rPr kumimoji="1" lang="en" altLang="zh-CN" sz="1600" b="1" dirty="0">
                <a:latin typeface="+mj-ea"/>
                <a:ea typeface="+mj-ea"/>
              </a:rPr>
              <a:t> fail   0 </a:t>
            </a:r>
            <a:r>
              <a:rPr kumimoji="1" lang="en" altLang="zh-CN" sz="1600" b="1" dirty="0" err="1">
                <a:latin typeface="+mj-ea"/>
                <a:ea typeface="+mj-ea"/>
              </a:rPr>
              <a:t>recv</a:t>
            </a:r>
            <a:r>
              <a:rPr kumimoji="1" lang="en" altLang="zh-CN" sz="1600" b="1" dirty="0">
                <a:latin typeface="+mj-ea"/>
                <a:ea typeface="+mj-ea"/>
              </a:rPr>
              <a:t> no buffer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  0 transmitter queue full  0 transmitter </a:t>
            </a:r>
            <a:r>
              <a:rPr kumimoji="1" lang="en" altLang="zh-CN" sz="1600" b="1" dirty="0" err="1">
                <a:latin typeface="+mj-ea"/>
                <a:ea typeface="+mj-ea"/>
              </a:rPr>
              <a:t>hwqueue_full</a:t>
            </a:r>
            <a:endParaRPr kumimoji="1" lang="en" altLang="zh-CN" sz="16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76065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248422B1-1BFA-E046-B33A-2E3B13682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Router0</a:t>
            </a:r>
            <a:r>
              <a:rPr kumimoji="1"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上配置静态路由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8C3864BC-EF23-247D-4AEF-721BBE7DD43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11188" y="1341438"/>
            <a:ext cx="8075612" cy="4895850"/>
          </a:xfrm>
        </p:spPr>
        <p:txBody>
          <a:bodyPr/>
          <a:lstStyle/>
          <a:p>
            <a:pPr marL="457200" lvl="1" indent="0">
              <a:buNone/>
            </a:pPr>
            <a:r>
              <a:rPr kumimoji="1" lang="en-US" altLang="zh-CN" sz="2000" b="1" dirty="0">
                <a:latin typeface="+mj-ea"/>
                <a:ea typeface="+mj-ea"/>
              </a:rPr>
              <a:t>//</a:t>
            </a:r>
            <a:r>
              <a:rPr kumimoji="1" lang="zh-CN" altLang="en-US" sz="2000" b="1" dirty="0">
                <a:latin typeface="+mj-ea"/>
                <a:ea typeface="+mj-ea"/>
              </a:rPr>
              <a:t> 显示</a:t>
            </a:r>
            <a:r>
              <a:rPr kumimoji="1" lang="en-US" altLang="zh-CN" sz="2000" b="1" dirty="0">
                <a:latin typeface="+mj-ea"/>
                <a:ea typeface="+mj-ea"/>
              </a:rPr>
              <a:t>Router0</a:t>
            </a:r>
            <a:r>
              <a:rPr kumimoji="1" lang="zh-CN" altLang="en-US" sz="2000" b="1" dirty="0">
                <a:latin typeface="+mj-ea"/>
                <a:ea typeface="+mj-ea"/>
              </a:rPr>
              <a:t>路由表信息</a:t>
            </a:r>
            <a:endParaRPr kumimoji="1" lang="en-US" altLang="zh-CN" sz="2000" b="1" dirty="0">
              <a:latin typeface="+mj-ea"/>
              <a:ea typeface="+mj-ea"/>
            </a:endParaRPr>
          </a:p>
          <a:p>
            <a:pPr marL="457200" lvl="1" indent="0">
              <a:buNone/>
            </a:pPr>
            <a:endParaRPr kumimoji="1" lang="zh-CN" altLang="en-US" sz="2000" b="1" dirty="0">
              <a:latin typeface="+mj-ea"/>
              <a:ea typeface="+mj-ea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5552EF46-9844-987E-1320-E8CA921267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801D8-2272-4EF8-BB2F-7D90CA5D8A33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658121CE-7D77-C4C5-A5B4-B5B91E069927}"/>
              </a:ext>
            </a:extLst>
          </p:cNvPr>
          <p:cNvSpPr txBox="1"/>
          <p:nvPr/>
        </p:nvSpPr>
        <p:spPr>
          <a:xfrm>
            <a:off x="992112" y="1844824"/>
            <a:ext cx="7828360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" altLang="zh-CN" sz="1600" b="1" dirty="0">
                <a:latin typeface="+mj-ea"/>
                <a:ea typeface="+mj-ea"/>
              </a:rPr>
              <a:t>Router</a:t>
            </a:r>
            <a:r>
              <a:rPr kumimoji="1" lang="en-US" altLang="zh-CN" sz="1600" b="1" dirty="0">
                <a:latin typeface="+mj-ea"/>
                <a:ea typeface="+mj-ea"/>
              </a:rPr>
              <a:t>0</a:t>
            </a:r>
            <a:r>
              <a:rPr kumimoji="1" lang="en" altLang="zh-CN" sz="1600" b="1" dirty="0">
                <a:latin typeface="+mj-ea"/>
                <a:ea typeface="+mj-ea"/>
              </a:rPr>
              <a:t>#</a:t>
            </a:r>
            <a:r>
              <a:rPr kumimoji="1" lang="en" altLang="zh-CN" sz="1600" b="1" dirty="0" err="1">
                <a:latin typeface="+mj-ea"/>
                <a:ea typeface="+mj-ea"/>
              </a:rPr>
              <a:t>sh</a:t>
            </a:r>
            <a:r>
              <a:rPr kumimoji="1" lang="en" altLang="zh-CN" sz="1600" b="1" dirty="0">
                <a:latin typeface="+mj-ea"/>
                <a:ea typeface="+mj-ea"/>
              </a:rPr>
              <a:t> </a:t>
            </a:r>
            <a:r>
              <a:rPr kumimoji="1" lang="en" altLang="zh-CN" sz="1600" b="1" dirty="0" err="1">
                <a:latin typeface="+mj-ea"/>
                <a:ea typeface="+mj-ea"/>
              </a:rPr>
              <a:t>ip</a:t>
            </a:r>
            <a:r>
              <a:rPr kumimoji="1" lang="en" altLang="zh-CN" sz="1600" b="1" dirty="0">
                <a:latin typeface="+mj-ea"/>
                <a:ea typeface="+mj-ea"/>
              </a:rPr>
              <a:t> route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Codes: C - connected, S - static. R - RIP, B - BGP. BC - BGP connected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     D - DEIGRP, DEX - external DEIGRP, O - OSPF, OIA - OSPF inter area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     ON1 - OSPF NSSA external type 1, ON2 - OSPF NSSA external type 2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     0E1 - OSPF external type 1, 0E2 - OSPF external type 2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       DHCP - DHCP type, L1 - IS-IS level-1, L2 - IS-IS level-2</a:t>
            </a:r>
          </a:p>
          <a:p>
            <a:endParaRPr kumimoji="1" lang="en" altLang="zh-CN" sz="1600" b="1" dirty="0">
              <a:latin typeface="+mj-ea"/>
              <a:ea typeface="+mj-ea"/>
            </a:endParaRPr>
          </a:p>
          <a:p>
            <a:r>
              <a:rPr kumimoji="1" lang="en" altLang="zh-CN" sz="1600" b="1" dirty="0">
                <a:latin typeface="+mj-ea"/>
                <a:ea typeface="+mj-ea"/>
              </a:rPr>
              <a:t>VRF ID: 0</a:t>
            </a:r>
          </a:p>
          <a:p>
            <a:endParaRPr kumimoji="1" lang="en" altLang="zh-CN" sz="1600" b="1" dirty="0">
              <a:latin typeface="+mj-ea"/>
              <a:ea typeface="+mj-ea"/>
            </a:endParaRPr>
          </a:p>
          <a:p>
            <a:r>
              <a:rPr kumimoji="1" lang="en" altLang="zh-CN" sz="1600" b="1" dirty="0">
                <a:solidFill>
                  <a:srgbClr val="FF0000"/>
                </a:solidFill>
                <a:latin typeface="+mj-ea"/>
                <a:ea typeface="+mj-ea"/>
              </a:rPr>
              <a:t>C      192.168.1.0/24     is directly connected, FastEthernet0/0</a:t>
            </a:r>
          </a:p>
          <a:p>
            <a:r>
              <a:rPr kumimoji="1" lang="en" altLang="zh-CN" sz="1600" b="1" dirty="0">
                <a:solidFill>
                  <a:srgbClr val="FF0000"/>
                </a:solidFill>
                <a:latin typeface="+mj-ea"/>
                <a:ea typeface="+mj-ea"/>
              </a:rPr>
              <a:t>S      192.168.101.0/24   [1,0] via 192.168.0.101 (on Serial0/2)</a:t>
            </a:r>
          </a:p>
          <a:p>
            <a:r>
              <a:rPr kumimoji="1" lang="en" altLang="zh-CN" sz="1600" b="1" dirty="0">
                <a:solidFill>
                  <a:srgbClr val="FF0000"/>
                </a:solidFill>
                <a:latin typeface="+mj-ea"/>
                <a:ea typeface="+mj-ea"/>
              </a:rPr>
              <a:t>C      192.168.0.0/24     is directly </a:t>
            </a:r>
            <a:r>
              <a:rPr kumimoji="1" lang="en" altLang="zh-CN" sz="1600" b="1" dirty="0" err="1">
                <a:solidFill>
                  <a:srgbClr val="FF0000"/>
                </a:solidFill>
                <a:latin typeface="+mj-ea"/>
                <a:ea typeface="+mj-ea"/>
              </a:rPr>
              <a:t>contected</a:t>
            </a:r>
            <a:r>
              <a:rPr kumimoji="1" lang="en" altLang="zh-CN" sz="1600" b="1" dirty="0">
                <a:solidFill>
                  <a:srgbClr val="FF0000"/>
                </a:solidFill>
                <a:latin typeface="+mj-ea"/>
                <a:ea typeface="+mj-ea"/>
              </a:rPr>
              <a:t>, Serial0/2</a:t>
            </a:r>
          </a:p>
          <a:p>
            <a:r>
              <a:rPr kumimoji="1" lang="en" altLang="zh-CN" sz="1600" b="1" dirty="0">
                <a:solidFill>
                  <a:srgbClr val="FF0000"/>
                </a:solidFill>
                <a:latin typeface="+mj-ea"/>
                <a:ea typeface="+mj-ea"/>
              </a:rPr>
              <a:t>C      192.168.0.2/32     is directly </a:t>
            </a:r>
            <a:r>
              <a:rPr kumimoji="1" lang="en" altLang="zh-CN" sz="1600" b="1" dirty="0" err="1">
                <a:solidFill>
                  <a:srgbClr val="FF0000"/>
                </a:solidFill>
                <a:latin typeface="+mj-ea"/>
                <a:ea typeface="+mj-ea"/>
              </a:rPr>
              <a:t>contected</a:t>
            </a:r>
            <a:r>
              <a:rPr kumimoji="1" lang="en" altLang="zh-CN" sz="1600" b="1" dirty="0">
                <a:solidFill>
                  <a:srgbClr val="FF0000"/>
                </a:solidFill>
                <a:latin typeface="+mj-ea"/>
                <a:ea typeface="+mj-ea"/>
              </a:rPr>
              <a:t>, Serial0/2 </a:t>
            </a:r>
          </a:p>
          <a:p>
            <a:r>
              <a:rPr kumimoji="1" lang="en" altLang="zh-CN" sz="1600" b="1" dirty="0">
                <a:latin typeface="+mj-ea"/>
                <a:ea typeface="+mj-ea"/>
              </a:rPr>
              <a:t>Router</a:t>
            </a:r>
            <a:r>
              <a:rPr kumimoji="1" lang="en-US" altLang="zh-CN" sz="1600" b="1" dirty="0">
                <a:latin typeface="+mj-ea"/>
                <a:ea typeface="+mj-ea"/>
              </a:rPr>
              <a:t>0</a:t>
            </a:r>
            <a:r>
              <a:rPr kumimoji="1" lang="en" altLang="zh-CN" sz="1600" b="1" dirty="0">
                <a:latin typeface="+mj-ea"/>
                <a:ea typeface="+mj-ea"/>
              </a:rPr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7018135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8539C41-1AA3-0E4B-7115-8C24F9D6A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Router1</a:t>
            </a:r>
            <a:r>
              <a:rPr kumimoji="1"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上配置静态路由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9C47A4F1-DBE9-5C3A-C1F5-4873C1B8294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539552" y="1412776"/>
            <a:ext cx="8136904" cy="5112568"/>
          </a:xfrm>
        </p:spPr>
        <p:txBody>
          <a:bodyPr>
            <a:normAutofit fontScale="25000" lnSpcReduction="20000"/>
          </a:bodyPr>
          <a:lstStyle/>
          <a:p>
            <a:r>
              <a:rPr lang="en" altLang="zh-CN" sz="9600" b="1" kern="100" dirty="0">
                <a:effectLst/>
                <a:latin typeface="+mj-ea"/>
                <a:ea typeface="+mj-ea"/>
              </a:rPr>
              <a:t>Router1</a:t>
            </a:r>
            <a:r>
              <a:rPr lang="zh-CN" altLang="en-US" sz="9600" b="1" kern="100" dirty="0">
                <a:effectLst/>
                <a:latin typeface="+mj-ea"/>
                <a:ea typeface="+mj-ea"/>
              </a:rPr>
              <a:t>上配置静态路由</a:t>
            </a:r>
          </a:p>
          <a:p>
            <a:pPr marL="342900" lvl="1" indent="0">
              <a:buNone/>
            </a:pPr>
            <a:r>
              <a:rPr lang="en" altLang="zh-CN" sz="8000" b="1" kern="100" dirty="0">
                <a:effectLst/>
                <a:latin typeface="+mj-ea"/>
                <a:ea typeface="+mj-ea"/>
              </a:rPr>
              <a:t>Router&gt;</a:t>
            </a:r>
          </a:p>
          <a:p>
            <a:pPr marL="342900" lvl="1" indent="0">
              <a:buNone/>
            </a:pPr>
            <a:r>
              <a:rPr lang="en" altLang="zh-CN" sz="8000" b="1" kern="100" dirty="0">
                <a:effectLst/>
                <a:latin typeface="+mj-ea"/>
                <a:ea typeface="+mj-ea"/>
              </a:rPr>
              <a:t>Router&gt;enable</a:t>
            </a:r>
          </a:p>
          <a:p>
            <a:pPr marL="342900" lvl="1" indent="0">
              <a:buNone/>
            </a:pPr>
            <a:r>
              <a:rPr lang="en" altLang="zh-CN" sz="8000" b="1" kern="100" dirty="0" err="1">
                <a:effectLst/>
                <a:latin typeface="+mj-ea"/>
                <a:ea typeface="+mj-ea"/>
              </a:rPr>
              <a:t>Router#config</a:t>
            </a:r>
            <a:endParaRPr lang="en" altLang="zh-CN" sz="8000" b="1" kern="100" dirty="0">
              <a:effectLst/>
              <a:latin typeface="+mj-ea"/>
              <a:ea typeface="+mj-ea"/>
            </a:endParaRPr>
          </a:p>
          <a:p>
            <a:pPr marL="342900" lvl="1" indent="0">
              <a:buNone/>
            </a:pPr>
            <a:r>
              <a:rPr lang="en" altLang="zh-CN" sz="8000" b="1" kern="100" dirty="0">
                <a:effectLst/>
                <a:latin typeface="+mj-ea"/>
                <a:ea typeface="+mj-ea"/>
              </a:rPr>
              <a:t>Router</a:t>
            </a:r>
            <a:r>
              <a:rPr lang="en-US" altLang="zh-CN" sz="8000" b="1" kern="100" dirty="0">
                <a:latin typeface="+mj-ea"/>
                <a:ea typeface="+mj-ea"/>
              </a:rPr>
              <a:t>_</a:t>
            </a:r>
            <a:r>
              <a:rPr lang="en" altLang="zh-CN" sz="8000" b="1" kern="100" dirty="0" err="1">
                <a:effectLst/>
                <a:latin typeface="+mj-ea"/>
                <a:ea typeface="+mj-ea"/>
              </a:rPr>
              <a:t>config#hostname</a:t>
            </a:r>
            <a:r>
              <a:rPr lang="en" altLang="zh-CN" sz="8000" b="1" kern="100" dirty="0">
                <a:effectLst/>
                <a:latin typeface="+mj-ea"/>
                <a:ea typeface="+mj-ea"/>
              </a:rPr>
              <a:t> Router1</a:t>
            </a:r>
          </a:p>
          <a:p>
            <a:pPr marL="342900" lvl="1" indent="0">
              <a:buNone/>
            </a:pPr>
            <a:r>
              <a:rPr lang="en" altLang="zh-CN" sz="8000" b="1" kern="100" dirty="0">
                <a:effectLst/>
                <a:latin typeface="+mj-ea"/>
                <a:ea typeface="+mj-ea"/>
              </a:rPr>
              <a:t>// </a:t>
            </a:r>
            <a:r>
              <a:rPr lang="zh-CN" altLang="en-US" sz="8000" b="1" kern="100" dirty="0">
                <a:effectLst/>
                <a:latin typeface="+mj-ea"/>
                <a:ea typeface="+mj-ea"/>
              </a:rPr>
              <a:t>配置路由器</a:t>
            </a:r>
            <a:r>
              <a:rPr lang="en" altLang="zh-CN" sz="8000" b="1" kern="100" dirty="0">
                <a:effectLst/>
                <a:latin typeface="+mj-ea"/>
                <a:ea typeface="+mj-ea"/>
              </a:rPr>
              <a:t>f0/</a:t>
            </a:r>
            <a:r>
              <a:rPr lang="en-US" altLang="zh-CN" sz="8000" b="1" kern="100" dirty="0">
                <a:effectLst/>
                <a:latin typeface="+mj-ea"/>
                <a:ea typeface="+mj-ea"/>
              </a:rPr>
              <a:t>0</a:t>
            </a:r>
            <a:r>
              <a:rPr lang="zh-CN" altLang="en" sz="8000" b="1" kern="100" dirty="0">
                <a:effectLst/>
                <a:latin typeface="+mj-ea"/>
                <a:ea typeface="+mj-ea"/>
              </a:rPr>
              <a:t>快速</a:t>
            </a:r>
            <a:r>
              <a:rPr lang="zh-CN" altLang="en-US" sz="8000" b="1" kern="100" dirty="0">
                <a:effectLst/>
                <a:latin typeface="+mj-ea"/>
                <a:ea typeface="+mj-ea"/>
              </a:rPr>
              <a:t>以太网接口</a:t>
            </a:r>
            <a:r>
              <a:rPr lang="en-US" altLang="zh-CN" sz="8000" b="1" kern="100" dirty="0">
                <a:effectLst/>
                <a:latin typeface="+mj-ea"/>
                <a:ea typeface="+mj-ea"/>
              </a:rPr>
              <a:t>(</a:t>
            </a:r>
            <a:r>
              <a:rPr lang="zh-CN" altLang="en-US" sz="8000" b="1" kern="100" dirty="0">
                <a:effectLst/>
                <a:latin typeface="+mj-ea"/>
                <a:ea typeface="+mj-ea"/>
              </a:rPr>
              <a:t>连到</a:t>
            </a:r>
            <a:r>
              <a:rPr lang="zh-CN" altLang="en-US" sz="8000" b="1" kern="100" dirty="0">
                <a:latin typeface="+mj-ea"/>
                <a:ea typeface="+mj-ea"/>
              </a:rPr>
              <a:t>配线架</a:t>
            </a:r>
            <a:r>
              <a:rPr lang="en-US" altLang="zh-CN" sz="8000" b="1" kern="100" dirty="0">
                <a:effectLst/>
                <a:latin typeface="+mj-ea"/>
                <a:ea typeface="+mj-ea"/>
              </a:rPr>
              <a:t>TP0)</a:t>
            </a:r>
          </a:p>
          <a:p>
            <a:pPr marL="342900" lvl="1" indent="0">
              <a:buNone/>
            </a:pPr>
            <a:r>
              <a:rPr lang="en" altLang="zh-CN" sz="8000" b="1" kern="100" dirty="0">
                <a:effectLst/>
                <a:latin typeface="+mj-ea"/>
                <a:ea typeface="+mj-ea"/>
              </a:rPr>
              <a:t>Router1</a:t>
            </a:r>
            <a:r>
              <a:rPr lang="en-US" altLang="zh-CN" sz="8000" b="1" kern="100" dirty="0">
                <a:latin typeface="+mj-ea"/>
                <a:ea typeface="+mj-ea"/>
              </a:rPr>
              <a:t>_</a:t>
            </a:r>
            <a:r>
              <a:rPr lang="en" altLang="zh-CN" sz="8000" b="1" kern="100" dirty="0" err="1">
                <a:effectLst/>
                <a:latin typeface="+mj-ea"/>
                <a:ea typeface="+mj-ea"/>
              </a:rPr>
              <a:t>config#interface</a:t>
            </a:r>
            <a:r>
              <a:rPr lang="en" altLang="zh-CN" sz="8000" b="1" kern="100" dirty="0">
                <a:effectLst/>
                <a:latin typeface="+mj-ea"/>
                <a:ea typeface="+mj-ea"/>
              </a:rPr>
              <a:t> </a:t>
            </a:r>
            <a:r>
              <a:rPr lang="en" altLang="zh-CN" sz="8000" b="1" kern="100" dirty="0">
                <a:solidFill>
                  <a:srgbClr val="FF0000"/>
                </a:solidFill>
                <a:effectLst/>
                <a:latin typeface="+mj-ea"/>
                <a:ea typeface="+mj-ea"/>
              </a:rPr>
              <a:t>f</a:t>
            </a:r>
            <a:r>
              <a:rPr lang="en-US" altLang="zh-CN" sz="8000" b="1" kern="100" dirty="0">
                <a:solidFill>
                  <a:srgbClr val="FF0000"/>
                </a:solidFill>
                <a:effectLst/>
                <a:latin typeface="+mj-ea"/>
                <a:ea typeface="+mj-ea"/>
              </a:rPr>
              <a:t>0</a:t>
            </a:r>
            <a:r>
              <a:rPr lang="en" altLang="zh-CN" sz="8000" b="1" kern="100" dirty="0">
                <a:solidFill>
                  <a:srgbClr val="FF0000"/>
                </a:solidFill>
                <a:effectLst/>
                <a:latin typeface="+mj-ea"/>
                <a:ea typeface="+mj-ea"/>
              </a:rPr>
              <a:t>/</a:t>
            </a:r>
            <a:r>
              <a:rPr lang="en-US" altLang="zh-CN" sz="8000" b="1" kern="100" dirty="0">
                <a:solidFill>
                  <a:srgbClr val="FF0000"/>
                </a:solidFill>
                <a:latin typeface="+mj-ea"/>
                <a:ea typeface="+mj-ea"/>
              </a:rPr>
              <a:t>0</a:t>
            </a:r>
            <a:endParaRPr lang="en" altLang="zh-CN" sz="8000" b="1" kern="100" dirty="0">
              <a:solidFill>
                <a:srgbClr val="FF0000"/>
              </a:solidFill>
              <a:effectLst/>
              <a:latin typeface="+mj-ea"/>
              <a:ea typeface="+mj-ea"/>
            </a:endParaRPr>
          </a:p>
          <a:p>
            <a:pPr marL="342900" lvl="1" indent="0">
              <a:buNone/>
            </a:pPr>
            <a:r>
              <a:rPr lang="en" altLang="zh-CN" sz="8000" b="1" kern="100" dirty="0">
                <a:effectLst/>
                <a:latin typeface="+mj-ea"/>
                <a:ea typeface="+mj-ea"/>
              </a:rPr>
              <a:t>// </a:t>
            </a:r>
            <a:r>
              <a:rPr lang="zh-CN" altLang="en-US" sz="8000" b="1" kern="100" dirty="0">
                <a:effectLst/>
                <a:latin typeface="+mj-ea"/>
                <a:ea typeface="+mj-ea"/>
              </a:rPr>
              <a:t>配置</a:t>
            </a:r>
            <a:r>
              <a:rPr lang="en" altLang="zh-CN" sz="8000" b="1" kern="100" dirty="0">
                <a:effectLst/>
                <a:latin typeface="+mj-ea"/>
                <a:ea typeface="+mj-ea"/>
              </a:rPr>
              <a:t>f0/</a:t>
            </a:r>
            <a:r>
              <a:rPr lang="en-US" altLang="zh-CN" sz="8000" b="1" kern="100" dirty="0">
                <a:effectLst/>
                <a:latin typeface="+mj-ea"/>
                <a:ea typeface="+mj-ea"/>
              </a:rPr>
              <a:t>0</a:t>
            </a:r>
            <a:r>
              <a:rPr lang="zh-CN" altLang="en-US" sz="8000" b="1" kern="100" dirty="0">
                <a:effectLst/>
                <a:latin typeface="+mj-ea"/>
                <a:ea typeface="+mj-ea"/>
              </a:rPr>
              <a:t>接口的</a:t>
            </a:r>
            <a:r>
              <a:rPr lang="en-US" altLang="zh-CN" sz="8000" b="1" kern="100" dirty="0">
                <a:effectLst/>
                <a:latin typeface="+mj-ea"/>
                <a:ea typeface="+mj-ea"/>
              </a:rPr>
              <a:t>IP</a:t>
            </a:r>
            <a:r>
              <a:rPr lang="zh-CN" altLang="en-US" sz="8000" b="1" kern="100" dirty="0">
                <a:effectLst/>
                <a:latin typeface="+mj-ea"/>
                <a:ea typeface="+mj-ea"/>
              </a:rPr>
              <a:t>和子网掩码</a:t>
            </a:r>
            <a:endParaRPr lang="en-US" altLang="zh-CN" sz="8000" b="1" kern="100" dirty="0">
              <a:effectLst/>
              <a:latin typeface="+mj-ea"/>
              <a:ea typeface="+mj-ea"/>
            </a:endParaRPr>
          </a:p>
          <a:p>
            <a:pPr marL="342900" lvl="1" indent="0">
              <a:buNone/>
            </a:pPr>
            <a:r>
              <a:rPr lang="en" altLang="zh-CN" sz="8000" b="1" kern="100" dirty="0">
                <a:effectLst/>
                <a:latin typeface="+mj-ea"/>
                <a:ea typeface="+mj-ea"/>
              </a:rPr>
              <a:t>Router1_config_f</a:t>
            </a:r>
            <a:r>
              <a:rPr lang="en" altLang="zh-CN" sz="8000" b="1" kern="100" dirty="0">
                <a:latin typeface="+mj-ea"/>
                <a:ea typeface="+mj-ea"/>
              </a:rPr>
              <a:t>0/0</a:t>
            </a:r>
            <a:r>
              <a:rPr lang="en" altLang="zh-CN" sz="8000" b="1" kern="100" dirty="0">
                <a:effectLst/>
                <a:latin typeface="+mj-ea"/>
                <a:ea typeface="+mj-ea"/>
              </a:rPr>
              <a:t>#ip address </a:t>
            </a:r>
            <a:r>
              <a:rPr lang="en" altLang="zh-CN" sz="8000" b="1" kern="100" dirty="0">
                <a:solidFill>
                  <a:srgbClr val="FF0000"/>
                </a:solidFill>
                <a:effectLst/>
                <a:latin typeface="+mj-ea"/>
                <a:ea typeface="+mj-ea"/>
              </a:rPr>
              <a:t>192.168.101.1</a:t>
            </a:r>
            <a:r>
              <a:rPr lang="en" altLang="zh-CN" sz="8000" b="1" kern="100" dirty="0">
                <a:effectLst/>
                <a:latin typeface="+mj-ea"/>
                <a:ea typeface="+mj-ea"/>
              </a:rPr>
              <a:t> </a:t>
            </a:r>
            <a:r>
              <a:rPr lang="en" altLang="zh-CN" sz="8000" b="1" kern="100" dirty="0">
                <a:solidFill>
                  <a:srgbClr val="FF0000"/>
                </a:solidFill>
                <a:effectLst/>
                <a:latin typeface="+mj-ea"/>
                <a:ea typeface="+mj-ea"/>
              </a:rPr>
              <a:t>255.255.255.0</a:t>
            </a:r>
          </a:p>
          <a:p>
            <a:pPr marL="342900" lvl="1" indent="0">
              <a:buNone/>
            </a:pPr>
            <a:r>
              <a:rPr lang="en" altLang="zh-CN" sz="8000" b="1" kern="100" dirty="0">
                <a:effectLst/>
                <a:latin typeface="+mj-ea"/>
                <a:ea typeface="+mj-ea"/>
              </a:rPr>
              <a:t>// </a:t>
            </a:r>
            <a:r>
              <a:rPr lang="zh-CN" altLang="en-US" sz="8000" b="1" kern="100" dirty="0">
                <a:effectLst/>
                <a:latin typeface="+mj-ea"/>
                <a:ea typeface="+mj-ea"/>
              </a:rPr>
              <a:t>激活接口</a:t>
            </a:r>
            <a:endParaRPr lang="en-US" altLang="zh-CN" sz="8000" b="1" kern="100" dirty="0">
              <a:effectLst/>
              <a:latin typeface="+mj-ea"/>
              <a:ea typeface="+mj-ea"/>
            </a:endParaRPr>
          </a:p>
          <a:p>
            <a:pPr marL="342900" lvl="1" indent="0">
              <a:buNone/>
            </a:pPr>
            <a:r>
              <a:rPr lang="en" altLang="zh-CN" sz="8000" b="1" kern="100" dirty="0">
                <a:effectLst/>
                <a:latin typeface="+mj-ea"/>
                <a:ea typeface="+mj-ea"/>
              </a:rPr>
              <a:t>Router1_config_f</a:t>
            </a:r>
            <a:r>
              <a:rPr lang="en" altLang="zh-CN" sz="8000" b="1" kern="100" dirty="0">
                <a:latin typeface="+mj-ea"/>
                <a:ea typeface="+mj-ea"/>
              </a:rPr>
              <a:t>0/0</a:t>
            </a:r>
            <a:r>
              <a:rPr lang="en" altLang="zh-CN" sz="8000" b="1" kern="100" dirty="0">
                <a:effectLst/>
                <a:latin typeface="+mj-ea"/>
                <a:ea typeface="+mj-ea"/>
              </a:rPr>
              <a:t>#no shutdown</a:t>
            </a:r>
          </a:p>
          <a:p>
            <a:pPr marL="342900" lvl="1" indent="0">
              <a:buNone/>
            </a:pPr>
            <a:r>
              <a:rPr lang="en-US" altLang="zh-CN" sz="8000" b="1" kern="100" dirty="0">
                <a:latin typeface="+mj-ea"/>
                <a:ea typeface="+mj-ea"/>
              </a:rPr>
              <a:t>//</a:t>
            </a:r>
            <a:r>
              <a:rPr lang="zh-CN" altLang="en-US" sz="8000" b="1" kern="100" dirty="0">
                <a:latin typeface="+mj-ea"/>
                <a:ea typeface="+mj-ea"/>
              </a:rPr>
              <a:t> </a:t>
            </a:r>
            <a:r>
              <a:rPr lang="zh-CN" altLang="en" sz="8000" b="1" kern="100" dirty="0">
                <a:latin typeface="+mj-ea"/>
                <a:ea typeface="+mj-ea"/>
              </a:rPr>
              <a:t>退出</a:t>
            </a:r>
            <a:r>
              <a:rPr lang="zh-CN" altLang="en-US" sz="8000" b="1" kern="100" dirty="0">
                <a:latin typeface="+mj-ea"/>
                <a:ea typeface="+mj-ea"/>
              </a:rPr>
              <a:t>接口配置模式</a:t>
            </a:r>
            <a:endParaRPr lang="en" altLang="zh-CN" sz="8000" b="1" kern="100" dirty="0">
              <a:effectLst/>
              <a:latin typeface="+mj-ea"/>
              <a:ea typeface="+mj-ea"/>
            </a:endParaRPr>
          </a:p>
          <a:p>
            <a:pPr marL="342900" lvl="1" indent="0">
              <a:buNone/>
            </a:pPr>
            <a:r>
              <a:rPr lang="en" altLang="zh-CN" sz="8000" b="1" kern="100" dirty="0">
                <a:effectLst/>
                <a:latin typeface="+mj-ea"/>
                <a:ea typeface="+mj-ea"/>
              </a:rPr>
              <a:t>Router1_config_f</a:t>
            </a:r>
            <a:r>
              <a:rPr lang="en" altLang="zh-CN" sz="8000" b="1" kern="100" dirty="0">
                <a:latin typeface="+mj-ea"/>
                <a:ea typeface="+mj-ea"/>
              </a:rPr>
              <a:t>0/0</a:t>
            </a:r>
            <a:r>
              <a:rPr lang="en" altLang="zh-CN" sz="8000" b="1" kern="100" dirty="0">
                <a:effectLst/>
                <a:latin typeface="+mj-ea"/>
                <a:ea typeface="+mj-ea"/>
              </a:rPr>
              <a:t>#exit</a:t>
            </a:r>
          </a:p>
        </p:txBody>
      </p:sp>
    </p:spTree>
    <p:extLst>
      <p:ext uri="{BB962C8B-B14F-4D97-AF65-F5344CB8AC3E}">
        <p14:creationId xmlns:p14="http://schemas.microsoft.com/office/powerpoint/2010/main" val="419314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4AA7A62-7987-0087-37FE-220B0782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Router1</a:t>
            </a:r>
            <a:r>
              <a:rPr kumimoji="1"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上配置静态路由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46949230-B490-9490-905B-43054872F08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1" y="1412776"/>
            <a:ext cx="8486774" cy="4911824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AU" altLang="zh-CN" sz="2000" b="1" dirty="0">
                <a:latin typeface="+mj-ea"/>
                <a:ea typeface="+mj-ea"/>
              </a:rPr>
              <a:t>// </a:t>
            </a:r>
            <a:r>
              <a:rPr lang="zh-CN" altLang="en-AU" sz="2000" b="1" dirty="0">
                <a:latin typeface="+mj-ea"/>
                <a:ea typeface="+mj-ea"/>
              </a:rPr>
              <a:t>配置</a:t>
            </a:r>
            <a:r>
              <a:rPr lang="zh-CN" altLang="en-US" sz="2000" b="1" kern="100" dirty="0">
                <a:effectLst/>
                <a:latin typeface="+mj-ea"/>
                <a:ea typeface="+mj-ea"/>
              </a:rPr>
              <a:t>路由器</a:t>
            </a:r>
            <a:r>
              <a:rPr lang="en-US" altLang="zh-CN" sz="2000" b="1" dirty="0">
                <a:latin typeface="+mj-ea"/>
                <a:ea typeface="+mj-ea"/>
              </a:rPr>
              <a:t>s0/2</a:t>
            </a:r>
            <a:r>
              <a:rPr lang="zh-CN" altLang="en-US" sz="2000" b="1" dirty="0">
                <a:latin typeface="+mj-ea"/>
                <a:ea typeface="+mj-ea"/>
              </a:rPr>
              <a:t>口（或</a:t>
            </a:r>
            <a:r>
              <a:rPr lang="en-US" altLang="zh-CN" sz="2000" b="1" dirty="0">
                <a:latin typeface="+mj-ea"/>
                <a:ea typeface="+mj-ea"/>
              </a:rPr>
              <a:t>s0/1</a:t>
            </a:r>
            <a:r>
              <a:rPr lang="zh-CN" altLang="en-US" sz="2000" b="1" dirty="0">
                <a:latin typeface="+mj-ea"/>
                <a:ea typeface="+mj-ea"/>
              </a:rPr>
              <a:t>）。该口做为串口线</a:t>
            </a:r>
            <a:r>
              <a:rPr lang="en-US" altLang="zh-CN" sz="2000" b="1" dirty="0">
                <a:latin typeface="+mj-ea"/>
                <a:ea typeface="+mj-ea"/>
              </a:rPr>
              <a:t>DTE</a:t>
            </a:r>
            <a:r>
              <a:rPr lang="zh-CN" altLang="en-US" sz="2000" b="1" dirty="0">
                <a:latin typeface="+mj-ea"/>
                <a:ea typeface="+mj-ea"/>
              </a:rPr>
              <a:t>端</a:t>
            </a:r>
            <a:r>
              <a:rPr lang="en-US" altLang="zh-CN" sz="2000" b="1" dirty="0">
                <a:latin typeface="+mj-ea"/>
                <a:ea typeface="+mj-ea"/>
              </a:rPr>
              <a:t>,</a:t>
            </a:r>
            <a:r>
              <a:rPr lang="zh-CN" altLang="en-US" sz="2000" b="1" dirty="0">
                <a:latin typeface="+mj-ea"/>
                <a:ea typeface="+mj-ea"/>
              </a:rPr>
              <a:t>不配时钟</a:t>
            </a:r>
            <a:endParaRPr lang="en-AU" altLang="zh-CN" sz="2000" b="1" dirty="0">
              <a:latin typeface="+mj-ea"/>
              <a:ea typeface="+mj-ea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AU" altLang="zh-CN" sz="2000" b="1" dirty="0">
                <a:latin typeface="+mj-ea"/>
                <a:ea typeface="+mj-ea"/>
              </a:rPr>
              <a:t>Router1_config#interface </a:t>
            </a:r>
            <a:r>
              <a:rPr lang="en-AU" altLang="zh-CN" sz="2000" b="1" dirty="0">
                <a:solidFill>
                  <a:srgbClr val="FF0000"/>
                </a:solidFill>
                <a:latin typeface="+mj-ea"/>
                <a:ea typeface="+mj-ea"/>
              </a:rPr>
              <a:t>s0/2</a:t>
            </a:r>
            <a:endParaRPr lang="en-AU" altLang="zh-CN" sz="2000" dirty="0">
              <a:latin typeface="+mj-ea"/>
              <a:ea typeface="+mj-ea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AU" altLang="zh-CN" sz="2000" b="1" dirty="0">
                <a:latin typeface="+mj-ea"/>
                <a:ea typeface="+mj-ea"/>
              </a:rPr>
              <a:t>Router1_config_s0/2#ip address </a:t>
            </a:r>
            <a:r>
              <a:rPr lang="en-AU" altLang="zh-CN" sz="2000" b="1" dirty="0">
                <a:solidFill>
                  <a:srgbClr val="FF0000"/>
                </a:solidFill>
                <a:latin typeface="+mj-ea"/>
                <a:ea typeface="+mj-ea"/>
              </a:rPr>
              <a:t>192.168.0.101 255.255.255.0</a:t>
            </a:r>
            <a:r>
              <a:rPr lang="en-AU" altLang="zh-CN" sz="2000" b="1" dirty="0">
                <a:latin typeface="+mj-ea"/>
                <a:ea typeface="+mj-ea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b="1" dirty="0">
                <a:latin typeface="+mj-ea"/>
                <a:ea typeface="+mj-ea"/>
              </a:rPr>
              <a:t>//</a:t>
            </a:r>
            <a:r>
              <a:rPr lang="zh-CN" altLang="en-US" sz="2000" b="1" dirty="0">
                <a:latin typeface="+mj-ea"/>
                <a:ea typeface="+mj-ea"/>
              </a:rPr>
              <a:t> </a:t>
            </a:r>
            <a:r>
              <a:rPr lang="zh-CN" altLang="en-AU" sz="2000" b="1" dirty="0">
                <a:latin typeface="+mj-ea"/>
                <a:ea typeface="+mj-ea"/>
              </a:rPr>
              <a:t>定义</a:t>
            </a:r>
            <a:r>
              <a:rPr lang="zh-CN" altLang="en-US" sz="2000" b="1" dirty="0">
                <a:latin typeface="+mj-ea"/>
                <a:ea typeface="+mj-ea"/>
              </a:rPr>
              <a:t>封装类型为</a:t>
            </a:r>
            <a:r>
              <a:rPr lang="en-US" altLang="zh-CN" sz="2000" b="1" dirty="0">
                <a:latin typeface="+mj-ea"/>
                <a:ea typeface="+mj-ea"/>
              </a:rPr>
              <a:t>PPP</a:t>
            </a:r>
            <a:endParaRPr lang="en-AU" altLang="zh-CN" sz="2000" b="1" dirty="0">
              <a:latin typeface="+mj-ea"/>
              <a:ea typeface="+mj-ea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AU" altLang="zh-CN" sz="2000" b="1" dirty="0">
                <a:latin typeface="+mj-ea"/>
                <a:ea typeface="+mj-ea"/>
              </a:rPr>
              <a:t>Router1_config_s0/2#</a:t>
            </a:r>
            <a:r>
              <a:rPr lang="en-AU" altLang="zh-CN" sz="2000" b="1" dirty="0">
                <a:solidFill>
                  <a:srgbClr val="FF0000"/>
                </a:solidFill>
                <a:latin typeface="+mj-ea"/>
                <a:ea typeface="+mj-ea"/>
              </a:rPr>
              <a:t>encapsulation PPP </a:t>
            </a:r>
          </a:p>
          <a:p>
            <a:pPr eaLnBrk="1" hangingPunct="1">
              <a:buFont typeface="Wingdings" pitchFamily="2" charset="2"/>
              <a:buNone/>
            </a:pPr>
            <a:r>
              <a:rPr lang="en-AU" altLang="zh-CN" sz="2000" b="1" dirty="0">
                <a:latin typeface="+mj-ea"/>
                <a:ea typeface="+mj-ea"/>
              </a:rPr>
              <a:t>Router1_config_s0/2#no shutdown</a:t>
            </a:r>
          </a:p>
          <a:p>
            <a:pPr eaLnBrk="1" hangingPunct="1">
              <a:buNone/>
            </a:pPr>
            <a:r>
              <a:rPr lang="en" altLang="zh-CN" sz="2000" b="1" kern="100" dirty="0">
                <a:effectLst/>
                <a:latin typeface="+mj-ea"/>
                <a:ea typeface="+mj-ea"/>
              </a:rPr>
              <a:t>Router1</a:t>
            </a:r>
            <a:r>
              <a:rPr lang="en-AU" altLang="zh-CN" sz="2000" b="1" dirty="0">
                <a:latin typeface="+mj-ea"/>
                <a:ea typeface="+mj-ea"/>
              </a:rPr>
              <a:t>_config_s0/2</a:t>
            </a:r>
            <a:r>
              <a:rPr lang="en" altLang="zh-CN" sz="2000" b="1" kern="100" dirty="0">
                <a:effectLst/>
                <a:latin typeface="+mj-ea"/>
                <a:ea typeface="+mj-ea"/>
              </a:rPr>
              <a:t>#exit</a:t>
            </a:r>
            <a:endParaRPr lang="en-US" altLang="zh-CN" sz="2000" b="1" dirty="0">
              <a:latin typeface="+mj-ea"/>
              <a:ea typeface="+mj-ea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000" b="1" dirty="0">
              <a:latin typeface="+mj-ea"/>
              <a:ea typeface="+mj-ea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b="1" dirty="0">
                <a:latin typeface="+mj-ea"/>
                <a:ea typeface="+mj-ea"/>
              </a:rPr>
              <a:t>// </a:t>
            </a:r>
            <a:r>
              <a:rPr lang="zh-CN" altLang="en-US" sz="2000" b="1" dirty="0">
                <a:latin typeface="+mj-ea"/>
                <a:ea typeface="+mj-ea"/>
              </a:rPr>
              <a:t>配置静态路由。目的网络为</a:t>
            </a:r>
            <a:r>
              <a:rPr lang="en-US" altLang="zh-CN" sz="2000" b="1" dirty="0">
                <a:latin typeface="+mj-ea"/>
                <a:ea typeface="+mj-ea"/>
              </a:rPr>
              <a:t>192.168.1.0/24</a:t>
            </a:r>
            <a:r>
              <a:rPr lang="zh-CN" altLang="en-US" sz="2000" b="1" dirty="0">
                <a:latin typeface="+mj-ea"/>
                <a:ea typeface="+mj-ea"/>
              </a:rPr>
              <a:t>和下一跳为</a:t>
            </a:r>
            <a:r>
              <a:rPr lang="en-US" altLang="zh-CN" sz="2000" b="1" dirty="0">
                <a:latin typeface="+mj-ea"/>
                <a:ea typeface="+mj-ea"/>
              </a:rPr>
              <a:t>192.168.0.1</a:t>
            </a:r>
          </a:p>
          <a:p>
            <a:pPr eaLnBrk="1" hangingPunct="1">
              <a:buFont typeface="Wingdings" pitchFamily="2" charset="2"/>
              <a:buNone/>
            </a:pPr>
            <a:r>
              <a:rPr lang="en-AU" altLang="zh-CN" sz="2000" b="1" dirty="0">
                <a:latin typeface="+mj-ea"/>
                <a:ea typeface="+mj-ea"/>
              </a:rPr>
              <a:t>Router1_config#ip route </a:t>
            </a:r>
            <a:r>
              <a:rPr lang="en-AU" altLang="zh-CN" sz="2000" b="1" dirty="0">
                <a:solidFill>
                  <a:srgbClr val="FF0000"/>
                </a:solidFill>
                <a:latin typeface="+mj-ea"/>
                <a:ea typeface="+mj-ea"/>
              </a:rPr>
              <a:t>192.168.1.0 255.255.255.0 192.168.0.1</a:t>
            </a:r>
          </a:p>
          <a:p>
            <a:pPr eaLnBrk="1" hangingPunct="1">
              <a:buFont typeface="Wingdings" pitchFamily="2" charset="2"/>
              <a:buNone/>
            </a:pPr>
            <a:r>
              <a:rPr lang="en-AU" altLang="zh-CN" sz="2000" b="1" dirty="0">
                <a:latin typeface="+mj-ea"/>
                <a:ea typeface="+mj-ea"/>
              </a:rPr>
              <a:t>Router1_config#exit</a:t>
            </a:r>
          </a:p>
          <a:p>
            <a:pPr eaLnBrk="1" hangingPunct="1">
              <a:buFont typeface="Wingdings" pitchFamily="2" charset="2"/>
              <a:buNone/>
            </a:pPr>
            <a:r>
              <a:rPr lang="en-AU" altLang="zh-CN" sz="2000" b="1" dirty="0">
                <a:latin typeface="+mj-ea"/>
                <a:ea typeface="+mj-ea"/>
              </a:rPr>
              <a:t>// </a:t>
            </a:r>
            <a:r>
              <a:rPr lang="zh-CN" altLang="en-US" sz="2000" b="1" dirty="0">
                <a:latin typeface="+mj-ea"/>
                <a:ea typeface="+mj-ea"/>
              </a:rPr>
              <a:t>显示路由表</a:t>
            </a:r>
          </a:p>
          <a:p>
            <a:pPr eaLnBrk="1" hangingPunct="1">
              <a:buFont typeface="Wingdings" pitchFamily="2" charset="2"/>
              <a:buNone/>
            </a:pPr>
            <a:r>
              <a:rPr lang="en-AU" altLang="zh-CN" sz="2000" b="1" dirty="0">
                <a:latin typeface="+mj-ea"/>
                <a:ea typeface="+mj-ea"/>
              </a:rPr>
              <a:t>Router1#sh </a:t>
            </a:r>
            <a:r>
              <a:rPr lang="en-AU" altLang="zh-CN" sz="2000" b="1" dirty="0" err="1">
                <a:latin typeface="+mj-ea"/>
                <a:ea typeface="+mj-ea"/>
              </a:rPr>
              <a:t>ip</a:t>
            </a:r>
            <a:r>
              <a:rPr lang="en-AU" altLang="zh-CN" sz="2000" b="1" dirty="0">
                <a:latin typeface="+mj-ea"/>
                <a:ea typeface="+mj-ea"/>
              </a:rPr>
              <a:t> route</a:t>
            </a:r>
          </a:p>
          <a:p>
            <a:pPr eaLnBrk="1" hangingPunct="1">
              <a:buFont typeface="Wingdings" pitchFamily="2" charset="2"/>
              <a:buNone/>
            </a:pPr>
            <a:endParaRPr lang="en-AU" altLang="zh-CN" sz="2000" b="1" dirty="0">
              <a:latin typeface="宋体" panose="02010600030101010101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AU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F3524E00-3640-6419-B137-C0120EFE36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801D8-2272-4EF8-BB2F-7D90CA5D8A33}" type="slidenum">
              <a:rPr lang="zh-CN" altLang="en-US" smtClean="0"/>
              <a:pPr>
                <a:defRPr/>
              </a:pPr>
              <a:t>24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750289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8D30CCCF-F803-3371-2DE2-DDD3E85BB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b="1" dirty="0">
                <a:latin typeface="+mj-ea"/>
              </a:rPr>
              <a:t>PC</a:t>
            </a:r>
            <a:r>
              <a:rPr kumimoji="1" lang="en-US" altLang="zh-CN" b="1" dirty="0">
                <a:latin typeface="+mj-ea"/>
              </a:rPr>
              <a:t>0-PC3</a:t>
            </a:r>
            <a:r>
              <a:rPr kumimoji="1" lang="zh-CN" altLang="en-US" b="1" dirty="0">
                <a:latin typeface="+mj-ea"/>
              </a:rPr>
              <a:t>上配置</a:t>
            </a:r>
            <a:r>
              <a:rPr kumimoji="1" lang="en" altLang="zh-CN" b="1" dirty="0">
                <a:latin typeface="+mj-ea"/>
              </a:rPr>
              <a:t>IP</a:t>
            </a:r>
            <a:r>
              <a:rPr kumimoji="1" lang="zh-CN" altLang="en-US" b="1" dirty="0">
                <a:latin typeface="+mj-ea"/>
              </a:rPr>
              <a:t>地址和网关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52E20D4C-6D5D-964D-2E7D-4E7E5A3F893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11188" y="1341438"/>
            <a:ext cx="8075612" cy="5255914"/>
          </a:xfrm>
        </p:spPr>
        <p:txBody>
          <a:bodyPr/>
          <a:lstStyle/>
          <a:p>
            <a:r>
              <a:rPr kumimoji="1" lang="en" altLang="zh-CN" sz="2800" b="1" dirty="0">
                <a:latin typeface="+mj-ea"/>
              </a:rPr>
              <a:t>PC</a:t>
            </a:r>
            <a:r>
              <a:rPr kumimoji="1" lang="en-US" altLang="zh-CN" sz="2800" b="1" dirty="0">
                <a:latin typeface="+mj-ea"/>
              </a:rPr>
              <a:t>0</a:t>
            </a:r>
            <a:r>
              <a:rPr kumimoji="1" lang="zh-CN" altLang="en-US" sz="2800" b="1" dirty="0">
                <a:latin typeface="+mj-ea"/>
              </a:rPr>
              <a:t>上配置</a:t>
            </a:r>
            <a:r>
              <a:rPr kumimoji="1" lang="en" altLang="zh-CN" sz="2800" b="1" dirty="0">
                <a:latin typeface="+mj-ea"/>
              </a:rPr>
              <a:t>IP</a:t>
            </a:r>
            <a:r>
              <a:rPr kumimoji="1" lang="zh-CN" altLang="en-US" sz="2800" b="1" dirty="0">
                <a:latin typeface="+mj-ea"/>
              </a:rPr>
              <a:t>地址和网关</a:t>
            </a:r>
            <a:endParaRPr kumimoji="1" lang="en-US" altLang="zh-CN" sz="2800" b="1" dirty="0">
              <a:latin typeface="+mj-ea"/>
            </a:endParaRPr>
          </a:p>
          <a:p>
            <a:endParaRPr lang="en-US" altLang="zh-CN" sz="2800" b="1" dirty="0">
              <a:latin typeface="+mj-ea"/>
            </a:endParaRPr>
          </a:p>
          <a:p>
            <a:endParaRPr kumimoji="1" lang="en-US" altLang="zh-CN" sz="2800" b="1" dirty="0">
              <a:latin typeface="+mj-ea"/>
            </a:endParaRPr>
          </a:p>
          <a:p>
            <a:endParaRPr lang="en-US" altLang="zh-CN" sz="2800" b="1" dirty="0">
              <a:latin typeface="+mj-ea"/>
            </a:endParaRPr>
          </a:p>
          <a:p>
            <a:endParaRPr kumimoji="1" lang="en-US" altLang="zh-CN" sz="2800" b="1" dirty="0">
              <a:latin typeface="+mj-ea"/>
            </a:endParaRPr>
          </a:p>
          <a:p>
            <a:endParaRPr lang="en-US" altLang="zh-CN" sz="2800" b="1" dirty="0">
              <a:latin typeface="+mj-ea"/>
            </a:endParaRPr>
          </a:p>
          <a:p>
            <a:endParaRPr kumimoji="1" lang="en-US" altLang="zh-CN" sz="2800" b="1" dirty="0">
              <a:latin typeface="+mj-ea"/>
            </a:endParaRPr>
          </a:p>
          <a:p>
            <a:endParaRPr kumimoji="1" lang="en" altLang="zh-CN" sz="2800" b="1" dirty="0">
              <a:latin typeface="+mj-ea"/>
            </a:endParaRPr>
          </a:p>
          <a:p>
            <a:endParaRPr kumimoji="1" lang="en-US" altLang="zh-CN" sz="2800" b="1" dirty="0">
              <a:latin typeface="+mj-ea"/>
            </a:endParaRPr>
          </a:p>
          <a:p>
            <a:r>
              <a:rPr kumimoji="1" lang="zh-CN" altLang="en" sz="2800" b="1" dirty="0">
                <a:latin typeface="+mj-ea"/>
              </a:rPr>
              <a:t>根据</a:t>
            </a:r>
            <a:r>
              <a:rPr kumimoji="1" lang="zh-CN" altLang="en-US" sz="2800" b="1" dirty="0">
                <a:latin typeface="+mj-ea"/>
              </a:rPr>
              <a:t>拓扑图，配置</a:t>
            </a:r>
            <a:r>
              <a:rPr kumimoji="1" lang="en" altLang="zh-CN" sz="2800" b="1" dirty="0">
                <a:latin typeface="+mj-ea"/>
              </a:rPr>
              <a:t>PC</a:t>
            </a:r>
            <a:r>
              <a:rPr lang="en-US" altLang="zh-CN" sz="2800" b="1" dirty="0">
                <a:latin typeface="+mj-ea"/>
              </a:rPr>
              <a:t>1-PC3</a:t>
            </a:r>
            <a:r>
              <a:rPr lang="zh-CN" altLang="en-US" sz="2800" b="1" dirty="0">
                <a:latin typeface="+mj-ea"/>
              </a:rPr>
              <a:t>的</a:t>
            </a:r>
            <a:r>
              <a:rPr kumimoji="1" lang="en" altLang="zh-CN" sz="2800" b="1" dirty="0">
                <a:latin typeface="+mj-ea"/>
              </a:rPr>
              <a:t>IP</a:t>
            </a:r>
            <a:r>
              <a:rPr kumimoji="1" lang="zh-CN" altLang="en-US" sz="2800" b="1" dirty="0">
                <a:latin typeface="+mj-ea"/>
              </a:rPr>
              <a:t>地址和网关</a:t>
            </a:r>
            <a:endParaRPr kumimoji="1" lang="en-US" altLang="zh-CN" sz="2800" b="1" dirty="0">
              <a:latin typeface="+mj-ea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F9E962FD-9A57-D71E-EA3D-013EC6521B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801D8-2272-4EF8-BB2F-7D90CA5D8A33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95B83E34-01F5-5A5B-B126-272823086C8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1988840"/>
            <a:ext cx="4404394" cy="388843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845FCFD1-EF84-D4A7-CBB6-CE3E7E8EBF33}"/>
              </a:ext>
            </a:extLst>
          </p:cNvPr>
          <p:cNvSpPr txBox="1"/>
          <p:nvPr/>
        </p:nvSpPr>
        <p:spPr>
          <a:xfrm>
            <a:off x="5555332" y="3061409"/>
            <a:ext cx="33371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" altLang="zh-CN" sz="2000" b="1" dirty="0">
                <a:latin typeface="+mj-ea"/>
                <a:ea typeface="+mj-ea"/>
              </a:rPr>
              <a:t>IP</a:t>
            </a:r>
            <a:r>
              <a:rPr kumimoji="1" lang="zh-CN" altLang="en" sz="2000" b="1" dirty="0">
                <a:latin typeface="+mj-ea"/>
                <a:ea typeface="+mj-ea"/>
              </a:rPr>
              <a:t>地址</a:t>
            </a:r>
            <a:r>
              <a:rPr kumimoji="1" lang="zh-CN" altLang="en-US" sz="2000" b="1" dirty="0">
                <a:latin typeface="+mj-ea"/>
                <a:ea typeface="+mj-ea"/>
              </a:rPr>
              <a:t>：  </a:t>
            </a:r>
            <a:r>
              <a:rPr lang="en-US" altLang="zh-CN" sz="2000" b="1" dirty="0">
                <a:latin typeface="+mj-ea"/>
                <a:ea typeface="+mj-ea"/>
              </a:rPr>
              <a:t>192.168.1.2</a:t>
            </a:r>
          </a:p>
          <a:p>
            <a:r>
              <a:rPr lang="zh-CN" altLang="en-US" sz="2000" b="1" dirty="0">
                <a:latin typeface="+mj-ea"/>
                <a:ea typeface="+mj-ea"/>
              </a:rPr>
              <a:t>子网掩码：</a:t>
            </a:r>
            <a:r>
              <a:rPr lang="en-US" altLang="zh-CN" sz="2000" b="1" dirty="0">
                <a:latin typeface="+mj-ea"/>
                <a:ea typeface="+mj-ea"/>
              </a:rPr>
              <a:t>255.255.255.0</a:t>
            </a:r>
          </a:p>
          <a:p>
            <a:r>
              <a:rPr kumimoji="1" lang="zh-CN" altLang="en-US" sz="2000" b="1" dirty="0">
                <a:latin typeface="+mj-ea"/>
                <a:ea typeface="+mj-ea"/>
              </a:rPr>
              <a:t>默认网关：</a:t>
            </a:r>
            <a:r>
              <a:rPr lang="en-US" altLang="zh-CN" sz="2000" b="1" dirty="0">
                <a:latin typeface="+mj-ea"/>
                <a:ea typeface="+mj-ea"/>
              </a:rPr>
              <a:t>192.168.1.1</a:t>
            </a:r>
            <a:endParaRPr lang="zh-CN" altLang="en-US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85780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E677660-9958-AB63-8649-B4A0A6FC5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4400" b="1" dirty="0">
                <a:latin typeface="+mj-ea"/>
              </a:rPr>
              <a:t>522</a:t>
            </a:r>
            <a:r>
              <a:rPr kumimoji="1" lang="zh-CN" altLang="en-US" sz="4400" b="1" dirty="0">
                <a:latin typeface="+mj-ea"/>
              </a:rPr>
              <a:t>教室接线说明</a:t>
            </a:r>
            <a:endParaRPr kumimoji="1" lang="zh-CN" altLang="en-US" b="1" dirty="0">
              <a:latin typeface="+mj-ea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C582A7C8-6B50-0CCD-9240-54C17A1EC82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11188" y="1341438"/>
            <a:ext cx="8209284" cy="4895850"/>
          </a:xfrm>
        </p:spPr>
        <p:txBody>
          <a:bodyPr/>
          <a:lstStyle/>
          <a:p>
            <a:r>
              <a:rPr kumimoji="1" lang="zh-CN" altLang="en-US" sz="2400" b="1" dirty="0">
                <a:latin typeface="+mj-ea"/>
                <a:ea typeface="+mj-ea"/>
              </a:rPr>
              <a:t>左边</a:t>
            </a:r>
            <a:r>
              <a:rPr kumimoji="1" lang="en" altLang="zh-CN" sz="2400" b="1" dirty="0">
                <a:latin typeface="+mj-ea"/>
                <a:ea typeface="+mj-ea"/>
              </a:rPr>
              <a:t>PC</a:t>
            </a:r>
            <a:r>
              <a:rPr kumimoji="1" lang="zh-CN" altLang="en-US" sz="2400" b="1" dirty="0">
                <a:latin typeface="+mj-ea"/>
                <a:ea typeface="+mj-ea"/>
              </a:rPr>
              <a:t>编号：</a:t>
            </a:r>
            <a:r>
              <a:rPr kumimoji="1" lang="en-US" altLang="zh-CN" sz="2400" b="1" dirty="0">
                <a:latin typeface="+mj-ea"/>
                <a:ea typeface="+mj-ea"/>
              </a:rPr>
              <a:t>8</a:t>
            </a:r>
            <a:r>
              <a:rPr kumimoji="1" lang="zh-CN" altLang="en-US" sz="2400" b="1" dirty="0">
                <a:latin typeface="+mj-ea"/>
                <a:ea typeface="+mj-ea"/>
              </a:rPr>
              <a:t>、</a:t>
            </a:r>
            <a:r>
              <a:rPr kumimoji="1" lang="en-US" altLang="zh-CN" sz="2400" b="1" dirty="0">
                <a:latin typeface="+mj-ea"/>
                <a:ea typeface="+mj-ea"/>
              </a:rPr>
              <a:t>7</a:t>
            </a:r>
            <a:r>
              <a:rPr kumimoji="1" lang="zh-CN" altLang="en-US" sz="2400" b="1" dirty="0">
                <a:latin typeface="+mj-ea"/>
                <a:ea typeface="+mj-ea"/>
              </a:rPr>
              <a:t>、</a:t>
            </a:r>
            <a:r>
              <a:rPr kumimoji="1" lang="en-US" altLang="zh-CN" sz="2400" b="1" dirty="0">
                <a:latin typeface="+mj-ea"/>
                <a:ea typeface="+mj-ea"/>
              </a:rPr>
              <a:t>6</a:t>
            </a:r>
            <a:r>
              <a:rPr kumimoji="1" lang="zh-CN" altLang="en-US" sz="2400" b="1" dirty="0">
                <a:latin typeface="+mj-ea"/>
                <a:ea typeface="+mj-ea"/>
              </a:rPr>
              <a:t>、</a:t>
            </a:r>
            <a:r>
              <a:rPr kumimoji="1" lang="en-US" altLang="zh-CN" sz="2400" b="1" dirty="0">
                <a:latin typeface="+mj-ea"/>
                <a:ea typeface="+mj-ea"/>
              </a:rPr>
              <a:t>5</a:t>
            </a:r>
          </a:p>
          <a:p>
            <a:r>
              <a:rPr kumimoji="1" lang="zh-CN" altLang="en-US" sz="2400" b="1" dirty="0">
                <a:latin typeface="+mj-ea"/>
                <a:ea typeface="+mj-ea"/>
              </a:rPr>
              <a:t>每台</a:t>
            </a:r>
            <a:r>
              <a:rPr kumimoji="1" lang="en" altLang="zh-CN" sz="2400" b="1" dirty="0">
                <a:latin typeface="+mj-ea"/>
                <a:ea typeface="+mj-ea"/>
              </a:rPr>
              <a:t>PC</a:t>
            </a:r>
            <a:r>
              <a:rPr kumimoji="1" lang="zh-CN" altLang="en-US" sz="2400" b="1" dirty="0">
                <a:latin typeface="+mj-ea"/>
                <a:ea typeface="+mj-ea"/>
              </a:rPr>
              <a:t>连接出来</a:t>
            </a:r>
            <a:r>
              <a:rPr kumimoji="1" lang="en-US" altLang="zh-CN" sz="2400" b="1" dirty="0">
                <a:latin typeface="+mj-ea"/>
                <a:ea typeface="+mj-ea"/>
              </a:rPr>
              <a:t>2</a:t>
            </a:r>
            <a:r>
              <a:rPr kumimoji="1" lang="zh-CN" altLang="en-US" sz="2400" b="1" dirty="0">
                <a:latin typeface="+mj-ea"/>
                <a:ea typeface="+mj-ea"/>
              </a:rPr>
              <a:t>根线，一根为</a:t>
            </a:r>
            <a:r>
              <a:rPr kumimoji="1" lang="en" altLang="zh-CN" sz="2400" b="1" dirty="0">
                <a:latin typeface="+mj-ea"/>
                <a:ea typeface="+mj-ea"/>
              </a:rPr>
              <a:t>console</a:t>
            </a:r>
            <a:r>
              <a:rPr kumimoji="1" lang="zh-CN" altLang="en-US" sz="2400" b="1" dirty="0">
                <a:latin typeface="+mj-ea"/>
                <a:ea typeface="+mj-ea"/>
              </a:rPr>
              <a:t>线，另一根为普通网线。比如</a:t>
            </a:r>
            <a:r>
              <a:rPr kumimoji="1" lang="en-US" altLang="zh-CN" sz="2400" b="1" dirty="0">
                <a:latin typeface="+mj-ea"/>
                <a:ea typeface="+mj-ea"/>
              </a:rPr>
              <a:t>5</a:t>
            </a:r>
            <a:r>
              <a:rPr kumimoji="1" lang="zh-CN" altLang="en-US" sz="2400" b="1" dirty="0">
                <a:latin typeface="+mj-ea"/>
                <a:ea typeface="+mj-ea"/>
              </a:rPr>
              <a:t>号机器的</a:t>
            </a:r>
            <a:r>
              <a:rPr kumimoji="1" lang="en-US" altLang="zh-CN" sz="2400" b="1" dirty="0">
                <a:latin typeface="+mj-ea"/>
                <a:ea typeface="+mj-ea"/>
              </a:rPr>
              <a:t>50</a:t>
            </a:r>
            <a:r>
              <a:rPr kumimoji="1" lang="zh-CN" altLang="en-US" sz="2400" b="1" dirty="0">
                <a:latin typeface="+mj-ea"/>
                <a:ea typeface="+mj-ea"/>
              </a:rPr>
              <a:t>线为</a:t>
            </a:r>
            <a:r>
              <a:rPr kumimoji="1" lang="en" altLang="zh-CN" sz="2400" b="1" dirty="0">
                <a:latin typeface="+mj-ea"/>
                <a:ea typeface="+mj-ea"/>
              </a:rPr>
              <a:t>console</a:t>
            </a:r>
            <a:r>
              <a:rPr kumimoji="1" lang="zh-CN" altLang="en-US" sz="2400" b="1" dirty="0">
                <a:latin typeface="+mj-ea"/>
                <a:ea typeface="+mj-ea"/>
              </a:rPr>
              <a:t>线、</a:t>
            </a:r>
            <a:r>
              <a:rPr kumimoji="1" lang="en-US" altLang="zh-CN" sz="2400" b="1" dirty="0">
                <a:latin typeface="+mj-ea"/>
                <a:ea typeface="+mj-ea"/>
              </a:rPr>
              <a:t>59</a:t>
            </a:r>
            <a:r>
              <a:rPr kumimoji="1" lang="zh-CN" altLang="en-US" sz="2400" b="1" dirty="0">
                <a:latin typeface="+mj-ea"/>
                <a:ea typeface="+mj-ea"/>
              </a:rPr>
              <a:t>线为普通网线</a:t>
            </a:r>
          </a:p>
          <a:p>
            <a:r>
              <a:rPr kumimoji="1" lang="en-US" altLang="zh-CN" sz="2400" b="1" dirty="0">
                <a:latin typeface="+mj-ea"/>
                <a:ea typeface="+mj-ea"/>
              </a:rPr>
              <a:t>50</a:t>
            </a:r>
            <a:r>
              <a:rPr kumimoji="1" lang="zh-CN" altLang="en-US" sz="2400" b="1" dirty="0">
                <a:latin typeface="+mj-ea"/>
                <a:ea typeface="+mj-ea"/>
              </a:rPr>
              <a:t>、</a:t>
            </a:r>
            <a:r>
              <a:rPr kumimoji="1" lang="en-US" altLang="zh-CN" sz="2400" b="1" dirty="0">
                <a:latin typeface="+mj-ea"/>
                <a:ea typeface="+mj-ea"/>
              </a:rPr>
              <a:t>70</a:t>
            </a:r>
            <a:r>
              <a:rPr kumimoji="1" lang="zh-CN" altLang="en-US" sz="2400" b="1" dirty="0">
                <a:latin typeface="+mj-ea"/>
                <a:ea typeface="+mj-ea"/>
              </a:rPr>
              <a:t>线是路由器的</a:t>
            </a:r>
            <a:r>
              <a:rPr kumimoji="1" lang="en" altLang="zh-CN" sz="2400" b="1" dirty="0">
                <a:latin typeface="+mj-ea"/>
                <a:ea typeface="+mj-ea"/>
              </a:rPr>
              <a:t>console</a:t>
            </a:r>
            <a:r>
              <a:rPr kumimoji="1" lang="zh-CN" altLang="en-US" sz="2400" b="1" dirty="0">
                <a:latin typeface="+mj-ea"/>
                <a:ea typeface="+mj-ea"/>
              </a:rPr>
              <a:t>线；</a:t>
            </a:r>
            <a:r>
              <a:rPr kumimoji="1" lang="en-US" altLang="zh-CN" sz="2400" b="1" dirty="0">
                <a:latin typeface="+mj-ea"/>
                <a:ea typeface="+mj-ea"/>
              </a:rPr>
              <a:t>60</a:t>
            </a:r>
            <a:r>
              <a:rPr kumimoji="1" lang="zh-CN" altLang="en-US" sz="2400" b="1" dirty="0">
                <a:latin typeface="+mj-ea"/>
                <a:ea typeface="+mj-ea"/>
              </a:rPr>
              <a:t>线是交换机的</a:t>
            </a:r>
            <a:r>
              <a:rPr kumimoji="1" lang="en" altLang="zh-CN" sz="2400" b="1" dirty="0">
                <a:latin typeface="+mj-ea"/>
                <a:ea typeface="+mj-ea"/>
              </a:rPr>
              <a:t>console</a:t>
            </a:r>
            <a:r>
              <a:rPr kumimoji="1" lang="zh-CN" altLang="en-US" sz="2400" b="1" dirty="0">
                <a:latin typeface="+mj-ea"/>
                <a:ea typeface="+mj-ea"/>
              </a:rPr>
              <a:t>线；</a:t>
            </a:r>
            <a:r>
              <a:rPr kumimoji="1" lang="en-US" altLang="zh-CN" sz="2400" b="1" dirty="0">
                <a:latin typeface="+mj-ea"/>
                <a:ea typeface="+mj-ea"/>
              </a:rPr>
              <a:t>8</a:t>
            </a:r>
            <a:r>
              <a:rPr kumimoji="1" lang="zh-CN" altLang="en-US" sz="2400" b="1" dirty="0">
                <a:latin typeface="+mj-ea"/>
                <a:ea typeface="+mj-ea"/>
              </a:rPr>
              <a:t>号机器只有普通网线</a:t>
            </a:r>
            <a:r>
              <a:rPr kumimoji="1" lang="en-US" altLang="zh-CN" sz="2400" b="1" dirty="0">
                <a:latin typeface="+mj-ea"/>
                <a:ea typeface="+mj-ea"/>
              </a:rPr>
              <a:t>(89</a:t>
            </a:r>
            <a:r>
              <a:rPr kumimoji="1" lang="zh-CN" altLang="en-US" sz="2400" b="1" dirty="0">
                <a:latin typeface="+mj-ea"/>
                <a:ea typeface="+mj-ea"/>
              </a:rPr>
              <a:t>线</a:t>
            </a:r>
            <a:r>
              <a:rPr kumimoji="1" lang="en-US" altLang="zh-CN" sz="2400" b="1" dirty="0">
                <a:latin typeface="+mj-ea"/>
                <a:ea typeface="+mj-ea"/>
              </a:rPr>
              <a:t>)</a:t>
            </a:r>
            <a:endParaRPr kumimoji="1" lang="zh-CN" altLang="en-US" sz="2400" b="1" dirty="0">
              <a:latin typeface="+mj-ea"/>
              <a:ea typeface="+mj-ea"/>
            </a:endParaRPr>
          </a:p>
          <a:p>
            <a:r>
              <a:rPr kumimoji="1" lang="en" altLang="zh-CN" sz="2400" b="1" dirty="0">
                <a:latin typeface="+mj-ea"/>
                <a:ea typeface="+mj-ea"/>
              </a:rPr>
              <a:t>TPO</a:t>
            </a:r>
            <a:r>
              <a:rPr kumimoji="1" lang="zh-CN" altLang="en" sz="2400" b="1" dirty="0">
                <a:latin typeface="+mj-ea"/>
                <a:ea typeface="+mj-ea"/>
              </a:rPr>
              <a:t>、</a:t>
            </a:r>
            <a:r>
              <a:rPr kumimoji="1" lang="en" altLang="zh-CN" sz="2400" b="1" dirty="0">
                <a:latin typeface="+mj-ea"/>
                <a:ea typeface="+mj-ea"/>
              </a:rPr>
              <a:t>TP3</a:t>
            </a:r>
            <a:r>
              <a:rPr kumimoji="1" lang="zh-CN" altLang="en-US" sz="2400" b="1" dirty="0">
                <a:latin typeface="+mj-ea"/>
                <a:ea typeface="+mj-ea"/>
              </a:rPr>
              <a:t>分别连到路由器的</a:t>
            </a:r>
            <a:r>
              <a:rPr kumimoji="1" lang="en" altLang="zh-CN" sz="2400" b="1" dirty="0">
                <a:latin typeface="+mj-ea"/>
                <a:ea typeface="+mj-ea"/>
              </a:rPr>
              <a:t>f0/0</a:t>
            </a:r>
            <a:r>
              <a:rPr kumimoji="1" lang="zh-CN" altLang="en-US" sz="2400" b="1" dirty="0">
                <a:latin typeface="+mj-ea"/>
                <a:ea typeface="+mj-ea"/>
              </a:rPr>
              <a:t>和</a:t>
            </a:r>
            <a:r>
              <a:rPr kumimoji="1" lang="en" altLang="zh-CN" sz="2400" b="1" dirty="0">
                <a:latin typeface="+mj-ea"/>
                <a:ea typeface="+mj-ea"/>
              </a:rPr>
              <a:t>f0/3</a:t>
            </a:r>
            <a:r>
              <a:rPr kumimoji="1" lang="zh-CN" altLang="en-US" sz="2400" b="1" dirty="0">
                <a:latin typeface="+mj-ea"/>
                <a:ea typeface="+mj-ea"/>
              </a:rPr>
              <a:t>口，广域网接口是</a:t>
            </a:r>
            <a:r>
              <a:rPr kumimoji="1" lang="en" altLang="zh-CN" sz="2400" b="1" dirty="0">
                <a:latin typeface="+mj-ea"/>
                <a:ea typeface="+mj-ea"/>
              </a:rPr>
              <a:t>s0/</a:t>
            </a:r>
            <a:r>
              <a:rPr kumimoji="1" lang="en-US" altLang="zh-CN" sz="2400" b="1" dirty="0">
                <a:latin typeface="+mj-ea"/>
                <a:ea typeface="+mj-ea"/>
              </a:rPr>
              <a:t>2</a:t>
            </a:r>
            <a:r>
              <a:rPr kumimoji="1" lang="en" altLang="zh-CN" sz="2400" b="1" dirty="0">
                <a:latin typeface="+mj-ea"/>
                <a:ea typeface="+mj-ea"/>
              </a:rPr>
              <a:t>(</a:t>
            </a:r>
            <a:r>
              <a:rPr kumimoji="1" lang="zh-CN" altLang="en-US" sz="2400" b="1" dirty="0">
                <a:latin typeface="+mj-ea"/>
                <a:ea typeface="+mj-ea"/>
              </a:rPr>
              <a:t>或</a:t>
            </a:r>
            <a:r>
              <a:rPr kumimoji="1" lang="en" altLang="zh-CN" sz="2400" b="1" dirty="0">
                <a:latin typeface="+mj-ea"/>
                <a:ea typeface="+mj-ea"/>
              </a:rPr>
              <a:t>s0/</a:t>
            </a:r>
            <a:r>
              <a:rPr kumimoji="1" lang="en-US" altLang="zh-CN" sz="2400" b="1" dirty="0">
                <a:latin typeface="+mj-ea"/>
                <a:ea typeface="+mj-ea"/>
              </a:rPr>
              <a:t>1</a:t>
            </a:r>
            <a:r>
              <a:rPr kumimoji="1" lang="en" altLang="zh-CN" sz="2400" b="1" dirty="0">
                <a:latin typeface="+mj-ea"/>
                <a:ea typeface="+mj-ea"/>
              </a:rPr>
              <a:t>)</a:t>
            </a:r>
            <a:r>
              <a:rPr kumimoji="1" lang="zh-CN" altLang="en-US" sz="2400" b="1" dirty="0">
                <a:latin typeface="+mj-ea"/>
                <a:ea typeface="+mj-ea"/>
              </a:rPr>
              <a:t>相连</a:t>
            </a:r>
          </a:p>
          <a:p>
            <a:r>
              <a:rPr kumimoji="1" lang="zh-CN" altLang="en-US" sz="2400" b="1" dirty="0">
                <a:latin typeface="+mj-ea"/>
                <a:ea typeface="+mj-ea"/>
              </a:rPr>
              <a:t>每组第一台路由器是</a:t>
            </a:r>
            <a:r>
              <a:rPr kumimoji="1" lang="en" altLang="zh-CN" sz="2400" b="1" dirty="0">
                <a:latin typeface="+mj-ea"/>
                <a:ea typeface="+mj-ea"/>
              </a:rPr>
              <a:t>DCE</a:t>
            </a:r>
            <a:endParaRPr kumimoji="1" lang="zh-CN" altLang="en" sz="2400" b="1" dirty="0">
              <a:latin typeface="+mj-ea"/>
              <a:ea typeface="+mj-ea"/>
            </a:endParaRPr>
          </a:p>
          <a:p>
            <a:r>
              <a:rPr kumimoji="1" lang="en" altLang="zh-CN" sz="2400" b="1" dirty="0">
                <a:latin typeface="+mj-ea"/>
                <a:ea typeface="+mj-ea"/>
              </a:rPr>
              <a:t>F*</a:t>
            </a:r>
            <a:r>
              <a:rPr kumimoji="1" lang="zh-CN" altLang="en-US" sz="2400" b="1" dirty="0">
                <a:latin typeface="+mj-ea"/>
                <a:ea typeface="+mj-ea"/>
              </a:rPr>
              <a:t>已连到交换机的</a:t>
            </a:r>
            <a:r>
              <a:rPr kumimoji="1" lang="en" altLang="zh-CN" sz="2400" b="1" dirty="0">
                <a:latin typeface="+mj-ea"/>
                <a:ea typeface="+mj-ea"/>
              </a:rPr>
              <a:t>E0/0/*</a:t>
            </a:r>
            <a:r>
              <a:rPr kumimoji="1" lang="zh-CN" altLang="en-US" sz="2400" b="1" dirty="0">
                <a:latin typeface="+mj-ea"/>
                <a:ea typeface="+mj-ea"/>
              </a:rPr>
              <a:t>口，例如</a:t>
            </a:r>
            <a:r>
              <a:rPr kumimoji="1" lang="en" altLang="zh-CN" sz="2400" b="1" dirty="0">
                <a:latin typeface="+mj-ea"/>
                <a:ea typeface="+mj-ea"/>
              </a:rPr>
              <a:t>F3</a:t>
            </a:r>
            <a:r>
              <a:rPr kumimoji="1" lang="zh-CN" altLang="en-US" sz="2400" b="1" dirty="0">
                <a:latin typeface="+mj-ea"/>
                <a:ea typeface="+mj-ea"/>
              </a:rPr>
              <a:t>连到交换机的</a:t>
            </a:r>
            <a:r>
              <a:rPr kumimoji="1" lang="en" altLang="zh-CN" sz="2400" b="1" dirty="0">
                <a:latin typeface="+mj-ea"/>
                <a:ea typeface="+mj-ea"/>
              </a:rPr>
              <a:t>E0/0/3</a:t>
            </a:r>
            <a:endParaRPr kumimoji="1" lang="zh-CN" altLang="en" sz="2400" b="1" dirty="0">
              <a:latin typeface="+mj-ea"/>
              <a:ea typeface="+mj-ea"/>
            </a:endParaRPr>
          </a:p>
          <a:p>
            <a:r>
              <a:rPr kumimoji="1" lang="en" altLang="zh-CN" sz="2400" b="1" dirty="0">
                <a:latin typeface="+mj-ea"/>
                <a:ea typeface="+mj-ea"/>
              </a:rPr>
              <a:t>E0/0/24</a:t>
            </a:r>
            <a:r>
              <a:rPr kumimoji="1" lang="zh-CN" altLang="en-US" sz="2400" b="1" dirty="0">
                <a:latin typeface="+mj-ea"/>
                <a:ea typeface="+mj-ea"/>
              </a:rPr>
              <a:t>是两台交换机相连的口</a:t>
            </a:r>
          </a:p>
          <a:p>
            <a:endParaRPr kumimoji="1" lang="zh-CN" altLang="en-US" sz="2400" b="1" dirty="0">
              <a:latin typeface="+mj-ea"/>
              <a:ea typeface="+mj-ea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55D9E6A5-30D6-CBD2-B3EC-FF26BDE09F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801D8-2272-4EF8-BB2F-7D90CA5D8A33}" type="slidenum">
              <a:rPr lang="zh-CN" altLang="en-US" smtClean="0">
                <a:latin typeface="+mj-ea"/>
                <a:ea typeface="+mj-ea"/>
              </a:rPr>
              <a:pPr>
                <a:defRPr/>
              </a:pPr>
              <a:t>26</a:t>
            </a:fld>
            <a:endParaRPr lang="en-US" altLang="zh-CN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292709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11188" y="1341438"/>
            <a:ext cx="8137276" cy="4895850"/>
          </a:xfrm>
        </p:spPr>
        <p:txBody>
          <a:bodyPr/>
          <a:lstStyle/>
          <a:p>
            <a:r>
              <a:rPr lang="zh-CN" altLang="en-US" dirty="0"/>
              <a:t>在两台路由器上都配时钟效果</a:t>
            </a:r>
            <a:r>
              <a:rPr lang="zh-CN" altLang="en-US" dirty="0" smtClean="0"/>
              <a:t>好</a:t>
            </a:r>
            <a:endParaRPr lang="en-US" altLang="zh-CN" dirty="0" smtClean="0"/>
          </a:p>
          <a:p>
            <a:r>
              <a:rPr lang="en-US" altLang="zh-CN" dirty="0"/>
              <a:t>Router0_config_s0/2#physical-layer speed </a:t>
            </a:r>
            <a:r>
              <a:rPr lang="en-US" altLang="zh-CN" dirty="0" smtClean="0"/>
              <a:t>64000</a:t>
            </a:r>
          </a:p>
          <a:p>
            <a:r>
              <a:rPr lang="en-US" altLang="zh-CN" dirty="0"/>
              <a:t>Router1_config_s0/2#physical-layer speed </a:t>
            </a:r>
            <a:r>
              <a:rPr lang="en-US" altLang="zh-CN" dirty="0" smtClean="0"/>
              <a:t>64000</a:t>
            </a:r>
          </a:p>
          <a:p>
            <a:r>
              <a:rPr lang="zh-CN" altLang="en-US" dirty="0"/>
              <a:t>两台路由器要么都选</a:t>
            </a:r>
            <a:r>
              <a:rPr lang="en-US" altLang="zh-CN" dirty="0"/>
              <a:t>s0/2</a:t>
            </a:r>
            <a:r>
              <a:rPr lang="zh-CN" altLang="en-US" dirty="0"/>
              <a:t>，要么都选</a:t>
            </a:r>
            <a:r>
              <a:rPr lang="en-US" altLang="zh-CN" dirty="0"/>
              <a:t>s0/1</a:t>
            </a:r>
            <a:r>
              <a:rPr lang="zh-CN" altLang="en-US" dirty="0"/>
              <a:t>。不要一台选</a:t>
            </a:r>
            <a:r>
              <a:rPr lang="en-US" altLang="zh-CN" dirty="0"/>
              <a:t>s0/2</a:t>
            </a:r>
            <a:r>
              <a:rPr lang="zh-CN" altLang="en-US" dirty="0"/>
              <a:t>，另一台选</a:t>
            </a:r>
            <a:r>
              <a:rPr lang="en-US" altLang="zh-CN" dirty="0"/>
              <a:t>s0/1</a:t>
            </a:r>
            <a:r>
              <a:rPr lang="zh-CN" altLang="en-US" dirty="0"/>
              <a:t>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801D8-2272-4EF8-BB2F-7D90CA5D8A33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91919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|13.9|14.3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3085</TotalTime>
  <Words>2134</Words>
  <Application>Microsoft Office PowerPoint</Application>
  <PresentationFormat>全屏显示(4:3)</PresentationFormat>
  <Paragraphs>298</Paragraphs>
  <Slides>27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宋体</vt:lpstr>
      <vt:lpstr>宋体</vt:lpstr>
      <vt:lpstr>Arial</vt:lpstr>
      <vt:lpstr>Tahoma</vt:lpstr>
      <vt:lpstr>Times New Roman</vt:lpstr>
      <vt:lpstr>Wingdings</vt:lpstr>
      <vt:lpstr>Blends</vt:lpstr>
      <vt:lpstr>Visio</vt:lpstr>
      <vt:lpstr>实验一 网络环境搭建</vt:lpstr>
      <vt:lpstr>实验内容</vt:lpstr>
      <vt:lpstr>实验设备</vt:lpstr>
      <vt:lpstr>神州数码路由器交换机机柜</vt:lpstr>
      <vt:lpstr>神州数码路由器正面版图</vt:lpstr>
      <vt:lpstr>路由器交换机机柜背面配线架图</vt:lpstr>
      <vt:lpstr>路由器A、配线架接口对照图</vt:lpstr>
      <vt:lpstr>Console口配置路由器</vt:lpstr>
      <vt:lpstr>FAQ</vt:lpstr>
      <vt:lpstr>puTTY</vt:lpstr>
      <vt:lpstr>PowerPoint 演示文稿</vt:lpstr>
      <vt:lpstr>PowerPoint 演示文稿</vt:lpstr>
      <vt:lpstr>PowerPoint 演示文稿</vt:lpstr>
      <vt:lpstr>常用路由器命令</vt:lpstr>
      <vt:lpstr>常用路由器命令</vt:lpstr>
      <vt:lpstr>常用路由器命令</vt:lpstr>
      <vt:lpstr>网络拓扑图</vt:lpstr>
      <vt:lpstr>Router0上配置静态路由</vt:lpstr>
      <vt:lpstr>Router0上配置静态路由</vt:lpstr>
      <vt:lpstr>Router0上配置静态路由</vt:lpstr>
      <vt:lpstr>Router0上配置静态路由</vt:lpstr>
      <vt:lpstr>Router0上配置静态路由</vt:lpstr>
      <vt:lpstr>Router1上配置静态路由</vt:lpstr>
      <vt:lpstr>Router1上配置静态路由</vt:lpstr>
      <vt:lpstr>PC0-PC3上配置IP地址和网关</vt:lpstr>
      <vt:lpstr>522教室接线说明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TCP/IP协议分析及应用 </dc:title>
  <dc:creator>renxt</dc:creator>
  <cp:lastModifiedBy>bao</cp:lastModifiedBy>
  <cp:revision>1349</cp:revision>
  <cp:lastPrinted>2023-02-23T03:21:32Z</cp:lastPrinted>
  <dcterms:created xsi:type="dcterms:W3CDTF">2007-01-19T03:49:32Z</dcterms:created>
  <dcterms:modified xsi:type="dcterms:W3CDTF">2024-05-09T02:32:11Z</dcterms:modified>
</cp:coreProperties>
</file>